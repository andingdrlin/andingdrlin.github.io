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334" r:id="rId2"/>
    <p:sldId id="402" r:id="rId3"/>
    <p:sldId id="403" r:id="rId4"/>
    <p:sldId id="259" r:id="rId5"/>
    <p:sldId id="396" r:id="rId6"/>
    <p:sldId id="260" r:id="rId7"/>
    <p:sldId id="261" r:id="rId8"/>
    <p:sldId id="404" r:id="rId9"/>
    <p:sldId id="395" r:id="rId10"/>
    <p:sldId id="339" r:id="rId11"/>
    <p:sldId id="394" r:id="rId12"/>
    <p:sldId id="258" r:id="rId13"/>
    <p:sldId id="407" r:id="rId14"/>
    <p:sldId id="262" r:id="rId15"/>
    <p:sldId id="263" r:id="rId16"/>
    <p:sldId id="361" r:id="rId17"/>
    <p:sldId id="415" r:id="rId18"/>
    <p:sldId id="405" r:id="rId19"/>
    <p:sldId id="406" r:id="rId20"/>
    <p:sldId id="390" r:id="rId21"/>
    <p:sldId id="413" r:id="rId22"/>
    <p:sldId id="409" r:id="rId23"/>
    <p:sldId id="412" r:id="rId24"/>
    <p:sldId id="410" r:id="rId25"/>
    <p:sldId id="414" r:id="rId26"/>
    <p:sldId id="271" r:id="rId27"/>
    <p:sldId id="393"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2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26" autoAdjust="0"/>
    <p:restoredTop sz="96095"/>
  </p:normalViewPr>
  <p:slideViewPr>
    <p:cSldViewPr snapToGrid="0" snapToObjects="1">
      <p:cViewPr varScale="1">
        <p:scale>
          <a:sx n="70" d="100"/>
          <a:sy n="70" d="100"/>
        </p:scale>
        <p:origin x="12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E62278-BF55-46D2-A04E-FC3A2900890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EFC7AAB-B5D9-4A33-8F6B-9D64EF780EC7}">
      <dgm:prSet/>
      <dgm:spPr/>
      <dgm:t>
        <a:bodyPr/>
        <a:lstStyle/>
        <a:p>
          <a:r>
            <a:rPr lang="en-US"/>
            <a:t>With Prof Lianping Hou</a:t>
          </a:r>
        </a:p>
      </dgm:t>
    </dgm:pt>
    <dgm:pt modelId="{B59FAFDB-2081-4FA8-9F23-DC7A54C447A3}" type="parTrans" cxnId="{9B571908-9CB7-463F-8DC7-09D8F35508DB}">
      <dgm:prSet/>
      <dgm:spPr/>
      <dgm:t>
        <a:bodyPr/>
        <a:lstStyle/>
        <a:p>
          <a:endParaRPr lang="en-US"/>
        </a:p>
      </dgm:t>
    </dgm:pt>
    <dgm:pt modelId="{E113778C-66D6-4767-96C1-4C13EB3341F5}" type="sibTrans" cxnId="{9B571908-9CB7-463F-8DC7-09D8F35508DB}">
      <dgm:prSet/>
      <dgm:spPr/>
      <dgm:t>
        <a:bodyPr/>
        <a:lstStyle/>
        <a:p>
          <a:endParaRPr lang="en-US"/>
        </a:p>
      </dgm:t>
    </dgm:pt>
    <dgm:pt modelId="{A85730E9-2BD3-4B5C-8446-AAE1B28F915F}">
      <dgm:prSet/>
      <dgm:spPr/>
      <dgm:t>
        <a:bodyPr/>
        <a:lstStyle/>
        <a:p>
          <a:r>
            <a:rPr lang="en-US"/>
            <a:t>Electric Circuits</a:t>
          </a:r>
        </a:p>
      </dgm:t>
    </dgm:pt>
    <dgm:pt modelId="{40E42263-DCBB-4CF1-A96F-2072280B5F5C}" type="parTrans" cxnId="{CC6C8837-4EF3-407E-8D51-BCDE2509757D}">
      <dgm:prSet/>
      <dgm:spPr/>
      <dgm:t>
        <a:bodyPr/>
        <a:lstStyle/>
        <a:p>
          <a:endParaRPr lang="en-US"/>
        </a:p>
      </dgm:t>
    </dgm:pt>
    <dgm:pt modelId="{FB696466-AE7D-4987-B4F1-E4CE1A635D01}" type="sibTrans" cxnId="{CC6C8837-4EF3-407E-8D51-BCDE2509757D}">
      <dgm:prSet/>
      <dgm:spPr/>
      <dgm:t>
        <a:bodyPr/>
        <a:lstStyle/>
        <a:p>
          <a:endParaRPr lang="en-US"/>
        </a:p>
      </dgm:t>
    </dgm:pt>
    <dgm:pt modelId="{412E379C-3BDA-474E-AC2D-CDAB04727387}">
      <dgm:prSet/>
      <dgm:spPr/>
      <dgm:t>
        <a:bodyPr/>
        <a:lstStyle/>
        <a:p>
          <a:r>
            <a:rPr lang="en-US"/>
            <a:t>Power Switches</a:t>
          </a:r>
        </a:p>
      </dgm:t>
    </dgm:pt>
    <dgm:pt modelId="{93323271-1309-48BC-87B4-57C3B06FDD2B}" type="parTrans" cxnId="{7120DA11-DFA5-4C9B-8991-D79112AFE6C5}">
      <dgm:prSet/>
      <dgm:spPr/>
      <dgm:t>
        <a:bodyPr/>
        <a:lstStyle/>
        <a:p>
          <a:endParaRPr lang="en-US"/>
        </a:p>
      </dgm:t>
    </dgm:pt>
    <dgm:pt modelId="{8FE13C74-B44E-41CC-8088-0FE3754EF1BB}" type="sibTrans" cxnId="{7120DA11-DFA5-4C9B-8991-D79112AFE6C5}">
      <dgm:prSet/>
      <dgm:spPr/>
      <dgm:t>
        <a:bodyPr/>
        <a:lstStyle/>
        <a:p>
          <a:endParaRPr lang="en-US"/>
        </a:p>
      </dgm:t>
    </dgm:pt>
    <dgm:pt modelId="{80B24CF8-2E4B-4B32-A0D7-3C7092CD4AD5}">
      <dgm:prSet/>
      <dgm:spPr/>
      <dgm:t>
        <a:bodyPr/>
        <a:lstStyle/>
        <a:p>
          <a:r>
            <a:rPr lang="en-US"/>
            <a:t>Uncontrolled and Controllable Switches</a:t>
          </a:r>
        </a:p>
      </dgm:t>
    </dgm:pt>
    <dgm:pt modelId="{728D3F81-2124-44BA-8F34-DD193F0971C6}" type="parTrans" cxnId="{79C44EB6-80F5-4968-A2FB-89211095A7FA}">
      <dgm:prSet/>
      <dgm:spPr/>
      <dgm:t>
        <a:bodyPr/>
        <a:lstStyle/>
        <a:p>
          <a:endParaRPr lang="en-US"/>
        </a:p>
      </dgm:t>
    </dgm:pt>
    <dgm:pt modelId="{40F1E23C-4A34-42FD-B6C2-9F7584999824}" type="sibTrans" cxnId="{79C44EB6-80F5-4968-A2FB-89211095A7FA}">
      <dgm:prSet/>
      <dgm:spPr/>
      <dgm:t>
        <a:bodyPr/>
        <a:lstStyle/>
        <a:p>
          <a:endParaRPr lang="en-US"/>
        </a:p>
      </dgm:t>
    </dgm:pt>
    <dgm:pt modelId="{D36EE53B-F485-41D3-AE48-9B3C22D21D80}">
      <dgm:prSet/>
      <dgm:spPr/>
      <dgm:t>
        <a:bodyPr/>
        <a:lstStyle/>
        <a:p>
          <a:r>
            <a:rPr lang="en-US"/>
            <a:t>Heatsinks</a:t>
          </a:r>
        </a:p>
      </dgm:t>
    </dgm:pt>
    <dgm:pt modelId="{96F8D885-8597-4951-9269-20721F819E79}" type="parTrans" cxnId="{D803CE4D-73D7-45DA-A5EA-0FA20DE3DB0A}">
      <dgm:prSet/>
      <dgm:spPr/>
      <dgm:t>
        <a:bodyPr/>
        <a:lstStyle/>
        <a:p>
          <a:endParaRPr lang="en-US"/>
        </a:p>
      </dgm:t>
    </dgm:pt>
    <dgm:pt modelId="{2D450186-2BE9-4EA7-A058-DC8467524389}" type="sibTrans" cxnId="{D803CE4D-73D7-45DA-A5EA-0FA20DE3DB0A}">
      <dgm:prSet/>
      <dgm:spPr/>
      <dgm:t>
        <a:bodyPr/>
        <a:lstStyle/>
        <a:p>
          <a:endParaRPr lang="en-US"/>
        </a:p>
      </dgm:t>
    </dgm:pt>
    <dgm:pt modelId="{4FBE676D-76A1-4275-81B8-43CF168CA1FD}">
      <dgm:prSet/>
      <dgm:spPr/>
      <dgm:t>
        <a:bodyPr/>
        <a:lstStyle/>
        <a:p>
          <a:r>
            <a:rPr lang="en-US" dirty="0"/>
            <a:t>With me (Prof Atif Jafri) </a:t>
          </a:r>
        </a:p>
      </dgm:t>
    </dgm:pt>
    <dgm:pt modelId="{60D90457-5A1A-471B-B3C9-188B562E7D0F}" type="parTrans" cxnId="{1BE4548F-86C7-4A0C-AA7E-068866AD1DB3}">
      <dgm:prSet/>
      <dgm:spPr/>
      <dgm:t>
        <a:bodyPr/>
        <a:lstStyle/>
        <a:p>
          <a:endParaRPr lang="en-US"/>
        </a:p>
      </dgm:t>
    </dgm:pt>
    <dgm:pt modelId="{78BD55D5-C1CD-41E1-82D3-61AF52454AAF}" type="sibTrans" cxnId="{1BE4548F-86C7-4A0C-AA7E-068866AD1DB3}">
      <dgm:prSet/>
      <dgm:spPr/>
      <dgm:t>
        <a:bodyPr/>
        <a:lstStyle/>
        <a:p>
          <a:endParaRPr lang="en-US"/>
        </a:p>
      </dgm:t>
    </dgm:pt>
    <dgm:pt modelId="{52CE59E8-75FB-4B8E-AE7B-8076C315A506}">
      <dgm:prSet/>
      <dgm:spPr/>
      <dgm:t>
        <a:bodyPr/>
        <a:lstStyle/>
        <a:p>
          <a:r>
            <a:rPr lang="en-US" dirty="0"/>
            <a:t>Switched Mode Power Supplies (DC-DC converters)</a:t>
          </a:r>
        </a:p>
      </dgm:t>
    </dgm:pt>
    <dgm:pt modelId="{A9C4BCA4-A257-403B-8234-CD80058B5C96}" type="parTrans" cxnId="{5EB8E492-ACDD-4898-B060-0E0BE96672D1}">
      <dgm:prSet/>
      <dgm:spPr/>
      <dgm:t>
        <a:bodyPr/>
        <a:lstStyle/>
        <a:p>
          <a:endParaRPr lang="en-US"/>
        </a:p>
      </dgm:t>
    </dgm:pt>
    <dgm:pt modelId="{5E41FB4D-9467-43A8-8138-9A9F006BD8A5}" type="sibTrans" cxnId="{5EB8E492-ACDD-4898-B060-0E0BE96672D1}">
      <dgm:prSet/>
      <dgm:spPr/>
      <dgm:t>
        <a:bodyPr/>
        <a:lstStyle/>
        <a:p>
          <a:endParaRPr lang="en-US"/>
        </a:p>
      </dgm:t>
    </dgm:pt>
    <dgm:pt modelId="{A06E4FEE-AD53-4D5F-8085-92B935C6AD39}">
      <dgm:prSet/>
      <dgm:spPr/>
      <dgm:t>
        <a:bodyPr/>
        <a:lstStyle/>
        <a:p>
          <a:r>
            <a:rPr lang="en-US" dirty="0"/>
            <a:t>DC-AC converters (Inverters)</a:t>
          </a:r>
        </a:p>
      </dgm:t>
    </dgm:pt>
    <dgm:pt modelId="{1257B9AD-2B97-4A90-A880-0850C3283BC3}" type="parTrans" cxnId="{02692E20-D199-49B8-BEB6-97EF7B0A7629}">
      <dgm:prSet/>
      <dgm:spPr/>
      <dgm:t>
        <a:bodyPr/>
        <a:lstStyle/>
        <a:p>
          <a:endParaRPr lang="en-US"/>
        </a:p>
      </dgm:t>
    </dgm:pt>
    <dgm:pt modelId="{8475238F-4FD8-49A8-9D4F-7D0358E820C7}" type="sibTrans" cxnId="{02692E20-D199-49B8-BEB6-97EF7B0A7629}">
      <dgm:prSet/>
      <dgm:spPr/>
      <dgm:t>
        <a:bodyPr/>
        <a:lstStyle/>
        <a:p>
          <a:endParaRPr lang="en-US"/>
        </a:p>
      </dgm:t>
    </dgm:pt>
    <dgm:pt modelId="{7BED6EAD-294E-4C81-B405-D15FFE153792}">
      <dgm:prSet/>
      <dgm:spPr/>
      <dgm:t>
        <a:bodyPr/>
        <a:lstStyle/>
        <a:p>
          <a:r>
            <a:rPr lang="en-US" dirty="0"/>
            <a:t>Applications and Systems</a:t>
          </a:r>
        </a:p>
      </dgm:t>
    </dgm:pt>
    <dgm:pt modelId="{1365EC3F-0553-409A-A920-D9FF49220463}" type="parTrans" cxnId="{B1DC3272-DEDB-46C4-8C4E-4976AEE2C832}">
      <dgm:prSet/>
      <dgm:spPr/>
      <dgm:t>
        <a:bodyPr/>
        <a:lstStyle/>
        <a:p>
          <a:endParaRPr lang="en-US"/>
        </a:p>
      </dgm:t>
    </dgm:pt>
    <dgm:pt modelId="{49E00AC1-458F-4B58-BA6A-78FC5AA34F33}" type="sibTrans" cxnId="{B1DC3272-DEDB-46C4-8C4E-4976AEE2C832}">
      <dgm:prSet/>
      <dgm:spPr/>
      <dgm:t>
        <a:bodyPr/>
        <a:lstStyle/>
        <a:p>
          <a:endParaRPr lang="en-US"/>
        </a:p>
      </dgm:t>
    </dgm:pt>
    <dgm:pt modelId="{D88EB7C8-FB7D-E04A-923A-06B44CB40006}">
      <dgm:prSet/>
      <dgm:spPr/>
      <dgm:t>
        <a:bodyPr/>
        <a:lstStyle/>
        <a:p>
          <a:r>
            <a:rPr lang="en-US" dirty="0"/>
            <a:t>Snubber Circuits</a:t>
          </a:r>
        </a:p>
      </dgm:t>
    </dgm:pt>
    <dgm:pt modelId="{CB5F1B1C-C490-9541-92C4-B8D8E0E2CD1B}" type="parTrans" cxnId="{AB938042-3EA1-DC46-B792-BC123C93AE12}">
      <dgm:prSet/>
      <dgm:spPr/>
      <dgm:t>
        <a:bodyPr/>
        <a:lstStyle/>
        <a:p>
          <a:endParaRPr lang="en-US"/>
        </a:p>
      </dgm:t>
    </dgm:pt>
    <dgm:pt modelId="{BC10EBBD-ADE5-A04F-B56B-293DFEA277A1}" type="sibTrans" cxnId="{AB938042-3EA1-DC46-B792-BC123C93AE12}">
      <dgm:prSet/>
      <dgm:spPr/>
      <dgm:t>
        <a:bodyPr/>
        <a:lstStyle/>
        <a:p>
          <a:endParaRPr lang="en-US"/>
        </a:p>
      </dgm:t>
    </dgm:pt>
    <dgm:pt modelId="{C60FDA66-C53A-054F-BC6C-EF909622841B}">
      <dgm:prSet/>
      <dgm:spPr/>
      <dgm:t>
        <a:bodyPr/>
        <a:lstStyle/>
        <a:p>
          <a:r>
            <a:rPr lang="en-US" dirty="0"/>
            <a:t>Week-11</a:t>
          </a:r>
        </a:p>
      </dgm:t>
    </dgm:pt>
    <dgm:pt modelId="{550AEF1E-43D0-D54F-AEB6-3A662A6FDFCE}" type="parTrans" cxnId="{7BCB4615-C3B9-CE42-8AB8-B5E7B130ABFD}">
      <dgm:prSet/>
      <dgm:spPr/>
      <dgm:t>
        <a:bodyPr/>
        <a:lstStyle/>
        <a:p>
          <a:endParaRPr lang="en-US"/>
        </a:p>
      </dgm:t>
    </dgm:pt>
    <dgm:pt modelId="{BD3929F7-8835-6B47-936D-6CA0F0FE38BD}" type="sibTrans" cxnId="{7BCB4615-C3B9-CE42-8AB8-B5E7B130ABFD}">
      <dgm:prSet/>
      <dgm:spPr/>
      <dgm:t>
        <a:bodyPr/>
        <a:lstStyle/>
        <a:p>
          <a:endParaRPr lang="en-US"/>
        </a:p>
      </dgm:t>
    </dgm:pt>
    <dgm:pt modelId="{B6B2283A-BD14-6443-A0DE-6CD3FA2E4C88}">
      <dgm:prSet/>
      <dgm:spPr/>
      <dgm:t>
        <a:bodyPr/>
        <a:lstStyle/>
        <a:p>
          <a:r>
            <a:rPr lang="en-US" dirty="0"/>
            <a:t>Week-12</a:t>
          </a:r>
        </a:p>
      </dgm:t>
    </dgm:pt>
    <dgm:pt modelId="{9E578040-BAE0-254A-A9E6-D24BA8C088A9}" type="parTrans" cxnId="{400A978E-0DE0-6E4B-A471-C0AC38FD1744}">
      <dgm:prSet/>
      <dgm:spPr/>
      <dgm:t>
        <a:bodyPr/>
        <a:lstStyle/>
        <a:p>
          <a:endParaRPr lang="en-US"/>
        </a:p>
      </dgm:t>
    </dgm:pt>
    <dgm:pt modelId="{A2653CE3-6FAE-9F47-B897-3908563C285A}" type="sibTrans" cxnId="{400A978E-0DE0-6E4B-A471-C0AC38FD1744}">
      <dgm:prSet/>
      <dgm:spPr/>
      <dgm:t>
        <a:bodyPr/>
        <a:lstStyle/>
        <a:p>
          <a:endParaRPr lang="en-US"/>
        </a:p>
      </dgm:t>
    </dgm:pt>
    <dgm:pt modelId="{E8F6ECD0-9F43-3142-893C-DC3FCB57A635}" type="pres">
      <dgm:prSet presAssocID="{68E62278-BF55-46D2-A04E-FC3A2900890B}" presName="linear" presStyleCnt="0">
        <dgm:presLayoutVars>
          <dgm:animLvl val="lvl"/>
          <dgm:resizeHandles val="exact"/>
        </dgm:presLayoutVars>
      </dgm:prSet>
      <dgm:spPr/>
    </dgm:pt>
    <dgm:pt modelId="{06FAB3DA-7ED7-A74B-94D7-101BC0964F01}" type="pres">
      <dgm:prSet presAssocID="{DEFC7AAB-B5D9-4A33-8F6B-9D64EF780EC7}" presName="parentText" presStyleLbl="node1" presStyleIdx="0" presStyleCnt="2" custLinFactNeighborY="-3865">
        <dgm:presLayoutVars>
          <dgm:chMax val="0"/>
          <dgm:bulletEnabled val="1"/>
        </dgm:presLayoutVars>
      </dgm:prSet>
      <dgm:spPr/>
    </dgm:pt>
    <dgm:pt modelId="{C7697AD1-A442-0F44-BD52-F10499A208D8}" type="pres">
      <dgm:prSet presAssocID="{DEFC7AAB-B5D9-4A33-8F6B-9D64EF780EC7}" presName="childText" presStyleLbl="revTx" presStyleIdx="0" presStyleCnt="2">
        <dgm:presLayoutVars>
          <dgm:bulletEnabled val="1"/>
        </dgm:presLayoutVars>
      </dgm:prSet>
      <dgm:spPr/>
    </dgm:pt>
    <dgm:pt modelId="{7CCAA57C-FEA8-2F4B-8235-B85BE611CD76}" type="pres">
      <dgm:prSet presAssocID="{4FBE676D-76A1-4275-81B8-43CF168CA1FD}" presName="parentText" presStyleLbl="node1" presStyleIdx="1" presStyleCnt="2">
        <dgm:presLayoutVars>
          <dgm:chMax val="0"/>
          <dgm:bulletEnabled val="1"/>
        </dgm:presLayoutVars>
      </dgm:prSet>
      <dgm:spPr/>
    </dgm:pt>
    <dgm:pt modelId="{829FFA36-CEF4-EF4D-AA60-D2ECD2DBC974}" type="pres">
      <dgm:prSet presAssocID="{4FBE676D-76A1-4275-81B8-43CF168CA1FD}" presName="childText" presStyleLbl="revTx" presStyleIdx="1" presStyleCnt="2">
        <dgm:presLayoutVars>
          <dgm:bulletEnabled val="1"/>
        </dgm:presLayoutVars>
      </dgm:prSet>
      <dgm:spPr/>
    </dgm:pt>
  </dgm:ptLst>
  <dgm:cxnLst>
    <dgm:cxn modelId="{9B571908-9CB7-463F-8DC7-09D8F35508DB}" srcId="{68E62278-BF55-46D2-A04E-FC3A2900890B}" destId="{DEFC7AAB-B5D9-4A33-8F6B-9D64EF780EC7}" srcOrd="0" destOrd="0" parTransId="{B59FAFDB-2081-4FA8-9F23-DC7A54C447A3}" sibTransId="{E113778C-66D6-4767-96C1-4C13EB3341F5}"/>
    <dgm:cxn modelId="{D141270A-A0F5-9140-A462-FBFF4FADEB1D}" type="presOf" srcId="{A85730E9-2BD3-4B5C-8446-AAE1B28F915F}" destId="{C7697AD1-A442-0F44-BD52-F10499A208D8}" srcOrd="0" destOrd="0" presId="urn:microsoft.com/office/officeart/2005/8/layout/vList2"/>
    <dgm:cxn modelId="{7120DA11-DFA5-4C9B-8991-D79112AFE6C5}" srcId="{DEFC7AAB-B5D9-4A33-8F6B-9D64EF780EC7}" destId="{412E379C-3BDA-474E-AC2D-CDAB04727387}" srcOrd="1" destOrd="0" parTransId="{93323271-1309-48BC-87B4-57C3B06FDD2B}" sibTransId="{8FE13C74-B44E-41CC-8088-0FE3754EF1BB}"/>
    <dgm:cxn modelId="{7BCB4615-C3B9-CE42-8AB8-B5E7B130ABFD}" srcId="{4FBE676D-76A1-4275-81B8-43CF168CA1FD}" destId="{C60FDA66-C53A-054F-BC6C-EF909622841B}" srcOrd="0" destOrd="0" parTransId="{550AEF1E-43D0-D54F-AEB6-3A662A6FDFCE}" sibTransId="{BD3929F7-8835-6B47-936D-6CA0F0FE38BD}"/>
    <dgm:cxn modelId="{02692E20-D199-49B8-BEB6-97EF7B0A7629}" srcId="{B6B2283A-BD14-6443-A0DE-6CD3FA2E4C88}" destId="{A06E4FEE-AD53-4D5F-8085-92B935C6AD39}" srcOrd="0" destOrd="0" parTransId="{1257B9AD-2B97-4A90-A880-0850C3283BC3}" sibTransId="{8475238F-4FD8-49A8-9D4F-7D0358E820C7}"/>
    <dgm:cxn modelId="{CC6C8837-4EF3-407E-8D51-BCDE2509757D}" srcId="{DEFC7AAB-B5D9-4A33-8F6B-9D64EF780EC7}" destId="{A85730E9-2BD3-4B5C-8446-AAE1B28F915F}" srcOrd="0" destOrd="0" parTransId="{40E42263-DCBB-4CF1-A96F-2072280B5F5C}" sibTransId="{FB696466-AE7D-4987-B4F1-E4CE1A635D01}"/>
    <dgm:cxn modelId="{AB938042-3EA1-DC46-B792-BC123C93AE12}" srcId="{C60FDA66-C53A-054F-BC6C-EF909622841B}" destId="{D88EB7C8-FB7D-E04A-923A-06B44CB40006}" srcOrd="1" destOrd="0" parTransId="{CB5F1B1C-C490-9541-92C4-B8D8E0E2CD1B}" sibTransId="{BC10EBBD-ADE5-A04F-B56B-293DFEA277A1}"/>
    <dgm:cxn modelId="{C636F568-939D-E24D-B356-072604C5FE16}" type="presOf" srcId="{80B24CF8-2E4B-4B32-A0D7-3C7092CD4AD5}" destId="{C7697AD1-A442-0F44-BD52-F10499A208D8}" srcOrd="0" destOrd="2" presId="urn:microsoft.com/office/officeart/2005/8/layout/vList2"/>
    <dgm:cxn modelId="{8B836D69-874D-FD4E-87D9-97AA76C2E1BE}" type="presOf" srcId="{C60FDA66-C53A-054F-BC6C-EF909622841B}" destId="{829FFA36-CEF4-EF4D-AA60-D2ECD2DBC974}" srcOrd="0" destOrd="0" presId="urn:microsoft.com/office/officeart/2005/8/layout/vList2"/>
    <dgm:cxn modelId="{F9F1616B-3B2A-0941-8E35-60D33B099CC4}" type="presOf" srcId="{412E379C-3BDA-474E-AC2D-CDAB04727387}" destId="{C7697AD1-A442-0F44-BD52-F10499A208D8}" srcOrd="0" destOrd="1" presId="urn:microsoft.com/office/officeart/2005/8/layout/vList2"/>
    <dgm:cxn modelId="{D803CE4D-73D7-45DA-A5EA-0FA20DE3DB0A}" srcId="{DEFC7AAB-B5D9-4A33-8F6B-9D64EF780EC7}" destId="{D36EE53B-F485-41D3-AE48-9B3C22D21D80}" srcOrd="3" destOrd="0" parTransId="{96F8D885-8597-4951-9269-20721F819E79}" sibTransId="{2D450186-2BE9-4EA7-A058-DC8467524389}"/>
    <dgm:cxn modelId="{B1DC3272-DEDB-46C4-8C4E-4976AEE2C832}" srcId="{B6B2283A-BD14-6443-A0DE-6CD3FA2E4C88}" destId="{7BED6EAD-294E-4C81-B405-D15FFE153792}" srcOrd="1" destOrd="0" parTransId="{1365EC3F-0553-409A-A920-D9FF49220463}" sibTransId="{49E00AC1-458F-4B58-BA6A-78FC5AA34F33}"/>
    <dgm:cxn modelId="{AEF26B80-09A1-3D4A-BB31-4EF21D75DAD7}" type="presOf" srcId="{B6B2283A-BD14-6443-A0DE-6CD3FA2E4C88}" destId="{829FFA36-CEF4-EF4D-AA60-D2ECD2DBC974}" srcOrd="0" destOrd="3" presId="urn:microsoft.com/office/officeart/2005/8/layout/vList2"/>
    <dgm:cxn modelId="{4A01CC89-46A3-0547-AC1F-1ABE1BB66396}" type="presOf" srcId="{7BED6EAD-294E-4C81-B405-D15FFE153792}" destId="{829FFA36-CEF4-EF4D-AA60-D2ECD2DBC974}" srcOrd="0" destOrd="5" presId="urn:microsoft.com/office/officeart/2005/8/layout/vList2"/>
    <dgm:cxn modelId="{400A978E-0DE0-6E4B-A471-C0AC38FD1744}" srcId="{4FBE676D-76A1-4275-81B8-43CF168CA1FD}" destId="{B6B2283A-BD14-6443-A0DE-6CD3FA2E4C88}" srcOrd="1" destOrd="0" parTransId="{9E578040-BAE0-254A-A9E6-D24BA8C088A9}" sibTransId="{A2653CE3-6FAE-9F47-B897-3908563C285A}"/>
    <dgm:cxn modelId="{1BE4548F-86C7-4A0C-AA7E-068866AD1DB3}" srcId="{68E62278-BF55-46D2-A04E-FC3A2900890B}" destId="{4FBE676D-76A1-4275-81B8-43CF168CA1FD}" srcOrd="1" destOrd="0" parTransId="{60D90457-5A1A-471B-B3C9-188B562E7D0F}" sibTransId="{78BD55D5-C1CD-41E1-82D3-61AF52454AAF}"/>
    <dgm:cxn modelId="{5EB8E492-ACDD-4898-B060-0E0BE96672D1}" srcId="{C60FDA66-C53A-054F-BC6C-EF909622841B}" destId="{52CE59E8-75FB-4B8E-AE7B-8076C315A506}" srcOrd="0" destOrd="0" parTransId="{A9C4BCA4-A257-403B-8234-CD80058B5C96}" sibTransId="{5E41FB4D-9467-43A8-8138-9A9F006BD8A5}"/>
    <dgm:cxn modelId="{79C44EB6-80F5-4968-A2FB-89211095A7FA}" srcId="{DEFC7AAB-B5D9-4A33-8F6B-9D64EF780EC7}" destId="{80B24CF8-2E4B-4B32-A0D7-3C7092CD4AD5}" srcOrd="2" destOrd="0" parTransId="{728D3F81-2124-44BA-8F34-DD193F0971C6}" sibTransId="{40F1E23C-4A34-42FD-B6C2-9F7584999824}"/>
    <dgm:cxn modelId="{605A99CF-9EE2-154A-B4CA-172FE81B04A2}" type="presOf" srcId="{68E62278-BF55-46D2-A04E-FC3A2900890B}" destId="{E8F6ECD0-9F43-3142-893C-DC3FCB57A635}" srcOrd="0" destOrd="0" presId="urn:microsoft.com/office/officeart/2005/8/layout/vList2"/>
    <dgm:cxn modelId="{DA4533D4-5887-C84C-8F52-FFCAF6175502}" type="presOf" srcId="{DEFC7AAB-B5D9-4A33-8F6B-9D64EF780EC7}" destId="{06FAB3DA-7ED7-A74B-94D7-101BC0964F01}" srcOrd="0" destOrd="0" presId="urn:microsoft.com/office/officeart/2005/8/layout/vList2"/>
    <dgm:cxn modelId="{5B1643D8-D5F3-CB40-8A1B-8295A75CF9E9}" type="presOf" srcId="{A06E4FEE-AD53-4D5F-8085-92B935C6AD39}" destId="{829FFA36-CEF4-EF4D-AA60-D2ECD2DBC974}" srcOrd="0" destOrd="4" presId="urn:microsoft.com/office/officeart/2005/8/layout/vList2"/>
    <dgm:cxn modelId="{7F5CA6F4-F4BC-E245-AD9A-5FD0756F7FF0}" type="presOf" srcId="{D36EE53B-F485-41D3-AE48-9B3C22D21D80}" destId="{C7697AD1-A442-0F44-BD52-F10499A208D8}" srcOrd="0" destOrd="3" presId="urn:microsoft.com/office/officeart/2005/8/layout/vList2"/>
    <dgm:cxn modelId="{6603F1F4-D8A7-AA44-BE0D-CC3A408A7815}" type="presOf" srcId="{D88EB7C8-FB7D-E04A-923A-06B44CB40006}" destId="{829FFA36-CEF4-EF4D-AA60-D2ECD2DBC974}" srcOrd="0" destOrd="2" presId="urn:microsoft.com/office/officeart/2005/8/layout/vList2"/>
    <dgm:cxn modelId="{B88C93F9-D0E4-4B4A-B981-5434AF4C3EED}" type="presOf" srcId="{4FBE676D-76A1-4275-81B8-43CF168CA1FD}" destId="{7CCAA57C-FEA8-2F4B-8235-B85BE611CD76}" srcOrd="0" destOrd="0" presId="urn:microsoft.com/office/officeart/2005/8/layout/vList2"/>
    <dgm:cxn modelId="{B0378FFD-4E48-AB41-AA74-0BFA6FCB8A3E}" type="presOf" srcId="{52CE59E8-75FB-4B8E-AE7B-8076C315A506}" destId="{829FFA36-CEF4-EF4D-AA60-D2ECD2DBC974}" srcOrd="0" destOrd="1" presId="urn:microsoft.com/office/officeart/2005/8/layout/vList2"/>
    <dgm:cxn modelId="{7263E31E-7A76-594D-8C49-477B5B6A1AF8}" type="presParOf" srcId="{E8F6ECD0-9F43-3142-893C-DC3FCB57A635}" destId="{06FAB3DA-7ED7-A74B-94D7-101BC0964F01}" srcOrd="0" destOrd="0" presId="urn:microsoft.com/office/officeart/2005/8/layout/vList2"/>
    <dgm:cxn modelId="{934862DB-C2B7-F640-B0F0-F5919CC631E6}" type="presParOf" srcId="{E8F6ECD0-9F43-3142-893C-DC3FCB57A635}" destId="{C7697AD1-A442-0F44-BD52-F10499A208D8}" srcOrd="1" destOrd="0" presId="urn:microsoft.com/office/officeart/2005/8/layout/vList2"/>
    <dgm:cxn modelId="{F99A6C47-9317-704E-84ED-BA5BF7AB706D}" type="presParOf" srcId="{E8F6ECD0-9F43-3142-893C-DC3FCB57A635}" destId="{7CCAA57C-FEA8-2F4B-8235-B85BE611CD76}" srcOrd="2" destOrd="0" presId="urn:microsoft.com/office/officeart/2005/8/layout/vList2"/>
    <dgm:cxn modelId="{359494EA-AC3C-1644-83C5-79F7D1AA1A06}" type="presParOf" srcId="{E8F6ECD0-9F43-3142-893C-DC3FCB57A635}" destId="{829FFA36-CEF4-EF4D-AA60-D2ECD2DBC974}"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FAB3DA-7ED7-A74B-94D7-101BC0964F01}">
      <dsp:nvSpPr>
        <dsp:cNvPr id="0" name=""/>
        <dsp:cNvSpPr/>
      </dsp:nvSpPr>
      <dsp:spPr>
        <a:xfrm>
          <a:off x="0" y="8335"/>
          <a:ext cx="4436964"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With Prof Lianping Hou</a:t>
          </a:r>
        </a:p>
      </dsp:txBody>
      <dsp:txXfrm>
        <a:off x="25759" y="34094"/>
        <a:ext cx="4385446" cy="476152"/>
      </dsp:txXfrm>
    </dsp:sp>
    <dsp:sp modelId="{C7697AD1-A442-0F44-BD52-F10499A208D8}">
      <dsp:nvSpPr>
        <dsp:cNvPr id="0" name=""/>
        <dsp:cNvSpPr/>
      </dsp:nvSpPr>
      <dsp:spPr>
        <a:xfrm>
          <a:off x="0" y="581768"/>
          <a:ext cx="4436964" cy="1184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87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Electric Circuits</a:t>
          </a:r>
        </a:p>
        <a:p>
          <a:pPr marL="171450" lvl="1" indent="-171450" algn="l" defTabSz="755650">
            <a:lnSpc>
              <a:spcPct val="90000"/>
            </a:lnSpc>
            <a:spcBef>
              <a:spcPct val="0"/>
            </a:spcBef>
            <a:spcAft>
              <a:spcPct val="20000"/>
            </a:spcAft>
            <a:buChar char="•"/>
          </a:pPr>
          <a:r>
            <a:rPr lang="en-US" sz="1700" kern="1200"/>
            <a:t>Power Switches</a:t>
          </a:r>
        </a:p>
        <a:p>
          <a:pPr marL="171450" lvl="1" indent="-171450" algn="l" defTabSz="755650">
            <a:lnSpc>
              <a:spcPct val="90000"/>
            </a:lnSpc>
            <a:spcBef>
              <a:spcPct val="0"/>
            </a:spcBef>
            <a:spcAft>
              <a:spcPct val="20000"/>
            </a:spcAft>
            <a:buChar char="•"/>
          </a:pPr>
          <a:r>
            <a:rPr lang="en-US" sz="1700" kern="1200"/>
            <a:t>Uncontrolled and Controllable Switches</a:t>
          </a:r>
        </a:p>
        <a:p>
          <a:pPr marL="171450" lvl="1" indent="-171450" algn="l" defTabSz="755650">
            <a:lnSpc>
              <a:spcPct val="90000"/>
            </a:lnSpc>
            <a:spcBef>
              <a:spcPct val="0"/>
            </a:spcBef>
            <a:spcAft>
              <a:spcPct val="20000"/>
            </a:spcAft>
            <a:buChar char="•"/>
          </a:pPr>
          <a:r>
            <a:rPr lang="en-US" sz="1700" kern="1200"/>
            <a:t>Heatsinks</a:t>
          </a:r>
        </a:p>
      </dsp:txBody>
      <dsp:txXfrm>
        <a:off x="0" y="581768"/>
        <a:ext cx="4436964" cy="1184040"/>
      </dsp:txXfrm>
    </dsp:sp>
    <dsp:sp modelId="{7CCAA57C-FEA8-2F4B-8235-B85BE611CD76}">
      <dsp:nvSpPr>
        <dsp:cNvPr id="0" name=""/>
        <dsp:cNvSpPr/>
      </dsp:nvSpPr>
      <dsp:spPr>
        <a:xfrm>
          <a:off x="0" y="1765809"/>
          <a:ext cx="4436964"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With me (Prof Atif Jafri) </a:t>
          </a:r>
        </a:p>
      </dsp:txBody>
      <dsp:txXfrm>
        <a:off x="25759" y="1791568"/>
        <a:ext cx="4385446" cy="476152"/>
      </dsp:txXfrm>
    </dsp:sp>
    <dsp:sp modelId="{829FFA36-CEF4-EF4D-AA60-D2ECD2DBC974}">
      <dsp:nvSpPr>
        <dsp:cNvPr id="0" name=""/>
        <dsp:cNvSpPr/>
      </dsp:nvSpPr>
      <dsp:spPr>
        <a:xfrm>
          <a:off x="0" y="2293479"/>
          <a:ext cx="4436964" cy="2003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87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Week-11</a:t>
          </a:r>
        </a:p>
        <a:p>
          <a:pPr marL="342900" lvl="2" indent="-171450" algn="l" defTabSz="755650">
            <a:lnSpc>
              <a:spcPct val="90000"/>
            </a:lnSpc>
            <a:spcBef>
              <a:spcPct val="0"/>
            </a:spcBef>
            <a:spcAft>
              <a:spcPct val="20000"/>
            </a:spcAft>
            <a:buChar char="•"/>
          </a:pPr>
          <a:r>
            <a:rPr lang="en-US" sz="1700" kern="1200" dirty="0"/>
            <a:t>Switched Mode Power Supplies (DC-DC converters)</a:t>
          </a:r>
        </a:p>
        <a:p>
          <a:pPr marL="342900" lvl="2" indent="-171450" algn="l" defTabSz="755650">
            <a:lnSpc>
              <a:spcPct val="90000"/>
            </a:lnSpc>
            <a:spcBef>
              <a:spcPct val="0"/>
            </a:spcBef>
            <a:spcAft>
              <a:spcPct val="20000"/>
            </a:spcAft>
            <a:buChar char="•"/>
          </a:pPr>
          <a:r>
            <a:rPr lang="en-US" sz="1700" kern="1200" dirty="0"/>
            <a:t>Snubber Circuits</a:t>
          </a:r>
        </a:p>
        <a:p>
          <a:pPr marL="171450" lvl="1" indent="-171450" algn="l" defTabSz="755650">
            <a:lnSpc>
              <a:spcPct val="90000"/>
            </a:lnSpc>
            <a:spcBef>
              <a:spcPct val="0"/>
            </a:spcBef>
            <a:spcAft>
              <a:spcPct val="20000"/>
            </a:spcAft>
            <a:buChar char="•"/>
          </a:pPr>
          <a:r>
            <a:rPr lang="en-US" sz="1700" kern="1200" dirty="0"/>
            <a:t>Week-12</a:t>
          </a:r>
        </a:p>
        <a:p>
          <a:pPr marL="342900" lvl="2" indent="-171450" algn="l" defTabSz="755650">
            <a:lnSpc>
              <a:spcPct val="90000"/>
            </a:lnSpc>
            <a:spcBef>
              <a:spcPct val="0"/>
            </a:spcBef>
            <a:spcAft>
              <a:spcPct val="20000"/>
            </a:spcAft>
            <a:buChar char="•"/>
          </a:pPr>
          <a:r>
            <a:rPr lang="en-US" sz="1700" kern="1200" dirty="0"/>
            <a:t>DC-AC converters (Inverters)</a:t>
          </a:r>
        </a:p>
        <a:p>
          <a:pPr marL="342900" lvl="2" indent="-171450" algn="l" defTabSz="755650">
            <a:lnSpc>
              <a:spcPct val="90000"/>
            </a:lnSpc>
            <a:spcBef>
              <a:spcPct val="0"/>
            </a:spcBef>
            <a:spcAft>
              <a:spcPct val="20000"/>
            </a:spcAft>
            <a:buChar char="•"/>
          </a:pPr>
          <a:r>
            <a:rPr lang="en-US" sz="1700" kern="1200" dirty="0"/>
            <a:t>Applications and Systems</a:t>
          </a:r>
        </a:p>
      </dsp:txBody>
      <dsp:txXfrm>
        <a:off x="0" y="2293479"/>
        <a:ext cx="4436964" cy="20037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BFB02-F1FF-3446-ADFC-46B935C62F94}" type="datetimeFigureOut">
              <a:rPr lang="en-US" smtClean="0"/>
              <a:t>5/5/2025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5C68C-7517-2F44-A8B3-F42BECC95057}" type="slidenum">
              <a:rPr lang="en-US" smtClean="0"/>
              <a:t>‹#›</a:t>
            </a:fld>
            <a:endParaRPr lang="en-US"/>
          </a:p>
        </p:txBody>
      </p:sp>
    </p:spTree>
    <p:extLst>
      <p:ext uri="{BB962C8B-B14F-4D97-AF65-F5344CB8AC3E}">
        <p14:creationId xmlns:p14="http://schemas.microsoft.com/office/powerpoint/2010/main" val="1206158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5</a:t>
            </a:fld>
            <a:endParaRPr lang="en-US"/>
          </a:p>
        </p:txBody>
      </p:sp>
    </p:spTree>
    <p:extLst>
      <p:ext uri="{BB962C8B-B14F-4D97-AF65-F5344CB8AC3E}">
        <p14:creationId xmlns:p14="http://schemas.microsoft.com/office/powerpoint/2010/main" val="214616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7</a:t>
            </a:fld>
            <a:endParaRPr lang="en-US"/>
          </a:p>
        </p:txBody>
      </p:sp>
    </p:spTree>
    <p:extLst>
      <p:ext uri="{BB962C8B-B14F-4D97-AF65-F5344CB8AC3E}">
        <p14:creationId xmlns:p14="http://schemas.microsoft.com/office/powerpoint/2010/main" val="375431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8</a:t>
            </a:fld>
            <a:endParaRPr lang="en-US"/>
          </a:p>
        </p:txBody>
      </p:sp>
    </p:spTree>
    <p:extLst>
      <p:ext uri="{BB962C8B-B14F-4D97-AF65-F5344CB8AC3E}">
        <p14:creationId xmlns:p14="http://schemas.microsoft.com/office/powerpoint/2010/main" val="900528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13</a:t>
            </a:fld>
            <a:endParaRPr lang="en-US"/>
          </a:p>
        </p:txBody>
      </p:sp>
    </p:spTree>
    <p:extLst>
      <p:ext uri="{BB962C8B-B14F-4D97-AF65-F5344CB8AC3E}">
        <p14:creationId xmlns:p14="http://schemas.microsoft.com/office/powerpoint/2010/main" val="4066787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14</a:t>
            </a:fld>
            <a:endParaRPr lang="en-US"/>
          </a:p>
        </p:txBody>
      </p:sp>
    </p:spTree>
    <p:extLst>
      <p:ext uri="{BB962C8B-B14F-4D97-AF65-F5344CB8AC3E}">
        <p14:creationId xmlns:p14="http://schemas.microsoft.com/office/powerpoint/2010/main" val="1208835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17</a:t>
            </a:fld>
            <a:endParaRPr lang="en-US"/>
          </a:p>
        </p:txBody>
      </p:sp>
    </p:spTree>
    <p:extLst>
      <p:ext uri="{BB962C8B-B14F-4D97-AF65-F5344CB8AC3E}">
        <p14:creationId xmlns:p14="http://schemas.microsoft.com/office/powerpoint/2010/main" val="284550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18</a:t>
            </a:fld>
            <a:endParaRPr lang="en-US"/>
          </a:p>
        </p:txBody>
      </p:sp>
    </p:spTree>
    <p:extLst>
      <p:ext uri="{BB962C8B-B14F-4D97-AF65-F5344CB8AC3E}">
        <p14:creationId xmlns:p14="http://schemas.microsoft.com/office/powerpoint/2010/main" val="1638107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19</a:t>
            </a:fld>
            <a:endParaRPr lang="en-US"/>
          </a:p>
        </p:txBody>
      </p:sp>
    </p:spTree>
    <p:extLst>
      <p:ext uri="{BB962C8B-B14F-4D97-AF65-F5344CB8AC3E}">
        <p14:creationId xmlns:p14="http://schemas.microsoft.com/office/powerpoint/2010/main" val="1197808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696736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37239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63DFD5F-D562-9E46-BEFD-1422EE9D5D5C}"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69667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63DFD5F-D562-9E46-BEFD-1422EE9D5D5C}"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254448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63DFD5F-D562-9E46-BEFD-1422EE9D5D5C}" type="datetimeFigureOut">
              <a:rPr lang="en-US" smtClean="0"/>
              <a:t>5/5/2025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290926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63DFD5F-D562-9E46-BEFD-1422EE9D5D5C}" type="datetimeFigureOut">
              <a:rPr lang="en-US" smtClean="0"/>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219821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3DFD5F-D562-9E46-BEFD-1422EE9D5D5C}" type="datetimeFigureOut">
              <a:rPr lang="en-US" smtClean="0"/>
              <a:t>5/5/2025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40091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63DFD5F-D562-9E46-BEFD-1422EE9D5D5C}"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138785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63DFD5F-D562-9E46-BEFD-1422EE9D5D5C}"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716974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763727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1604493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3DFD5F-D562-9E46-BEFD-1422EE9D5D5C}" type="datetimeFigureOut">
              <a:rPr lang="en-US" smtClean="0"/>
              <a:t>5/5/2025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66185-A23F-D840-B889-681227218EBF}" type="slidenum">
              <a:rPr lang="en-US" smtClean="0"/>
              <a:t>‹#›</a:t>
            </a:fld>
            <a:endParaRPr lang="en-US"/>
          </a:p>
        </p:txBody>
      </p:sp>
    </p:spTree>
    <p:extLst>
      <p:ext uri="{BB962C8B-B14F-4D97-AF65-F5344CB8AC3E}">
        <p14:creationId xmlns:p14="http://schemas.microsoft.com/office/powerpoint/2010/main" val="39596428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8.png"/><Relationship Id="rId5" Type="http://schemas.openxmlformats.org/officeDocument/2006/relationships/image" Target="../media/image7.emf"/><Relationship Id="rId10" Type="http://schemas.openxmlformats.org/officeDocument/2006/relationships/image" Target="../media/image4.png"/><Relationship Id="rId4" Type="http://schemas.openxmlformats.org/officeDocument/2006/relationships/oleObject" Target="../embeddings/oleObject1.bin"/><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emf"/><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emf"/><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emf"/><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300.png"/><Relationship Id="rId7" Type="http://schemas.openxmlformats.org/officeDocument/2006/relationships/image" Target="../media/image36.em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320.png"/><Relationship Id="rId4" Type="http://schemas.openxmlformats.org/officeDocument/2006/relationships/image" Target="../media/image310.pn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image" Target="../media/image41.png"/><Relationship Id="rId3" Type="http://schemas.openxmlformats.org/officeDocument/2006/relationships/image" Target="../media/image280.png"/><Relationship Id="rId7" Type="http://schemas.openxmlformats.org/officeDocument/2006/relationships/image" Target="../media/image38.emf"/><Relationship Id="rId12"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39.png"/><Relationship Id="rId5" Type="http://schemas.openxmlformats.org/officeDocument/2006/relationships/image" Target="../media/image21.png"/><Relationship Id="rId15" Type="http://schemas.openxmlformats.org/officeDocument/2006/relationships/image" Target="../media/image42.png"/><Relationship Id="rId10" Type="http://schemas.openxmlformats.org/officeDocument/2006/relationships/image" Target="../media/image38.png"/><Relationship Id="rId4" Type="http://schemas.openxmlformats.org/officeDocument/2006/relationships/image" Target="../media/image340.png"/><Relationship Id="rId9" Type="http://schemas.openxmlformats.org/officeDocument/2006/relationships/image" Target="../media/image37.png"/><Relationship Id="rId14" Type="http://schemas.openxmlformats.org/officeDocument/2006/relationships/image" Target="../media/image36.png"/></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18" Type="http://schemas.openxmlformats.org/officeDocument/2006/relationships/image" Target="../media/image60.png"/><Relationship Id="rId3" Type="http://schemas.openxmlformats.org/officeDocument/2006/relationships/image" Target="../media/image450.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image" Target="../media/image48.png"/><Relationship Id="rId16"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480.png"/><Relationship Id="rId11" Type="http://schemas.openxmlformats.org/officeDocument/2006/relationships/image" Target="../media/image53.png"/><Relationship Id="rId5" Type="http://schemas.openxmlformats.org/officeDocument/2006/relationships/image" Target="../media/image440.png"/><Relationship Id="rId15" Type="http://schemas.openxmlformats.org/officeDocument/2006/relationships/image" Target="../media/image57.png"/><Relationship Id="rId10" Type="http://schemas.openxmlformats.org/officeDocument/2006/relationships/image" Target="../media/image52.png"/><Relationship Id="rId4" Type="http://schemas.openxmlformats.org/officeDocument/2006/relationships/image" Target="../media/image430.png"/><Relationship Id="rId9" Type="http://schemas.openxmlformats.org/officeDocument/2006/relationships/image" Target="../media/image51.png"/><Relationship Id="rId1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26.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image" Target="../media/image49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8179B57-1590-BC45-A725-0181D151088C}"/>
              </a:ext>
            </a:extLst>
          </p:cNvPr>
          <p:cNvSpPr>
            <a:spLocks noGrp="1"/>
          </p:cNvSpPr>
          <p:nvPr>
            <p:ph type="ctrTitle"/>
          </p:nvPr>
        </p:nvSpPr>
        <p:spPr>
          <a:xfrm>
            <a:off x="773113" y="1633538"/>
            <a:ext cx="7772400" cy="1111250"/>
          </a:xfrm>
        </p:spPr>
        <p:txBody>
          <a:bodyPr>
            <a:normAutofit/>
          </a:bodyPr>
          <a:lstStyle/>
          <a:p>
            <a:pPr eaLnBrk="1" hangingPunct="1"/>
            <a:r>
              <a:rPr lang="en-GB" altLang="en-US" b="1" dirty="0">
                <a:solidFill>
                  <a:srgbClr val="0066FF"/>
                </a:solidFill>
              </a:rPr>
              <a:t>Power Electronics</a:t>
            </a:r>
          </a:p>
        </p:txBody>
      </p:sp>
      <p:sp>
        <p:nvSpPr>
          <p:cNvPr id="5123" name="Subtitle 2">
            <a:extLst>
              <a:ext uri="{FF2B5EF4-FFF2-40B4-BE49-F238E27FC236}">
                <a16:creationId xmlns:a16="http://schemas.microsoft.com/office/drawing/2014/main" id="{31824FBD-028C-BA40-B99F-80B32713F071}"/>
              </a:ext>
            </a:extLst>
          </p:cNvPr>
          <p:cNvSpPr>
            <a:spLocks noGrp="1"/>
          </p:cNvSpPr>
          <p:nvPr>
            <p:ph type="subTitle" idx="1"/>
          </p:nvPr>
        </p:nvSpPr>
        <p:spPr>
          <a:xfrm>
            <a:off x="116263" y="3000895"/>
            <a:ext cx="8713788" cy="1183553"/>
          </a:xfrm>
        </p:spPr>
        <p:txBody>
          <a:bodyPr>
            <a:normAutofit/>
          </a:bodyPr>
          <a:lstStyle/>
          <a:p>
            <a:pPr eaLnBrk="1" hangingPunct="1"/>
            <a:r>
              <a:rPr lang="en-GB" altLang="en-US" sz="3200" b="1" dirty="0">
                <a:solidFill>
                  <a:srgbClr val="FF0000"/>
                </a:solidFill>
              </a:rPr>
              <a:t>Introduction</a:t>
            </a:r>
          </a:p>
          <a:p>
            <a:pPr eaLnBrk="1" hangingPunct="1"/>
            <a:r>
              <a:rPr lang="en-GB" altLang="en-US" sz="3200" b="1" dirty="0">
                <a:solidFill>
                  <a:srgbClr val="FF0000"/>
                </a:solidFill>
              </a:rPr>
              <a:t>(Week 11 </a:t>
            </a:r>
            <a:r>
              <a:rPr lang="en-GB" altLang="en-US" sz="3200" b="1">
                <a:solidFill>
                  <a:srgbClr val="FF0000"/>
                </a:solidFill>
              </a:rPr>
              <a:t>&amp; 12) </a:t>
            </a:r>
            <a:endParaRPr lang="en-GB" altLang="en-US" sz="3200" b="1" dirty="0">
              <a:solidFill>
                <a:srgbClr val="7030A0"/>
              </a:solidFill>
            </a:endParaRPr>
          </a:p>
        </p:txBody>
      </p:sp>
      <p:sp>
        <p:nvSpPr>
          <p:cNvPr id="5124" name="Slide Number Placeholder 3">
            <a:extLst>
              <a:ext uri="{FF2B5EF4-FFF2-40B4-BE49-F238E27FC236}">
                <a16:creationId xmlns:a16="http://schemas.microsoft.com/office/drawing/2014/main" id="{FDF72E74-1EE9-7B49-96D7-FFD92A88D8F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3EFF0B-84F2-CD43-A7F3-4FA0FAFA6A8D}" type="slidenum">
              <a:rPr lang="en-US" altLang="en-US" sz="1400"/>
              <a:pPr>
                <a:spcBef>
                  <a:spcPct val="0"/>
                </a:spcBef>
                <a:buFontTx/>
                <a:buNone/>
              </a:pPr>
              <a:t>1</a:t>
            </a:fld>
            <a:endParaRPr lang="en-US" altLang="en-US" sz="1400" dirty="0"/>
          </a:p>
        </p:txBody>
      </p:sp>
      <p:pic>
        <p:nvPicPr>
          <p:cNvPr id="5125" name="Picture 4" descr="http://www.ranklogos.com/wp-content/uploads/2012/06/university-of-glasgow.gif">
            <a:extLst>
              <a:ext uri="{FF2B5EF4-FFF2-40B4-BE49-F238E27FC236}">
                <a16:creationId xmlns:a16="http://schemas.microsoft.com/office/drawing/2014/main" id="{DE2A00EB-FE41-3F42-85BD-B25D5553B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152400"/>
            <a:ext cx="3529012"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5F03787A-FA8A-C145-AEC2-4E7A73E6A1E5}"/>
              </a:ext>
            </a:extLst>
          </p:cNvPr>
          <p:cNvSpPr txBox="1"/>
          <p:nvPr/>
        </p:nvSpPr>
        <p:spPr>
          <a:xfrm>
            <a:off x="3255058" y="4488670"/>
            <a:ext cx="2419573" cy="646331"/>
          </a:xfrm>
          <a:prstGeom prst="rect">
            <a:avLst/>
          </a:prstGeom>
          <a:noFill/>
        </p:spPr>
        <p:txBody>
          <a:bodyPr wrap="none" rtlCol="0">
            <a:spAutoFit/>
          </a:bodyPr>
          <a:lstStyle/>
          <a:p>
            <a:pPr algn="ctr"/>
            <a:r>
              <a:rPr lang="en-US" dirty="0"/>
              <a:t>Dr Atif Jafri</a:t>
            </a:r>
          </a:p>
          <a:p>
            <a:pPr algn="ctr"/>
            <a:r>
              <a:rPr lang="en-US" dirty="0" err="1"/>
              <a:t>Atif.Jafri@glasgow.ac.uk</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Slide Number Placeholder 3">
            <a:extLst>
              <a:ext uri="{FF2B5EF4-FFF2-40B4-BE49-F238E27FC236}">
                <a16:creationId xmlns:a16="http://schemas.microsoft.com/office/drawing/2014/main" id="{FDF72E74-1EE9-7B49-96D7-FFD92A88D8F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3EFF0B-84F2-CD43-A7F3-4FA0FAFA6A8D}" type="slidenum">
              <a:rPr lang="en-US" altLang="en-US" sz="1400"/>
              <a:pPr>
                <a:spcBef>
                  <a:spcPct val="0"/>
                </a:spcBef>
                <a:buFontTx/>
                <a:buNone/>
              </a:pPr>
              <a:t>2</a:t>
            </a:fld>
            <a:endParaRPr lang="en-US" altLang="en-US" sz="1400" dirty="0"/>
          </a:p>
        </p:txBody>
      </p:sp>
      <p:graphicFrame>
        <p:nvGraphicFramePr>
          <p:cNvPr id="6" name="Content Placeholder 2">
            <a:extLst>
              <a:ext uri="{FF2B5EF4-FFF2-40B4-BE49-F238E27FC236}">
                <a16:creationId xmlns:a16="http://schemas.microsoft.com/office/drawing/2014/main" id="{18DE823D-EFDE-D66B-9ACA-B0AF29666BA9}"/>
              </a:ext>
            </a:extLst>
          </p:cNvPr>
          <p:cNvGraphicFramePr>
            <a:graphicFrameLocks/>
          </p:cNvGraphicFramePr>
          <p:nvPr>
            <p:extLst>
              <p:ext uri="{D42A27DB-BD31-4B8C-83A1-F6EECF244321}">
                <p14:modId xmlns:p14="http://schemas.microsoft.com/office/powerpoint/2010/main" val="1908866409"/>
              </p:ext>
            </p:extLst>
          </p:nvPr>
        </p:nvGraphicFramePr>
        <p:xfrm>
          <a:off x="287829" y="778220"/>
          <a:ext cx="4436964"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6956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8179B57-1590-BC45-A725-0181D151088C}"/>
              </a:ext>
            </a:extLst>
          </p:cNvPr>
          <p:cNvSpPr>
            <a:spLocks noGrp="1"/>
          </p:cNvSpPr>
          <p:nvPr>
            <p:ph type="ctrTitle"/>
          </p:nvPr>
        </p:nvSpPr>
        <p:spPr>
          <a:xfrm>
            <a:off x="773113" y="1633538"/>
            <a:ext cx="7772400" cy="1111250"/>
          </a:xfrm>
        </p:spPr>
        <p:txBody>
          <a:bodyPr/>
          <a:lstStyle/>
          <a:p>
            <a:pPr eaLnBrk="1" hangingPunct="1"/>
            <a:r>
              <a:rPr lang="en-GB" altLang="en-US" b="1" dirty="0">
                <a:solidFill>
                  <a:srgbClr val="0066FF"/>
                </a:solidFill>
              </a:rPr>
              <a:t>Power Electronics</a:t>
            </a:r>
          </a:p>
        </p:txBody>
      </p:sp>
      <p:sp>
        <p:nvSpPr>
          <p:cNvPr id="5123" name="Subtitle 2">
            <a:extLst>
              <a:ext uri="{FF2B5EF4-FFF2-40B4-BE49-F238E27FC236}">
                <a16:creationId xmlns:a16="http://schemas.microsoft.com/office/drawing/2014/main" id="{31824FBD-028C-BA40-B99F-80B32713F071}"/>
              </a:ext>
            </a:extLst>
          </p:cNvPr>
          <p:cNvSpPr>
            <a:spLocks noGrp="1"/>
          </p:cNvSpPr>
          <p:nvPr>
            <p:ph type="subTitle" idx="1"/>
          </p:nvPr>
        </p:nvSpPr>
        <p:spPr>
          <a:xfrm>
            <a:off x="107950" y="2698750"/>
            <a:ext cx="8713788" cy="1795463"/>
          </a:xfrm>
        </p:spPr>
        <p:txBody>
          <a:bodyPr/>
          <a:lstStyle/>
          <a:p>
            <a:pPr eaLnBrk="1" hangingPunct="1"/>
            <a:r>
              <a:rPr lang="en-GB" altLang="en-US" sz="3200" b="1" dirty="0">
                <a:solidFill>
                  <a:srgbClr val="FF0000"/>
                </a:solidFill>
              </a:rPr>
              <a:t>Switched Mode DC-DC Converters I:</a:t>
            </a:r>
          </a:p>
          <a:p>
            <a:pPr eaLnBrk="1" hangingPunct="1"/>
            <a:r>
              <a:rPr lang="en-GB" altLang="zh-CN" sz="3200" b="1" dirty="0">
                <a:solidFill>
                  <a:srgbClr val="7030A0"/>
                </a:solidFill>
                <a:ea typeface="宋体" panose="02010600030101010101" pitchFamily="2" charset="-122"/>
              </a:rPr>
              <a:t>Concepts and Buck Converter</a:t>
            </a:r>
            <a:endParaRPr lang="en-GB" altLang="en-US" sz="3200" b="1" dirty="0">
              <a:solidFill>
                <a:srgbClr val="7030A0"/>
              </a:solidFill>
            </a:endParaRPr>
          </a:p>
        </p:txBody>
      </p:sp>
      <p:sp>
        <p:nvSpPr>
          <p:cNvPr id="5124" name="Slide Number Placeholder 3">
            <a:extLst>
              <a:ext uri="{FF2B5EF4-FFF2-40B4-BE49-F238E27FC236}">
                <a16:creationId xmlns:a16="http://schemas.microsoft.com/office/drawing/2014/main" id="{FDF72E74-1EE9-7B49-96D7-FFD92A88D8F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3EFF0B-84F2-CD43-A7F3-4FA0FAFA6A8D}" type="slidenum">
              <a:rPr lang="en-US" altLang="en-US" sz="1400"/>
              <a:pPr>
                <a:spcBef>
                  <a:spcPct val="0"/>
                </a:spcBef>
                <a:buFontTx/>
                <a:buNone/>
              </a:pPr>
              <a:t>3</a:t>
            </a:fld>
            <a:endParaRPr lang="en-US" altLang="en-US" sz="1400" dirty="0"/>
          </a:p>
        </p:txBody>
      </p:sp>
      <p:pic>
        <p:nvPicPr>
          <p:cNvPr id="5125" name="Picture 4" descr="http://www.ranklogos.com/wp-content/uploads/2012/06/university-of-glasgow.gif">
            <a:extLst>
              <a:ext uri="{FF2B5EF4-FFF2-40B4-BE49-F238E27FC236}">
                <a16:creationId xmlns:a16="http://schemas.microsoft.com/office/drawing/2014/main" id="{DE2A00EB-FE41-3F42-85BD-B25D5553B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152400"/>
            <a:ext cx="3529012"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
            <a:extLst>
              <a:ext uri="{FF2B5EF4-FFF2-40B4-BE49-F238E27FC236}">
                <a16:creationId xmlns:a16="http://schemas.microsoft.com/office/drawing/2014/main" id="{1C4DE0F9-D46F-8243-91F1-FDECB10B7BEE}"/>
              </a:ext>
            </a:extLst>
          </p:cNvPr>
          <p:cNvSpPr txBox="1">
            <a:spLocks noChangeArrowheads="1"/>
          </p:cNvSpPr>
          <p:nvPr/>
        </p:nvSpPr>
        <p:spPr bwMode="auto">
          <a:xfrm>
            <a:off x="0" y="5531663"/>
            <a:ext cx="67675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pPr>
            <a:r>
              <a:rPr lang="en-GB" altLang="en-US" sz="2800" dirty="0"/>
              <a:t>Please read </a:t>
            </a:r>
            <a:r>
              <a:rPr lang="en-GB" altLang="en-US" sz="2800" dirty="0">
                <a:solidFill>
                  <a:srgbClr val="0000FF"/>
                </a:solidFill>
              </a:rPr>
              <a:t>Chapter </a:t>
            </a:r>
            <a:r>
              <a:rPr lang="en-US" altLang="zh-CN" sz="2800" dirty="0">
                <a:solidFill>
                  <a:srgbClr val="0000FF"/>
                </a:solidFill>
                <a:ea typeface="宋体" panose="02010600030101010101" pitchFamily="2" charset="-122"/>
              </a:rPr>
              <a:t>7</a:t>
            </a:r>
            <a:r>
              <a:rPr lang="en-GB" altLang="en-US" sz="2800" dirty="0">
                <a:solidFill>
                  <a:srgbClr val="0000FF"/>
                </a:solidFill>
              </a:rPr>
              <a:t> </a:t>
            </a:r>
            <a:r>
              <a:rPr lang="en-US" altLang="zh-CN" sz="2800" dirty="0">
                <a:ea typeface="宋体" panose="02010600030101010101" pitchFamily="2" charset="-122"/>
              </a:rPr>
              <a:t>in</a:t>
            </a:r>
            <a:r>
              <a:rPr lang="en-GB" altLang="en-US" sz="2800" dirty="0"/>
              <a:t> the textbook </a:t>
            </a:r>
          </a:p>
          <a:p>
            <a:pPr lvl="1">
              <a:spcBef>
                <a:spcPct val="0"/>
              </a:spcBef>
              <a:buNone/>
            </a:pPr>
            <a:r>
              <a:rPr lang="en-GB" altLang="en-US" sz="1800" dirty="0"/>
              <a:t>POWER ELECTRONICS </a:t>
            </a:r>
          </a:p>
          <a:p>
            <a:pPr lvl="1">
              <a:spcBef>
                <a:spcPct val="0"/>
              </a:spcBef>
              <a:buNone/>
            </a:pPr>
            <a:r>
              <a:rPr lang="en-GB" altLang="en-US" sz="1800" dirty="0"/>
              <a:t>Converters, Applications, and Design </a:t>
            </a:r>
          </a:p>
        </p:txBody>
      </p:sp>
      <p:sp>
        <p:nvSpPr>
          <p:cNvPr id="8" name="TextBox 7">
            <a:extLst>
              <a:ext uri="{FF2B5EF4-FFF2-40B4-BE49-F238E27FC236}">
                <a16:creationId xmlns:a16="http://schemas.microsoft.com/office/drawing/2014/main" id="{5F03787A-FA8A-C145-AEC2-4E7A73E6A1E5}"/>
              </a:ext>
            </a:extLst>
          </p:cNvPr>
          <p:cNvSpPr txBox="1"/>
          <p:nvPr/>
        </p:nvSpPr>
        <p:spPr>
          <a:xfrm>
            <a:off x="3255058" y="4488670"/>
            <a:ext cx="2419573" cy="646331"/>
          </a:xfrm>
          <a:prstGeom prst="rect">
            <a:avLst/>
          </a:prstGeom>
          <a:noFill/>
        </p:spPr>
        <p:txBody>
          <a:bodyPr wrap="none" rtlCol="0">
            <a:spAutoFit/>
          </a:bodyPr>
          <a:lstStyle/>
          <a:p>
            <a:pPr algn="ctr"/>
            <a:r>
              <a:rPr lang="en-US" dirty="0"/>
              <a:t>Dr Atif Jafri</a:t>
            </a:r>
          </a:p>
          <a:p>
            <a:pPr algn="ctr"/>
            <a:r>
              <a:rPr lang="en-US" dirty="0" err="1"/>
              <a:t>Atif.Jafri@glasgow.ac.uk</a:t>
            </a:r>
            <a:endParaRPr lang="en-US"/>
          </a:p>
        </p:txBody>
      </p:sp>
    </p:spTree>
    <p:extLst>
      <p:ext uri="{BB962C8B-B14F-4D97-AF65-F5344CB8AC3E}">
        <p14:creationId xmlns:p14="http://schemas.microsoft.com/office/powerpoint/2010/main" val="3798275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a:extLst>
              <a:ext uri="{FF2B5EF4-FFF2-40B4-BE49-F238E27FC236}">
                <a16:creationId xmlns:a16="http://schemas.microsoft.com/office/drawing/2014/main" id="{63A30927-F850-5B41-8DD4-431BD82D67C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A73D315-DE31-8144-9B2C-AABCA0BAE683}" type="slidenum">
              <a:rPr lang="en-US" altLang="en-US" sz="1400"/>
              <a:pPr>
                <a:spcBef>
                  <a:spcPct val="0"/>
                </a:spcBef>
                <a:buFontTx/>
                <a:buNone/>
              </a:pPr>
              <a:t>4</a:t>
            </a:fld>
            <a:endParaRPr lang="en-US" altLang="en-US" sz="1400"/>
          </a:p>
        </p:txBody>
      </p:sp>
      <p:sp>
        <p:nvSpPr>
          <p:cNvPr id="16387" name="Text Box 4">
            <a:extLst>
              <a:ext uri="{FF2B5EF4-FFF2-40B4-BE49-F238E27FC236}">
                <a16:creationId xmlns:a16="http://schemas.microsoft.com/office/drawing/2014/main" id="{15594017-6EAC-1047-B02E-FC1CA0569F0C}"/>
              </a:ext>
            </a:extLst>
          </p:cNvPr>
          <p:cNvSpPr txBox="1">
            <a:spLocks noChangeArrowheads="1"/>
          </p:cNvSpPr>
          <p:nvPr/>
        </p:nvSpPr>
        <p:spPr bwMode="auto">
          <a:xfrm>
            <a:off x="131945" y="472737"/>
            <a:ext cx="87852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Recall the basic RL series circuit :</a:t>
            </a:r>
            <a:endParaRPr lang="en-US" altLang="en-US" sz="1800" dirty="0"/>
          </a:p>
        </p:txBody>
      </p:sp>
      <p:sp>
        <p:nvSpPr>
          <p:cNvPr id="3" name="Text Box 4">
            <a:extLst>
              <a:ext uri="{FF2B5EF4-FFF2-40B4-BE49-F238E27FC236}">
                <a16:creationId xmlns:a16="http://schemas.microsoft.com/office/drawing/2014/main" id="{BCA85FF5-674F-9C01-54D1-2BD1CCFEF3F7}"/>
              </a:ext>
            </a:extLst>
          </p:cNvPr>
          <p:cNvSpPr txBox="1">
            <a:spLocks noChangeArrowheads="1"/>
          </p:cNvSpPr>
          <p:nvPr/>
        </p:nvSpPr>
        <p:spPr bwMode="auto">
          <a:xfrm>
            <a:off x="8783" y="66007"/>
            <a:ext cx="81731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solidFill>
                  <a:srgbClr val="FF0000"/>
                </a:solidFill>
              </a:rPr>
              <a:t>Background: RL Circuit</a:t>
            </a:r>
            <a:endParaRPr lang="en-GB" altLang="en-US" sz="1800" u="sng" dirty="0"/>
          </a:p>
        </p:txBody>
      </p:sp>
      <p:pic>
        <p:nvPicPr>
          <p:cNvPr id="15" name="Picture 2">
            <a:extLst>
              <a:ext uri="{FF2B5EF4-FFF2-40B4-BE49-F238E27FC236}">
                <a16:creationId xmlns:a16="http://schemas.microsoft.com/office/drawing/2014/main" id="{FA48603A-1865-CAC5-DEBA-63D88AF01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9119" y="4220208"/>
            <a:ext cx="6525761" cy="30204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412" name="Text Box 64">
                <a:extLst>
                  <a:ext uri="{FF2B5EF4-FFF2-40B4-BE49-F238E27FC236}">
                    <a16:creationId xmlns:a16="http://schemas.microsoft.com/office/drawing/2014/main" id="{685FC5EA-01F3-B540-AFDA-B76FA98B7895}"/>
                  </a:ext>
                </a:extLst>
              </p:cNvPr>
              <p:cNvSpPr txBox="1">
                <a:spLocks noChangeArrowheads="1"/>
              </p:cNvSpPr>
              <p:nvPr/>
            </p:nvSpPr>
            <p:spPr bwMode="auto">
              <a:xfrm>
                <a:off x="196583" y="2741032"/>
                <a:ext cx="4375417" cy="117224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We can write the voltage equation for this circuit as </a:t>
                </a:r>
              </a:p>
              <a:p>
                <a:pPr>
                  <a:spcBef>
                    <a:spcPct val="50000"/>
                  </a:spcBef>
                  <a:buNone/>
                </a:pPr>
                <a14:m>
                  <m:oMathPara xmlns:m="http://schemas.openxmlformats.org/officeDocument/2006/math">
                    <m:oMathParaPr>
                      <m:jc m:val="centerGroup"/>
                    </m:oMathParaPr>
                    <m:oMath xmlns:m="http://schemas.openxmlformats.org/officeDocument/2006/math">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𝑉</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latin typeface="Cambria Math" panose="02040503050406030204" pitchFamily="18" charset="0"/>
                              <a:ea typeface="Aptos" panose="020B0004020202020204" pitchFamily="34" charset="0"/>
                              <a:cs typeface="Times New Roman" panose="02020603050405020304" pitchFamily="18" charset="0"/>
                            </a:rPr>
                            <m:t>𝑉</m:t>
                          </m:r>
                        </m:e>
                        <m:sub>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𝑅</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 </m:t>
                          </m:r>
                        </m:sub>
                      </m:sSub>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 </m:t>
                      </m:r>
                      <m:sSub>
                        <m:sSub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latin typeface="Cambria Math" panose="02040503050406030204" pitchFamily="18" charset="0"/>
                              <a:ea typeface="Aptos" panose="020B0004020202020204" pitchFamily="34" charset="0"/>
                              <a:cs typeface="Times New Roman" panose="02020603050405020304" pitchFamily="18" charset="0"/>
                            </a:rPr>
                            <m:t>𝑉</m:t>
                          </m:r>
                        </m:e>
                        <m:sub>
                          <m:r>
                            <a:rPr lang="en-US" sz="1800" i="1" kern="100">
                              <a:latin typeface="Cambria Math" panose="02040503050406030204" pitchFamily="18" charset="0"/>
                              <a:ea typeface="Aptos" panose="020B0004020202020204" pitchFamily="34" charset="0"/>
                              <a:cs typeface="Times New Roman" panose="02020603050405020304" pitchFamily="18" charset="0"/>
                            </a:rPr>
                            <m:t>𝐿</m:t>
                          </m:r>
                        </m:sub>
                      </m:sSub>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𝐼𝑅</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𝐿</m:t>
                      </m:r>
                      <m:f>
                        <m:f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fPr>
                        <m:num>
                          <m:r>
                            <a:rPr lang="en-US" sz="1800" i="1" kern="100">
                              <a:latin typeface="Cambria Math" panose="02040503050406030204" pitchFamily="18" charset="0"/>
                              <a:ea typeface="Aptos" panose="020B0004020202020204" pitchFamily="34" charset="0"/>
                              <a:cs typeface="Times New Roman" panose="02020603050405020304" pitchFamily="18" charset="0"/>
                            </a:rPr>
                            <m:t>𝑑𝐼</m:t>
                          </m:r>
                        </m:num>
                        <m:den>
                          <m:r>
                            <a:rPr lang="en-US" sz="1800" i="1" kern="100">
                              <a:latin typeface="Cambria Math" panose="02040503050406030204" pitchFamily="18" charset="0"/>
                              <a:ea typeface="Aptos" panose="020B0004020202020204" pitchFamily="34" charset="0"/>
                              <a:cs typeface="Times New Roman" panose="02020603050405020304" pitchFamily="18" charset="0"/>
                            </a:rPr>
                            <m:t>𝑑𝑡</m:t>
                          </m:r>
                        </m:den>
                      </m:f>
                    </m:oMath>
                  </m:oMathPara>
                </a14:m>
                <a:endParaRPr lang="en-GB" altLang="en-US" sz="1800" dirty="0"/>
              </a:p>
            </p:txBody>
          </p:sp>
        </mc:Choice>
        <mc:Fallback xmlns="">
          <p:sp>
            <p:nvSpPr>
              <p:cNvPr id="16412" name="Text Box 64">
                <a:extLst>
                  <a:ext uri="{FF2B5EF4-FFF2-40B4-BE49-F238E27FC236}">
                    <a16:creationId xmlns:a16="http://schemas.microsoft.com/office/drawing/2014/main" id="{685FC5EA-01F3-B540-AFDA-B76FA98B7895}"/>
                  </a:ext>
                </a:extLst>
              </p:cNvPr>
              <p:cNvSpPr txBox="1">
                <a:spLocks noRot="1" noChangeAspect="1" noMove="1" noResize="1" noEditPoints="1" noAdjustHandles="1" noChangeArrowheads="1" noChangeShapeType="1" noTextEdit="1"/>
              </p:cNvSpPr>
              <p:nvPr/>
            </p:nvSpPr>
            <p:spPr bwMode="auto">
              <a:xfrm>
                <a:off x="196583" y="2741032"/>
                <a:ext cx="4375417" cy="1172244"/>
              </a:xfrm>
              <a:prstGeom prst="rect">
                <a:avLst/>
              </a:prstGeom>
              <a:blipFill>
                <a:blip r:embed="rId3"/>
                <a:stretch>
                  <a:fillRect l="-1114" t="-3125" r="-25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grpSp>
        <p:nvGrpSpPr>
          <p:cNvPr id="9" name="Group 8">
            <a:extLst>
              <a:ext uri="{FF2B5EF4-FFF2-40B4-BE49-F238E27FC236}">
                <a16:creationId xmlns:a16="http://schemas.microsoft.com/office/drawing/2014/main" id="{9A297972-7F32-9E2D-A0BC-EAE82024AAB0}"/>
              </a:ext>
            </a:extLst>
          </p:cNvPr>
          <p:cNvGrpSpPr/>
          <p:nvPr/>
        </p:nvGrpSpPr>
        <p:grpSpPr>
          <a:xfrm>
            <a:off x="591308" y="788876"/>
            <a:ext cx="3873866" cy="1609050"/>
            <a:chOff x="800199" y="1037256"/>
            <a:chExt cx="3873866" cy="1609050"/>
          </a:xfrm>
        </p:grpSpPr>
        <p:pic>
          <p:nvPicPr>
            <p:cNvPr id="2" name="Picture 1">
              <a:extLst>
                <a:ext uri="{FF2B5EF4-FFF2-40B4-BE49-F238E27FC236}">
                  <a16:creationId xmlns:a16="http://schemas.microsoft.com/office/drawing/2014/main" id="{2C301569-2D0E-7079-4C19-F4E9BE9AA7C7}"/>
                </a:ext>
              </a:extLst>
            </p:cNvPr>
            <p:cNvPicPr>
              <a:picLocks noChangeAspect="1"/>
            </p:cNvPicPr>
            <p:nvPr/>
          </p:nvPicPr>
          <p:blipFill>
            <a:blip r:embed="rId4"/>
            <a:stretch>
              <a:fillRect/>
            </a:stretch>
          </p:blipFill>
          <p:spPr>
            <a:xfrm>
              <a:off x="800199" y="1037256"/>
              <a:ext cx="3873866" cy="1609050"/>
            </a:xfrm>
            <a:prstGeom prst="rect">
              <a:avLst/>
            </a:prstGeom>
          </p:spPr>
        </p:pic>
        <p:sp>
          <p:nvSpPr>
            <p:cNvPr id="5" name="Rectangle 4">
              <a:extLst>
                <a:ext uri="{FF2B5EF4-FFF2-40B4-BE49-F238E27FC236}">
                  <a16:creationId xmlns:a16="http://schemas.microsoft.com/office/drawing/2014/main" id="{A89AE5A8-708D-18D1-4BAC-FF317B4F569D}"/>
                </a:ext>
              </a:extLst>
            </p:cNvPr>
            <p:cNvSpPr/>
            <p:nvPr/>
          </p:nvSpPr>
          <p:spPr>
            <a:xfrm>
              <a:off x="1724297" y="1375956"/>
              <a:ext cx="513806" cy="1927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14F38F1A-AA8B-874E-3B2C-DA52A39A176B}"/>
                </a:ext>
              </a:extLst>
            </p:cNvPr>
            <p:cNvCxnSpPr/>
            <p:nvPr/>
          </p:nvCxnSpPr>
          <p:spPr>
            <a:xfrm>
              <a:off x="1780908" y="1593401"/>
              <a:ext cx="38792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DB13B6DF-3C5D-D1D7-7385-B8AB53636865}"/>
              </a:ext>
            </a:extLst>
          </p:cNvPr>
          <p:cNvGrpSpPr/>
          <p:nvPr/>
        </p:nvGrpSpPr>
        <p:grpSpPr>
          <a:xfrm>
            <a:off x="5048161" y="315050"/>
            <a:ext cx="3963894" cy="3262439"/>
            <a:chOff x="5048161" y="315050"/>
            <a:chExt cx="3963894" cy="3262439"/>
          </a:xfrm>
        </p:grpSpPr>
        <p:pic>
          <p:nvPicPr>
            <p:cNvPr id="4" name="Picture 3">
              <a:extLst>
                <a:ext uri="{FF2B5EF4-FFF2-40B4-BE49-F238E27FC236}">
                  <a16:creationId xmlns:a16="http://schemas.microsoft.com/office/drawing/2014/main" id="{734B9470-91D1-E5FA-47A6-D715B6732F78}"/>
                </a:ext>
              </a:extLst>
            </p:cNvPr>
            <p:cNvPicPr>
              <a:picLocks noChangeAspect="1"/>
            </p:cNvPicPr>
            <p:nvPr/>
          </p:nvPicPr>
          <p:blipFill>
            <a:blip r:embed="rId5"/>
            <a:stretch>
              <a:fillRect/>
            </a:stretch>
          </p:blipFill>
          <p:spPr>
            <a:xfrm>
              <a:off x="5048623" y="315050"/>
              <a:ext cx="3963432" cy="1606418"/>
            </a:xfrm>
            <a:prstGeom prst="rect">
              <a:avLst/>
            </a:prstGeom>
          </p:spPr>
        </p:pic>
        <p:pic>
          <p:nvPicPr>
            <p:cNvPr id="7" name="Picture 6">
              <a:extLst>
                <a:ext uri="{FF2B5EF4-FFF2-40B4-BE49-F238E27FC236}">
                  <a16:creationId xmlns:a16="http://schemas.microsoft.com/office/drawing/2014/main" id="{1335F505-00D2-C554-B2A1-E2041484F5D6}"/>
                </a:ext>
              </a:extLst>
            </p:cNvPr>
            <p:cNvPicPr>
              <a:picLocks noChangeAspect="1"/>
            </p:cNvPicPr>
            <p:nvPr/>
          </p:nvPicPr>
          <p:blipFill>
            <a:blip r:embed="rId6"/>
            <a:stretch>
              <a:fillRect/>
            </a:stretch>
          </p:blipFill>
          <p:spPr>
            <a:xfrm>
              <a:off x="5048161" y="2063219"/>
              <a:ext cx="3916452" cy="151427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a:extLst>
              <a:ext uri="{FF2B5EF4-FFF2-40B4-BE49-F238E27FC236}">
                <a16:creationId xmlns:a16="http://schemas.microsoft.com/office/drawing/2014/main" id="{63A30927-F850-5B41-8DD4-431BD82D67C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A73D315-DE31-8144-9B2C-AABCA0BAE683}" type="slidenum">
              <a:rPr lang="en-US" altLang="en-US" sz="1400"/>
              <a:pPr>
                <a:spcBef>
                  <a:spcPct val="0"/>
                </a:spcBef>
                <a:buFontTx/>
                <a:buNone/>
              </a:pPr>
              <a:t>5</a:t>
            </a:fld>
            <a:endParaRPr lang="en-US" altLang="en-US" sz="1400"/>
          </a:p>
        </p:txBody>
      </p:sp>
      <p:sp>
        <p:nvSpPr>
          <p:cNvPr id="3" name="Text Box 4">
            <a:extLst>
              <a:ext uri="{FF2B5EF4-FFF2-40B4-BE49-F238E27FC236}">
                <a16:creationId xmlns:a16="http://schemas.microsoft.com/office/drawing/2014/main" id="{BCA85FF5-674F-9C01-54D1-2BD1CCFEF3F7}"/>
              </a:ext>
            </a:extLst>
          </p:cNvPr>
          <p:cNvSpPr txBox="1">
            <a:spLocks noChangeArrowheads="1"/>
          </p:cNvSpPr>
          <p:nvPr/>
        </p:nvSpPr>
        <p:spPr bwMode="auto">
          <a:xfrm>
            <a:off x="179388" y="286"/>
            <a:ext cx="81731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solidFill>
                  <a:srgbClr val="FF0000"/>
                </a:solidFill>
              </a:rPr>
              <a:t>Background: RL Circuit</a:t>
            </a:r>
            <a:endParaRPr lang="en-GB" altLang="en-US" sz="1800" u="sng" dirty="0"/>
          </a:p>
        </p:txBody>
      </p:sp>
      <mc:AlternateContent xmlns:mc="http://schemas.openxmlformats.org/markup-compatibility/2006" xmlns:a14="http://schemas.microsoft.com/office/drawing/2010/main">
        <mc:Choice Requires="a14">
          <p:sp>
            <p:nvSpPr>
              <p:cNvPr id="5" name="Text Box 66">
                <a:extLst>
                  <a:ext uri="{FF2B5EF4-FFF2-40B4-BE49-F238E27FC236}">
                    <a16:creationId xmlns:a16="http://schemas.microsoft.com/office/drawing/2014/main" id="{D5F282AD-D3C8-4F00-CF83-AA17E96AB526}"/>
                  </a:ext>
                </a:extLst>
              </p:cNvPr>
              <p:cNvSpPr txBox="1">
                <a:spLocks noChangeArrowheads="1"/>
              </p:cNvSpPr>
              <p:nvPr/>
            </p:nvSpPr>
            <p:spPr bwMode="auto">
              <a:xfrm>
                <a:off x="208892" y="2600001"/>
                <a:ext cx="6820061" cy="36933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When the value of R is very small, we can neglect the </a:t>
                </a:r>
                <a14:m>
                  <m:oMath xmlns:m="http://schemas.openxmlformats.org/officeDocument/2006/math">
                    <m:r>
                      <a:rPr lang="en-GB" sz="1800" b="0" i="0" kern="100" smtClean="0">
                        <a:latin typeface="Cambria Math" panose="02040503050406030204" pitchFamily="18" charset="0"/>
                        <a:ea typeface="Aptos" panose="020B0004020202020204" pitchFamily="34" charset="0"/>
                        <a:cs typeface="Times New Roman" panose="02020603050405020304" pitchFamily="18" charset="0"/>
                      </a:rPr>
                      <m:t>"</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𝐼𝑅</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m:t>
                    </m:r>
                  </m:oMath>
                </a14:m>
                <a:r>
                  <a:rPr lang="en-GB" altLang="en-US" sz="1800" dirty="0"/>
                  <a:t> term</a:t>
                </a:r>
              </a:p>
            </p:txBody>
          </p:sp>
        </mc:Choice>
        <mc:Fallback xmlns="">
          <p:sp>
            <p:nvSpPr>
              <p:cNvPr id="5" name="Text Box 66">
                <a:extLst>
                  <a:ext uri="{FF2B5EF4-FFF2-40B4-BE49-F238E27FC236}">
                    <a16:creationId xmlns:a16="http://schemas.microsoft.com/office/drawing/2014/main" id="{D5F282AD-D3C8-4F00-CF83-AA17E96AB526}"/>
                  </a:ext>
                </a:extLst>
              </p:cNvPr>
              <p:cNvSpPr txBox="1">
                <a:spLocks noRot="1" noChangeAspect="1" noMove="1" noResize="1" noEditPoints="1" noAdjustHandles="1" noChangeArrowheads="1" noChangeShapeType="1" noTextEdit="1"/>
              </p:cNvSpPr>
              <p:nvPr/>
            </p:nvSpPr>
            <p:spPr bwMode="auto">
              <a:xfrm>
                <a:off x="208892" y="2600001"/>
                <a:ext cx="6820061" cy="369332"/>
              </a:xfrm>
              <a:prstGeom prst="rect">
                <a:avLst/>
              </a:prstGeom>
              <a:blipFill>
                <a:blip r:embed="rId3"/>
                <a:stretch>
                  <a:fillRect l="-715" t="-10000" b="-266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graphicFrame>
        <p:nvGraphicFramePr>
          <p:cNvPr id="6" name="Object 67">
            <a:extLst>
              <a:ext uri="{FF2B5EF4-FFF2-40B4-BE49-F238E27FC236}">
                <a16:creationId xmlns:a16="http://schemas.microsoft.com/office/drawing/2014/main" id="{6CC7FE87-C709-CD48-197E-50D557BCE47F}"/>
              </a:ext>
            </a:extLst>
          </p:cNvPr>
          <p:cNvGraphicFramePr>
            <a:graphicFrameLocks noChangeAspect="1"/>
          </p:cNvGraphicFramePr>
          <p:nvPr>
            <p:extLst>
              <p:ext uri="{D42A27DB-BD31-4B8C-83A1-F6EECF244321}">
                <p14:modId xmlns:p14="http://schemas.microsoft.com/office/powerpoint/2010/main" val="3765676282"/>
              </p:ext>
            </p:extLst>
          </p:nvPr>
        </p:nvGraphicFramePr>
        <p:xfrm>
          <a:off x="3097620" y="3628467"/>
          <a:ext cx="952500" cy="590550"/>
        </p:xfrm>
        <a:graphic>
          <a:graphicData uri="http://schemas.openxmlformats.org/presentationml/2006/ole">
            <mc:AlternateContent xmlns:mc="http://schemas.openxmlformats.org/markup-compatibility/2006">
              <mc:Choice xmlns:v="urn:schemas-microsoft-com:vml" Requires="v">
                <p:oleObj name="Equation" r:id="rId4" imgW="14630400" imgH="9067800" progId="Equation.3">
                  <p:embed/>
                </p:oleObj>
              </mc:Choice>
              <mc:Fallback>
                <p:oleObj name="Equation" r:id="rId4" imgW="14630400" imgH="9067800" progId="Equation.3">
                  <p:embed/>
                  <p:pic>
                    <p:nvPicPr>
                      <p:cNvPr id="6" name="Object 67">
                        <a:extLst>
                          <a:ext uri="{FF2B5EF4-FFF2-40B4-BE49-F238E27FC236}">
                            <a16:creationId xmlns:a16="http://schemas.microsoft.com/office/drawing/2014/main" id="{6CC7FE87-C709-CD48-197E-50D557BCE4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7620" y="3628467"/>
                        <a:ext cx="95250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9">
            <a:extLst>
              <a:ext uri="{FF2B5EF4-FFF2-40B4-BE49-F238E27FC236}">
                <a16:creationId xmlns:a16="http://schemas.microsoft.com/office/drawing/2014/main" id="{FF9A7DF9-88FB-B6D5-ADF0-508E8C44506D}"/>
              </a:ext>
            </a:extLst>
          </p:cNvPr>
          <p:cNvGrpSpPr/>
          <p:nvPr/>
        </p:nvGrpSpPr>
        <p:grpSpPr>
          <a:xfrm>
            <a:off x="4870450" y="4240925"/>
            <a:ext cx="3200400" cy="2022475"/>
            <a:chOff x="5795963" y="3937361"/>
            <a:chExt cx="3200400" cy="2022475"/>
          </a:xfrm>
        </p:grpSpPr>
        <p:sp>
          <p:nvSpPr>
            <p:cNvPr id="8" name="Line 68">
              <a:extLst>
                <a:ext uri="{FF2B5EF4-FFF2-40B4-BE49-F238E27FC236}">
                  <a16:creationId xmlns:a16="http://schemas.microsoft.com/office/drawing/2014/main" id="{06810132-2FA0-B0F5-7DEF-93778B0EEE3E}"/>
                </a:ext>
              </a:extLst>
            </p:cNvPr>
            <p:cNvSpPr>
              <a:spLocks noChangeShapeType="1"/>
            </p:cNvSpPr>
            <p:nvPr/>
          </p:nvSpPr>
          <p:spPr bwMode="auto">
            <a:xfrm>
              <a:off x="5795963" y="5809024"/>
              <a:ext cx="29527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69">
              <a:extLst>
                <a:ext uri="{FF2B5EF4-FFF2-40B4-BE49-F238E27FC236}">
                  <a16:creationId xmlns:a16="http://schemas.microsoft.com/office/drawing/2014/main" id="{445CA826-E935-1869-5ABB-83B1B9B0C12A}"/>
                </a:ext>
              </a:extLst>
            </p:cNvPr>
            <p:cNvSpPr>
              <a:spLocks noChangeShapeType="1"/>
            </p:cNvSpPr>
            <p:nvPr/>
          </p:nvSpPr>
          <p:spPr bwMode="auto">
            <a:xfrm flipV="1">
              <a:off x="5795963" y="4008799"/>
              <a:ext cx="0" cy="1800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Text Box 72">
              <a:extLst>
                <a:ext uri="{FF2B5EF4-FFF2-40B4-BE49-F238E27FC236}">
                  <a16:creationId xmlns:a16="http://schemas.microsoft.com/office/drawing/2014/main" id="{82867624-B527-DA16-4CFF-3C0AA3AD2E47}"/>
                </a:ext>
              </a:extLst>
            </p:cNvPr>
            <p:cNvSpPr txBox="1">
              <a:spLocks noChangeArrowheads="1"/>
            </p:cNvSpPr>
            <p:nvPr/>
          </p:nvSpPr>
          <p:spPr bwMode="auto">
            <a:xfrm>
              <a:off x="5795963" y="3937361"/>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I</a:t>
              </a:r>
              <a:endParaRPr lang="en-US" altLang="en-US" sz="1800" i="1">
                <a:latin typeface="Times New Roman" panose="02020603050405020304" pitchFamily="18" charset="0"/>
              </a:endParaRPr>
            </a:p>
          </p:txBody>
        </p:sp>
        <p:sp>
          <p:nvSpPr>
            <p:cNvPr id="12" name="Text Box 73">
              <a:extLst>
                <a:ext uri="{FF2B5EF4-FFF2-40B4-BE49-F238E27FC236}">
                  <a16:creationId xmlns:a16="http://schemas.microsoft.com/office/drawing/2014/main" id="{3D1BB41A-DC87-9316-BE45-D9C45CA1C4DD}"/>
                </a:ext>
              </a:extLst>
            </p:cNvPr>
            <p:cNvSpPr txBox="1">
              <a:spLocks noChangeArrowheads="1"/>
            </p:cNvSpPr>
            <p:nvPr/>
          </p:nvSpPr>
          <p:spPr bwMode="auto">
            <a:xfrm>
              <a:off x="8748713" y="5593124"/>
              <a:ext cx="247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t</a:t>
              </a:r>
              <a:endParaRPr lang="en-US" altLang="en-US" sz="1800" i="1">
                <a:latin typeface="Times New Roman" panose="02020603050405020304" pitchFamily="18" charset="0"/>
              </a:endParaRPr>
            </a:p>
          </p:txBody>
        </p:sp>
        <p:cxnSp>
          <p:nvCxnSpPr>
            <p:cNvPr id="14" name="Straight Connector 13">
              <a:extLst>
                <a:ext uri="{FF2B5EF4-FFF2-40B4-BE49-F238E27FC236}">
                  <a16:creationId xmlns:a16="http://schemas.microsoft.com/office/drawing/2014/main" id="{C24F2071-16B2-597A-7D67-5A1E14322386}"/>
                </a:ext>
              </a:extLst>
            </p:cNvPr>
            <p:cNvCxnSpPr>
              <a:stCxn id="8" idx="0"/>
            </p:cNvCxnSpPr>
            <p:nvPr/>
          </p:nvCxnSpPr>
          <p:spPr>
            <a:xfrm flipV="1">
              <a:off x="5795963" y="4650512"/>
              <a:ext cx="1188731" cy="1158512"/>
            </a:xfrm>
            <a:prstGeom prst="line">
              <a:avLst/>
            </a:prstGeom>
            <a:ln w="222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 name="Right Arrow 3">
            <a:extLst>
              <a:ext uri="{FF2B5EF4-FFF2-40B4-BE49-F238E27FC236}">
                <a16:creationId xmlns:a16="http://schemas.microsoft.com/office/drawing/2014/main" id="{482EBEBD-6EA3-04E0-CD63-C2B90B612C62}"/>
              </a:ext>
            </a:extLst>
          </p:cNvPr>
          <p:cNvSpPr/>
          <p:nvPr/>
        </p:nvSpPr>
        <p:spPr>
          <a:xfrm>
            <a:off x="4380807" y="3771394"/>
            <a:ext cx="382385" cy="2530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0B163928-F1F7-AAC4-20E4-7A042F07F0F6}"/>
              </a:ext>
            </a:extLst>
          </p:cNvPr>
          <p:cNvGrpSpPr/>
          <p:nvPr/>
        </p:nvGrpSpPr>
        <p:grpSpPr>
          <a:xfrm>
            <a:off x="465036" y="3789784"/>
            <a:ext cx="3653018" cy="2385227"/>
            <a:chOff x="465036" y="4064504"/>
            <a:chExt cx="3653018" cy="2385227"/>
          </a:xfrm>
        </p:grpSpPr>
        <p:grpSp>
          <p:nvGrpSpPr>
            <p:cNvPr id="13" name="Group 12">
              <a:extLst>
                <a:ext uri="{FF2B5EF4-FFF2-40B4-BE49-F238E27FC236}">
                  <a16:creationId xmlns:a16="http://schemas.microsoft.com/office/drawing/2014/main" id="{69A0E9B0-E439-0EA7-FA31-BEAFECB8BB22}"/>
                </a:ext>
              </a:extLst>
            </p:cNvPr>
            <p:cNvGrpSpPr/>
            <p:nvPr/>
          </p:nvGrpSpPr>
          <p:grpSpPr>
            <a:xfrm>
              <a:off x="917653" y="4498694"/>
              <a:ext cx="3200401" cy="1951037"/>
              <a:chOff x="5795962" y="4008799"/>
              <a:chExt cx="3200401" cy="1951037"/>
            </a:xfrm>
          </p:grpSpPr>
          <p:sp>
            <p:nvSpPr>
              <p:cNvPr id="15" name="Line 68">
                <a:extLst>
                  <a:ext uri="{FF2B5EF4-FFF2-40B4-BE49-F238E27FC236}">
                    <a16:creationId xmlns:a16="http://schemas.microsoft.com/office/drawing/2014/main" id="{B656B31E-D703-8AF9-6A77-71619AF231F6}"/>
                  </a:ext>
                </a:extLst>
              </p:cNvPr>
              <p:cNvSpPr>
                <a:spLocks noChangeShapeType="1"/>
              </p:cNvSpPr>
              <p:nvPr/>
            </p:nvSpPr>
            <p:spPr bwMode="auto">
              <a:xfrm>
                <a:off x="5795963" y="5809024"/>
                <a:ext cx="29527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69">
                <a:extLst>
                  <a:ext uri="{FF2B5EF4-FFF2-40B4-BE49-F238E27FC236}">
                    <a16:creationId xmlns:a16="http://schemas.microsoft.com/office/drawing/2014/main" id="{95682598-A547-1A34-714C-A9EB6DB9DEB8}"/>
                  </a:ext>
                </a:extLst>
              </p:cNvPr>
              <p:cNvSpPr>
                <a:spLocks noChangeShapeType="1"/>
              </p:cNvSpPr>
              <p:nvPr/>
            </p:nvSpPr>
            <p:spPr bwMode="auto">
              <a:xfrm flipV="1">
                <a:off x="5795963" y="4008799"/>
                <a:ext cx="0" cy="1800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Text Box 73">
                <a:extLst>
                  <a:ext uri="{FF2B5EF4-FFF2-40B4-BE49-F238E27FC236}">
                    <a16:creationId xmlns:a16="http://schemas.microsoft.com/office/drawing/2014/main" id="{F06695FE-FEBF-3267-6AA8-C02554FD851E}"/>
                  </a:ext>
                </a:extLst>
              </p:cNvPr>
              <p:cNvSpPr txBox="1">
                <a:spLocks noChangeArrowheads="1"/>
              </p:cNvSpPr>
              <p:nvPr/>
            </p:nvSpPr>
            <p:spPr bwMode="auto">
              <a:xfrm>
                <a:off x="8748713" y="5593124"/>
                <a:ext cx="247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t</a:t>
                </a:r>
                <a:endParaRPr lang="en-US" altLang="en-US" sz="1800" i="1">
                  <a:latin typeface="Times New Roman" panose="02020603050405020304" pitchFamily="18" charset="0"/>
                </a:endParaRPr>
              </a:p>
            </p:txBody>
          </p:sp>
          <p:cxnSp>
            <p:nvCxnSpPr>
              <p:cNvPr id="19" name="Straight Connector 18">
                <a:extLst>
                  <a:ext uri="{FF2B5EF4-FFF2-40B4-BE49-F238E27FC236}">
                    <a16:creationId xmlns:a16="http://schemas.microsoft.com/office/drawing/2014/main" id="{CF37FA9C-2E5D-06C2-37AE-87051345D89E}"/>
                  </a:ext>
                </a:extLst>
              </p:cNvPr>
              <p:cNvCxnSpPr>
                <a:cxnSpLocks/>
              </p:cNvCxnSpPr>
              <p:nvPr/>
            </p:nvCxnSpPr>
            <p:spPr>
              <a:xfrm>
                <a:off x="5795962" y="4650512"/>
                <a:ext cx="2252914" cy="0"/>
              </a:xfrm>
              <a:prstGeom prst="line">
                <a:avLst/>
              </a:prstGeom>
              <a:ln w="222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3A3B3F8-CE2F-AA39-4E11-BE52190CE3DE}"/>
                    </a:ext>
                  </a:extLst>
                </p:cNvPr>
                <p:cNvSpPr txBox="1"/>
                <p:nvPr/>
              </p:nvSpPr>
              <p:spPr>
                <a:xfrm>
                  <a:off x="465036" y="4064504"/>
                  <a:ext cx="473825"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i="1" kern="100" smtClean="0">
                                <a:latin typeface="Cambria Math" panose="02040503050406030204" pitchFamily="18" charset="0"/>
                                <a:ea typeface="Aptos" panose="020B0004020202020204" pitchFamily="34" charset="0"/>
                                <a:cs typeface="Times New Roman" panose="02020603050405020304" pitchFamily="18" charset="0"/>
                              </a:rPr>
                            </m:ctrlPr>
                          </m:fPr>
                          <m:num>
                            <m:r>
                              <a:rPr lang="en-US" sz="1800" i="1" kern="100">
                                <a:latin typeface="Cambria Math" panose="02040503050406030204" pitchFamily="18" charset="0"/>
                                <a:ea typeface="Aptos" panose="020B0004020202020204" pitchFamily="34" charset="0"/>
                                <a:cs typeface="Times New Roman" panose="02020603050405020304" pitchFamily="18" charset="0"/>
                              </a:rPr>
                              <m:t>𝑑𝐼</m:t>
                            </m:r>
                          </m:num>
                          <m:den>
                            <m:r>
                              <a:rPr lang="en-US" sz="1800" i="1" kern="100">
                                <a:latin typeface="Cambria Math" panose="02040503050406030204" pitchFamily="18" charset="0"/>
                                <a:ea typeface="Aptos" panose="020B0004020202020204" pitchFamily="34" charset="0"/>
                                <a:cs typeface="Times New Roman" panose="02020603050405020304" pitchFamily="18" charset="0"/>
                              </a:rPr>
                              <m:t>𝑑𝑡</m:t>
                            </m:r>
                          </m:den>
                        </m:f>
                      </m:oMath>
                    </m:oMathPara>
                  </a14:m>
                  <a:endParaRPr lang="en-US" dirty="0"/>
                </a:p>
              </p:txBody>
            </p:sp>
          </mc:Choice>
          <mc:Fallback xmlns="">
            <p:sp>
              <p:nvSpPr>
                <p:cNvPr id="23" name="TextBox 22">
                  <a:extLst>
                    <a:ext uri="{FF2B5EF4-FFF2-40B4-BE49-F238E27FC236}">
                      <a16:creationId xmlns:a16="http://schemas.microsoft.com/office/drawing/2014/main" id="{B3A3B3F8-CE2F-AA39-4E11-BE52190CE3DE}"/>
                    </a:ext>
                  </a:extLst>
                </p:cNvPr>
                <p:cNvSpPr txBox="1">
                  <a:spLocks noRot="1" noChangeAspect="1" noMove="1" noResize="1" noEditPoints="1" noAdjustHandles="1" noChangeArrowheads="1" noChangeShapeType="1" noTextEdit="1"/>
                </p:cNvSpPr>
                <p:nvPr/>
              </p:nvSpPr>
              <p:spPr>
                <a:xfrm>
                  <a:off x="465036" y="4064504"/>
                  <a:ext cx="473825" cy="618246"/>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C1E1D04-AA4C-5B99-BE3F-58AA0A719CE9}"/>
                    </a:ext>
                  </a:extLst>
                </p:cNvPr>
                <p:cNvSpPr txBox="1"/>
                <p:nvPr/>
              </p:nvSpPr>
              <p:spPr>
                <a:xfrm>
                  <a:off x="531537" y="4818741"/>
                  <a:ext cx="407324"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i="1" kern="100" smtClean="0">
                                <a:latin typeface="Cambria Math" panose="02040503050406030204" pitchFamily="18" charset="0"/>
                                <a:ea typeface="Aptos" panose="020B0004020202020204" pitchFamily="34" charset="0"/>
                                <a:cs typeface="Times New Roman" panose="02020603050405020304" pitchFamily="18" charset="0"/>
                              </a:rPr>
                            </m:ctrlPr>
                          </m:fPr>
                          <m:num>
                            <m:sSub>
                              <m:sSub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latin typeface="Cambria Math" panose="02040503050406030204" pitchFamily="18" charset="0"/>
                                    <a:ea typeface="Aptos" panose="020B0004020202020204" pitchFamily="34" charset="0"/>
                                    <a:cs typeface="Times New Roman" panose="02020603050405020304" pitchFamily="18" charset="0"/>
                                  </a:rPr>
                                  <m:t>𝑉</m:t>
                                </m:r>
                              </m:e>
                              <m:sub>
                                <m:r>
                                  <a:rPr lang="en-US" sz="1800" i="1" kern="100">
                                    <a:latin typeface="Cambria Math" panose="02040503050406030204" pitchFamily="18" charset="0"/>
                                    <a:ea typeface="Aptos" panose="020B0004020202020204" pitchFamily="34" charset="0"/>
                                    <a:cs typeface="Times New Roman" panose="02020603050405020304" pitchFamily="18" charset="0"/>
                                  </a:rPr>
                                  <m:t>𝐿</m:t>
                                </m:r>
                              </m:sub>
                            </m:sSub>
                          </m:num>
                          <m:den>
                            <m:r>
                              <a:rPr lang="en-US" sz="1800" i="1" kern="100">
                                <a:latin typeface="Cambria Math" panose="02040503050406030204" pitchFamily="18" charset="0"/>
                                <a:ea typeface="Aptos" panose="020B0004020202020204" pitchFamily="34" charset="0"/>
                                <a:cs typeface="Times New Roman" panose="02020603050405020304" pitchFamily="18" charset="0"/>
                              </a:rPr>
                              <m:t>𝐿</m:t>
                            </m:r>
                          </m:den>
                        </m:f>
                      </m:oMath>
                    </m:oMathPara>
                  </a14:m>
                  <a:endParaRPr lang="en-US" dirty="0"/>
                </a:p>
              </p:txBody>
            </p:sp>
          </mc:Choice>
          <mc:Fallback xmlns="">
            <p:sp>
              <p:nvSpPr>
                <p:cNvPr id="29" name="TextBox 28">
                  <a:extLst>
                    <a:ext uri="{FF2B5EF4-FFF2-40B4-BE49-F238E27FC236}">
                      <a16:creationId xmlns:a16="http://schemas.microsoft.com/office/drawing/2014/main" id="{0C1E1D04-AA4C-5B99-BE3F-58AA0A719CE9}"/>
                    </a:ext>
                  </a:extLst>
                </p:cNvPr>
                <p:cNvSpPr txBox="1">
                  <a:spLocks noRot="1" noChangeAspect="1" noMove="1" noResize="1" noEditPoints="1" noAdjustHandles="1" noChangeArrowheads="1" noChangeShapeType="1" noTextEdit="1"/>
                </p:cNvSpPr>
                <p:nvPr/>
              </p:nvSpPr>
              <p:spPr>
                <a:xfrm>
                  <a:off x="531537" y="4818741"/>
                  <a:ext cx="407324" cy="609077"/>
                </a:xfrm>
                <a:prstGeom prst="rect">
                  <a:avLst/>
                </a:prstGeom>
                <a:blipFill>
                  <a:blip r:embed="rId7"/>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81EF969-4CE5-27CC-37A8-992CEFB7FD45}"/>
                  </a:ext>
                </a:extLst>
              </p:cNvPr>
              <p:cNvSpPr txBox="1"/>
              <p:nvPr/>
            </p:nvSpPr>
            <p:spPr>
              <a:xfrm>
                <a:off x="4707379" y="3323772"/>
                <a:ext cx="1860804" cy="895245"/>
              </a:xfrm>
              <a:prstGeom prst="rect">
                <a:avLst/>
              </a:prstGeom>
              <a:noFill/>
            </p:spPr>
            <p:txBody>
              <a:bodyPr wrap="square">
                <a:spAutoFit/>
              </a:bodyPr>
              <a:lstStyle/>
              <a:p>
                <a:pPr eaLnBrk="1" hangingPunct="1">
                  <a:spcBef>
                    <a:spcPct val="0"/>
                  </a:spcBef>
                  <a:buFontTx/>
                  <a:buNone/>
                </a:pPr>
                <a:endParaRPr lang="en-US" altLang="en-US" sz="1800" dirty="0"/>
              </a:p>
              <a:p>
                <a:pPr>
                  <a:spcBef>
                    <a:spcPts val="0"/>
                  </a:spcBef>
                  <a:buNone/>
                </a:pPr>
                <a14:m>
                  <m:oMathPara xmlns:m="http://schemas.openxmlformats.org/officeDocument/2006/math">
                    <m:oMathParaPr>
                      <m:jc m:val="centerGroup"/>
                    </m:oMathParaPr>
                    <m:oMath xmlns:m="http://schemas.openxmlformats.org/officeDocument/2006/math">
                      <m:f>
                        <m:f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fPr>
                        <m:num>
                          <m:sSub>
                            <m:sSub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latin typeface="Cambria Math" panose="02040503050406030204" pitchFamily="18" charset="0"/>
                                  <a:ea typeface="Aptos" panose="020B0004020202020204" pitchFamily="34" charset="0"/>
                                  <a:cs typeface="Times New Roman" panose="02020603050405020304" pitchFamily="18" charset="0"/>
                                </a:rPr>
                                <m:t>𝑉</m:t>
                              </m:r>
                            </m:e>
                            <m:sub>
                              <m:r>
                                <a:rPr lang="en-US" sz="1800" i="1" kern="100">
                                  <a:latin typeface="Cambria Math" panose="02040503050406030204" pitchFamily="18" charset="0"/>
                                  <a:ea typeface="Aptos" panose="020B0004020202020204" pitchFamily="34" charset="0"/>
                                  <a:cs typeface="Times New Roman" panose="02020603050405020304" pitchFamily="18" charset="0"/>
                                </a:rPr>
                                <m:t>𝐿</m:t>
                              </m:r>
                            </m:sub>
                          </m:sSub>
                        </m:num>
                        <m:den>
                          <m:r>
                            <a:rPr lang="en-US" sz="1800" i="1" kern="100">
                              <a:latin typeface="Cambria Math" panose="02040503050406030204" pitchFamily="18" charset="0"/>
                              <a:ea typeface="Aptos" panose="020B0004020202020204" pitchFamily="34" charset="0"/>
                              <a:cs typeface="Times New Roman" panose="02020603050405020304" pitchFamily="18" charset="0"/>
                            </a:rPr>
                            <m:t>𝐿</m:t>
                          </m:r>
                        </m:den>
                      </m:f>
                      <m:r>
                        <a:rPr lang="en-US" sz="1800" i="1" kern="100">
                          <a:latin typeface="Cambria Math" panose="02040503050406030204" pitchFamily="18" charset="0"/>
                          <a:ea typeface="Aptos" panose="020B0004020202020204" pitchFamily="34" charset="0"/>
                          <a:cs typeface="Times New Roman" panose="02020603050405020304" pitchFamily="18" charset="0"/>
                        </a:rPr>
                        <m:t>=</m:t>
                      </m:r>
                      <m:f>
                        <m:f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fPr>
                        <m:num>
                          <m:r>
                            <a:rPr lang="en-US" sz="1800" i="1" kern="100">
                              <a:latin typeface="Cambria Math" panose="02040503050406030204" pitchFamily="18" charset="0"/>
                              <a:ea typeface="Aptos" panose="020B0004020202020204" pitchFamily="34" charset="0"/>
                              <a:cs typeface="Times New Roman" panose="02020603050405020304" pitchFamily="18" charset="0"/>
                            </a:rPr>
                            <m:t>𝑑𝐼</m:t>
                          </m:r>
                        </m:num>
                        <m:den>
                          <m:r>
                            <a:rPr lang="en-US" sz="1800" i="1" kern="100">
                              <a:latin typeface="Cambria Math" panose="02040503050406030204" pitchFamily="18" charset="0"/>
                              <a:ea typeface="Aptos" panose="020B0004020202020204" pitchFamily="34" charset="0"/>
                              <a:cs typeface="Times New Roman" panose="02020603050405020304" pitchFamily="18" charset="0"/>
                            </a:rPr>
                            <m:t>𝑑𝑡</m:t>
                          </m:r>
                        </m:den>
                      </m:f>
                    </m:oMath>
                  </m:oMathPara>
                </a14:m>
                <a:endParaRPr lang="en-GB" dirty="0"/>
              </a:p>
            </p:txBody>
          </p:sp>
        </mc:Choice>
        <mc:Fallback xmlns="">
          <p:sp>
            <p:nvSpPr>
              <p:cNvPr id="17" name="TextBox 16">
                <a:extLst>
                  <a:ext uri="{FF2B5EF4-FFF2-40B4-BE49-F238E27FC236}">
                    <a16:creationId xmlns:a16="http://schemas.microsoft.com/office/drawing/2014/main" id="{B81EF969-4CE5-27CC-37A8-992CEFB7FD45}"/>
                  </a:ext>
                </a:extLst>
              </p:cNvPr>
              <p:cNvSpPr txBox="1">
                <a:spLocks noRot="1" noChangeAspect="1" noMove="1" noResize="1" noEditPoints="1" noAdjustHandles="1" noChangeArrowheads="1" noChangeShapeType="1" noTextEdit="1"/>
              </p:cNvSpPr>
              <p:nvPr/>
            </p:nvSpPr>
            <p:spPr>
              <a:xfrm>
                <a:off x="4707379" y="3323772"/>
                <a:ext cx="1860804" cy="89524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4ADA5B2-CE6D-933A-7E94-994580B3BD1A}"/>
                  </a:ext>
                </a:extLst>
              </p:cNvPr>
              <p:cNvSpPr txBox="1"/>
              <p:nvPr/>
            </p:nvSpPr>
            <p:spPr>
              <a:xfrm>
                <a:off x="2394029" y="327321"/>
                <a:ext cx="4572000" cy="618246"/>
              </a:xfrm>
              <a:prstGeom prst="rect">
                <a:avLst/>
              </a:prstGeom>
              <a:noFill/>
            </p:spPr>
            <p:txBody>
              <a:bodyPr wrap="square">
                <a:spAutoFit/>
              </a:bodyPr>
              <a:lstStyle/>
              <a:p>
                <a:pPr>
                  <a:spcBef>
                    <a:spcPct val="50000"/>
                  </a:spcBef>
                  <a:buNone/>
                </a:pPr>
                <a14:m>
                  <m:oMathPara xmlns:m="http://schemas.openxmlformats.org/officeDocument/2006/math">
                    <m:oMathParaPr>
                      <m:jc m:val="centerGroup"/>
                    </m:oMathParaPr>
                    <m:oMath xmlns:m="http://schemas.openxmlformats.org/officeDocument/2006/math">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𝑉</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m:t>
                      </m:r>
                      <m:sSub>
                        <m:sSub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latin typeface="Cambria Math" panose="02040503050406030204" pitchFamily="18" charset="0"/>
                              <a:ea typeface="Aptos" panose="020B0004020202020204" pitchFamily="34" charset="0"/>
                              <a:cs typeface="Times New Roman" panose="02020603050405020304" pitchFamily="18" charset="0"/>
                            </a:rPr>
                            <m:t>𝑉</m:t>
                          </m:r>
                        </m:e>
                        <m:sub>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𝑅</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 </m:t>
                          </m:r>
                        </m:sub>
                      </m:sSub>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 </m:t>
                      </m:r>
                      <m:sSub>
                        <m:sSub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latin typeface="Cambria Math" panose="02040503050406030204" pitchFamily="18" charset="0"/>
                              <a:ea typeface="Aptos" panose="020B0004020202020204" pitchFamily="34" charset="0"/>
                              <a:cs typeface="Times New Roman" panose="02020603050405020304" pitchFamily="18" charset="0"/>
                            </a:rPr>
                            <m:t>𝑉</m:t>
                          </m:r>
                        </m:e>
                        <m:sub>
                          <m:r>
                            <a:rPr lang="en-US" sz="1800" i="1" kern="100">
                              <a:latin typeface="Cambria Math" panose="02040503050406030204" pitchFamily="18" charset="0"/>
                              <a:ea typeface="Aptos" panose="020B0004020202020204" pitchFamily="34" charset="0"/>
                              <a:cs typeface="Times New Roman" panose="02020603050405020304" pitchFamily="18" charset="0"/>
                            </a:rPr>
                            <m:t>𝐿</m:t>
                          </m:r>
                        </m:sub>
                      </m:sSub>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𝐼𝑅</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m:t>
                      </m:r>
                      <m:r>
                        <a:rPr lang="en-GB" sz="1800" b="0" i="1" kern="100" smtClean="0">
                          <a:latin typeface="Cambria Math" panose="02040503050406030204" pitchFamily="18" charset="0"/>
                          <a:ea typeface="Aptos" panose="020B0004020202020204" pitchFamily="34" charset="0"/>
                          <a:cs typeface="Times New Roman" panose="02020603050405020304" pitchFamily="18" charset="0"/>
                        </a:rPr>
                        <m:t>𝐿</m:t>
                      </m:r>
                      <m:f>
                        <m:fPr>
                          <m:ctrlPr>
                            <a:rPr lang="en-US" sz="1800" i="1" kern="100">
                              <a:latin typeface="Cambria Math" panose="02040503050406030204" pitchFamily="18" charset="0"/>
                              <a:ea typeface="Aptos" panose="020B0004020202020204" pitchFamily="34" charset="0"/>
                              <a:cs typeface="Times New Roman" panose="02020603050405020304" pitchFamily="18" charset="0"/>
                            </a:rPr>
                          </m:ctrlPr>
                        </m:fPr>
                        <m:num>
                          <m:r>
                            <a:rPr lang="en-US" sz="1800" i="1" kern="100">
                              <a:latin typeface="Cambria Math" panose="02040503050406030204" pitchFamily="18" charset="0"/>
                              <a:ea typeface="Aptos" panose="020B0004020202020204" pitchFamily="34" charset="0"/>
                              <a:cs typeface="Times New Roman" panose="02020603050405020304" pitchFamily="18" charset="0"/>
                            </a:rPr>
                            <m:t>𝑑𝐼</m:t>
                          </m:r>
                        </m:num>
                        <m:den>
                          <m:r>
                            <a:rPr lang="en-US" sz="1800" i="1" kern="100">
                              <a:latin typeface="Cambria Math" panose="02040503050406030204" pitchFamily="18" charset="0"/>
                              <a:ea typeface="Aptos" panose="020B0004020202020204" pitchFamily="34" charset="0"/>
                              <a:cs typeface="Times New Roman" panose="02020603050405020304" pitchFamily="18" charset="0"/>
                            </a:rPr>
                            <m:t>𝑑𝑡</m:t>
                          </m:r>
                        </m:den>
                      </m:f>
                    </m:oMath>
                  </m:oMathPara>
                </a14:m>
                <a:endParaRPr lang="en-GB" altLang="en-US" sz="1800" dirty="0"/>
              </a:p>
            </p:txBody>
          </p:sp>
        </mc:Choice>
        <mc:Fallback xmlns="">
          <p:sp>
            <p:nvSpPr>
              <p:cNvPr id="35" name="TextBox 34">
                <a:extLst>
                  <a:ext uri="{FF2B5EF4-FFF2-40B4-BE49-F238E27FC236}">
                    <a16:creationId xmlns:a16="http://schemas.microsoft.com/office/drawing/2014/main" id="{64ADA5B2-CE6D-933A-7E94-994580B3BD1A}"/>
                  </a:ext>
                </a:extLst>
              </p:cNvPr>
              <p:cNvSpPr txBox="1">
                <a:spLocks noRot="1" noChangeAspect="1" noMove="1" noResize="1" noEditPoints="1" noAdjustHandles="1" noChangeArrowheads="1" noChangeShapeType="1" noTextEdit="1"/>
              </p:cNvSpPr>
              <p:nvPr/>
            </p:nvSpPr>
            <p:spPr>
              <a:xfrm>
                <a:off x="2394029" y="327321"/>
                <a:ext cx="4572000" cy="618246"/>
              </a:xfrm>
              <a:prstGeom prst="rect">
                <a:avLst/>
              </a:prstGeom>
              <a:blipFill>
                <a:blip r:embed="rId9"/>
                <a:stretch>
                  <a:fillRect/>
                </a:stretch>
              </a:blipFill>
            </p:spPr>
            <p:txBody>
              <a:bodyPr/>
              <a:lstStyle/>
              <a:p>
                <a:r>
                  <a:rPr lang="en-GB">
                    <a:noFill/>
                  </a:rPr>
                  <a:t> </a:t>
                </a:r>
              </a:p>
            </p:txBody>
          </p:sp>
        </mc:Fallback>
      </mc:AlternateContent>
      <p:sp>
        <p:nvSpPr>
          <p:cNvPr id="38" name="TextBox 37">
            <a:extLst>
              <a:ext uri="{FF2B5EF4-FFF2-40B4-BE49-F238E27FC236}">
                <a16:creationId xmlns:a16="http://schemas.microsoft.com/office/drawing/2014/main" id="{1BD1DC78-70F8-ABCA-B7F1-70C02144B3DE}"/>
              </a:ext>
            </a:extLst>
          </p:cNvPr>
          <p:cNvSpPr txBox="1"/>
          <p:nvPr/>
        </p:nvSpPr>
        <p:spPr>
          <a:xfrm>
            <a:off x="1244600" y="6180884"/>
            <a:ext cx="5899150" cy="646331"/>
          </a:xfrm>
          <a:prstGeom prst="rect">
            <a:avLst/>
          </a:prstGeom>
          <a:noFill/>
        </p:spPr>
        <p:txBody>
          <a:bodyPr wrap="square">
            <a:spAutoFit/>
          </a:bodyPr>
          <a:lstStyle/>
          <a:p>
            <a:pPr algn="just" eaLnBrk="1" hangingPunct="1">
              <a:spcBef>
                <a:spcPct val="50000"/>
              </a:spcBef>
              <a:buFontTx/>
              <a:buNone/>
            </a:pPr>
            <a:r>
              <a:rPr lang="en-GB" altLang="en-US" sz="1800" dirty="0">
                <a:solidFill>
                  <a:srgbClr val="FF0000"/>
                </a:solidFill>
              </a:rPr>
              <a:t>As the current in the inductor rises, energy is stored in the magnetic field. </a:t>
            </a:r>
          </a:p>
        </p:txBody>
      </p:sp>
      <p:grpSp>
        <p:nvGrpSpPr>
          <p:cNvPr id="48" name="Group 47">
            <a:extLst>
              <a:ext uri="{FF2B5EF4-FFF2-40B4-BE49-F238E27FC236}">
                <a16:creationId xmlns:a16="http://schemas.microsoft.com/office/drawing/2014/main" id="{03DAC114-CD0B-516C-BECC-3CDA0EF6E205}"/>
              </a:ext>
            </a:extLst>
          </p:cNvPr>
          <p:cNvGrpSpPr/>
          <p:nvPr/>
        </p:nvGrpSpPr>
        <p:grpSpPr>
          <a:xfrm>
            <a:off x="3861194" y="569902"/>
            <a:ext cx="239887" cy="217445"/>
            <a:chOff x="698974" y="1020289"/>
            <a:chExt cx="380018" cy="372338"/>
          </a:xfrm>
        </p:grpSpPr>
        <p:cxnSp>
          <p:nvCxnSpPr>
            <p:cNvPr id="40" name="Straight Connector 39">
              <a:extLst>
                <a:ext uri="{FF2B5EF4-FFF2-40B4-BE49-F238E27FC236}">
                  <a16:creationId xmlns:a16="http://schemas.microsoft.com/office/drawing/2014/main" id="{F4C4BA83-78C3-0461-4038-D9A6BD560463}"/>
                </a:ext>
              </a:extLst>
            </p:cNvPr>
            <p:cNvCxnSpPr>
              <a:cxnSpLocks/>
            </p:cNvCxnSpPr>
            <p:nvPr/>
          </p:nvCxnSpPr>
          <p:spPr>
            <a:xfrm>
              <a:off x="701948" y="1024128"/>
              <a:ext cx="377044" cy="36849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B4A5D5A-697C-910E-6F6D-1510AD64A95D}"/>
                </a:ext>
              </a:extLst>
            </p:cNvPr>
            <p:cNvCxnSpPr>
              <a:cxnSpLocks/>
            </p:cNvCxnSpPr>
            <p:nvPr/>
          </p:nvCxnSpPr>
          <p:spPr>
            <a:xfrm flipH="1">
              <a:off x="698974" y="1020289"/>
              <a:ext cx="380018" cy="37233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23523920-5256-61B6-0EA4-08479A593A75}"/>
              </a:ext>
            </a:extLst>
          </p:cNvPr>
          <p:cNvGrpSpPr/>
          <p:nvPr/>
        </p:nvGrpSpPr>
        <p:grpSpPr>
          <a:xfrm>
            <a:off x="4983497" y="554754"/>
            <a:ext cx="239887" cy="217445"/>
            <a:chOff x="698974" y="1020289"/>
            <a:chExt cx="380018" cy="372338"/>
          </a:xfrm>
        </p:grpSpPr>
        <p:cxnSp>
          <p:nvCxnSpPr>
            <p:cNvPr id="50" name="Straight Connector 49">
              <a:extLst>
                <a:ext uri="{FF2B5EF4-FFF2-40B4-BE49-F238E27FC236}">
                  <a16:creationId xmlns:a16="http://schemas.microsoft.com/office/drawing/2014/main" id="{9062882E-68A6-221B-B706-AE91AC58761F}"/>
                </a:ext>
              </a:extLst>
            </p:cNvPr>
            <p:cNvCxnSpPr>
              <a:cxnSpLocks/>
            </p:cNvCxnSpPr>
            <p:nvPr/>
          </p:nvCxnSpPr>
          <p:spPr>
            <a:xfrm>
              <a:off x="701948" y="1024128"/>
              <a:ext cx="377044" cy="36849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35B31FB-11A6-A9F0-CB78-9930745C62DB}"/>
                </a:ext>
              </a:extLst>
            </p:cNvPr>
            <p:cNvCxnSpPr>
              <a:cxnSpLocks/>
            </p:cNvCxnSpPr>
            <p:nvPr/>
          </p:nvCxnSpPr>
          <p:spPr>
            <a:xfrm flipH="1">
              <a:off x="698974" y="1020289"/>
              <a:ext cx="380018" cy="37233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588F529-764A-B6EC-6DD6-F7766473E268}"/>
              </a:ext>
            </a:extLst>
          </p:cNvPr>
          <p:cNvGrpSpPr/>
          <p:nvPr/>
        </p:nvGrpSpPr>
        <p:grpSpPr>
          <a:xfrm>
            <a:off x="3016306" y="986666"/>
            <a:ext cx="3873866" cy="1609050"/>
            <a:chOff x="800199" y="1037256"/>
            <a:chExt cx="3873866" cy="1609050"/>
          </a:xfrm>
        </p:grpSpPr>
        <p:pic>
          <p:nvPicPr>
            <p:cNvPr id="53" name="Picture 52">
              <a:extLst>
                <a:ext uri="{FF2B5EF4-FFF2-40B4-BE49-F238E27FC236}">
                  <a16:creationId xmlns:a16="http://schemas.microsoft.com/office/drawing/2014/main" id="{0126B54D-D7B7-6D55-90FB-1BCCEE456305}"/>
                </a:ext>
              </a:extLst>
            </p:cNvPr>
            <p:cNvPicPr>
              <a:picLocks noChangeAspect="1"/>
            </p:cNvPicPr>
            <p:nvPr/>
          </p:nvPicPr>
          <p:blipFill>
            <a:blip r:embed="rId10"/>
            <a:stretch>
              <a:fillRect/>
            </a:stretch>
          </p:blipFill>
          <p:spPr>
            <a:xfrm>
              <a:off x="800199" y="1037256"/>
              <a:ext cx="3873866" cy="1609050"/>
            </a:xfrm>
            <a:prstGeom prst="rect">
              <a:avLst/>
            </a:prstGeom>
          </p:spPr>
        </p:pic>
        <p:sp>
          <p:nvSpPr>
            <p:cNvPr id="54" name="Rectangle 53">
              <a:extLst>
                <a:ext uri="{FF2B5EF4-FFF2-40B4-BE49-F238E27FC236}">
                  <a16:creationId xmlns:a16="http://schemas.microsoft.com/office/drawing/2014/main" id="{D1982560-42D1-6C27-C0FA-BD8405B16D4F}"/>
                </a:ext>
              </a:extLst>
            </p:cNvPr>
            <p:cNvSpPr/>
            <p:nvPr/>
          </p:nvSpPr>
          <p:spPr>
            <a:xfrm>
              <a:off x="1724297" y="1375956"/>
              <a:ext cx="513806" cy="1927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5" name="Straight Connector 54">
              <a:extLst>
                <a:ext uri="{FF2B5EF4-FFF2-40B4-BE49-F238E27FC236}">
                  <a16:creationId xmlns:a16="http://schemas.microsoft.com/office/drawing/2014/main" id="{18E64CF8-D8F6-13D5-EBBF-CB4DB6CD9A9F}"/>
                </a:ext>
              </a:extLst>
            </p:cNvPr>
            <p:cNvCxnSpPr/>
            <p:nvPr/>
          </p:nvCxnSpPr>
          <p:spPr>
            <a:xfrm>
              <a:off x="1780908" y="1593401"/>
              <a:ext cx="38792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A0E609BD-86A9-2201-F5B7-2CE5884D7902}"/>
              </a:ext>
            </a:extLst>
          </p:cNvPr>
          <p:cNvGrpSpPr/>
          <p:nvPr/>
        </p:nvGrpSpPr>
        <p:grpSpPr>
          <a:xfrm>
            <a:off x="2927045" y="997620"/>
            <a:ext cx="3873866" cy="1609050"/>
            <a:chOff x="3170567" y="1498960"/>
            <a:chExt cx="3873866" cy="1609050"/>
          </a:xfrm>
        </p:grpSpPr>
        <p:grpSp>
          <p:nvGrpSpPr>
            <p:cNvPr id="28" name="Group 27">
              <a:extLst>
                <a:ext uri="{FF2B5EF4-FFF2-40B4-BE49-F238E27FC236}">
                  <a16:creationId xmlns:a16="http://schemas.microsoft.com/office/drawing/2014/main" id="{88BAAFBF-A684-5E58-4A79-1F1363183FC2}"/>
                </a:ext>
              </a:extLst>
            </p:cNvPr>
            <p:cNvGrpSpPr/>
            <p:nvPr/>
          </p:nvGrpSpPr>
          <p:grpSpPr>
            <a:xfrm>
              <a:off x="3170567" y="1498960"/>
              <a:ext cx="3873866" cy="1609050"/>
              <a:chOff x="800199" y="1037256"/>
              <a:chExt cx="3873866" cy="1609050"/>
            </a:xfrm>
          </p:grpSpPr>
          <p:pic>
            <p:nvPicPr>
              <p:cNvPr id="30" name="Picture 29">
                <a:extLst>
                  <a:ext uri="{FF2B5EF4-FFF2-40B4-BE49-F238E27FC236}">
                    <a16:creationId xmlns:a16="http://schemas.microsoft.com/office/drawing/2014/main" id="{DCB2D943-718D-3C76-9E5B-B9EAD3722EFB}"/>
                  </a:ext>
                </a:extLst>
              </p:cNvPr>
              <p:cNvPicPr>
                <a:picLocks noChangeAspect="1"/>
              </p:cNvPicPr>
              <p:nvPr/>
            </p:nvPicPr>
            <p:blipFill>
              <a:blip r:embed="rId10"/>
              <a:stretch>
                <a:fillRect/>
              </a:stretch>
            </p:blipFill>
            <p:spPr>
              <a:xfrm>
                <a:off x="800199" y="1037256"/>
                <a:ext cx="3873866" cy="1609050"/>
              </a:xfrm>
              <a:prstGeom prst="rect">
                <a:avLst/>
              </a:prstGeom>
            </p:spPr>
          </p:pic>
          <p:sp>
            <p:nvSpPr>
              <p:cNvPr id="31" name="Rectangle 30">
                <a:extLst>
                  <a:ext uri="{FF2B5EF4-FFF2-40B4-BE49-F238E27FC236}">
                    <a16:creationId xmlns:a16="http://schemas.microsoft.com/office/drawing/2014/main" id="{CFE97BCA-5171-B64C-CD3A-F57A469E1484}"/>
                  </a:ext>
                </a:extLst>
              </p:cNvPr>
              <p:cNvSpPr/>
              <p:nvPr/>
            </p:nvSpPr>
            <p:spPr>
              <a:xfrm>
                <a:off x="1724297" y="1375956"/>
                <a:ext cx="513806" cy="1927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54F23560-DDAD-B885-A38A-8F7F02E7853B}"/>
                  </a:ext>
                </a:extLst>
              </p:cNvPr>
              <p:cNvCxnSpPr/>
              <p:nvPr/>
            </p:nvCxnSpPr>
            <p:spPr>
              <a:xfrm>
                <a:off x="1780908" y="1593401"/>
                <a:ext cx="38792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BAB23804-81BD-6154-616A-0312D672D280}"/>
                </a:ext>
              </a:extLst>
            </p:cNvPr>
            <p:cNvPicPr>
              <a:picLocks noChangeAspect="1"/>
            </p:cNvPicPr>
            <p:nvPr/>
          </p:nvPicPr>
          <p:blipFill>
            <a:blip r:embed="rId11"/>
            <a:stretch>
              <a:fillRect/>
            </a:stretch>
          </p:blipFill>
          <p:spPr>
            <a:xfrm>
              <a:off x="4656745" y="1576227"/>
              <a:ext cx="943107" cy="762106"/>
            </a:xfrm>
            <a:prstGeom prst="rect">
              <a:avLst/>
            </a:prstGeom>
          </p:spPr>
        </p:pic>
      </p:grpSp>
      <p:sp>
        <p:nvSpPr>
          <p:cNvPr id="57" name="TextBox 56">
            <a:extLst>
              <a:ext uri="{FF2B5EF4-FFF2-40B4-BE49-F238E27FC236}">
                <a16:creationId xmlns:a16="http://schemas.microsoft.com/office/drawing/2014/main" id="{BE9C74E0-AFD8-925A-C9B6-6FDCC823B914}"/>
              </a:ext>
            </a:extLst>
          </p:cNvPr>
          <p:cNvSpPr txBox="1"/>
          <p:nvPr/>
        </p:nvSpPr>
        <p:spPr>
          <a:xfrm>
            <a:off x="208892" y="3043640"/>
            <a:ext cx="5229054" cy="400110"/>
          </a:xfrm>
          <a:prstGeom prst="rect">
            <a:avLst/>
          </a:prstGeom>
          <a:noFill/>
        </p:spPr>
        <p:txBody>
          <a:bodyPr wrap="square">
            <a:spAutoFit/>
          </a:bodyPr>
          <a:lstStyle/>
          <a:p>
            <a:r>
              <a:rPr lang="en-GB" altLang="en-US" sz="2000" dirty="0"/>
              <a:t>Hence rate of change in current is constant.</a:t>
            </a:r>
            <a:endParaRPr lang="en-GB" sz="2000" dirty="0"/>
          </a:p>
        </p:txBody>
      </p:sp>
    </p:spTree>
    <p:extLst>
      <p:ext uri="{BB962C8B-B14F-4D97-AF65-F5344CB8AC3E}">
        <p14:creationId xmlns:p14="http://schemas.microsoft.com/office/powerpoint/2010/main" val="150706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P spid="17" grpId="0"/>
      <p:bldP spid="38" grpId="0"/>
      <p:bldP spid="5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910B25CC-072C-D849-BECD-8673F8371584}"/>
              </a:ext>
            </a:extLst>
          </p:cNvPr>
          <p:cNvSpPr>
            <a:spLocks noGrp="1"/>
          </p:cNvSpPr>
          <p:nvPr>
            <p:ph type="sldNum" sz="quarter" idx="12"/>
          </p:nvPr>
        </p:nvSpPr>
        <p:spPr>
          <a:xfrm>
            <a:off x="6457950" y="6477538"/>
            <a:ext cx="2057400" cy="365125"/>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212C3F2-AC35-7846-A2E9-5C39342D5E6D}" type="slidenum">
              <a:rPr lang="en-US" altLang="en-US" sz="1400"/>
              <a:pPr>
                <a:spcBef>
                  <a:spcPct val="0"/>
                </a:spcBef>
                <a:buFontTx/>
                <a:buNone/>
              </a:pPr>
              <a:t>6</a:t>
            </a:fld>
            <a:endParaRPr lang="en-US" altLang="en-US" sz="1400"/>
          </a:p>
        </p:txBody>
      </p:sp>
      <p:grpSp>
        <p:nvGrpSpPr>
          <p:cNvPr id="17468" name="Group 17467">
            <a:extLst>
              <a:ext uri="{FF2B5EF4-FFF2-40B4-BE49-F238E27FC236}">
                <a16:creationId xmlns:a16="http://schemas.microsoft.com/office/drawing/2014/main" id="{0F78E291-6BB0-AC28-9273-AF3097A9DED3}"/>
              </a:ext>
            </a:extLst>
          </p:cNvPr>
          <p:cNvGrpSpPr/>
          <p:nvPr/>
        </p:nvGrpSpPr>
        <p:grpSpPr>
          <a:xfrm>
            <a:off x="5076825" y="3938858"/>
            <a:ext cx="3814762" cy="2806372"/>
            <a:chOff x="5076825" y="3938858"/>
            <a:chExt cx="3814762" cy="2806372"/>
          </a:xfrm>
        </p:grpSpPr>
        <p:sp>
          <p:nvSpPr>
            <p:cNvPr id="17442" name="Line 53">
              <a:extLst>
                <a:ext uri="{FF2B5EF4-FFF2-40B4-BE49-F238E27FC236}">
                  <a16:creationId xmlns:a16="http://schemas.microsoft.com/office/drawing/2014/main" id="{DF597AA2-786E-2146-A1EB-D860789E6444}"/>
                </a:ext>
              </a:extLst>
            </p:cNvPr>
            <p:cNvSpPr>
              <a:spLocks noChangeShapeType="1"/>
            </p:cNvSpPr>
            <p:nvPr/>
          </p:nvSpPr>
          <p:spPr bwMode="auto">
            <a:xfrm flipV="1">
              <a:off x="5076825" y="3938858"/>
              <a:ext cx="0" cy="16557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3" name="Line 54">
              <a:extLst>
                <a:ext uri="{FF2B5EF4-FFF2-40B4-BE49-F238E27FC236}">
                  <a16:creationId xmlns:a16="http://schemas.microsoft.com/office/drawing/2014/main" id="{4D47BFFC-4C09-4745-B309-972EB5CFFAA5}"/>
                </a:ext>
              </a:extLst>
            </p:cNvPr>
            <p:cNvSpPr>
              <a:spLocks noChangeShapeType="1"/>
            </p:cNvSpPr>
            <p:nvPr/>
          </p:nvSpPr>
          <p:spPr bwMode="auto">
            <a:xfrm>
              <a:off x="5076825" y="4586558"/>
              <a:ext cx="32400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4" name="Line 55">
              <a:extLst>
                <a:ext uri="{FF2B5EF4-FFF2-40B4-BE49-F238E27FC236}">
                  <a16:creationId xmlns:a16="http://schemas.microsoft.com/office/drawing/2014/main" id="{C54CC34C-CF8B-EB48-B9F8-6D1726CCA6FB}"/>
                </a:ext>
              </a:extLst>
            </p:cNvPr>
            <p:cNvSpPr>
              <a:spLocks noChangeShapeType="1"/>
            </p:cNvSpPr>
            <p:nvPr/>
          </p:nvSpPr>
          <p:spPr bwMode="auto">
            <a:xfrm>
              <a:off x="5076825" y="5091383"/>
              <a:ext cx="32400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5" name="Line 56">
              <a:extLst>
                <a:ext uri="{FF2B5EF4-FFF2-40B4-BE49-F238E27FC236}">
                  <a16:creationId xmlns:a16="http://schemas.microsoft.com/office/drawing/2014/main" id="{375D6BDD-00C4-924B-8F25-E425ED3D9E19}"/>
                </a:ext>
              </a:extLst>
            </p:cNvPr>
            <p:cNvSpPr>
              <a:spLocks noChangeShapeType="1"/>
            </p:cNvSpPr>
            <p:nvPr/>
          </p:nvSpPr>
          <p:spPr bwMode="auto">
            <a:xfrm>
              <a:off x="5076825" y="5594620"/>
              <a:ext cx="32400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6" name="Freeform 57">
              <a:extLst>
                <a:ext uri="{FF2B5EF4-FFF2-40B4-BE49-F238E27FC236}">
                  <a16:creationId xmlns:a16="http://schemas.microsoft.com/office/drawing/2014/main" id="{77E51122-4642-6B42-96EC-D6E6CC9E4578}"/>
                </a:ext>
              </a:extLst>
            </p:cNvPr>
            <p:cNvSpPr>
              <a:spLocks/>
            </p:cNvSpPr>
            <p:nvPr/>
          </p:nvSpPr>
          <p:spPr bwMode="auto">
            <a:xfrm>
              <a:off x="5076825" y="4154758"/>
              <a:ext cx="3024188" cy="431800"/>
            </a:xfrm>
            <a:custGeom>
              <a:avLst/>
              <a:gdLst>
                <a:gd name="T0" fmla="*/ 0 w 1905"/>
                <a:gd name="T1" fmla="*/ 2147483646 h 272"/>
                <a:gd name="T2" fmla="*/ 2147483646 w 1905"/>
                <a:gd name="T3" fmla="*/ 2147483646 h 272"/>
                <a:gd name="T4" fmla="*/ 2147483646 w 1905"/>
                <a:gd name="T5" fmla="*/ 0 h 272"/>
                <a:gd name="T6" fmla="*/ 2147483646 w 1905"/>
                <a:gd name="T7" fmla="*/ 0 h 272"/>
                <a:gd name="T8" fmla="*/ 2147483646 w 1905"/>
                <a:gd name="T9" fmla="*/ 2147483646 h 272"/>
                <a:gd name="T10" fmla="*/ 2147483646 w 1905"/>
                <a:gd name="T11" fmla="*/ 2147483646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05" h="272">
                  <a:moveTo>
                    <a:pt x="0" y="272"/>
                  </a:moveTo>
                  <a:lnTo>
                    <a:pt x="498" y="272"/>
                  </a:lnTo>
                  <a:lnTo>
                    <a:pt x="498" y="0"/>
                  </a:lnTo>
                  <a:lnTo>
                    <a:pt x="1315" y="0"/>
                  </a:lnTo>
                  <a:lnTo>
                    <a:pt x="1315" y="272"/>
                  </a:lnTo>
                  <a:lnTo>
                    <a:pt x="1905" y="272"/>
                  </a:lnTo>
                </a:path>
              </a:pathLst>
            </a:custGeom>
            <a:noFill/>
            <a:ln w="2540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7" name="Freeform 58">
              <a:extLst>
                <a:ext uri="{FF2B5EF4-FFF2-40B4-BE49-F238E27FC236}">
                  <a16:creationId xmlns:a16="http://schemas.microsoft.com/office/drawing/2014/main" id="{EB640F15-8FBF-0043-8DD6-BCB22373C418}"/>
                </a:ext>
              </a:extLst>
            </p:cNvPr>
            <p:cNvSpPr>
              <a:spLocks/>
            </p:cNvSpPr>
            <p:nvPr/>
          </p:nvSpPr>
          <p:spPr bwMode="auto">
            <a:xfrm>
              <a:off x="5076825" y="4731020"/>
              <a:ext cx="3095625" cy="360363"/>
            </a:xfrm>
            <a:custGeom>
              <a:avLst/>
              <a:gdLst>
                <a:gd name="T0" fmla="*/ 0 w 1950"/>
                <a:gd name="T1" fmla="*/ 2147483646 h 227"/>
                <a:gd name="T2" fmla="*/ 2147483646 w 1950"/>
                <a:gd name="T3" fmla="*/ 2147483646 h 227"/>
                <a:gd name="T4" fmla="*/ 2147483646 w 1950"/>
                <a:gd name="T5" fmla="*/ 0 h 227"/>
                <a:gd name="T6" fmla="*/ 2147483646 w 1950"/>
                <a:gd name="T7" fmla="*/ 2147483646 h 227"/>
                <a:gd name="T8" fmla="*/ 2147483646 w 1950"/>
                <a:gd name="T9" fmla="*/ 2147483646 h 2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0" h="227">
                  <a:moveTo>
                    <a:pt x="0" y="227"/>
                  </a:moveTo>
                  <a:lnTo>
                    <a:pt x="498" y="227"/>
                  </a:lnTo>
                  <a:lnTo>
                    <a:pt x="1315" y="0"/>
                  </a:lnTo>
                  <a:lnTo>
                    <a:pt x="1722" y="225"/>
                  </a:lnTo>
                  <a:lnTo>
                    <a:pt x="1950" y="227"/>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8" name="Text Box 60">
              <a:extLst>
                <a:ext uri="{FF2B5EF4-FFF2-40B4-BE49-F238E27FC236}">
                  <a16:creationId xmlns:a16="http://schemas.microsoft.com/office/drawing/2014/main" id="{CCD7AA77-5F97-4F4F-9D1B-EDBB10430AAF}"/>
                </a:ext>
              </a:extLst>
            </p:cNvPr>
            <p:cNvSpPr txBox="1">
              <a:spLocks noChangeArrowheads="1"/>
            </p:cNvSpPr>
            <p:nvPr/>
          </p:nvSpPr>
          <p:spPr bwMode="auto">
            <a:xfrm>
              <a:off x="7308850" y="4226195"/>
              <a:ext cx="677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latin typeface="Times New Roman" panose="02020603050405020304" pitchFamily="18" charset="0"/>
                </a:rPr>
                <a:t>Switch</a:t>
              </a:r>
              <a:endParaRPr lang="en-US" altLang="en-US" sz="1400">
                <a:latin typeface="Times New Roman" panose="02020603050405020304" pitchFamily="18" charset="0"/>
              </a:endParaRPr>
            </a:p>
          </p:txBody>
        </p:sp>
        <p:sp>
          <p:nvSpPr>
            <p:cNvPr id="17449" name="Text Box 61">
              <a:extLst>
                <a:ext uri="{FF2B5EF4-FFF2-40B4-BE49-F238E27FC236}">
                  <a16:creationId xmlns:a16="http://schemas.microsoft.com/office/drawing/2014/main" id="{DD62EAD3-7367-2142-A0E6-2592E4E79C38}"/>
                </a:ext>
              </a:extLst>
            </p:cNvPr>
            <p:cNvSpPr txBox="1">
              <a:spLocks noChangeArrowheads="1"/>
            </p:cNvSpPr>
            <p:nvPr/>
          </p:nvSpPr>
          <p:spPr bwMode="auto">
            <a:xfrm>
              <a:off x="8061324" y="4616991"/>
              <a:ext cx="8302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dirty="0">
                  <a:latin typeface="Times New Roman" panose="02020603050405020304" pitchFamily="18" charset="0"/>
                </a:rPr>
                <a:t>Inductor </a:t>
              </a:r>
            </a:p>
            <a:p>
              <a:pPr eaLnBrk="1" hangingPunct="1">
                <a:spcBef>
                  <a:spcPct val="0"/>
                </a:spcBef>
                <a:buFontTx/>
                <a:buNone/>
              </a:pPr>
              <a:r>
                <a:rPr lang="en-GB" altLang="en-US" sz="1400" dirty="0">
                  <a:latin typeface="Times New Roman" panose="02020603050405020304" pitchFamily="18" charset="0"/>
                </a:rPr>
                <a:t>current</a:t>
              </a:r>
              <a:endParaRPr lang="en-US" altLang="en-US" sz="1400" dirty="0">
                <a:latin typeface="Times New Roman" panose="02020603050405020304" pitchFamily="18" charset="0"/>
              </a:endParaRPr>
            </a:p>
          </p:txBody>
        </p:sp>
        <p:sp>
          <p:nvSpPr>
            <p:cNvPr id="17450" name="Text Box 62">
              <a:extLst>
                <a:ext uri="{FF2B5EF4-FFF2-40B4-BE49-F238E27FC236}">
                  <a16:creationId xmlns:a16="http://schemas.microsoft.com/office/drawing/2014/main" id="{F6F83187-DF1D-BA42-8131-563E4BAC4574}"/>
                </a:ext>
              </a:extLst>
            </p:cNvPr>
            <p:cNvSpPr txBox="1">
              <a:spLocks noChangeArrowheads="1"/>
            </p:cNvSpPr>
            <p:nvPr/>
          </p:nvSpPr>
          <p:spPr bwMode="auto">
            <a:xfrm>
              <a:off x="7235825" y="5091383"/>
              <a:ext cx="78581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latin typeface="Times New Roman" panose="02020603050405020304" pitchFamily="18" charset="0"/>
                </a:rPr>
                <a:t>Inductor</a:t>
              </a:r>
            </a:p>
            <a:p>
              <a:pPr eaLnBrk="1" hangingPunct="1">
                <a:spcBef>
                  <a:spcPct val="0"/>
                </a:spcBef>
                <a:buFontTx/>
                <a:buNone/>
              </a:pPr>
              <a:r>
                <a:rPr lang="en-GB" altLang="en-US" sz="1400">
                  <a:latin typeface="Times New Roman" panose="02020603050405020304" pitchFamily="18" charset="0"/>
                </a:rPr>
                <a:t>voltage</a:t>
              </a:r>
              <a:endParaRPr lang="en-US" altLang="en-US" sz="1400">
                <a:latin typeface="Times New Roman" panose="02020603050405020304" pitchFamily="18" charset="0"/>
              </a:endParaRPr>
            </a:p>
          </p:txBody>
        </p:sp>
        <p:sp>
          <p:nvSpPr>
            <p:cNvPr id="17451" name="Freeform 64">
              <a:extLst>
                <a:ext uri="{FF2B5EF4-FFF2-40B4-BE49-F238E27FC236}">
                  <a16:creationId xmlns:a16="http://schemas.microsoft.com/office/drawing/2014/main" id="{B8DCBDC0-362C-174D-B99E-3AF6A22EFA18}"/>
                </a:ext>
              </a:extLst>
            </p:cNvPr>
            <p:cNvSpPr>
              <a:spLocks/>
            </p:cNvSpPr>
            <p:nvPr/>
          </p:nvSpPr>
          <p:spPr bwMode="auto">
            <a:xfrm>
              <a:off x="5076825" y="5162820"/>
              <a:ext cx="3024188" cy="504825"/>
            </a:xfrm>
            <a:custGeom>
              <a:avLst/>
              <a:gdLst>
                <a:gd name="T0" fmla="*/ 0 w 1905"/>
                <a:gd name="T1" fmla="*/ 2147483646 h 318"/>
                <a:gd name="T2" fmla="*/ 2147483646 w 1905"/>
                <a:gd name="T3" fmla="*/ 2147483646 h 318"/>
                <a:gd name="T4" fmla="*/ 2147483646 w 1905"/>
                <a:gd name="T5" fmla="*/ 0 h 318"/>
                <a:gd name="T6" fmla="*/ 2147483646 w 1905"/>
                <a:gd name="T7" fmla="*/ 0 h 318"/>
                <a:gd name="T8" fmla="*/ 2147483646 w 1905"/>
                <a:gd name="T9" fmla="*/ 2147483646 h 318"/>
                <a:gd name="T10" fmla="*/ 2147483646 w 1905"/>
                <a:gd name="T11" fmla="*/ 2147483646 h 318"/>
                <a:gd name="T12" fmla="*/ 2147483646 w 1905"/>
                <a:gd name="T13" fmla="*/ 2147483646 h 318"/>
                <a:gd name="T14" fmla="*/ 2147483646 w 1905"/>
                <a:gd name="T15" fmla="*/ 2147483646 h 3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05" h="318">
                  <a:moveTo>
                    <a:pt x="0" y="273"/>
                  </a:moveTo>
                  <a:lnTo>
                    <a:pt x="498" y="273"/>
                  </a:lnTo>
                  <a:lnTo>
                    <a:pt x="498" y="0"/>
                  </a:lnTo>
                  <a:lnTo>
                    <a:pt x="1315" y="0"/>
                  </a:lnTo>
                  <a:lnTo>
                    <a:pt x="1315" y="318"/>
                  </a:lnTo>
                  <a:lnTo>
                    <a:pt x="1723" y="318"/>
                  </a:lnTo>
                  <a:lnTo>
                    <a:pt x="1723" y="273"/>
                  </a:lnTo>
                  <a:lnTo>
                    <a:pt x="1905" y="273"/>
                  </a:lnTo>
                </a:path>
              </a:pathLst>
            </a:custGeom>
            <a:noFill/>
            <a:ln w="25400">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2" name="Text Box 65">
              <a:extLst>
                <a:ext uri="{FF2B5EF4-FFF2-40B4-BE49-F238E27FC236}">
                  <a16:creationId xmlns:a16="http://schemas.microsoft.com/office/drawing/2014/main" id="{3DF81F2B-8BA9-2543-B2D6-95E9F9D30ED6}"/>
                </a:ext>
              </a:extLst>
            </p:cNvPr>
            <p:cNvSpPr txBox="1">
              <a:spLocks noChangeArrowheads="1"/>
            </p:cNvSpPr>
            <p:nvPr/>
          </p:nvSpPr>
          <p:spPr bwMode="auto">
            <a:xfrm>
              <a:off x="5492750" y="5821900"/>
              <a:ext cx="162736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-0.7 V = diode</a:t>
              </a:r>
            </a:p>
            <a:p>
              <a:pPr eaLnBrk="1" hangingPunct="1">
                <a:spcBef>
                  <a:spcPct val="0"/>
                </a:spcBef>
                <a:buFontTx/>
                <a:buNone/>
              </a:pPr>
              <a:r>
                <a:rPr lang="en-GB" altLang="en-US" sz="1800" dirty="0"/>
                <a:t>conduction</a:t>
              </a:r>
            </a:p>
            <a:p>
              <a:pPr eaLnBrk="1" hangingPunct="1">
                <a:spcBef>
                  <a:spcPct val="0"/>
                </a:spcBef>
                <a:buFontTx/>
                <a:buNone/>
              </a:pPr>
              <a:r>
                <a:rPr lang="en-GB" altLang="en-US" sz="1800" dirty="0"/>
                <a:t>voltage drop</a:t>
              </a:r>
              <a:endParaRPr lang="en-US" altLang="en-US" sz="1800" dirty="0"/>
            </a:p>
          </p:txBody>
        </p:sp>
        <p:sp>
          <p:nvSpPr>
            <p:cNvPr id="17453" name="Line 66">
              <a:extLst>
                <a:ext uri="{FF2B5EF4-FFF2-40B4-BE49-F238E27FC236}">
                  <a16:creationId xmlns:a16="http://schemas.microsoft.com/office/drawing/2014/main" id="{5726C246-AB64-2047-B91E-C5F25AC00E57}"/>
                </a:ext>
              </a:extLst>
            </p:cNvPr>
            <p:cNvSpPr>
              <a:spLocks noChangeShapeType="1"/>
            </p:cNvSpPr>
            <p:nvPr/>
          </p:nvSpPr>
          <p:spPr bwMode="auto">
            <a:xfrm flipV="1">
              <a:off x="6503987" y="5763162"/>
              <a:ext cx="731837" cy="15239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 name="TextBox 4">
            <a:extLst>
              <a:ext uri="{FF2B5EF4-FFF2-40B4-BE49-F238E27FC236}">
                <a16:creationId xmlns:a16="http://schemas.microsoft.com/office/drawing/2014/main" id="{03B77321-2E54-8C97-0755-4F80684BF520}"/>
              </a:ext>
            </a:extLst>
          </p:cNvPr>
          <p:cNvSpPr txBox="1">
            <a:spLocks noChangeArrowheads="1"/>
          </p:cNvSpPr>
          <p:nvPr/>
        </p:nvSpPr>
        <p:spPr bwMode="auto">
          <a:xfrm>
            <a:off x="4152899" y="2811736"/>
            <a:ext cx="416401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dirty="0"/>
              <a:t>Sudden Switch Off will result in </a:t>
            </a:r>
            <a:r>
              <a:rPr lang="en-GB" altLang="en-US" sz="1800" dirty="0">
                <a:solidFill>
                  <a:srgbClr val="6666FF"/>
                </a:solidFill>
              </a:rPr>
              <a:t>Voltage Spike, </a:t>
            </a:r>
            <a:r>
              <a:rPr lang="en-GB" altLang="en-US" sz="1800" dirty="0"/>
              <a:t>and</a:t>
            </a:r>
            <a:r>
              <a:rPr lang="en-GB" altLang="en-US" sz="1800" dirty="0">
                <a:solidFill>
                  <a:srgbClr val="6666FF"/>
                </a:solidFill>
              </a:rPr>
              <a:t> Large dv/dt</a:t>
            </a:r>
            <a:r>
              <a:rPr lang="en-GB" altLang="en-US" sz="1800" dirty="0"/>
              <a:t> </a:t>
            </a:r>
          </a:p>
        </p:txBody>
      </p:sp>
      <p:sp>
        <p:nvSpPr>
          <p:cNvPr id="17470" name="TextBox 17469">
            <a:extLst>
              <a:ext uri="{FF2B5EF4-FFF2-40B4-BE49-F238E27FC236}">
                <a16:creationId xmlns:a16="http://schemas.microsoft.com/office/drawing/2014/main" id="{E22D3567-AA7E-3851-0385-FC99C2AB889F}"/>
              </a:ext>
            </a:extLst>
          </p:cNvPr>
          <p:cNvSpPr txBox="1"/>
          <p:nvPr/>
        </p:nvSpPr>
        <p:spPr>
          <a:xfrm>
            <a:off x="142761" y="4219055"/>
            <a:ext cx="4715481" cy="1477328"/>
          </a:xfrm>
          <a:prstGeom prst="rect">
            <a:avLst/>
          </a:prstGeom>
          <a:noFill/>
        </p:spPr>
        <p:txBody>
          <a:bodyPr wrap="square">
            <a:spAutoFit/>
          </a:bodyPr>
          <a:lstStyle/>
          <a:p>
            <a:r>
              <a:rPr lang="en-GB" altLang="en-US" sz="1800" dirty="0">
                <a:solidFill>
                  <a:srgbClr val="FF0000"/>
                </a:solidFill>
              </a:rPr>
              <a:t>It is necessary to provide a return path for the inductor current when the switch is opened, </a:t>
            </a:r>
            <a:r>
              <a:rPr lang="en-GB" altLang="en-US" sz="1800" dirty="0"/>
              <a:t>and this is usually done by adding a diode across the inductor which is called as </a:t>
            </a:r>
            <a:r>
              <a:rPr lang="en-GB" altLang="en-US" sz="1800" dirty="0">
                <a:solidFill>
                  <a:srgbClr val="FF0000"/>
                </a:solidFill>
              </a:rPr>
              <a:t>freewheeling</a:t>
            </a:r>
            <a:r>
              <a:rPr lang="en-GB" altLang="en-US" sz="1800" dirty="0"/>
              <a:t> or </a:t>
            </a:r>
            <a:r>
              <a:rPr lang="en-GB" altLang="en-US" sz="1800" dirty="0">
                <a:solidFill>
                  <a:srgbClr val="FF0000"/>
                </a:solidFill>
              </a:rPr>
              <a:t>flyback</a:t>
            </a:r>
            <a:r>
              <a:rPr lang="en-GB" altLang="en-US" sz="1800" dirty="0"/>
              <a:t> diode.</a:t>
            </a:r>
            <a:endParaRPr lang="en-US" dirty="0"/>
          </a:p>
        </p:txBody>
      </p:sp>
      <p:grpSp>
        <p:nvGrpSpPr>
          <p:cNvPr id="4" name="Group 3">
            <a:extLst>
              <a:ext uri="{FF2B5EF4-FFF2-40B4-BE49-F238E27FC236}">
                <a16:creationId xmlns:a16="http://schemas.microsoft.com/office/drawing/2014/main" id="{C5647BAC-599A-4CC9-DD0F-9866AC2587E5}"/>
              </a:ext>
            </a:extLst>
          </p:cNvPr>
          <p:cNvGrpSpPr/>
          <p:nvPr/>
        </p:nvGrpSpPr>
        <p:grpSpPr>
          <a:xfrm>
            <a:off x="5076825" y="297762"/>
            <a:ext cx="3774937" cy="2770965"/>
            <a:chOff x="5076825" y="379143"/>
            <a:chExt cx="3774937" cy="2770965"/>
          </a:xfrm>
        </p:grpSpPr>
        <p:pic>
          <p:nvPicPr>
            <p:cNvPr id="62" name="Picture 61">
              <a:extLst>
                <a:ext uri="{FF2B5EF4-FFF2-40B4-BE49-F238E27FC236}">
                  <a16:creationId xmlns:a16="http://schemas.microsoft.com/office/drawing/2014/main" id="{4A4D356E-359E-90B1-7540-7B81E3450D04}"/>
                </a:ext>
              </a:extLst>
            </p:cNvPr>
            <p:cNvPicPr>
              <a:picLocks noChangeAspect="1"/>
            </p:cNvPicPr>
            <p:nvPr/>
          </p:nvPicPr>
          <p:blipFill>
            <a:blip r:embed="rId2"/>
            <a:stretch>
              <a:fillRect/>
            </a:stretch>
          </p:blipFill>
          <p:spPr>
            <a:xfrm>
              <a:off x="5076825" y="379143"/>
              <a:ext cx="3774937" cy="2770965"/>
            </a:xfrm>
            <a:prstGeom prst="rect">
              <a:avLst/>
            </a:prstGeom>
          </p:spPr>
        </p:pic>
        <p:sp>
          <p:nvSpPr>
            <p:cNvPr id="2" name="Rectangle 1">
              <a:extLst>
                <a:ext uri="{FF2B5EF4-FFF2-40B4-BE49-F238E27FC236}">
                  <a16:creationId xmlns:a16="http://schemas.microsoft.com/office/drawing/2014/main" id="{A493F33C-B387-8AF6-D55F-6F1519B37C45}"/>
                </a:ext>
              </a:extLst>
            </p:cNvPr>
            <p:cNvSpPr/>
            <p:nvPr/>
          </p:nvSpPr>
          <p:spPr>
            <a:xfrm>
              <a:off x="8445731" y="2811736"/>
              <a:ext cx="149629" cy="2307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B1F4ADE-836C-E78B-FD1F-4A8A4FA68A08}"/>
              </a:ext>
            </a:extLst>
          </p:cNvPr>
          <p:cNvGrpSpPr/>
          <p:nvPr/>
        </p:nvGrpSpPr>
        <p:grpSpPr>
          <a:xfrm>
            <a:off x="296906" y="1783203"/>
            <a:ext cx="3873866" cy="1812875"/>
            <a:chOff x="279033" y="2102349"/>
            <a:chExt cx="3873866" cy="1812875"/>
          </a:xfrm>
        </p:grpSpPr>
        <p:grpSp>
          <p:nvGrpSpPr>
            <p:cNvPr id="11" name="Group 10">
              <a:extLst>
                <a:ext uri="{FF2B5EF4-FFF2-40B4-BE49-F238E27FC236}">
                  <a16:creationId xmlns:a16="http://schemas.microsoft.com/office/drawing/2014/main" id="{4982DD50-DE9C-842F-D39F-0A678C712FBD}"/>
                </a:ext>
              </a:extLst>
            </p:cNvPr>
            <p:cNvGrpSpPr/>
            <p:nvPr/>
          </p:nvGrpSpPr>
          <p:grpSpPr>
            <a:xfrm>
              <a:off x="279033" y="2102349"/>
              <a:ext cx="3873866" cy="1812875"/>
              <a:chOff x="-1053679" y="2663280"/>
              <a:chExt cx="3873866" cy="1812875"/>
            </a:xfrm>
          </p:grpSpPr>
          <p:pic>
            <p:nvPicPr>
              <p:cNvPr id="5" name="Picture 4">
                <a:extLst>
                  <a:ext uri="{FF2B5EF4-FFF2-40B4-BE49-F238E27FC236}">
                    <a16:creationId xmlns:a16="http://schemas.microsoft.com/office/drawing/2014/main" id="{6AAB427D-D50F-FD78-B5B8-BA418484306B}"/>
                  </a:ext>
                </a:extLst>
              </p:cNvPr>
              <p:cNvPicPr>
                <a:picLocks noChangeAspect="1"/>
              </p:cNvPicPr>
              <p:nvPr/>
            </p:nvPicPr>
            <p:blipFill>
              <a:blip r:embed="rId3"/>
              <a:stretch>
                <a:fillRect/>
              </a:stretch>
            </p:blipFill>
            <p:spPr>
              <a:xfrm>
                <a:off x="-1053679" y="2867105"/>
                <a:ext cx="3873866" cy="1609050"/>
              </a:xfrm>
              <a:prstGeom prst="rect">
                <a:avLst/>
              </a:prstGeom>
            </p:spPr>
          </p:pic>
          <p:pic>
            <p:nvPicPr>
              <p:cNvPr id="9" name="Picture 8">
                <a:extLst>
                  <a:ext uri="{FF2B5EF4-FFF2-40B4-BE49-F238E27FC236}">
                    <a16:creationId xmlns:a16="http://schemas.microsoft.com/office/drawing/2014/main" id="{EE56E848-3664-9AA5-47F1-C267F8CD0B35}"/>
                  </a:ext>
                </a:extLst>
              </p:cNvPr>
              <p:cNvPicPr>
                <a:picLocks noChangeAspect="1"/>
              </p:cNvPicPr>
              <p:nvPr/>
            </p:nvPicPr>
            <p:blipFill>
              <a:blip r:embed="rId4"/>
              <a:stretch>
                <a:fillRect/>
              </a:stretch>
            </p:blipFill>
            <p:spPr>
              <a:xfrm>
                <a:off x="430753" y="2663280"/>
                <a:ext cx="905001" cy="1114581"/>
              </a:xfrm>
              <a:prstGeom prst="rect">
                <a:avLst/>
              </a:prstGeom>
            </p:spPr>
          </p:pic>
        </p:grpSp>
        <p:pic>
          <p:nvPicPr>
            <p:cNvPr id="13" name="Picture 12">
              <a:extLst>
                <a:ext uri="{FF2B5EF4-FFF2-40B4-BE49-F238E27FC236}">
                  <a16:creationId xmlns:a16="http://schemas.microsoft.com/office/drawing/2014/main" id="{40251A98-22E4-9271-9126-4877694BD8AD}"/>
                </a:ext>
              </a:extLst>
            </p:cNvPr>
            <p:cNvPicPr>
              <a:picLocks noChangeAspect="1"/>
            </p:cNvPicPr>
            <p:nvPr/>
          </p:nvPicPr>
          <p:blipFill>
            <a:blip r:embed="rId5"/>
            <a:stretch>
              <a:fillRect/>
            </a:stretch>
          </p:blipFill>
          <p:spPr>
            <a:xfrm rot="10800000">
              <a:off x="3719142" y="2987682"/>
              <a:ext cx="209579" cy="771633"/>
            </a:xfrm>
            <a:prstGeom prst="rect">
              <a:avLst/>
            </a:prstGeom>
          </p:spPr>
        </p:pic>
      </p:grpSp>
      <p:grpSp>
        <p:nvGrpSpPr>
          <p:cNvPr id="10" name="Group 9">
            <a:extLst>
              <a:ext uri="{FF2B5EF4-FFF2-40B4-BE49-F238E27FC236}">
                <a16:creationId xmlns:a16="http://schemas.microsoft.com/office/drawing/2014/main" id="{13DC2194-AF61-2969-9696-50FB0B6A6E8B}"/>
              </a:ext>
            </a:extLst>
          </p:cNvPr>
          <p:cNvGrpSpPr/>
          <p:nvPr/>
        </p:nvGrpSpPr>
        <p:grpSpPr>
          <a:xfrm>
            <a:off x="2951657" y="2603006"/>
            <a:ext cx="313060" cy="799091"/>
            <a:chOff x="2933058" y="3042520"/>
            <a:chExt cx="313060" cy="799091"/>
          </a:xfrm>
        </p:grpSpPr>
        <p:grpSp>
          <p:nvGrpSpPr>
            <p:cNvPr id="17437" name="Group 44">
              <a:extLst>
                <a:ext uri="{FF2B5EF4-FFF2-40B4-BE49-F238E27FC236}">
                  <a16:creationId xmlns:a16="http://schemas.microsoft.com/office/drawing/2014/main" id="{A616B161-DECC-8543-82D0-ACFAC30E95C1}"/>
                </a:ext>
              </a:extLst>
            </p:cNvPr>
            <p:cNvGrpSpPr>
              <a:grpSpLocks/>
            </p:cNvGrpSpPr>
            <p:nvPr/>
          </p:nvGrpSpPr>
          <p:grpSpPr bwMode="auto">
            <a:xfrm rot="16200000">
              <a:off x="2951956" y="3353208"/>
              <a:ext cx="140955" cy="178751"/>
              <a:chOff x="1973" y="2160"/>
              <a:chExt cx="136" cy="181"/>
            </a:xfrm>
          </p:grpSpPr>
          <p:sp>
            <p:nvSpPr>
              <p:cNvPr id="17455" name="Line 45">
                <a:extLst>
                  <a:ext uri="{FF2B5EF4-FFF2-40B4-BE49-F238E27FC236}">
                    <a16:creationId xmlns:a16="http://schemas.microsoft.com/office/drawing/2014/main" id="{34241607-0BFE-8141-8F29-279BC675C190}"/>
                  </a:ext>
                </a:extLst>
              </p:cNvPr>
              <p:cNvSpPr>
                <a:spLocks noChangeShapeType="1"/>
              </p:cNvSpPr>
              <p:nvPr/>
            </p:nvSpPr>
            <p:spPr bwMode="auto">
              <a:xfrm>
                <a:off x="1973" y="2160"/>
                <a:ext cx="0" cy="1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6" name="Line 46">
                <a:extLst>
                  <a:ext uri="{FF2B5EF4-FFF2-40B4-BE49-F238E27FC236}">
                    <a16:creationId xmlns:a16="http://schemas.microsoft.com/office/drawing/2014/main" id="{34232978-E887-1F42-A842-C0FCE20481A8}"/>
                  </a:ext>
                </a:extLst>
              </p:cNvPr>
              <p:cNvSpPr>
                <a:spLocks noChangeShapeType="1"/>
              </p:cNvSpPr>
              <p:nvPr/>
            </p:nvSpPr>
            <p:spPr bwMode="auto">
              <a:xfrm flipV="1">
                <a:off x="1973" y="2251"/>
                <a:ext cx="136" cy="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7" name="Line 47">
                <a:extLst>
                  <a:ext uri="{FF2B5EF4-FFF2-40B4-BE49-F238E27FC236}">
                    <a16:creationId xmlns:a16="http://schemas.microsoft.com/office/drawing/2014/main" id="{F970FE47-56DD-F845-B194-A6FE3765CE4F}"/>
                  </a:ext>
                </a:extLst>
              </p:cNvPr>
              <p:cNvSpPr>
                <a:spLocks noChangeShapeType="1"/>
              </p:cNvSpPr>
              <p:nvPr/>
            </p:nvSpPr>
            <p:spPr bwMode="auto">
              <a:xfrm>
                <a:off x="1973" y="2160"/>
                <a:ext cx="136" cy="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8" name="Line 48">
                <a:extLst>
                  <a:ext uri="{FF2B5EF4-FFF2-40B4-BE49-F238E27FC236}">
                    <a16:creationId xmlns:a16="http://schemas.microsoft.com/office/drawing/2014/main" id="{26ACCE5C-7D2E-2348-A6FD-3221D2A535CA}"/>
                  </a:ext>
                </a:extLst>
              </p:cNvPr>
              <p:cNvSpPr>
                <a:spLocks noChangeShapeType="1"/>
              </p:cNvSpPr>
              <p:nvPr/>
            </p:nvSpPr>
            <p:spPr bwMode="auto">
              <a:xfrm>
                <a:off x="2109" y="2160"/>
                <a:ext cx="0" cy="1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438" name="Line 49">
              <a:extLst>
                <a:ext uri="{FF2B5EF4-FFF2-40B4-BE49-F238E27FC236}">
                  <a16:creationId xmlns:a16="http://schemas.microsoft.com/office/drawing/2014/main" id="{EC661B53-8CC2-F04E-A458-704A4D8658F8}"/>
                </a:ext>
              </a:extLst>
            </p:cNvPr>
            <p:cNvSpPr>
              <a:spLocks noChangeShapeType="1"/>
            </p:cNvSpPr>
            <p:nvPr/>
          </p:nvSpPr>
          <p:spPr bwMode="auto">
            <a:xfrm rot="5400000" flipH="1">
              <a:off x="2857147" y="3207313"/>
              <a:ext cx="32958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39" name="Line 50">
              <a:extLst>
                <a:ext uri="{FF2B5EF4-FFF2-40B4-BE49-F238E27FC236}">
                  <a16:creationId xmlns:a16="http://schemas.microsoft.com/office/drawing/2014/main" id="{B0FF5E74-DD70-BA44-B503-6DFE7B384472}"/>
                </a:ext>
              </a:extLst>
            </p:cNvPr>
            <p:cNvSpPr>
              <a:spLocks noChangeShapeType="1"/>
            </p:cNvSpPr>
            <p:nvPr/>
          </p:nvSpPr>
          <p:spPr bwMode="auto">
            <a:xfrm rot="5400000" flipV="1">
              <a:off x="3134029" y="2930430"/>
              <a:ext cx="0" cy="22417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0" name="Line 51">
              <a:extLst>
                <a:ext uri="{FF2B5EF4-FFF2-40B4-BE49-F238E27FC236}">
                  <a16:creationId xmlns:a16="http://schemas.microsoft.com/office/drawing/2014/main" id="{0658F788-85EE-C94C-96A0-CD1862BAE8A3}"/>
                </a:ext>
              </a:extLst>
            </p:cNvPr>
            <p:cNvSpPr>
              <a:spLocks noChangeShapeType="1"/>
            </p:cNvSpPr>
            <p:nvPr/>
          </p:nvSpPr>
          <p:spPr bwMode="auto">
            <a:xfrm rot="5400000">
              <a:off x="2857665" y="3677336"/>
              <a:ext cx="3285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1" name="Line 52">
              <a:extLst>
                <a:ext uri="{FF2B5EF4-FFF2-40B4-BE49-F238E27FC236}">
                  <a16:creationId xmlns:a16="http://schemas.microsoft.com/office/drawing/2014/main" id="{31B4C550-B82D-4B46-88A9-5D5D3DFFF594}"/>
                </a:ext>
              </a:extLst>
            </p:cNvPr>
            <p:cNvSpPr>
              <a:spLocks noChangeShapeType="1"/>
            </p:cNvSpPr>
            <p:nvPr/>
          </p:nvSpPr>
          <p:spPr bwMode="auto">
            <a:xfrm rot="5400000" flipV="1">
              <a:off x="3134029" y="3729521"/>
              <a:ext cx="0" cy="22417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411" name="Text Box 4">
            <a:extLst>
              <a:ext uri="{FF2B5EF4-FFF2-40B4-BE49-F238E27FC236}">
                <a16:creationId xmlns:a16="http://schemas.microsoft.com/office/drawing/2014/main" id="{9459B627-15E5-9447-8F34-94E7BDBF2706}"/>
              </a:ext>
            </a:extLst>
          </p:cNvPr>
          <p:cNvSpPr txBox="1">
            <a:spLocks noChangeArrowheads="1"/>
          </p:cNvSpPr>
          <p:nvPr/>
        </p:nvSpPr>
        <p:spPr bwMode="auto">
          <a:xfrm>
            <a:off x="107949" y="169621"/>
            <a:ext cx="46735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FontTx/>
              <a:buNone/>
            </a:pPr>
            <a:r>
              <a:rPr lang="en-GB" altLang="en-US" sz="1800" dirty="0"/>
              <a:t>When the switch is opened, the inductor tries to maintain the current flowing through it and thus the voltage across the inductor reverses. </a:t>
            </a:r>
            <a:endParaRPr lang="en-US"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4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174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845C364B-7412-5443-89AA-5FEA72C99F81}"/>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05DB474-E82D-5E4E-BBF4-28473B6F409A}" type="slidenum">
              <a:rPr lang="en-US" altLang="en-US" sz="1400"/>
              <a:pPr>
                <a:spcBef>
                  <a:spcPct val="0"/>
                </a:spcBef>
                <a:buFontTx/>
                <a:buNone/>
              </a:pPr>
              <a:t>7</a:t>
            </a:fld>
            <a:endParaRPr lang="en-US" altLang="en-US" sz="1400"/>
          </a:p>
        </p:txBody>
      </p:sp>
      <p:sp>
        <p:nvSpPr>
          <p:cNvPr id="18435" name="Text Box 4">
            <a:extLst>
              <a:ext uri="{FF2B5EF4-FFF2-40B4-BE49-F238E27FC236}">
                <a16:creationId xmlns:a16="http://schemas.microsoft.com/office/drawing/2014/main" id="{8F244EBF-B4D4-6447-AF8D-B14436DC8B67}"/>
              </a:ext>
            </a:extLst>
          </p:cNvPr>
          <p:cNvSpPr txBox="1">
            <a:spLocks noChangeArrowheads="1"/>
          </p:cNvSpPr>
          <p:nvPr/>
        </p:nvSpPr>
        <p:spPr bwMode="auto">
          <a:xfrm>
            <a:off x="107950" y="568702"/>
            <a:ext cx="8856663"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000"/>
              <a:t>The energy stored in an inductor is </a:t>
            </a:r>
            <a:r>
              <a:rPr lang="en-US" altLang="en-US" sz="2000">
                <a:latin typeface="Times New Roman" panose="02020603050405020304" pitchFamily="18" charset="0"/>
                <a:cs typeface="Arial" panose="020B0604020202020204" pitchFamily="34" charset="0"/>
              </a:rPr>
              <a:t>½LI</a:t>
            </a:r>
            <a:r>
              <a:rPr lang="en-US" altLang="en-US" sz="2000" baseline="30000">
                <a:latin typeface="Times New Roman" panose="02020603050405020304" pitchFamily="18" charset="0"/>
                <a:cs typeface="Arial" panose="020B0604020202020204" pitchFamily="34" charset="0"/>
              </a:rPr>
              <a:t>2</a:t>
            </a:r>
            <a:r>
              <a:rPr lang="en-US" altLang="en-US" sz="2000">
                <a:cs typeface="Arial" panose="020B0604020202020204" pitchFamily="34" charset="0"/>
              </a:rPr>
              <a:t>. When current through the inductor is increasing, additional energy is being stored in the magnetic field. If the current is decreasing, then energy is being removed from the magnetic field. Assuming a perfect inductor, the energy (i.e., number of joules) returned to the circuit is exactly the same as was originally added.</a:t>
            </a:r>
          </a:p>
        </p:txBody>
      </p:sp>
      <p:grpSp>
        <p:nvGrpSpPr>
          <p:cNvPr id="18436" name="Group 2">
            <a:extLst>
              <a:ext uri="{FF2B5EF4-FFF2-40B4-BE49-F238E27FC236}">
                <a16:creationId xmlns:a16="http://schemas.microsoft.com/office/drawing/2014/main" id="{982ADF46-6A30-AA43-9A87-1C7C731DE115}"/>
              </a:ext>
            </a:extLst>
          </p:cNvPr>
          <p:cNvGrpSpPr>
            <a:grpSpLocks/>
          </p:cNvGrpSpPr>
          <p:nvPr/>
        </p:nvGrpSpPr>
        <p:grpSpPr bwMode="auto">
          <a:xfrm>
            <a:off x="2971800" y="2260977"/>
            <a:ext cx="3128963" cy="2455863"/>
            <a:chOff x="3124195" y="1993900"/>
            <a:chExt cx="3128963" cy="2455863"/>
          </a:xfrm>
        </p:grpSpPr>
        <p:sp>
          <p:nvSpPr>
            <p:cNvPr id="18438" name="Line 5">
              <a:extLst>
                <a:ext uri="{FF2B5EF4-FFF2-40B4-BE49-F238E27FC236}">
                  <a16:creationId xmlns:a16="http://schemas.microsoft.com/office/drawing/2014/main" id="{39B31F0D-8055-324C-8958-EF174C869CAB}"/>
                </a:ext>
              </a:extLst>
            </p:cNvPr>
            <p:cNvSpPr>
              <a:spLocks noChangeShapeType="1"/>
            </p:cNvSpPr>
            <p:nvPr/>
          </p:nvSpPr>
          <p:spPr bwMode="auto">
            <a:xfrm flipV="1">
              <a:off x="3124195" y="2138363"/>
              <a:ext cx="0" cy="21605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9" name="Line 6">
              <a:extLst>
                <a:ext uri="{FF2B5EF4-FFF2-40B4-BE49-F238E27FC236}">
                  <a16:creationId xmlns:a16="http://schemas.microsoft.com/office/drawing/2014/main" id="{54031BCB-4358-3642-972C-33C387A7A0CB}"/>
                </a:ext>
              </a:extLst>
            </p:cNvPr>
            <p:cNvSpPr>
              <a:spLocks noChangeShapeType="1"/>
            </p:cNvSpPr>
            <p:nvPr/>
          </p:nvSpPr>
          <p:spPr bwMode="auto">
            <a:xfrm>
              <a:off x="3124195" y="4298950"/>
              <a:ext cx="29527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0" name="Freeform 7">
              <a:extLst>
                <a:ext uri="{FF2B5EF4-FFF2-40B4-BE49-F238E27FC236}">
                  <a16:creationId xmlns:a16="http://schemas.microsoft.com/office/drawing/2014/main" id="{801E0478-F3DF-084F-BD54-6C7E4E9E9C65}"/>
                </a:ext>
              </a:extLst>
            </p:cNvPr>
            <p:cNvSpPr>
              <a:spLocks/>
            </p:cNvSpPr>
            <p:nvPr/>
          </p:nvSpPr>
          <p:spPr bwMode="auto">
            <a:xfrm>
              <a:off x="3124195" y="2282825"/>
              <a:ext cx="2665413" cy="2016125"/>
            </a:xfrm>
            <a:custGeom>
              <a:avLst/>
              <a:gdLst>
                <a:gd name="T0" fmla="*/ 0 w 1679"/>
                <a:gd name="T1" fmla="*/ 2147483646 h 1270"/>
                <a:gd name="T2" fmla="*/ 2147483646 w 1679"/>
                <a:gd name="T3" fmla="*/ 0 h 1270"/>
                <a:gd name="T4" fmla="*/ 2147483646 w 1679"/>
                <a:gd name="T5" fmla="*/ 2147483646 h 1270"/>
                <a:gd name="T6" fmla="*/ 0 60000 65536"/>
                <a:gd name="T7" fmla="*/ 0 60000 65536"/>
                <a:gd name="T8" fmla="*/ 0 60000 65536"/>
              </a:gdLst>
              <a:ahLst/>
              <a:cxnLst>
                <a:cxn ang="T6">
                  <a:pos x="T0" y="T1"/>
                </a:cxn>
                <a:cxn ang="T7">
                  <a:pos x="T2" y="T3"/>
                </a:cxn>
                <a:cxn ang="T8">
                  <a:pos x="T4" y="T5"/>
                </a:cxn>
              </a:cxnLst>
              <a:rect l="0" t="0" r="r" b="b"/>
              <a:pathLst>
                <a:path w="1679" h="1270">
                  <a:moveTo>
                    <a:pt x="0" y="1270"/>
                  </a:moveTo>
                  <a:lnTo>
                    <a:pt x="817" y="0"/>
                  </a:lnTo>
                  <a:lnTo>
                    <a:pt x="1679" y="1270"/>
                  </a:lnTo>
                </a:path>
              </a:pathLst>
            </a:custGeom>
            <a:noFill/>
            <a:ln w="254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1" name="Line 8">
              <a:extLst>
                <a:ext uri="{FF2B5EF4-FFF2-40B4-BE49-F238E27FC236}">
                  <a16:creationId xmlns:a16="http://schemas.microsoft.com/office/drawing/2014/main" id="{66F93640-EFE7-9641-B72E-33F8BB739447}"/>
                </a:ext>
              </a:extLst>
            </p:cNvPr>
            <p:cNvSpPr>
              <a:spLocks noChangeShapeType="1"/>
            </p:cNvSpPr>
            <p:nvPr/>
          </p:nvSpPr>
          <p:spPr bwMode="auto">
            <a:xfrm>
              <a:off x="4421183" y="2282825"/>
              <a:ext cx="0" cy="20161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2" name="Text Box 9">
              <a:extLst>
                <a:ext uri="{FF2B5EF4-FFF2-40B4-BE49-F238E27FC236}">
                  <a16:creationId xmlns:a16="http://schemas.microsoft.com/office/drawing/2014/main" id="{195B1FB9-9B0B-DB42-8B08-FEAA6730ABAB}"/>
                </a:ext>
              </a:extLst>
            </p:cNvPr>
            <p:cNvSpPr txBox="1">
              <a:spLocks noChangeArrowheads="1"/>
            </p:cNvSpPr>
            <p:nvPr/>
          </p:nvSpPr>
          <p:spPr bwMode="auto">
            <a:xfrm>
              <a:off x="3549645" y="361315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i="1" dirty="0">
                  <a:latin typeface="Times New Roman" panose="02020603050405020304" pitchFamily="18" charset="0"/>
                </a:rPr>
                <a:t>Energy</a:t>
              </a:r>
            </a:p>
            <a:p>
              <a:pPr algn="ctr" eaLnBrk="1" hangingPunct="1">
                <a:spcBef>
                  <a:spcPct val="0"/>
                </a:spcBef>
                <a:buFontTx/>
                <a:buNone/>
              </a:pPr>
              <a:r>
                <a:rPr lang="en-GB" altLang="en-US" sz="1800" i="1" dirty="0">
                  <a:latin typeface="Times New Roman" panose="02020603050405020304" pitchFamily="18" charset="0"/>
                </a:rPr>
                <a:t>In</a:t>
              </a:r>
              <a:endParaRPr lang="en-US" altLang="en-US" sz="1800" i="1" dirty="0">
                <a:latin typeface="Times New Roman" panose="02020603050405020304" pitchFamily="18" charset="0"/>
              </a:endParaRPr>
            </a:p>
          </p:txBody>
        </p:sp>
        <p:sp>
          <p:nvSpPr>
            <p:cNvPr id="18443" name="Text Box 10">
              <a:extLst>
                <a:ext uri="{FF2B5EF4-FFF2-40B4-BE49-F238E27FC236}">
                  <a16:creationId xmlns:a16="http://schemas.microsoft.com/office/drawing/2014/main" id="{4283E103-FE95-3C4E-BEC1-2BAC038A5B7E}"/>
                </a:ext>
              </a:extLst>
            </p:cNvPr>
            <p:cNvSpPr txBox="1">
              <a:spLocks noChangeArrowheads="1"/>
            </p:cNvSpPr>
            <p:nvPr/>
          </p:nvSpPr>
          <p:spPr bwMode="auto">
            <a:xfrm>
              <a:off x="4421183" y="365125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i="1">
                  <a:latin typeface="Times New Roman" panose="02020603050405020304" pitchFamily="18" charset="0"/>
                </a:rPr>
                <a:t>Energy</a:t>
              </a:r>
            </a:p>
            <a:p>
              <a:pPr algn="ctr" eaLnBrk="1" hangingPunct="1">
                <a:spcBef>
                  <a:spcPct val="0"/>
                </a:spcBef>
                <a:buFontTx/>
                <a:buNone/>
              </a:pPr>
              <a:r>
                <a:rPr lang="en-GB" altLang="en-US" sz="1800" i="1">
                  <a:latin typeface="Times New Roman" panose="02020603050405020304" pitchFamily="18" charset="0"/>
                </a:rPr>
                <a:t>Out</a:t>
              </a:r>
              <a:endParaRPr lang="en-US" altLang="en-US" sz="1800" i="1">
                <a:latin typeface="Times New Roman" panose="02020603050405020304" pitchFamily="18" charset="0"/>
              </a:endParaRPr>
            </a:p>
          </p:txBody>
        </p:sp>
        <p:sp>
          <p:nvSpPr>
            <p:cNvPr id="18444" name="Text Box 11">
              <a:extLst>
                <a:ext uri="{FF2B5EF4-FFF2-40B4-BE49-F238E27FC236}">
                  <a16:creationId xmlns:a16="http://schemas.microsoft.com/office/drawing/2014/main" id="{62F180B0-4532-F443-A6B2-672F9F840E0E}"/>
                </a:ext>
              </a:extLst>
            </p:cNvPr>
            <p:cNvSpPr txBox="1">
              <a:spLocks noChangeArrowheads="1"/>
            </p:cNvSpPr>
            <p:nvPr/>
          </p:nvSpPr>
          <p:spPr bwMode="auto">
            <a:xfrm>
              <a:off x="3197220" y="19939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I</a:t>
              </a:r>
              <a:endParaRPr lang="en-US" altLang="en-US" sz="1800" i="1">
                <a:latin typeface="Times New Roman" panose="02020603050405020304" pitchFamily="18" charset="0"/>
              </a:endParaRPr>
            </a:p>
          </p:txBody>
        </p:sp>
        <p:sp>
          <p:nvSpPr>
            <p:cNvPr id="18445" name="Text Box 12">
              <a:extLst>
                <a:ext uri="{FF2B5EF4-FFF2-40B4-BE49-F238E27FC236}">
                  <a16:creationId xmlns:a16="http://schemas.microsoft.com/office/drawing/2014/main" id="{55623B69-0FD1-C444-B8EE-216ABBBC0843}"/>
                </a:ext>
              </a:extLst>
            </p:cNvPr>
            <p:cNvSpPr txBox="1">
              <a:spLocks noChangeArrowheads="1"/>
            </p:cNvSpPr>
            <p:nvPr/>
          </p:nvSpPr>
          <p:spPr bwMode="auto">
            <a:xfrm>
              <a:off x="6005508" y="4083050"/>
              <a:ext cx="24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t</a:t>
              </a:r>
              <a:endParaRPr lang="en-US" altLang="en-US" sz="1800" i="1">
                <a:latin typeface="Times New Roman" panose="02020603050405020304" pitchFamily="18" charset="0"/>
              </a:endParaRPr>
            </a:p>
          </p:txBody>
        </p:sp>
        <p:sp>
          <p:nvSpPr>
            <p:cNvPr id="18446" name="Rectangle 2">
              <a:extLst>
                <a:ext uri="{FF2B5EF4-FFF2-40B4-BE49-F238E27FC236}">
                  <a16:creationId xmlns:a16="http://schemas.microsoft.com/office/drawing/2014/main" id="{BCEA9A23-BC9F-A442-8FE1-26B4CFB5360D}"/>
                </a:ext>
              </a:extLst>
            </p:cNvPr>
            <p:cNvSpPr>
              <a:spLocks noChangeArrowheads="1"/>
            </p:cNvSpPr>
            <p:nvPr/>
          </p:nvSpPr>
          <p:spPr bwMode="auto">
            <a:xfrm>
              <a:off x="3205158" y="2540000"/>
              <a:ext cx="766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CN" sz="2400" b="1" dirty="0">
                  <a:solidFill>
                    <a:srgbClr val="FF0000"/>
                  </a:solidFill>
                  <a:ea typeface="宋体" panose="02010600030101010101" pitchFamily="2" charset="-122"/>
                </a:rPr>
                <a:t>trap</a:t>
              </a:r>
              <a:endParaRPr lang="en-GB" altLang="en-US" sz="2400" dirty="0"/>
            </a:p>
          </p:txBody>
        </p:sp>
        <p:sp>
          <p:nvSpPr>
            <p:cNvPr id="18447" name="Rectangle 14">
              <a:extLst>
                <a:ext uri="{FF2B5EF4-FFF2-40B4-BE49-F238E27FC236}">
                  <a16:creationId xmlns:a16="http://schemas.microsoft.com/office/drawing/2014/main" id="{DD54BFFB-0000-4B45-979C-59EECD534034}"/>
                </a:ext>
              </a:extLst>
            </p:cNvPr>
            <p:cNvSpPr>
              <a:spLocks noChangeArrowheads="1"/>
            </p:cNvSpPr>
            <p:nvPr/>
          </p:nvSpPr>
          <p:spPr bwMode="auto">
            <a:xfrm>
              <a:off x="5005383" y="2506663"/>
              <a:ext cx="1247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zh-CN" sz="2400" b="1">
                  <a:solidFill>
                    <a:srgbClr val="FF0000"/>
                  </a:solidFill>
                  <a:ea typeface="宋体" panose="02010600030101010101" pitchFamily="2" charset="-122"/>
                </a:rPr>
                <a:t>release</a:t>
              </a:r>
              <a:endParaRPr lang="en-GB" altLang="en-US" sz="2400"/>
            </a:p>
          </p:txBody>
        </p:sp>
      </p:grpSp>
      <p:sp>
        <p:nvSpPr>
          <p:cNvPr id="18437" name="TextBox 1">
            <a:extLst>
              <a:ext uri="{FF2B5EF4-FFF2-40B4-BE49-F238E27FC236}">
                <a16:creationId xmlns:a16="http://schemas.microsoft.com/office/drawing/2014/main" id="{C4EAB8EC-9B79-F046-B26A-E0C7F3F48DA4}"/>
              </a:ext>
            </a:extLst>
          </p:cNvPr>
          <p:cNvSpPr txBox="1">
            <a:spLocks noChangeArrowheads="1"/>
          </p:cNvSpPr>
          <p:nvPr/>
        </p:nvSpPr>
        <p:spPr bwMode="auto">
          <a:xfrm>
            <a:off x="368300" y="4610509"/>
            <a:ext cx="814705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2000" dirty="0"/>
              <a:t>For Power Conversion, </a:t>
            </a:r>
            <a:r>
              <a:rPr lang="en-US" altLang="en-US" sz="2000" dirty="0">
                <a:ea typeface="宋体" panose="02010600030101010101" pitchFamily="2" charset="-122"/>
              </a:rPr>
              <a:t>r</a:t>
            </a:r>
            <a:r>
              <a:rPr lang="en-US" altLang="zh-CN" sz="2000" dirty="0">
                <a:ea typeface="宋体" panose="02010600030101010101" pitchFamily="2" charset="-122"/>
              </a:rPr>
              <a:t>eleased power from energy storage devices is expected to be delivered to the load as much as possible. Dissipative Energy Recovery is not acceptable. </a:t>
            </a:r>
            <a:r>
              <a:rPr lang="en-GB" altLang="en-US" sz="2000" dirty="0"/>
              <a:t> </a:t>
            </a:r>
          </a:p>
          <a:p>
            <a:endParaRPr lang="en-GB" altLang="en-US" sz="2000" dirty="0"/>
          </a:p>
          <a:p>
            <a:pPr algn="ctr"/>
            <a:r>
              <a:rPr lang="en-GB" altLang="en-US" sz="2400" dirty="0">
                <a:solidFill>
                  <a:srgbClr val="FF0000"/>
                </a:solidFill>
              </a:rPr>
              <a:t>We will see how to recover the trapped energy in switch-mode power conversion?</a:t>
            </a:r>
          </a:p>
        </p:txBody>
      </p:sp>
      <p:sp>
        <p:nvSpPr>
          <p:cNvPr id="2" name="Text Box 4">
            <a:extLst>
              <a:ext uri="{FF2B5EF4-FFF2-40B4-BE49-F238E27FC236}">
                <a16:creationId xmlns:a16="http://schemas.microsoft.com/office/drawing/2014/main" id="{F0DD771B-14F2-296B-3BD1-D1E7CEF1D365}"/>
              </a:ext>
            </a:extLst>
          </p:cNvPr>
          <p:cNvSpPr txBox="1">
            <a:spLocks noChangeArrowheads="1"/>
          </p:cNvSpPr>
          <p:nvPr/>
        </p:nvSpPr>
        <p:spPr bwMode="auto">
          <a:xfrm>
            <a:off x="93568" y="137974"/>
            <a:ext cx="44517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solidFill>
                  <a:srgbClr val="FF0000"/>
                </a:solidFill>
              </a:rPr>
              <a:t>Background: Energy in Inductor</a:t>
            </a:r>
            <a:endParaRPr lang="en-GB" altLang="en-US" sz="1800" u="s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845C364B-7412-5443-89AA-5FEA72C99F81}"/>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05DB474-E82D-5E4E-BBF4-28473B6F409A}" type="slidenum">
              <a:rPr lang="en-US" altLang="en-US" sz="1400"/>
              <a:pPr>
                <a:spcBef>
                  <a:spcPct val="0"/>
                </a:spcBef>
                <a:buFontTx/>
                <a:buNone/>
              </a:pPr>
              <a:t>8</a:t>
            </a:fld>
            <a:endParaRPr lang="en-US" altLang="en-US" sz="1400"/>
          </a:p>
        </p:txBody>
      </p:sp>
      <p:sp>
        <p:nvSpPr>
          <p:cNvPr id="18435" name="Text Box 4">
            <a:extLst>
              <a:ext uri="{FF2B5EF4-FFF2-40B4-BE49-F238E27FC236}">
                <a16:creationId xmlns:a16="http://schemas.microsoft.com/office/drawing/2014/main" id="{8F244EBF-B4D4-6447-AF8D-B14436DC8B67}"/>
              </a:ext>
            </a:extLst>
          </p:cNvPr>
          <p:cNvSpPr txBox="1">
            <a:spLocks noChangeArrowheads="1"/>
          </p:cNvSpPr>
          <p:nvPr/>
        </p:nvSpPr>
        <p:spPr bwMode="auto">
          <a:xfrm>
            <a:off x="107950" y="568702"/>
            <a:ext cx="88566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000" dirty="0"/>
              <a:t>With this background knowledge, now we will explore following:</a:t>
            </a:r>
            <a:endParaRPr lang="en-US" altLang="en-US" sz="2000" dirty="0">
              <a:cs typeface="Arial" panose="020B0604020202020204" pitchFamily="34" charset="0"/>
            </a:endParaRPr>
          </a:p>
        </p:txBody>
      </p:sp>
      <p:sp>
        <p:nvSpPr>
          <p:cNvPr id="18437" name="TextBox 1">
            <a:extLst>
              <a:ext uri="{FF2B5EF4-FFF2-40B4-BE49-F238E27FC236}">
                <a16:creationId xmlns:a16="http://schemas.microsoft.com/office/drawing/2014/main" id="{C4EAB8EC-9B79-F046-B26A-E0C7F3F48DA4}"/>
              </a:ext>
            </a:extLst>
          </p:cNvPr>
          <p:cNvSpPr txBox="1">
            <a:spLocks noChangeArrowheads="1"/>
          </p:cNvSpPr>
          <p:nvPr/>
        </p:nvSpPr>
        <p:spPr bwMode="auto">
          <a:xfrm>
            <a:off x="368300" y="1104902"/>
            <a:ext cx="81470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a:buFontTx/>
              <a:buChar char="-"/>
            </a:pPr>
            <a:r>
              <a:rPr lang="en-GB" altLang="en-US" sz="2000" dirty="0"/>
              <a:t>Where we need DC – DC converters?</a:t>
            </a:r>
          </a:p>
          <a:p>
            <a:pPr marL="342900" indent="-342900">
              <a:buFontTx/>
              <a:buChar char="-"/>
            </a:pPr>
            <a:r>
              <a:rPr lang="en-GB" altLang="en-US" sz="2000" dirty="0"/>
              <a:t>Why switched mode DC – DC converter?</a:t>
            </a:r>
          </a:p>
          <a:p>
            <a:pPr marL="342900" indent="-342900">
              <a:buFontTx/>
              <a:buChar char="-"/>
            </a:pPr>
            <a:r>
              <a:rPr lang="en-GB" altLang="en-US" sz="2000" dirty="0"/>
              <a:t>What are different types of DC – DC converter?</a:t>
            </a:r>
          </a:p>
          <a:p>
            <a:pPr marL="1085850" lvl="1" indent="-342900">
              <a:buFontTx/>
              <a:buChar char="-"/>
            </a:pPr>
            <a:r>
              <a:rPr lang="en-GB" altLang="en-US" sz="2000" dirty="0"/>
              <a:t>How they work?</a:t>
            </a:r>
          </a:p>
          <a:p>
            <a:pPr marL="1085850" lvl="1" indent="-342900">
              <a:buFontTx/>
              <a:buChar char="-"/>
            </a:pPr>
            <a:r>
              <a:rPr lang="en-GB" altLang="en-US" sz="2000" dirty="0"/>
              <a:t>Expression for output voltage, average current, etc.</a:t>
            </a:r>
          </a:p>
          <a:p>
            <a:pPr marL="1085850" lvl="1" indent="-342900">
              <a:buFontTx/>
              <a:buChar char="-"/>
            </a:pPr>
            <a:r>
              <a:rPr lang="en-GB" altLang="en-US" sz="2000" dirty="0"/>
              <a:t>Important waveforms </a:t>
            </a:r>
          </a:p>
          <a:p>
            <a:pPr marL="1085850" lvl="1" indent="-342900">
              <a:buFontTx/>
              <a:buChar char="-"/>
            </a:pPr>
            <a:r>
              <a:rPr lang="en-GB" altLang="en-US" sz="2000" dirty="0"/>
              <a:t>Numerical Problems</a:t>
            </a:r>
          </a:p>
          <a:p>
            <a:pPr marL="342900" indent="-342900">
              <a:buFontTx/>
              <a:buChar char="-"/>
            </a:pPr>
            <a:endParaRPr lang="en-GB" altLang="en-US" sz="2000" dirty="0"/>
          </a:p>
          <a:p>
            <a:endParaRPr lang="en-GB" altLang="en-US" sz="2000" dirty="0"/>
          </a:p>
        </p:txBody>
      </p:sp>
    </p:spTree>
    <p:extLst>
      <p:ext uri="{BB962C8B-B14F-4D97-AF65-F5344CB8AC3E}">
        <p14:creationId xmlns:p14="http://schemas.microsoft.com/office/powerpoint/2010/main" val="2085877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3EF3-13A7-1EA9-781F-2F8507D448D3}"/>
            </a:ext>
          </a:extLst>
        </p:cNvPr>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7C00BB23-5D45-2AE1-347C-65BE2E8CA2B2}"/>
              </a:ext>
            </a:extLst>
          </p:cNvPr>
          <p:cNvSpPr>
            <a:spLocks noGrp="1"/>
          </p:cNvSpPr>
          <p:nvPr>
            <p:ph type="sldNum" sz="quarter" idx="12"/>
          </p:nvPr>
        </p:nvSpPr>
        <p:spPr>
          <a:xfrm>
            <a:off x="6521745" y="6424597"/>
            <a:ext cx="2057400" cy="365125"/>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4D87E76-9F9E-5F4B-AEB2-77E7E8913FA1}" type="slidenum">
              <a:rPr lang="en-US" altLang="en-US" sz="1400"/>
              <a:pPr>
                <a:spcBef>
                  <a:spcPct val="0"/>
                </a:spcBef>
                <a:buFontTx/>
                <a:buNone/>
              </a:pPr>
              <a:t>9</a:t>
            </a:fld>
            <a:endParaRPr lang="en-US" altLang="en-US" sz="1400"/>
          </a:p>
        </p:txBody>
      </p:sp>
      <p:sp>
        <p:nvSpPr>
          <p:cNvPr id="6147" name="Text Box 4">
            <a:extLst>
              <a:ext uri="{FF2B5EF4-FFF2-40B4-BE49-F238E27FC236}">
                <a16:creationId xmlns:a16="http://schemas.microsoft.com/office/drawing/2014/main" id="{4CE264E6-A5EB-431F-FD44-3D84622B8B41}"/>
              </a:ext>
            </a:extLst>
          </p:cNvPr>
          <p:cNvSpPr txBox="1">
            <a:spLocks noChangeArrowheads="1"/>
          </p:cNvSpPr>
          <p:nvPr/>
        </p:nvSpPr>
        <p:spPr bwMode="auto">
          <a:xfrm>
            <a:off x="191514" y="4521113"/>
            <a:ext cx="57388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solidFill>
                  <a:srgbClr val="FF0000"/>
                </a:solidFill>
              </a:rPr>
              <a:t>Solution:  DC-DC Converters</a:t>
            </a:r>
            <a:endParaRPr lang="en-GB" altLang="en-US" sz="1800" u="sng" dirty="0">
              <a:solidFill>
                <a:srgbClr val="FF0000"/>
              </a:solidFill>
            </a:endParaRPr>
          </a:p>
        </p:txBody>
      </p:sp>
      <p:sp>
        <p:nvSpPr>
          <p:cNvPr id="3" name="TextBox 2">
            <a:extLst>
              <a:ext uri="{FF2B5EF4-FFF2-40B4-BE49-F238E27FC236}">
                <a16:creationId xmlns:a16="http://schemas.microsoft.com/office/drawing/2014/main" id="{F39581B7-E614-3219-4A8E-7C4CC3FF2C42}"/>
              </a:ext>
            </a:extLst>
          </p:cNvPr>
          <p:cNvSpPr txBox="1"/>
          <p:nvPr/>
        </p:nvSpPr>
        <p:spPr>
          <a:xfrm>
            <a:off x="191514" y="4931279"/>
            <a:ext cx="7716644" cy="646331"/>
          </a:xfrm>
          <a:prstGeom prst="rect">
            <a:avLst/>
          </a:prstGeom>
          <a:noFill/>
        </p:spPr>
        <p:txBody>
          <a:bodyPr wrap="square">
            <a:spAutoFit/>
          </a:bodyPr>
          <a:lstStyle/>
          <a:p>
            <a:r>
              <a:rPr lang="en-US" sz="1800" dirty="0">
                <a:effectLst/>
              </a:rPr>
              <a:t>DC-DC converters are power electronic circuits that convert a dc voltage to a different dc voltage level, often providing a regulated output. </a:t>
            </a:r>
            <a:endParaRPr lang="en-US" dirty="0">
              <a:effectLst/>
            </a:endParaRPr>
          </a:p>
        </p:txBody>
      </p:sp>
      <p:sp>
        <p:nvSpPr>
          <p:cNvPr id="7" name="Text Box 4">
            <a:extLst>
              <a:ext uri="{FF2B5EF4-FFF2-40B4-BE49-F238E27FC236}">
                <a16:creationId xmlns:a16="http://schemas.microsoft.com/office/drawing/2014/main" id="{B867EFC3-7FF7-CE07-D710-2CE9C40FB0F5}"/>
              </a:ext>
            </a:extLst>
          </p:cNvPr>
          <p:cNvSpPr txBox="1">
            <a:spLocks noChangeArrowheads="1"/>
          </p:cNvSpPr>
          <p:nvPr/>
        </p:nvSpPr>
        <p:spPr bwMode="auto">
          <a:xfrm>
            <a:off x="468465" y="5586652"/>
            <a:ext cx="57388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285750" indent="-285750">
              <a:spcBef>
                <a:spcPct val="50000"/>
              </a:spcBef>
            </a:pPr>
            <a:r>
              <a:rPr lang="en-GB" altLang="en-US" sz="1600" b="1" u="sng" dirty="0"/>
              <a:t>Linear DC-DC Converters</a:t>
            </a:r>
            <a:endParaRPr lang="en-GB" altLang="en-US" sz="1600" u="sng" dirty="0"/>
          </a:p>
        </p:txBody>
      </p:sp>
      <p:sp>
        <p:nvSpPr>
          <p:cNvPr id="2" name="Text Box 4">
            <a:extLst>
              <a:ext uri="{FF2B5EF4-FFF2-40B4-BE49-F238E27FC236}">
                <a16:creationId xmlns:a16="http://schemas.microsoft.com/office/drawing/2014/main" id="{6148D7AA-7A39-31B9-157A-7376715CDAB0}"/>
              </a:ext>
            </a:extLst>
          </p:cNvPr>
          <p:cNvSpPr txBox="1">
            <a:spLocks noChangeArrowheads="1"/>
          </p:cNvSpPr>
          <p:nvPr/>
        </p:nvSpPr>
        <p:spPr bwMode="auto">
          <a:xfrm>
            <a:off x="468465" y="6033461"/>
            <a:ext cx="81519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285750" indent="-285750">
              <a:spcBef>
                <a:spcPct val="50000"/>
              </a:spcBef>
            </a:pPr>
            <a:r>
              <a:rPr lang="en-GB" altLang="en-US" sz="1600" b="1" u="sng" dirty="0">
                <a:solidFill>
                  <a:srgbClr val="FF0000"/>
                </a:solidFill>
              </a:rPr>
              <a:t>Switching DC-DC Converters or Switched Mode Power Supplies(SMPS)</a:t>
            </a:r>
          </a:p>
        </p:txBody>
      </p:sp>
      <p:sp>
        <p:nvSpPr>
          <p:cNvPr id="38" name="TextBox 37">
            <a:extLst>
              <a:ext uri="{FF2B5EF4-FFF2-40B4-BE49-F238E27FC236}">
                <a16:creationId xmlns:a16="http://schemas.microsoft.com/office/drawing/2014/main" id="{71455162-8F83-041D-C755-81371416C1E4}"/>
              </a:ext>
            </a:extLst>
          </p:cNvPr>
          <p:cNvSpPr txBox="1"/>
          <p:nvPr/>
        </p:nvSpPr>
        <p:spPr>
          <a:xfrm>
            <a:off x="186526" y="1401739"/>
            <a:ext cx="7949245" cy="646331"/>
          </a:xfrm>
          <a:prstGeom prst="rect">
            <a:avLst/>
          </a:prstGeom>
          <a:noFill/>
        </p:spPr>
        <p:txBody>
          <a:bodyPr wrap="square">
            <a:spAutoFit/>
          </a:bodyPr>
          <a:lstStyle/>
          <a:p>
            <a:r>
              <a:rPr lang="en-US" b="0" i="0" dirty="0">
                <a:solidFill>
                  <a:srgbClr val="202124"/>
                </a:solidFill>
                <a:effectLst/>
                <a:latin typeface="Google Sans"/>
              </a:rPr>
              <a:t>All PC power supplies provide at least </a:t>
            </a:r>
            <a:r>
              <a:rPr lang="en-US" b="0" i="0" dirty="0">
                <a:solidFill>
                  <a:srgbClr val="040C28"/>
                </a:solidFill>
                <a:effectLst/>
                <a:latin typeface="Google Sans"/>
              </a:rPr>
              <a:t>+5VDC, +12VDC, and -12VDC</a:t>
            </a:r>
            <a:r>
              <a:rPr lang="en-US" b="0" i="0" dirty="0">
                <a:solidFill>
                  <a:srgbClr val="202124"/>
                </a:solidFill>
                <a:effectLst/>
                <a:latin typeface="Google Sans"/>
              </a:rPr>
              <a:t>. Some power supplies also provide +3.3VDC, -5VDC</a:t>
            </a:r>
            <a:endParaRPr lang="en-US" dirty="0"/>
          </a:p>
        </p:txBody>
      </p:sp>
      <p:pic>
        <p:nvPicPr>
          <p:cNvPr id="39" name="Picture 5" descr="MVC-003F">
            <a:extLst>
              <a:ext uri="{FF2B5EF4-FFF2-40B4-BE49-F238E27FC236}">
                <a16:creationId xmlns:a16="http://schemas.microsoft.com/office/drawing/2014/main" id="{B5C9B32D-DEB4-A1EC-70CD-7694E8AE5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6984" y="1939957"/>
            <a:ext cx="3033269" cy="227608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2" name="Group 61">
            <a:extLst>
              <a:ext uri="{FF2B5EF4-FFF2-40B4-BE49-F238E27FC236}">
                <a16:creationId xmlns:a16="http://schemas.microsoft.com/office/drawing/2014/main" id="{7A16DF97-DCAF-F0FE-E6DD-C28E6D94EFDA}"/>
              </a:ext>
            </a:extLst>
          </p:cNvPr>
          <p:cNvGrpSpPr/>
          <p:nvPr/>
        </p:nvGrpSpPr>
        <p:grpSpPr>
          <a:xfrm>
            <a:off x="156437" y="2780511"/>
            <a:ext cx="5642216" cy="1044395"/>
            <a:chOff x="156437" y="1961802"/>
            <a:chExt cx="5642216" cy="1044395"/>
          </a:xfrm>
        </p:grpSpPr>
        <p:sp>
          <p:nvSpPr>
            <p:cNvPr id="35" name="Rectangle 34">
              <a:extLst>
                <a:ext uri="{FF2B5EF4-FFF2-40B4-BE49-F238E27FC236}">
                  <a16:creationId xmlns:a16="http://schemas.microsoft.com/office/drawing/2014/main" id="{3CFA6410-62D2-9F40-720B-2735A33E8C40}"/>
                </a:ext>
              </a:extLst>
            </p:cNvPr>
            <p:cNvSpPr/>
            <p:nvPr/>
          </p:nvSpPr>
          <p:spPr>
            <a:xfrm>
              <a:off x="156437" y="2030462"/>
              <a:ext cx="1063256" cy="7533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 Source</a:t>
              </a:r>
            </a:p>
          </p:txBody>
        </p:sp>
        <p:sp>
          <p:nvSpPr>
            <p:cNvPr id="36" name="Rectangle 35">
              <a:extLst>
                <a:ext uri="{FF2B5EF4-FFF2-40B4-BE49-F238E27FC236}">
                  <a16:creationId xmlns:a16="http://schemas.microsoft.com/office/drawing/2014/main" id="{17A2C640-E8D2-0867-55B8-A88B4179C8CD}"/>
                </a:ext>
              </a:extLst>
            </p:cNvPr>
            <p:cNvSpPr/>
            <p:nvPr/>
          </p:nvSpPr>
          <p:spPr>
            <a:xfrm>
              <a:off x="1932444" y="2039412"/>
              <a:ext cx="1063256" cy="7533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Rectifier</a:t>
              </a:r>
            </a:p>
          </p:txBody>
        </p:sp>
        <p:sp>
          <p:nvSpPr>
            <p:cNvPr id="40" name="Rectangle 39">
              <a:extLst>
                <a:ext uri="{FF2B5EF4-FFF2-40B4-BE49-F238E27FC236}">
                  <a16:creationId xmlns:a16="http://schemas.microsoft.com/office/drawing/2014/main" id="{38A4C372-FC5D-623C-4855-9C31230C43D2}"/>
                </a:ext>
              </a:extLst>
            </p:cNvPr>
            <p:cNvSpPr/>
            <p:nvPr/>
          </p:nvSpPr>
          <p:spPr>
            <a:xfrm>
              <a:off x="3641127" y="2030462"/>
              <a:ext cx="1131665" cy="7533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DC-DC Convertor</a:t>
              </a:r>
            </a:p>
          </p:txBody>
        </p:sp>
        <p:cxnSp>
          <p:nvCxnSpPr>
            <p:cNvPr id="42" name="Straight Arrow Connector 41">
              <a:extLst>
                <a:ext uri="{FF2B5EF4-FFF2-40B4-BE49-F238E27FC236}">
                  <a16:creationId xmlns:a16="http://schemas.microsoft.com/office/drawing/2014/main" id="{3999B4F6-5B83-B3D2-B168-31CFF2232404}"/>
                </a:ext>
              </a:extLst>
            </p:cNvPr>
            <p:cNvCxnSpPr>
              <a:cxnSpLocks/>
              <a:stCxn id="35" idx="3"/>
              <a:endCxn id="36" idx="1"/>
            </p:cNvCxnSpPr>
            <p:nvPr/>
          </p:nvCxnSpPr>
          <p:spPr>
            <a:xfrm>
              <a:off x="1219693" y="2407148"/>
              <a:ext cx="712751" cy="89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47862C7-39CD-57E8-87B2-E7A4549B53D3}"/>
                </a:ext>
              </a:extLst>
            </p:cNvPr>
            <p:cNvSpPr txBox="1"/>
            <p:nvPr/>
          </p:nvSpPr>
          <p:spPr>
            <a:xfrm>
              <a:off x="1219693" y="2482977"/>
              <a:ext cx="712752" cy="523220"/>
            </a:xfrm>
            <a:prstGeom prst="rect">
              <a:avLst/>
            </a:prstGeom>
            <a:noFill/>
          </p:spPr>
          <p:txBody>
            <a:bodyPr wrap="square">
              <a:spAutoFit/>
            </a:bodyPr>
            <a:lstStyle/>
            <a:p>
              <a:r>
                <a:rPr lang="en-GB" altLang="en-US" sz="1400" dirty="0"/>
                <a:t>240V</a:t>
              </a:r>
            </a:p>
            <a:p>
              <a:r>
                <a:rPr lang="en-GB" altLang="en-US" sz="1400" dirty="0"/>
                <a:t>mains</a:t>
              </a:r>
              <a:endParaRPr lang="en-US" sz="1400" dirty="0"/>
            </a:p>
          </p:txBody>
        </p:sp>
        <p:cxnSp>
          <p:nvCxnSpPr>
            <p:cNvPr id="47" name="Straight Arrow Connector 46">
              <a:extLst>
                <a:ext uri="{FF2B5EF4-FFF2-40B4-BE49-F238E27FC236}">
                  <a16:creationId xmlns:a16="http://schemas.microsoft.com/office/drawing/2014/main" id="{1C48DB0D-24CA-C7FF-0F35-32BA47AE59EC}"/>
                </a:ext>
              </a:extLst>
            </p:cNvPr>
            <p:cNvCxnSpPr>
              <a:cxnSpLocks/>
            </p:cNvCxnSpPr>
            <p:nvPr/>
          </p:nvCxnSpPr>
          <p:spPr>
            <a:xfrm>
              <a:off x="2995700" y="2429392"/>
              <a:ext cx="6454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B4A2B95-AD5B-1D1E-CFD6-1BCCFD8F3AE1}"/>
                </a:ext>
              </a:extLst>
            </p:cNvPr>
            <p:cNvCxnSpPr>
              <a:cxnSpLocks/>
            </p:cNvCxnSpPr>
            <p:nvPr/>
          </p:nvCxnSpPr>
          <p:spPr>
            <a:xfrm>
              <a:off x="4772792" y="2135224"/>
              <a:ext cx="4930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D3D7206-6356-0BD3-F2BA-C26650952E52}"/>
                </a:ext>
              </a:extLst>
            </p:cNvPr>
            <p:cNvCxnSpPr>
              <a:cxnSpLocks/>
            </p:cNvCxnSpPr>
            <p:nvPr/>
          </p:nvCxnSpPr>
          <p:spPr>
            <a:xfrm>
              <a:off x="4774187" y="2470946"/>
              <a:ext cx="4930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D0BAAF0-2F0B-8ED7-E46F-DE2586C558C7}"/>
                </a:ext>
              </a:extLst>
            </p:cNvPr>
            <p:cNvCxnSpPr>
              <a:cxnSpLocks/>
            </p:cNvCxnSpPr>
            <p:nvPr/>
          </p:nvCxnSpPr>
          <p:spPr>
            <a:xfrm>
              <a:off x="4784820" y="2301822"/>
              <a:ext cx="4930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0A0288B-58B2-595D-1819-7710B812E616}"/>
                </a:ext>
              </a:extLst>
            </p:cNvPr>
            <p:cNvCxnSpPr>
              <a:cxnSpLocks/>
            </p:cNvCxnSpPr>
            <p:nvPr/>
          </p:nvCxnSpPr>
          <p:spPr>
            <a:xfrm>
              <a:off x="4772792" y="2648456"/>
              <a:ext cx="4930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7DF5A115-6EB6-E736-35E4-EA1D6F24C83E}"/>
                </a:ext>
              </a:extLst>
            </p:cNvPr>
            <p:cNvSpPr txBox="1"/>
            <p:nvPr/>
          </p:nvSpPr>
          <p:spPr>
            <a:xfrm>
              <a:off x="5228935" y="1961802"/>
              <a:ext cx="468398" cy="307777"/>
            </a:xfrm>
            <a:prstGeom prst="rect">
              <a:avLst/>
            </a:prstGeom>
            <a:noFill/>
          </p:spPr>
          <p:txBody>
            <a:bodyPr wrap="none" rtlCol="0">
              <a:spAutoFit/>
            </a:bodyPr>
            <a:lstStyle/>
            <a:p>
              <a:r>
                <a:rPr lang="en-US" sz="1400" dirty="0"/>
                <a:t>+5V</a:t>
              </a:r>
              <a:endParaRPr lang="en-US" dirty="0"/>
            </a:p>
          </p:txBody>
        </p:sp>
        <p:sp>
          <p:nvSpPr>
            <p:cNvPr id="58" name="TextBox 57">
              <a:extLst>
                <a:ext uri="{FF2B5EF4-FFF2-40B4-BE49-F238E27FC236}">
                  <a16:creationId xmlns:a16="http://schemas.microsoft.com/office/drawing/2014/main" id="{184EEF98-2D54-0DB7-CC83-02C97F82570D}"/>
                </a:ext>
              </a:extLst>
            </p:cNvPr>
            <p:cNvSpPr txBox="1"/>
            <p:nvPr/>
          </p:nvSpPr>
          <p:spPr>
            <a:xfrm>
              <a:off x="5231198" y="2148050"/>
              <a:ext cx="433132" cy="307777"/>
            </a:xfrm>
            <a:prstGeom prst="rect">
              <a:avLst/>
            </a:prstGeom>
            <a:noFill/>
          </p:spPr>
          <p:txBody>
            <a:bodyPr wrap="none" rtlCol="0">
              <a:spAutoFit/>
            </a:bodyPr>
            <a:lstStyle/>
            <a:p>
              <a:r>
                <a:rPr lang="en-US" sz="1400" dirty="0"/>
                <a:t>-5V</a:t>
              </a:r>
              <a:endParaRPr lang="en-US" dirty="0"/>
            </a:p>
          </p:txBody>
        </p:sp>
        <p:sp>
          <p:nvSpPr>
            <p:cNvPr id="59" name="TextBox 58">
              <a:extLst>
                <a:ext uri="{FF2B5EF4-FFF2-40B4-BE49-F238E27FC236}">
                  <a16:creationId xmlns:a16="http://schemas.microsoft.com/office/drawing/2014/main" id="{6FB98B0E-2ADD-23A3-AF17-E8FD3256DD0E}"/>
                </a:ext>
              </a:extLst>
            </p:cNvPr>
            <p:cNvSpPr txBox="1"/>
            <p:nvPr/>
          </p:nvSpPr>
          <p:spPr>
            <a:xfrm>
              <a:off x="5253713" y="2490653"/>
              <a:ext cx="524503" cy="307777"/>
            </a:xfrm>
            <a:prstGeom prst="rect">
              <a:avLst/>
            </a:prstGeom>
            <a:noFill/>
          </p:spPr>
          <p:txBody>
            <a:bodyPr wrap="none" rtlCol="0">
              <a:spAutoFit/>
            </a:bodyPr>
            <a:lstStyle/>
            <a:p>
              <a:r>
                <a:rPr lang="en-US" sz="1400" dirty="0"/>
                <a:t>-12V</a:t>
              </a:r>
              <a:endParaRPr lang="en-US" dirty="0"/>
            </a:p>
          </p:txBody>
        </p:sp>
        <p:sp>
          <p:nvSpPr>
            <p:cNvPr id="60" name="TextBox 59">
              <a:extLst>
                <a:ext uri="{FF2B5EF4-FFF2-40B4-BE49-F238E27FC236}">
                  <a16:creationId xmlns:a16="http://schemas.microsoft.com/office/drawing/2014/main" id="{6478D147-E2B0-65BB-3B93-780284983DA2}"/>
                </a:ext>
              </a:extLst>
            </p:cNvPr>
            <p:cNvSpPr txBox="1"/>
            <p:nvPr/>
          </p:nvSpPr>
          <p:spPr>
            <a:xfrm>
              <a:off x="5238884" y="2302732"/>
              <a:ext cx="559769" cy="307777"/>
            </a:xfrm>
            <a:prstGeom prst="rect">
              <a:avLst/>
            </a:prstGeom>
            <a:noFill/>
          </p:spPr>
          <p:txBody>
            <a:bodyPr wrap="none" rtlCol="0">
              <a:spAutoFit/>
            </a:bodyPr>
            <a:lstStyle/>
            <a:p>
              <a:r>
                <a:rPr lang="en-US" sz="1400" dirty="0"/>
                <a:t>+12V</a:t>
              </a:r>
              <a:endParaRPr lang="en-US" dirty="0"/>
            </a:p>
          </p:txBody>
        </p:sp>
        <p:sp>
          <p:nvSpPr>
            <p:cNvPr id="61" name="TextBox 60">
              <a:extLst>
                <a:ext uri="{FF2B5EF4-FFF2-40B4-BE49-F238E27FC236}">
                  <a16:creationId xmlns:a16="http://schemas.microsoft.com/office/drawing/2014/main" id="{CF99469B-7EDC-EFFE-C75D-0BDEEBEC0420}"/>
                </a:ext>
              </a:extLst>
            </p:cNvPr>
            <p:cNvSpPr txBox="1"/>
            <p:nvPr/>
          </p:nvSpPr>
          <p:spPr>
            <a:xfrm>
              <a:off x="2954613" y="2555902"/>
              <a:ext cx="766557" cy="276999"/>
            </a:xfrm>
            <a:prstGeom prst="rect">
              <a:avLst/>
            </a:prstGeom>
            <a:noFill/>
          </p:spPr>
          <p:txBody>
            <a:bodyPr wrap="none" rtlCol="0">
              <a:spAutoFit/>
            </a:bodyPr>
            <a:lstStyle/>
            <a:p>
              <a:r>
                <a:rPr lang="en-US" sz="1200" dirty="0"/>
                <a:t>Single DC</a:t>
              </a:r>
            </a:p>
          </p:txBody>
        </p:sp>
      </p:grpSp>
      <p:sp>
        <p:nvSpPr>
          <p:cNvPr id="63" name="Text Box 31">
            <a:extLst>
              <a:ext uri="{FF2B5EF4-FFF2-40B4-BE49-F238E27FC236}">
                <a16:creationId xmlns:a16="http://schemas.microsoft.com/office/drawing/2014/main" id="{57194700-D759-682C-5561-662B52915A5F}"/>
              </a:ext>
            </a:extLst>
          </p:cNvPr>
          <p:cNvSpPr txBox="1">
            <a:spLocks noChangeArrowheads="1"/>
          </p:cNvSpPr>
          <p:nvPr/>
        </p:nvSpPr>
        <p:spPr bwMode="auto">
          <a:xfrm>
            <a:off x="156437" y="614847"/>
            <a:ext cx="8496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In a mobile phone, battery voltage is converted into multiple different DC voltages for the microprocessor, display, </a:t>
            </a:r>
            <a:r>
              <a:rPr lang="en-GB" altLang="en-US" sz="1800" dirty="0">
                <a:solidFill>
                  <a:srgbClr val="FF0000"/>
                </a:solidFill>
              </a:rPr>
              <a:t>RF </a:t>
            </a:r>
            <a:r>
              <a:rPr lang="en-GB" altLang="en-US" sz="1800" dirty="0"/>
              <a:t>amplifier and camera.</a:t>
            </a:r>
            <a:endParaRPr lang="en-US" altLang="en-US" sz="1800" dirty="0"/>
          </a:p>
        </p:txBody>
      </p:sp>
      <p:sp>
        <p:nvSpPr>
          <p:cNvPr id="4" name="Text Box 4">
            <a:extLst>
              <a:ext uri="{FF2B5EF4-FFF2-40B4-BE49-F238E27FC236}">
                <a16:creationId xmlns:a16="http://schemas.microsoft.com/office/drawing/2014/main" id="{4251155C-DE79-3346-B1B0-AC948BDC87CB}"/>
              </a:ext>
            </a:extLst>
          </p:cNvPr>
          <p:cNvSpPr txBox="1">
            <a:spLocks noChangeArrowheads="1"/>
          </p:cNvSpPr>
          <p:nvPr/>
        </p:nvSpPr>
        <p:spPr bwMode="auto">
          <a:xfrm>
            <a:off x="156437" y="125110"/>
            <a:ext cx="57388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None/>
            </a:pPr>
            <a:r>
              <a:rPr lang="en-GB" altLang="en-US" sz="1800" b="1" dirty="0">
                <a:solidFill>
                  <a:srgbClr val="FF0000"/>
                </a:solidFill>
              </a:rPr>
              <a:t>Where we need DC – DC converters</a:t>
            </a:r>
            <a:endParaRPr lang="en-GB" altLang="en-US" sz="1800" b="1" u="sng" dirty="0">
              <a:solidFill>
                <a:srgbClr val="FF0000"/>
              </a:solidFill>
            </a:endParaRPr>
          </a:p>
        </p:txBody>
      </p:sp>
    </p:spTree>
    <p:extLst>
      <p:ext uri="{BB962C8B-B14F-4D97-AF65-F5344CB8AC3E}">
        <p14:creationId xmlns:p14="http://schemas.microsoft.com/office/powerpoint/2010/main" val="47225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p:bldP spid="3" grpId="0"/>
      <p:bldP spid="7"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22CBE70E-F5B6-FC49-B7D2-C8B59D3C0EC2}"/>
              </a:ext>
            </a:extLst>
          </p:cNvPr>
          <p:cNvSpPr>
            <a:spLocks noGrp="1"/>
          </p:cNvSpPr>
          <p:nvPr>
            <p:ph type="sldNum" sz="quarter" idx="12"/>
          </p:nvPr>
        </p:nvSpPr>
        <p:spPr>
          <a:xfrm>
            <a:off x="6856534" y="6420833"/>
            <a:ext cx="2057400" cy="365125"/>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4D87E76-9F9E-5F4B-AEB2-77E7E8913FA1}" type="slidenum">
              <a:rPr lang="en-US" altLang="en-US" sz="1400"/>
              <a:pPr>
                <a:spcBef>
                  <a:spcPct val="0"/>
                </a:spcBef>
                <a:buFontTx/>
                <a:buNone/>
              </a:pPr>
              <a:t>10</a:t>
            </a:fld>
            <a:endParaRPr lang="en-US" altLang="en-US" sz="1400" dirty="0"/>
          </a:p>
        </p:txBody>
      </p:sp>
      <p:pic>
        <p:nvPicPr>
          <p:cNvPr id="4" name="Picture 3">
            <a:extLst>
              <a:ext uri="{FF2B5EF4-FFF2-40B4-BE49-F238E27FC236}">
                <a16:creationId xmlns:a16="http://schemas.microsoft.com/office/drawing/2014/main" id="{5462AA40-C4E6-F971-EDE3-414DD962968A}"/>
              </a:ext>
            </a:extLst>
          </p:cNvPr>
          <p:cNvPicPr>
            <a:picLocks noChangeAspect="1"/>
          </p:cNvPicPr>
          <p:nvPr/>
        </p:nvPicPr>
        <p:blipFill>
          <a:blip r:embed="rId2"/>
          <a:stretch>
            <a:fillRect/>
          </a:stretch>
        </p:blipFill>
        <p:spPr>
          <a:xfrm>
            <a:off x="2207321" y="1704529"/>
            <a:ext cx="4250628" cy="1428562"/>
          </a:xfrm>
          <a:prstGeom prst="rect">
            <a:avLst/>
          </a:prstGeom>
        </p:spPr>
      </p:pic>
      <p:sp>
        <p:nvSpPr>
          <p:cNvPr id="6" name="TextBox 5">
            <a:extLst>
              <a:ext uri="{FF2B5EF4-FFF2-40B4-BE49-F238E27FC236}">
                <a16:creationId xmlns:a16="http://schemas.microsoft.com/office/drawing/2014/main" id="{0832418A-C505-411B-CB1A-7090182FEF35}"/>
              </a:ext>
            </a:extLst>
          </p:cNvPr>
          <p:cNvSpPr txBox="1"/>
          <p:nvPr/>
        </p:nvSpPr>
        <p:spPr>
          <a:xfrm>
            <a:off x="366132" y="3294914"/>
            <a:ext cx="7716643" cy="923330"/>
          </a:xfrm>
          <a:prstGeom prst="rect">
            <a:avLst/>
          </a:prstGeom>
          <a:noFill/>
        </p:spPr>
        <p:txBody>
          <a:bodyPr wrap="square">
            <a:spAutoFit/>
          </a:bodyPr>
          <a:lstStyle/>
          <a:p>
            <a:pPr algn="just"/>
            <a:r>
              <a:rPr lang="en-US" sz="1800" dirty="0">
                <a:effectLst/>
              </a:rPr>
              <a:t>- This type of circuit is called a linear dc-dc converter or a linear regulator because the transistor operates in the linear region, rather than in the saturation or cutoff regions. </a:t>
            </a:r>
          </a:p>
        </p:txBody>
      </p:sp>
      <p:sp>
        <p:nvSpPr>
          <p:cNvPr id="7" name="Text Box 4">
            <a:extLst>
              <a:ext uri="{FF2B5EF4-FFF2-40B4-BE49-F238E27FC236}">
                <a16:creationId xmlns:a16="http://schemas.microsoft.com/office/drawing/2014/main" id="{C4F55C9B-9B2F-F6E1-CE12-20E65223D818}"/>
              </a:ext>
            </a:extLst>
          </p:cNvPr>
          <p:cNvSpPr txBox="1">
            <a:spLocks noChangeArrowheads="1"/>
          </p:cNvSpPr>
          <p:nvPr/>
        </p:nvSpPr>
        <p:spPr bwMode="auto">
          <a:xfrm>
            <a:off x="215899" y="739816"/>
            <a:ext cx="57388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solidFill>
                  <a:srgbClr val="FF0000"/>
                </a:solidFill>
              </a:rPr>
              <a:t>Linear DC-DC Converters</a:t>
            </a:r>
            <a:endParaRPr lang="en-GB" altLang="en-US" sz="1800" u="sng" dirty="0"/>
          </a:p>
        </p:txBody>
      </p:sp>
      <p:sp>
        <p:nvSpPr>
          <p:cNvPr id="9" name="TextBox 8">
            <a:extLst>
              <a:ext uri="{FF2B5EF4-FFF2-40B4-BE49-F238E27FC236}">
                <a16:creationId xmlns:a16="http://schemas.microsoft.com/office/drawing/2014/main" id="{58BA7356-3547-A5A5-7731-D5C56E702D7E}"/>
              </a:ext>
            </a:extLst>
          </p:cNvPr>
          <p:cNvSpPr txBox="1"/>
          <p:nvPr/>
        </p:nvSpPr>
        <p:spPr>
          <a:xfrm>
            <a:off x="215899" y="1142948"/>
            <a:ext cx="8017110" cy="646331"/>
          </a:xfrm>
          <a:prstGeom prst="rect">
            <a:avLst/>
          </a:prstGeom>
          <a:noFill/>
        </p:spPr>
        <p:txBody>
          <a:bodyPr wrap="square">
            <a:spAutoFit/>
          </a:bodyPr>
          <a:lstStyle>
            <a:defPPr>
              <a:defRPr lang="en-US"/>
            </a:defPPr>
            <a:lvl1pPr algn="just">
              <a:defRPr>
                <a:effectLst/>
              </a:defRPr>
            </a:lvl1pPr>
          </a:lstStyle>
          <a:p>
            <a:r>
              <a:rPr lang="en-US" dirty="0"/>
              <a:t>By adjusting the transistor base current, the output voltage may be controlled over a range of 0 to roughly Vs. </a:t>
            </a:r>
          </a:p>
        </p:txBody>
      </p:sp>
      <p:sp>
        <p:nvSpPr>
          <p:cNvPr id="10" name="TextBox 9">
            <a:extLst>
              <a:ext uri="{FF2B5EF4-FFF2-40B4-BE49-F238E27FC236}">
                <a16:creationId xmlns:a16="http://schemas.microsoft.com/office/drawing/2014/main" id="{FC048008-4259-D698-61B7-B3C258B0D74E}"/>
              </a:ext>
            </a:extLst>
          </p:cNvPr>
          <p:cNvSpPr txBox="1"/>
          <p:nvPr/>
        </p:nvSpPr>
        <p:spPr>
          <a:xfrm rot="19349061">
            <a:off x="1319066" y="2393141"/>
            <a:ext cx="6074685" cy="584775"/>
          </a:xfrm>
          <a:prstGeom prst="rect">
            <a:avLst/>
          </a:prstGeom>
          <a:noFill/>
        </p:spPr>
        <p:txBody>
          <a:bodyPr wrap="square" rtlCol="0">
            <a:spAutoFit/>
          </a:bodyPr>
          <a:lstStyle/>
          <a:p>
            <a:r>
              <a:rPr lang="en-US" sz="3200" b="1" dirty="0">
                <a:solidFill>
                  <a:srgbClr val="FF0000"/>
                </a:solidFill>
              </a:rPr>
              <a:t>Alternative is Switching Converters</a:t>
            </a:r>
          </a:p>
        </p:txBody>
      </p:sp>
      <p:sp>
        <p:nvSpPr>
          <p:cNvPr id="3" name="TextBox 2">
            <a:extLst>
              <a:ext uri="{FF2B5EF4-FFF2-40B4-BE49-F238E27FC236}">
                <a16:creationId xmlns:a16="http://schemas.microsoft.com/office/drawing/2014/main" id="{E65210C1-FB24-C21A-D671-DC0DF4376F27}"/>
              </a:ext>
            </a:extLst>
          </p:cNvPr>
          <p:cNvSpPr txBox="1"/>
          <p:nvPr/>
        </p:nvSpPr>
        <p:spPr>
          <a:xfrm>
            <a:off x="215898" y="166663"/>
            <a:ext cx="5346701" cy="461665"/>
          </a:xfrm>
          <a:prstGeom prst="rect">
            <a:avLst/>
          </a:prstGeom>
          <a:noFill/>
        </p:spPr>
        <p:txBody>
          <a:bodyPr wrap="square">
            <a:spAutoFit/>
          </a:bodyPr>
          <a:lstStyle/>
          <a:p>
            <a:r>
              <a:rPr lang="en-GB" altLang="en-US" sz="2400" b="1" dirty="0">
                <a:solidFill>
                  <a:srgbClr val="FF0000"/>
                </a:solidFill>
              </a:rPr>
              <a:t>Why switched mode DC – DC converter</a:t>
            </a:r>
            <a:endParaRPr lang="en-US" sz="2400" b="1" dirty="0">
              <a:solidFill>
                <a:srgbClr val="FF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C0E34F0-1152-6CF0-19AF-8466D673395C}"/>
                  </a:ext>
                </a:extLst>
              </p:cNvPr>
              <p:cNvSpPr txBox="1"/>
              <p:nvPr/>
            </p:nvSpPr>
            <p:spPr>
              <a:xfrm>
                <a:off x="366132" y="5545257"/>
                <a:ext cx="7509344" cy="646331"/>
              </a:xfrm>
              <a:prstGeom prst="rect">
                <a:avLst/>
              </a:prstGeom>
              <a:noFill/>
            </p:spPr>
            <p:txBody>
              <a:bodyPr wrap="square">
                <a:spAutoFit/>
              </a:bodyPr>
              <a:lstStyle/>
              <a:p>
                <a:r>
                  <a:rPr lang="en-US" dirty="0"/>
                  <a:t>-   If </a:t>
                </a:r>
                <a14:m>
                  <m:oMath xmlns:m="http://schemas.openxmlformats.org/officeDocument/2006/math">
                    <m:sSub>
                      <m:sSubPr>
                        <m:ctrlPr>
                          <a:rPr lang="en-US" i="1" smtClean="0">
                            <a:effectLst/>
                            <a:latin typeface="Cambria Math" panose="02040503050406030204" pitchFamily="18" charset="0"/>
                          </a:rPr>
                        </m:ctrlPr>
                      </m:sSubPr>
                      <m:e>
                        <m:r>
                          <a:rPr lang="en-GB" b="0" i="1" smtClean="0">
                            <a:effectLst/>
                            <a:latin typeface="Cambria Math" panose="02040503050406030204" pitchFamily="18" charset="0"/>
                          </a:rPr>
                          <m:t>𝑉</m:t>
                        </m:r>
                      </m:e>
                      <m:sub>
                        <m:r>
                          <a:rPr lang="en-GB" b="0" i="1" smtClean="0">
                            <a:effectLst/>
                            <a:latin typeface="Cambria Math" panose="02040503050406030204" pitchFamily="18" charset="0"/>
                          </a:rPr>
                          <m:t>𝑜</m:t>
                        </m:r>
                      </m:sub>
                    </m:sSub>
                  </m:oMath>
                </a14:m>
                <a:r>
                  <a:rPr lang="en-US" dirty="0">
                    <a:effectLst/>
                  </a:rPr>
                  <a:t> = 0.25 </a:t>
                </a:r>
                <a14:m>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b="0" i="1" smtClean="0">
                            <a:latin typeface="Cambria Math" panose="02040503050406030204" pitchFamily="18" charset="0"/>
                          </a:rPr>
                          <m:t>𝑠</m:t>
                        </m:r>
                      </m:sub>
                    </m:sSub>
                  </m:oMath>
                </a14:m>
                <a:r>
                  <a:rPr lang="en-US" dirty="0">
                    <a:effectLst/>
                  </a:rPr>
                  <a:t> then transistor will absorb 75% of power (low output voltage low efficiency)</a:t>
                </a:r>
                <a:endParaRPr lang="en-GB" dirty="0"/>
              </a:p>
            </p:txBody>
          </p:sp>
        </mc:Choice>
        <mc:Fallback xmlns="">
          <p:sp>
            <p:nvSpPr>
              <p:cNvPr id="5" name="TextBox 4">
                <a:extLst>
                  <a:ext uri="{FF2B5EF4-FFF2-40B4-BE49-F238E27FC236}">
                    <a16:creationId xmlns:a16="http://schemas.microsoft.com/office/drawing/2014/main" id="{3C0E34F0-1152-6CF0-19AF-8466D673395C}"/>
                  </a:ext>
                </a:extLst>
              </p:cNvPr>
              <p:cNvSpPr txBox="1">
                <a:spLocks noRot="1" noChangeAspect="1" noMove="1" noResize="1" noEditPoints="1" noAdjustHandles="1" noChangeArrowheads="1" noChangeShapeType="1" noTextEdit="1"/>
              </p:cNvSpPr>
              <p:nvPr/>
            </p:nvSpPr>
            <p:spPr>
              <a:xfrm>
                <a:off x="366132" y="5545257"/>
                <a:ext cx="7509344" cy="646331"/>
              </a:xfrm>
              <a:prstGeom prst="rect">
                <a:avLst/>
              </a:prstGeom>
              <a:blipFill>
                <a:blip r:embed="rId3"/>
                <a:stretch>
                  <a:fillRect l="-649" t="-5660"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6F657FE-30B3-19B5-86BC-2C442D66F598}"/>
                  </a:ext>
                </a:extLst>
              </p:cNvPr>
              <p:cNvSpPr txBox="1"/>
              <p:nvPr/>
            </p:nvSpPr>
            <p:spPr>
              <a:xfrm>
                <a:off x="366133" y="4339257"/>
                <a:ext cx="7716642" cy="923330"/>
              </a:xfrm>
              <a:prstGeom prst="rect">
                <a:avLst/>
              </a:prstGeom>
              <a:noFill/>
            </p:spPr>
            <p:txBody>
              <a:bodyPr wrap="square">
                <a:spAutoFit/>
              </a:bodyPr>
              <a:lstStyle/>
              <a:p>
                <a:pPr algn="just"/>
                <a:r>
                  <a:rPr lang="en-US" dirty="0">
                    <a:effectLst/>
                  </a:rPr>
                  <a:t>- Low efficiency of this circuit is a serious drawback for power applications.</a:t>
                </a:r>
              </a:p>
              <a:p>
                <a:pPr lvl="2" algn="just"/>
                <a:r>
                  <a:rPr lang="en-US" dirty="0"/>
                  <a:t>- P</a:t>
                </a:r>
                <a:r>
                  <a:rPr lang="en-US" dirty="0">
                    <a:effectLst/>
                  </a:rPr>
                  <a:t>ower absorbed by the load is </a:t>
                </a:r>
                <a14:m>
                  <m:oMath xmlns:m="http://schemas.openxmlformats.org/officeDocument/2006/math">
                    <m:sSub>
                      <m:sSubPr>
                        <m:ctrlPr>
                          <a:rPr lang="en-US" i="1" smtClean="0">
                            <a:effectLst/>
                            <a:latin typeface="Cambria Math" panose="02040503050406030204" pitchFamily="18" charset="0"/>
                          </a:rPr>
                        </m:ctrlPr>
                      </m:sSubPr>
                      <m:e>
                        <m:r>
                          <a:rPr lang="en-GB" b="0" i="1" smtClean="0">
                            <a:effectLst/>
                            <a:latin typeface="Cambria Math" panose="02040503050406030204" pitchFamily="18" charset="0"/>
                          </a:rPr>
                          <m:t>𝑉</m:t>
                        </m:r>
                      </m:e>
                      <m:sub>
                        <m:r>
                          <a:rPr lang="en-GB" b="0" i="1" smtClean="0">
                            <a:effectLst/>
                            <a:latin typeface="Cambria Math" panose="02040503050406030204" pitchFamily="18" charset="0"/>
                          </a:rPr>
                          <m:t>𝑜</m:t>
                        </m:r>
                      </m:sub>
                    </m:sSub>
                    <m:sSub>
                      <m:sSubPr>
                        <m:ctrlPr>
                          <a:rPr lang="en-US"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𝐿</m:t>
                        </m:r>
                      </m:sub>
                    </m:sSub>
                  </m:oMath>
                </a14:m>
                <a:endParaRPr lang="en-US" dirty="0">
                  <a:effectLst/>
                </a:endParaRPr>
              </a:p>
              <a:p>
                <a:pPr lvl="2" algn="just"/>
                <a:r>
                  <a:rPr lang="en-US" dirty="0">
                    <a:effectLst/>
                  </a:rPr>
                  <a:t>- </a:t>
                </a:r>
                <a:r>
                  <a:rPr lang="en-US" dirty="0"/>
                  <a:t>P</a:t>
                </a:r>
                <a:r>
                  <a:rPr lang="en-US" dirty="0">
                    <a:effectLst/>
                  </a:rPr>
                  <a:t>ower absorbed by the transistor is </a:t>
                </a:r>
                <a14:m>
                  <m:oMath xmlns:m="http://schemas.openxmlformats.org/officeDocument/2006/math">
                    <m:sSub>
                      <m:sSubPr>
                        <m:ctrlPr>
                          <a:rPr lang="en-US" i="1" smtClean="0">
                            <a:effectLst/>
                            <a:latin typeface="Cambria Math" panose="02040503050406030204" pitchFamily="18" charset="0"/>
                          </a:rPr>
                        </m:ctrlPr>
                      </m:sSubPr>
                      <m:e>
                        <m:r>
                          <a:rPr lang="en-GB" b="0" i="1" smtClean="0">
                            <a:effectLst/>
                            <a:latin typeface="Cambria Math" panose="02040503050406030204" pitchFamily="18" charset="0"/>
                          </a:rPr>
                          <m:t>𝑉</m:t>
                        </m:r>
                      </m:e>
                      <m:sub>
                        <m:r>
                          <a:rPr lang="en-GB" b="0" i="1" smtClean="0">
                            <a:effectLst/>
                            <a:latin typeface="Cambria Math" panose="02040503050406030204" pitchFamily="18" charset="0"/>
                          </a:rPr>
                          <m:t>𝐶𝐸</m:t>
                        </m:r>
                      </m:sub>
                    </m:sSub>
                    <m:sSub>
                      <m:sSubPr>
                        <m:ctrlPr>
                          <a:rPr lang="en-US"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𝐿</m:t>
                        </m:r>
                      </m:sub>
                    </m:sSub>
                  </m:oMath>
                </a14:m>
                <a:endParaRPr lang="en-US" dirty="0">
                  <a:effectLst/>
                </a:endParaRPr>
              </a:p>
            </p:txBody>
          </p:sp>
        </mc:Choice>
        <mc:Fallback xmlns="">
          <p:sp>
            <p:nvSpPr>
              <p:cNvPr id="11" name="TextBox 10">
                <a:extLst>
                  <a:ext uri="{FF2B5EF4-FFF2-40B4-BE49-F238E27FC236}">
                    <a16:creationId xmlns:a16="http://schemas.microsoft.com/office/drawing/2014/main" id="{E6F657FE-30B3-19B5-86BC-2C442D66F598}"/>
                  </a:ext>
                </a:extLst>
              </p:cNvPr>
              <p:cNvSpPr txBox="1">
                <a:spLocks noRot="1" noChangeAspect="1" noMove="1" noResize="1" noEditPoints="1" noAdjustHandles="1" noChangeArrowheads="1" noChangeShapeType="1" noTextEdit="1"/>
              </p:cNvSpPr>
              <p:nvPr/>
            </p:nvSpPr>
            <p:spPr>
              <a:xfrm>
                <a:off x="366133" y="4339257"/>
                <a:ext cx="7716642" cy="923330"/>
              </a:xfrm>
              <a:prstGeom prst="rect">
                <a:avLst/>
              </a:prstGeom>
              <a:blipFill>
                <a:blip r:embed="rId4"/>
                <a:stretch>
                  <a:fillRect l="-632" t="-3974" b="-9934"/>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5"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ED139-F1BD-DA62-5611-40696E829CEA}"/>
            </a:ext>
          </a:extLst>
        </p:cNvPr>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69D0CD63-4505-6E4A-1FD0-7BD4C50C3A89}"/>
              </a:ext>
            </a:extLst>
          </p:cNvPr>
          <p:cNvSpPr>
            <a:spLocks noGrp="1"/>
          </p:cNvSpPr>
          <p:nvPr>
            <p:ph type="sldNum" sz="quarter" idx="12"/>
          </p:nvPr>
        </p:nvSpPr>
        <p:spPr>
          <a:xfrm>
            <a:off x="6995066" y="6492875"/>
            <a:ext cx="2057400" cy="365125"/>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4D87E76-9F9E-5F4B-AEB2-77E7E8913FA1}" type="slidenum">
              <a:rPr lang="en-US" altLang="en-US" sz="1400"/>
              <a:pPr>
                <a:spcBef>
                  <a:spcPct val="0"/>
                </a:spcBef>
                <a:buFontTx/>
                <a:buNone/>
              </a:pPr>
              <a:t>11</a:t>
            </a:fld>
            <a:endParaRPr lang="en-US" altLang="en-US" sz="1400"/>
          </a:p>
        </p:txBody>
      </p:sp>
      <p:sp>
        <p:nvSpPr>
          <p:cNvPr id="7" name="Text Box 4">
            <a:extLst>
              <a:ext uri="{FF2B5EF4-FFF2-40B4-BE49-F238E27FC236}">
                <a16:creationId xmlns:a16="http://schemas.microsoft.com/office/drawing/2014/main" id="{963991E0-0717-E1A7-6550-E5D783E3DE02}"/>
              </a:ext>
            </a:extLst>
          </p:cNvPr>
          <p:cNvSpPr txBox="1">
            <a:spLocks noChangeArrowheads="1"/>
          </p:cNvSpPr>
          <p:nvPr/>
        </p:nvSpPr>
        <p:spPr bwMode="auto">
          <a:xfrm>
            <a:off x="215898" y="737087"/>
            <a:ext cx="81731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solidFill>
                  <a:srgbClr val="FF0000"/>
                </a:solidFill>
              </a:rPr>
              <a:t>Switching DC-DC Converters or </a:t>
            </a:r>
            <a:r>
              <a:rPr lang="en-GB" altLang="en-US" sz="1800" b="1" u="sng" dirty="0"/>
              <a:t>Switched Mode Power Supplies(SMPS)</a:t>
            </a:r>
            <a:endParaRPr lang="en-GB" altLang="en-US" sz="1800" u="sng" dirty="0"/>
          </a:p>
        </p:txBody>
      </p:sp>
      <p:sp>
        <p:nvSpPr>
          <p:cNvPr id="9" name="TextBox 8">
            <a:extLst>
              <a:ext uri="{FF2B5EF4-FFF2-40B4-BE49-F238E27FC236}">
                <a16:creationId xmlns:a16="http://schemas.microsoft.com/office/drawing/2014/main" id="{09F78E53-F49F-873D-8AE4-B4EB6BDC2E19}"/>
              </a:ext>
            </a:extLst>
          </p:cNvPr>
          <p:cNvSpPr txBox="1"/>
          <p:nvPr/>
        </p:nvSpPr>
        <p:spPr>
          <a:xfrm>
            <a:off x="215899" y="1102496"/>
            <a:ext cx="8017110" cy="923330"/>
          </a:xfrm>
          <a:prstGeom prst="rect">
            <a:avLst/>
          </a:prstGeom>
          <a:noFill/>
        </p:spPr>
        <p:txBody>
          <a:bodyPr wrap="square">
            <a:spAutoFit/>
          </a:bodyPr>
          <a:lstStyle>
            <a:defPPr>
              <a:defRPr lang="en-US"/>
            </a:defPPr>
            <a:lvl1pPr algn="just">
              <a:defRPr>
                <a:effectLst/>
              </a:defRPr>
            </a:lvl1pPr>
          </a:lstStyle>
          <a:p>
            <a:r>
              <a:rPr lang="en-US" dirty="0"/>
              <a:t>In a switching converter circuit, the transistor operates as an electronic switch by being completely </a:t>
            </a:r>
            <a:r>
              <a:rPr lang="en-US" b="1" dirty="0">
                <a:solidFill>
                  <a:srgbClr val="FF0000"/>
                </a:solidFill>
              </a:rPr>
              <a:t>ON</a:t>
            </a:r>
            <a:r>
              <a:rPr lang="en-US" dirty="0"/>
              <a:t> or completely </a:t>
            </a:r>
            <a:r>
              <a:rPr lang="en-US" b="1" dirty="0">
                <a:solidFill>
                  <a:srgbClr val="FF0000"/>
                </a:solidFill>
              </a:rPr>
              <a:t>OFF</a:t>
            </a:r>
            <a:r>
              <a:rPr lang="en-US" dirty="0"/>
              <a:t> (saturation or cutoff for a BJT or the triode and cutoff regions of a MOSFET). </a:t>
            </a:r>
          </a:p>
        </p:txBody>
      </p:sp>
      <p:pic>
        <p:nvPicPr>
          <p:cNvPr id="2" name="Picture 1">
            <a:extLst>
              <a:ext uri="{FF2B5EF4-FFF2-40B4-BE49-F238E27FC236}">
                <a16:creationId xmlns:a16="http://schemas.microsoft.com/office/drawing/2014/main" id="{587F0E51-223E-6CE1-D9AD-15D77610CD96}"/>
              </a:ext>
            </a:extLst>
          </p:cNvPr>
          <p:cNvPicPr>
            <a:picLocks noChangeAspect="1"/>
          </p:cNvPicPr>
          <p:nvPr/>
        </p:nvPicPr>
        <p:blipFill>
          <a:blip r:embed="rId2"/>
          <a:stretch>
            <a:fillRect/>
          </a:stretch>
        </p:blipFill>
        <p:spPr>
          <a:xfrm>
            <a:off x="1942829" y="1915930"/>
            <a:ext cx="4723083" cy="1312981"/>
          </a:xfrm>
          <a:prstGeom prst="rect">
            <a:avLst/>
          </a:prstGeom>
        </p:spPr>
      </p:pic>
      <p:pic>
        <p:nvPicPr>
          <p:cNvPr id="12" name="Picture 11">
            <a:extLst>
              <a:ext uri="{FF2B5EF4-FFF2-40B4-BE49-F238E27FC236}">
                <a16:creationId xmlns:a16="http://schemas.microsoft.com/office/drawing/2014/main" id="{1A35062B-108D-36A6-482F-B50A0121CFA1}"/>
              </a:ext>
            </a:extLst>
          </p:cNvPr>
          <p:cNvPicPr>
            <a:picLocks noChangeAspect="1"/>
          </p:cNvPicPr>
          <p:nvPr/>
        </p:nvPicPr>
        <p:blipFill>
          <a:blip r:embed="rId3"/>
          <a:stretch>
            <a:fillRect/>
          </a:stretch>
        </p:blipFill>
        <p:spPr>
          <a:xfrm>
            <a:off x="2196634" y="3438014"/>
            <a:ext cx="4017842" cy="1857104"/>
          </a:xfrm>
          <a:prstGeom prst="rect">
            <a:avLst/>
          </a:prstGeom>
        </p:spPr>
      </p:pic>
      <p:pic>
        <p:nvPicPr>
          <p:cNvPr id="17" name="Picture 16">
            <a:extLst>
              <a:ext uri="{FF2B5EF4-FFF2-40B4-BE49-F238E27FC236}">
                <a16:creationId xmlns:a16="http://schemas.microsoft.com/office/drawing/2014/main" id="{1167F7C6-6C6F-A8ED-2AD5-AF743E5AC8CD}"/>
              </a:ext>
            </a:extLst>
          </p:cNvPr>
          <p:cNvPicPr>
            <a:picLocks noChangeAspect="1"/>
          </p:cNvPicPr>
          <p:nvPr/>
        </p:nvPicPr>
        <p:blipFill>
          <a:blip r:embed="rId4"/>
          <a:stretch>
            <a:fillRect/>
          </a:stretch>
        </p:blipFill>
        <p:spPr>
          <a:xfrm>
            <a:off x="3894679" y="3564869"/>
            <a:ext cx="383813" cy="303852"/>
          </a:xfrm>
          <a:prstGeom prst="rect">
            <a:avLst/>
          </a:prstGeom>
        </p:spPr>
      </p:pic>
      <p:cxnSp>
        <p:nvCxnSpPr>
          <p:cNvPr id="21" name="Straight Arrow Connector 20">
            <a:extLst>
              <a:ext uri="{FF2B5EF4-FFF2-40B4-BE49-F238E27FC236}">
                <a16:creationId xmlns:a16="http://schemas.microsoft.com/office/drawing/2014/main" id="{84DF5BE6-DA77-DC1C-D078-E9549A540F45}"/>
              </a:ext>
            </a:extLst>
          </p:cNvPr>
          <p:cNvCxnSpPr/>
          <p:nvPr/>
        </p:nvCxnSpPr>
        <p:spPr>
          <a:xfrm flipH="1">
            <a:off x="2430966" y="3708874"/>
            <a:ext cx="3652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3C15A96-9A58-2CA1-C9D4-CFC6434DB23A}"/>
              </a:ext>
            </a:extLst>
          </p:cNvPr>
          <p:cNvCxnSpPr/>
          <p:nvPr/>
        </p:nvCxnSpPr>
        <p:spPr>
          <a:xfrm>
            <a:off x="3200401" y="3708874"/>
            <a:ext cx="34568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CAF0A9A9-778D-2BD7-DE42-D62ACE3E0278}"/>
              </a:ext>
            </a:extLst>
          </p:cNvPr>
          <p:cNvPicPr>
            <a:picLocks noChangeAspect="1"/>
          </p:cNvPicPr>
          <p:nvPr/>
        </p:nvPicPr>
        <p:blipFill>
          <a:blip r:embed="rId5"/>
          <a:stretch>
            <a:fillRect/>
          </a:stretch>
        </p:blipFill>
        <p:spPr>
          <a:xfrm>
            <a:off x="2818549" y="3560443"/>
            <a:ext cx="339958" cy="245086"/>
          </a:xfrm>
          <a:prstGeom prst="rect">
            <a:avLst/>
          </a:prstGeom>
        </p:spPr>
      </p:pic>
      <p:cxnSp>
        <p:nvCxnSpPr>
          <p:cNvPr id="26" name="Straight Connector 25">
            <a:extLst>
              <a:ext uri="{FF2B5EF4-FFF2-40B4-BE49-F238E27FC236}">
                <a16:creationId xmlns:a16="http://schemas.microsoft.com/office/drawing/2014/main" id="{18C4F398-79CE-7791-F1B0-A9BA00134E38}"/>
              </a:ext>
            </a:extLst>
          </p:cNvPr>
          <p:cNvCxnSpPr/>
          <p:nvPr/>
        </p:nvCxnSpPr>
        <p:spPr>
          <a:xfrm>
            <a:off x="3546088" y="3582745"/>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FA4282D-6862-1BE5-A3B9-3603882BA7E7}"/>
              </a:ext>
            </a:extLst>
          </p:cNvPr>
          <p:cNvCxnSpPr/>
          <p:nvPr/>
        </p:nvCxnSpPr>
        <p:spPr>
          <a:xfrm flipH="1">
            <a:off x="3553523" y="3705160"/>
            <a:ext cx="3652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45095B8-8EA6-0446-0945-10C455BC6584}"/>
              </a:ext>
            </a:extLst>
          </p:cNvPr>
          <p:cNvCxnSpPr/>
          <p:nvPr/>
        </p:nvCxnSpPr>
        <p:spPr>
          <a:xfrm>
            <a:off x="4256052" y="3705160"/>
            <a:ext cx="34568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93222E-E70F-5E86-327F-53BA0883C3AC}"/>
              </a:ext>
            </a:extLst>
          </p:cNvPr>
          <p:cNvCxnSpPr/>
          <p:nvPr/>
        </p:nvCxnSpPr>
        <p:spPr>
          <a:xfrm>
            <a:off x="4601739" y="3579031"/>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EC2EFE5-722F-D4F6-09B1-679BFF1796B1}"/>
              </a:ext>
            </a:extLst>
          </p:cNvPr>
          <p:cNvSpPr txBox="1"/>
          <p:nvPr/>
        </p:nvSpPr>
        <p:spPr>
          <a:xfrm>
            <a:off x="215898" y="166663"/>
            <a:ext cx="5346701" cy="461665"/>
          </a:xfrm>
          <a:prstGeom prst="rect">
            <a:avLst/>
          </a:prstGeom>
          <a:noFill/>
        </p:spPr>
        <p:txBody>
          <a:bodyPr wrap="square">
            <a:spAutoFit/>
          </a:bodyPr>
          <a:lstStyle/>
          <a:p>
            <a:r>
              <a:rPr lang="en-GB" altLang="en-US" sz="2400" b="1" dirty="0">
                <a:solidFill>
                  <a:srgbClr val="FF0000"/>
                </a:solidFill>
              </a:rPr>
              <a:t>Why switched mode DC – DC converter</a:t>
            </a:r>
            <a:endParaRPr lang="en-US" sz="2400" b="1" dirty="0">
              <a:solidFill>
                <a:srgbClr val="FF0000"/>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DFB0B1B-20B9-A1BC-B4B8-220009985A1A}"/>
                  </a:ext>
                </a:extLst>
              </p:cNvPr>
              <p:cNvSpPr txBox="1"/>
              <p:nvPr/>
            </p:nvSpPr>
            <p:spPr>
              <a:xfrm>
                <a:off x="373418" y="5458370"/>
                <a:ext cx="3255517" cy="67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𝐷</m:t>
                      </m:r>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𝑜𝑛</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𝑜𝑛</m:t>
                              </m:r>
                            </m:sub>
                          </m:sSub>
                          <m:r>
                            <a:rPr lang="en-GB" b="0" i="1" smtClean="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𝑜</m:t>
                              </m:r>
                              <m:r>
                                <a:rPr lang="en-GB" b="0" i="1" smtClean="0">
                                  <a:latin typeface="Cambria Math" panose="02040503050406030204" pitchFamily="18" charset="0"/>
                                </a:rPr>
                                <m:t>𝑓𝑓</m:t>
                              </m:r>
                            </m:sub>
                          </m:sSub>
                        </m:den>
                      </m:f>
                      <m:r>
                        <a:rPr lang="en-GB" b="0" i="0" smtClean="0">
                          <a:latin typeface="Cambria Math" panose="02040503050406030204" pitchFamily="18" charset="0"/>
                        </a:rPr>
                        <m:t>= </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𝑜𝑛</m:t>
                              </m:r>
                            </m:sub>
                          </m:sSub>
                        </m:num>
                        <m:den>
                          <m:r>
                            <a:rPr lang="en-US" i="1">
                              <a:latin typeface="Cambria Math" panose="02040503050406030204" pitchFamily="18" charset="0"/>
                            </a:rPr>
                            <m:t>𝑇</m:t>
                          </m:r>
                        </m:den>
                      </m:f>
                    </m:oMath>
                  </m:oMathPara>
                </a14:m>
                <a:endParaRPr lang="en-US" dirty="0"/>
              </a:p>
            </p:txBody>
          </p:sp>
        </mc:Choice>
        <mc:Fallback xmlns="">
          <p:sp>
            <p:nvSpPr>
              <p:cNvPr id="6" name="TextBox 5">
                <a:extLst>
                  <a:ext uri="{FF2B5EF4-FFF2-40B4-BE49-F238E27FC236}">
                    <a16:creationId xmlns:a16="http://schemas.microsoft.com/office/drawing/2014/main" id="{CDFB0B1B-20B9-A1BC-B4B8-220009985A1A}"/>
                  </a:ext>
                </a:extLst>
              </p:cNvPr>
              <p:cNvSpPr txBox="1">
                <a:spLocks noRot="1" noChangeAspect="1" noMove="1" noResize="1" noEditPoints="1" noAdjustHandles="1" noChangeArrowheads="1" noChangeShapeType="1" noTextEdit="1"/>
              </p:cNvSpPr>
              <p:nvPr/>
            </p:nvSpPr>
            <p:spPr>
              <a:xfrm>
                <a:off x="373418" y="5458370"/>
                <a:ext cx="3255517" cy="670761"/>
              </a:xfrm>
              <a:prstGeom prst="rect">
                <a:avLst/>
              </a:prstGeom>
              <a:blipFill>
                <a:blip r:embed="rId6"/>
                <a:stretch>
                  <a:fillRect/>
                </a:stretch>
              </a:blipFill>
            </p:spPr>
            <p:txBody>
              <a:bodyPr/>
              <a:lstStyle/>
              <a:p>
                <a:r>
                  <a:rPr lang="en-GB">
                    <a:noFill/>
                  </a:rPr>
                  <a:t> </a:t>
                </a:r>
              </a:p>
            </p:txBody>
          </p:sp>
        </mc:Fallback>
      </mc:AlternateContent>
      <p:grpSp>
        <p:nvGrpSpPr>
          <p:cNvPr id="3" name="Group 2">
            <a:extLst>
              <a:ext uri="{FF2B5EF4-FFF2-40B4-BE49-F238E27FC236}">
                <a16:creationId xmlns:a16="http://schemas.microsoft.com/office/drawing/2014/main" id="{23EFEFB3-D39D-2FA8-3DD9-4830B4FE0815}"/>
              </a:ext>
            </a:extLst>
          </p:cNvPr>
          <p:cNvGrpSpPr/>
          <p:nvPr/>
        </p:nvGrpSpPr>
        <p:grpSpPr>
          <a:xfrm>
            <a:off x="4892134" y="5134889"/>
            <a:ext cx="3131632" cy="1475770"/>
            <a:chOff x="4892134" y="5134889"/>
            <a:chExt cx="3131632" cy="1475770"/>
          </a:xfrm>
        </p:grpSpPr>
        <p:pic>
          <p:nvPicPr>
            <p:cNvPr id="32" name="Picture 31">
              <a:extLst>
                <a:ext uri="{FF2B5EF4-FFF2-40B4-BE49-F238E27FC236}">
                  <a16:creationId xmlns:a16="http://schemas.microsoft.com/office/drawing/2014/main" id="{6FA643A6-8C41-F895-1455-58693FCF928C}"/>
                </a:ext>
              </a:extLst>
            </p:cNvPr>
            <p:cNvPicPr>
              <a:picLocks noChangeAspect="1"/>
            </p:cNvPicPr>
            <p:nvPr/>
          </p:nvPicPr>
          <p:blipFill>
            <a:blip r:embed="rId7"/>
            <a:stretch>
              <a:fillRect/>
            </a:stretch>
          </p:blipFill>
          <p:spPr>
            <a:xfrm>
              <a:off x="4892134" y="5575303"/>
              <a:ext cx="3131632" cy="1035356"/>
            </a:xfrm>
            <a:prstGeom prst="rect">
              <a:avLst/>
            </a:prstGeom>
          </p:spPr>
        </p:pic>
        <p:sp>
          <p:nvSpPr>
            <p:cNvPr id="33" name="TextBox 32">
              <a:extLst>
                <a:ext uri="{FF2B5EF4-FFF2-40B4-BE49-F238E27FC236}">
                  <a16:creationId xmlns:a16="http://schemas.microsoft.com/office/drawing/2014/main" id="{192F218A-FE91-F8EF-3D37-11CA5C0321E5}"/>
                </a:ext>
              </a:extLst>
            </p:cNvPr>
            <p:cNvSpPr txBox="1"/>
            <p:nvPr/>
          </p:nvSpPr>
          <p:spPr>
            <a:xfrm>
              <a:off x="5609993" y="5134889"/>
              <a:ext cx="1695913" cy="369332"/>
            </a:xfrm>
            <a:prstGeom prst="rect">
              <a:avLst/>
            </a:prstGeom>
            <a:noFill/>
          </p:spPr>
          <p:txBody>
            <a:bodyPr wrap="none" rtlCol="0">
              <a:spAutoFit/>
            </a:bodyPr>
            <a:lstStyle/>
            <a:p>
              <a:r>
                <a:rPr lang="en-US" dirty="0"/>
                <a:t>Average Voltage</a:t>
              </a:r>
            </a:p>
          </p:txBody>
        </p:sp>
        <p:cxnSp>
          <p:nvCxnSpPr>
            <p:cNvPr id="16" name="Straight Connector 15">
              <a:extLst>
                <a:ext uri="{FF2B5EF4-FFF2-40B4-BE49-F238E27FC236}">
                  <a16:creationId xmlns:a16="http://schemas.microsoft.com/office/drawing/2014/main" id="{024765ED-8564-208E-8A2D-B1C96D5D3963}"/>
                </a:ext>
              </a:extLst>
            </p:cNvPr>
            <p:cNvCxnSpPr/>
            <p:nvPr/>
          </p:nvCxnSpPr>
          <p:spPr>
            <a:xfrm>
              <a:off x="6665912" y="5617802"/>
              <a:ext cx="359933"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B0F472A0-5903-4CC7-00F8-DA2DAB342E33}"/>
              </a:ext>
            </a:extLst>
          </p:cNvPr>
          <p:cNvGrpSpPr/>
          <p:nvPr/>
        </p:nvGrpSpPr>
        <p:grpSpPr>
          <a:xfrm>
            <a:off x="2751174" y="4706141"/>
            <a:ext cx="2152219" cy="868541"/>
            <a:chOff x="2751174" y="4706141"/>
            <a:chExt cx="2152219" cy="868541"/>
          </a:xfrm>
        </p:grpSpPr>
        <p:sp>
          <p:nvSpPr>
            <p:cNvPr id="8" name="Rectangle 7">
              <a:extLst>
                <a:ext uri="{FF2B5EF4-FFF2-40B4-BE49-F238E27FC236}">
                  <a16:creationId xmlns:a16="http://schemas.microsoft.com/office/drawing/2014/main" id="{40255E67-76CA-29CD-1686-0D44B292BAC2}"/>
                </a:ext>
              </a:extLst>
            </p:cNvPr>
            <p:cNvSpPr/>
            <p:nvPr/>
          </p:nvSpPr>
          <p:spPr>
            <a:xfrm>
              <a:off x="2751174" y="4706141"/>
              <a:ext cx="1445619" cy="6707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9DF7D86-5655-CB97-EBDB-E23D0820BDA0}"/>
                </a:ext>
              </a:extLst>
            </p:cNvPr>
            <p:cNvSpPr/>
            <p:nvPr/>
          </p:nvSpPr>
          <p:spPr>
            <a:xfrm>
              <a:off x="3457774" y="4903925"/>
              <a:ext cx="1445619" cy="6707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Rectangle 14">
            <a:extLst>
              <a:ext uri="{FF2B5EF4-FFF2-40B4-BE49-F238E27FC236}">
                <a16:creationId xmlns:a16="http://schemas.microsoft.com/office/drawing/2014/main" id="{383F142F-BC5A-F716-D047-8EB87285606D}"/>
              </a:ext>
            </a:extLst>
          </p:cNvPr>
          <p:cNvSpPr/>
          <p:nvPr/>
        </p:nvSpPr>
        <p:spPr>
          <a:xfrm>
            <a:off x="4518563" y="4682023"/>
            <a:ext cx="227605" cy="2480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0DA5F75-0BC9-0740-AD56-8C1BF866ED36}"/>
                  </a:ext>
                </a:extLst>
              </p:cNvPr>
              <p:cNvSpPr txBox="1"/>
              <p:nvPr/>
            </p:nvSpPr>
            <p:spPr>
              <a:xfrm>
                <a:off x="585151" y="6134531"/>
                <a:ext cx="3255517" cy="391582"/>
              </a:xfrm>
              <a:prstGeom prst="rect">
                <a:avLst/>
              </a:prstGeom>
              <a:noFill/>
            </p:spPr>
            <p:txBody>
              <a:bodyPr wrap="squar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𝑡</m:t>
                        </m:r>
                      </m:e>
                      <m:sub>
                        <m:r>
                          <a:rPr lang="en-US" i="1">
                            <a:solidFill>
                              <a:srgbClr val="FF0000"/>
                            </a:solidFill>
                            <a:latin typeface="Cambria Math" panose="02040503050406030204" pitchFamily="18" charset="0"/>
                          </a:rPr>
                          <m:t>𝑜𝑛</m:t>
                        </m:r>
                      </m:sub>
                    </m:sSub>
                    <m:r>
                      <a:rPr lang="en-GB" b="0" i="0" smtClean="0">
                        <a:solidFill>
                          <a:srgbClr val="FF0000"/>
                        </a:solidFill>
                        <a:latin typeface="Cambria Math" panose="02040503050406030204" pitchFamily="18" charset="0"/>
                      </a:rPr>
                      <m:t>=</m:t>
                    </m:r>
                    <m:r>
                      <a:rPr lang="en-GB" b="0" i="1" smtClean="0">
                        <a:solidFill>
                          <a:srgbClr val="FF0000"/>
                        </a:solidFill>
                        <a:latin typeface="Cambria Math" panose="02040503050406030204" pitchFamily="18" charset="0"/>
                      </a:rPr>
                      <m:t>𝐷𝑇</m:t>
                    </m:r>
                  </m:oMath>
                </a14:m>
                <a:r>
                  <a:rPr lang="en-US" dirty="0">
                    <a:solidFill>
                      <a:srgbClr val="FF0000"/>
                    </a:solidFill>
                  </a:rPr>
                  <a:t> </a:t>
                </a:r>
                <a:r>
                  <a:rPr lang="en-US" dirty="0"/>
                  <a:t>and</a:t>
                </a:r>
                <a:r>
                  <a:rPr lang="en-US" dirty="0">
                    <a:solidFill>
                      <a:srgbClr val="FF0000"/>
                    </a:solidFill>
                  </a:rPr>
                  <a:t>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𝑡</m:t>
                        </m:r>
                      </m:e>
                      <m:sub>
                        <m:r>
                          <a:rPr lang="en-US" i="1">
                            <a:solidFill>
                              <a:srgbClr val="FF0000"/>
                            </a:solidFill>
                            <a:latin typeface="Cambria Math" panose="02040503050406030204" pitchFamily="18" charset="0"/>
                          </a:rPr>
                          <m:t>𝑜</m:t>
                        </m:r>
                        <m:r>
                          <a:rPr lang="en-GB" b="0" i="1" smtClean="0">
                            <a:solidFill>
                              <a:srgbClr val="FF0000"/>
                            </a:solidFill>
                            <a:latin typeface="Cambria Math" panose="02040503050406030204" pitchFamily="18" charset="0"/>
                          </a:rPr>
                          <m:t>𝑓𝑓</m:t>
                        </m:r>
                      </m:sub>
                    </m:sSub>
                    <m:r>
                      <a:rPr lang="en-GB">
                        <a:solidFill>
                          <a:srgbClr val="FF0000"/>
                        </a:solidFill>
                        <a:latin typeface="Cambria Math" panose="02040503050406030204" pitchFamily="18" charset="0"/>
                      </a:rPr>
                      <m:t>=</m:t>
                    </m:r>
                    <m:r>
                      <a:rPr lang="en-GB" b="0" i="1" smtClean="0">
                        <a:solidFill>
                          <a:srgbClr val="FF0000"/>
                        </a:solidFill>
                        <a:latin typeface="Cambria Math" panose="02040503050406030204" pitchFamily="18" charset="0"/>
                      </a:rPr>
                      <m:t>(1− </m:t>
                    </m:r>
                    <m:r>
                      <a:rPr lang="en-GB" i="1">
                        <a:solidFill>
                          <a:srgbClr val="FF0000"/>
                        </a:solidFill>
                        <a:latin typeface="Cambria Math" panose="02040503050406030204" pitchFamily="18" charset="0"/>
                      </a:rPr>
                      <m:t>𝐷</m:t>
                    </m:r>
                    <m:r>
                      <a:rPr lang="en-GB" b="0" i="1" smtClean="0">
                        <a:solidFill>
                          <a:srgbClr val="FF0000"/>
                        </a:solidFill>
                        <a:latin typeface="Cambria Math" panose="02040503050406030204" pitchFamily="18" charset="0"/>
                      </a:rPr>
                      <m:t>)</m:t>
                    </m:r>
                    <m:r>
                      <a:rPr lang="en-GB" i="1">
                        <a:solidFill>
                          <a:srgbClr val="FF0000"/>
                        </a:solidFill>
                        <a:latin typeface="Cambria Math" panose="02040503050406030204" pitchFamily="18" charset="0"/>
                      </a:rPr>
                      <m:t>𝑇</m:t>
                    </m:r>
                  </m:oMath>
                </a14:m>
                <a:endParaRPr lang="en-US" dirty="0">
                  <a:solidFill>
                    <a:srgbClr val="FF0000"/>
                  </a:solidFill>
                </a:endParaRPr>
              </a:p>
            </p:txBody>
          </p:sp>
        </mc:Choice>
        <mc:Fallback xmlns="">
          <p:sp>
            <p:nvSpPr>
              <p:cNvPr id="19" name="TextBox 18">
                <a:extLst>
                  <a:ext uri="{FF2B5EF4-FFF2-40B4-BE49-F238E27FC236}">
                    <a16:creationId xmlns:a16="http://schemas.microsoft.com/office/drawing/2014/main" id="{50DA5F75-0BC9-0740-AD56-8C1BF866ED36}"/>
                  </a:ext>
                </a:extLst>
              </p:cNvPr>
              <p:cNvSpPr txBox="1">
                <a:spLocks noRot="1" noChangeAspect="1" noMove="1" noResize="1" noEditPoints="1" noAdjustHandles="1" noChangeArrowheads="1" noChangeShapeType="1" noTextEdit="1"/>
              </p:cNvSpPr>
              <p:nvPr/>
            </p:nvSpPr>
            <p:spPr>
              <a:xfrm>
                <a:off x="585151" y="6134531"/>
                <a:ext cx="3255517" cy="391582"/>
              </a:xfrm>
              <a:prstGeom prst="rect">
                <a:avLst/>
              </a:prstGeom>
              <a:blipFill>
                <a:blip r:embed="rId8"/>
                <a:stretch>
                  <a:fillRect t="-6154" b="-18462"/>
                </a:stretch>
              </a:blipFill>
            </p:spPr>
            <p:txBody>
              <a:bodyPr/>
              <a:lstStyle/>
              <a:p>
                <a:r>
                  <a:rPr lang="en-GB">
                    <a:noFill/>
                  </a:rPr>
                  <a:t> </a:t>
                </a:r>
              </a:p>
            </p:txBody>
          </p:sp>
        </mc:Fallback>
      </mc:AlternateContent>
    </p:spTree>
    <p:extLst>
      <p:ext uri="{BB962C8B-B14F-4D97-AF65-F5344CB8AC3E}">
        <p14:creationId xmlns:p14="http://schemas.microsoft.com/office/powerpoint/2010/main" val="2725820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1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a:extLst>
              <a:ext uri="{FF2B5EF4-FFF2-40B4-BE49-F238E27FC236}">
                <a16:creationId xmlns:a16="http://schemas.microsoft.com/office/drawing/2014/main" id="{E1864C48-5E8F-4E4C-B52E-7A99521ACEB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88C0AAE-F71E-484C-A01E-F2DB93402EA1}" type="slidenum">
              <a:rPr lang="en-US" altLang="en-US" sz="1400"/>
              <a:pPr>
                <a:spcBef>
                  <a:spcPct val="0"/>
                </a:spcBef>
                <a:buFontTx/>
                <a:buNone/>
              </a:pPr>
              <a:t>12</a:t>
            </a:fld>
            <a:endParaRPr lang="en-US" altLang="en-US" sz="1400"/>
          </a:p>
        </p:txBody>
      </p:sp>
      <p:sp>
        <p:nvSpPr>
          <p:cNvPr id="8195" name="Text Box 4">
            <a:extLst>
              <a:ext uri="{FF2B5EF4-FFF2-40B4-BE49-F238E27FC236}">
                <a16:creationId xmlns:a16="http://schemas.microsoft.com/office/drawing/2014/main" id="{7FE87610-C071-F64C-B1BF-540065CC7036}"/>
              </a:ext>
            </a:extLst>
          </p:cNvPr>
          <p:cNvSpPr txBox="1">
            <a:spLocks noChangeArrowheads="1"/>
          </p:cNvSpPr>
          <p:nvPr/>
        </p:nvSpPr>
        <p:spPr bwMode="auto">
          <a:xfrm>
            <a:off x="107950" y="872139"/>
            <a:ext cx="89281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SMPSs come in many different varieties. For the purposes of this course, we will consider three of the most used types:</a:t>
            </a:r>
          </a:p>
        </p:txBody>
      </p:sp>
      <p:sp>
        <p:nvSpPr>
          <p:cNvPr id="8196" name="Rectangle 5">
            <a:extLst>
              <a:ext uri="{FF2B5EF4-FFF2-40B4-BE49-F238E27FC236}">
                <a16:creationId xmlns:a16="http://schemas.microsoft.com/office/drawing/2014/main" id="{FAA163A5-2B11-EC4E-9956-6A860509D631}"/>
              </a:ext>
            </a:extLst>
          </p:cNvPr>
          <p:cNvSpPr>
            <a:spLocks noChangeArrowheads="1"/>
          </p:cNvSpPr>
          <p:nvPr/>
        </p:nvSpPr>
        <p:spPr bwMode="auto">
          <a:xfrm>
            <a:off x="755650" y="4009400"/>
            <a:ext cx="1584325" cy="7921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Unregulated</a:t>
            </a:r>
          </a:p>
          <a:p>
            <a:pPr algn="ctr" eaLnBrk="1" hangingPunct="1">
              <a:spcBef>
                <a:spcPct val="0"/>
              </a:spcBef>
              <a:buFontTx/>
              <a:buNone/>
            </a:pPr>
            <a:r>
              <a:rPr lang="en-GB" altLang="en-US" sz="1800"/>
              <a:t>DC Voltage</a:t>
            </a:r>
            <a:endParaRPr lang="en-US" altLang="en-US" sz="1800"/>
          </a:p>
        </p:txBody>
      </p:sp>
      <p:sp>
        <p:nvSpPr>
          <p:cNvPr id="8197" name="Rectangle 7">
            <a:extLst>
              <a:ext uri="{FF2B5EF4-FFF2-40B4-BE49-F238E27FC236}">
                <a16:creationId xmlns:a16="http://schemas.microsoft.com/office/drawing/2014/main" id="{02192979-D399-2441-9313-44C399B7D5C0}"/>
              </a:ext>
            </a:extLst>
          </p:cNvPr>
          <p:cNvSpPr>
            <a:spLocks noChangeArrowheads="1"/>
          </p:cNvSpPr>
          <p:nvPr/>
        </p:nvSpPr>
        <p:spPr bwMode="auto">
          <a:xfrm>
            <a:off x="3708400" y="4009400"/>
            <a:ext cx="1419225" cy="7921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Averaging </a:t>
            </a:r>
          </a:p>
          <a:p>
            <a:pPr algn="ctr" eaLnBrk="1" hangingPunct="1">
              <a:spcBef>
                <a:spcPct val="0"/>
              </a:spcBef>
              <a:buFontTx/>
              <a:buNone/>
            </a:pPr>
            <a:r>
              <a:rPr lang="en-GB" altLang="en-US" sz="1800"/>
              <a:t>circuit</a:t>
            </a:r>
            <a:endParaRPr lang="en-US" altLang="en-US" sz="1800"/>
          </a:p>
        </p:txBody>
      </p:sp>
      <p:sp>
        <p:nvSpPr>
          <p:cNvPr id="8198" name="Rectangle 10">
            <a:extLst>
              <a:ext uri="{FF2B5EF4-FFF2-40B4-BE49-F238E27FC236}">
                <a16:creationId xmlns:a16="http://schemas.microsoft.com/office/drawing/2014/main" id="{C0D185FB-1AE3-164D-B4A9-1587EEC723E2}"/>
              </a:ext>
            </a:extLst>
          </p:cNvPr>
          <p:cNvSpPr>
            <a:spLocks noChangeArrowheads="1"/>
          </p:cNvSpPr>
          <p:nvPr/>
        </p:nvSpPr>
        <p:spPr bwMode="auto">
          <a:xfrm>
            <a:off x="2555875" y="4873000"/>
            <a:ext cx="914400" cy="3603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8199" name="Line 11">
            <a:extLst>
              <a:ext uri="{FF2B5EF4-FFF2-40B4-BE49-F238E27FC236}">
                <a16:creationId xmlns:a16="http://schemas.microsoft.com/office/drawing/2014/main" id="{03F84A67-A404-2047-9D35-A2C7A0EE063E}"/>
              </a:ext>
            </a:extLst>
          </p:cNvPr>
          <p:cNvSpPr>
            <a:spLocks noChangeShapeType="1"/>
          </p:cNvSpPr>
          <p:nvPr/>
        </p:nvSpPr>
        <p:spPr bwMode="auto">
          <a:xfrm>
            <a:off x="2339975" y="4369762"/>
            <a:ext cx="503238"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0" name="Line 12">
            <a:extLst>
              <a:ext uri="{FF2B5EF4-FFF2-40B4-BE49-F238E27FC236}">
                <a16:creationId xmlns:a16="http://schemas.microsoft.com/office/drawing/2014/main" id="{378726C8-289A-FB43-959E-288DF735B053}"/>
              </a:ext>
            </a:extLst>
          </p:cNvPr>
          <p:cNvSpPr>
            <a:spLocks noChangeShapeType="1"/>
          </p:cNvSpPr>
          <p:nvPr/>
        </p:nvSpPr>
        <p:spPr bwMode="auto">
          <a:xfrm flipH="1">
            <a:off x="3203575" y="4369762"/>
            <a:ext cx="504825"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1" name="Line 13">
            <a:extLst>
              <a:ext uri="{FF2B5EF4-FFF2-40B4-BE49-F238E27FC236}">
                <a16:creationId xmlns:a16="http://schemas.microsoft.com/office/drawing/2014/main" id="{DAAA4BD2-A6D3-264C-A9E5-46409983727C}"/>
              </a:ext>
            </a:extLst>
          </p:cNvPr>
          <p:cNvSpPr>
            <a:spLocks noChangeShapeType="1"/>
          </p:cNvSpPr>
          <p:nvPr/>
        </p:nvSpPr>
        <p:spPr bwMode="auto">
          <a:xfrm flipV="1">
            <a:off x="2843213" y="4296737"/>
            <a:ext cx="360362" cy="73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Line 14">
            <a:extLst>
              <a:ext uri="{FF2B5EF4-FFF2-40B4-BE49-F238E27FC236}">
                <a16:creationId xmlns:a16="http://schemas.microsoft.com/office/drawing/2014/main" id="{EBBD036E-28EA-934C-A5F6-51251C991F15}"/>
              </a:ext>
            </a:extLst>
          </p:cNvPr>
          <p:cNvSpPr>
            <a:spLocks noChangeShapeType="1"/>
          </p:cNvSpPr>
          <p:nvPr/>
        </p:nvSpPr>
        <p:spPr bwMode="auto">
          <a:xfrm flipV="1">
            <a:off x="2987675" y="4441200"/>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3" name="Line 15">
            <a:extLst>
              <a:ext uri="{FF2B5EF4-FFF2-40B4-BE49-F238E27FC236}">
                <a16:creationId xmlns:a16="http://schemas.microsoft.com/office/drawing/2014/main" id="{05F31CE1-E1B5-D847-BD25-21FEAFC08B33}"/>
              </a:ext>
            </a:extLst>
          </p:cNvPr>
          <p:cNvSpPr>
            <a:spLocks noChangeShapeType="1"/>
          </p:cNvSpPr>
          <p:nvPr/>
        </p:nvSpPr>
        <p:spPr bwMode="auto">
          <a:xfrm>
            <a:off x="1476375" y="4801562"/>
            <a:ext cx="0" cy="935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4" name="Line 16">
            <a:extLst>
              <a:ext uri="{FF2B5EF4-FFF2-40B4-BE49-F238E27FC236}">
                <a16:creationId xmlns:a16="http://schemas.microsoft.com/office/drawing/2014/main" id="{9F10BDF6-9AD2-174C-9990-57A276DC7FF4}"/>
              </a:ext>
            </a:extLst>
          </p:cNvPr>
          <p:cNvSpPr>
            <a:spLocks noChangeShapeType="1"/>
          </p:cNvSpPr>
          <p:nvPr/>
        </p:nvSpPr>
        <p:spPr bwMode="auto">
          <a:xfrm>
            <a:off x="1476375" y="5736600"/>
            <a:ext cx="4535488"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5" name="Line 17">
            <a:extLst>
              <a:ext uri="{FF2B5EF4-FFF2-40B4-BE49-F238E27FC236}">
                <a16:creationId xmlns:a16="http://schemas.microsoft.com/office/drawing/2014/main" id="{95E8D30A-900B-EA46-B5F5-58942C4EB14E}"/>
              </a:ext>
            </a:extLst>
          </p:cNvPr>
          <p:cNvSpPr>
            <a:spLocks noChangeShapeType="1"/>
          </p:cNvSpPr>
          <p:nvPr/>
        </p:nvSpPr>
        <p:spPr bwMode="auto">
          <a:xfrm>
            <a:off x="5148263" y="4369762"/>
            <a:ext cx="863600"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Line 18">
            <a:extLst>
              <a:ext uri="{FF2B5EF4-FFF2-40B4-BE49-F238E27FC236}">
                <a16:creationId xmlns:a16="http://schemas.microsoft.com/office/drawing/2014/main" id="{0C4B6773-1D11-C84D-9170-ED89E6A0885A}"/>
              </a:ext>
            </a:extLst>
          </p:cNvPr>
          <p:cNvSpPr>
            <a:spLocks noChangeShapeType="1"/>
          </p:cNvSpPr>
          <p:nvPr/>
        </p:nvSpPr>
        <p:spPr bwMode="auto">
          <a:xfrm flipV="1">
            <a:off x="6011863" y="4441200"/>
            <a:ext cx="0" cy="1152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7" name="Text Box 19">
            <a:extLst>
              <a:ext uri="{FF2B5EF4-FFF2-40B4-BE49-F238E27FC236}">
                <a16:creationId xmlns:a16="http://schemas.microsoft.com/office/drawing/2014/main" id="{90FA6BF1-FC4A-D349-A0D7-2EFA1BC29C1A}"/>
              </a:ext>
            </a:extLst>
          </p:cNvPr>
          <p:cNvSpPr txBox="1">
            <a:spLocks noChangeArrowheads="1"/>
          </p:cNvSpPr>
          <p:nvPr/>
        </p:nvSpPr>
        <p:spPr bwMode="auto">
          <a:xfrm>
            <a:off x="6084888" y="4728537"/>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Regulated</a:t>
            </a:r>
          </a:p>
          <a:p>
            <a:pPr eaLnBrk="1" hangingPunct="1">
              <a:spcBef>
                <a:spcPct val="0"/>
              </a:spcBef>
              <a:buFontTx/>
              <a:buNone/>
            </a:pPr>
            <a:r>
              <a:rPr lang="en-GB" altLang="en-US" sz="1800"/>
              <a:t>DC output</a:t>
            </a:r>
            <a:endParaRPr lang="en-US" altLang="en-US" sz="1800"/>
          </a:p>
        </p:txBody>
      </p:sp>
      <p:sp>
        <p:nvSpPr>
          <p:cNvPr id="8208" name="Line 20">
            <a:extLst>
              <a:ext uri="{FF2B5EF4-FFF2-40B4-BE49-F238E27FC236}">
                <a16:creationId xmlns:a16="http://schemas.microsoft.com/office/drawing/2014/main" id="{86A75E9F-60C3-F94C-8BD4-4E2A1CD6CCD5}"/>
              </a:ext>
            </a:extLst>
          </p:cNvPr>
          <p:cNvSpPr>
            <a:spLocks noChangeShapeType="1"/>
          </p:cNvSpPr>
          <p:nvPr/>
        </p:nvSpPr>
        <p:spPr bwMode="auto">
          <a:xfrm>
            <a:off x="4427538" y="4801562"/>
            <a:ext cx="0" cy="935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9" name="Text Box 21">
            <a:extLst>
              <a:ext uri="{FF2B5EF4-FFF2-40B4-BE49-F238E27FC236}">
                <a16:creationId xmlns:a16="http://schemas.microsoft.com/office/drawing/2014/main" id="{B1B34D29-F7BB-4F44-BD7C-F899B36511DB}"/>
              </a:ext>
            </a:extLst>
          </p:cNvPr>
          <p:cNvSpPr txBox="1">
            <a:spLocks noChangeArrowheads="1"/>
          </p:cNvSpPr>
          <p:nvPr/>
        </p:nvSpPr>
        <p:spPr bwMode="auto">
          <a:xfrm>
            <a:off x="395288" y="6025525"/>
            <a:ext cx="8569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The two important components here are the switch (usually a MOSFET) and the averaging circuit that will include an inductor.</a:t>
            </a:r>
            <a:endParaRPr lang="en-US" altLang="en-US" sz="1800" dirty="0"/>
          </a:p>
        </p:txBody>
      </p:sp>
      <p:sp>
        <p:nvSpPr>
          <p:cNvPr id="8210" name="AutoShape 22">
            <a:extLst>
              <a:ext uri="{FF2B5EF4-FFF2-40B4-BE49-F238E27FC236}">
                <a16:creationId xmlns:a16="http://schemas.microsoft.com/office/drawing/2014/main" id="{1835D21F-AF68-A845-95B9-B0E94475A01A}"/>
              </a:ext>
            </a:extLst>
          </p:cNvPr>
          <p:cNvSpPr>
            <a:spLocks noChangeArrowheads="1"/>
          </p:cNvSpPr>
          <p:nvPr/>
        </p:nvSpPr>
        <p:spPr bwMode="auto">
          <a:xfrm>
            <a:off x="2411413" y="3864937"/>
            <a:ext cx="2808287" cy="1439863"/>
          </a:xfrm>
          <a:prstGeom prst="roundRect">
            <a:avLst>
              <a:gd name="adj" fmla="val 16667"/>
            </a:avLst>
          </a:prstGeom>
          <a:noFill/>
          <a:ln w="25400">
            <a:solidFill>
              <a:srgbClr val="00FF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11" name="Line 23">
            <a:extLst>
              <a:ext uri="{FF2B5EF4-FFF2-40B4-BE49-F238E27FC236}">
                <a16:creationId xmlns:a16="http://schemas.microsoft.com/office/drawing/2014/main" id="{B32DB7C1-C744-294C-B115-F6E090DA8A85}"/>
              </a:ext>
            </a:extLst>
          </p:cNvPr>
          <p:cNvSpPr>
            <a:spLocks noChangeShapeType="1"/>
          </p:cNvSpPr>
          <p:nvPr/>
        </p:nvSpPr>
        <p:spPr bwMode="auto">
          <a:xfrm>
            <a:off x="2127738" y="3326339"/>
            <a:ext cx="1004400" cy="53859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TextBox 3">
            <a:extLst>
              <a:ext uri="{FF2B5EF4-FFF2-40B4-BE49-F238E27FC236}">
                <a16:creationId xmlns:a16="http://schemas.microsoft.com/office/drawing/2014/main" id="{F6FEC843-EABF-FFEB-8C2A-82B5C2FD91B7}"/>
              </a:ext>
            </a:extLst>
          </p:cNvPr>
          <p:cNvSpPr txBox="1"/>
          <p:nvPr/>
        </p:nvSpPr>
        <p:spPr>
          <a:xfrm>
            <a:off x="48480" y="322626"/>
            <a:ext cx="5589465" cy="369332"/>
          </a:xfrm>
          <a:prstGeom prst="rect">
            <a:avLst/>
          </a:prstGeom>
          <a:noFill/>
        </p:spPr>
        <p:txBody>
          <a:bodyPr wrap="square">
            <a:spAutoFit/>
          </a:bodyPr>
          <a:lstStyle/>
          <a:p>
            <a:r>
              <a:rPr lang="en-GB" altLang="en-US" b="1" u="sng" dirty="0">
                <a:solidFill>
                  <a:srgbClr val="FF0000"/>
                </a:solidFill>
                <a:latin typeface="Arial" panose="020B0604020202020204" pitchFamily="34" charset="0"/>
              </a:rPr>
              <a:t>What are different types of DC – DC converter</a:t>
            </a:r>
            <a:endParaRPr lang="en-US" b="1" u="sng" dirty="0">
              <a:solidFill>
                <a:srgbClr val="FF0000"/>
              </a:solidFill>
              <a:latin typeface="Arial" panose="020B0604020202020204" pitchFamily="34" charset="0"/>
            </a:endParaRPr>
          </a:p>
        </p:txBody>
      </p:sp>
      <p:sp>
        <p:nvSpPr>
          <p:cNvPr id="3" name="TextBox 2">
            <a:extLst>
              <a:ext uri="{FF2B5EF4-FFF2-40B4-BE49-F238E27FC236}">
                <a16:creationId xmlns:a16="http://schemas.microsoft.com/office/drawing/2014/main" id="{DB2342EF-A6A7-6754-8E5D-B7821C4F4AD3}"/>
              </a:ext>
            </a:extLst>
          </p:cNvPr>
          <p:cNvSpPr txBox="1"/>
          <p:nvPr/>
        </p:nvSpPr>
        <p:spPr>
          <a:xfrm>
            <a:off x="110890" y="1853029"/>
            <a:ext cx="5973998" cy="369332"/>
          </a:xfrm>
          <a:prstGeom prst="rect">
            <a:avLst/>
          </a:prstGeom>
          <a:noFill/>
        </p:spPr>
        <p:txBody>
          <a:bodyPr wrap="square">
            <a:spAutoFit/>
          </a:bodyPr>
          <a:lstStyle/>
          <a:p>
            <a:pPr eaLnBrk="1" hangingPunct="1">
              <a:spcBef>
                <a:spcPct val="50000"/>
              </a:spcBef>
              <a:buFontTx/>
              <a:buNone/>
            </a:pPr>
            <a:r>
              <a:rPr lang="en-GB" altLang="en-US" b="1" dirty="0">
                <a:solidFill>
                  <a:srgbClr val="0000CC"/>
                </a:solidFill>
                <a:latin typeface="Arial" panose="020B0604020202020204" pitchFamily="34" charset="0"/>
              </a:rPr>
              <a:t>2. The step-up or “boost” converter. [</a:t>
            </a:r>
            <a:r>
              <a:rPr lang="en-GB" altLang="en-US" b="1" dirty="0" err="1">
                <a:solidFill>
                  <a:srgbClr val="0000CC"/>
                </a:solidFill>
                <a:latin typeface="Arial" panose="020B0604020202020204" pitchFamily="34" charset="0"/>
              </a:rPr>
              <a:t>Vout</a:t>
            </a:r>
            <a:r>
              <a:rPr lang="en-GB" altLang="en-US" b="1" dirty="0">
                <a:solidFill>
                  <a:srgbClr val="0000CC"/>
                </a:solidFill>
                <a:latin typeface="Arial" panose="020B0604020202020204" pitchFamily="34" charset="0"/>
              </a:rPr>
              <a:t> &gt; Vin]</a:t>
            </a:r>
          </a:p>
        </p:txBody>
      </p:sp>
      <p:sp>
        <p:nvSpPr>
          <p:cNvPr id="6" name="TextBox 5">
            <a:extLst>
              <a:ext uri="{FF2B5EF4-FFF2-40B4-BE49-F238E27FC236}">
                <a16:creationId xmlns:a16="http://schemas.microsoft.com/office/drawing/2014/main" id="{A0B9BB84-1347-6280-2891-D5637A6E56B7}"/>
              </a:ext>
            </a:extLst>
          </p:cNvPr>
          <p:cNvSpPr txBox="1"/>
          <p:nvPr/>
        </p:nvSpPr>
        <p:spPr>
          <a:xfrm>
            <a:off x="107950" y="2183738"/>
            <a:ext cx="4572000" cy="369332"/>
          </a:xfrm>
          <a:prstGeom prst="rect">
            <a:avLst/>
          </a:prstGeom>
          <a:noFill/>
        </p:spPr>
        <p:txBody>
          <a:bodyPr wrap="square">
            <a:spAutoFit/>
          </a:bodyPr>
          <a:lstStyle/>
          <a:p>
            <a:pPr>
              <a:spcBef>
                <a:spcPct val="50000"/>
              </a:spcBef>
              <a:buNone/>
            </a:pPr>
            <a:r>
              <a:rPr lang="en-GB" altLang="en-US" b="1" dirty="0">
                <a:solidFill>
                  <a:srgbClr val="0000CC"/>
                </a:solidFill>
                <a:latin typeface="Arial" panose="020B0604020202020204" pitchFamily="34" charset="0"/>
              </a:rPr>
              <a:t>3. The “buck-boost” [</a:t>
            </a:r>
            <a:r>
              <a:rPr lang="en-GB" altLang="en-US" b="1" dirty="0" err="1">
                <a:solidFill>
                  <a:srgbClr val="0000CC"/>
                </a:solidFill>
                <a:latin typeface="Arial" panose="020B0604020202020204" pitchFamily="34" charset="0"/>
              </a:rPr>
              <a:t>Vout</a:t>
            </a:r>
            <a:r>
              <a:rPr lang="en-GB" altLang="en-US" b="1" dirty="0">
                <a:solidFill>
                  <a:srgbClr val="0000CC"/>
                </a:solidFill>
                <a:latin typeface="Arial" panose="020B0604020202020204" pitchFamily="34" charset="0"/>
              </a:rPr>
              <a:t> &lt;&gt; Vin]</a:t>
            </a:r>
          </a:p>
        </p:txBody>
      </p:sp>
      <p:sp>
        <p:nvSpPr>
          <p:cNvPr id="8" name="TextBox 7">
            <a:extLst>
              <a:ext uri="{FF2B5EF4-FFF2-40B4-BE49-F238E27FC236}">
                <a16:creationId xmlns:a16="http://schemas.microsoft.com/office/drawing/2014/main" id="{E6792F03-85EA-42A6-270D-090473523404}"/>
              </a:ext>
            </a:extLst>
          </p:cNvPr>
          <p:cNvSpPr txBox="1"/>
          <p:nvPr/>
        </p:nvSpPr>
        <p:spPr>
          <a:xfrm>
            <a:off x="110890" y="2558075"/>
            <a:ext cx="4572000" cy="369332"/>
          </a:xfrm>
          <a:prstGeom prst="rect">
            <a:avLst/>
          </a:prstGeom>
          <a:noFill/>
        </p:spPr>
        <p:txBody>
          <a:bodyPr wrap="square">
            <a:spAutoFit/>
          </a:bodyPr>
          <a:lstStyle/>
          <a:p>
            <a:pPr eaLnBrk="1" hangingPunct="1">
              <a:spcBef>
                <a:spcPct val="50000"/>
              </a:spcBef>
              <a:buFontTx/>
              <a:buNone/>
            </a:pPr>
            <a:r>
              <a:rPr lang="en-GB" altLang="en-US" b="1" dirty="0">
                <a:solidFill>
                  <a:srgbClr val="0000CC"/>
                </a:solidFill>
                <a:latin typeface="Arial" panose="020B0604020202020204" pitchFamily="34" charset="0"/>
              </a:rPr>
              <a:t>4. The flyback converter. [</a:t>
            </a:r>
            <a:r>
              <a:rPr lang="en-GB" altLang="en-US" b="1" dirty="0" err="1">
                <a:solidFill>
                  <a:srgbClr val="0000CC"/>
                </a:solidFill>
                <a:latin typeface="Arial" panose="020B0604020202020204" pitchFamily="34" charset="0"/>
              </a:rPr>
              <a:t>Vout</a:t>
            </a:r>
            <a:r>
              <a:rPr lang="en-GB" altLang="en-US" b="1" dirty="0">
                <a:solidFill>
                  <a:srgbClr val="0000CC"/>
                </a:solidFill>
                <a:latin typeface="Arial" panose="020B0604020202020204" pitchFamily="34" charset="0"/>
              </a:rPr>
              <a:t> &lt;&gt; Vin]</a:t>
            </a:r>
          </a:p>
        </p:txBody>
      </p:sp>
      <p:sp>
        <p:nvSpPr>
          <p:cNvPr id="10" name="TextBox 9">
            <a:extLst>
              <a:ext uri="{FF2B5EF4-FFF2-40B4-BE49-F238E27FC236}">
                <a16:creationId xmlns:a16="http://schemas.microsoft.com/office/drawing/2014/main" id="{17C390E1-6B89-386C-5CEB-82DFD6644D16}"/>
              </a:ext>
            </a:extLst>
          </p:cNvPr>
          <p:cNvSpPr txBox="1"/>
          <p:nvPr/>
        </p:nvSpPr>
        <p:spPr>
          <a:xfrm>
            <a:off x="125413" y="2995629"/>
            <a:ext cx="4572000" cy="369332"/>
          </a:xfrm>
          <a:prstGeom prst="rect">
            <a:avLst/>
          </a:prstGeom>
          <a:noFill/>
        </p:spPr>
        <p:txBody>
          <a:bodyPr wrap="square">
            <a:spAutoFit/>
          </a:bodyPr>
          <a:lstStyle/>
          <a:p>
            <a:pPr eaLnBrk="1" hangingPunct="1">
              <a:spcBef>
                <a:spcPct val="50000"/>
              </a:spcBef>
              <a:buFontTx/>
              <a:buNone/>
            </a:pPr>
            <a:r>
              <a:rPr lang="en-GB" altLang="en-US" sz="1800" dirty="0"/>
              <a:t>The basic SMPS block diagram is as follows:</a:t>
            </a:r>
            <a:endParaRPr lang="en-GB" dirty="0"/>
          </a:p>
        </p:txBody>
      </p:sp>
      <p:sp>
        <p:nvSpPr>
          <p:cNvPr id="12" name="TextBox 11">
            <a:extLst>
              <a:ext uri="{FF2B5EF4-FFF2-40B4-BE49-F238E27FC236}">
                <a16:creationId xmlns:a16="http://schemas.microsoft.com/office/drawing/2014/main" id="{837E4197-25E1-DB0C-0C1E-231A8C1B98C1}"/>
              </a:ext>
            </a:extLst>
          </p:cNvPr>
          <p:cNvSpPr txBox="1"/>
          <p:nvPr/>
        </p:nvSpPr>
        <p:spPr>
          <a:xfrm>
            <a:off x="92931" y="1553820"/>
            <a:ext cx="6221288" cy="369332"/>
          </a:xfrm>
          <a:prstGeom prst="rect">
            <a:avLst/>
          </a:prstGeom>
          <a:noFill/>
        </p:spPr>
        <p:txBody>
          <a:bodyPr wrap="square">
            <a:spAutoFit/>
          </a:bodyPr>
          <a:lstStyle/>
          <a:p>
            <a:pPr eaLnBrk="1" hangingPunct="1">
              <a:spcBef>
                <a:spcPct val="50000"/>
              </a:spcBef>
              <a:buFontTx/>
              <a:buNone/>
            </a:pPr>
            <a:r>
              <a:rPr lang="en-GB" altLang="en-US" b="1" dirty="0">
                <a:solidFill>
                  <a:srgbClr val="0000CC"/>
                </a:solidFill>
                <a:latin typeface="Arial" panose="020B0604020202020204" pitchFamily="34" charset="0"/>
              </a:rPr>
              <a:t>1. The step-down or “buck” converter. [</a:t>
            </a:r>
            <a:r>
              <a:rPr lang="en-GB" altLang="en-US" b="1" dirty="0" err="1">
                <a:solidFill>
                  <a:srgbClr val="0000CC"/>
                </a:solidFill>
                <a:latin typeface="Arial" panose="020B0604020202020204" pitchFamily="34" charset="0"/>
              </a:rPr>
              <a:t>Vout</a:t>
            </a:r>
            <a:r>
              <a:rPr lang="en-GB" altLang="en-US" b="1" dirty="0">
                <a:solidFill>
                  <a:srgbClr val="0000CC"/>
                </a:solidFill>
                <a:latin typeface="Arial" panose="020B0604020202020204" pitchFamily="34" charset="0"/>
              </a:rPr>
              <a:t> &lt; Vin]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9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20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20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20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20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20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0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20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20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20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2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2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nimBg="1"/>
      <p:bldP spid="8197" grpId="0" animBg="1"/>
      <p:bldP spid="8198" grpId="0" animBg="1"/>
      <p:bldP spid="8199" grpId="0" animBg="1"/>
      <p:bldP spid="8200" grpId="0" animBg="1"/>
      <p:bldP spid="8201" grpId="0" animBg="1"/>
      <p:bldP spid="8202" grpId="0" animBg="1"/>
      <p:bldP spid="8203" grpId="0" animBg="1"/>
      <p:bldP spid="8204" grpId="0" animBg="1"/>
      <p:bldP spid="8205" grpId="0" animBg="1"/>
      <p:bldP spid="8206" grpId="0" animBg="1"/>
      <p:bldP spid="8207" grpId="0"/>
      <p:bldP spid="8208" grpId="0" animBg="1"/>
      <p:bldP spid="8209" grpId="0"/>
      <p:bldP spid="8210" grpId="0" animBg="1"/>
      <p:bldP spid="8211" grpId="0" animBg="1"/>
      <p:bldP spid="3" grpId="0"/>
      <p:bldP spid="6" grpId="0"/>
      <p:bldP spid="8" grpId="0"/>
      <p:bldP spid="10"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4">
            <a:extLst>
              <a:ext uri="{FF2B5EF4-FFF2-40B4-BE49-F238E27FC236}">
                <a16:creationId xmlns:a16="http://schemas.microsoft.com/office/drawing/2014/main" id="{F59045BE-BB19-F641-BCDF-FE5E8B19C32D}"/>
              </a:ext>
            </a:extLst>
          </p:cNvPr>
          <p:cNvSpPr txBox="1">
            <a:spLocks noChangeArrowheads="1"/>
          </p:cNvSpPr>
          <p:nvPr/>
        </p:nvSpPr>
        <p:spPr bwMode="auto">
          <a:xfrm>
            <a:off x="196805" y="225514"/>
            <a:ext cx="3243081"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400" b="1" u="sng" dirty="0"/>
              <a:t>The Buck Converter</a:t>
            </a:r>
            <a:endParaRPr lang="en-US" altLang="en-US" sz="2400" b="1" u="sng" dirty="0"/>
          </a:p>
        </p:txBody>
      </p:sp>
      <p:sp>
        <p:nvSpPr>
          <p:cNvPr id="4" name="TextBox 3">
            <a:extLst>
              <a:ext uri="{FF2B5EF4-FFF2-40B4-BE49-F238E27FC236}">
                <a16:creationId xmlns:a16="http://schemas.microsoft.com/office/drawing/2014/main" id="{59D0B00B-6C3D-BC22-EE1C-09774BE47EF3}"/>
              </a:ext>
            </a:extLst>
          </p:cNvPr>
          <p:cNvSpPr txBox="1"/>
          <p:nvPr/>
        </p:nvSpPr>
        <p:spPr>
          <a:xfrm>
            <a:off x="100149" y="855004"/>
            <a:ext cx="8817428" cy="3046988"/>
          </a:xfrm>
          <a:prstGeom prst="rect">
            <a:avLst/>
          </a:prstGeom>
          <a:noFill/>
        </p:spPr>
        <p:txBody>
          <a:bodyPr wrap="square">
            <a:spAutoFit/>
          </a:bodyPr>
          <a:lstStyle/>
          <a:p>
            <a:pPr marL="1085850" lvl="1" indent="-342900">
              <a:buFontTx/>
              <a:buChar char="-"/>
            </a:pPr>
            <a:r>
              <a:rPr lang="en-GB" altLang="en-US" sz="3200" dirty="0"/>
              <a:t>How it works?</a:t>
            </a:r>
          </a:p>
          <a:p>
            <a:pPr marL="1085850" lvl="1" indent="-342900">
              <a:buFontTx/>
              <a:buChar char="-"/>
            </a:pPr>
            <a:r>
              <a:rPr lang="en-GB" altLang="en-US" sz="3200" dirty="0"/>
              <a:t>Important waveforms</a:t>
            </a:r>
          </a:p>
          <a:p>
            <a:pPr marL="1085850" lvl="1" indent="-342900">
              <a:buFontTx/>
              <a:buChar char="-"/>
            </a:pPr>
            <a:r>
              <a:rPr lang="en-GB" altLang="en-US" sz="3200" dirty="0"/>
              <a:t>Expression for output voltage</a:t>
            </a:r>
          </a:p>
          <a:p>
            <a:pPr marL="1543050" lvl="2" indent="-342900">
              <a:buFontTx/>
              <a:buChar char="-"/>
            </a:pPr>
            <a:r>
              <a:rPr lang="en-GB" altLang="en-US" sz="3200" dirty="0"/>
              <a:t>Based on average voltage of inductor</a:t>
            </a:r>
          </a:p>
          <a:p>
            <a:pPr marL="1543050" lvl="2" indent="-342900">
              <a:buFontTx/>
              <a:buChar char="-"/>
            </a:pPr>
            <a:r>
              <a:rPr lang="en-GB" altLang="en-US" sz="3200" dirty="0"/>
              <a:t>Based on change in current of inductor</a:t>
            </a:r>
          </a:p>
          <a:p>
            <a:pPr marL="1085850" lvl="1" indent="-342900">
              <a:buFontTx/>
              <a:buChar char="-"/>
            </a:pPr>
            <a:r>
              <a:rPr lang="en-GB" altLang="en-US" sz="3200" dirty="0"/>
              <a:t>Numerical Problems</a:t>
            </a:r>
          </a:p>
        </p:txBody>
      </p:sp>
    </p:spTree>
    <p:extLst>
      <p:ext uri="{BB962C8B-B14F-4D97-AF65-F5344CB8AC3E}">
        <p14:creationId xmlns:p14="http://schemas.microsoft.com/office/powerpoint/2010/main" val="3488060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F47A723D-3343-BD41-8678-1EC03B01F54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B00CFE7-B48D-F84C-9239-420558A96625}" type="slidenum">
              <a:rPr lang="en-US" altLang="en-US" sz="1400"/>
              <a:pPr>
                <a:spcBef>
                  <a:spcPct val="0"/>
                </a:spcBef>
                <a:buFontTx/>
                <a:buNone/>
              </a:pPr>
              <a:t>14</a:t>
            </a:fld>
            <a:endParaRPr lang="en-US" altLang="en-US" sz="1400"/>
          </a:p>
        </p:txBody>
      </p:sp>
      <p:sp>
        <p:nvSpPr>
          <p:cNvPr id="35843" name="Text Box 4">
            <a:extLst>
              <a:ext uri="{FF2B5EF4-FFF2-40B4-BE49-F238E27FC236}">
                <a16:creationId xmlns:a16="http://schemas.microsoft.com/office/drawing/2014/main" id="{F59045BE-BB19-F641-BCDF-FE5E8B19C32D}"/>
              </a:ext>
            </a:extLst>
          </p:cNvPr>
          <p:cNvSpPr txBox="1">
            <a:spLocks noChangeArrowheads="1"/>
          </p:cNvSpPr>
          <p:nvPr/>
        </p:nvSpPr>
        <p:spPr bwMode="auto">
          <a:xfrm>
            <a:off x="179388" y="155842"/>
            <a:ext cx="88566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400" b="1" u="sng" dirty="0"/>
              <a:t>The Buck Converter</a:t>
            </a:r>
            <a:endParaRPr lang="en-US" altLang="en-US" sz="2400" b="1" u="sng" dirty="0"/>
          </a:p>
        </p:txBody>
      </p:sp>
      <p:sp>
        <p:nvSpPr>
          <p:cNvPr id="35844" name="Rectangle 6">
            <a:extLst>
              <a:ext uri="{FF2B5EF4-FFF2-40B4-BE49-F238E27FC236}">
                <a16:creationId xmlns:a16="http://schemas.microsoft.com/office/drawing/2014/main" id="{AEC91DBB-AF12-F341-9D03-CC7534B23419}"/>
              </a:ext>
            </a:extLst>
          </p:cNvPr>
          <p:cNvSpPr>
            <a:spLocks noChangeArrowheads="1"/>
          </p:cNvSpPr>
          <p:nvPr/>
        </p:nvSpPr>
        <p:spPr bwMode="auto">
          <a:xfrm>
            <a:off x="250825" y="2206625"/>
            <a:ext cx="433388" cy="71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45" name="Rectangle 7">
            <a:extLst>
              <a:ext uri="{FF2B5EF4-FFF2-40B4-BE49-F238E27FC236}">
                <a16:creationId xmlns:a16="http://schemas.microsoft.com/office/drawing/2014/main" id="{9DDEFE13-F881-E440-8C12-13DD51C25087}"/>
              </a:ext>
            </a:extLst>
          </p:cNvPr>
          <p:cNvSpPr>
            <a:spLocks noChangeArrowheads="1"/>
          </p:cNvSpPr>
          <p:nvPr/>
        </p:nvSpPr>
        <p:spPr bwMode="auto">
          <a:xfrm>
            <a:off x="323850" y="2349500"/>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46" name="Line 8">
            <a:extLst>
              <a:ext uri="{FF2B5EF4-FFF2-40B4-BE49-F238E27FC236}">
                <a16:creationId xmlns:a16="http://schemas.microsoft.com/office/drawing/2014/main" id="{598EFD28-1C1E-EE46-BE62-9B417B76C3CC}"/>
              </a:ext>
            </a:extLst>
          </p:cNvPr>
          <p:cNvSpPr>
            <a:spLocks noChangeShapeType="1"/>
          </p:cNvSpPr>
          <p:nvPr/>
        </p:nvSpPr>
        <p:spPr bwMode="auto">
          <a:xfrm flipV="1">
            <a:off x="468313" y="1412875"/>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7" name="Line 9">
            <a:extLst>
              <a:ext uri="{FF2B5EF4-FFF2-40B4-BE49-F238E27FC236}">
                <a16:creationId xmlns:a16="http://schemas.microsoft.com/office/drawing/2014/main" id="{D5132230-2DED-C14D-B896-3020CA42AEAD}"/>
              </a:ext>
            </a:extLst>
          </p:cNvPr>
          <p:cNvSpPr>
            <a:spLocks noChangeShapeType="1"/>
          </p:cNvSpPr>
          <p:nvPr/>
        </p:nvSpPr>
        <p:spPr bwMode="auto">
          <a:xfrm flipV="1">
            <a:off x="468313" y="2422525"/>
            <a:ext cx="0" cy="646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 name="Line 10">
            <a:extLst>
              <a:ext uri="{FF2B5EF4-FFF2-40B4-BE49-F238E27FC236}">
                <a16:creationId xmlns:a16="http://schemas.microsoft.com/office/drawing/2014/main" id="{528E1A48-F975-0A40-8CE6-CC93D89249E9}"/>
              </a:ext>
            </a:extLst>
          </p:cNvPr>
          <p:cNvSpPr>
            <a:spLocks noChangeShapeType="1"/>
          </p:cNvSpPr>
          <p:nvPr/>
        </p:nvSpPr>
        <p:spPr bwMode="auto">
          <a:xfrm flipV="1">
            <a:off x="755650" y="206057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9" name="Text Box 11">
            <a:extLst>
              <a:ext uri="{FF2B5EF4-FFF2-40B4-BE49-F238E27FC236}">
                <a16:creationId xmlns:a16="http://schemas.microsoft.com/office/drawing/2014/main" id="{216B63DB-954E-B046-8281-610490C39FD7}"/>
              </a:ext>
            </a:extLst>
          </p:cNvPr>
          <p:cNvSpPr txBox="1">
            <a:spLocks noChangeArrowheads="1"/>
          </p:cNvSpPr>
          <p:nvPr/>
        </p:nvSpPr>
        <p:spPr bwMode="auto">
          <a:xfrm>
            <a:off x="684213" y="2060575"/>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35850" name="Line 12">
            <a:extLst>
              <a:ext uri="{FF2B5EF4-FFF2-40B4-BE49-F238E27FC236}">
                <a16:creationId xmlns:a16="http://schemas.microsoft.com/office/drawing/2014/main" id="{6310DC22-6162-8146-8D4E-1C57681837B9}"/>
              </a:ext>
            </a:extLst>
          </p:cNvPr>
          <p:cNvSpPr>
            <a:spLocks noChangeShapeType="1"/>
          </p:cNvSpPr>
          <p:nvPr/>
        </p:nvSpPr>
        <p:spPr bwMode="auto">
          <a:xfrm>
            <a:off x="468313" y="1412875"/>
            <a:ext cx="1150937"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5851" name="Group 13">
            <a:extLst>
              <a:ext uri="{FF2B5EF4-FFF2-40B4-BE49-F238E27FC236}">
                <a16:creationId xmlns:a16="http://schemas.microsoft.com/office/drawing/2014/main" id="{32CCEC5E-644A-9142-B657-3E6043D6EC18}"/>
              </a:ext>
            </a:extLst>
          </p:cNvPr>
          <p:cNvGrpSpPr>
            <a:grpSpLocks/>
          </p:cNvGrpSpPr>
          <p:nvPr/>
        </p:nvGrpSpPr>
        <p:grpSpPr bwMode="auto">
          <a:xfrm rot="-5400000">
            <a:off x="3937000" y="669926"/>
            <a:ext cx="314325" cy="1530350"/>
            <a:chOff x="3211" y="2176"/>
            <a:chExt cx="198" cy="964"/>
          </a:xfrm>
        </p:grpSpPr>
        <p:sp>
          <p:nvSpPr>
            <p:cNvPr id="35886" name="Oval 14">
              <a:extLst>
                <a:ext uri="{FF2B5EF4-FFF2-40B4-BE49-F238E27FC236}">
                  <a16:creationId xmlns:a16="http://schemas.microsoft.com/office/drawing/2014/main" id="{33143E2C-88E7-3F4C-B0BC-21629E11809D}"/>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87" name="Oval 15">
              <a:extLst>
                <a:ext uri="{FF2B5EF4-FFF2-40B4-BE49-F238E27FC236}">
                  <a16:creationId xmlns:a16="http://schemas.microsoft.com/office/drawing/2014/main" id="{73316E64-37B0-A542-87CA-754EF2FDE5EA}"/>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88" name="Oval 16">
              <a:extLst>
                <a:ext uri="{FF2B5EF4-FFF2-40B4-BE49-F238E27FC236}">
                  <a16:creationId xmlns:a16="http://schemas.microsoft.com/office/drawing/2014/main" id="{F643FEA4-5F6A-D344-82F1-A52DE7206A5C}"/>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89" name="Oval 17">
              <a:extLst>
                <a:ext uri="{FF2B5EF4-FFF2-40B4-BE49-F238E27FC236}">
                  <a16:creationId xmlns:a16="http://schemas.microsoft.com/office/drawing/2014/main" id="{8B62735E-E16E-7E46-9165-383E3E003F9F}"/>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0" name="Oval 18">
              <a:extLst>
                <a:ext uri="{FF2B5EF4-FFF2-40B4-BE49-F238E27FC236}">
                  <a16:creationId xmlns:a16="http://schemas.microsoft.com/office/drawing/2014/main" id="{7B3F5B23-BAA3-1D4F-87AE-5237999D056D}"/>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1" name="Oval 19">
              <a:extLst>
                <a:ext uri="{FF2B5EF4-FFF2-40B4-BE49-F238E27FC236}">
                  <a16:creationId xmlns:a16="http://schemas.microsoft.com/office/drawing/2014/main" id="{8FCC7332-A269-264F-847B-3C125D9AC16B}"/>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2" name="Rectangle 20">
              <a:extLst>
                <a:ext uri="{FF2B5EF4-FFF2-40B4-BE49-F238E27FC236}">
                  <a16:creationId xmlns:a16="http://schemas.microsoft.com/office/drawing/2014/main" id="{B2D1E4F6-684B-8C4F-A0C1-A16675D0D97F}"/>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3" name="Line 21">
              <a:extLst>
                <a:ext uri="{FF2B5EF4-FFF2-40B4-BE49-F238E27FC236}">
                  <a16:creationId xmlns:a16="http://schemas.microsoft.com/office/drawing/2014/main" id="{ADAD01C5-F311-A941-AC2D-B16719DC5AEB}"/>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94" name="Line 22">
              <a:extLst>
                <a:ext uri="{FF2B5EF4-FFF2-40B4-BE49-F238E27FC236}">
                  <a16:creationId xmlns:a16="http://schemas.microsoft.com/office/drawing/2014/main" id="{93AB5305-3E1C-E24D-A4E8-AF0DB7783624}"/>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52" name="Line 23">
            <a:extLst>
              <a:ext uri="{FF2B5EF4-FFF2-40B4-BE49-F238E27FC236}">
                <a16:creationId xmlns:a16="http://schemas.microsoft.com/office/drawing/2014/main" id="{EDCA09B6-3959-B040-B65B-CC4149AD5987}"/>
              </a:ext>
            </a:extLst>
          </p:cNvPr>
          <p:cNvSpPr>
            <a:spLocks noChangeShapeType="1"/>
          </p:cNvSpPr>
          <p:nvPr/>
        </p:nvSpPr>
        <p:spPr bwMode="auto">
          <a:xfrm flipH="1">
            <a:off x="1979613" y="1412875"/>
            <a:ext cx="1368425"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3" name="Line 24">
            <a:extLst>
              <a:ext uri="{FF2B5EF4-FFF2-40B4-BE49-F238E27FC236}">
                <a16:creationId xmlns:a16="http://schemas.microsoft.com/office/drawing/2014/main" id="{43B36FCA-F4EA-084B-A044-ABBE64FA4893}"/>
              </a:ext>
            </a:extLst>
          </p:cNvPr>
          <p:cNvSpPr>
            <a:spLocks noChangeShapeType="1"/>
          </p:cNvSpPr>
          <p:nvPr/>
        </p:nvSpPr>
        <p:spPr bwMode="auto">
          <a:xfrm flipV="1">
            <a:off x="1619250" y="1403319"/>
            <a:ext cx="352417" cy="95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5854" name="Group 25">
            <a:extLst>
              <a:ext uri="{FF2B5EF4-FFF2-40B4-BE49-F238E27FC236}">
                <a16:creationId xmlns:a16="http://schemas.microsoft.com/office/drawing/2014/main" id="{CBDC0745-1C63-224A-B088-AC3F5D98E8C5}"/>
              </a:ext>
            </a:extLst>
          </p:cNvPr>
          <p:cNvGrpSpPr>
            <a:grpSpLocks/>
          </p:cNvGrpSpPr>
          <p:nvPr/>
        </p:nvGrpSpPr>
        <p:grpSpPr bwMode="auto">
          <a:xfrm rot="-5400000">
            <a:off x="2591594" y="2024856"/>
            <a:ext cx="215900" cy="287338"/>
            <a:chOff x="1973" y="2160"/>
            <a:chExt cx="136" cy="181"/>
          </a:xfrm>
        </p:grpSpPr>
        <p:sp>
          <p:nvSpPr>
            <p:cNvPr id="35882" name="Line 26">
              <a:extLst>
                <a:ext uri="{FF2B5EF4-FFF2-40B4-BE49-F238E27FC236}">
                  <a16:creationId xmlns:a16="http://schemas.microsoft.com/office/drawing/2014/main" id="{9042AE06-D8E7-0841-B37B-B18A63547EB0}"/>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3" name="Line 27">
              <a:extLst>
                <a:ext uri="{FF2B5EF4-FFF2-40B4-BE49-F238E27FC236}">
                  <a16:creationId xmlns:a16="http://schemas.microsoft.com/office/drawing/2014/main" id="{7E573734-E33D-7745-B6B7-647647ED4F8B}"/>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4" name="Line 28">
              <a:extLst>
                <a:ext uri="{FF2B5EF4-FFF2-40B4-BE49-F238E27FC236}">
                  <a16:creationId xmlns:a16="http://schemas.microsoft.com/office/drawing/2014/main" id="{EFAC4B1A-6414-C443-A8DB-1CA791619F0F}"/>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5" name="Line 29">
              <a:extLst>
                <a:ext uri="{FF2B5EF4-FFF2-40B4-BE49-F238E27FC236}">
                  <a16:creationId xmlns:a16="http://schemas.microsoft.com/office/drawing/2014/main" id="{84F9F09F-AC11-BC42-BDD0-46DE24B346BC}"/>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55" name="Rectangle 30">
            <a:extLst>
              <a:ext uri="{FF2B5EF4-FFF2-40B4-BE49-F238E27FC236}">
                <a16:creationId xmlns:a16="http://schemas.microsoft.com/office/drawing/2014/main" id="{C71436ED-9B83-3749-B1A4-8C08FFCE6178}"/>
              </a:ext>
            </a:extLst>
          </p:cNvPr>
          <p:cNvSpPr>
            <a:spLocks noChangeArrowheads="1"/>
          </p:cNvSpPr>
          <p:nvPr/>
        </p:nvSpPr>
        <p:spPr bwMode="auto">
          <a:xfrm>
            <a:off x="5148263" y="1989138"/>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56" name="Rectangle 31">
            <a:extLst>
              <a:ext uri="{FF2B5EF4-FFF2-40B4-BE49-F238E27FC236}">
                <a16:creationId xmlns:a16="http://schemas.microsoft.com/office/drawing/2014/main" id="{DE1A53B9-61D7-0140-B12E-5948D66E5E7A}"/>
              </a:ext>
            </a:extLst>
          </p:cNvPr>
          <p:cNvSpPr>
            <a:spLocks noChangeArrowheads="1"/>
          </p:cNvSpPr>
          <p:nvPr/>
        </p:nvSpPr>
        <p:spPr bwMode="auto">
          <a:xfrm>
            <a:off x="5148263" y="2133600"/>
            <a:ext cx="431800" cy="714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57" name="Line 32">
            <a:extLst>
              <a:ext uri="{FF2B5EF4-FFF2-40B4-BE49-F238E27FC236}">
                <a16:creationId xmlns:a16="http://schemas.microsoft.com/office/drawing/2014/main" id="{C56F1AE0-2E10-FC4D-9E28-92856BEA7DFF}"/>
              </a:ext>
            </a:extLst>
          </p:cNvPr>
          <p:cNvSpPr>
            <a:spLocks noChangeShapeType="1"/>
          </p:cNvSpPr>
          <p:nvPr/>
        </p:nvSpPr>
        <p:spPr bwMode="auto">
          <a:xfrm flipV="1">
            <a:off x="5364163" y="2205038"/>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8" name="Line 33">
            <a:extLst>
              <a:ext uri="{FF2B5EF4-FFF2-40B4-BE49-F238E27FC236}">
                <a16:creationId xmlns:a16="http://schemas.microsoft.com/office/drawing/2014/main" id="{D8CE19AE-077A-CF4C-AC41-1C1871B098AF}"/>
              </a:ext>
            </a:extLst>
          </p:cNvPr>
          <p:cNvSpPr>
            <a:spLocks noChangeShapeType="1"/>
          </p:cNvSpPr>
          <p:nvPr/>
        </p:nvSpPr>
        <p:spPr bwMode="auto">
          <a:xfrm>
            <a:off x="5364163" y="14128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9" name="Line 34">
            <a:extLst>
              <a:ext uri="{FF2B5EF4-FFF2-40B4-BE49-F238E27FC236}">
                <a16:creationId xmlns:a16="http://schemas.microsoft.com/office/drawing/2014/main" id="{BDD2658C-4E9C-734B-B426-3308DAD6D6E3}"/>
              </a:ext>
            </a:extLst>
          </p:cNvPr>
          <p:cNvSpPr>
            <a:spLocks noChangeShapeType="1"/>
          </p:cNvSpPr>
          <p:nvPr/>
        </p:nvSpPr>
        <p:spPr bwMode="auto">
          <a:xfrm>
            <a:off x="4859338" y="1412875"/>
            <a:ext cx="1081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0" name="Oval 35">
            <a:extLst>
              <a:ext uri="{FF2B5EF4-FFF2-40B4-BE49-F238E27FC236}">
                <a16:creationId xmlns:a16="http://schemas.microsoft.com/office/drawing/2014/main" id="{BE738D4C-AA0A-1045-848F-EDDAE0919B77}"/>
              </a:ext>
            </a:extLst>
          </p:cNvPr>
          <p:cNvSpPr>
            <a:spLocks noChangeArrowheads="1"/>
          </p:cNvSpPr>
          <p:nvPr/>
        </p:nvSpPr>
        <p:spPr bwMode="auto">
          <a:xfrm>
            <a:off x="5940425" y="2998788"/>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1" name="Oval 36">
            <a:extLst>
              <a:ext uri="{FF2B5EF4-FFF2-40B4-BE49-F238E27FC236}">
                <a16:creationId xmlns:a16="http://schemas.microsoft.com/office/drawing/2014/main" id="{DA910A30-BCA7-7A4A-A3CA-EB2092C55C80}"/>
              </a:ext>
            </a:extLst>
          </p:cNvPr>
          <p:cNvSpPr>
            <a:spLocks noChangeArrowheads="1"/>
          </p:cNvSpPr>
          <p:nvPr/>
        </p:nvSpPr>
        <p:spPr bwMode="auto">
          <a:xfrm>
            <a:off x="5940425" y="1341438"/>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2" name="Line 38">
            <a:extLst>
              <a:ext uri="{FF2B5EF4-FFF2-40B4-BE49-F238E27FC236}">
                <a16:creationId xmlns:a16="http://schemas.microsoft.com/office/drawing/2014/main" id="{13574333-3838-F548-ADAF-7F475E2A7432}"/>
              </a:ext>
            </a:extLst>
          </p:cNvPr>
          <p:cNvSpPr>
            <a:spLocks noChangeShapeType="1"/>
          </p:cNvSpPr>
          <p:nvPr/>
        </p:nvSpPr>
        <p:spPr bwMode="auto">
          <a:xfrm>
            <a:off x="468313" y="3068638"/>
            <a:ext cx="547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3" name="Line 39">
            <a:extLst>
              <a:ext uri="{FF2B5EF4-FFF2-40B4-BE49-F238E27FC236}">
                <a16:creationId xmlns:a16="http://schemas.microsoft.com/office/drawing/2014/main" id="{3E7825BD-9EB0-544A-AA44-1EE467F99E5D}"/>
              </a:ext>
            </a:extLst>
          </p:cNvPr>
          <p:cNvSpPr>
            <a:spLocks noChangeShapeType="1"/>
          </p:cNvSpPr>
          <p:nvPr/>
        </p:nvSpPr>
        <p:spPr bwMode="auto">
          <a:xfrm>
            <a:off x="2700338" y="2276475"/>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4" name="Line 40">
            <a:extLst>
              <a:ext uri="{FF2B5EF4-FFF2-40B4-BE49-F238E27FC236}">
                <a16:creationId xmlns:a16="http://schemas.microsoft.com/office/drawing/2014/main" id="{19EB8545-F21E-AD4A-98DA-35923A22740A}"/>
              </a:ext>
            </a:extLst>
          </p:cNvPr>
          <p:cNvSpPr>
            <a:spLocks noChangeShapeType="1"/>
          </p:cNvSpPr>
          <p:nvPr/>
        </p:nvSpPr>
        <p:spPr bwMode="auto">
          <a:xfrm flipV="1">
            <a:off x="2700338" y="1412875"/>
            <a:ext cx="0"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5" name="Rectangle 44">
            <a:extLst>
              <a:ext uri="{FF2B5EF4-FFF2-40B4-BE49-F238E27FC236}">
                <a16:creationId xmlns:a16="http://schemas.microsoft.com/office/drawing/2014/main" id="{8C97CE03-10D6-4247-85AF-24C8CA6EB395}"/>
              </a:ext>
            </a:extLst>
          </p:cNvPr>
          <p:cNvSpPr>
            <a:spLocks noChangeArrowheads="1"/>
          </p:cNvSpPr>
          <p:nvPr/>
        </p:nvSpPr>
        <p:spPr bwMode="auto">
          <a:xfrm>
            <a:off x="1331913" y="1917700"/>
            <a:ext cx="914400" cy="3603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35866" name="Line 46">
            <a:extLst>
              <a:ext uri="{FF2B5EF4-FFF2-40B4-BE49-F238E27FC236}">
                <a16:creationId xmlns:a16="http://schemas.microsoft.com/office/drawing/2014/main" id="{33310E45-6E8E-AF42-8F0C-2E000C8923B4}"/>
              </a:ext>
            </a:extLst>
          </p:cNvPr>
          <p:cNvSpPr>
            <a:spLocks noChangeShapeType="1"/>
          </p:cNvSpPr>
          <p:nvPr/>
        </p:nvSpPr>
        <p:spPr bwMode="auto">
          <a:xfrm flipV="1">
            <a:off x="1763713" y="1485900"/>
            <a:ext cx="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7" name="Freeform 47">
            <a:extLst>
              <a:ext uri="{FF2B5EF4-FFF2-40B4-BE49-F238E27FC236}">
                <a16:creationId xmlns:a16="http://schemas.microsoft.com/office/drawing/2014/main" id="{095927C4-6F76-0A4C-A041-44188C7B2E78}"/>
              </a:ext>
            </a:extLst>
          </p:cNvPr>
          <p:cNvSpPr>
            <a:spLocks/>
          </p:cNvSpPr>
          <p:nvPr/>
        </p:nvSpPr>
        <p:spPr bwMode="auto">
          <a:xfrm>
            <a:off x="6084888" y="1412875"/>
            <a:ext cx="431800" cy="1655763"/>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8" name="Rectangle 48">
            <a:extLst>
              <a:ext uri="{FF2B5EF4-FFF2-40B4-BE49-F238E27FC236}">
                <a16:creationId xmlns:a16="http://schemas.microsoft.com/office/drawing/2014/main" id="{174B0D92-0C76-074E-B6B6-1A9BF85C35B9}"/>
              </a:ext>
            </a:extLst>
          </p:cNvPr>
          <p:cNvSpPr>
            <a:spLocks noChangeArrowheads="1"/>
          </p:cNvSpPr>
          <p:nvPr/>
        </p:nvSpPr>
        <p:spPr bwMode="auto">
          <a:xfrm>
            <a:off x="6443663" y="1773238"/>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9" name="Text Box 49">
            <a:extLst>
              <a:ext uri="{FF2B5EF4-FFF2-40B4-BE49-F238E27FC236}">
                <a16:creationId xmlns:a16="http://schemas.microsoft.com/office/drawing/2014/main" id="{5633AE27-69C7-B140-920E-9B2533657998}"/>
              </a:ext>
            </a:extLst>
          </p:cNvPr>
          <p:cNvSpPr txBox="1">
            <a:spLocks noChangeArrowheads="1"/>
          </p:cNvSpPr>
          <p:nvPr/>
        </p:nvSpPr>
        <p:spPr bwMode="auto">
          <a:xfrm>
            <a:off x="1398588" y="925511"/>
            <a:ext cx="85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Switch</a:t>
            </a:r>
            <a:endParaRPr lang="en-US" altLang="en-US" sz="1800" dirty="0"/>
          </a:p>
        </p:txBody>
      </p:sp>
      <p:sp>
        <p:nvSpPr>
          <p:cNvPr id="35870" name="Line 50">
            <a:extLst>
              <a:ext uri="{FF2B5EF4-FFF2-40B4-BE49-F238E27FC236}">
                <a16:creationId xmlns:a16="http://schemas.microsoft.com/office/drawing/2014/main" id="{32E4CAFA-BFB5-2246-93FD-D668FD488CE4}"/>
              </a:ext>
            </a:extLst>
          </p:cNvPr>
          <p:cNvSpPr>
            <a:spLocks noChangeShapeType="1"/>
          </p:cNvSpPr>
          <p:nvPr/>
        </p:nvSpPr>
        <p:spPr bwMode="auto">
          <a:xfrm>
            <a:off x="3276600" y="909638"/>
            <a:ext cx="1439863"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1" name="Text Box 51">
            <a:extLst>
              <a:ext uri="{FF2B5EF4-FFF2-40B4-BE49-F238E27FC236}">
                <a16:creationId xmlns:a16="http://schemas.microsoft.com/office/drawing/2014/main" id="{C32D3F98-2B5C-4B41-9993-0158D5DEDCAC}"/>
              </a:ext>
            </a:extLst>
          </p:cNvPr>
          <p:cNvSpPr txBox="1">
            <a:spLocks noChangeArrowheads="1"/>
          </p:cNvSpPr>
          <p:nvPr/>
        </p:nvSpPr>
        <p:spPr bwMode="auto">
          <a:xfrm>
            <a:off x="3419475" y="549275"/>
            <a:ext cx="1174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0000"/>
                </a:solidFill>
              </a:rPr>
              <a:t>Switch on</a:t>
            </a:r>
            <a:endParaRPr lang="en-US" altLang="en-US" sz="1800">
              <a:solidFill>
                <a:srgbClr val="FF0000"/>
              </a:solidFill>
            </a:endParaRPr>
          </a:p>
        </p:txBody>
      </p:sp>
      <p:sp>
        <p:nvSpPr>
          <p:cNvPr id="35872" name="Text Box 55">
            <a:extLst>
              <a:ext uri="{FF2B5EF4-FFF2-40B4-BE49-F238E27FC236}">
                <a16:creationId xmlns:a16="http://schemas.microsoft.com/office/drawing/2014/main" id="{DD096575-CEB4-F443-A4C6-1ACF403EAE83}"/>
              </a:ext>
            </a:extLst>
          </p:cNvPr>
          <p:cNvSpPr txBox="1">
            <a:spLocks noChangeArrowheads="1"/>
          </p:cNvSpPr>
          <p:nvPr/>
        </p:nvSpPr>
        <p:spPr bwMode="auto">
          <a:xfrm>
            <a:off x="2411413" y="2205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35873" name="Text Box 56">
            <a:extLst>
              <a:ext uri="{FF2B5EF4-FFF2-40B4-BE49-F238E27FC236}">
                <a16:creationId xmlns:a16="http://schemas.microsoft.com/office/drawing/2014/main" id="{DC505EE8-4D79-A143-A5CD-F3E20350719C}"/>
              </a:ext>
            </a:extLst>
          </p:cNvPr>
          <p:cNvSpPr txBox="1">
            <a:spLocks noChangeArrowheads="1"/>
          </p:cNvSpPr>
          <p:nvPr/>
        </p:nvSpPr>
        <p:spPr bwMode="auto">
          <a:xfrm>
            <a:off x="5003800" y="22050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35874" name="Text Box 57">
            <a:extLst>
              <a:ext uri="{FF2B5EF4-FFF2-40B4-BE49-F238E27FC236}">
                <a16:creationId xmlns:a16="http://schemas.microsoft.com/office/drawing/2014/main" id="{54976236-69BD-6347-86DD-AC04287DDA06}"/>
              </a:ext>
            </a:extLst>
          </p:cNvPr>
          <p:cNvSpPr txBox="1">
            <a:spLocks noChangeArrowheads="1"/>
          </p:cNvSpPr>
          <p:nvPr/>
        </p:nvSpPr>
        <p:spPr bwMode="auto">
          <a:xfrm>
            <a:off x="6011863" y="1989138"/>
            <a:ext cx="433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35875" name="Text Box 58">
            <a:extLst>
              <a:ext uri="{FF2B5EF4-FFF2-40B4-BE49-F238E27FC236}">
                <a16:creationId xmlns:a16="http://schemas.microsoft.com/office/drawing/2014/main" id="{29B7D792-AA80-1346-9667-759397C0B712}"/>
              </a:ext>
            </a:extLst>
          </p:cNvPr>
          <p:cNvSpPr txBox="1">
            <a:spLocks noChangeArrowheads="1"/>
          </p:cNvSpPr>
          <p:nvPr/>
        </p:nvSpPr>
        <p:spPr bwMode="auto">
          <a:xfrm>
            <a:off x="6726238" y="2060575"/>
            <a:ext cx="5826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35876" name="Line 59">
            <a:extLst>
              <a:ext uri="{FF2B5EF4-FFF2-40B4-BE49-F238E27FC236}">
                <a16:creationId xmlns:a16="http://schemas.microsoft.com/office/drawing/2014/main" id="{BB0494FA-C780-5046-9091-1C07B8F24659}"/>
              </a:ext>
            </a:extLst>
          </p:cNvPr>
          <p:cNvSpPr>
            <a:spLocks noChangeShapeType="1"/>
          </p:cNvSpPr>
          <p:nvPr/>
        </p:nvSpPr>
        <p:spPr bwMode="auto">
          <a:xfrm flipV="1">
            <a:off x="6732588" y="1412875"/>
            <a:ext cx="0" cy="1655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7" name="Line 60">
            <a:extLst>
              <a:ext uri="{FF2B5EF4-FFF2-40B4-BE49-F238E27FC236}">
                <a16:creationId xmlns:a16="http://schemas.microsoft.com/office/drawing/2014/main" id="{B63F47ED-9905-2F42-97DB-1F01902A73CC}"/>
              </a:ext>
            </a:extLst>
          </p:cNvPr>
          <p:cNvSpPr>
            <a:spLocks noChangeShapeType="1"/>
          </p:cNvSpPr>
          <p:nvPr/>
        </p:nvSpPr>
        <p:spPr bwMode="auto">
          <a:xfrm flipH="1">
            <a:off x="3563938" y="1125538"/>
            <a:ext cx="936625" cy="0"/>
          </a:xfrm>
          <a:prstGeom prst="line">
            <a:avLst/>
          </a:prstGeom>
          <a:noFill/>
          <a:ln w="25400">
            <a:solidFill>
              <a:srgbClr val="3366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8" name="Text Box 61">
            <a:extLst>
              <a:ext uri="{FF2B5EF4-FFF2-40B4-BE49-F238E27FC236}">
                <a16:creationId xmlns:a16="http://schemas.microsoft.com/office/drawing/2014/main" id="{00604D7C-6935-CD40-BF85-F61AACFB0D8E}"/>
              </a:ext>
            </a:extLst>
          </p:cNvPr>
          <p:cNvSpPr txBox="1">
            <a:spLocks noChangeArrowheads="1"/>
          </p:cNvSpPr>
          <p:nvPr/>
        </p:nvSpPr>
        <p:spPr bwMode="auto">
          <a:xfrm>
            <a:off x="4572000" y="981075"/>
            <a:ext cx="4206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35879" name="Text Box 62">
            <a:extLst>
              <a:ext uri="{FF2B5EF4-FFF2-40B4-BE49-F238E27FC236}">
                <a16:creationId xmlns:a16="http://schemas.microsoft.com/office/drawing/2014/main" id="{A0817E54-93D6-5C46-8BE0-2D99BF32C5E9}"/>
              </a:ext>
            </a:extLst>
          </p:cNvPr>
          <p:cNvSpPr txBox="1">
            <a:spLocks noChangeArrowheads="1"/>
          </p:cNvSpPr>
          <p:nvPr/>
        </p:nvSpPr>
        <p:spPr bwMode="auto">
          <a:xfrm>
            <a:off x="107950" y="3300413"/>
            <a:ext cx="8856663"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000" dirty="0"/>
              <a:t>The circuit shows the SMPS circuit for a buck converter. When the switch is first closed, current starts to flow through the inductor and into the capacitor. The voltage across the inductor, V</a:t>
            </a:r>
            <a:r>
              <a:rPr lang="en-GB" altLang="en-US" sz="2000" baseline="-25000" dirty="0"/>
              <a:t>L</a:t>
            </a:r>
            <a:r>
              <a:rPr lang="en-GB" altLang="en-US" sz="2000" dirty="0"/>
              <a:t>, is the difference between the input voltage V</a:t>
            </a:r>
            <a:r>
              <a:rPr lang="en-GB" altLang="en-US" sz="2000" baseline="-25000" dirty="0"/>
              <a:t>IN</a:t>
            </a:r>
            <a:r>
              <a:rPr lang="en-GB" altLang="en-US" sz="2000" dirty="0"/>
              <a:t> and the output voltage </a:t>
            </a:r>
            <a:r>
              <a:rPr lang="en-GB" altLang="en-US" sz="2000" dirty="0" err="1"/>
              <a:t>V</a:t>
            </a:r>
            <a:r>
              <a:rPr lang="en-GB" altLang="en-US" sz="2000" baseline="-25000" dirty="0" err="1"/>
              <a:t>Out</a:t>
            </a:r>
            <a:r>
              <a:rPr lang="en-GB" altLang="en-US" sz="2000" dirty="0"/>
              <a:t>. The diode is reverse biased </a:t>
            </a:r>
            <a:r>
              <a:rPr lang="zh-CN" altLang="en-US" sz="2000" dirty="0">
                <a:ea typeface="宋体" panose="02010600030101010101" pitchFamily="2" charset="-122"/>
              </a:rPr>
              <a:t>偏置 </a:t>
            </a:r>
            <a:r>
              <a:rPr lang="en-GB" altLang="en-US" sz="2000" dirty="0"/>
              <a:t>(“off”) by the supply voltage V</a:t>
            </a:r>
            <a:r>
              <a:rPr lang="en-GB" altLang="en-US" sz="2000" baseline="-25000" dirty="0"/>
              <a:t>IN</a:t>
            </a:r>
            <a:r>
              <a:rPr lang="en-GB" altLang="en-US" sz="2000" dirty="0"/>
              <a:t> and does not conduct any current. The rate of change of current into the capacitor is limited by the inductor (</a:t>
            </a:r>
            <a:r>
              <a:rPr lang="en-GB" altLang="en-US" sz="2000" dirty="0">
                <a:latin typeface="Times New Roman" panose="02020603050405020304" pitchFamily="18" charset="0"/>
              </a:rPr>
              <a:t>V = L di/dt</a:t>
            </a:r>
            <a:r>
              <a:rPr lang="en-GB" altLang="en-US" sz="2000" dirty="0"/>
              <a:t>). At some point T</a:t>
            </a:r>
            <a:r>
              <a:rPr lang="en-GB" altLang="en-US" sz="2000" baseline="-25000" dirty="0"/>
              <a:t>off</a:t>
            </a:r>
            <a:r>
              <a:rPr lang="en-GB" altLang="en-US" sz="2000" dirty="0"/>
              <a:t> the switch is opened. At this point the current through the inductor has risen to </a:t>
            </a:r>
            <a:r>
              <a:rPr lang="en-GB" altLang="en-US" sz="2000" dirty="0" err="1"/>
              <a:t>I</a:t>
            </a:r>
            <a:r>
              <a:rPr lang="en-GB" altLang="en-US" sz="2000" baseline="-25000" dirty="0" err="1"/>
              <a:t>Max</a:t>
            </a:r>
            <a:r>
              <a:rPr lang="en-GB" altLang="en-US" sz="2000" dirty="0"/>
              <a:t> and the energy in the inductor (</a:t>
            </a:r>
            <a:r>
              <a:rPr lang="en-US" altLang="en-US" sz="2000" dirty="0">
                <a:cs typeface="Arial" panose="020B0604020202020204" pitchFamily="34" charset="0"/>
              </a:rPr>
              <a:t>½LI</a:t>
            </a:r>
            <a:r>
              <a:rPr lang="en-US" altLang="en-US" sz="2000" baseline="30000" dirty="0">
                <a:cs typeface="Arial" panose="020B0604020202020204" pitchFamily="34" charset="0"/>
              </a:rPr>
              <a:t>2</a:t>
            </a:r>
            <a:r>
              <a:rPr lang="en-US" altLang="en-US" sz="2000" dirty="0">
                <a:cs typeface="Arial" panose="020B0604020202020204" pitchFamily="34" charset="0"/>
              </a:rPr>
              <a:t>) is stored in its magnetic field.</a:t>
            </a:r>
          </a:p>
        </p:txBody>
      </p:sp>
      <p:sp>
        <p:nvSpPr>
          <p:cNvPr id="35880" name="TextBox 1">
            <a:extLst>
              <a:ext uri="{FF2B5EF4-FFF2-40B4-BE49-F238E27FC236}">
                <a16:creationId xmlns:a16="http://schemas.microsoft.com/office/drawing/2014/main" id="{1D41E9F9-2F6B-6640-A2C5-D51AD644FF06}"/>
              </a:ext>
            </a:extLst>
          </p:cNvPr>
          <p:cNvSpPr txBox="1">
            <a:spLocks noChangeArrowheads="1"/>
          </p:cNvSpPr>
          <p:nvPr/>
        </p:nvSpPr>
        <p:spPr bwMode="auto">
          <a:xfrm>
            <a:off x="4859338" y="549275"/>
            <a:ext cx="1952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800" b="1">
                <a:solidFill>
                  <a:srgbClr val="0000FF"/>
                </a:solidFill>
              </a:rPr>
              <a:t>Charging</a:t>
            </a:r>
          </a:p>
        </p:txBody>
      </p:sp>
      <p:sp>
        <p:nvSpPr>
          <p:cNvPr id="35881" name="Rectangle 2">
            <a:extLst>
              <a:ext uri="{FF2B5EF4-FFF2-40B4-BE49-F238E27FC236}">
                <a16:creationId xmlns:a16="http://schemas.microsoft.com/office/drawing/2014/main" id="{63C44091-C277-1642-8B93-732F28D816C4}"/>
              </a:ext>
            </a:extLst>
          </p:cNvPr>
          <p:cNvSpPr>
            <a:spLocks noChangeArrowheads="1"/>
          </p:cNvSpPr>
          <p:nvPr/>
        </p:nvSpPr>
        <p:spPr bwMode="auto">
          <a:xfrm>
            <a:off x="7234238" y="1038225"/>
            <a:ext cx="16319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800" b="1">
                <a:ea typeface="宋体" panose="02010600030101010101" pitchFamily="2" charset="-122"/>
              </a:rPr>
              <a:t>Circuit State 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E74AC11E-7735-4343-90C5-793261D0817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B468867-47BA-2841-86BD-F1FBF245BD76}" type="slidenum">
              <a:rPr lang="en-US" altLang="en-US" sz="1400"/>
              <a:pPr>
                <a:spcBef>
                  <a:spcPct val="0"/>
                </a:spcBef>
                <a:buFontTx/>
                <a:buNone/>
              </a:pPr>
              <a:t>15</a:t>
            </a:fld>
            <a:endParaRPr lang="en-US" altLang="en-US" sz="1400"/>
          </a:p>
        </p:txBody>
      </p:sp>
      <p:sp>
        <p:nvSpPr>
          <p:cNvPr id="36867" name="Rectangle 4">
            <a:extLst>
              <a:ext uri="{FF2B5EF4-FFF2-40B4-BE49-F238E27FC236}">
                <a16:creationId xmlns:a16="http://schemas.microsoft.com/office/drawing/2014/main" id="{71CE0196-3EC8-314C-BF66-1709BF71BD15}"/>
              </a:ext>
            </a:extLst>
          </p:cNvPr>
          <p:cNvSpPr>
            <a:spLocks noChangeArrowheads="1"/>
          </p:cNvSpPr>
          <p:nvPr/>
        </p:nvSpPr>
        <p:spPr bwMode="auto">
          <a:xfrm>
            <a:off x="250825" y="1846263"/>
            <a:ext cx="433388" cy="71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868" name="Rectangle 5">
            <a:extLst>
              <a:ext uri="{FF2B5EF4-FFF2-40B4-BE49-F238E27FC236}">
                <a16:creationId xmlns:a16="http://schemas.microsoft.com/office/drawing/2014/main" id="{315EF8D1-485A-8747-A27F-FB24364BF04F}"/>
              </a:ext>
            </a:extLst>
          </p:cNvPr>
          <p:cNvSpPr>
            <a:spLocks noChangeArrowheads="1"/>
          </p:cNvSpPr>
          <p:nvPr/>
        </p:nvSpPr>
        <p:spPr bwMode="auto">
          <a:xfrm>
            <a:off x="323850" y="1989138"/>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869" name="Line 6">
            <a:extLst>
              <a:ext uri="{FF2B5EF4-FFF2-40B4-BE49-F238E27FC236}">
                <a16:creationId xmlns:a16="http://schemas.microsoft.com/office/drawing/2014/main" id="{703009AE-0156-3246-B334-8D3B16068B94}"/>
              </a:ext>
            </a:extLst>
          </p:cNvPr>
          <p:cNvSpPr>
            <a:spLocks noChangeShapeType="1"/>
          </p:cNvSpPr>
          <p:nvPr/>
        </p:nvSpPr>
        <p:spPr bwMode="auto">
          <a:xfrm flipV="1">
            <a:off x="468313" y="1052513"/>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0" name="Line 7">
            <a:extLst>
              <a:ext uri="{FF2B5EF4-FFF2-40B4-BE49-F238E27FC236}">
                <a16:creationId xmlns:a16="http://schemas.microsoft.com/office/drawing/2014/main" id="{74796F61-207D-5F44-AF7B-C3DCE0A11D51}"/>
              </a:ext>
            </a:extLst>
          </p:cNvPr>
          <p:cNvSpPr>
            <a:spLocks noChangeShapeType="1"/>
          </p:cNvSpPr>
          <p:nvPr/>
        </p:nvSpPr>
        <p:spPr bwMode="auto">
          <a:xfrm flipV="1">
            <a:off x="468313" y="2062163"/>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1" name="Line 8">
            <a:extLst>
              <a:ext uri="{FF2B5EF4-FFF2-40B4-BE49-F238E27FC236}">
                <a16:creationId xmlns:a16="http://schemas.microsoft.com/office/drawing/2014/main" id="{3F11B2C9-4C3F-5943-A015-7D16CA672565}"/>
              </a:ext>
            </a:extLst>
          </p:cNvPr>
          <p:cNvSpPr>
            <a:spLocks noChangeShapeType="1"/>
          </p:cNvSpPr>
          <p:nvPr/>
        </p:nvSpPr>
        <p:spPr bwMode="auto">
          <a:xfrm flipV="1">
            <a:off x="755650" y="170021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2" name="Text Box 9">
            <a:extLst>
              <a:ext uri="{FF2B5EF4-FFF2-40B4-BE49-F238E27FC236}">
                <a16:creationId xmlns:a16="http://schemas.microsoft.com/office/drawing/2014/main" id="{AAF6F788-6E41-5841-A82C-50D40932F79E}"/>
              </a:ext>
            </a:extLst>
          </p:cNvPr>
          <p:cNvSpPr txBox="1">
            <a:spLocks noChangeArrowheads="1"/>
          </p:cNvSpPr>
          <p:nvPr/>
        </p:nvSpPr>
        <p:spPr bwMode="auto">
          <a:xfrm>
            <a:off x="684213" y="1700213"/>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36873" name="Line 10">
            <a:extLst>
              <a:ext uri="{FF2B5EF4-FFF2-40B4-BE49-F238E27FC236}">
                <a16:creationId xmlns:a16="http://schemas.microsoft.com/office/drawing/2014/main" id="{3F203D0C-10A8-2043-8199-A2AC34EE9AE4}"/>
              </a:ext>
            </a:extLst>
          </p:cNvPr>
          <p:cNvSpPr>
            <a:spLocks noChangeShapeType="1"/>
          </p:cNvSpPr>
          <p:nvPr/>
        </p:nvSpPr>
        <p:spPr bwMode="auto">
          <a:xfrm>
            <a:off x="468313" y="1052513"/>
            <a:ext cx="1150937"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6874" name="Group 11">
            <a:extLst>
              <a:ext uri="{FF2B5EF4-FFF2-40B4-BE49-F238E27FC236}">
                <a16:creationId xmlns:a16="http://schemas.microsoft.com/office/drawing/2014/main" id="{15E6FF7A-A82A-4444-B26E-66A35DFF545C}"/>
              </a:ext>
            </a:extLst>
          </p:cNvPr>
          <p:cNvGrpSpPr>
            <a:grpSpLocks/>
          </p:cNvGrpSpPr>
          <p:nvPr/>
        </p:nvGrpSpPr>
        <p:grpSpPr bwMode="auto">
          <a:xfrm rot="-5400000">
            <a:off x="3937000" y="309563"/>
            <a:ext cx="314325" cy="1530350"/>
            <a:chOff x="3211" y="2176"/>
            <a:chExt cx="198" cy="964"/>
          </a:xfrm>
        </p:grpSpPr>
        <p:sp>
          <p:nvSpPr>
            <p:cNvPr id="36909" name="Oval 12">
              <a:extLst>
                <a:ext uri="{FF2B5EF4-FFF2-40B4-BE49-F238E27FC236}">
                  <a16:creationId xmlns:a16="http://schemas.microsoft.com/office/drawing/2014/main" id="{DE8BD370-8D7F-0640-BC34-161E918AD6F7}"/>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910" name="Oval 13">
              <a:extLst>
                <a:ext uri="{FF2B5EF4-FFF2-40B4-BE49-F238E27FC236}">
                  <a16:creationId xmlns:a16="http://schemas.microsoft.com/office/drawing/2014/main" id="{3BB0B35C-2478-1146-9BC6-0888711568C9}"/>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911" name="Oval 14">
              <a:extLst>
                <a:ext uri="{FF2B5EF4-FFF2-40B4-BE49-F238E27FC236}">
                  <a16:creationId xmlns:a16="http://schemas.microsoft.com/office/drawing/2014/main" id="{D933FE97-08FE-FD42-A162-0C3B43102D94}"/>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912" name="Oval 15">
              <a:extLst>
                <a:ext uri="{FF2B5EF4-FFF2-40B4-BE49-F238E27FC236}">
                  <a16:creationId xmlns:a16="http://schemas.microsoft.com/office/drawing/2014/main" id="{68D92C97-AB1F-6F41-94DF-DE38B8D45017}"/>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913" name="Oval 16">
              <a:extLst>
                <a:ext uri="{FF2B5EF4-FFF2-40B4-BE49-F238E27FC236}">
                  <a16:creationId xmlns:a16="http://schemas.microsoft.com/office/drawing/2014/main" id="{A492AC20-A534-7E47-850D-7E97D4793230}"/>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914" name="Oval 17">
              <a:extLst>
                <a:ext uri="{FF2B5EF4-FFF2-40B4-BE49-F238E27FC236}">
                  <a16:creationId xmlns:a16="http://schemas.microsoft.com/office/drawing/2014/main" id="{E3D862E6-5985-3141-968D-B471FE2F87BB}"/>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915" name="Rectangle 18">
              <a:extLst>
                <a:ext uri="{FF2B5EF4-FFF2-40B4-BE49-F238E27FC236}">
                  <a16:creationId xmlns:a16="http://schemas.microsoft.com/office/drawing/2014/main" id="{78E69C2E-4B05-8F41-8921-51A2C164BF73}"/>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916" name="Line 19">
              <a:extLst>
                <a:ext uri="{FF2B5EF4-FFF2-40B4-BE49-F238E27FC236}">
                  <a16:creationId xmlns:a16="http://schemas.microsoft.com/office/drawing/2014/main" id="{59427598-774A-DE46-B7DA-74BE14802995}"/>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17" name="Line 20">
              <a:extLst>
                <a:ext uri="{FF2B5EF4-FFF2-40B4-BE49-F238E27FC236}">
                  <a16:creationId xmlns:a16="http://schemas.microsoft.com/office/drawing/2014/main" id="{26CF3FD4-F25C-BD4E-BA1D-40243EFCDB8F}"/>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6875" name="Line 21">
            <a:extLst>
              <a:ext uri="{FF2B5EF4-FFF2-40B4-BE49-F238E27FC236}">
                <a16:creationId xmlns:a16="http://schemas.microsoft.com/office/drawing/2014/main" id="{CD4CFAD0-DEE8-0C42-99F3-CF871238B9B9}"/>
              </a:ext>
            </a:extLst>
          </p:cNvPr>
          <p:cNvSpPr>
            <a:spLocks noChangeShapeType="1"/>
          </p:cNvSpPr>
          <p:nvPr/>
        </p:nvSpPr>
        <p:spPr bwMode="auto">
          <a:xfrm flipH="1">
            <a:off x="1979613" y="1052513"/>
            <a:ext cx="1368425"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6" name="Line 22">
            <a:extLst>
              <a:ext uri="{FF2B5EF4-FFF2-40B4-BE49-F238E27FC236}">
                <a16:creationId xmlns:a16="http://schemas.microsoft.com/office/drawing/2014/main" id="{26ED7618-13CF-2F42-B95C-CAD2A41E96C5}"/>
              </a:ext>
            </a:extLst>
          </p:cNvPr>
          <p:cNvSpPr>
            <a:spLocks noChangeShapeType="1"/>
          </p:cNvSpPr>
          <p:nvPr/>
        </p:nvSpPr>
        <p:spPr bwMode="auto">
          <a:xfrm flipV="1">
            <a:off x="1619250" y="908050"/>
            <a:ext cx="360363" cy="144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6877" name="Group 23">
            <a:extLst>
              <a:ext uri="{FF2B5EF4-FFF2-40B4-BE49-F238E27FC236}">
                <a16:creationId xmlns:a16="http://schemas.microsoft.com/office/drawing/2014/main" id="{F4BB86CB-AC55-1A45-969A-6A374899C5B2}"/>
              </a:ext>
            </a:extLst>
          </p:cNvPr>
          <p:cNvGrpSpPr>
            <a:grpSpLocks/>
          </p:cNvGrpSpPr>
          <p:nvPr/>
        </p:nvGrpSpPr>
        <p:grpSpPr bwMode="auto">
          <a:xfrm rot="-5400000">
            <a:off x="2591594" y="1664494"/>
            <a:ext cx="215900" cy="287338"/>
            <a:chOff x="1973" y="2160"/>
            <a:chExt cx="136" cy="181"/>
          </a:xfrm>
        </p:grpSpPr>
        <p:sp>
          <p:nvSpPr>
            <p:cNvPr id="36905" name="Line 24">
              <a:extLst>
                <a:ext uri="{FF2B5EF4-FFF2-40B4-BE49-F238E27FC236}">
                  <a16:creationId xmlns:a16="http://schemas.microsoft.com/office/drawing/2014/main" id="{FA23D618-678E-7840-91BD-F3B1A3933E37}"/>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06" name="Line 25">
              <a:extLst>
                <a:ext uri="{FF2B5EF4-FFF2-40B4-BE49-F238E27FC236}">
                  <a16:creationId xmlns:a16="http://schemas.microsoft.com/office/drawing/2014/main" id="{D5BC5980-5065-DE4D-B076-DF4F201F1226}"/>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07" name="Line 26">
              <a:extLst>
                <a:ext uri="{FF2B5EF4-FFF2-40B4-BE49-F238E27FC236}">
                  <a16:creationId xmlns:a16="http://schemas.microsoft.com/office/drawing/2014/main" id="{CCB51AD8-79C4-1B46-BFF0-3E430E1E3DD7}"/>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08" name="Line 27">
              <a:extLst>
                <a:ext uri="{FF2B5EF4-FFF2-40B4-BE49-F238E27FC236}">
                  <a16:creationId xmlns:a16="http://schemas.microsoft.com/office/drawing/2014/main" id="{E1C2357B-BF4F-994A-91CA-FBDDA831EAA4}"/>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6882" name="Line 32">
            <a:extLst>
              <a:ext uri="{FF2B5EF4-FFF2-40B4-BE49-F238E27FC236}">
                <a16:creationId xmlns:a16="http://schemas.microsoft.com/office/drawing/2014/main" id="{A34F63E2-BB2E-934F-8EED-1A964B2F69F6}"/>
              </a:ext>
            </a:extLst>
          </p:cNvPr>
          <p:cNvSpPr>
            <a:spLocks noChangeShapeType="1"/>
          </p:cNvSpPr>
          <p:nvPr/>
        </p:nvSpPr>
        <p:spPr bwMode="auto">
          <a:xfrm>
            <a:off x="4859338" y="1052513"/>
            <a:ext cx="10810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5" name="Line 35">
            <a:extLst>
              <a:ext uri="{FF2B5EF4-FFF2-40B4-BE49-F238E27FC236}">
                <a16:creationId xmlns:a16="http://schemas.microsoft.com/office/drawing/2014/main" id="{F1BE886C-93A5-3148-A87F-B20567D982D0}"/>
              </a:ext>
            </a:extLst>
          </p:cNvPr>
          <p:cNvSpPr>
            <a:spLocks noChangeShapeType="1"/>
          </p:cNvSpPr>
          <p:nvPr/>
        </p:nvSpPr>
        <p:spPr bwMode="auto">
          <a:xfrm>
            <a:off x="468313" y="2708275"/>
            <a:ext cx="547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6" name="Line 36">
            <a:extLst>
              <a:ext uri="{FF2B5EF4-FFF2-40B4-BE49-F238E27FC236}">
                <a16:creationId xmlns:a16="http://schemas.microsoft.com/office/drawing/2014/main" id="{76E14612-E333-0042-A82C-5CC5316E3D11}"/>
              </a:ext>
            </a:extLst>
          </p:cNvPr>
          <p:cNvSpPr>
            <a:spLocks noChangeShapeType="1"/>
          </p:cNvSpPr>
          <p:nvPr/>
        </p:nvSpPr>
        <p:spPr bwMode="auto">
          <a:xfrm>
            <a:off x="2700338" y="1916113"/>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7" name="Line 37">
            <a:extLst>
              <a:ext uri="{FF2B5EF4-FFF2-40B4-BE49-F238E27FC236}">
                <a16:creationId xmlns:a16="http://schemas.microsoft.com/office/drawing/2014/main" id="{4829F8AB-04D1-664D-BA05-748ABFDD9EA8}"/>
              </a:ext>
            </a:extLst>
          </p:cNvPr>
          <p:cNvSpPr>
            <a:spLocks noChangeShapeType="1"/>
          </p:cNvSpPr>
          <p:nvPr/>
        </p:nvSpPr>
        <p:spPr bwMode="auto">
          <a:xfrm flipV="1">
            <a:off x="2700338" y="1052513"/>
            <a:ext cx="0"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8" name="Rectangle 38">
            <a:extLst>
              <a:ext uri="{FF2B5EF4-FFF2-40B4-BE49-F238E27FC236}">
                <a16:creationId xmlns:a16="http://schemas.microsoft.com/office/drawing/2014/main" id="{216665B6-E453-BD40-8F7F-A5ACAF352DBC}"/>
              </a:ext>
            </a:extLst>
          </p:cNvPr>
          <p:cNvSpPr>
            <a:spLocks noChangeArrowheads="1"/>
          </p:cNvSpPr>
          <p:nvPr/>
        </p:nvSpPr>
        <p:spPr bwMode="auto">
          <a:xfrm>
            <a:off x="1331913" y="1557338"/>
            <a:ext cx="914400"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36889" name="Line 39">
            <a:extLst>
              <a:ext uri="{FF2B5EF4-FFF2-40B4-BE49-F238E27FC236}">
                <a16:creationId xmlns:a16="http://schemas.microsoft.com/office/drawing/2014/main" id="{DDFDB21F-AF89-E143-91A1-EB365A46647C}"/>
              </a:ext>
            </a:extLst>
          </p:cNvPr>
          <p:cNvSpPr>
            <a:spLocks noChangeShapeType="1"/>
          </p:cNvSpPr>
          <p:nvPr/>
        </p:nvSpPr>
        <p:spPr bwMode="auto">
          <a:xfrm flipV="1">
            <a:off x="1763713" y="1125538"/>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92" name="Text Box 42">
            <a:extLst>
              <a:ext uri="{FF2B5EF4-FFF2-40B4-BE49-F238E27FC236}">
                <a16:creationId xmlns:a16="http://schemas.microsoft.com/office/drawing/2014/main" id="{0BBD7BA2-3739-AE43-BF26-C0939607F7E6}"/>
              </a:ext>
            </a:extLst>
          </p:cNvPr>
          <p:cNvSpPr txBox="1">
            <a:spLocks noChangeArrowheads="1"/>
          </p:cNvSpPr>
          <p:nvPr/>
        </p:nvSpPr>
        <p:spPr bwMode="auto">
          <a:xfrm>
            <a:off x="1403350" y="620713"/>
            <a:ext cx="857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36895" name="Text Box 47">
            <a:extLst>
              <a:ext uri="{FF2B5EF4-FFF2-40B4-BE49-F238E27FC236}">
                <a16:creationId xmlns:a16="http://schemas.microsoft.com/office/drawing/2014/main" id="{6DCA9899-F9AE-7B43-85B8-FCB99EC9A5FF}"/>
              </a:ext>
            </a:extLst>
          </p:cNvPr>
          <p:cNvSpPr txBox="1">
            <a:spLocks noChangeArrowheads="1"/>
          </p:cNvSpPr>
          <p:nvPr/>
        </p:nvSpPr>
        <p:spPr bwMode="auto">
          <a:xfrm>
            <a:off x="2411413" y="1844675"/>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grpSp>
        <p:nvGrpSpPr>
          <p:cNvPr id="3" name="Group 2">
            <a:extLst>
              <a:ext uri="{FF2B5EF4-FFF2-40B4-BE49-F238E27FC236}">
                <a16:creationId xmlns:a16="http://schemas.microsoft.com/office/drawing/2014/main" id="{64205FED-9CA6-5C35-4E06-A8107B1573A0}"/>
              </a:ext>
            </a:extLst>
          </p:cNvPr>
          <p:cNvGrpSpPr/>
          <p:nvPr/>
        </p:nvGrpSpPr>
        <p:grpSpPr>
          <a:xfrm>
            <a:off x="5003800" y="1052513"/>
            <a:ext cx="576263" cy="1655762"/>
            <a:chOff x="5003800" y="1052513"/>
            <a:chExt cx="576263" cy="1655762"/>
          </a:xfrm>
        </p:grpSpPr>
        <p:sp>
          <p:nvSpPr>
            <p:cNvPr id="36878" name="Rectangle 28">
              <a:extLst>
                <a:ext uri="{FF2B5EF4-FFF2-40B4-BE49-F238E27FC236}">
                  <a16:creationId xmlns:a16="http://schemas.microsoft.com/office/drawing/2014/main" id="{E0CF7D38-9903-7649-A7D7-7FAB88105000}"/>
                </a:ext>
              </a:extLst>
            </p:cNvPr>
            <p:cNvSpPr>
              <a:spLocks noChangeArrowheads="1"/>
            </p:cNvSpPr>
            <p:nvPr/>
          </p:nvSpPr>
          <p:spPr bwMode="auto">
            <a:xfrm>
              <a:off x="5148263" y="1628775"/>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879" name="Rectangle 29">
              <a:extLst>
                <a:ext uri="{FF2B5EF4-FFF2-40B4-BE49-F238E27FC236}">
                  <a16:creationId xmlns:a16="http://schemas.microsoft.com/office/drawing/2014/main" id="{09F7DC89-B688-3140-9D6C-B0ED5A46D59C}"/>
                </a:ext>
              </a:extLst>
            </p:cNvPr>
            <p:cNvSpPr>
              <a:spLocks noChangeArrowheads="1"/>
            </p:cNvSpPr>
            <p:nvPr/>
          </p:nvSpPr>
          <p:spPr bwMode="auto">
            <a:xfrm>
              <a:off x="5148263" y="1773238"/>
              <a:ext cx="431800" cy="7143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880" name="Line 30">
              <a:extLst>
                <a:ext uri="{FF2B5EF4-FFF2-40B4-BE49-F238E27FC236}">
                  <a16:creationId xmlns:a16="http://schemas.microsoft.com/office/drawing/2014/main" id="{9BEB8A3B-A908-9F4B-8327-23E35BA90B6B}"/>
                </a:ext>
              </a:extLst>
            </p:cNvPr>
            <p:cNvSpPr>
              <a:spLocks noChangeShapeType="1"/>
            </p:cNvSpPr>
            <p:nvPr/>
          </p:nvSpPr>
          <p:spPr bwMode="auto">
            <a:xfrm flipV="1">
              <a:off x="5364163" y="1844675"/>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1" name="Line 31">
              <a:extLst>
                <a:ext uri="{FF2B5EF4-FFF2-40B4-BE49-F238E27FC236}">
                  <a16:creationId xmlns:a16="http://schemas.microsoft.com/office/drawing/2014/main" id="{8A3B1847-641A-A64F-BCEE-61640D1F2766}"/>
                </a:ext>
              </a:extLst>
            </p:cNvPr>
            <p:cNvSpPr>
              <a:spLocks noChangeShapeType="1"/>
            </p:cNvSpPr>
            <p:nvPr/>
          </p:nvSpPr>
          <p:spPr bwMode="auto">
            <a:xfrm>
              <a:off x="5364163" y="1052513"/>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96" name="Text Box 48">
              <a:extLst>
                <a:ext uri="{FF2B5EF4-FFF2-40B4-BE49-F238E27FC236}">
                  <a16:creationId xmlns:a16="http://schemas.microsoft.com/office/drawing/2014/main" id="{857122EF-42BC-FC4A-8B42-D6A2ED1ACDB6}"/>
                </a:ext>
              </a:extLst>
            </p:cNvPr>
            <p:cNvSpPr txBox="1">
              <a:spLocks noChangeArrowheads="1"/>
            </p:cNvSpPr>
            <p:nvPr/>
          </p:nvSpPr>
          <p:spPr bwMode="auto">
            <a:xfrm>
              <a:off x="5003800" y="1844675"/>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grpSp>
      <p:grpSp>
        <p:nvGrpSpPr>
          <p:cNvPr id="2" name="Group 1">
            <a:extLst>
              <a:ext uri="{FF2B5EF4-FFF2-40B4-BE49-F238E27FC236}">
                <a16:creationId xmlns:a16="http://schemas.microsoft.com/office/drawing/2014/main" id="{1797F3A7-CC5A-E320-7607-86A1FD321742}"/>
              </a:ext>
            </a:extLst>
          </p:cNvPr>
          <p:cNvGrpSpPr/>
          <p:nvPr/>
        </p:nvGrpSpPr>
        <p:grpSpPr>
          <a:xfrm>
            <a:off x="5940425" y="981075"/>
            <a:ext cx="696913" cy="1800225"/>
            <a:chOff x="5940425" y="981075"/>
            <a:chExt cx="696913" cy="1800225"/>
          </a:xfrm>
        </p:grpSpPr>
        <p:sp>
          <p:nvSpPr>
            <p:cNvPr id="36883" name="Oval 33">
              <a:extLst>
                <a:ext uri="{FF2B5EF4-FFF2-40B4-BE49-F238E27FC236}">
                  <a16:creationId xmlns:a16="http://schemas.microsoft.com/office/drawing/2014/main" id="{C11B7380-463C-2940-9D5D-C4BDA316842B}"/>
                </a:ext>
              </a:extLst>
            </p:cNvPr>
            <p:cNvSpPr>
              <a:spLocks noChangeArrowheads="1"/>
            </p:cNvSpPr>
            <p:nvPr/>
          </p:nvSpPr>
          <p:spPr bwMode="auto">
            <a:xfrm>
              <a:off x="5940425" y="2638425"/>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884" name="Oval 34">
              <a:extLst>
                <a:ext uri="{FF2B5EF4-FFF2-40B4-BE49-F238E27FC236}">
                  <a16:creationId xmlns:a16="http://schemas.microsoft.com/office/drawing/2014/main" id="{4CAF946D-D74D-CB48-B37A-5C9DDD35DF06}"/>
                </a:ext>
              </a:extLst>
            </p:cNvPr>
            <p:cNvSpPr>
              <a:spLocks noChangeArrowheads="1"/>
            </p:cNvSpPr>
            <p:nvPr/>
          </p:nvSpPr>
          <p:spPr bwMode="auto">
            <a:xfrm>
              <a:off x="5940425" y="981075"/>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890" name="Freeform 40">
              <a:extLst>
                <a:ext uri="{FF2B5EF4-FFF2-40B4-BE49-F238E27FC236}">
                  <a16:creationId xmlns:a16="http://schemas.microsoft.com/office/drawing/2014/main" id="{6C802D02-6816-C14E-B88D-E04594DBDE86}"/>
                </a:ext>
              </a:extLst>
            </p:cNvPr>
            <p:cNvSpPr>
              <a:spLocks/>
            </p:cNvSpPr>
            <p:nvPr/>
          </p:nvSpPr>
          <p:spPr bwMode="auto">
            <a:xfrm>
              <a:off x="6084888" y="1052513"/>
              <a:ext cx="431800" cy="1655762"/>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91" name="Rectangle 41">
              <a:extLst>
                <a:ext uri="{FF2B5EF4-FFF2-40B4-BE49-F238E27FC236}">
                  <a16:creationId xmlns:a16="http://schemas.microsoft.com/office/drawing/2014/main" id="{2568BF0D-0982-1240-9DA6-144EBA1BE731}"/>
                </a:ext>
              </a:extLst>
            </p:cNvPr>
            <p:cNvSpPr>
              <a:spLocks noChangeArrowheads="1"/>
            </p:cNvSpPr>
            <p:nvPr/>
          </p:nvSpPr>
          <p:spPr bwMode="auto">
            <a:xfrm>
              <a:off x="6443663" y="1412875"/>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6897" name="Text Box 49">
              <a:extLst>
                <a:ext uri="{FF2B5EF4-FFF2-40B4-BE49-F238E27FC236}">
                  <a16:creationId xmlns:a16="http://schemas.microsoft.com/office/drawing/2014/main" id="{D82AB4B0-3D7C-4F4E-B063-D4EE83217313}"/>
                </a:ext>
              </a:extLst>
            </p:cNvPr>
            <p:cNvSpPr txBox="1">
              <a:spLocks noChangeArrowheads="1"/>
            </p:cNvSpPr>
            <p:nvPr/>
          </p:nvSpPr>
          <p:spPr bwMode="auto">
            <a:xfrm>
              <a:off x="6011863" y="1628775"/>
              <a:ext cx="4333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grpSp>
      <p:sp>
        <p:nvSpPr>
          <p:cNvPr id="36898" name="Text Box 50">
            <a:extLst>
              <a:ext uri="{FF2B5EF4-FFF2-40B4-BE49-F238E27FC236}">
                <a16:creationId xmlns:a16="http://schemas.microsoft.com/office/drawing/2014/main" id="{428034F1-B0F8-9549-8EF8-F14ADC8AC865}"/>
              </a:ext>
            </a:extLst>
          </p:cNvPr>
          <p:cNvSpPr txBox="1">
            <a:spLocks noChangeArrowheads="1"/>
          </p:cNvSpPr>
          <p:nvPr/>
        </p:nvSpPr>
        <p:spPr bwMode="auto">
          <a:xfrm>
            <a:off x="6726238" y="1700213"/>
            <a:ext cx="5826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36899" name="Line 51">
            <a:extLst>
              <a:ext uri="{FF2B5EF4-FFF2-40B4-BE49-F238E27FC236}">
                <a16:creationId xmlns:a16="http://schemas.microsoft.com/office/drawing/2014/main" id="{6E7C1BAB-DEB6-B74E-A39A-22CE26D70B6A}"/>
              </a:ext>
            </a:extLst>
          </p:cNvPr>
          <p:cNvSpPr>
            <a:spLocks noChangeShapeType="1"/>
          </p:cNvSpPr>
          <p:nvPr/>
        </p:nvSpPr>
        <p:spPr bwMode="auto">
          <a:xfrm flipV="1">
            <a:off x="6732588" y="1052513"/>
            <a:ext cx="0" cy="16557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902" name="Text Box 54">
            <a:extLst>
              <a:ext uri="{FF2B5EF4-FFF2-40B4-BE49-F238E27FC236}">
                <a16:creationId xmlns:a16="http://schemas.microsoft.com/office/drawing/2014/main" id="{E8CF3FE8-AB99-F149-8669-476AAF9BE263}"/>
              </a:ext>
            </a:extLst>
          </p:cNvPr>
          <p:cNvSpPr txBox="1">
            <a:spLocks noChangeArrowheads="1"/>
          </p:cNvSpPr>
          <p:nvPr/>
        </p:nvSpPr>
        <p:spPr bwMode="auto">
          <a:xfrm>
            <a:off x="0" y="2843213"/>
            <a:ext cx="9144000" cy="338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a:t>As soon as the switch is opened, the potential on the switched side of the inductor goes sharply negative (but the current continues to flow) as the energy in the magnetic field tries to maintain the current through the inductor. This has the effect of bringing the diode into conduction (hence V</a:t>
            </a:r>
            <a:r>
              <a:rPr lang="en-GB" altLang="en-US" sz="1800" baseline="-25000"/>
              <a:t>L</a:t>
            </a:r>
            <a:r>
              <a:rPr lang="en-GB" altLang="en-US" sz="1800"/>
              <a:t> = -V</a:t>
            </a:r>
            <a:r>
              <a:rPr lang="en-GB" altLang="en-US" sz="1800" baseline="-25000"/>
              <a:t>Out</a:t>
            </a:r>
            <a:r>
              <a:rPr lang="en-GB" altLang="en-US" sz="1800"/>
              <a:t> + 1V), thereby completing the circuit and enabling the current to continue to flow into the capacitor. As the energy in the inductor falls so the current diminishes but the capacitor continues to be charged (more slowly). If we ignore the diode voltage drop, the voltage across the inductor is now –V</a:t>
            </a:r>
            <a:r>
              <a:rPr lang="en-GB" altLang="en-US" sz="1800" baseline="-25000"/>
              <a:t>Out</a:t>
            </a:r>
            <a:r>
              <a:rPr lang="en-GB" altLang="en-US" sz="1800"/>
              <a:t>. </a:t>
            </a:r>
          </a:p>
          <a:p>
            <a:pPr eaLnBrk="1" hangingPunct="1">
              <a:spcBef>
                <a:spcPct val="50000"/>
              </a:spcBef>
              <a:buFontTx/>
              <a:buNone/>
            </a:pPr>
            <a:r>
              <a:rPr lang="en-GB" altLang="en-US" sz="1800" b="1">
                <a:solidFill>
                  <a:srgbClr val="0000FF"/>
                </a:solidFill>
              </a:rPr>
              <a:t>The switching frequency, supply voltage and inductor value are all chosen such that there is always current flowing in the inductor</a:t>
            </a:r>
            <a:r>
              <a:rPr lang="en-GB" altLang="en-US" sz="1800"/>
              <a:t>. This is called </a:t>
            </a:r>
            <a:r>
              <a:rPr lang="en-GB" altLang="en-US" sz="1800" b="1" i="1" u="sng">
                <a:solidFill>
                  <a:srgbClr val="FF0000"/>
                </a:solidFill>
                <a:latin typeface="Times New Roman" panose="02020603050405020304" pitchFamily="18" charset="0"/>
              </a:rPr>
              <a:t>continuous mode</a:t>
            </a:r>
            <a:r>
              <a:rPr lang="en-GB" altLang="en-US" sz="1800"/>
              <a:t>, i.e., continuous current in the inductor.</a:t>
            </a:r>
          </a:p>
          <a:p>
            <a:pPr eaLnBrk="1" hangingPunct="1">
              <a:spcBef>
                <a:spcPct val="50000"/>
              </a:spcBef>
              <a:buFontTx/>
              <a:buNone/>
            </a:pPr>
            <a:r>
              <a:rPr lang="en-GB" altLang="en-US" sz="1800"/>
              <a:t>All of the circuitry necessary to implement the control function is available in an IC.</a:t>
            </a:r>
            <a:endParaRPr lang="en-US" altLang="en-US" sz="1800"/>
          </a:p>
        </p:txBody>
      </p:sp>
      <p:sp>
        <p:nvSpPr>
          <p:cNvPr id="36903" name="TextBox 51">
            <a:extLst>
              <a:ext uri="{FF2B5EF4-FFF2-40B4-BE49-F238E27FC236}">
                <a16:creationId xmlns:a16="http://schemas.microsoft.com/office/drawing/2014/main" id="{6E89EF0E-023D-E44F-AA9C-C306EDF03BBA}"/>
              </a:ext>
            </a:extLst>
          </p:cNvPr>
          <p:cNvSpPr txBox="1">
            <a:spLocks noChangeArrowheads="1"/>
          </p:cNvSpPr>
          <p:nvPr/>
        </p:nvSpPr>
        <p:spPr bwMode="auto">
          <a:xfrm>
            <a:off x="3032125" y="133350"/>
            <a:ext cx="2540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800" b="1">
                <a:solidFill>
                  <a:srgbClr val="0000FF"/>
                </a:solidFill>
              </a:rPr>
              <a:t>Discharging</a:t>
            </a:r>
          </a:p>
        </p:txBody>
      </p:sp>
      <p:sp>
        <p:nvSpPr>
          <p:cNvPr id="36904" name="TextBox 13">
            <a:extLst>
              <a:ext uri="{FF2B5EF4-FFF2-40B4-BE49-F238E27FC236}">
                <a16:creationId xmlns:a16="http://schemas.microsoft.com/office/drawing/2014/main" id="{18114586-C4D1-C04C-B302-10F012E8F3F5}"/>
              </a:ext>
            </a:extLst>
          </p:cNvPr>
          <p:cNvSpPr txBox="1">
            <a:spLocks noChangeArrowheads="1"/>
          </p:cNvSpPr>
          <p:nvPr/>
        </p:nvSpPr>
        <p:spPr bwMode="auto">
          <a:xfrm>
            <a:off x="7142163" y="1006475"/>
            <a:ext cx="16144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800" b="1">
                <a:ea typeface="宋体" panose="02010600030101010101" pitchFamily="2" charset="-122"/>
              </a:rPr>
              <a:t>Circuit State II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80744FC0-9E95-7746-89BF-D00971F5DF0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2FF545E-6EA2-694D-9AD9-5E333E43A6E8}" type="slidenum">
              <a:rPr lang="en-US" altLang="en-US" sz="1400"/>
              <a:pPr>
                <a:spcBef>
                  <a:spcPct val="0"/>
                </a:spcBef>
                <a:buFontTx/>
                <a:buNone/>
              </a:pPr>
              <a:t>16</a:t>
            </a:fld>
            <a:endParaRPr lang="en-US" altLang="en-US" sz="1400" dirty="0"/>
          </a:p>
        </p:txBody>
      </p:sp>
      <p:sp>
        <p:nvSpPr>
          <p:cNvPr id="37891" name="Line 7">
            <a:extLst>
              <a:ext uri="{FF2B5EF4-FFF2-40B4-BE49-F238E27FC236}">
                <a16:creationId xmlns:a16="http://schemas.microsoft.com/office/drawing/2014/main" id="{B78D1332-0F43-F74D-BCAD-038B3456024E}"/>
              </a:ext>
            </a:extLst>
          </p:cNvPr>
          <p:cNvSpPr>
            <a:spLocks noChangeShapeType="1"/>
          </p:cNvSpPr>
          <p:nvPr/>
        </p:nvSpPr>
        <p:spPr bwMode="auto">
          <a:xfrm flipV="1">
            <a:off x="179388" y="487363"/>
            <a:ext cx="0" cy="3311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2" name="Freeform 16">
            <a:extLst>
              <a:ext uri="{FF2B5EF4-FFF2-40B4-BE49-F238E27FC236}">
                <a16:creationId xmlns:a16="http://schemas.microsoft.com/office/drawing/2014/main" id="{88D69CF7-9C69-1F4A-9C73-C0E2CBBEAFCE}"/>
              </a:ext>
            </a:extLst>
          </p:cNvPr>
          <p:cNvSpPr>
            <a:spLocks/>
          </p:cNvSpPr>
          <p:nvPr/>
        </p:nvSpPr>
        <p:spPr bwMode="auto">
          <a:xfrm>
            <a:off x="179388" y="703263"/>
            <a:ext cx="6985000" cy="647700"/>
          </a:xfrm>
          <a:custGeom>
            <a:avLst/>
            <a:gdLst>
              <a:gd name="T0" fmla="*/ 0 w 4400"/>
              <a:gd name="T1" fmla="*/ 0 h 408"/>
              <a:gd name="T2" fmla="*/ 2147483646 w 4400"/>
              <a:gd name="T3" fmla="*/ 0 h 408"/>
              <a:gd name="T4" fmla="*/ 2147483646 w 4400"/>
              <a:gd name="T5" fmla="*/ 2147483646 h 408"/>
              <a:gd name="T6" fmla="*/ 2147483646 w 4400"/>
              <a:gd name="T7" fmla="*/ 2147483646 h 408"/>
              <a:gd name="T8" fmla="*/ 2147483646 w 4400"/>
              <a:gd name="T9" fmla="*/ 0 h 408"/>
              <a:gd name="T10" fmla="*/ 2147483646 w 4400"/>
              <a:gd name="T11" fmla="*/ 0 h 408"/>
              <a:gd name="T12" fmla="*/ 2147483646 w 4400"/>
              <a:gd name="T13" fmla="*/ 2147483646 h 408"/>
              <a:gd name="T14" fmla="*/ 2147483646 w 4400"/>
              <a:gd name="T15" fmla="*/ 2147483646 h 408"/>
              <a:gd name="T16" fmla="*/ 2147483646 w 4400"/>
              <a:gd name="T17" fmla="*/ 0 h 408"/>
              <a:gd name="T18" fmla="*/ 2147483646 w 4400"/>
              <a:gd name="T19" fmla="*/ 0 h 408"/>
              <a:gd name="T20" fmla="*/ 2147483646 w 4400"/>
              <a:gd name="T21" fmla="*/ 2147483646 h 408"/>
              <a:gd name="T22" fmla="*/ 2147483646 w 4400"/>
              <a:gd name="T23" fmla="*/ 2147483646 h 408"/>
              <a:gd name="T24" fmla="*/ 2147483646 w 4400"/>
              <a:gd name="T25" fmla="*/ 0 h 408"/>
              <a:gd name="T26" fmla="*/ 2147483646 w 4400"/>
              <a:gd name="T27" fmla="*/ 0 h 408"/>
              <a:gd name="T28" fmla="*/ 2147483646 w 4400"/>
              <a:gd name="T29" fmla="*/ 2147483646 h 408"/>
              <a:gd name="T30" fmla="*/ 2147483646 w 4400"/>
              <a:gd name="T31" fmla="*/ 2147483646 h 408"/>
              <a:gd name="T32" fmla="*/ 2147483646 w 4400"/>
              <a:gd name="T33" fmla="*/ 0 h 408"/>
              <a:gd name="T34" fmla="*/ 2147483646 w 4400"/>
              <a:gd name="T35" fmla="*/ 0 h 408"/>
              <a:gd name="T36" fmla="*/ 2147483646 w 4400"/>
              <a:gd name="T37" fmla="*/ 2147483646 h 408"/>
              <a:gd name="T38" fmla="*/ 2147483646 w 4400"/>
              <a:gd name="T39" fmla="*/ 2147483646 h 4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400" h="408">
                <a:moveTo>
                  <a:pt x="0" y="0"/>
                </a:moveTo>
                <a:lnTo>
                  <a:pt x="363" y="0"/>
                </a:lnTo>
                <a:lnTo>
                  <a:pt x="363" y="408"/>
                </a:lnTo>
                <a:lnTo>
                  <a:pt x="952" y="408"/>
                </a:lnTo>
                <a:lnTo>
                  <a:pt x="952" y="0"/>
                </a:lnTo>
                <a:lnTo>
                  <a:pt x="1315" y="0"/>
                </a:lnTo>
                <a:lnTo>
                  <a:pt x="1315" y="408"/>
                </a:lnTo>
                <a:lnTo>
                  <a:pt x="1905" y="408"/>
                </a:lnTo>
                <a:lnTo>
                  <a:pt x="1905" y="0"/>
                </a:lnTo>
                <a:lnTo>
                  <a:pt x="2268" y="0"/>
                </a:lnTo>
                <a:lnTo>
                  <a:pt x="2268" y="408"/>
                </a:lnTo>
                <a:lnTo>
                  <a:pt x="2858" y="408"/>
                </a:lnTo>
                <a:lnTo>
                  <a:pt x="2858" y="0"/>
                </a:lnTo>
                <a:lnTo>
                  <a:pt x="3220" y="0"/>
                </a:lnTo>
                <a:lnTo>
                  <a:pt x="3220" y="408"/>
                </a:lnTo>
                <a:lnTo>
                  <a:pt x="3810" y="408"/>
                </a:lnTo>
                <a:lnTo>
                  <a:pt x="3810" y="0"/>
                </a:lnTo>
                <a:lnTo>
                  <a:pt x="4173" y="0"/>
                </a:lnTo>
                <a:lnTo>
                  <a:pt x="4173" y="408"/>
                </a:lnTo>
                <a:lnTo>
                  <a:pt x="4400" y="408"/>
                </a:lnTo>
              </a:path>
            </a:pathLst>
          </a:custGeom>
          <a:noFill/>
          <a:ln w="25400">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3" name="Line 20">
            <a:extLst>
              <a:ext uri="{FF2B5EF4-FFF2-40B4-BE49-F238E27FC236}">
                <a16:creationId xmlns:a16="http://schemas.microsoft.com/office/drawing/2014/main" id="{240E455C-6783-A447-9264-C6ECA3F13D2F}"/>
              </a:ext>
            </a:extLst>
          </p:cNvPr>
          <p:cNvSpPr>
            <a:spLocks noChangeShapeType="1"/>
          </p:cNvSpPr>
          <p:nvPr/>
        </p:nvSpPr>
        <p:spPr bwMode="auto">
          <a:xfrm>
            <a:off x="179388" y="3511550"/>
            <a:ext cx="7200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4" name="Freeform 21">
            <a:extLst>
              <a:ext uri="{FF2B5EF4-FFF2-40B4-BE49-F238E27FC236}">
                <a16:creationId xmlns:a16="http://schemas.microsoft.com/office/drawing/2014/main" id="{A5F0FB9D-BD2B-244A-A092-FA3E0DF0758A}"/>
              </a:ext>
            </a:extLst>
          </p:cNvPr>
          <p:cNvSpPr>
            <a:spLocks/>
          </p:cNvSpPr>
          <p:nvPr/>
        </p:nvSpPr>
        <p:spPr bwMode="auto">
          <a:xfrm>
            <a:off x="179388" y="3151188"/>
            <a:ext cx="7127875" cy="647700"/>
          </a:xfrm>
          <a:custGeom>
            <a:avLst/>
            <a:gdLst>
              <a:gd name="T0" fmla="*/ 0 w 4490"/>
              <a:gd name="T1" fmla="*/ 2147483646 h 408"/>
              <a:gd name="T2" fmla="*/ 2147483646 w 4490"/>
              <a:gd name="T3" fmla="*/ 2147483646 h 408"/>
              <a:gd name="T4" fmla="*/ 2147483646 w 4490"/>
              <a:gd name="T5" fmla="*/ 0 h 408"/>
              <a:gd name="T6" fmla="*/ 2147483646 w 4490"/>
              <a:gd name="T7" fmla="*/ 0 h 408"/>
              <a:gd name="T8" fmla="*/ 2147483646 w 4490"/>
              <a:gd name="T9" fmla="*/ 2147483646 h 408"/>
              <a:gd name="T10" fmla="*/ 2147483646 w 4490"/>
              <a:gd name="T11" fmla="*/ 2147483646 h 408"/>
              <a:gd name="T12" fmla="*/ 2147483646 w 4490"/>
              <a:gd name="T13" fmla="*/ 0 h 408"/>
              <a:gd name="T14" fmla="*/ 2147483646 w 4490"/>
              <a:gd name="T15" fmla="*/ 0 h 408"/>
              <a:gd name="T16" fmla="*/ 2147483646 w 4490"/>
              <a:gd name="T17" fmla="*/ 2147483646 h 408"/>
              <a:gd name="T18" fmla="*/ 2147483646 w 4490"/>
              <a:gd name="T19" fmla="*/ 2147483646 h 408"/>
              <a:gd name="T20" fmla="*/ 2147483646 w 4490"/>
              <a:gd name="T21" fmla="*/ 0 h 408"/>
              <a:gd name="T22" fmla="*/ 2147483646 w 4490"/>
              <a:gd name="T23" fmla="*/ 0 h 408"/>
              <a:gd name="T24" fmla="*/ 2147483646 w 4490"/>
              <a:gd name="T25" fmla="*/ 2147483646 h 408"/>
              <a:gd name="T26" fmla="*/ 2147483646 w 4490"/>
              <a:gd name="T27" fmla="*/ 2147483646 h 408"/>
              <a:gd name="T28" fmla="*/ 2147483646 w 4490"/>
              <a:gd name="T29" fmla="*/ 0 h 408"/>
              <a:gd name="T30" fmla="*/ 2147483646 w 4490"/>
              <a:gd name="T31" fmla="*/ 0 h 408"/>
              <a:gd name="T32" fmla="*/ 2147483646 w 4490"/>
              <a:gd name="T33" fmla="*/ 2147483646 h 408"/>
              <a:gd name="T34" fmla="*/ 2147483646 w 4490"/>
              <a:gd name="T35" fmla="*/ 2147483646 h 408"/>
              <a:gd name="T36" fmla="*/ 2147483646 w 4490"/>
              <a:gd name="T37" fmla="*/ 0 h 408"/>
              <a:gd name="T38" fmla="*/ 2147483646 w 4490"/>
              <a:gd name="T39" fmla="*/ 0 h 4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490" h="408">
                <a:moveTo>
                  <a:pt x="0" y="408"/>
                </a:moveTo>
                <a:lnTo>
                  <a:pt x="363" y="408"/>
                </a:lnTo>
                <a:lnTo>
                  <a:pt x="363" y="0"/>
                </a:lnTo>
                <a:lnTo>
                  <a:pt x="952" y="0"/>
                </a:lnTo>
                <a:lnTo>
                  <a:pt x="952" y="408"/>
                </a:lnTo>
                <a:lnTo>
                  <a:pt x="1315" y="408"/>
                </a:lnTo>
                <a:lnTo>
                  <a:pt x="1315" y="0"/>
                </a:lnTo>
                <a:lnTo>
                  <a:pt x="1905" y="0"/>
                </a:lnTo>
                <a:lnTo>
                  <a:pt x="1905" y="408"/>
                </a:lnTo>
                <a:lnTo>
                  <a:pt x="2268" y="408"/>
                </a:lnTo>
                <a:lnTo>
                  <a:pt x="2268" y="0"/>
                </a:lnTo>
                <a:lnTo>
                  <a:pt x="2858" y="0"/>
                </a:lnTo>
                <a:lnTo>
                  <a:pt x="2858" y="408"/>
                </a:lnTo>
                <a:lnTo>
                  <a:pt x="3220" y="408"/>
                </a:lnTo>
                <a:lnTo>
                  <a:pt x="3220" y="0"/>
                </a:lnTo>
                <a:lnTo>
                  <a:pt x="3810" y="0"/>
                </a:lnTo>
                <a:lnTo>
                  <a:pt x="3810" y="408"/>
                </a:lnTo>
                <a:lnTo>
                  <a:pt x="4173" y="408"/>
                </a:lnTo>
                <a:lnTo>
                  <a:pt x="4173" y="0"/>
                </a:lnTo>
                <a:lnTo>
                  <a:pt x="4490" y="0"/>
                </a:lnTo>
              </a:path>
            </a:pathLst>
          </a:custGeom>
          <a:noFill/>
          <a:ln w="2540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5" name="Text Box 22">
            <a:extLst>
              <a:ext uri="{FF2B5EF4-FFF2-40B4-BE49-F238E27FC236}">
                <a16:creationId xmlns:a16="http://schemas.microsoft.com/office/drawing/2014/main" id="{ACC00C62-E62C-5D46-BCBD-CC0BC59A8C27}"/>
              </a:ext>
            </a:extLst>
          </p:cNvPr>
          <p:cNvSpPr txBox="1">
            <a:spLocks noChangeArrowheads="1"/>
          </p:cNvSpPr>
          <p:nvPr/>
        </p:nvSpPr>
        <p:spPr bwMode="auto">
          <a:xfrm>
            <a:off x="107950" y="115888"/>
            <a:ext cx="428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Buck converter switching waveforms.</a:t>
            </a:r>
            <a:endParaRPr lang="en-US" altLang="en-US" sz="1800" b="1" u="sng" dirty="0"/>
          </a:p>
        </p:txBody>
      </p:sp>
      <p:sp>
        <p:nvSpPr>
          <p:cNvPr id="37896" name="Text Box 23">
            <a:extLst>
              <a:ext uri="{FF2B5EF4-FFF2-40B4-BE49-F238E27FC236}">
                <a16:creationId xmlns:a16="http://schemas.microsoft.com/office/drawing/2014/main" id="{B3502A1D-9104-AD49-9D16-20C7165B93A0}"/>
              </a:ext>
            </a:extLst>
          </p:cNvPr>
          <p:cNvSpPr txBox="1">
            <a:spLocks noChangeArrowheads="1"/>
          </p:cNvSpPr>
          <p:nvPr/>
        </p:nvSpPr>
        <p:spPr bwMode="auto">
          <a:xfrm>
            <a:off x="7359650" y="703263"/>
            <a:ext cx="13890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dirty="0">
                <a:latin typeface="Times New Roman" panose="02020603050405020304" pitchFamily="18" charset="0"/>
              </a:rPr>
              <a:t>Voltage </a:t>
            </a:r>
            <a:r>
              <a:rPr lang="en-GB" altLang="en-US" sz="1600" u="sng" dirty="0">
                <a:latin typeface="Times New Roman" panose="02020603050405020304" pitchFamily="18" charset="0"/>
              </a:rPr>
              <a:t>across</a:t>
            </a:r>
          </a:p>
          <a:p>
            <a:pPr eaLnBrk="1" hangingPunct="1">
              <a:spcBef>
                <a:spcPct val="0"/>
              </a:spcBef>
              <a:buFontTx/>
              <a:buNone/>
            </a:pPr>
            <a:r>
              <a:rPr lang="en-GB" altLang="en-US" sz="1600" dirty="0">
                <a:latin typeface="Times New Roman" panose="02020603050405020304" pitchFamily="18" charset="0"/>
              </a:rPr>
              <a:t>switch.</a:t>
            </a:r>
            <a:endParaRPr lang="en-US" altLang="en-US" sz="1600" dirty="0">
              <a:latin typeface="Times New Roman" panose="02020603050405020304" pitchFamily="18" charset="0"/>
            </a:endParaRPr>
          </a:p>
        </p:txBody>
      </p:sp>
      <p:grpSp>
        <p:nvGrpSpPr>
          <p:cNvPr id="37897" name="Group 2">
            <a:extLst>
              <a:ext uri="{FF2B5EF4-FFF2-40B4-BE49-F238E27FC236}">
                <a16:creationId xmlns:a16="http://schemas.microsoft.com/office/drawing/2014/main" id="{D2098811-354F-834C-89E8-F40FCD459F97}"/>
              </a:ext>
            </a:extLst>
          </p:cNvPr>
          <p:cNvGrpSpPr>
            <a:grpSpLocks/>
          </p:cNvGrpSpPr>
          <p:nvPr/>
        </p:nvGrpSpPr>
        <p:grpSpPr bwMode="auto">
          <a:xfrm>
            <a:off x="179388" y="1435100"/>
            <a:ext cx="8836025" cy="647700"/>
            <a:chOff x="179388" y="2359025"/>
            <a:chExt cx="8836025" cy="647700"/>
          </a:xfrm>
        </p:grpSpPr>
        <p:sp>
          <p:nvSpPr>
            <p:cNvPr id="37979" name="Line 5">
              <a:extLst>
                <a:ext uri="{FF2B5EF4-FFF2-40B4-BE49-F238E27FC236}">
                  <a16:creationId xmlns:a16="http://schemas.microsoft.com/office/drawing/2014/main" id="{5ACF6866-B91A-464E-B67F-564529916EEB}"/>
                </a:ext>
              </a:extLst>
            </p:cNvPr>
            <p:cNvSpPr>
              <a:spLocks noChangeShapeType="1"/>
            </p:cNvSpPr>
            <p:nvPr/>
          </p:nvSpPr>
          <p:spPr bwMode="auto">
            <a:xfrm>
              <a:off x="179388" y="3006725"/>
              <a:ext cx="7200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80" name="Freeform 19">
              <a:extLst>
                <a:ext uri="{FF2B5EF4-FFF2-40B4-BE49-F238E27FC236}">
                  <a16:creationId xmlns:a16="http://schemas.microsoft.com/office/drawing/2014/main" id="{F6D4D74C-2576-4343-B848-6DB635B880DD}"/>
                </a:ext>
              </a:extLst>
            </p:cNvPr>
            <p:cNvSpPr>
              <a:spLocks/>
            </p:cNvSpPr>
            <p:nvPr/>
          </p:nvSpPr>
          <p:spPr bwMode="auto">
            <a:xfrm>
              <a:off x="179388" y="2359025"/>
              <a:ext cx="7026275" cy="647700"/>
            </a:xfrm>
            <a:custGeom>
              <a:avLst/>
              <a:gdLst>
                <a:gd name="T0" fmla="*/ 0 w 4426"/>
                <a:gd name="T1" fmla="*/ 2147483646 h 408"/>
                <a:gd name="T2" fmla="*/ 2147483646 w 4426"/>
                <a:gd name="T3" fmla="*/ 2147483646 h 408"/>
                <a:gd name="T4" fmla="*/ 2147483646 w 4426"/>
                <a:gd name="T5" fmla="*/ 2147483646 h 408"/>
                <a:gd name="T6" fmla="*/ 2147483646 w 4426"/>
                <a:gd name="T7" fmla="*/ 0 h 408"/>
                <a:gd name="T8" fmla="*/ 2147483646 w 4426"/>
                <a:gd name="T9" fmla="*/ 2147483646 h 408"/>
                <a:gd name="T10" fmla="*/ 2147483646 w 4426"/>
                <a:gd name="T11" fmla="*/ 2147483646 h 408"/>
                <a:gd name="T12" fmla="*/ 2147483646 w 4426"/>
                <a:gd name="T13" fmla="*/ 2147483646 h 408"/>
                <a:gd name="T14" fmla="*/ 2147483646 w 4426"/>
                <a:gd name="T15" fmla="*/ 0 h 408"/>
                <a:gd name="T16" fmla="*/ 2147483646 w 4426"/>
                <a:gd name="T17" fmla="*/ 2147483646 h 408"/>
                <a:gd name="T18" fmla="*/ 2147483646 w 4426"/>
                <a:gd name="T19" fmla="*/ 2147483646 h 408"/>
                <a:gd name="T20" fmla="*/ 2147483646 w 4426"/>
                <a:gd name="T21" fmla="*/ 2147483646 h 408"/>
                <a:gd name="T22" fmla="*/ 2147483646 w 4426"/>
                <a:gd name="T23" fmla="*/ 0 h 408"/>
                <a:gd name="T24" fmla="*/ 2147483646 w 4426"/>
                <a:gd name="T25" fmla="*/ 2147483646 h 408"/>
                <a:gd name="T26" fmla="*/ 2147483646 w 4426"/>
                <a:gd name="T27" fmla="*/ 2147483646 h 408"/>
                <a:gd name="T28" fmla="*/ 2147483646 w 4426"/>
                <a:gd name="T29" fmla="*/ 2147483646 h 408"/>
                <a:gd name="T30" fmla="*/ 2147483646 w 4426"/>
                <a:gd name="T31" fmla="*/ 0 h 408"/>
                <a:gd name="T32" fmla="*/ 2147483646 w 4426"/>
                <a:gd name="T33" fmla="*/ 2147483646 h 408"/>
                <a:gd name="T34" fmla="*/ 2147483646 w 4426"/>
                <a:gd name="T35" fmla="*/ 2147483646 h 408"/>
                <a:gd name="T36" fmla="*/ 2147483646 w 4426"/>
                <a:gd name="T37" fmla="*/ 2147483646 h 408"/>
                <a:gd name="T38" fmla="*/ 2147483646 w 4426"/>
                <a:gd name="T39" fmla="*/ 2147483646 h 4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426" h="408">
                  <a:moveTo>
                    <a:pt x="0" y="408"/>
                  </a:moveTo>
                  <a:lnTo>
                    <a:pt x="363" y="408"/>
                  </a:lnTo>
                  <a:lnTo>
                    <a:pt x="361" y="215"/>
                  </a:lnTo>
                  <a:lnTo>
                    <a:pt x="952" y="0"/>
                  </a:lnTo>
                  <a:lnTo>
                    <a:pt x="952" y="408"/>
                  </a:lnTo>
                  <a:lnTo>
                    <a:pt x="1315" y="408"/>
                  </a:lnTo>
                  <a:lnTo>
                    <a:pt x="1315" y="227"/>
                  </a:lnTo>
                  <a:lnTo>
                    <a:pt x="1905" y="0"/>
                  </a:lnTo>
                  <a:lnTo>
                    <a:pt x="1905" y="408"/>
                  </a:lnTo>
                  <a:lnTo>
                    <a:pt x="2268" y="408"/>
                  </a:lnTo>
                  <a:lnTo>
                    <a:pt x="2262" y="229"/>
                  </a:lnTo>
                  <a:lnTo>
                    <a:pt x="2858" y="0"/>
                  </a:lnTo>
                  <a:lnTo>
                    <a:pt x="2858" y="408"/>
                  </a:lnTo>
                  <a:lnTo>
                    <a:pt x="3220" y="408"/>
                  </a:lnTo>
                  <a:lnTo>
                    <a:pt x="3220" y="227"/>
                  </a:lnTo>
                  <a:lnTo>
                    <a:pt x="3810" y="0"/>
                  </a:lnTo>
                  <a:lnTo>
                    <a:pt x="3810" y="408"/>
                  </a:lnTo>
                  <a:lnTo>
                    <a:pt x="4173" y="408"/>
                  </a:lnTo>
                  <a:lnTo>
                    <a:pt x="4176" y="221"/>
                  </a:lnTo>
                  <a:lnTo>
                    <a:pt x="4426" y="103"/>
                  </a:lnTo>
                </a:path>
              </a:pathLst>
            </a:custGeom>
            <a:noFill/>
            <a:ln w="254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81" name="Text Box 25">
              <a:extLst>
                <a:ext uri="{FF2B5EF4-FFF2-40B4-BE49-F238E27FC236}">
                  <a16:creationId xmlns:a16="http://schemas.microsoft.com/office/drawing/2014/main" id="{7D9C354D-3FF7-5440-9725-54DC3FDA4BB8}"/>
                </a:ext>
              </a:extLst>
            </p:cNvPr>
            <p:cNvSpPr txBox="1">
              <a:spLocks noChangeArrowheads="1"/>
            </p:cNvSpPr>
            <p:nvPr/>
          </p:nvSpPr>
          <p:spPr bwMode="auto">
            <a:xfrm>
              <a:off x="7524750" y="2359025"/>
              <a:ext cx="14906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a:latin typeface="Times New Roman" panose="02020603050405020304" pitchFamily="18" charset="0"/>
                </a:rPr>
                <a:t>Current through</a:t>
              </a:r>
            </a:p>
            <a:p>
              <a:pPr eaLnBrk="1" hangingPunct="1">
                <a:spcBef>
                  <a:spcPct val="0"/>
                </a:spcBef>
                <a:buFontTx/>
                <a:buNone/>
              </a:pPr>
              <a:r>
                <a:rPr lang="en-GB" altLang="en-US" sz="1600">
                  <a:latin typeface="Times New Roman" panose="02020603050405020304" pitchFamily="18" charset="0"/>
                </a:rPr>
                <a:t>switch</a:t>
              </a:r>
              <a:endParaRPr lang="en-US" altLang="en-US" sz="1600">
                <a:latin typeface="Times New Roman" panose="02020603050405020304" pitchFamily="18" charset="0"/>
              </a:endParaRPr>
            </a:p>
          </p:txBody>
        </p:sp>
      </p:grpSp>
      <p:sp>
        <p:nvSpPr>
          <p:cNvPr id="37898" name="Text Box 26">
            <a:extLst>
              <a:ext uri="{FF2B5EF4-FFF2-40B4-BE49-F238E27FC236}">
                <a16:creationId xmlns:a16="http://schemas.microsoft.com/office/drawing/2014/main" id="{BDFE6828-DC01-DE4A-A0F6-B637D3797543}"/>
              </a:ext>
            </a:extLst>
          </p:cNvPr>
          <p:cNvSpPr txBox="1">
            <a:spLocks noChangeArrowheads="1"/>
          </p:cNvSpPr>
          <p:nvPr/>
        </p:nvSpPr>
        <p:spPr bwMode="auto">
          <a:xfrm>
            <a:off x="7380288" y="3006725"/>
            <a:ext cx="125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a:latin typeface="Times New Roman" panose="02020603050405020304" pitchFamily="18" charset="0"/>
              </a:rPr>
              <a:t>V</a:t>
            </a:r>
            <a:r>
              <a:rPr lang="en-GB" altLang="en-US" sz="1600" baseline="-25000">
                <a:latin typeface="Times New Roman" panose="02020603050405020304" pitchFamily="18" charset="0"/>
              </a:rPr>
              <a:t>Supply</a:t>
            </a:r>
            <a:r>
              <a:rPr lang="en-GB" altLang="en-US" sz="1600">
                <a:latin typeface="Times New Roman" panose="02020603050405020304" pitchFamily="18" charset="0"/>
              </a:rPr>
              <a:t> - V</a:t>
            </a:r>
            <a:r>
              <a:rPr lang="en-GB" altLang="en-US" sz="1600" baseline="-25000">
                <a:latin typeface="Times New Roman" panose="02020603050405020304" pitchFamily="18" charset="0"/>
              </a:rPr>
              <a:t>Out</a:t>
            </a:r>
            <a:endParaRPr lang="en-US" altLang="en-US" sz="1600" baseline="-25000">
              <a:latin typeface="Times New Roman" panose="02020603050405020304" pitchFamily="18" charset="0"/>
            </a:endParaRPr>
          </a:p>
        </p:txBody>
      </p:sp>
      <p:sp>
        <p:nvSpPr>
          <p:cNvPr id="37899" name="Text Box 27">
            <a:extLst>
              <a:ext uri="{FF2B5EF4-FFF2-40B4-BE49-F238E27FC236}">
                <a16:creationId xmlns:a16="http://schemas.microsoft.com/office/drawing/2014/main" id="{22869ABF-1152-1A49-AA5E-E635F6093514}"/>
              </a:ext>
            </a:extLst>
          </p:cNvPr>
          <p:cNvSpPr txBox="1">
            <a:spLocks noChangeArrowheads="1"/>
          </p:cNvSpPr>
          <p:nvPr/>
        </p:nvSpPr>
        <p:spPr bwMode="auto">
          <a:xfrm>
            <a:off x="6877050" y="3656013"/>
            <a:ext cx="608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a:latin typeface="Times New Roman" panose="02020603050405020304" pitchFamily="18" charset="0"/>
              </a:rPr>
              <a:t>-V</a:t>
            </a:r>
            <a:r>
              <a:rPr lang="en-GB" altLang="en-US" sz="1600" baseline="-25000">
                <a:latin typeface="Times New Roman" panose="02020603050405020304" pitchFamily="18" charset="0"/>
              </a:rPr>
              <a:t>Out</a:t>
            </a:r>
            <a:endParaRPr lang="en-US" altLang="en-US" sz="1600" baseline="-25000">
              <a:latin typeface="Times New Roman" panose="02020603050405020304" pitchFamily="18" charset="0"/>
            </a:endParaRPr>
          </a:p>
        </p:txBody>
      </p:sp>
      <p:sp>
        <p:nvSpPr>
          <p:cNvPr id="37900" name="Text Box 28">
            <a:extLst>
              <a:ext uri="{FF2B5EF4-FFF2-40B4-BE49-F238E27FC236}">
                <a16:creationId xmlns:a16="http://schemas.microsoft.com/office/drawing/2014/main" id="{75858E9F-158D-234D-BF96-E2345235345F}"/>
              </a:ext>
            </a:extLst>
          </p:cNvPr>
          <p:cNvSpPr txBox="1">
            <a:spLocks noChangeArrowheads="1"/>
          </p:cNvSpPr>
          <p:nvPr/>
        </p:nvSpPr>
        <p:spPr bwMode="auto">
          <a:xfrm>
            <a:off x="7524750" y="3295650"/>
            <a:ext cx="1435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b="1" dirty="0">
                <a:solidFill>
                  <a:srgbClr val="0000FF"/>
                </a:solidFill>
                <a:latin typeface="Times New Roman" panose="02020603050405020304" pitchFamily="18" charset="0"/>
              </a:rPr>
              <a:t>Voltage </a:t>
            </a:r>
            <a:r>
              <a:rPr lang="en-GB" altLang="en-US" sz="1600" b="1" u="sng" dirty="0">
                <a:solidFill>
                  <a:srgbClr val="0000FF"/>
                </a:solidFill>
                <a:latin typeface="Times New Roman" panose="02020603050405020304" pitchFamily="18" charset="0"/>
              </a:rPr>
              <a:t>across</a:t>
            </a:r>
          </a:p>
          <a:p>
            <a:pPr eaLnBrk="1" hangingPunct="1">
              <a:spcBef>
                <a:spcPct val="0"/>
              </a:spcBef>
              <a:buFontTx/>
              <a:buNone/>
            </a:pPr>
            <a:r>
              <a:rPr lang="en-GB" altLang="en-US" sz="1600" b="1" dirty="0">
                <a:solidFill>
                  <a:srgbClr val="0000FF"/>
                </a:solidFill>
                <a:latin typeface="Times New Roman" panose="02020603050405020304" pitchFamily="18" charset="0"/>
              </a:rPr>
              <a:t>Inductor*</a:t>
            </a:r>
            <a:endParaRPr lang="en-US" altLang="en-US" sz="1600" b="1" dirty="0">
              <a:solidFill>
                <a:srgbClr val="0000FF"/>
              </a:solidFill>
              <a:latin typeface="Times New Roman" panose="02020603050405020304" pitchFamily="18" charset="0"/>
            </a:endParaRPr>
          </a:p>
        </p:txBody>
      </p:sp>
      <p:sp>
        <p:nvSpPr>
          <p:cNvPr id="37901" name="Line 8">
            <a:extLst>
              <a:ext uri="{FF2B5EF4-FFF2-40B4-BE49-F238E27FC236}">
                <a16:creationId xmlns:a16="http://schemas.microsoft.com/office/drawing/2014/main" id="{DD4D9CB0-A3E0-0349-B231-3ADDF0806B37}"/>
              </a:ext>
            </a:extLst>
          </p:cNvPr>
          <p:cNvSpPr>
            <a:spLocks noChangeShapeType="1"/>
          </p:cNvSpPr>
          <p:nvPr/>
        </p:nvSpPr>
        <p:spPr bwMode="auto">
          <a:xfrm>
            <a:off x="179388" y="1350963"/>
            <a:ext cx="7200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7902" name="Group 4">
            <a:extLst>
              <a:ext uri="{FF2B5EF4-FFF2-40B4-BE49-F238E27FC236}">
                <a16:creationId xmlns:a16="http://schemas.microsoft.com/office/drawing/2014/main" id="{57F4F74D-9A52-D541-B344-612CE0E55A8E}"/>
              </a:ext>
            </a:extLst>
          </p:cNvPr>
          <p:cNvGrpSpPr>
            <a:grpSpLocks/>
          </p:cNvGrpSpPr>
          <p:nvPr/>
        </p:nvGrpSpPr>
        <p:grpSpPr bwMode="auto">
          <a:xfrm>
            <a:off x="179388" y="2138363"/>
            <a:ext cx="8924925" cy="1001712"/>
            <a:chOff x="179388" y="1427731"/>
            <a:chExt cx="8925931" cy="1002725"/>
          </a:xfrm>
        </p:grpSpPr>
        <p:sp>
          <p:nvSpPr>
            <p:cNvPr id="37971" name="Text Box 29">
              <a:extLst>
                <a:ext uri="{FF2B5EF4-FFF2-40B4-BE49-F238E27FC236}">
                  <a16:creationId xmlns:a16="http://schemas.microsoft.com/office/drawing/2014/main" id="{81D39D73-1F64-384D-9CEF-8F4BDC5607C5}"/>
                </a:ext>
              </a:extLst>
            </p:cNvPr>
            <p:cNvSpPr txBox="1">
              <a:spLocks noChangeArrowheads="1"/>
            </p:cNvSpPr>
            <p:nvPr/>
          </p:nvSpPr>
          <p:spPr bwMode="auto">
            <a:xfrm>
              <a:off x="3175000" y="1427731"/>
              <a:ext cx="1498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dirty="0">
                  <a:latin typeface="Times New Roman" panose="02020603050405020304" pitchFamily="18" charset="0"/>
                </a:rPr>
                <a:t>offset from zero</a:t>
              </a:r>
              <a:endParaRPr lang="en-US" altLang="en-US" sz="1600" dirty="0">
                <a:latin typeface="Times New Roman" panose="02020603050405020304" pitchFamily="18" charset="0"/>
              </a:endParaRPr>
            </a:p>
          </p:txBody>
        </p:sp>
        <p:grpSp>
          <p:nvGrpSpPr>
            <p:cNvPr id="37972" name="Group 1">
              <a:extLst>
                <a:ext uri="{FF2B5EF4-FFF2-40B4-BE49-F238E27FC236}">
                  <a16:creationId xmlns:a16="http://schemas.microsoft.com/office/drawing/2014/main" id="{24F6B3BD-6647-A141-9B9E-CCC3278F60AE}"/>
                </a:ext>
              </a:extLst>
            </p:cNvPr>
            <p:cNvGrpSpPr>
              <a:grpSpLocks/>
            </p:cNvGrpSpPr>
            <p:nvPr/>
          </p:nvGrpSpPr>
          <p:grpSpPr bwMode="auto">
            <a:xfrm>
              <a:off x="179388" y="1532370"/>
              <a:ext cx="8925931" cy="719138"/>
              <a:chOff x="179388" y="1532377"/>
              <a:chExt cx="8925931" cy="719138"/>
            </a:xfrm>
          </p:grpSpPr>
          <p:sp>
            <p:nvSpPr>
              <p:cNvPr id="37974" name="Freeform 17">
                <a:extLst>
                  <a:ext uri="{FF2B5EF4-FFF2-40B4-BE49-F238E27FC236}">
                    <a16:creationId xmlns:a16="http://schemas.microsoft.com/office/drawing/2014/main" id="{8F470624-7F83-CD46-83EA-2DE3145D854A}"/>
                  </a:ext>
                </a:extLst>
              </p:cNvPr>
              <p:cNvSpPr>
                <a:spLocks/>
              </p:cNvSpPr>
              <p:nvPr/>
            </p:nvSpPr>
            <p:spPr bwMode="auto">
              <a:xfrm>
                <a:off x="179388" y="1532377"/>
                <a:ext cx="6985000" cy="647700"/>
              </a:xfrm>
              <a:custGeom>
                <a:avLst/>
                <a:gdLst>
                  <a:gd name="T0" fmla="*/ 0 w 4400"/>
                  <a:gd name="T1" fmla="*/ 0 h 408"/>
                  <a:gd name="T2" fmla="*/ 2147483646 w 4400"/>
                  <a:gd name="T3" fmla="*/ 2147483646 h 408"/>
                  <a:gd name="T4" fmla="*/ 2147483646 w 4400"/>
                  <a:gd name="T5" fmla="*/ 0 h 408"/>
                  <a:gd name="T6" fmla="*/ 2147483646 w 4400"/>
                  <a:gd name="T7" fmla="*/ 2147483646 h 408"/>
                  <a:gd name="T8" fmla="*/ 2147483646 w 4400"/>
                  <a:gd name="T9" fmla="*/ 0 h 408"/>
                  <a:gd name="T10" fmla="*/ 2147483646 w 4400"/>
                  <a:gd name="T11" fmla="*/ 2147483646 h 408"/>
                  <a:gd name="T12" fmla="*/ 2147483646 w 4400"/>
                  <a:gd name="T13" fmla="*/ 0 h 408"/>
                  <a:gd name="T14" fmla="*/ 2147483646 w 4400"/>
                  <a:gd name="T15" fmla="*/ 2147483646 h 408"/>
                  <a:gd name="T16" fmla="*/ 2147483646 w 4400"/>
                  <a:gd name="T17" fmla="*/ 0 h 408"/>
                  <a:gd name="T18" fmla="*/ 2147483646 w 4400"/>
                  <a:gd name="T19" fmla="*/ 2147483646 h 408"/>
                  <a:gd name="T20" fmla="*/ 2147483646 w 4400"/>
                  <a:gd name="T21" fmla="*/ 2147483646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400" h="408">
                    <a:moveTo>
                      <a:pt x="0" y="0"/>
                    </a:moveTo>
                    <a:lnTo>
                      <a:pt x="363" y="408"/>
                    </a:lnTo>
                    <a:lnTo>
                      <a:pt x="952" y="0"/>
                    </a:lnTo>
                    <a:lnTo>
                      <a:pt x="1315" y="408"/>
                    </a:lnTo>
                    <a:lnTo>
                      <a:pt x="1905" y="0"/>
                    </a:lnTo>
                    <a:lnTo>
                      <a:pt x="2268" y="408"/>
                    </a:lnTo>
                    <a:lnTo>
                      <a:pt x="2858" y="0"/>
                    </a:lnTo>
                    <a:lnTo>
                      <a:pt x="3220" y="408"/>
                    </a:lnTo>
                    <a:lnTo>
                      <a:pt x="3810" y="0"/>
                    </a:lnTo>
                    <a:lnTo>
                      <a:pt x="4173" y="408"/>
                    </a:lnTo>
                    <a:lnTo>
                      <a:pt x="4400" y="181"/>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75" name="Line 18">
                <a:extLst>
                  <a:ext uri="{FF2B5EF4-FFF2-40B4-BE49-F238E27FC236}">
                    <a16:creationId xmlns:a16="http://schemas.microsoft.com/office/drawing/2014/main" id="{755A65D2-09F1-334C-AFC9-59EAC8926996}"/>
                  </a:ext>
                </a:extLst>
              </p:cNvPr>
              <p:cNvSpPr>
                <a:spLocks noChangeShapeType="1"/>
              </p:cNvSpPr>
              <p:nvPr/>
            </p:nvSpPr>
            <p:spPr bwMode="auto">
              <a:xfrm>
                <a:off x="179388" y="2251515"/>
                <a:ext cx="7200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76" name="Text Box 24">
                <a:extLst>
                  <a:ext uri="{FF2B5EF4-FFF2-40B4-BE49-F238E27FC236}">
                    <a16:creationId xmlns:a16="http://schemas.microsoft.com/office/drawing/2014/main" id="{1C24B85A-7A46-ED41-9625-95DD88F57A3E}"/>
                  </a:ext>
                </a:extLst>
              </p:cNvPr>
              <p:cNvSpPr txBox="1">
                <a:spLocks noChangeArrowheads="1"/>
              </p:cNvSpPr>
              <p:nvPr/>
            </p:nvSpPr>
            <p:spPr bwMode="auto">
              <a:xfrm>
                <a:off x="7451725" y="1532377"/>
                <a:ext cx="16535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b="1" dirty="0">
                    <a:solidFill>
                      <a:srgbClr val="0000FF"/>
                    </a:solidFill>
                    <a:latin typeface="Times New Roman" panose="02020603050405020304" pitchFamily="18" charset="0"/>
                  </a:rPr>
                  <a:t>Current </a:t>
                </a:r>
                <a:r>
                  <a:rPr lang="en-GB" altLang="en-US" sz="1600" b="1" u="sng" dirty="0">
                    <a:solidFill>
                      <a:srgbClr val="0000FF"/>
                    </a:solidFill>
                    <a:latin typeface="Times New Roman" panose="02020603050405020304" pitchFamily="18" charset="0"/>
                  </a:rPr>
                  <a:t>through</a:t>
                </a:r>
              </a:p>
              <a:p>
                <a:pPr eaLnBrk="1" hangingPunct="1">
                  <a:spcBef>
                    <a:spcPct val="0"/>
                  </a:spcBef>
                  <a:buFontTx/>
                  <a:buNone/>
                </a:pPr>
                <a:r>
                  <a:rPr lang="en-GB" altLang="en-US" sz="1600" b="1" dirty="0">
                    <a:solidFill>
                      <a:srgbClr val="0000FF"/>
                    </a:solidFill>
                    <a:latin typeface="Times New Roman" panose="02020603050405020304" pitchFamily="18" charset="0"/>
                  </a:rPr>
                  <a:t>Inductor </a:t>
                </a:r>
                <a:endParaRPr lang="en-US" altLang="en-US" sz="1600" b="1" dirty="0">
                  <a:solidFill>
                    <a:srgbClr val="0000FF"/>
                  </a:solidFill>
                  <a:latin typeface="Times New Roman" panose="02020603050405020304" pitchFamily="18" charset="0"/>
                </a:endParaRPr>
              </a:p>
            </p:txBody>
          </p:sp>
          <p:sp>
            <p:nvSpPr>
              <p:cNvPr id="37977" name="Line 30">
                <a:extLst>
                  <a:ext uri="{FF2B5EF4-FFF2-40B4-BE49-F238E27FC236}">
                    <a16:creationId xmlns:a16="http://schemas.microsoft.com/office/drawing/2014/main" id="{56F50A4E-4D1A-8E49-A825-72680EA2E1C8}"/>
                  </a:ext>
                </a:extLst>
              </p:cNvPr>
              <p:cNvSpPr>
                <a:spLocks noChangeShapeType="1"/>
              </p:cNvSpPr>
              <p:nvPr/>
            </p:nvSpPr>
            <p:spPr bwMode="auto">
              <a:xfrm>
                <a:off x="3635375" y="2180077"/>
                <a:ext cx="2889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78" name="Line 31">
                <a:extLst>
                  <a:ext uri="{FF2B5EF4-FFF2-40B4-BE49-F238E27FC236}">
                    <a16:creationId xmlns:a16="http://schemas.microsoft.com/office/drawing/2014/main" id="{A6612B4F-6ED5-6F4A-9439-D467AE1FBFA6}"/>
                  </a:ext>
                </a:extLst>
              </p:cNvPr>
              <p:cNvSpPr>
                <a:spLocks noChangeShapeType="1"/>
              </p:cNvSpPr>
              <p:nvPr/>
            </p:nvSpPr>
            <p:spPr bwMode="auto">
              <a:xfrm>
                <a:off x="3779838" y="1892740"/>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73" name="Line 32">
              <a:extLst>
                <a:ext uri="{FF2B5EF4-FFF2-40B4-BE49-F238E27FC236}">
                  <a16:creationId xmlns:a16="http://schemas.microsoft.com/office/drawing/2014/main" id="{E805385A-13E0-7D47-8FAA-2869ED0E826F}"/>
                </a:ext>
              </a:extLst>
            </p:cNvPr>
            <p:cNvSpPr>
              <a:spLocks noChangeShapeType="1"/>
            </p:cNvSpPr>
            <p:nvPr/>
          </p:nvSpPr>
          <p:spPr bwMode="auto">
            <a:xfrm flipV="1">
              <a:off x="3779838" y="2214556"/>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03" name="Rectangle 33">
            <a:extLst>
              <a:ext uri="{FF2B5EF4-FFF2-40B4-BE49-F238E27FC236}">
                <a16:creationId xmlns:a16="http://schemas.microsoft.com/office/drawing/2014/main" id="{69DD061D-749B-8E43-A871-FCEE709D3F12}"/>
              </a:ext>
            </a:extLst>
          </p:cNvPr>
          <p:cNvSpPr>
            <a:spLocks noChangeArrowheads="1"/>
          </p:cNvSpPr>
          <p:nvPr/>
        </p:nvSpPr>
        <p:spPr bwMode="auto">
          <a:xfrm>
            <a:off x="92803" y="5513388"/>
            <a:ext cx="433388" cy="71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04" name="Rectangle 34">
            <a:extLst>
              <a:ext uri="{FF2B5EF4-FFF2-40B4-BE49-F238E27FC236}">
                <a16:creationId xmlns:a16="http://schemas.microsoft.com/office/drawing/2014/main" id="{BBD1C283-B01D-9B45-B70D-63F8E0F1962C}"/>
              </a:ext>
            </a:extLst>
          </p:cNvPr>
          <p:cNvSpPr>
            <a:spLocks noChangeArrowheads="1"/>
          </p:cNvSpPr>
          <p:nvPr/>
        </p:nvSpPr>
        <p:spPr bwMode="auto">
          <a:xfrm>
            <a:off x="165828" y="5656263"/>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05" name="Line 35">
            <a:extLst>
              <a:ext uri="{FF2B5EF4-FFF2-40B4-BE49-F238E27FC236}">
                <a16:creationId xmlns:a16="http://schemas.microsoft.com/office/drawing/2014/main" id="{A657A396-40D4-1341-A8B2-64D09196EE68}"/>
              </a:ext>
            </a:extLst>
          </p:cNvPr>
          <p:cNvSpPr>
            <a:spLocks noChangeShapeType="1"/>
          </p:cNvSpPr>
          <p:nvPr/>
        </p:nvSpPr>
        <p:spPr bwMode="auto">
          <a:xfrm flipV="1">
            <a:off x="310291" y="4719638"/>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6" name="Line 36">
            <a:extLst>
              <a:ext uri="{FF2B5EF4-FFF2-40B4-BE49-F238E27FC236}">
                <a16:creationId xmlns:a16="http://schemas.microsoft.com/office/drawing/2014/main" id="{0D5704B8-2C3A-0440-B2AF-16D76B1D4003}"/>
              </a:ext>
            </a:extLst>
          </p:cNvPr>
          <p:cNvSpPr>
            <a:spLocks noChangeShapeType="1"/>
          </p:cNvSpPr>
          <p:nvPr/>
        </p:nvSpPr>
        <p:spPr bwMode="auto">
          <a:xfrm flipV="1">
            <a:off x="310291" y="5729288"/>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7" name="Line 37">
            <a:extLst>
              <a:ext uri="{FF2B5EF4-FFF2-40B4-BE49-F238E27FC236}">
                <a16:creationId xmlns:a16="http://schemas.microsoft.com/office/drawing/2014/main" id="{9FDC15E9-83FA-5346-898A-1B526571F082}"/>
              </a:ext>
            </a:extLst>
          </p:cNvPr>
          <p:cNvSpPr>
            <a:spLocks noChangeShapeType="1"/>
          </p:cNvSpPr>
          <p:nvPr/>
        </p:nvSpPr>
        <p:spPr bwMode="auto">
          <a:xfrm flipV="1">
            <a:off x="562456" y="536733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8" name="Text Box 38">
            <a:extLst>
              <a:ext uri="{FF2B5EF4-FFF2-40B4-BE49-F238E27FC236}">
                <a16:creationId xmlns:a16="http://schemas.microsoft.com/office/drawing/2014/main" id="{FD1D25F6-7F1F-0349-9FAD-4215F3A66B60}"/>
              </a:ext>
            </a:extLst>
          </p:cNvPr>
          <p:cNvSpPr txBox="1">
            <a:spLocks noChangeArrowheads="1"/>
          </p:cNvSpPr>
          <p:nvPr/>
        </p:nvSpPr>
        <p:spPr bwMode="auto">
          <a:xfrm>
            <a:off x="491019" y="545526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IN</a:t>
            </a:r>
            <a:endParaRPr lang="en-US" altLang="en-US" sz="1800" baseline="-25000" dirty="0"/>
          </a:p>
        </p:txBody>
      </p:sp>
      <p:sp>
        <p:nvSpPr>
          <p:cNvPr id="37909" name="Line 39">
            <a:extLst>
              <a:ext uri="{FF2B5EF4-FFF2-40B4-BE49-F238E27FC236}">
                <a16:creationId xmlns:a16="http://schemas.microsoft.com/office/drawing/2014/main" id="{52862C05-9724-E043-98CA-9250F6576D79}"/>
              </a:ext>
            </a:extLst>
          </p:cNvPr>
          <p:cNvSpPr>
            <a:spLocks noChangeShapeType="1"/>
          </p:cNvSpPr>
          <p:nvPr/>
        </p:nvSpPr>
        <p:spPr bwMode="auto">
          <a:xfrm>
            <a:off x="308703" y="4719638"/>
            <a:ext cx="360363"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7910" name="Group 40">
            <a:extLst>
              <a:ext uri="{FF2B5EF4-FFF2-40B4-BE49-F238E27FC236}">
                <a16:creationId xmlns:a16="http://schemas.microsoft.com/office/drawing/2014/main" id="{AE46DB11-0F70-8E48-87D4-E29C3D6DA3FF}"/>
              </a:ext>
            </a:extLst>
          </p:cNvPr>
          <p:cNvGrpSpPr>
            <a:grpSpLocks/>
          </p:cNvGrpSpPr>
          <p:nvPr/>
        </p:nvGrpSpPr>
        <p:grpSpPr bwMode="auto">
          <a:xfrm rot="-5400000">
            <a:off x="2266090" y="3978276"/>
            <a:ext cx="314325" cy="1530350"/>
            <a:chOff x="3211" y="2176"/>
            <a:chExt cx="198" cy="964"/>
          </a:xfrm>
        </p:grpSpPr>
        <p:sp>
          <p:nvSpPr>
            <p:cNvPr id="37962" name="Oval 41">
              <a:extLst>
                <a:ext uri="{FF2B5EF4-FFF2-40B4-BE49-F238E27FC236}">
                  <a16:creationId xmlns:a16="http://schemas.microsoft.com/office/drawing/2014/main" id="{3E2794A1-D09A-E846-89B3-B03F55979671}"/>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3" name="Oval 42">
              <a:extLst>
                <a:ext uri="{FF2B5EF4-FFF2-40B4-BE49-F238E27FC236}">
                  <a16:creationId xmlns:a16="http://schemas.microsoft.com/office/drawing/2014/main" id="{BA2F60F1-5AC8-C049-BD36-DB2E1B1BA849}"/>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4" name="Oval 43">
              <a:extLst>
                <a:ext uri="{FF2B5EF4-FFF2-40B4-BE49-F238E27FC236}">
                  <a16:creationId xmlns:a16="http://schemas.microsoft.com/office/drawing/2014/main" id="{6CE4EC2B-2939-9243-A604-C9A02B774D5F}"/>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5" name="Oval 44">
              <a:extLst>
                <a:ext uri="{FF2B5EF4-FFF2-40B4-BE49-F238E27FC236}">
                  <a16:creationId xmlns:a16="http://schemas.microsoft.com/office/drawing/2014/main" id="{76644CEE-3303-0F44-A382-11FBEE13C6ED}"/>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6" name="Oval 45">
              <a:extLst>
                <a:ext uri="{FF2B5EF4-FFF2-40B4-BE49-F238E27FC236}">
                  <a16:creationId xmlns:a16="http://schemas.microsoft.com/office/drawing/2014/main" id="{19DFAFF9-9D5A-044F-A2BA-101E7020F198}"/>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7" name="Oval 46">
              <a:extLst>
                <a:ext uri="{FF2B5EF4-FFF2-40B4-BE49-F238E27FC236}">
                  <a16:creationId xmlns:a16="http://schemas.microsoft.com/office/drawing/2014/main" id="{5B494645-86AC-E44D-B339-8CF48D9C7EFE}"/>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8" name="Rectangle 47">
              <a:extLst>
                <a:ext uri="{FF2B5EF4-FFF2-40B4-BE49-F238E27FC236}">
                  <a16:creationId xmlns:a16="http://schemas.microsoft.com/office/drawing/2014/main" id="{1843C6D0-2CA5-2D40-B854-ED0F28D2E5F3}"/>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9" name="Line 48">
              <a:extLst>
                <a:ext uri="{FF2B5EF4-FFF2-40B4-BE49-F238E27FC236}">
                  <a16:creationId xmlns:a16="http://schemas.microsoft.com/office/drawing/2014/main" id="{F2032D8F-C062-E64F-B2E1-72BF39E1EA48}"/>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70" name="Line 49">
              <a:extLst>
                <a:ext uri="{FF2B5EF4-FFF2-40B4-BE49-F238E27FC236}">
                  <a16:creationId xmlns:a16="http://schemas.microsoft.com/office/drawing/2014/main" id="{93A362F2-D70C-B349-AB89-355571BFE34E}"/>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11" name="Line 50">
            <a:extLst>
              <a:ext uri="{FF2B5EF4-FFF2-40B4-BE49-F238E27FC236}">
                <a16:creationId xmlns:a16="http://schemas.microsoft.com/office/drawing/2014/main" id="{D9A7F08D-DE4B-EC49-9A86-B8F7DEE29B4A}"/>
              </a:ext>
            </a:extLst>
          </p:cNvPr>
          <p:cNvSpPr>
            <a:spLocks noChangeShapeType="1"/>
          </p:cNvSpPr>
          <p:nvPr/>
        </p:nvSpPr>
        <p:spPr bwMode="auto">
          <a:xfrm flipH="1">
            <a:off x="1029428" y="4719638"/>
            <a:ext cx="647700"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2" name="Line 51">
            <a:extLst>
              <a:ext uri="{FF2B5EF4-FFF2-40B4-BE49-F238E27FC236}">
                <a16:creationId xmlns:a16="http://schemas.microsoft.com/office/drawing/2014/main" id="{B765C32E-4FE0-644E-8A4A-31E805953BA5}"/>
              </a:ext>
            </a:extLst>
          </p:cNvPr>
          <p:cNvSpPr>
            <a:spLocks noChangeShapeType="1"/>
          </p:cNvSpPr>
          <p:nvPr/>
        </p:nvSpPr>
        <p:spPr bwMode="auto">
          <a:xfrm flipV="1">
            <a:off x="669066" y="4719638"/>
            <a:ext cx="293687"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3" name="Line 57">
            <a:extLst>
              <a:ext uri="{FF2B5EF4-FFF2-40B4-BE49-F238E27FC236}">
                <a16:creationId xmlns:a16="http://schemas.microsoft.com/office/drawing/2014/main" id="{DDA6013D-F883-634E-813B-0DA0B98C6D9E}"/>
              </a:ext>
            </a:extLst>
          </p:cNvPr>
          <p:cNvSpPr>
            <a:spLocks noChangeShapeType="1"/>
          </p:cNvSpPr>
          <p:nvPr/>
        </p:nvSpPr>
        <p:spPr bwMode="auto">
          <a:xfrm>
            <a:off x="308703" y="6375400"/>
            <a:ext cx="32416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4" name="Freeform 60">
            <a:extLst>
              <a:ext uri="{FF2B5EF4-FFF2-40B4-BE49-F238E27FC236}">
                <a16:creationId xmlns:a16="http://schemas.microsoft.com/office/drawing/2014/main" id="{8568B642-7788-F343-8A45-9BE58EFE1939}"/>
              </a:ext>
            </a:extLst>
          </p:cNvPr>
          <p:cNvSpPr>
            <a:spLocks/>
          </p:cNvSpPr>
          <p:nvPr/>
        </p:nvSpPr>
        <p:spPr bwMode="auto">
          <a:xfrm>
            <a:off x="3120165" y="4719638"/>
            <a:ext cx="751012" cy="1655762"/>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5" name="Rectangle 61">
            <a:extLst>
              <a:ext uri="{FF2B5EF4-FFF2-40B4-BE49-F238E27FC236}">
                <a16:creationId xmlns:a16="http://schemas.microsoft.com/office/drawing/2014/main" id="{13C66C6B-F53D-CB4D-AF98-C17787DB4C9F}"/>
              </a:ext>
            </a:extLst>
          </p:cNvPr>
          <p:cNvSpPr>
            <a:spLocks noChangeArrowheads="1"/>
          </p:cNvSpPr>
          <p:nvPr/>
        </p:nvSpPr>
        <p:spPr bwMode="auto">
          <a:xfrm>
            <a:off x="3798152" y="5080000"/>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16" name="Text Box 62">
            <a:extLst>
              <a:ext uri="{FF2B5EF4-FFF2-40B4-BE49-F238E27FC236}">
                <a16:creationId xmlns:a16="http://schemas.microsoft.com/office/drawing/2014/main" id="{0A1AC478-08F5-5846-B4BC-CFB539C631A5}"/>
              </a:ext>
            </a:extLst>
          </p:cNvPr>
          <p:cNvSpPr txBox="1">
            <a:spLocks noChangeArrowheads="1"/>
          </p:cNvSpPr>
          <p:nvPr/>
        </p:nvSpPr>
        <p:spPr bwMode="auto">
          <a:xfrm>
            <a:off x="453166" y="428783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closed</a:t>
            </a:r>
            <a:endParaRPr lang="en-US" altLang="en-US" sz="1800" dirty="0"/>
          </a:p>
        </p:txBody>
      </p:sp>
      <p:sp>
        <p:nvSpPr>
          <p:cNvPr id="37917" name="Text Box 64">
            <a:extLst>
              <a:ext uri="{FF2B5EF4-FFF2-40B4-BE49-F238E27FC236}">
                <a16:creationId xmlns:a16="http://schemas.microsoft.com/office/drawing/2014/main" id="{593C311B-5287-F74D-A652-17A2A41942EE}"/>
              </a:ext>
            </a:extLst>
          </p:cNvPr>
          <p:cNvSpPr txBox="1">
            <a:spLocks noChangeArrowheads="1"/>
          </p:cNvSpPr>
          <p:nvPr/>
        </p:nvSpPr>
        <p:spPr bwMode="auto">
          <a:xfrm>
            <a:off x="3999716" y="5362576"/>
            <a:ext cx="663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OUT</a:t>
            </a:r>
            <a:endParaRPr lang="en-US" altLang="en-US" sz="1800" baseline="-25000" dirty="0"/>
          </a:p>
        </p:txBody>
      </p:sp>
      <p:sp>
        <p:nvSpPr>
          <p:cNvPr id="37918" name="Line 65">
            <a:extLst>
              <a:ext uri="{FF2B5EF4-FFF2-40B4-BE49-F238E27FC236}">
                <a16:creationId xmlns:a16="http://schemas.microsoft.com/office/drawing/2014/main" id="{9DD1DD24-92C2-E24D-A49A-E1E7D7303FBC}"/>
              </a:ext>
            </a:extLst>
          </p:cNvPr>
          <p:cNvSpPr>
            <a:spLocks noChangeShapeType="1"/>
          </p:cNvSpPr>
          <p:nvPr/>
        </p:nvSpPr>
        <p:spPr bwMode="auto">
          <a:xfrm flipV="1">
            <a:off x="4024745" y="4710907"/>
            <a:ext cx="0" cy="16557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9" name="Line 66">
            <a:extLst>
              <a:ext uri="{FF2B5EF4-FFF2-40B4-BE49-F238E27FC236}">
                <a16:creationId xmlns:a16="http://schemas.microsoft.com/office/drawing/2014/main" id="{BA3DF0F2-9A98-624F-A48D-EAB186331A69}"/>
              </a:ext>
            </a:extLst>
          </p:cNvPr>
          <p:cNvSpPr>
            <a:spLocks noChangeShapeType="1"/>
          </p:cNvSpPr>
          <p:nvPr/>
        </p:nvSpPr>
        <p:spPr bwMode="auto">
          <a:xfrm flipH="1">
            <a:off x="1893028" y="4432300"/>
            <a:ext cx="936625" cy="0"/>
          </a:xfrm>
          <a:prstGeom prst="line">
            <a:avLst/>
          </a:prstGeom>
          <a:noFill/>
          <a:ln w="25400">
            <a:solidFill>
              <a:srgbClr val="3366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0" name="Text Box 67">
            <a:extLst>
              <a:ext uri="{FF2B5EF4-FFF2-40B4-BE49-F238E27FC236}">
                <a16:creationId xmlns:a16="http://schemas.microsoft.com/office/drawing/2014/main" id="{DDC1624F-C3F8-DC43-ACA6-60CC2302C072}"/>
              </a:ext>
            </a:extLst>
          </p:cNvPr>
          <p:cNvSpPr txBox="1">
            <a:spLocks noChangeArrowheads="1"/>
          </p:cNvSpPr>
          <p:nvPr/>
        </p:nvSpPr>
        <p:spPr bwMode="auto">
          <a:xfrm>
            <a:off x="2901091" y="4287838"/>
            <a:ext cx="420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37921" name="Line 68">
            <a:extLst>
              <a:ext uri="{FF2B5EF4-FFF2-40B4-BE49-F238E27FC236}">
                <a16:creationId xmlns:a16="http://schemas.microsoft.com/office/drawing/2014/main" id="{33D29193-4858-6A42-AC46-B328B1F0B3E9}"/>
              </a:ext>
            </a:extLst>
          </p:cNvPr>
          <p:cNvSpPr>
            <a:spLocks noChangeShapeType="1"/>
          </p:cNvSpPr>
          <p:nvPr/>
        </p:nvSpPr>
        <p:spPr bwMode="auto">
          <a:xfrm>
            <a:off x="1924778" y="4943475"/>
            <a:ext cx="9112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2" name="Text Box 69">
            <a:extLst>
              <a:ext uri="{FF2B5EF4-FFF2-40B4-BE49-F238E27FC236}">
                <a16:creationId xmlns:a16="http://schemas.microsoft.com/office/drawing/2014/main" id="{88E06EF3-9224-824A-B616-073B289F0766}"/>
              </a:ext>
            </a:extLst>
          </p:cNvPr>
          <p:cNvSpPr txBox="1">
            <a:spLocks noChangeArrowheads="1"/>
          </p:cNvSpPr>
          <p:nvPr/>
        </p:nvSpPr>
        <p:spPr bwMode="auto">
          <a:xfrm>
            <a:off x="2147028" y="4900607"/>
            <a:ext cx="3317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solidFill>
                  <a:srgbClr val="FF0000"/>
                </a:solidFill>
              </a:rPr>
              <a:t>I</a:t>
            </a:r>
            <a:r>
              <a:rPr lang="en-GB" altLang="en-US" sz="1800" baseline="-25000" dirty="0">
                <a:solidFill>
                  <a:srgbClr val="FF0000"/>
                </a:solidFill>
              </a:rPr>
              <a:t>L</a:t>
            </a:r>
            <a:endParaRPr lang="en-US" altLang="en-US" sz="1800" baseline="-25000" dirty="0">
              <a:solidFill>
                <a:srgbClr val="FF0000"/>
              </a:solidFill>
            </a:endParaRPr>
          </a:p>
        </p:txBody>
      </p:sp>
      <p:sp>
        <p:nvSpPr>
          <p:cNvPr id="37923" name="Rectangle 70">
            <a:extLst>
              <a:ext uri="{FF2B5EF4-FFF2-40B4-BE49-F238E27FC236}">
                <a16:creationId xmlns:a16="http://schemas.microsoft.com/office/drawing/2014/main" id="{0D229EF5-1FB3-8C47-AE21-56CC87267E03}"/>
              </a:ext>
            </a:extLst>
          </p:cNvPr>
          <p:cNvSpPr>
            <a:spLocks noChangeArrowheads="1"/>
          </p:cNvSpPr>
          <p:nvPr/>
        </p:nvSpPr>
        <p:spPr bwMode="auto">
          <a:xfrm>
            <a:off x="4744671" y="5526088"/>
            <a:ext cx="433388" cy="71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24" name="Rectangle 71">
            <a:extLst>
              <a:ext uri="{FF2B5EF4-FFF2-40B4-BE49-F238E27FC236}">
                <a16:creationId xmlns:a16="http://schemas.microsoft.com/office/drawing/2014/main" id="{0B34B230-E1D7-2F41-99A2-EBF8DFAD93A6}"/>
              </a:ext>
            </a:extLst>
          </p:cNvPr>
          <p:cNvSpPr>
            <a:spLocks noChangeArrowheads="1"/>
          </p:cNvSpPr>
          <p:nvPr/>
        </p:nvSpPr>
        <p:spPr bwMode="auto">
          <a:xfrm>
            <a:off x="4817696" y="5668963"/>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25" name="Line 72">
            <a:extLst>
              <a:ext uri="{FF2B5EF4-FFF2-40B4-BE49-F238E27FC236}">
                <a16:creationId xmlns:a16="http://schemas.microsoft.com/office/drawing/2014/main" id="{A2FC0B6A-68EC-8F44-B1B7-591766947347}"/>
              </a:ext>
            </a:extLst>
          </p:cNvPr>
          <p:cNvSpPr>
            <a:spLocks noChangeShapeType="1"/>
          </p:cNvSpPr>
          <p:nvPr/>
        </p:nvSpPr>
        <p:spPr bwMode="auto">
          <a:xfrm flipV="1">
            <a:off x="4956302" y="4732338"/>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6" name="Line 73">
            <a:extLst>
              <a:ext uri="{FF2B5EF4-FFF2-40B4-BE49-F238E27FC236}">
                <a16:creationId xmlns:a16="http://schemas.microsoft.com/office/drawing/2014/main" id="{15EA615D-0BFF-3C4D-A2B8-AF259AB47EA9}"/>
              </a:ext>
            </a:extLst>
          </p:cNvPr>
          <p:cNvSpPr>
            <a:spLocks noChangeShapeType="1"/>
          </p:cNvSpPr>
          <p:nvPr/>
        </p:nvSpPr>
        <p:spPr bwMode="auto">
          <a:xfrm flipV="1">
            <a:off x="4956302" y="5741988"/>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7" name="Line 74">
            <a:extLst>
              <a:ext uri="{FF2B5EF4-FFF2-40B4-BE49-F238E27FC236}">
                <a16:creationId xmlns:a16="http://schemas.microsoft.com/office/drawing/2014/main" id="{5BBE8DC8-82DE-054D-8391-7620F3E2200F}"/>
              </a:ext>
            </a:extLst>
          </p:cNvPr>
          <p:cNvSpPr>
            <a:spLocks noChangeShapeType="1"/>
          </p:cNvSpPr>
          <p:nvPr/>
        </p:nvSpPr>
        <p:spPr bwMode="auto">
          <a:xfrm flipV="1">
            <a:off x="5249496" y="538003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8" name="Text Box 75">
            <a:extLst>
              <a:ext uri="{FF2B5EF4-FFF2-40B4-BE49-F238E27FC236}">
                <a16:creationId xmlns:a16="http://schemas.microsoft.com/office/drawing/2014/main" id="{7DFFA352-A837-A942-A56A-FD3981051974}"/>
              </a:ext>
            </a:extLst>
          </p:cNvPr>
          <p:cNvSpPr txBox="1">
            <a:spLocks noChangeArrowheads="1"/>
          </p:cNvSpPr>
          <p:nvPr/>
        </p:nvSpPr>
        <p:spPr bwMode="auto">
          <a:xfrm>
            <a:off x="5178059" y="538003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37929" name="Line 76">
            <a:extLst>
              <a:ext uri="{FF2B5EF4-FFF2-40B4-BE49-F238E27FC236}">
                <a16:creationId xmlns:a16="http://schemas.microsoft.com/office/drawing/2014/main" id="{7D00708D-BE9C-C849-B379-D8769971EF33}"/>
              </a:ext>
            </a:extLst>
          </p:cNvPr>
          <p:cNvSpPr>
            <a:spLocks noChangeShapeType="1"/>
          </p:cNvSpPr>
          <p:nvPr/>
        </p:nvSpPr>
        <p:spPr bwMode="auto">
          <a:xfrm>
            <a:off x="4960571" y="4732338"/>
            <a:ext cx="360363"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7930" name="Group 77">
            <a:extLst>
              <a:ext uri="{FF2B5EF4-FFF2-40B4-BE49-F238E27FC236}">
                <a16:creationId xmlns:a16="http://schemas.microsoft.com/office/drawing/2014/main" id="{F2675F5A-C3B4-344D-9F0D-9C6B77CD2D6B}"/>
              </a:ext>
            </a:extLst>
          </p:cNvPr>
          <p:cNvGrpSpPr>
            <a:grpSpLocks/>
          </p:cNvGrpSpPr>
          <p:nvPr/>
        </p:nvGrpSpPr>
        <p:grpSpPr bwMode="auto">
          <a:xfrm rot="-5400000">
            <a:off x="6917958" y="3990976"/>
            <a:ext cx="314325" cy="1530350"/>
            <a:chOff x="3211" y="2176"/>
            <a:chExt cx="198" cy="964"/>
          </a:xfrm>
        </p:grpSpPr>
        <p:sp>
          <p:nvSpPr>
            <p:cNvPr id="37953" name="Oval 78">
              <a:extLst>
                <a:ext uri="{FF2B5EF4-FFF2-40B4-BE49-F238E27FC236}">
                  <a16:creationId xmlns:a16="http://schemas.microsoft.com/office/drawing/2014/main" id="{CDB3D2F9-05D6-5B4C-ACC7-413CC866392E}"/>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54" name="Oval 79">
              <a:extLst>
                <a:ext uri="{FF2B5EF4-FFF2-40B4-BE49-F238E27FC236}">
                  <a16:creationId xmlns:a16="http://schemas.microsoft.com/office/drawing/2014/main" id="{2403296D-4047-DE4C-82B7-850392D92FBC}"/>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55" name="Oval 80">
              <a:extLst>
                <a:ext uri="{FF2B5EF4-FFF2-40B4-BE49-F238E27FC236}">
                  <a16:creationId xmlns:a16="http://schemas.microsoft.com/office/drawing/2014/main" id="{D96927A7-C071-D94E-AAE8-6B4BEC23A0CE}"/>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56" name="Oval 81">
              <a:extLst>
                <a:ext uri="{FF2B5EF4-FFF2-40B4-BE49-F238E27FC236}">
                  <a16:creationId xmlns:a16="http://schemas.microsoft.com/office/drawing/2014/main" id="{28022493-E3C1-1F4E-BBED-DC6AF247821E}"/>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57" name="Oval 82">
              <a:extLst>
                <a:ext uri="{FF2B5EF4-FFF2-40B4-BE49-F238E27FC236}">
                  <a16:creationId xmlns:a16="http://schemas.microsoft.com/office/drawing/2014/main" id="{13E54667-B626-0748-8AFD-FF76AEE8AFD4}"/>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58" name="Oval 83">
              <a:extLst>
                <a:ext uri="{FF2B5EF4-FFF2-40B4-BE49-F238E27FC236}">
                  <a16:creationId xmlns:a16="http://schemas.microsoft.com/office/drawing/2014/main" id="{AB0FA912-BBCA-4746-BF63-74CCB7292934}"/>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59" name="Rectangle 84">
              <a:extLst>
                <a:ext uri="{FF2B5EF4-FFF2-40B4-BE49-F238E27FC236}">
                  <a16:creationId xmlns:a16="http://schemas.microsoft.com/office/drawing/2014/main" id="{C8C3B2EA-2276-F04C-B691-C72AD8C55A27}"/>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60" name="Line 85">
              <a:extLst>
                <a:ext uri="{FF2B5EF4-FFF2-40B4-BE49-F238E27FC236}">
                  <a16:creationId xmlns:a16="http://schemas.microsoft.com/office/drawing/2014/main" id="{2E47EE30-13EC-D841-B13D-BCE26C4897FE}"/>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61" name="Line 86">
              <a:extLst>
                <a:ext uri="{FF2B5EF4-FFF2-40B4-BE49-F238E27FC236}">
                  <a16:creationId xmlns:a16="http://schemas.microsoft.com/office/drawing/2014/main" id="{25D6D485-5459-8840-8BB4-A31F41ED8CD8}"/>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31" name="Line 87">
            <a:extLst>
              <a:ext uri="{FF2B5EF4-FFF2-40B4-BE49-F238E27FC236}">
                <a16:creationId xmlns:a16="http://schemas.microsoft.com/office/drawing/2014/main" id="{A16EC789-563F-FE49-9BFB-4EF3A47BAADE}"/>
              </a:ext>
            </a:extLst>
          </p:cNvPr>
          <p:cNvSpPr>
            <a:spLocks noChangeShapeType="1"/>
          </p:cNvSpPr>
          <p:nvPr/>
        </p:nvSpPr>
        <p:spPr bwMode="auto">
          <a:xfrm flipH="1">
            <a:off x="5681296" y="4732338"/>
            <a:ext cx="647700"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32" name="Line 88">
            <a:extLst>
              <a:ext uri="{FF2B5EF4-FFF2-40B4-BE49-F238E27FC236}">
                <a16:creationId xmlns:a16="http://schemas.microsoft.com/office/drawing/2014/main" id="{74B43F38-8AA8-4948-B554-EC7AD625C3AF}"/>
              </a:ext>
            </a:extLst>
          </p:cNvPr>
          <p:cNvSpPr>
            <a:spLocks noChangeShapeType="1"/>
          </p:cNvSpPr>
          <p:nvPr/>
        </p:nvSpPr>
        <p:spPr bwMode="auto">
          <a:xfrm flipV="1">
            <a:off x="5320934" y="4587875"/>
            <a:ext cx="360362" cy="144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7933" name="Group 89">
            <a:extLst>
              <a:ext uri="{FF2B5EF4-FFF2-40B4-BE49-F238E27FC236}">
                <a16:creationId xmlns:a16="http://schemas.microsoft.com/office/drawing/2014/main" id="{9F7B0BE4-820A-FA44-AC27-84F466D27F00}"/>
              </a:ext>
            </a:extLst>
          </p:cNvPr>
          <p:cNvGrpSpPr>
            <a:grpSpLocks/>
          </p:cNvGrpSpPr>
          <p:nvPr/>
        </p:nvGrpSpPr>
        <p:grpSpPr bwMode="auto">
          <a:xfrm rot="-5400000">
            <a:off x="5790040" y="5344319"/>
            <a:ext cx="215900" cy="287338"/>
            <a:chOff x="1973" y="2160"/>
            <a:chExt cx="136" cy="181"/>
          </a:xfrm>
        </p:grpSpPr>
        <p:sp>
          <p:nvSpPr>
            <p:cNvPr id="37949" name="Line 90">
              <a:extLst>
                <a:ext uri="{FF2B5EF4-FFF2-40B4-BE49-F238E27FC236}">
                  <a16:creationId xmlns:a16="http://schemas.microsoft.com/office/drawing/2014/main" id="{5F98F239-973F-EF44-8413-A6C81B2A6D50}"/>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50" name="Line 91">
              <a:extLst>
                <a:ext uri="{FF2B5EF4-FFF2-40B4-BE49-F238E27FC236}">
                  <a16:creationId xmlns:a16="http://schemas.microsoft.com/office/drawing/2014/main" id="{31BCF61A-77D0-734B-BA13-AD6332525AD6}"/>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51" name="Line 92">
              <a:extLst>
                <a:ext uri="{FF2B5EF4-FFF2-40B4-BE49-F238E27FC236}">
                  <a16:creationId xmlns:a16="http://schemas.microsoft.com/office/drawing/2014/main" id="{7AE1409F-205C-E141-B88F-7E294D780C45}"/>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52" name="Line 93">
              <a:extLst>
                <a:ext uri="{FF2B5EF4-FFF2-40B4-BE49-F238E27FC236}">
                  <a16:creationId xmlns:a16="http://schemas.microsoft.com/office/drawing/2014/main" id="{27C81EB0-B45A-CA41-BBD4-7F23C91682F3}"/>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34" name="Line 94">
            <a:extLst>
              <a:ext uri="{FF2B5EF4-FFF2-40B4-BE49-F238E27FC236}">
                <a16:creationId xmlns:a16="http://schemas.microsoft.com/office/drawing/2014/main" id="{B9F208F1-9752-5B4A-A3A1-797385E660BA}"/>
              </a:ext>
            </a:extLst>
          </p:cNvPr>
          <p:cNvSpPr>
            <a:spLocks noChangeShapeType="1"/>
          </p:cNvSpPr>
          <p:nvPr/>
        </p:nvSpPr>
        <p:spPr bwMode="auto">
          <a:xfrm>
            <a:off x="4960571" y="6388100"/>
            <a:ext cx="32416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35" name="Line 95">
            <a:extLst>
              <a:ext uri="{FF2B5EF4-FFF2-40B4-BE49-F238E27FC236}">
                <a16:creationId xmlns:a16="http://schemas.microsoft.com/office/drawing/2014/main" id="{EA66FA6C-50F3-9843-91A5-C576B43BA6EC}"/>
              </a:ext>
            </a:extLst>
          </p:cNvPr>
          <p:cNvSpPr>
            <a:spLocks noChangeShapeType="1"/>
          </p:cNvSpPr>
          <p:nvPr/>
        </p:nvSpPr>
        <p:spPr bwMode="auto">
          <a:xfrm>
            <a:off x="5898784" y="5595938"/>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36" name="Line 96">
            <a:extLst>
              <a:ext uri="{FF2B5EF4-FFF2-40B4-BE49-F238E27FC236}">
                <a16:creationId xmlns:a16="http://schemas.microsoft.com/office/drawing/2014/main" id="{33D53DE5-CB83-374B-9311-8328530FC9EF}"/>
              </a:ext>
            </a:extLst>
          </p:cNvPr>
          <p:cNvSpPr>
            <a:spLocks noChangeShapeType="1"/>
          </p:cNvSpPr>
          <p:nvPr/>
        </p:nvSpPr>
        <p:spPr bwMode="auto">
          <a:xfrm flipV="1">
            <a:off x="5898784" y="4732338"/>
            <a:ext cx="0"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37" name="Freeform 97">
            <a:extLst>
              <a:ext uri="{FF2B5EF4-FFF2-40B4-BE49-F238E27FC236}">
                <a16:creationId xmlns:a16="http://schemas.microsoft.com/office/drawing/2014/main" id="{3E77F54D-B9BB-1448-AD71-3DCB5DC315AF}"/>
              </a:ext>
            </a:extLst>
          </p:cNvPr>
          <p:cNvSpPr>
            <a:spLocks/>
          </p:cNvSpPr>
          <p:nvPr/>
        </p:nvSpPr>
        <p:spPr bwMode="auto">
          <a:xfrm>
            <a:off x="7794257" y="4733926"/>
            <a:ext cx="664314" cy="1654174"/>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38" name="Rectangle 98">
            <a:extLst>
              <a:ext uri="{FF2B5EF4-FFF2-40B4-BE49-F238E27FC236}">
                <a16:creationId xmlns:a16="http://schemas.microsoft.com/office/drawing/2014/main" id="{8F8D9626-8FD0-0942-85C8-AB6C64889C4C}"/>
              </a:ext>
            </a:extLst>
          </p:cNvPr>
          <p:cNvSpPr>
            <a:spLocks noChangeArrowheads="1"/>
          </p:cNvSpPr>
          <p:nvPr/>
        </p:nvSpPr>
        <p:spPr bwMode="auto">
          <a:xfrm>
            <a:off x="8385546" y="5092700"/>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9" name="Text Box 99">
            <a:extLst>
              <a:ext uri="{FF2B5EF4-FFF2-40B4-BE49-F238E27FC236}">
                <a16:creationId xmlns:a16="http://schemas.microsoft.com/office/drawing/2014/main" id="{07D57B03-7436-7849-88A1-9F49D69ADD42}"/>
              </a:ext>
            </a:extLst>
          </p:cNvPr>
          <p:cNvSpPr txBox="1">
            <a:spLocks noChangeArrowheads="1"/>
          </p:cNvSpPr>
          <p:nvPr/>
        </p:nvSpPr>
        <p:spPr bwMode="auto">
          <a:xfrm>
            <a:off x="5105034" y="4300538"/>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open</a:t>
            </a:r>
            <a:endParaRPr lang="en-US" altLang="en-US" sz="1800" dirty="0"/>
          </a:p>
        </p:txBody>
      </p:sp>
      <p:sp>
        <p:nvSpPr>
          <p:cNvPr id="37940" name="Text Box 101">
            <a:extLst>
              <a:ext uri="{FF2B5EF4-FFF2-40B4-BE49-F238E27FC236}">
                <a16:creationId xmlns:a16="http://schemas.microsoft.com/office/drawing/2014/main" id="{18AE351F-D9D2-F64B-9A6F-0DB4C59ADDB7}"/>
              </a:ext>
            </a:extLst>
          </p:cNvPr>
          <p:cNvSpPr txBox="1">
            <a:spLocks noChangeArrowheads="1"/>
          </p:cNvSpPr>
          <p:nvPr/>
        </p:nvSpPr>
        <p:spPr bwMode="auto">
          <a:xfrm>
            <a:off x="8559434" y="5380037"/>
            <a:ext cx="663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OUT</a:t>
            </a:r>
            <a:endParaRPr lang="en-US" altLang="en-US" sz="1800" baseline="-25000" dirty="0"/>
          </a:p>
        </p:txBody>
      </p:sp>
      <p:sp>
        <p:nvSpPr>
          <p:cNvPr id="37941" name="Line 102">
            <a:extLst>
              <a:ext uri="{FF2B5EF4-FFF2-40B4-BE49-F238E27FC236}">
                <a16:creationId xmlns:a16="http://schemas.microsoft.com/office/drawing/2014/main" id="{E507D16F-91C9-2949-A206-12032206685F}"/>
              </a:ext>
            </a:extLst>
          </p:cNvPr>
          <p:cNvSpPr>
            <a:spLocks noChangeShapeType="1"/>
          </p:cNvSpPr>
          <p:nvPr/>
        </p:nvSpPr>
        <p:spPr bwMode="auto">
          <a:xfrm flipV="1">
            <a:off x="8627574" y="4719638"/>
            <a:ext cx="0" cy="16557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42" name="Line 103">
            <a:extLst>
              <a:ext uri="{FF2B5EF4-FFF2-40B4-BE49-F238E27FC236}">
                <a16:creationId xmlns:a16="http://schemas.microsoft.com/office/drawing/2014/main" id="{CD3C70F4-0C1D-E345-9A48-6DEA542FD785}"/>
              </a:ext>
            </a:extLst>
          </p:cNvPr>
          <p:cNvSpPr>
            <a:spLocks noChangeShapeType="1"/>
          </p:cNvSpPr>
          <p:nvPr/>
        </p:nvSpPr>
        <p:spPr bwMode="auto">
          <a:xfrm flipH="1">
            <a:off x="6544896" y="4445000"/>
            <a:ext cx="936625" cy="0"/>
          </a:xfrm>
          <a:prstGeom prst="line">
            <a:avLst/>
          </a:prstGeom>
          <a:noFill/>
          <a:ln w="25400">
            <a:solidFill>
              <a:srgbClr val="3366FF"/>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43" name="Text Box 104">
            <a:extLst>
              <a:ext uri="{FF2B5EF4-FFF2-40B4-BE49-F238E27FC236}">
                <a16:creationId xmlns:a16="http://schemas.microsoft.com/office/drawing/2014/main" id="{3C821DD5-EB76-BF4A-ABBF-79B7FE546C6C}"/>
              </a:ext>
            </a:extLst>
          </p:cNvPr>
          <p:cNvSpPr txBox="1">
            <a:spLocks noChangeArrowheads="1"/>
          </p:cNvSpPr>
          <p:nvPr/>
        </p:nvSpPr>
        <p:spPr bwMode="auto">
          <a:xfrm>
            <a:off x="7552959" y="4300538"/>
            <a:ext cx="420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37944" name="Line 105">
            <a:extLst>
              <a:ext uri="{FF2B5EF4-FFF2-40B4-BE49-F238E27FC236}">
                <a16:creationId xmlns:a16="http://schemas.microsoft.com/office/drawing/2014/main" id="{BB7E3C9E-C493-3246-B519-662C2CB50823}"/>
              </a:ext>
            </a:extLst>
          </p:cNvPr>
          <p:cNvSpPr>
            <a:spLocks noChangeShapeType="1"/>
          </p:cNvSpPr>
          <p:nvPr/>
        </p:nvSpPr>
        <p:spPr bwMode="auto">
          <a:xfrm>
            <a:off x="6605221" y="4860925"/>
            <a:ext cx="9112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45" name="Text Box 106">
            <a:extLst>
              <a:ext uri="{FF2B5EF4-FFF2-40B4-BE49-F238E27FC236}">
                <a16:creationId xmlns:a16="http://schemas.microsoft.com/office/drawing/2014/main" id="{3C53B47C-2FA6-D941-88E8-9C3BABDDC864}"/>
              </a:ext>
            </a:extLst>
          </p:cNvPr>
          <p:cNvSpPr txBox="1">
            <a:spLocks noChangeArrowheads="1"/>
          </p:cNvSpPr>
          <p:nvPr/>
        </p:nvSpPr>
        <p:spPr bwMode="auto">
          <a:xfrm>
            <a:off x="6827471" y="4818057"/>
            <a:ext cx="3317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solidFill>
                  <a:srgbClr val="FF0000"/>
                </a:solidFill>
              </a:rPr>
              <a:t>I</a:t>
            </a:r>
            <a:r>
              <a:rPr lang="en-GB" altLang="en-US" sz="1800" baseline="-25000" dirty="0">
                <a:solidFill>
                  <a:srgbClr val="FF0000"/>
                </a:solidFill>
              </a:rPr>
              <a:t>L</a:t>
            </a:r>
            <a:endParaRPr lang="en-US" altLang="en-US" sz="1800" baseline="-25000" dirty="0">
              <a:solidFill>
                <a:srgbClr val="FF0000"/>
              </a:solidFill>
            </a:endParaRPr>
          </a:p>
        </p:txBody>
      </p:sp>
      <p:sp>
        <p:nvSpPr>
          <p:cNvPr id="37946" name="Rectangle 107">
            <a:extLst>
              <a:ext uri="{FF2B5EF4-FFF2-40B4-BE49-F238E27FC236}">
                <a16:creationId xmlns:a16="http://schemas.microsoft.com/office/drawing/2014/main" id="{F0CB5D4D-8083-6843-BABE-DCB040E0A1F9}"/>
              </a:ext>
            </a:extLst>
          </p:cNvPr>
          <p:cNvSpPr>
            <a:spLocks noChangeArrowheads="1"/>
          </p:cNvSpPr>
          <p:nvPr/>
        </p:nvSpPr>
        <p:spPr bwMode="auto">
          <a:xfrm>
            <a:off x="936264" y="5300723"/>
            <a:ext cx="2247900" cy="804862"/>
          </a:xfrm>
          <a:prstGeom prst="rect">
            <a:avLst/>
          </a:prstGeom>
          <a:no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b="1" dirty="0">
                <a:latin typeface="Times New Roman" panose="02020603050405020304" pitchFamily="18" charset="0"/>
              </a:rPr>
              <a:t>V</a:t>
            </a:r>
            <a:r>
              <a:rPr lang="en-GB" altLang="en-US" sz="1800" b="1" baseline="-25000" dirty="0">
                <a:latin typeface="Times New Roman" panose="02020603050405020304" pitchFamily="18" charset="0"/>
              </a:rPr>
              <a:t>L</a:t>
            </a:r>
            <a:r>
              <a:rPr lang="en-GB" altLang="en-US" sz="1800" b="1" dirty="0">
                <a:latin typeface="Times New Roman" panose="02020603050405020304" pitchFamily="18" charset="0"/>
              </a:rPr>
              <a:t>=V</a:t>
            </a:r>
            <a:r>
              <a:rPr lang="en-GB" altLang="en-US" sz="1800" b="1" baseline="-25000" dirty="0">
                <a:latin typeface="Times New Roman" panose="02020603050405020304" pitchFamily="18" charset="0"/>
              </a:rPr>
              <a:t>IN</a:t>
            </a:r>
            <a:r>
              <a:rPr lang="en-GB" altLang="en-US" sz="1800" b="1" dirty="0">
                <a:latin typeface="Times New Roman" panose="02020603050405020304" pitchFamily="18" charset="0"/>
              </a:rPr>
              <a:t>-V</a:t>
            </a:r>
            <a:r>
              <a:rPr lang="en-GB" altLang="en-US" sz="1800" b="1" baseline="-25000" dirty="0">
                <a:latin typeface="Times New Roman" panose="02020603050405020304" pitchFamily="18" charset="0"/>
              </a:rPr>
              <a:t>OUT</a:t>
            </a:r>
          </a:p>
          <a:p>
            <a:pPr algn="ctr" eaLnBrk="1" hangingPunct="1">
              <a:spcBef>
                <a:spcPct val="0"/>
              </a:spcBef>
              <a:buFontTx/>
              <a:buNone/>
            </a:pPr>
            <a:r>
              <a:rPr lang="en-GB" altLang="en-US" sz="1800" b="1" dirty="0">
                <a:latin typeface="Times New Roman" panose="02020603050405020304" pitchFamily="18" charset="0"/>
              </a:rPr>
              <a:t>Energy in =&gt; I </a:t>
            </a:r>
            <a:r>
              <a:rPr lang="en-GB" altLang="en-US" sz="1800" b="1" dirty="0">
                <a:latin typeface="Times New Roman" panose="02020603050405020304" pitchFamily="18" charset="0"/>
                <a:cs typeface="Arial" panose="020B0604020202020204" pitchFamily="34" charset="0"/>
              </a:rPr>
              <a:t>↑</a:t>
            </a:r>
          </a:p>
        </p:txBody>
      </p:sp>
      <p:sp>
        <p:nvSpPr>
          <p:cNvPr id="37947" name="Rectangle 108">
            <a:extLst>
              <a:ext uri="{FF2B5EF4-FFF2-40B4-BE49-F238E27FC236}">
                <a16:creationId xmlns:a16="http://schemas.microsoft.com/office/drawing/2014/main" id="{E62C2507-2DD4-5E49-9DDE-3AC9B0BCA6B2}"/>
              </a:ext>
            </a:extLst>
          </p:cNvPr>
          <p:cNvSpPr>
            <a:spLocks noChangeArrowheads="1"/>
          </p:cNvSpPr>
          <p:nvPr/>
        </p:nvSpPr>
        <p:spPr bwMode="auto">
          <a:xfrm>
            <a:off x="6073046" y="5234475"/>
            <a:ext cx="1636588" cy="591344"/>
          </a:xfrm>
          <a:prstGeom prst="rect">
            <a:avLst/>
          </a:prstGeom>
          <a:no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600" b="1" dirty="0">
                <a:latin typeface="Times New Roman" panose="02020603050405020304" pitchFamily="18" charset="0"/>
              </a:rPr>
              <a:t>V</a:t>
            </a:r>
            <a:r>
              <a:rPr lang="en-GB" altLang="en-US" sz="1600" b="1" baseline="-25000" dirty="0">
                <a:latin typeface="Times New Roman" panose="02020603050405020304" pitchFamily="18" charset="0"/>
              </a:rPr>
              <a:t>L</a:t>
            </a:r>
            <a:r>
              <a:rPr lang="en-GB" altLang="en-US" sz="1600" b="1" dirty="0">
                <a:latin typeface="Times New Roman" panose="02020603050405020304" pitchFamily="18" charset="0"/>
              </a:rPr>
              <a:t>=-V</a:t>
            </a:r>
            <a:r>
              <a:rPr lang="en-GB" altLang="en-US" sz="1600" b="1" baseline="-25000" dirty="0">
                <a:latin typeface="Times New Roman" panose="02020603050405020304" pitchFamily="18" charset="0"/>
              </a:rPr>
              <a:t>OUT</a:t>
            </a:r>
          </a:p>
          <a:p>
            <a:pPr algn="ctr" eaLnBrk="1" hangingPunct="1">
              <a:spcBef>
                <a:spcPct val="0"/>
              </a:spcBef>
              <a:buFontTx/>
              <a:buNone/>
            </a:pPr>
            <a:r>
              <a:rPr lang="en-GB" altLang="en-US" sz="1600" b="1" dirty="0">
                <a:latin typeface="Times New Roman" panose="02020603050405020304" pitchFamily="18" charset="0"/>
              </a:rPr>
              <a:t>Energy out* =&gt; I </a:t>
            </a:r>
            <a:r>
              <a:rPr lang="en-GB" altLang="en-US" sz="1600" b="1" dirty="0">
                <a:latin typeface="Times New Roman" panose="02020603050405020304" pitchFamily="18" charset="0"/>
                <a:cs typeface="Arial" panose="020B0604020202020204" pitchFamily="34" charset="0"/>
              </a:rPr>
              <a:t>↓</a:t>
            </a:r>
            <a:endParaRPr lang="en-GB" altLang="en-US" sz="1600" b="1" dirty="0">
              <a:latin typeface="Times New Roman" panose="02020603050405020304" pitchFamily="18" charset="0"/>
              <a:cs typeface="Times New Roman" panose="02020603050405020304" pitchFamily="18" charset="0"/>
            </a:endParaRPr>
          </a:p>
        </p:txBody>
      </p:sp>
      <p:sp>
        <p:nvSpPr>
          <p:cNvPr id="37948" name="Text Box 109">
            <a:extLst>
              <a:ext uri="{FF2B5EF4-FFF2-40B4-BE49-F238E27FC236}">
                <a16:creationId xmlns:a16="http://schemas.microsoft.com/office/drawing/2014/main" id="{6985841D-E798-BE49-BAD0-2F530B80EAC9}"/>
              </a:ext>
            </a:extLst>
          </p:cNvPr>
          <p:cNvSpPr txBox="1">
            <a:spLocks noChangeArrowheads="1"/>
          </p:cNvSpPr>
          <p:nvPr/>
        </p:nvSpPr>
        <p:spPr bwMode="auto">
          <a:xfrm>
            <a:off x="0" y="6542088"/>
            <a:ext cx="68564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t>* Ignoring the voltage drop across the diode, which we will do to simplify the analysis.</a:t>
            </a:r>
            <a:endParaRPr lang="en-US" altLang="en-US" sz="1400"/>
          </a:p>
        </p:txBody>
      </p:sp>
      <p:pic>
        <p:nvPicPr>
          <p:cNvPr id="3" name="Picture 2">
            <a:extLst>
              <a:ext uri="{FF2B5EF4-FFF2-40B4-BE49-F238E27FC236}">
                <a16:creationId xmlns:a16="http://schemas.microsoft.com/office/drawing/2014/main" id="{36098A72-B08B-3716-273C-C57A12F95BB7}"/>
              </a:ext>
            </a:extLst>
          </p:cNvPr>
          <p:cNvPicPr>
            <a:picLocks noChangeAspect="1"/>
          </p:cNvPicPr>
          <p:nvPr/>
        </p:nvPicPr>
        <p:blipFill>
          <a:blip r:embed="rId2"/>
          <a:stretch>
            <a:fillRect/>
          </a:stretch>
        </p:blipFill>
        <p:spPr>
          <a:xfrm>
            <a:off x="3099073" y="4719638"/>
            <a:ext cx="635000" cy="1663700"/>
          </a:xfrm>
          <a:prstGeom prst="rect">
            <a:avLst/>
          </a:prstGeom>
        </p:spPr>
      </p:pic>
      <p:grpSp>
        <p:nvGrpSpPr>
          <p:cNvPr id="4" name="Group 3">
            <a:extLst>
              <a:ext uri="{FF2B5EF4-FFF2-40B4-BE49-F238E27FC236}">
                <a16:creationId xmlns:a16="http://schemas.microsoft.com/office/drawing/2014/main" id="{24E5EDC5-AD9D-3EAF-F0AC-AE7F8005DE69}"/>
              </a:ext>
            </a:extLst>
          </p:cNvPr>
          <p:cNvGrpSpPr/>
          <p:nvPr/>
        </p:nvGrpSpPr>
        <p:grpSpPr>
          <a:xfrm>
            <a:off x="7676662" y="4727576"/>
            <a:ext cx="576263" cy="1655762"/>
            <a:chOff x="5003800" y="1052513"/>
            <a:chExt cx="576263" cy="1655762"/>
          </a:xfrm>
        </p:grpSpPr>
        <p:sp>
          <p:nvSpPr>
            <p:cNvPr id="5" name="Rectangle 28">
              <a:extLst>
                <a:ext uri="{FF2B5EF4-FFF2-40B4-BE49-F238E27FC236}">
                  <a16:creationId xmlns:a16="http://schemas.microsoft.com/office/drawing/2014/main" id="{9ADEBA12-D405-7AD7-424B-1024B92FB329}"/>
                </a:ext>
              </a:extLst>
            </p:cNvPr>
            <p:cNvSpPr>
              <a:spLocks noChangeArrowheads="1"/>
            </p:cNvSpPr>
            <p:nvPr/>
          </p:nvSpPr>
          <p:spPr bwMode="auto">
            <a:xfrm>
              <a:off x="5148263" y="1628775"/>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6" name="Rectangle 29">
              <a:extLst>
                <a:ext uri="{FF2B5EF4-FFF2-40B4-BE49-F238E27FC236}">
                  <a16:creationId xmlns:a16="http://schemas.microsoft.com/office/drawing/2014/main" id="{E111730B-6949-3AFA-4242-07FE7BA106F3}"/>
                </a:ext>
              </a:extLst>
            </p:cNvPr>
            <p:cNvSpPr>
              <a:spLocks noChangeArrowheads="1"/>
            </p:cNvSpPr>
            <p:nvPr/>
          </p:nvSpPr>
          <p:spPr bwMode="auto">
            <a:xfrm>
              <a:off x="5148263" y="1773238"/>
              <a:ext cx="431800" cy="7143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 name="Line 30">
              <a:extLst>
                <a:ext uri="{FF2B5EF4-FFF2-40B4-BE49-F238E27FC236}">
                  <a16:creationId xmlns:a16="http://schemas.microsoft.com/office/drawing/2014/main" id="{95124E0B-1970-877C-793F-419647C11A58}"/>
                </a:ext>
              </a:extLst>
            </p:cNvPr>
            <p:cNvSpPr>
              <a:spLocks noChangeShapeType="1"/>
            </p:cNvSpPr>
            <p:nvPr/>
          </p:nvSpPr>
          <p:spPr bwMode="auto">
            <a:xfrm flipV="1">
              <a:off x="5364163" y="1844675"/>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31">
              <a:extLst>
                <a:ext uri="{FF2B5EF4-FFF2-40B4-BE49-F238E27FC236}">
                  <a16:creationId xmlns:a16="http://schemas.microsoft.com/office/drawing/2014/main" id="{AD5DE06C-8C29-3B01-FDE3-83EC7FD13F69}"/>
                </a:ext>
              </a:extLst>
            </p:cNvPr>
            <p:cNvSpPr>
              <a:spLocks noChangeShapeType="1"/>
            </p:cNvSpPr>
            <p:nvPr/>
          </p:nvSpPr>
          <p:spPr bwMode="auto">
            <a:xfrm>
              <a:off x="5364163" y="1052513"/>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48">
              <a:extLst>
                <a:ext uri="{FF2B5EF4-FFF2-40B4-BE49-F238E27FC236}">
                  <a16:creationId xmlns:a16="http://schemas.microsoft.com/office/drawing/2014/main" id="{1F3539A8-D58E-2A66-7329-F0A68DD57D93}"/>
                </a:ext>
              </a:extLst>
            </p:cNvPr>
            <p:cNvSpPr txBox="1">
              <a:spLocks noChangeArrowheads="1"/>
            </p:cNvSpPr>
            <p:nvPr/>
          </p:nvSpPr>
          <p:spPr bwMode="auto">
            <a:xfrm>
              <a:off x="5003800" y="1844675"/>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FA4F5F3-DEE2-9F18-DACB-54B09B363D8B}"/>
              </a:ext>
            </a:extLst>
          </p:cNvPr>
          <p:cNvSpPr txBox="1">
            <a:spLocks noChangeArrowheads="1"/>
          </p:cNvSpPr>
          <p:nvPr/>
        </p:nvSpPr>
        <p:spPr bwMode="auto">
          <a:xfrm>
            <a:off x="107950" y="115888"/>
            <a:ext cx="52971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Buck converter Input/Output Voltage Relation</a:t>
            </a:r>
            <a:endParaRPr lang="en-US" altLang="en-US" sz="1800" b="1" u="sng" dirty="0"/>
          </a:p>
        </p:txBody>
      </p:sp>
      <p:pic>
        <p:nvPicPr>
          <p:cNvPr id="5" name="Picture 4">
            <a:extLst>
              <a:ext uri="{FF2B5EF4-FFF2-40B4-BE49-F238E27FC236}">
                <a16:creationId xmlns:a16="http://schemas.microsoft.com/office/drawing/2014/main" id="{B41C2A6A-F212-97C4-2F03-F15C6BDA2AD9}"/>
              </a:ext>
            </a:extLst>
          </p:cNvPr>
          <p:cNvPicPr>
            <a:picLocks noChangeAspect="1"/>
          </p:cNvPicPr>
          <p:nvPr/>
        </p:nvPicPr>
        <p:blipFill>
          <a:blip r:embed="rId3"/>
          <a:stretch>
            <a:fillRect/>
          </a:stretch>
        </p:blipFill>
        <p:spPr>
          <a:xfrm>
            <a:off x="1246548" y="593295"/>
            <a:ext cx="2485292" cy="1159803"/>
          </a:xfrm>
          <a:prstGeom prst="rect">
            <a:avLst/>
          </a:prstGeom>
        </p:spPr>
      </p:pic>
      <p:pic>
        <p:nvPicPr>
          <p:cNvPr id="6" name="Picture 5">
            <a:extLst>
              <a:ext uri="{FF2B5EF4-FFF2-40B4-BE49-F238E27FC236}">
                <a16:creationId xmlns:a16="http://schemas.microsoft.com/office/drawing/2014/main" id="{88872C7E-179A-F8AD-17A3-47D7A53461BE}"/>
              </a:ext>
            </a:extLst>
          </p:cNvPr>
          <p:cNvPicPr>
            <a:picLocks noChangeAspect="1"/>
          </p:cNvPicPr>
          <p:nvPr/>
        </p:nvPicPr>
        <p:blipFill>
          <a:blip r:embed="rId4"/>
          <a:stretch>
            <a:fillRect/>
          </a:stretch>
        </p:blipFill>
        <p:spPr>
          <a:xfrm>
            <a:off x="4272699" y="520476"/>
            <a:ext cx="2582635" cy="1232622"/>
          </a:xfrm>
          <a:prstGeom prst="rect">
            <a:avLst/>
          </a:prstGeom>
        </p:spPr>
      </p:pic>
      <p:sp>
        <p:nvSpPr>
          <p:cNvPr id="10" name="TextBox 9">
            <a:extLst>
              <a:ext uri="{FF2B5EF4-FFF2-40B4-BE49-F238E27FC236}">
                <a16:creationId xmlns:a16="http://schemas.microsoft.com/office/drawing/2014/main" id="{36909FC3-52AE-6C62-0834-D2E749C18ACC}"/>
              </a:ext>
            </a:extLst>
          </p:cNvPr>
          <p:cNvSpPr txBox="1"/>
          <p:nvPr/>
        </p:nvSpPr>
        <p:spPr>
          <a:xfrm>
            <a:off x="301752" y="1875181"/>
            <a:ext cx="8421624" cy="923330"/>
          </a:xfrm>
          <a:prstGeom prst="rect">
            <a:avLst/>
          </a:prstGeom>
          <a:noFill/>
        </p:spPr>
        <p:txBody>
          <a:bodyPr wrap="square">
            <a:spAutoFit/>
          </a:bodyPr>
          <a:lstStyle/>
          <a:p>
            <a:r>
              <a:rPr lang="en-GB" dirty="0"/>
              <a:t>The integral of inductor voltage is equal to the change in the inductor flux linkage. </a:t>
            </a:r>
          </a:p>
          <a:p>
            <a:r>
              <a:rPr lang="en-GB" dirty="0"/>
              <a:t>The net change of flux linking the inductor over one time period of repetition is zero, which is a necessary condition for steady-state operation</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6CC4E1A-853D-6121-F36E-B005DC402272}"/>
                  </a:ext>
                </a:extLst>
              </p:cNvPr>
              <p:cNvSpPr txBox="1"/>
              <p:nvPr/>
            </p:nvSpPr>
            <p:spPr>
              <a:xfrm>
                <a:off x="713232" y="2932418"/>
                <a:ext cx="1810512" cy="425758"/>
              </a:xfrm>
              <a:prstGeom prst="rect">
                <a:avLst/>
              </a:prstGeom>
              <a:noFill/>
            </p:spPr>
            <p:txBody>
              <a:bodyPr wrap="square">
                <a:spAutoFit/>
              </a:bodyPr>
              <a:lstStyle/>
              <a:p>
                <a:pPr marL="685800" marR="0" indent="0">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pPr marL="0" marR="0" indent="0">
                  <a:lnSpc>
                    <a:spcPts val="1300"/>
                  </a:lnSpc>
                  <a:spcBef>
                    <a:spcPts val="1200"/>
                  </a:spcBef>
                  <a:spcAft>
                    <a:spcPts val="0"/>
                  </a:spcAft>
                  <a:tabLst>
                    <a:tab pos="5715000" algn="r"/>
                  </a:tabLst>
                </a:pPr>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𝐿</m:t>
                              </m:r>
                            </m:sub>
                          </m:sSub>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US" sz="1800" dirty="0">
                  <a:effectLst/>
                  <a:latin typeface="Times"/>
                  <a:ea typeface="SimSun" panose="02010600030101010101" pitchFamily="2" charset="-122"/>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46CC4E1A-853D-6121-F36E-B005DC402272}"/>
                  </a:ext>
                </a:extLst>
              </p:cNvPr>
              <p:cNvSpPr txBox="1">
                <a:spLocks noRot="1" noChangeAspect="1" noMove="1" noResize="1" noEditPoints="1" noAdjustHandles="1" noChangeArrowheads="1" noChangeShapeType="1" noTextEdit="1"/>
              </p:cNvSpPr>
              <p:nvPr/>
            </p:nvSpPr>
            <p:spPr>
              <a:xfrm>
                <a:off x="713232" y="2932418"/>
                <a:ext cx="1810512" cy="425758"/>
              </a:xfrm>
              <a:prstGeom prst="rect">
                <a:avLst/>
              </a:prstGeom>
              <a:blipFill>
                <a:blip r:embed="rId5"/>
                <a:stretch>
                  <a:fillRect l="-38384" t="-304286" r="-7071" b="-41714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B5605A60-7DDA-BE99-381F-88EF74C8A847}"/>
                  </a:ext>
                </a:extLst>
              </p:cNvPr>
              <p:cNvSpPr txBox="1"/>
              <p:nvPr/>
            </p:nvSpPr>
            <p:spPr>
              <a:xfrm>
                <a:off x="825411" y="3400212"/>
                <a:ext cx="4149341" cy="74924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sSub>
                            <m:sSubPr>
                              <m:ctrl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𝑡</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𝑜𝑛</m:t>
                              </m:r>
                            </m:sub>
                          </m:sSub>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nary>
                        <m:naryPr>
                          <m:ctrlPr>
                            <a:rPr lang="en-US" i="1">
                              <a:latin typeface="Cambria Math" panose="02040503050406030204" pitchFamily="18" charset="0"/>
                              <a:ea typeface="SimSun" panose="02010600030101010101" pitchFamily="2" charset="-122"/>
                              <a:cs typeface="Times New Roman" panose="02020603050405020304" pitchFamily="18" charset="0"/>
                            </a:rPr>
                          </m:ctrlPr>
                        </m:naryPr>
                        <m: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sub>
                        <m:sup>
                          <m:r>
                            <a:rPr lang="en-GB" i="1">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e>
                      </m:nary>
                      <m:r>
                        <a:rPr lang="en-GB" i="1">
                          <a:latin typeface="Cambria Math" panose="02040503050406030204" pitchFamily="18" charset="0"/>
                          <a:ea typeface="SimSun" panose="02010600030101010101" pitchFamily="2" charset="-122"/>
                          <a:cs typeface="Times New Roman" panose="02020603050405020304" pitchFamily="18" charset="0"/>
                        </a:rPr>
                        <m:t>𝑑𝑡</m:t>
                      </m:r>
                      <m:r>
                        <a:rPr lang="en-US" i="1">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GB" dirty="0"/>
              </a:p>
            </p:txBody>
          </p:sp>
        </mc:Choice>
        <mc:Fallback>
          <p:sp>
            <p:nvSpPr>
              <p:cNvPr id="14" name="TextBox 13">
                <a:extLst>
                  <a:ext uri="{FF2B5EF4-FFF2-40B4-BE49-F238E27FC236}">
                    <a16:creationId xmlns:a16="http://schemas.microsoft.com/office/drawing/2014/main" id="{B5605A60-7DDA-BE99-381F-88EF74C8A847}"/>
                  </a:ext>
                </a:extLst>
              </p:cNvPr>
              <p:cNvSpPr txBox="1">
                <a:spLocks noRot="1" noChangeAspect="1" noMove="1" noResize="1" noEditPoints="1" noAdjustHandles="1" noChangeArrowheads="1" noChangeShapeType="1" noTextEdit="1"/>
              </p:cNvSpPr>
              <p:nvPr/>
            </p:nvSpPr>
            <p:spPr>
              <a:xfrm>
                <a:off x="825411" y="3400212"/>
                <a:ext cx="4149341" cy="74924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01CE9034-E131-6E98-53CC-36922057DB44}"/>
                  </a:ext>
                </a:extLst>
              </p:cNvPr>
              <p:cNvSpPr txBox="1"/>
              <p:nvPr/>
            </p:nvSpPr>
            <p:spPr>
              <a:xfrm>
                <a:off x="871960" y="4234903"/>
                <a:ext cx="4294500" cy="369332"/>
              </a:xfrm>
              <a:prstGeom prst="rect">
                <a:avLst/>
              </a:prstGeom>
              <a:noFill/>
            </p:spPr>
            <p:txBody>
              <a:bodyPr wrap="square">
                <a:spAutoFit/>
              </a:bodyPr>
              <a:lstStyle/>
              <a:p>
                <a:pPr/>
                <a14:m>
                  <m:oMath xmlns:m="http://schemas.openxmlformats.org/officeDocument/2006/math">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oMath>
                </a14:m>
                <a:r>
                  <a:rPr lang="en-GB" dirty="0">
                    <a:ea typeface="SimSun" panose="02010600030101010101" pitchFamily="2" charset="-122"/>
                    <a:cs typeface="Times New Roman" panose="02020603050405020304" pitchFamily="18" charset="0"/>
                  </a:rPr>
                  <a:t> </a:t>
                </a:r>
                <a14:m>
                  <m:oMath xmlns:m="http://schemas.openxmlformats.org/officeDocument/2006/math">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0" smtClean="0">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=0</m:t>
                    </m:r>
                  </m:oMath>
                </a14:m>
                <a:endParaRPr lang="en-GB" dirty="0"/>
              </a:p>
            </p:txBody>
          </p:sp>
        </mc:Choice>
        <mc:Fallback>
          <p:sp>
            <p:nvSpPr>
              <p:cNvPr id="16" name="TextBox 15">
                <a:extLst>
                  <a:ext uri="{FF2B5EF4-FFF2-40B4-BE49-F238E27FC236}">
                    <a16:creationId xmlns:a16="http://schemas.microsoft.com/office/drawing/2014/main" id="{01CE9034-E131-6E98-53CC-36922057DB44}"/>
                  </a:ext>
                </a:extLst>
              </p:cNvPr>
              <p:cNvSpPr txBox="1">
                <a:spLocks noRot="1" noChangeAspect="1" noMove="1" noResize="1" noEditPoints="1" noAdjustHandles="1" noChangeArrowheads="1" noChangeShapeType="1" noTextEdit="1"/>
              </p:cNvSpPr>
              <p:nvPr/>
            </p:nvSpPr>
            <p:spPr>
              <a:xfrm>
                <a:off x="871960" y="4234903"/>
                <a:ext cx="4294500" cy="369332"/>
              </a:xfrm>
              <a:prstGeom prst="rect">
                <a:avLst/>
              </a:prstGeom>
              <a:blipFill>
                <a:blip r:embed="rId7"/>
                <a:stretch>
                  <a:fillRect l="-426" b="-1333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EC50FB5C-F733-0585-639C-0A663ADD645B}"/>
                  </a:ext>
                </a:extLst>
              </p:cNvPr>
              <p:cNvSpPr txBox="1"/>
              <p:nvPr/>
            </p:nvSpPr>
            <p:spPr>
              <a:xfrm>
                <a:off x="908270" y="4764016"/>
                <a:ext cx="4472866" cy="369332"/>
              </a:xfrm>
              <a:prstGeom prst="rect">
                <a:avLst/>
              </a:prstGeom>
              <a:noFill/>
            </p:spPr>
            <p:txBody>
              <a:bodyPr wrap="square">
                <a:spAutoFit/>
              </a:bodyPr>
              <a:lstStyle/>
              <a:p>
                <a:pPr/>
                <a14:m>
                  <m:oMath xmlns:m="http://schemas.openxmlformats.org/officeDocument/2006/math">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r>
                      <a:rPr lang="en-GB" sz="1800" b="0" i="1" smtClean="0">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𝑂𝑈𝑇</m:t>
                        </m:r>
                      </m:sub>
                    </m:sSub>
                  </m:oMath>
                </a14:m>
                <a:r>
                  <a:rPr lang="en-GB" dirty="0">
                    <a:solidFill>
                      <a:srgbClr val="FF0000"/>
                    </a:solidFill>
                    <a:ea typeface="SimSun" panose="02010600030101010101" pitchFamily="2" charset="-122"/>
                    <a:cs typeface="Times New Roman" panose="02020603050405020304" pitchFamily="18" charset="0"/>
                  </a:rPr>
                  <a:t> </a:t>
                </a:r>
                <a14:m>
                  <m:oMath xmlns:m="http://schemas.openxmlformats.org/officeDocument/2006/math">
                    <m:sSub>
                      <m:sSubPr>
                        <m:ctrlP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𝑡</m:t>
                        </m:r>
                      </m:e>
                      <m: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0" smtClean="0">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𝑂𝑈𝑇</m:t>
                        </m:r>
                      </m:sub>
                    </m:sSub>
                    <m:sSub>
                      <m:sSubPr>
                        <m:ctrlP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𝑡</m:t>
                        </m:r>
                      </m:e>
                      <m: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=0</m:t>
                    </m:r>
                  </m:oMath>
                </a14:m>
                <a:endParaRPr lang="en-GB" dirty="0"/>
              </a:p>
            </p:txBody>
          </p:sp>
        </mc:Choice>
        <mc:Fallback>
          <p:sp>
            <p:nvSpPr>
              <p:cNvPr id="17" name="TextBox 16">
                <a:extLst>
                  <a:ext uri="{FF2B5EF4-FFF2-40B4-BE49-F238E27FC236}">
                    <a16:creationId xmlns:a16="http://schemas.microsoft.com/office/drawing/2014/main" id="{EC50FB5C-F733-0585-639C-0A663ADD645B}"/>
                  </a:ext>
                </a:extLst>
              </p:cNvPr>
              <p:cNvSpPr txBox="1">
                <a:spLocks noRot="1" noChangeAspect="1" noMove="1" noResize="1" noEditPoints="1" noAdjustHandles="1" noChangeArrowheads="1" noChangeShapeType="1" noTextEdit="1"/>
              </p:cNvSpPr>
              <p:nvPr/>
            </p:nvSpPr>
            <p:spPr>
              <a:xfrm>
                <a:off x="908270" y="4764016"/>
                <a:ext cx="4472866"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F64ACA2F-EB79-DA2C-7B96-3FB787F22AAA}"/>
                  </a:ext>
                </a:extLst>
              </p:cNvPr>
              <p:cNvSpPr txBox="1"/>
              <p:nvPr/>
            </p:nvSpPr>
            <p:spPr>
              <a:xfrm>
                <a:off x="926383" y="5356101"/>
                <a:ext cx="252374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r>
                        <a:rPr lang="en-GB" sz="1800" b="0" i="1" smtClean="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     ⇒</m:t>
                      </m:r>
                    </m:oMath>
                  </m:oMathPara>
                </a14:m>
                <a:endParaRPr lang="en-GB" dirty="0"/>
              </a:p>
            </p:txBody>
          </p:sp>
        </mc:Choice>
        <mc:Fallback>
          <p:sp>
            <p:nvSpPr>
              <p:cNvPr id="18" name="TextBox 17">
                <a:extLst>
                  <a:ext uri="{FF2B5EF4-FFF2-40B4-BE49-F238E27FC236}">
                    <a16:creationId xmlns:a16="http://schemas.microsoft.com/office/drawing/2014/main" id="{F64ACA2F-EB79-DA2C-7B96-3FB787F22AAA}"/>
                  </a:ext>
                </a:extLst>
              </p:cNvPr>
              <p:cNvSpPr txBox="1">
                <a:spLocks noRot="1" noChangeAspect="1" noMove="1" noResize="1" noEditPoints="1" noAdjustHandles="1" noChangeArrowheads="1" noChangeShapeType="1" noTextEdit="1"/>
              </p:cNvSpPr>
              <p:nvPr/>
            </p:nvSpPr>
            <p:spPr>
              <a:xfrm>
                <a:off x="926383" y="5356101"/>
                <a:ext cx="2523744"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D9576843-DDAB-E0A4-8464-B8C42D41871E}"/>
                  </a:ext>
                </a:extLst>
              </p:cNvPr>
              <p:cNvSpPr txBox="1"/>
              <p:nvPr/>
            </p:nvSpPr>
            <p:spPr>
              <a:xfrm>
                <a:off x="3602953" y="5223488"/>
                <a:ext cx="1387437" cy="68191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num>
                        <m:den>
                          <m:r>
                            <a:rPr lang="en-GB" b="0" i="1" smtClean="0">
                              <a:latin typeface="Cambria Math" panose="02040503050406030204" pitchFamily="18" charset="0"/>
                              <a:ea typeface="SimSun" panose="02010600030101010101" pitchFamily="2" charset="-122"/>
                              <a:cs typeface="Times New Roman" panose="02020603050405020304" pitchFamily="18" charset="0"/>
                            </a:rPr>
                            <m:t>𝑇</m:t>
                          </m:r>
                        </m:den>
                      </m:f>
                      <m:r>
                        <a:rPr lang="en-GB" sz="1800" b="0" i="1" smtClean="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GB" i="1" smtClean="0">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num>
                        <m:den>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den>
                      </m:f>
                    </m:oMath>
                  </m:oMathPara>
                </a14:m>
                <a:endParaRPr lang="en-GB" dirty="0"/>
              </a:p>
            </p:txBody>
          </p:sp>
        </mc:Choice>
        <mc:Fallback>
          <p:sp>
            <p:nvSpPr>
              <p:cNvPr id="19" name="TextBox 18">
                <a:extLst>
                  <a:ext uri="{FF2B5EF4-FFF2-40B4-BE49-F238E27FC236}">
                    <a16:creationId xmlns:a16="http://schemas.microsoft.com/office/drawing/2014/main" id="{D9576843-DDAB-E0A4-8464-B8C42D41871E}"/>
                  </a:ext>
                </a:extLst>
              </p:cNvPr>
              <p:cNvSpPr txBox="1">
                <a:spLocks noRot="1" noChangeAspect="1" noMove="1" noResize="1" noEditPoints="1" noAdjustHandles="1" noChangeArrowheads="1" noChangeShapeType="1" noTextEdit="1"/>
              </p:cNvSpPr>
              <p:nvPr/>
            </p:nvSpPr>
            <p:spPr>
              <a:xfrm>
                <a:off x="3602953" y="5223488"/>
                <a:ext cx="1387437" cy="681918"/>
              </a:xfrm>
              <a:prstGeom prst="rect">
                <a:avLst/>
              </a:prstGeom>
              <a:blipFill>
                <a:blip r:embed="rId10"/>
                <a:stretch>
                  <a:fillRect/>
                </a:stretch>
              </a:blipFill>
            </p:spPr>
            <p:txBody>
              <a:bodyPr/>
              <a:lstStyle/>
              <a:p>
                <a:r>
                  <a:rPr lang="en-GB">
                    <a:noFill/>
                  </a:rPr>
                  <a:t> </a:t>
                </a:r>
              </a:p>
            </p:txBody>
          </p:sp>
        </mc:Fallback>
      </mc:AlternateContent>
      <p:pic>
        <p:nvPicPr>
          <p:cNvPr id="21" name="Picture 20">
            <a:extLst>
              <a:ext uri="{FF2B5EF4-FFF2-40B4-BE49-F238E27FC236}">
                <a16:creationId xmlns:a16="http://schemas.microsoft.com/office/drawing/2014/main" id="{809B8D7A-F773-56C5-A2FD-D64688D08FD1}"/>
              </a:ext>
            </a:extLst>
          </p:cNvPr>
          <p:cNvPicPr>
            <a:picLocks noChangeAspect="1"/>
          </p:cNvPicPr>
          <p:nvPr/>
        </p:nvPicPr>
        <p:blipFill>
          <a:blip r:embed="rId11"/>
          <a:stretch>
            <a:fillRect/>
          </a:stretch>
        </p:blipFill>
        <p:spPr>
          <a:xfrm>
            <a:off x="5788152" y="2835065"/>
            <a:ext cx="2935224" cy="2345031"/>
          </a:xfrm>
          <a:prstGeom prst="rect">
            <a:avLst/>
          </a:prstGeom>
        </p:spPr>
      </p:pic>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5B0AE091-62BF-5CF8-9E40-AA822D40151C}"/>
                  </a:ext>
                </a:extLst>
              </p:cNvPr>
              <p:cNvSpPr txBox="1"/>
              <p:nvPr/>
            </p:nvSpPr>
            <p:spPr>
              <a:xfrm>
                <a:off x="1101756" y="6040627"/>
                <a:ext cx="5299044" cy="65620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smtClean="0">
                          <a:latin typeface="Cambria Math" panose="02040503050406030204" pitchFamily="18" charset="0"/>
                          <a:ea typeface="SimSun" panose="02010600030101010101" pitchFamily="2" charset="-122"/>
                          <a:cs typeface="Times New Roman" panose="02020603050405020304" pitchFamily="18" charset="0"/>
                        </a:rPr>
                        <m:t>𝐷</m:t>
                      </m:r>
                      <m:r>
                        <a:rPr lang="en-GB" sz="1800" b="0" i="1" smtClean="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f>
                        <m:fPr>
                          <m:ctrlPr>
                            <a:rPr lang="en-GB" i="1" smtClean="0">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num>
                        <m:den>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den>
                      </m:f>
                      <m:r>
                        <a:rPr lang="en-GB" b="0" i="0" smtClean="0">
                          <a:latin typeface="Cambria Math" panose="02040503050406030204" pitchFamily="18" charset="0"/>
                          <a:ea typeface="SimSun" panose="02010600030101010101" pitchFamily="2" charset="-122"/>
                          <a:cs typeface="Times New Roman" panose="02020603050405020304" pitchFamily="18" charset="0"/>
                        </a:rPr>
                        <m:t>                       ⇒</m:t>
                      </m:r>
                      <m:sSub>
                        <m:sSubPr>
                          <m:ctrlPr>
                            <a:rPr lang="en-US"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r>
                        <a:rPr lang="en-GB" b="1" i="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b="1" i="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𝐃</m:t>
                      </m:r>
                      <m:sSub>
                        <m:sSubPr>
                          <m:ctrlP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oMath>
                  </m:oMathPara>
                </a14:m>
                <a:endParaRPr lang="en-GB" b="1" dirty="0"/>
              </a:p>
            </p:txBody>
          </p:sp>
        </mc:Choice>
        <mc:Fallback>
          <p:sp>
            <p:nvSpPr>
              <p:cNvPr id="22" name="TextBox 21">
                <a:extLst>
                  <a:ext uri="{FF2B5EF4-FFF2-40B4-BE49-F238E27FC236}">
                    <a16:creationId xmlns:a16="http://schemas.microsoft.com/office/drawing/2014/main" id="{5B0AE091-62BF-5CF8-9E40-AA822D40151C}"/>
                  </a:ext>
                </a:extLst>
              </p:cNvPr>
              <p:cNvSpPr txBox="1">
                <a:spLocks noRot="1" noChangeAspect="1" noMove="1" noResize="1" noEditPoints="1" noAdjustHandles="1" noChangeArrowheads="1" noChangeShapeType="1" noTextEdit="1"/>
              </p:cNvSpPr>
              <p:nvPr/>
            </p:nvSpPr>
            <p:spPr>
              <a:xfrm>
                <a:off x="1101756" y="6040627"/>
                <a:ext cx="5299044" cy="656205"/>
              </a:xfrm>
              <a:prstGeom prst="rect">
                <a:avLst/>
              </a:prstGeom>
              <a:blipFill>
                <a:blip r:embed="rId1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7607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4" grpId="0"/>
      <p:bldP spid="16" grpId="0"/>
      <p:bldP spid="17" grpId="0"/>
      <p:bldP spid="18" grpId="0"/>
      <p:bldP spid="19"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FA4F5F3-DEE2-9F18-DACB-54B09B363D8B}"/>
              </a:ext>
            </a:extLst>
          </p:cNvPr>
          <p:cNvSpPr txBox="1">
            <a:spLocks noChangeArrowheads="1"/>
          </p:cNvSpPr>
          <p:nvPr/>
        </p:nvSpPr>
        <p:spPr bwMode="auto">
          <a:xfrm>
            <a:off x="107950" y="115888"/>
            <a:ext cx="4583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Buck converter inductor current change</a:t>
            </a:r>
            <a:endParaRPr lang="en-US" altLang="en-US" sz="1800" b="1" u="sng" dirty="0"/>
          </a:p>
        </p:txBody>
      </p:sp>
      <p:sp>
        <p:nvSpPr>
          <p:cNvPr id="4" name="Line 7">
            <a:extLst>
              <a:ext uri="{FF2B5EF4-FFF2-40B4-BE49-F238E27FC236}">
                <a16:creationId xmlns:a16="http://schemas.microsoft.com/office/drawing/2014/main" id="{BFA9821F-1DDA-C5B1-4DAF-EB76DC8FB885}"/>
              </a:ext>
            </a:extLst>
          </p:cNvPr>
          <p:cNvSpPr>
            <a:spLocks noChangeShapeType="1"/>
          </p:cNvSpPr>
          <p:nvPr/>
        </p:nvSpPr>
        <p:spPr bwMode="auto">
          <a:xfrm flipV="1">
            <a:off x="178575" y="692306"/>
            <a:ext cx="2" cy="86834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Text Box 29">
            <a:extLst>
              <a:ext uri="{FF2B5EF4-FFF2-40B4-BE49-F238E27FC236}">
                <a16:creationId xmlns:a16="http://schemas.microsoft.com/office/drawing/2014/main" id="{E5D7C955-0EBE-E47D-B928-0930A63FD514}"/>
              </a:ext>
            </a:extLst>
          </p:cNvPr>
          <p:cNvSpPr txBox="1">
            <a:spLocks noChangeArrowheads="1"/>
          </p:cNvSpPr>
          <p:nvPr/>
        </p:nvSpPr>
        <p:spPr bwMode="auto">
          <a:xfrm>
            <a:off x="3286031" y="674050"/>
            <a:ext cx="1498431" cy="33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dirty="0">
                <a:latin typeface="Times New Roman" panose="02020603050405020304" pitchFamily="18" charset="0"/>
              </a:rPr>
              <a:t>offset from zero</a:t>
            </a:r>
            <a:endParaRPr lang="en-US" altLang="en-US" sz="1600" dirty="0">
              <a:latin typeface="Times New Roman" panose="02020603050405020304" pitchFamily="18" charset="0"/>
            </a:endParaRPr>
          </a:p>
        </p:txBody>
      </p:sp>
      <p:sp>
        <p:nvSpPr>
          <p:cNvPr id="21" name="Freeform 17">
            <a:extLst>
              <a:ext uri="{FF2B5EF4-FFF2-40B4-BE49-F238E27FC236}">
                <a16:creationId xmlns:a16="http://schemas.microsoft.com/office/drawing/2014/main" id="{970F55AD-C2A8-F057-61AE-6E6E125A5C1B}"/>
              </a:ext>
            </a:extLst>
          </p:cNvPr>
          <p:cNvSpPr>
            <a:spLocks/>
          </p:cNvSpPr>
          <p:nvPr/>
        </p:nvSpPr>
        <p:spPr bwMode="auto">
          <a:xfrm>
            <a:off x="179388" y="830260"/>
            <a:ext cx="6984213" cy="647046"/>
          </a:xfrm>
          <a:custGeom>
            <a:avLst/>
            <a:gdLst>
              <a:gd name="T0" fmla="*/ 0 w 4400"/>
              <a:gd name="T1" fmla="*/ 0 h 408"/>
              <a:gd name="T2" fmla="*/ 2147483646 w 4400"/>
              <a:gd name="T3" fmla="*/ 2147483646 h 408"/>
              <a:gd name="T4" fmla="*/ 2147483646 w 4400"/>
              <a:gd name="T5" fmla="*/ 0 h 408"/>
              <a:gd name="T6" fmla="*/ 2147483646 w 4400"/>
              <a:gd name="T7" fmla="*/ 2147483646 h 408"/>
              <a:gd name="T8" fmla="*/ 2147483646 w 4400"/>
              <a:gd name="T9" fmla="*/ 0 h 408"/>
              <a:gd name="T10" fmla="*/ 2147483646 w 4400"/>
              <a:gd name="T11" fmla="*/ 2147483646 h 408"/>
              <a:gd name="T12" fmla="*/ 2147483646 w 4400"/>
              <a:gd name="T13" fmla="*/ 0 h 408"/>
              <a:gd name="T14" fmla="*/ 2147483646 w 4400"/>
              <a:gd name="T15" fmla="*/ 2147483646 h 408"/>
              <a:gd name="T16" fmla="*/ 2147483646 w 4400"/>
              <a:gd name="T17" fmla="*/ 0 h 408"/>
              <a:gd name="T18" fmla="*/ 2147483646 w 4400"/>
              <a:gd name="T19" fmla="*/ 2147483646 h 408"/>
              <a:gd name="T20" fmla="*/ 2147483646 w 4400"/>
              <a:gd name="T21" fmla="*/ 2147483646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400" h="408">
                <a:moveTo>
                  <a:pt x="0" y="0"/>
                </a:moveTo>
                <a:lnTo>
                  <a:pt x="363" y="408"/>
                </a:lnTo>
                <a:lnTo>
                  <a:pt x="952" y="0"/>
                </a:lnTo>
                <a:lnTo>
                  <a:pt x="1315" y="408"/>
                </a:lnTo>
                <a:lnTo>
                  <a:pt x="1905" y="0"/>
                </a:lnTo>
                <a:lnTo>
                  <a:pt x="2268" y="408"/>
                </a:lnTo>
                <a:lnTo>
                  <a:pt x="2858" y="0"/>
                </a:lnTo>
                <a:lnTo>
                  <a:pt x="3220" y="408"/>
                </a:lnTo>
                <a:lnTo>
                  <a:pt x="3810" y="0"/>
                </a:lnTo>
                <a:lnTo>
                  <a:pt x="4173" y="408"/>
                </a:lnTo>
                <a:lnTo>
                  <a:pt x="4400" y="181"/>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8">
            <a:extLst>
              <a:ext uri="{FF2B5EF4-FFF2-40B4-BE49-F238E27FC236}">
                <a16:creationId xmlns:a16="http://schemas.microsoft.com/office/drawing/2014/main" id="{09EFB736-3202-0982-7A8D-9275F5D6DE26}"/>
              </a:ext>
            </a:extLst>
          </p:cNvPr>
          <p:cNvSpPr>
            <a:spLocks noChangeShapeType="1"/>
          </p:cNvSpPr>
          <p:nvPr/>
        </p:nvSpPr>
        <p:spPr bwMode="auto">
          <a:xfrm>
            <a:off x="179388" y="1548672"/>
            <a:ext cx="72000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Text Box 24">
            <a:extLst>
              <a:ext uri="{FF2B5EF4-FFF2-40B4-BE49-F238E27FC236}">
                <a16:creationId xmlns:a16="http://schemas.microsoft.com/office/drawing/2014/main" id="{3EF56F5D-6494-1A6E-8D06-2B680C136FE3}"/>
              </a:ext>
            </a:extLst>
          </p:cNvPr>
          <p:cNvSpPr txBox="1">
            <a:spLocks noChangeArrowheads="1"/>
          </p:cNvSpPr>
          <p:nvPr/>
        </p:nvSpPr>
        <p:spPr bwMode="auto">
          <a:xfrm>
            <a:off x="7450905" y="830260"/>
            <a:ext cx="1653408" cy="584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b="1" dirty="0">
                <a:solidFill>
                  <a:srgbClr val="0000FF"/>
                </a:solidFill>
                <a:latin typeface="Times New Roman" panose="02020603050405020304" pitchFamily="18" charset="0"/>
              </a:rPr>
              <a:t>Current </a:t>
            </a:r>
            <a:r>
              <a:rPr lang="en-GB" altLang="en-US" sz="1600" b="1" u="sng" dirty="0">
                <a:solidFill>
                  <a:srgbClr val="0000FF"/>
                </a:solidFill>
                <a:latin typeface="Times New Roman" panose="02020603050405020304" pitchFamily="18" charset="0"/>
              </a:rPr>
              <a:t>through</a:t>
            </a:r>
          </a:p>
          <a:p>
            <a:pPr eaLnBrk="1" hangingPunct="1">
              <a:spcBef>
                <a:spcPct val="0"/>
              </a:spcBef>
              <a:buFontTx/>
              <a:buNone/>
            </a:pPr>
            <a:r>
              <a:rPr lang="en-GB" altLang="en-US" sz="1600" b="1" dirty="0">
                <a:solidFill>
                  <a:srgbClr val="0000FF"/>
                </a:solidFill>
                <a:latin typeface="Times New Roman" panose="02020603050405020304" pitchFamily="18" charset="0"/>
              </a:rPr>
              <a:t>inductor</a:t>
            </a:r>
            <a:endParaRPr lang="en-US" altLang="en-US" sz="1600" b="1" dirty="0">
              <a:solidFill>
                <a:srgbClr val="0000FF"/>
              </a:solidFill>
              <a:latin typeface="Times New Roman" panose="02020603050405020304" pitchFamily="18" charset="0"/>
            </a:endParaRPr>
          </a:p>
        </p:txBody>
      </p:sp>
      <p:sp>
        <p:nvSpPr>
          <p:cNvPr id="24" name="Line 30">
            <a:extLst>
              <a:ext uri="{FF2B5EF4-FFF2-40B4-BE49-F238E27FC236}">
                <a16:creationId xmlns:a16="http://schemas.microsoft.com/office/drawing/2014/main" id="{59AFCF29-7A45-5ACB-8F7F-B4D9F2F84604}"/>
              </a:ext>
            </a:extLst>
          </p:cNvPr>
          <p:cNvSpPr>
            <a:spLocks noChangeShapeType="1"/>
          </p:cNvSpPr>
          <p:nvPr/>
        </p:nvSpPr>
        <p:spPr bwMode="auto">
          <a:xfrm>
            <a:off x="3634985" y="1477306"/>
            <a:ext cx="2888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31">
            <a:extLst>
              <a:ext uri="{FF2B5EF4-FFF2-40B4-BE49-F238E27FC236}">
                <a16:creationId xmlns:a16="http://schemas.microsoft.com/office/drawing/2014/main" id="{D47FD1D7-BA89-76A9-ADEA-50E498ACF69E}"/>
              </a:ext>
            </a:extLst>
          </p:cNvPr>
          <p:cNvSpPr>
            <a:spLocks noChangeShapeType="1"/>
          </p:cNvSpPr>
          <p:nvPr/>
        </p:nvSpPr>
        <p:spPr bwMode="auto">
          <a:xfrm>
            <a:off x="3779432" y="1190259"/>
            <a:ext cx="0" cy="28704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32">
            <a:extLst>
              <a:ext uri="{FF2B5EF4-FFF2-40B4-BE49-F238E27FC236}">
                <a16:creationId xmlns:a16="http://schemas.microsoft.com/office/drawing/2014/main" id="{FA8F4093-CF93-B4BE-CEA7-C1F639196A54}"/>
              </a:ext>
            </a:extLst>
          </p:cNvPr>
          <p:cNvSpPr>
            <a:spLocks noChangeShapeType="1"/>
          </p:cNvSpPr>
          <p:nvPr/>
        </p:nvSpPr>
        <p:spPr bwMode="auto">
          <a:xfrm flipV="1">
            <a:off x="3779432" y="1511757"/>
            <a:ext cx="0" cy="21568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322414E-A6DE-3C0B-9E21-096A40CE8517}"/>
                  </a:ext>
                </a:extLst>
              </p:cNvPr>
              <p:cNvSpPr txBox="1"/>
              <p:nvPr/>
            </p:nvSpPr>
            <p:spPr>
              <a:xfrm>
                <a:off x="200779" y="5098898"/>
                <a:ext cx="6804798" cy="993990"/>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endParaRPr lang="en-US" i="1" dirty="0">
                  <a:latin typeface="Cambria Math" panose="02040503050406030204" pitchFamily="18" charset="0"/>
                </a:endParaRPr>
              </a:p>
              <a:p>
                <a14:m>
                  <m:oMath xmlns:m="http://schemas.openxmlformats.org/officeDocument/2006/math">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GB" b="0" i="1" smtClean="0">
                                <a:effectLst/>
                                <a:latin typeface="Cambria Math" panose="020405030504060302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r>
                      <a:rPr lang="en-GB" b="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r>
                          <a:rPr lang="en-GB" b="0" i="1" smtClean="0">
                            <a:effectLst/>
                            <a:latin typeface="Cambria Math" panose="020405030504060302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dirty="0">
                    <a:effectLst/>
                  </a:rPr>
                  <a:t> </a:t>
                </a:r>
                <a:endParaRPr lang="en-US" dirty="0"/>
              </a:p>
            </p:txBody>
          </p:sp>
        </mc:Choice>
        <mc:Fallback xmlns="">
          <p:sp>
            <p:nvSpPr>
              <p:cNvPr id="30" name="TextBox 29">
                <a:extLst>
                  <a:ext uri="{FF2B5EF4-FFF2-40B4-BE49-F238E27FC236}">
                    <a16:creationId xmlns:a16="http://schemas.microsoft.com/office/drawing/2014/main" id="{A322414E-A6DE-3C0B-9E21-096A40CE8517}"/>
                  </a:ext>
                </a:extLst>
              </p:cNvPr>
              <p:cNvSpPr txBox="1">
                <a:spLocks noRot="1" noChangeAspect="1" noMove="1" noResize="1" noEditPoints="1" noAdjustHandles="1" noChangeArrowheads="1" noChangeShapeType="1" noTextEdit="1"/>
              </p:cNvSpPr>
              <p:nvPr/>
            </p:nvSpPr>
            <p:spPr>
              <a:xfrm>
                <a:off x="200779" y="5098898"/>
                <a:ext cx="6804798" cy="993990"/>
              </a:xfrm>
              <a:prstGeom prst="rect">
                <a:avLst/>
              </a:prstGeom>
              <a:blipFill>
                <a:blip r:embed="rId3"/>
                <a:stretch>
                  <a:fillRect/>
                </a:stretch>
              </a:blipFill>
            </p:spPr>
            <p:txBody>
              <a:bodyPr/>
              <a:lstStyle/>
              <a:p>
                <a:r>
                  <a:rPr lang="en-GB">
                    <a:noFill/>
                  </a:rPr>
                  <a:t> </a:t>
                </a:r>
              </a:p>
            </p:txBody>
          </p:sp>
        </mc:Fallback>
      </mc:AlternateContent>
      <p:sp>
        <p:nvSpPr>
          <p:cNvPr id="32" name="TextBox 31">
            <a:extLst>
              <a:ext uri="{FF2B5EF4-FFF2-40B4-BE49-F238E27FC236}">
                <a16:creationId xmlns:a16="http://schemas.microsoft.com/office/drawing/2014/main" id="{E5BE7D35-E8F5-ADC7-E338-85C98583A3F7}"/>
              </a:ext>
            </a:extLst>
          </p:cNvPr>
          <p:cNvSpPr txBox="1"/>
          <p:nvPr/>
        </p:nvSpPr>
        <p:spPr>
          <a:xfrm>
            <a:off x="-454717" y="2271125"/>
            <a:ext cx="7618318" cy="271485"/>
          </a:xfrm>
          <a:prstGeom prst="rect">
            <a:avLst/>
          </a:prstGeom>
          <a:noFill/>
        </p:spPr>
        <p:txBody>
          <a:bodyPr wrap="square">
            <a:spAutoFit/>
          </a:bodyPr>
          <a:lstStyle/>
          <a:p>
            <a:pPr marL="685800" marR="0" indent="0">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Computing the change in inductor current using following expression:</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1F22838-369B-DDFD-4B11-CFB26BC785A8}"/>
                  </a:ext>
                </a:extLst>
              </p:cNvPr>
              <p:cNvSpPr txBox="1"/>
              <p:nvPr/>
            </p:nvSpPr>
            <p:spPr>
              <a:xfrm>
                <a:off x="3007038" y="2607003"/>
                <a:ext cx="2751587" cy="772263"/>
              </a:xfrm>
              <a:prstGeom prst="rect">
                <a:avLst/>
              </a:prstGeom>
              <a:noFill/>
            </p:spPr>
            <p:txBody>
              <a:bodyPr wrap="none" rtlCol="0">
                <a:spAutoFit/>
              </a:bodyPr>
              <a:lstStyle/>
              <a:p>
                <a14:m>
                  <m:oMath xmlns:m="http://schemas.openxmlformats.org/officeDocument/2006/math">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=&gt;  </a:t>
                </a:r>
                <a14:m>
                  <m:oMath xmlns:m="http://schemas.openxmlformats.org/officeDocument/2006/math">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800" dirty="0">
                  <a:effectLst/>
                  <a:latin typeface="Times"/>
                  <a:ea typeface="SimSun" panose="02010600030101010101" pitchFamily="2" charset="-122"/>
                  <a:cs typeface="Times New Roman" panose="02020603050405020304" pitchFamily="18" charset="0"/>
                </a:endParaRPr>
              </a:p>
              <a:p>
                <a:endParaRPr lang="en-US" dirty="0"/>
              </a:p>
            </p:txBody>
          </p:sp>
        </mc:Choice>
        <mc:Fallback xmlns="">
          <p:sp>
            <p:nvSpPr>
              <p:cNvPr id="33" name="TextBox 32">
                <a:extLst>
                  <a:ext uri="{FF2B5EF4-FFF2-40B4-BE49-F238E27FC236}">
                    <a16:creationId xmlns:a16="http://schemas.microsoft.com/office/drawing/2014/main" id="{F1F22838-369B-DDFD-4B11-CFB26BC785A8}"/>
                  </a:ext>
                </a:extLst>
              </p:cNvPr>
              <p:cNvSpPr txBox="1">
                <a:spLocks noRot="1" noChangeAspect="1" noMove="1" noResize="1" noEditPoints="1" noAdjustHandles="1" noChangeArrowheads="1" noChangeShapeType="1" noTextEdit="1"/>
              </p:cNvSpPr>
              <p:nvPr/>
            </p:nvSpPr>
            <p:spPr>
              <a:xfrm>
                <a:off x="3007038" y="2607003"/>
                <a:ext cx="2751587" cy="772263"/>
              </a:xfrm>
              <a:prstGeom prst="rect">
                <a:avLst/>
              </a:prstGeom>
              <a:blipFill>
                <a:blip r:embed="rId4"/>
                <a:stretch>
                  <a:fillRect/>
                </a:stretch>
              </a:blipFill>
            </p:spPr>
            <p:txBody>
              <a:bodyPr/>
              <a:lstStyle/>
              <a:p>
                <a:r>
                  <a:rPr lang="en-GB">
                    <a:noFill/>
                  </a:rPr>
                  <a:t> </a:t>
                </a:r>
              </a:p>
            </p:txBody>
          </p:sp>
        </mc:Fallback>
      </mc:AlternateContent>
      <p:sp>
        <p:nvSpPr>
          <p:cNvPr id="35" name="TextBox 34">
            <a:extLst>
              <a:ext uri="{FF2B5EF4-FFF2-40B4-BE49-F238E27FC236}">
                <a16:creationId xmlns:a16="http://schemas.microsoft.com/office/drawing/2014/main" id="{1776A38F-00CA-5C3B-6864-B4F78FE817A9}"/>
              </a:ext>
            </a:extLst>
          </p:cNvPr>
          <p:cNvSpPr txBox="1"/>
          <p:nvPr/>
        </p:nvSpPr>
        <p:spPr>
          <a:xfrm>
            <a:off x="-704360" y="3234976"/>
            <a:ext cx="4788876" cy="271421"/>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closed:</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1C8A1A8-E1A0-4C89-B3A0-9F0C27DFB423}"/>
                  </a:ext>
                </a:extLst>
              </p:cNvPr>
              <p:cNvSpPr txBox="1"/>
              <p:nvPr/>
            </p:nvSpPr>
            <p:spPr>
              <a:xfrm>
                <a:off x="105659" y="3659052"/>
                <a:ext cx="7057942" cy="532069"/>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i="1">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GB" sz="1800" b="0" i="0" smtClean="0">
                        <a:effectLst/>
                        <a:latin typeface="Cambria Math" panose="02040503050406030204" pitchFamily="18" charset="0"/>
                        <a:ea typeface="SimSun" panose="02010600030101010101" pitchFamily="2" charset="-122"/>
                        <a:cs typeface="Times New Roman" panose="02020603050405020304" pitchFamily="18" charset="0"/>
                      </a:rPr>
                      <m:t>    </m:t>
                    </m:r>
                    <m:r>
                      <a:rPr lang="en-GB" sz="1800" b="1" i="0" smtClean="0">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r>
                      <a:rPr lang="en-GB" sz="1800" b="0" i="0" smtClean="0">
                        <a:effectLst/>
                        <a:latin typeface="Cambria Math" panose="02040503050406030204" pitchFamily="18" charset="0"/>
                        <a:ea typeface="SimSun" panose="02010600030101010101" pitchFamily="2" charset="-122"/>
                        <a:cs typeface="Times New Roman" panose="02020603050405020304" pitchFamily="18" charset="0"/>
                      </a:rPr>
                      <m:t> </m:t>
                    </m:r>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a:t>
                </a:r>
                <a14:m>
                  <m:oMath xmlns:m="http://schemas.openxmlformats.org/officeDocument/2006/math">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oMath>
                </a14:m>
                <a:endParaRPr lang="en-US" dirty="0"/>
              </a:p>
            </p:txBody>
          </p:sp>
        </mc:Choice>
        <mc:Fallback xmlns="">
          <p:sp>
            <p:nvSpPr>
              <p:cNvPr id="37" name="TextBox 36">
                <a:extLst>
                  <a:ext uri="{FF2B5EF4-FFF2-40B4-BE49-F238E27FC236}">
                    <a16:creationId xmlns:a16="http://schemas.microsoft.com/office/drawing/2014/main" id="{81C8A1A8-E1A0-4C89-B3A0-9F0C27DFB423}"/>
                  </a:ext>
                </a:extLst>
              </p:cNvPr>
              <p:cNvSpPr txBox="1">
                <a:spLocks noRot="1" noChangeAspect="1" noMove="1" noResize="1" noEditPoints="1" noAdjustHandles="1" noChangeArrowheads="1" noChangeShapeType="1" noTextEdit="1"/>
              </p:cNvSpPr>
              <p:nvPr/>
            </p:nvSpPr>
            <p:spPr>
              <a:xfrm>
                <a:off x="105659" y="3659052"/>
                <a:ext cx="7057942" cy="532069"/>
              </a:xfrm>
              <a:prstGeom prst="rect">
                <a:avLst/>
              </a:prstGeom>
              <a:blipFill>
                <a:blip r:embed="rId5"/>
                <a:stretch>
                  <a:fillRect/>
                </a:stretch>
              </a:blipFill>
            </p:spPr>
            <p:txBody>
              <a:bodyPr/>
              <a:lstStyle/>
              <a:p>
                <a:r>
                  <a:rPr lang="en-GB">
                    <a:noFill/>
                  </a:rPr>
                  <a:t> </a:t>
                </a:r>
              </a:p>
            </p:txBody>
          </p:sp>
        </mc:Fallback>
      </mc:AlternateContent>
      <p:sp>
        <p:nvSpPr>
          <p:cNvPr id="69" name="TextBox 68">
            <a:extLst>
              <a:ext uri="{FF2B5EF4-FFF2-40B4-BE49-F238E27FC236}">
                <a16:creationId xmlns:a16="http://schemas.microsoft.com/office/drawing/2014/main" id="{95F615CF-783D-F6A9-6C75-FA22D72A1F25}"/>
              </a:ext>
            </a:extLst>
          </p:cNvPr>
          <p:cNvSpPr txBox="1"/>
          <p:nvPr/>
        </p:nvSpPr>
        <p:spPr>
          <a:xfrm>
            <a:off x="-767860" y="4661524"/>
            <a:ext cx="4788876" cy="271421"/>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open:</a:t>
            </a:r>
          </a:p>
        </p:txBody>
      </p:sp>
      <p:cxnSp>
        <p:nvCxnSpPr>
          <p:cNvPr id="71" name="Straight Arrow Connector 70">
            <a:extLst>
              <a:ext uri="{FF2B5EF4-FFF2-40B4-BE49-F238E27FC236}">
                <a16:creationId xmlns:a16="http://schemas.microsoft.com/office/drawing/2014/main" id="{853F0134-4AF6-62DC-9EE0-ED420EDF2F43}"/>
              </a:ext>
            </a:extLst>
          </p:cNvPr>
          <p:cNvCxnSpPr>
            <a:cxnSpLocks/>
          </p:cNvCxnSpPr>
          <p:nvPr/>
        </p:nvCxnSpPr>
        <p:spPr>
          <a:xfrm flipH="1">
            <a:off x="750778" y="1701499"/>
            <a:ext cx="280170" cy="55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8F0C0D7-CBD8-C16B-33B8-7CC04C4FA88D}"/>
              </a:ext>
            </a:extLst>
          </p:cNvPr>
          <p:cNvCxnSpPr>
            <a:cxnSpLocks/>
          </p:cNvCxnSpPr>
          <p:nvPr/>
        </p:nvCxnSpPr>
        <p:spPr>
          <a:xfrm>
            <a:off x="1344391" y="1704143"/>
            <a:ext cx="34568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3" name="Picture 72">
            <a:extLst>
              <a:ext uri="{FF2B5EF4-FFF2-40B4-BE49-F238E27FC236}">
                <a16:creationId xmlns:a16="http://schemas.microsoft.com/office/drawing/2014/main" id="{58EC13FE-53CA-3DE1-7F11-9EFAE2BD957F}"/>
              </a:ext>
            </a:extLst>
          </p:cNvPr>
          <p:cNvPicPr>
            <a:picLocks noChangeAspect="1"/>
          </p:cNvPicPr>
          <p:nvPr/>
        </p:nvPicPr>
        <p:blipFill>
          <a:blip r:embed="rId6"/>
          <a:stretch>
            <a:fillRect/>
          </a:stretch>
        </p:blipFill>
        <p:spPr>
          <a:xfrm>
            <a:off x="1059626" y="1598961"/>
            <a:ext cx="284462" cy="205077"/>
          </a:xfrm>
          <a:prstGeom prst="rect">
            <a:avLst/>
          </a:prstGeom>
        </p:spPr>
      </p:pic>
      <p:cxnSp>
        <p:nvCxnSpPr>
          <p:cNvPr id="74" name="Straight Connector 73">
            <a:extLst>
              <a:ext uri="{FF2B5EF4-FFF2-40B4-BE49-F238E27FC236}">
                <a16:creationId xmlns:a16="http://schemas.microsoft.com/office/drawing/2014/main" id="{CC5327BB-F614-4E52-FDE1-C0E99515B786}"/>
              </a:ext>
            </a:extLst>
          </p:cNvPr>
          <p:cNvCxnSpPr>
            <a:cxnSpLocks/>
          </p:cNvCxnSpPr>
          <p:nvPr/>
        </p:nvCxnSpPr>
        <p:spPr>
          <a:xfrm>
            <a:off x="1687991" y="1587707"/>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0C65F83-C01C-FEB7-B501-191B54DDE611}"/>
              </a:ext>
            </a:extLst>
          </p:cNvPr>
          <p:cNvCxnSpPr>
            <a:cxnSpLocks/>
          </p:cNvCxnSpPr>
          <p:nvPr/>
        </p:nvCxnSpPr>
        <p:spPr>
          <a:xfrm flipH="1">
            <a:off x="1690078" y="1708033"/>
            <a:ext cx="1328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66189E1F-3D16-EFF7-A33F-499194DE35E2}"/>
              </a:ext>
            </a:extLst>
          </p:cNvPr>
          <p:cNvCxnSpPr>
            <a:cxnSpLocks/>
          </p:cNvCxnSpPr>
          <p:nvPr/>
        </p:nvCxnSpPr>
        <p:spPr>
          <a:xfrm>
            <a:off x="2097423" y="1720322"/>
            <a:ext cx="14009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A223F22-7646-5638-E8BC-D10D3342C132}"/>
              </a:ext>
            </a:extLst>
          </p:cNvPr>
          <p:cNvCxnSpPr>
            <a:cxnSpLocks/>
          </p:cNvCxnSpPr>
          <p:nvPr/>
        </p:nvCxnSpPr>
        <p:spPr>
          <a:xfrm>
            <a:off x="2262552" y="1560655"/>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9E5D930-466C-2171-CCA8-8B085A735800}"/>
              </a:ext>
            </a:extLst>
          </p:cNvPr>
          <p:cNvCxnSpPr>
            <a:cxnSpLocks/>
          </p:cNvCxnSpPr>
          <p:nvPr/>
        </p:nvCxnSpPr>
        <p:spPr>
          <a:xfrm>
            <a:off x="750146" y="1581600"/>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9C7BEE1-5B00-786C-27C1-37DB2C02A62B}"/>
              </a:ext>
            </a:extLst>
          </p:cNvPr>
          <p:cNvCxnSpPr>
            <a:cxnSpLocks/>
          </p:cNvCxnSpPr>
          <p:nvPr/>
        </p:nvCxnSpPr>
        <p:spPr>
          <a:xfrm>
            <a:off x="1682262" y="694798"/>
            <a:ext cx="0" cy="1131888"/>
          </a:xfrm>
          <a:prstGeom prst="line">
            <a:avLst/>
          </a:prstGeom>
        </p:spPr>
        <p:style>
          <a:lnRef idx="1">
            <a:schemeClr val="accent1"/>
          </a:lnRef>
          <a:fillRef idx="0">
            <a:schemeClr val="accent1"/>
          </a:fillRef>
          <a:effectRef idx="0">
            <a:schemeClr val="accent1"/>
          </a:effectRef>
          <a:fontRef idx="minor">
            <a:schemeClr val="tx1"/>
          </a:fontRef>
        </p:style>
      </p:cxnSp>
      <p:pic>
        <p:nvPicPr>
          <p:cNvPr id="96" name="Picture 95">
            <a:extLst>
              <a:ext uri="{FF2B5EF4-FFF2-40B4-BE49-F238E27FC236}">
                <a16:creationId xmlns:a16="http://schemas.microsoft.com/office/drawing/2014/main" id="{C4760179-5CF3-B23A-A034-6E72C957C9B8}"/>
              </a:ext>
            </a:extLst>
          </p:cNvPr>
          <p:cNvPicPr>
            <a:picLocks noChangeAspect="1"/>
          </p:cNvPicPr>
          <p:nvPr/>
        </p:nvPicPr>
        <p:blipFill>
          <a:blip r:embed="rId7"/>
          <a:stretch>
            <a:fillRect/>
          </a:stretch>
        </p:blipFill>
        <p:spPr>
          <a:xfrm>
            <a:off x="6658709" y="2623926"/>
            <a:ext cx="2485292" cy="1159803"/>
          </a:xfrm>
          <a:prstGeom prst="rect">
            <a:avLst/>
          </a:prstGeom>
        </p:spPr>
      </p:pic>
      <p:pic>
        <p:nvPicPr>
          <p:cNvPr id="97" name="Picture 96">
            <a:extLst>
              <a:ext uri="{FF2B5EF4-FFF2-40B4-BE49-F238E27FC236}">
                <a16:creationId xmlns:a16="http://schemas.microsoft.com/office/drawing/2014/main" id="{D53040F6-AFC9-D6C2-341B-E6A4FC84FC60}"/>
              </a:ext>
            </a:extLst>
          </p:cNvPr>
          <p:cNvPicPr>
            <a:picLocks noChangeAspect="1"/>
          </p:cNvPicPr>
          <p:nvPr/>
        </p:nvPicPr>
        <p:blipFill>
          <a:blip r:embed="rId8"/>
          <a:stretch>
            <a:fillRect/>
          </a:stretch>
        </p:blipFill>
        <p:spPr>
          <a:xfrm>
            <a:off x="6321971" y="4279589"/>
            <a:ext cx="2815492" cy="1343758"/>
          </a:xfrm>
          <a:prstGeom prst="rect">
            <a:avLst/>
          </a:prstGeom>
        </p:spPr>
      </p:pic>
      <p:cxnSp>
        <p:nvCxnSpPr>
          <p:cNvPr id="5" name="Straight Arrow Connector 4">
            <a:extLst>
              <a:ext uri="{FF2B5EF4-FFF2-40B4-BE49-F238E27FC236}">
                <a16:creationId xmlns:a16="http://schemas.microsoft.com/office/drawing/2014/main" id="{D6B72BA2-379B-1633-A809-5109F9E7D088}"/>
              </a:ext>
            </a:extLst>
          </p:cNvPr>
          <p:cNvCxnSpPr>
            <a:cxnSpLocks/>
          </p:cNvCxnSpPr>
          <p:nvPr/>
        </p:nvCxnSpPr>
        <p:spPr>
          <a:xfrm flipH="1">
            <a:off x="1344088" y="2891492"/>
            <a:ext cx="3334221" cy="76756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0690720-EA32-C0F4-3E4C-DFE85FBB538D}"/>
              </a:ext>
            </a:extLst>
          </p:cNvPr>
          <p:cNvCxnSpPr>
            <a:cxnSpLocks/>
          </p:cNvCxnSpPr>
          <p:nvPr/>
        </p:nvCxnSpPr>
        <p:spPr>
          <a:xfrm flipH="1">
            <a:off x="2552369" y="2960975"/>
            <a:ext cx="2702216" cy="74645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3C8A7B8-E29D-76A8-AD9B-5170BD1F14DB}"/>
              </a:ext>
            </a:extLst>
          </p:cNvPr>
          <p:cNvCxnSpPr>
            <a:cxnSpLocks/>
          </p:cNvCxnSpPr>
          <p:nvPr/>
        </p:nvCxnSpPr>
        <p:spPr>
          <a:xfrm flipH="1">
            <a:off x="1344088" y="2891492"/>
            <a:ext cx="3334221" cy="2704401"/>
          </a:xfrm>
          <a:prstGeom prst="straightConnector1">
            <a:avLst/>
          </a:prstGeom>
          <a:ln w="22225">
            <a:solidFill>
              <a:srgbClr val="4D2CF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E83AB54-5315-6303-645A-3B1845DA862F}"/>
              </a:ext>
            </a:extLst>
          </p:cNvPr>
          <p:cNvCxnSpPr>
            <a:cxnSpLocks/>
          </p:cNvCxnSpPr>
          <p:nvPr/>
        </p:nvCxnSpPr>
        <p:spPr>
          <a:xfrm flipH="1">
            <a:off x="2237515" y="2999086"/>
            <a:ext cx="2990310" cy="2624261"/>
          </a:xfrm>
          <a:prstGeom prst="straightConnector1">
            <a:avLst/>
          </a:prstGeom>
          <a:ln w="22225">
            <a:solidFill>
              <a:srgbClr val="4D2CFA"/>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68ED398-F6E0-BED4-1301-019824CF800F}"/>
              </a:ext>
            </a:extLst>
          </p:cNvPr>
          <p:cNvPicPr>
            <a:picLocks noChangeAspect="1"/>
          </p:cNvPicPr>
          <p:nvPr/>
        </p:nvPicPr>
        <p:blipFill>
          <a:blip r:embed="rId9"/>
          <a:stretch>
            <a:fillRect/>
          </a:stretch>
        </p:blipFill>
        <p:spPr>
          <a:xfrm>
            <a:off x="1863507" y="1617491"/>
            <a:ext cx="233916" cy="185184"/>
          </a:xfrm>
          <a:prstGeom prst="rect">
            <a:avLst/>
          </a:prstGeom>
        </p:spPr>
      </p:pic>
    </p:spTree>
    <p:extLst>
      <p:ext uri="{BB962C8B-B14F-4D97-AF65-F5344CB8AC3E}">
        <p14:creationId xmlns:p14="http://schemas.microsoft.com/office/powerpoint/2010/main" val="313947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P spid="33" grpId="0"/>
      <p:bldP spid="35" grpId="0"/>
      <p:bldP spid="37" grpId="0"/>
      <p:bldP spid="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FA4F5F3-DEE2-9F18-DACB-54B09B363D8B}"/>
              </a:ext>
            </a:extLst>
          </p:cNvPr>
          <p:cNvSpPr txBox="1">
            <a:spLocks noChangeArrowheads="1"/>
          </p:cNvSpPr>
          <p:nvPr/>
        </p:nvSpPr>
        <p:spPr bwMode="auto">
          <a:xfrm>
            <a:off x="107950" y="115888"/>
            <a:ext cx="87596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Buck converter Input/Output Voltage Relation using change in inductor current</a:t>
            </a:r>
            <a:endParaRPr lang="en-US" altLang="en-US" sz="1800" b="1" u="sng" dirty="0"/>
          </a:p>
        </p:txBody>
      </p:sp>
      <p:sp>
        <p:nvSpPr>
          <p:cNvPr id="4" name="Line 7">
            <a:extLst>
              <a:ext uri="{FF2B5EF4-FFF2-40B4-BE49-F238E27FC236}">
                <a16:creationId xmlns:a16="http://schemas.microsoft.com/office/drawing/2014/main" id="{BFA9821F-1DDA-C5B1-4DAF-EB76DC8FB885}"/>
              </a:ext>
            </a:extLst>
          </p:cNvPr>
          <p:cNvSpPr>
            <a:spLocks noChangeShapeType="1"/>
          </p:cNvSpPr>
          <p:nvPr/>
        </p:nvSpPr>
        <p:spPr bwMode="auto">
          <a:xfrm flipV="1">
            <a:off x="178575" y="692306"/>
            <a:ext cx="2" cy="86834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Text Box 29">
            <a:extLst>
              <a:ext uri="{FF2B5EF4-FFF2-40B4-BE49-F238E27FC236}">
                <a16:creationId xmlns:a16="http://schemas.microsoft.com/office/drawing/2014/main" id="{E5D7C955-0EBE-E47D-B928-0930A63FD514}"/>
              </a:ext>
            </a:extLst>
          </p:cNvPr>
          <p:cNvSpPr txBox="1">
            <a:spLocks noChangeArrowheads="1"/>
          </p:cNvSpPr>
          <p:nvPr/>
        </p:nvSpPr>
        <p:spPr bwMode="auto">
          <a:xfrm>
            <a:off x="3286031" y="674050"/>
            <a:ext cx="1498431" cy="33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dirty="0">
                <a:latin typeface="Times New Roman" panose="02020603050405020304" pitchFamily="18" charset="0"/>
              </a:rPr>
              <a:t>offset from zero</a:t>
            </a:r>
            <a:endParaRPr lang="en-US" altLang="en-US" sz="1600" dirty="0">
              <a:latin typeface="Times New Roman" panose="02020603050405020304" pitchFamily="18" charset="0"/>
            </a:endParaRPr>
          </a:p>
        </p:txBody>
      </p:sp>
      <p:sp>
        <p:nvSpPr>
          <p:cNvPr id="21" name="Freeform 17">
            <a:extLst>
              <a:ext uri="{FF2B5EF4-FFF2-40B4-BE49-F238E27FC236}">
                <a16:creationId xmlns:a16="http://schemas.microsoft.com/office/drawing/2014/main" id="{970F55AD-C2A8-F057-61AE-6E6E125A5C1B}"/>
              </a:ext>
            </a:extLst>
          </p:cNvPr>
          <p:cNvSpPr>
            <a:spLocks/>
          </p:cNvSpPr>
          <p:nvPr/>
        </p:nvSpPr>
        <p:spPr bwMode="auto">
          <a:xfrm>
            <a:off x="179388" y="830260"/>
            <a:ext cx="6984213" cy="647046"/>
          </a:xfrm>
          <a:custGeom>
            <a:avLst/>
            <a:gdLst>
              <a:gd name="T0" fmla="*/ 0 w 4400"/>
              <a:gd name="T1" fmla="*/ 0 h 408"/>
              <a:gd name="T2" fmla="*/ 2147483646 w 4400"/>
              <a:gd name="T3" fmla="*/ 2147483646 h 408"/>
              <a:gd name="T4" fmla="*/ 2147483646 w 4400"/>
              <a:gd name="T5" fmla="*/ 0 h 408"/>
              <a:gd name="T6" fmla="*/ 2147483646 w 4400"/>
              <a:gd name="T7" fmla="*/ 2147483646 h 408"/>
              <a:gd name="T8" fmla="*/ 2147483646 w 4400"/>
              <a:gd name="T9" fmla="*/ 0 h 408"/>
              <a:gd name="T10" fmla="*/ 2147483646 w 4400"/>
              <a:gd name="T11" fmla="*/ 2147483646 h 408"/>
              <a:gd name="T12" fmla="*/ 2147483646 w 4400"/>
              <a:gd name="T13" fmla="*/ 0 h 408"/>
              <a:gd name="T14" fmla="*/ 2147483646 w 4400"/>
              <a:gd name="T15" fmla="*/ 2147483646 h 408"/>
              <a:gd name="T16" fmla="*/ 2147483646 w 4400"/>
              <a:gd name="T17" fmla="*/ 0 h 408"/>
              <a:gd name="T18" fmla="*/ 2147483646 w 4400"/>
              <a:gd name="T19" fmla="*/ 2147483646 h 408"/>
              <a:gd name="T20" fmla="*/ 2147483646 w 4400"/>
              <a:gd name="T21" fmla="*/ 2147483646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400" h="408">
                <a:moveTo>
                  <a:pt x="0" y="0"/>
                </a:moveTo>
                <a:lnTo>
                  <a:pt x="363" y="408"/>
                </a:lnTo>
                <a:lnTo>
                  <a:pt x="952" y="0"/>
                </a:lnTo>
                <a:lnTo>
                  <a:pt x="1315" y="408"/>
                </a:lnTo>
                <a:lnTo>
                  <a:pt x="1905" y="0"/>
                </a:lnTo>
                <a:lnTo>
                  <a:pt x="2268" y="408"/>
                </a:lnTo>
                <a:lnTo>
                  <a:pt x="2858" y="0"/>
                </a:lnTo>
                <a:lnTo>
                  <a:pt x="3220" y="408"/>
                </a:lnTo>
                <a:lnTo>
                  <a:pt x="3810" y="0"/>
                </a:lnTo>
                <a:lnTo>
                  <a:pt x="4173" y="408"/>
                </a:lnTo>
                <a:lnTo>
                  <a:pt x="4400" y="181"/>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8">
            <a:extLst>
              <a:ext uri="{FF2B5EF4-FFF2-40B4-BE49-F238E27FC236}">
                <a16:creationId xmlns:a16="http://schemas.microsoft.com/office/drawing/2014/main" id="{09EFB736-3202-0982-7A8D-9275F5D6DE26}"/>
              </a:ext>
            </a:extLst>
          </p:cNvPr>
          <p:cNvSpPr>
            <a:spLocks noChangeShapeType="1"/>
          </p:cNvSpPr>
          <p:nvPr/>
        </p:nvSpPr>
        <p:spPr bwMode="auto">
          <a:xfrm>
            <a:off x="179388" y="1548672"/>
            <a:ext cx="72000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Text Box 24">
            <a:extLst>
              <a:ext uri="{FF2B5EF4-FFF2-40B4-BE49-F238E27FC236}">
                <a16:creationId xmlns:a16="http://schemas.microsoft.com/office/drawing/2014/main" id="{3EF56F5D-6494-1A6E-8D06-2B680C136FE3}"/>
              </a:ext>
            </a:extLst>
          </p:cNvPr>
          <p:cNvSpPr txBox="1">
            <a:spLocks noChangeArrowheads="1"/>
          </p:cNvSpPr>
          <p:nvPr/>
        </p:nvSpPr>
        <p:spPr bwMode="auto">
          <a:xfrm>
            <a:off x="7450905" y="830260"/>
            <a:ext cx="1653408" cy="584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b="1">
                <a:solidFill>
                  <a:srgbClr val="0000FF"/>
                </a:solidFill>
                <a:latin typeface="Times New Roman" panose="02020603050405020304" pitchFamily="18" charset="0"/>
              </a:rPr>
              <a:t>Current </a:t>
            </a:r>
            <a:r>
              <a:rPr lang="en-GB" altLang="en-US" sz="1600" b="1" u="sng">
                <a:solidFill>
                  <a:srgbClr val="0000FF"/>
                </a:solidFill>
                <a:latin typeface="Times New Roman" panose="02020603050405020304" pitchFamily="18" charset="0"/>
              </a:rPr>
              <a:t>through</a:t>
            </a:r>
          </a:p>
          <a:p>
            <a:pPr eaLnBrk="1" hangingPunct="1">
              <a:spcBef>
                <a:spcPct val="0"/>
              </a:spcBef>
              <a:buFontTx/>
              <a:buNone/>
            </a:pPr>
            <a:r>
              <a:rPr lang="en-GB" altLang="en-US" sz="1600" b="1">
                <a:solidFill>
                  <a:srgbClr val="0000FF"/>
                </a:solidFill>
                <a:latin typeface="Times New Roman" panose="02020603050405020304" pitchFamily="18" charset="0"/>
              </a:rPr>
              <a:t>inductor</a:t>
            </a:r>
            <a:endParaRPr lang="en-US" altLang="en-US" sz="1600" b="1">
              <a:solidFill>
                <a:srgbClr val="0000FF"/>
              </a:solidFill>
              <a:latin typeface="Times New Roman" panose="02020603050405020304" pitchFamily="18" charset="0"/>
            </a:endParaRPr>
          </a:p>
        </p:txBody>
      </p:sp>
      <p:sp>
        <p:nvSpPr>
          <p:cNvPr id="24" name="Line 30">
            <a:extLst>
              <a:ext uri="{FF2B5EF4-FFF2-40B4-BE49-F238E27FC236}">
                <a16:creationId xmlns:a16="http://schemas.microsoft.com/office/drawing/2014/main" id="{59AFCF29-7A45-5ACB-8F7F-B4D9F2F84604}"/>
              </a:ext>
            </a:extLst>
          </p:cNvPr>
          <p:cNvSpPr>
            <a:spLocks noChangeShapeType="1"/>
          </p:cNvSpPr>
          <p:nvPr/>
        </p:nvSpPr>
        <p:spPr bwMode="auto">
          <a:xfrm>
            <a:off x="3634985" y="1477306"/>
            <a:ext cx="2888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31">
            <a:extLst>
              <a:ext uri="{FF2B5EF4-FFF2-40B4-BE49-F238E27FC236}">
                <a16:creationId xmlns:a16="http://schemas.microsoft.com/office/drawing/2014/main" id="{D47FD1D7-BA89-76A9-ADEA-50E498ACF69E}"/>
              </a:ext>
            </a:extLst>
          </p:cNvPr>
          <p:cNvSpPr>
            <a:spLocks noChangeShapeType="1"/>
          </p:cNvSpPr>
          <p:nvPr/>
        </p:nvSpPr>
        <p:spPr bwMode="auto">
          <a:xfrm>
            <a:off x="3779432" y="1190259"/>
            <a:ext cx="0" cy="28704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32">
            <a:extLst>
              <a:ext uri="{FF2B5EF4-FFF2-40B4-BE49-F238E27FC236}">
                <a16:creationId xmlns:a16="http://schemas.microsoft.com/office/drawing/2014/main" id="{FA8F4093-CF93-B4BE-CEA7-C1F639196A54}"/>
              </a:ext>
            </a:extLst>
          </p:cNvPr>
          <p:cNvSpPr>
            <a:spLocks noChangeShapeType="1"/>
          </p:cNvSpPr>
          <p:nvPr/>
        </p:nvSpPr>
        <p:spPr bwMode="auto">
          <a:xfrm flipV="1">
            <a:off x="3779432" y="1511757"/>
            <a:ext cx="0" cy="21568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TextBox 25">
            <a:extLst>
              <a:ext uri="{FF2B5EF4-FFF2-40B4-BE49-F238E27FC236}">
                <a16:creationId xmlns:a16="http://schemas.microsoft.com/office/drawing/2014/main" id="{DC8D2CDC-F071-86A3-AB87-CC93D02A8BDC}"/>
              </a:ext>
            </a:extLst>
          </p:cNvPr>
          <p:cNvSpPr txBox="1"/>
          <p:nvPr/>
        </p:nvSpPr>
        <p:spPr>
          <a:xfrm>
            <a:off x="105658" y="1975042"/>
            <a:ext cx="8998655" cy="646331"/>
          </a:xfrm>
          <a:prstGeom prst="rect">
            <a:avLst/>
          </a:prstGeom>
          <a:noFill/>
        </p:spPr>
        <p:txBody>
          <a:bodyPr wrap="square" rtlCol="0">
            <a:spAutoFit/>
          </a:bodyPr>
          <a:lstStyle/>
          <a:p>
            <a:r>
              <a:rPr lang="en-US" dirty="0"/>
              <a:t>We can prove input ~ output voltage relation by using Net change in inductor current is zero over one period</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D319C01-3E7B-1C25-8FEA-0159886940EC}"/>
                  </a:ext>
                </a:extLst>
              </p:cNvPr>
              <p:cNvSpPr txBox="1"/>
              <p:nvPr/>
            </p:nvSpPr>
            <p:spPr>
              <a:xfrm>
                <a:off x="890863" y="2563387"/>
                <a:ext cx="4572000" cy="390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d>
                            <m:dPr>
                              <m:ctrlPr>
                                <a:rPr lang="en-US" i="1">
                                  <a:latin typeface="Cambria Math" panose="02040503050406030204" pitchFamily="18" charset="0"/>
                                </a:rPr>
                              </m:ctrlPr>
                            </m:dPr>
                            <m:e>
                              <m:r>
                                <a:rPr lang="en-US">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GB" b="0" i="1" smtClean="0">
                                      <a:latin typeface="Cambria Math" panose="02040503050406030204" pitchFamily="18" charset="0"/>
                                    </a:rPr>
                                    <m:t>𝐼</m:t>
                                  </m:r>
                                </m:e>
                                <m:sub>
                                  <m:r>
                                    <a:rPr lang="en-US" i="1">
                                      <a:latin typeface="Cambria Math" panose="02040503050406030204" pitchFamily="18" charset="0"/>
                                    </a:rPr>
                                    <m:t>𝐿</m:t>
                                  </m:r>
                                </m:sub>
                              </m:sSub>
                            </m:e>
                          </m:d>
                        </m:e>
                        <m:sub>
                          <m:r>
                            <a:rPr lang="en-US" i="1">
                              <a:latin typeface="Cambria Math" panose="02040503050406030204" pitchFamily="18" charset="0"/>
                            </a:rPr>
                            <m:t>𝑠𝑤𝑖𝑡𝑐h</m:t>
                          </m:r>
                          <m:r>
                            <a:rPr lang="en-US" i="0">
                              <a:latin typeface="Cambria Math" panose="02040503050406030204" pitchFamily="18" charset="0"/>
                            </a:rPr>
                            <m:t> </m:t>
                          </m:r>
                          <m:r>
                            <a:rPr lang="en-US" i="1">
                              <a:latin typeface="Cambria Math" panose="02040503050406030204" pitchFamily="18" charset="0"/>
                            </a:rPr>
                            <m:t>𝑐𝑙𝑜𝑠𝑒𝑑</m:t>
                          </m:r>
                        </m:sub>
                      </m:sSub>
                      <m:r>
                        <a:rPr lang="en-US" i="0">
                          <a:latin typeface="Cambria Math" panose="02040503050406030204" pitchFamily="18" charset="0"/>
                        </a:rPr>
                        <m:t>+ </m:t>
                      </m:r>
                      <m:sSub>
                        <m:sSubPr>
                          <m:ctrlPr>
                            <a:rPr lang="en-US" i="1">
                              <a:solidFill>
                                <a:srgbClr val="836967"/>
                              </a:solidFill>
                              <a:latin typeface="Cambria Math" panose="02040503050406030204" pitchFamily="18" charset="0"/>
                            </a:rPr>
                          </m:ctrlPr>
                        </m:sSubPr>
                        <m:e>
                          <m:d>
                            <m:dPr>
                              <m:ctrlPr>
                                <a:rPr lang="en-US" i="1">
                                  <a:latin typeface="Cambria Math" panose="02040503050406030204" pitchFamily="18" charset="0"/>
                                </a:rPr>
                              </m:ctrlPr>
                            </m:dPr>
                            <m:e>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GB" b="0" i="1" smtClean="0">
                                      <a:latin typeface="Cambria Math" panose="02040503050406030204" pitchFamily="18" charset="0"/>
                                    </a:rPr>
                                    <m:t>𝐼</m:t>
                                  </m:r>
                                </m:e>
                                <m:sub>
                                  <m:r>
                                    <a:rPr lang="en-US" i="1">
                                      <a:latin typeface="Cambria Math" panose="02040503050406030204" pitchFamily="18" charset="0"/>
                                    </a:rPr>
                                    <m:t>𝐿</m:t>
                                  </m:r>
                                </m:sub>
                              </m:sSub>
                            </m:e>
                          </m:d>
                        </m:e>
                        <m:sub>
                          <m:r>
                            <a:rPr lang="en-US" i="1">
                              <a:latin typeface="Cambria Math" panose="02040503050406030204" pitchFamily="18" charset="0"/>
                            </a:rPr>
                            <m:t>𝑠𝑤𝑖𝑡𝑐h</m:t>
                          </m:r>
                          <m:r>
                            <a:rPr lang="en-US" i="0">
                              <a:latin typeface="Cambria Math" panose="02040503050406030204" pitchFamily="18" charset="0"/>
                            </a:rPr>
                            <m:t> </m:t>
                          </m:r>
                          <m:r>
                            <a:rPr lang="en-US" i="1">
                              <a:latin typeface="Cambria Math" panose="02040503050406030204" pitchFamily="18" charset="0"/>
                            </a:rPr>
                            <m:t>𝑜𝑝𝑒𝑛</m:t>
                          </m:r>
                        </m:sub>
                      </m:sSub>
                      <m:r>
                        <a:rPr lang="en-US" i="0">
                          <a:latin typeface="Cambria Math" panose="02040503050406030204" pitchFamily="18" charset="0"/>
                        </a:rPr>
                        <m:t>=0. </m:t>
                      </m:r>
                    </m:oMath>
                  </m:oMathPara>
                </a14:m>
                <a:endParaRPr lang="en-US" dirty="0"/>
              </a:p>
            </p:txBody>
          </p:sp>
        </mc:Choice>
        <mc:Fallback xmlns="">
          <p:sp>
            <p:nvSpPr>
              <p:cNvPr id="28" name="TextBox 27">
                <a:extLst>
                  <a:ext uri="{FF2B5EF4-FFF2-40B4-BE49-F238E27FC236}">
                    <a16:creationId xmlns:a16="http://schemas.microsoft.com/office/drawing/2014/main" id="{BD319C01-3E7B-1C25-8FEA-0159886940EC}"/>
                  </a:ext>
                </a:extLst>
              </p:cNvPr>
              <p:cNvSpPr txBox="1">
                <a:spLocks noRot="1" noChangeAspect="1" noMove="1" noResize="1" noEditPoints="1" noAdjustHandles="1" noChangeArrowheads="1" noChangeShapeType="1" noTextEdit="1"/>
              </p:cNvSpPr>
              <p:nvPr/>
            </p:nvSpPr>
            <p:spPr>
              <a:xfrm>
                <a:off x="890863" y="2563387"/>
                <a:ext cx="4572000" cy="390748"/>
              </a:xfrm>
              <a:prstGeom prst="rect">
                <a:avLst/>
              </a:prstGeom>
              <a:blipFill>
                <a:blip r:embed="rId3"/>
                <a:stretch>
                  <a:fillRect b="-312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1C8A1A8-E1A0-4C89-B3A0-9F0C27DFB423}"/>
                  </a:ext>
                </a:extLst>
              </p:cNvPr>
              <p:cNvSpPr txBox="1"/>
              <p:nvPr/>
            </p:nvSpPr>
            <p:spPr>
              <a:xfrm>
                <a:off x="1291207" y="3117002"/>
                <a:ext cx="4976447" cy="484172"/>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oMath>
                </a14:m>
                <a:r>
                  <a:rPr lang="en-US" dirty="0"/>
                  <a:t> + </a:t>
                </a:r>
                <a14:m>
                  <m:oMath xmlns:m="http://schemas.openxmlformats.org/officeDocument/2006/math">
                    <m:f>
                      <m:fPr>
                        <m:ctrlPr>
                          <a:rPr lang="en-US" i="1">
                            <a:latin typeface="Cambria Math" panose="02040503050406030204" pitchFamily="18" charset="0"/>
                          </a:rPr>
                        </m:ctrlPr>
                      </m:fPr>
                      <m:num>
                        <m:r>
                          <a:rPr lang="en-GB"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i="1">
                            <a:latin typeface="Cambria Math" panose="02040503050406030204" pitchFamily="18" charset="0"/>
                            <a:ea typeface="SimSun" panose="02010600030101010101" pitchFamily="2" charset="-122"/>
                            <a:cs typeface="Times New Roman" panose="02020603050405020304" pitchFamily="18" charset="0"/>
                          </a:rPr>
                          <m:t>𝐿</m:t>
                        </m:r>
                      </m:den>
                    </m:f>
                    <m:r>
                      <a:rPr lang="en-US"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m:t>
                        </m:r>
                        <m:r>
                          <a:rPr lang="en-US" i="1">
                            <a:latin typeface="Cambria Math" panose="02040503050406030204" pitchFamily="18" charset="0"/>
                            <a:ea typeface="SimSun" panose="02010600030101010101" pitchFamily="2" charset="-122"/>
                            <a:cs typeface="Times New Roman" panose="02020603050405020304" pitchFamily="18" charset="0"/>
                          </a:rPr>
                          <m:t>𝑇</m:t>
                        </m:r>
                        <m:r>
                          <a:rPr lang="en-US" i="1">
                            <a:latin typeface="Cambria Math" panose="02040503050406030204" pitchFamily="18" charset="0"/>
                            <a:ea typeface="SimSun" panose="02010600030101010101" pitchFamily="2" charset="-122"/>
                            <a:cs typeface="Times New Roman" panose="02020603050405020304" pitchFamily="18" charset="0"/>
                          </a:rPr>
                          <m:t>−</m:t>
                        </m:r>
                        <m:r>
                          <a:rPr lang="en-US" i="1">
                            <a:latin typeface="Cambria Math" panose="02040503050406030204" pitchFamily="18" charset="0"/>
                            <a:ea typeface="SimSun" panose="02010600030101010101" pitchFamily="2" charset="-122"/>
                            <a:cs typeface="Times New Roman" panose="02020603050405020304" pitchFamily="18" charset="0"/>
                          </a:rPr>
                          <m:t>𝑡</m:t>
                        </m:r>
                      </m:e>
                      <m:sub>
                        <m:r>
                          <a:rPr lang="en-US" i="1">
                            <a:latin typeface="Cambria Math" panose="02040503050406030204" pitchFamily="18" charset="0"/>
                            <a:ea typeface="SimSun" panose="02010600030101010101" pitchFamily="2" charset="-122"/>
                            <a:cs typeface="Times New Roman" panose="02020603050405020304" pitchFamily="18" charset="0"/>
                          </a:rPr>
                          <m:t>𝑜𝑛</m:t>
                        </m:r>
                      </m:sub>
                    </m:sSub>
                    <m:r>
                      <a:rPr lang="en-US" i="1">
                        <a:latin typeface="Cambria Math" panose="02040503050406030204" pitchFamily="18" charset="0"/>
                        <a:ea typeface="SimSun" panose="02010600030101010101" pitchFamily="2" charset="-122"/>
                        <a:cs typeface="Times New Roman" panose="02020603050405020304" pitchFamily="18" charset="0"/>
                      </a:rPr>
                      <m:t>)</m:t>
                    </m:r>
                  </m:oMath>
                </a14:m>
                <a:r>
                  <a:rPr lang="en-US" dirty="0"/>
                  <a:t> = 0</a:t>
                </a:r>
              </a:p>
            </p:txBody>
          </p:sp>
        </mc:Choice>
        <mc:Fallback xmlns="">
          <p:sp>
            <p:nvSpPr>
              <p:cNvPr id="37" name="TextBox 36">
                <a:extLst>
                  <a:ext uri="{FF2B5EF4-FFF2-40B4-BE49-F238E27FC236}">
                    <a16:creationId xmlns:a16="http://schemas.microsoft.com/office/drawing/2014/main" id="{81C8A1A8-E1A0-4C89-B3A0-9F0C27DFB423}"/>
                  </a:ext>
                </a:extLst>
              </p:cNvPr>
              <p:cNvSpPr txBox="1">
                <a:spLocks noRot="1" noChangeAspect="1" noMove="1" noResize="1" noEditPoints="1" noAdjustHandles="1" noChangeArrowheads="1" noChangeShapeType="1" noTextEdit="1"/>
              </p:cNvSpPr>
              <p:nvPr/>
            </p:nvSpPr>
            <p:spPr>
              <a:xfrm>
                <a:off x="1291207" y="3117002"/>
                <a:ext cx="4976447" cy="484172"/>
              </a:xfrm>
              <a:prstGeom prst="rect">
                <a:avLst/>
              </a:prstGeom>
              <a:blipFill>
                <a:blip r:embed="rId4"/>
                <a:stretch>
                  <a:fillRect b="-10256"/>
                </a:stretch>
              </a:blipFill>
            </p:spPr>
            <p:txBody>
              <a:bodyPr/>
              <a:lstStyle/>
              <a:p>
                <a:r>
                  <a:rPr lang="en-US">
                    <a:noFill/>
                  </a:rPr>
                  <a:t> </a:t>
                </a:r>
              </a:p>
            </p:txBody>
          </p:sp>
        </mc:Fallback>
      </mc:AlternateContent>
      <p:pic>
        <p:nvPicPr>
          <p:cNvPr id="70" name="Picture 69">
            <a:extLst>
              <a:ext uri="{FF2B5EF4-FFF2-40B4-BE49-F238E27FC236}">
                <a16:creationId xmlns:a16="http://schemas.microsoft.com/office/drawing/2014/main" id="{A51EDE4F-7CDB-4216-884C-CB96FE287812}"/>
              </a:ext>
            </a:extLst>
          </p:cNvPr>
          <p:cNvPicPr>
            <a:picLocks noChangeAspect="1"/>
          </p:cNvPicPr>
          <p:nvPr/>
        </p:nvPicPr>
        <p:blipFill>
          <a:blip r:embed="rId5"/>
          <a:stretch>
            <a:fillRect/>
          </a:stretch>
        </p:blipFill>
        <p:spPr>
          <a:xfrm>
            <a:off x="1863507" y="1617491"/>
            <a:ext cx="233916" cy="185184"/>
          </a:xfrm>
          <a:prstGeom prst="rect">
            <a:avLst/>
          </a:prstGeom>
        </p:spPr>
      </p:pic>
      <p:cxnSp>
        <p:nvCxnSpPr>
          <p:cNvPr id="71" name="Straight Arrow Connector 70">
            <a:extLst>
              <a:ext uri="{FF2B5EF4-FFF2-40B4-BE49-F238E27FC236}">
                <a16:creationId xmlns:a16="http://schemas.microsoft.com/office/drawing/2014/main" id="{853F0134-4AF6-62DC-9EE0-ED420EDF2F43}"/>
              </a:ext>
            </a:extLst>
          </p:cNvPr>
          <p:cNvCxnSpPr>
            <a:cxnSpLocks/>
          </p:cNvCxnSpPr>
          <p:nvPr/>
        </p:nvCxnSpPr>
        <p:spPr>
          <a:xfrm flipH="1">
            <a:off x="750778" y="1701499"/>
            <a:ext cx="280170" cy="55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8F0C0D7-CBD8-C16B-33B8-7CC04C4FA88D}"/>
              </a:ext>
            </a:extLst>
          </p:cNvPr>
          <p:cNvCxnSpPr>
            <a:cxnSpLocks/>
          </p:cNvCxnSpPr>
          <p:nvPr/>
        </p:nvCxnSpPr>
        <p:spPr>
          <a:xfrm>
            <a:off x="1344391" y="1704143"/>
            <a:ext cx="34568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3" name="Picture 72">
            <a:extLst>
              <a:ext uri="{FF2B5EF4-FFF2-40B4-BE49-F238E27FC236}">
                <a16:creationId xmlns:a16="http://schemas.microsoft.com/office/drawing/2014/main" id="{58EC13FE-53CA-3DE1-7F11-9EFAE2BD957F}"/>
              </a:ext>
            </a:extLst>
          </p:cNvPr>
          <p:cNvPicPr>
            <a:picLocks noChangeAspect="1"/>
          </p:cNvPicPr>
          <p:nvPr/>
        </p:nvPicPr>
        <p:blipFill>
          <a:blip r:embed="rId6"/>
          <a:stretch>
            <a:fillRect/>
          </a:stretch>
        </p:blipFill>
        <p:spPr>
          <a:xfrm>
            <a:off x="1059626" y="1598961"/>
            <a:ext cx="284462" cy="205077"/>
          </a:xfrm>
          <a:prstGeom prst="rect">
            <a:avLst/>
          </a:prstGeom>
        </p:spPr>
      </p:pic>
      <p:cxnSp>
        <p:nvCxnSpPr>
          <p:cNvPr id="74" name="Straight Connector 73">
            <a:extLst>
              <a:ext uri="{FF2B5EF4-FFF2-40B4-BE49-F238E27FC236}">
                <a16:creationId xmlns:a16="http://schemas.microsoft.com/office/drawing/2014/main" id="{CC5327BB-F614-4E52-FDE1-C0E99515B786}"/>
              </a:ext>
            </a:extLst>
          </p:cNvPr>
          <p:cNvCxnSpPr>
            <a:cxnSpLocks/>
          </p:cNvCxnSpPr>
          <p:nvPr/>
        </p:nvCxnSpPr>
        <p:spPr>
          <a:xfrm>
            <a:off x="1687991" y="1587707"/>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0C65F83-C01C-FEB7-B501-191B54DDE611}"/>
              </a:ext>
            </a:extLst>
          </p:cNvPr>
          <p:cNvCxnSpPr>
            <a:cxnSpLocks/>
          </p:cNvCxnSpPr>
          <p:nvPr/>
        </p:nvCxnSpPr>
        <p:spPr>
          <a:xfrm flipH="1">
            <a:off x="1690078" y="1708033"/>
            <a:ext cx="1328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66189E1F-3D16-EFF7-A33F-499194DE35E2}"/>
              </a:ext>
            </a:extLst>
          </p:cNvPr>
          <p:cNvCxnSpPr>
            <a:cxnSpLocks/>
          </p:cNvCxnSpPr>
          <p:nvPr/>
        </p:nvCxnSpPr>
        <p:spPr>
          <a:xfrm>
            <a:off x="2097423" y="1720322"/>
            <a:ext cx="14009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A223F22-7646-5638-E8BC-D10D3342C132}"/>
              </a:ext>
            </a:extLst>
          </p:cNvPr>
          <p:cNvCxnSpPr>
            <a:cxnSpLocks/>
          </p:cNvCxnSpPr>
          <p:nvPr/>
        </p:nvCxnSpPr>
        <p:spPr>
          <a:xfrm>
            <a:off x="2262552" y="1560655"/>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9E5D930-466C-2171-CCA8-8B085A735800}"/>
              </a:ext>
            </a:extLst>
          </p:cNvPr>
          <p:cNvCxnSpPr>
            <a:cxnSpLocks/>
          </p:cNvCxnSpPr>
          <p:nvPr/>
        </p:nvCxnSpPr>
        <p:spPr>
          <a:xfrm>
            <a:off x="750146" y="1581600"/>
            <a:ext cx="0" cy="2450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9C7BEE1-5B00-786C-27C1-37DB2C02A62B}"/>
              </a:ext>
            </a:extLst>
          </p:cNvPr>
          <p:cNvCxnSpPr>
            <a:cxnSpLocks/>
          </p:cNvCxnSpPr>
          <p:nvPr/>
        </p:nvCxnSpPr>
        <p:spPr>
          <a:xfrm>
            <a:off x="1682262" y="694798"/>
            <a:ext cx="0" cy="1131888"/>
          </a:xfrm>
          <a:prstGeom prst="line">
            <a:avLst/>
          </a:prstGeom>
        </p:spPr>
        <p:style>
          <a:lnRef idx="1">
            <a:schemeClr val="accent1"/>
          </a:lnRef>
          <a:fillRef idx="0">
            <a:schemeClr val="accent1"/>
          </a:fillRef>
          <a:effectRef idx="0">
            <a:schemeClr val="accent1"/>
          </a:effectRef>
          <a:fontRef idx="minor">
            <a:schemeClr val="tx1"/>
          </a:fontRef>
        </p:style>
      </p:cxnSp>
      <p:pic>
        <p:nvPicPr>
          <p:cNvPr id="96" name="Picture 95">
            <a:extLst>
              <a:ext uri="{FF2B5EF4-FFF2-40B4-BE49-F238E27FC236}">
                <a16:creationId xmlns:a16="http://schemas.microsoft.com/office/drawing/2014/main" id="{C4760179-5CF3-B23A-A034-6E72C957C9B8}"/>
              </a:ext>
            </a:extLst>
          </p:cNvPr>
          <p:cNvPicPr>
            <a:picLocks noChangeAspect="1"/>
          </p:cNvPicPr>
          <p:nvPr/>
        </p:nvPicPr>
        <p:blipFill>
          <a:blip r:embed="rId7"/>
          <a:stretch>
            <a:fillRect/>
          </a:stretch>
        </p:blipFill>
        <p:spPr>
          <a:xfrm>
            <a:off x="6557108" y="2565576"/>
            <a:ext cx="2485292" cy="1159803"/>
          </a:xfrm>
          <a:prstGeom prst="rect">
            <a:avLst/>
          </a:prstGeom>
        </p:spPr>
      </p:pic>
      <p:pic>
        <p:nvPicPr>
          <p:cNvPr id="97" name="Picture 96">
            <a:extLst>
              <a:ext uri="{FF2B5EF4-FFF2-40B4-BE49-F238E27FC236}">
                <a16:creationId xmlns:a16="http://schemas.microsoft.com/office/drawing/2014/main" id="{D53040F6-AFC9-D6C2-341B-E6A4FC84FC60}"/>
              </a:ext>
            </a:extLst>
          </p:cNvPr>
          <p:cNvPicPr>
            <a:picLocks noChangeAspect="1"/>
          </p:cNvPicPr>
          <p:nvPr/>
        </p:nvPicPr>
        <p:blipFill>
          <a:blip r:embed="rId8"/>
          <a:stretch>
            <a:fillRect/>
          </a:stretch>
        </p:blipFill>
        <p:spPr>
          <a:xfrm>
            <a:off x="6572956" y="3996898"/>
            <a:ext cx="2531357" cy="120814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95D2087-079E-1D31-866F-690888596D19}"/>
                  </a:ext>
                </a:extLst>
              </p:cNvPr>
              <p:cNvSpPr txBox="1"/>
              <p:nvPr/>
            </p:nvSpPr>
            <p:spPr>
              <a:xfrm>
                <a:off x="1285255" y="3670617"/>
                <a:ext cx="4976447" cy="484172"/>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oMath>
                </a14:m>
                <a:r>
                  <a:rPr lang="en-US" dirty="0"/>
                  <a:t>  =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i="1">
                            <a:latin typeface="Cambria Math" panose="02040503050406030204" pitchFamily="18" charset="0"/>
                            <a:ea typeface="SimSun" panose="02010600030101010101" pitchFamily="2" charset="-122"/>
                            <a:cs typeface="Times New Roman" panose="02020603050405020304" pitchFamily="18" charset="0"/>
                          </a:rPr>
                          <m:t>𝐿</m:t>
                        </m:r>
                      </m:den>
                    </m:f>
                    <m:r>
                      <a:rPr lang="en-US"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m:t>
                        </m:r>
                        <m:r>
                          <a:rPr lang="en-US" i="1">
                            <a:latin typeface="Cambria Math" panose="02040503050406030204" pitchFamily="18" charset="0"/>
                            <a:ea typeface="SimSun" panose="02010600030101010101" pitchFamily="2" charset="-122"/>
                            <a:cs typeface="Times New Roman" panose="02020603050405020304" pitchFamily="18" charset="0"/>
                          </a:rPr>
                          <m:t>𝑇</m:t>
                        </m:r>
                        <m:r>
                          <a:rPr lang="en-US" i="1">
                            <a:latin typeface="Cambria Math" panose="02040503050406030204" pitchFamily="18" charset="0"/>
                            <a:ea typeface="SimSun" panose="02010600030101010101" pitchFamily="2" charset="-122"/>
                            <a:cs typeface="Times New Roman" panose="02020603050405020304" pitchFamily="18" charset="0"/>
                          </a:rPr>
                          <m:t>−</m:t>
                        </m:r>
                        <m:r>
                          <a:rPr lang="en-US" i="1">
                            <a:latin typeface="Cambria Math" panose="02040503050406030204" pitchFamily="18" charset="0"/>
                            <a:ea typeface="SimSun" panose="02010600030101010101" pitchFamily="2" charset="-122"/>
                            <a:cs typeface="Times New Roman" panose="02020603050405020304" pitchFamily="18" charset="0"/>
                          </a:rPr>
                          <m:t>𝑡</m:t>
                        </m:r>
                      </m:e>
                      <m:sub>
                        <m:r>
                          <a:rPr lang="en-US" i="1">
                            <a:latin typeface="Cambria Math" panose="02040503050406030204" pitchFamily="18" charset="0"/>
                            <a:ea typeface="SimSun" panose="02010600030101010101" pitchFamily="2" charset="-122"/>
                            <a:cs typeface="Times New Roman" panose="02020603050405020304" pitchFamily="18" charset="0"/>
                          </a:rPr>
                          <m:t>𝑜𝑛</m:t>
                        </m:r>
                      </m:sub>
                    </m:sSub>
                    <m:r>
                      <a:rPr lang="en-US" i="1">
                        <a:latin typeface="Cambria Math" panose="02040503050406030204" pitchFamily="18" charset="0"/>
                        <a:ea typeface="SimSun" panose="02010600030101010101" pitchFamily="2" charset="-122"/>
                        <a:cs typeface="Times New Roman" panose="02020603050405020304" pitchFamily="18" charset="0"/>
                      </a:rPr>
                      <m:t>)</m:t>
                    </m:r>
                  </m:oMath>
                </a14:m>
                <a:endParaRPr lang="en-US" dirty="0"/>
              </a:p>
            </p:txBody>
          </p:sp>
        </mc:Choice>
        <mc:Fallback xmlns="">
          <p:sp>
            <p:nvSpPr>
              <p:cNvPr id="2" name="TextBox 1">
                <a:extLst>
                  <a:ext uri="{FF2B5EF4-FFF2-40B4-BE49-F238E27FC236}">
                    <a16:creationId xmlns:a16="http://schemas.microsoft.com/office/drawing/2014/main" id="{895D2087-079E-1D31-866F-690888596D19}"/>
                  </a:ext>
                </a:extLst>
              </p:cNvPr>
              <p:cNvSpPr txBox="1">
                <a:spLocks noRot="1" noChangeAspect="1" noMove="1" noResize="1" noEditPoints="1" noAdjustHandles="1" noChangeArrowheads="1" noChangeShapeType="1" noTextEdit="1"/>
              </p:cNvSpPr>
              <p:nvPr/>
            </p:nvSpPr>
            <p:spPr>
              <a:xfrm>
                <a:off x="1285255" y="3670617"/>
                <a:ext cx="4976447" cy="484172"/>
              </a:xfrm>
              <a:prstGeom prst="rect">
                <a:avLst/>
              </a:prstGeom>
              <a:blipFill>
                <a:blip r:embed="rId9"/>
                <a:stretch>
                  <a:fillRect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12C57F-0070-5255-50BB-710854191CF8}"/>
                  </a:ext>
                </a:extLst>
              </p:cNvPr>
              <p:cNvSpPr txBox="1"/>
              <p:nvPr/>
            </p:nvSpPr>
            <p:spPr>
              <a:xfrm>
                <a:off x="1870903" y="4317656"/>
                <a:ext cx="2243897" cy="532069"/>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num>
                      <m:den>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oMath>
                </a14:m>
                <a:r>
                  <a:rPr lang="en-US" dirty="0"/>
                  <a:t>=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m:t>
                            </m:r>
                            <m:r>
                              <a:rPr lang="en-US" i="1">
                                <a:latin typeface="Cambria Math" panose="02040503050406030204" pitchFamily="18" charset="0"/>
                                <a:ea typeface="SimSun" panose="02010600030101010101" pitchFamily="2" charset="-122"/>
                                <a:cs typeface="Times New Roman" panose="02020603050405020304" pitchFamily="18" charset="0"/>
                              </a:rPr>
                              <m:t>𝑇</m:t>
                            </m:r>
                            <m:r>
                              <a:rPr lang="en-US" i="1">
                                <a:latin typeface="Cambria Math" panose="02040503050406030204" pitchFamily="18" charset="0"/>
                                <a:ea typeface="SimSun" panose="02010600030101010101" pitchFamily="2" charset="-122"/>
                                <a:cs typeface="Times New Roman" panose="02020603050405020304" pitchFamily="18" charset="0"/>
                              </a:rPr>
                              <m:t>−</m:t>
                            </m:r>
                            <m:r>
                              <a:rPr lang="en-US" i="1">
                                <a:latin typeface="Cambria Math" panose="02040503050406030204" pitchFamily="18" charset="0"/>
                                <a:ea typeface="SimSun" panose="02010600030101010101" pitchFamily="2" charset="-122"/>
                                <a:cs typeface="Times New Roman" panose="02020603050405020304" pitchFamily="18" charset="0"/>
                              </a:rPr>
                              <m:t>𝑡</m:t>
                            </m:r>
                          </m:e>
                          <m:sub>
                            <m:r>
                              <a:rPr lang="en-US" i="1">
                                <a:latin typeface="Cambria Math" panose="02040503050406030204" pitchFamily="18" charset="0"/>
                                <a:ea typeface="SimSun" panose="02010600030101010101" pitchFamily="2" charset="-122"/>
                                <a:cs typeface="Times New Roman" panose="02020603050405020304" pitchFamily="18" charset="0"/>
                              </a:rPr>
                              <m:t>𝑜𝑛</m:t>
                            </m:r>
                          </m:sub>
                        </m:sSub>
                        <m:r>
                          <a:rPr lang="en-US" i="1">
                            <a:latin typeface="Cambria Math" panose="02040503050406030204" pitchFamily="18" charset="0"/>
                            <a:ea typeface="SimSun" panose="02010600030101010101" pitchFamily="2" charset="-122"/>
                            <a:cs typeface="Times New Roman" panose="02020603050405020304" pitchFamily="18" charset="0"/>
                          </a:rPr>
                          <m:t>)</m:t>
                        </m:r>
                        <m:r>
                          <a:rPr lang="en-US" i="1" smtClean="0">
                            <a:latin typeface="Cambria Math" panose="02040503050406030204" pitchFamily="18" charset="0"/>
                          </a:rPr>
                          <m:t> </m:t>
                        </m:r>
                      </m:num>
                      <m:den>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𝑡</m:t>
                            </m:r>
                          </m:e>
                          <m:sub>
                            <m:r>
                              <a:rPr lang="en-US" i="1">
                                <a:latin typeface="Cambria Math" panose="02040503050406030204" pitchFamily="18" charset="0"/>
                                <a:ea typeface="SimSun" panose="02010600030101010101" pitchFamily="2" charset="-122"/>
                                <a:cs typeface="Times New Roman" panose="02020603050405020304" pitchFamily="18" charset="0"/>
                              </a:rPr>
                              <m:t>𝑜𝑛</m:t>
                            </m:r>
                          </m:sub>
                        </m:sSub>
                      </m:den>
                    </m:f>
                  </m:oMath>
                </a14:m>
                <a:endParaRPr lang="en-US" dirty="0"/>
              </a:p>
            </p:txBody>
          </p:sp>
        </mc:Choice>
        <mc:Fallback xmlns="">
          <p:sp>
            <p:nvSpPr>
              <p:cNvPr id="5" name="TextBox 4">
                <a:extLst>
                  <a:ext uri="{FF2B5EF4-FFF2-40B4-BE49-F238E27FC236}">
                    <a16:creationId xmlns:a16="http://schemas.microsoft.com/office/drawing/2014/main" id="{3912C57F-0070-5255-50BB-710854191CF8}"/>
                  </a:ext>
                </a:extLst>
              </p:cNvPr>
              <p:cNvSpPr txBox="1">
                <a:spLocks noRot="1" noChangeAspect="1" noMove="1" noResize="1" noEditPoints="1" noAdjustHandles="1" noChangeArrowheads="1" noChangeShapeType="1" noTextEdit="1"/>
              </p:cNvSpPr>
              <p:nvPr/>
            </p:nvSpPr>
            <p:spPr>
              <a:xfrm>
                <a:off x="1870903" y="4317656"/>
                <a:ext cx="2243897" cy="53206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FA77217-B1D5-45B3-006B-6CF00535EB81}"/>
                  </a:ext>
                </a:extLst>
              </p:cNvPr>
              <p:cNvSpPr txBox="1"/>
              <p:nvPr/>
            </p:nvSpPr>
            <p:spPr>
              <a:xfrm>
                <a:off x="1943732" y="5012592"/>
                <a:ext cx="2243897" cy="532069"/>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num>
                      <m:den>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−1 </m:t>
                    </m:r>
                  </m:oMath>
                </a14:m>
                <a:r>
                  <a:rPr lang="en-US" dirty="0"/>
                  <a:t>=  </a:t>
                </a:r>
                <a14:m>
                  <m:oMath xmlns:m="http://schemas.openxmlformats.org/officeDocument/2006/math">
                    <m:f>
                      <m:fPr>
                        <m:ctrlPr>
                          <a:rPr lang="en-US" i="1">
                            <a:latin typeface="Cambria Math" panose="02040503050406030204" pitchFamily="18" charset="0"/>
                          </a:rPr>
                        </m:ctrlPr>
                      </m:fPr>
                      <m:num>
                        <m:r>
                          <a:rPr lang="en-GB" b="0" i="1" smtClean="0">
                            <a:latin typeface="Cambria Math" panose="02040503050406030204" pitchFamily="18" charset="0"/>
                          </a:rPr>
                          <m:t>𝑇</m:t>
                        </m:r>
                      </m:num>
                      <m:den>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𝑡</m:t>
                            </m:r>
                          </m:e>
                          <m:sub>
                            <m:r>
                              <a:rPr lang="en-US" i="1">
                                <a:latin typeface="Cambria Math" panose="02040503050406030204" pitchFamily="18" charset="0"/>
                                <a:ea typeface="SimSun" panose="02010600030101010101" pitchFamily="2" charset="-122"/>
                                <a:cs typeface="Times New Roman" panose="02020603050405020304" pitchFamily="18" charset="0"/>
                              </a:rPr>
                              <m:t>𝑜𝑛</m:t>
                            </m:r>
                          </m:sub>
                        </m:sSub>
                      </m:den>
                    </m:f>
                  </m:oMath>
                </a14:m>
                <a:r>
                  <a:rPr lang="en-US" dirty="0"/>
                  <a:t> </a:t>
                </a:r>
                <a14:m>
                  <m:oMath xmlns:m="http://schemas.openxmlformats.org/officeDocument/2006/math">
                    <m:r>
                      <a:rPr lang="en-GB" i="1">
                        <a:latin typeface="Cambria Math" panose="02040503050406030204" pitchFamily="18" charset="0"/>
                        <a:ea typeface="SimSun" panose="02010600030101010101" pitchFamily="2" charset="-122"/>
                        <a:cs typeface="Times New Roman" panose="02020603050405020304" pitchFamily="18" charset="0"/>
                      </a:rPr>
                      <m:t>−1</m:t>
                    </m:r>
                  </m:oMath>
                </a14:m>
                <a:endParaRPr lang="en-US" dirty="0"/>
              </a:p>
            </p:txBody>
          </p:sp>
        </mc:Choice>
        <mc:Fallback xmlns="">
          <p:sp>
            <p:nvSpPr>
              <p:cNvPr id="6" name="TextBox 5">
                <a:extLst>
                  <a:ext uri="{FF2B5EF4-FFF2-40B4-BE49-F238E27FC236}">
                    <a16:creationId xmlns:a16="http://schemas.microsoft.com/office/drawing/2014/main" id="{BFA77217-B1D5-45B3-006B-6CF00535EB81}"/>
                  </a:ext>
                </a:extLst>
              </p:cNvPr>
              <p:cNvSpPr txBox="1">
                <a:spLocks noRot="1" noChangeAspect="1" noMove="1" noResize="1" noEditPoints="1" noAdjustHandles="1" noChangeArrowheads="1" noChangeShapeType="1" noTextEdit="1"/>
              </p:cNvSpPr>
              <p:nvPr/>
            </p:nvSpPr>
            <p:spPr>
              <a:xfrm>
                <a:off x="1943732" y="5012592"/>
                <a:ext cx="2243897" cy="53206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090C8E7-DC67-C8AA-E352-C23A691CAFB1}"/>
                  </a:ext>
                </a:extLst>
              </p:cNvPr>
              <p:cNvSpPr txBox="1"/>
              <p:nvPr/>
            </p:nvSpPr>
            <p:spPr>
              <a:xfrm>
                <a:off x="1203816" y="5707527"/>
                <a:ext cx="1334174" cy="532069"/>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b="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num>
                      <m:den>
                        <m:sSub>
                          <m:sSubPr>
                            <m:ctrlPr>
                              <a:rPr lang="en-US" i="1">
                                <a:latin typeface="Cambria Math" panose="02040503050406030204" pitchFamily="18" charset="0"/>
                              </a:rPr>
                            </m:ctrlPr>
                          </m:sSubPr>
                          <m:e>
                            <m:r>
                              <a:rPr lang="en-US" b="0" i="1">
                                <a:latin typeface="Cambria Math" panose="02040503050406030204" pitchFamily="18" charset="0"/>
                                <a:ea typeface="SimSun" panose="02010600030101010101" pitchFamily="2" charset="-122"/>
                                <a:cs typeface="Times New Roman" panose="02020603050405020304" pitchFamily="18" charset="0"/>
                              </a:rPr>
                              <m:t>𝑉</m:t>
                            </m:r>
                          </m:e>
                          <m:sub>
                            <m:r>
                              <a:rPr lang="en-GB" b="0" i="1">
                                <a:latin typeface="Cambria Math" panose="02040503050406030204" pitchFamily="18" charset="0"/>
                                <a:ea typeface="SimSun" panose="02010600030101010101" pitchFamily="2" charset="-122"/>
                                <a:cs typeface="Times New Roman" panose="02020603050405020304" pitchFamily="18" charset="0"/>
                              </a:rPr>
                              <m:t>𝑂𝑈𝑇</m:t>
                            </m:r>
                          </m:sub>
                        </m:sSub>
                      </m:den>
                    </m:f>
                    <m:r>
                      <a:rPr lang="en-US" sz="1800" b="0" i="1">
                        <a:effectLst/>
                        <a:latin typeface="Cambria Math" panose="02040503050406030204" pitchFamily="18" charset="0"/>
                        <a:ea typeface="SimSun" panose="02010600030101010101" pitchFamily="2" charset="-122"/>
                        <a:cs typeface="Times New Roman" panose="02020603050405020304" pitchFamily="18" charset="0"/>
                      </a:rPr>
                      <m:t> </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oMath>
                </a14:m>
                <a:r>
                  <a:rPr lang="en-US" dirty="0"/>
                  <a:t>=  </a:t>
                </a:r>
                <a14:m>
                  <m:oMath xmlns:m="http://schemas.openxmlformats.org/officeDocument/2006/math">
                    <m:f>
                      <m:fPr>
                        <m:ctrlPr>
                          <a:rPr lang="en-US" i="1">
                            <a:latin typeface="Cambria Math" panose="02040503050406030204" pitchFamily="18" charset="0"/>
                          </a:rPr>
                        </m:ctrlPr>
                      </m:fPr>
                      <m:num>
                        <m:r>
                          <a:rPr lang="en-GB" b="0" i="1" smtClean="0">
                            <a:latin typeface="Cambria Math" panose="02040503050406030204" pitchFamily="18" charset="0"/>
                          </a:rPr>
                          <m:t>𝑇</m:t>
                        </m:r>
                      </m:num>
                      <m:den>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b="0" i="1">
                                <a:latin typeface="Cambria Math" panose="02040503050406030204" pitchFamily="18" charset="0"/>
                                <a:ea typeface="SimSun" panose="02010600030101010101" pitchFamily="2" charset="-122"/>
                                <a:cs typeface="Times New Roman" panose="02020603050405020304" pitchFamily="18" charset="0"/>
                              </a:rPr>
                              <m:t>𝑡</m:t>
                            </m:r>
                          </m:e>
                          <m:sub>
                            <m:r>
                              <a:rPr lang="en-US" b="0" i="1">
                                <a:latin typeface="Cambria Math" panose="02040503050406030204" pitchFamily="18" charset="0"/>
                                <a:ea typeface="SimSun" panose="02010600030101010101" pitchFamily="2" charset="-122"/>
                                <a:cs typeface="Times New Roman" panose="02020603050405020304" pitchFamily="18" charset="0"/>
                              </a:rPr>
                              <m:t>𝑜𝑛</m:t>
                            </m:r>
                          </m:sub>
                        </m:sSub>
                      </m:den>
                    </m:f>
                  </m:oMath>
                </a14:m>
                <a:endParaRPr lang="en-US" dirty="0"/>
              </a:p>
            </p:txBody>
          </p:sp>
        </mc:Choice>
        <mc:Fallback xmlns="">
          <p:sp>
            <p:nvSpPr>
              <p:cNvPr id="7" name="TextBox 6">
                <a:extLst>
                  <a:ext uri="{FF2B5EF4-FFF2-40B4-BE49-F238E27FC236}">
                    <a16:creationId xmlns:a16="http://schemas.microsoft.com/office/drawing/2014/main" id="{A090C8E7-DC67-C8AA-E352-C23A691CAFB1}"/>
                  </a:ext>
                </a:extLst>
              </p:cNvPr>
              <p:cNvSpPr txBox="1">
                <a:spLocks noRot="1" noChangeAspect="1" noMove="1" noResize="1" noEditPoints="1" noAdjustHandles="1" noChangeArrowheads="1" noChangeShapeType="1" noTextEdit="1"/>
              </p:cNvSpPr>
              <p:nvPr/>
            </p:nvSpPr>
            <p:spPr>
              <a:xfrm>
                <a:off x="1203816" y="5707527"/>
                <a:ext cx="1334174" cy="53206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FF2C9CE-DE3A-2BAA-ECE2-4AD45A637911}"/>
                  </a:ext>
                </a:extLst>
              </p:cNvPr>
              <p:cNvSpPr txBox="1"/>
              <p:nvPr/>
            </p:nvSpPr>
            <p:spPr>
              <a:xfrm>
                <a:off x="3520542" y="5707528"/>
                <a:ext cx="1334174" cy="518475"/>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num>
                      <m:den>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𝐼𝑁</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oMath>
                </a14:m>
                <a:r>
                  <a:rPr lang="en-US" dirty="0"/>
                  <a:t>=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𝑡</m:t>
                            </m:r>
                          </m:e>
                          <m:sub>
                            <m:r>
                              <a:rPr lang="en-US" i="1">
                                <a:latin typeface="Cambria Math" panose="02040503050406030204" pitchFamily="18" charset="0"/>
                                <a:ea typeface="SimSun" panose="02010600030101010101" pitchFamily="2" charset="-122"/>
                                <a:cs typeface="Times New Roman" panose="02020603050405020304" pitchFamily="18" charset="0"/>
                              </a:rPr>
                              <m:t>𝑜𝑛</m:t>
                            </m:r>
                          </m:sub>
                        </m:sSub>
                      </m:num>
                      <m:den>
                        <m:r>
                          <a:rPr lang="en-GB" i="1">
                            <a:latin typeface="Cambria Math" panose="02040503050406030204" pitchFamily="18" charset="0"/>
                          </a:rPr>
                          <m:t>𝑇</m:t>
                        </m:r>
                      </m:den>
                    </m:f>
                  </m:oMath>
                </a14:m>
                <a:endParaRPr lang="en-US" dirty="0"/>
              </a:p>
            </p:txBody>
          </p:sp>
        </mc:Choice>
        <mc:Fallback xmlns="">
          <p:sp>
            <p:nvSpPr>
              <p:cNvPr id="8" name="TextBox 7">
                <a:extLst>
                  <a:ext uri="{FF2B5EF4-FFF2-40B4-BE49-F238E27FC236}">
                    <a16:creationId xmlns:a16="http://schemas.microsoft.com/office/drawing/2014/main" id="{0FF2C9CE-DE3A-2BAA-ECE2-4AD45A637911}"/>
                  </a:ext>
                </a:extLst>
              </p:cNvPr>
              <p:cNvSpPr txBox="1">
                <a:spLocks noRot="1" noChangeAspect="1" noMove="1" noResize="1" noEditPoints="1" noAdjustHandles="1" noChangeArrowheads="1" noChangeShapeType="1" noTextEdit="1"/>
              </p:cNvSpPr>
              <p:nvPr/>
            </p:nvSpPr>
            <p:spPr>
              <a:xfrm>
                <a:off x="3520542" y="5707528"/>
                <a:ext cx="1334174" cy="518475"/>
              </a:xfrm>
              <a:prstGeom prst="rect">
                <a:avLst/>
              </a:prstGeom>
              <a:blipFill>
                <a:blip r:embed="rId13"/>
                <a:stretch>
                  <a:fillRect b="-2381"/>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D32279A8-2CE5-F41E-8F0B-013D9CA5FAF5}"/>
              </a:ext>
            </a:extLst>
          </p:cNvPr>
          <p:cNvSpPr txBox="1"/>
          <p:nvPr/>
        </p:nvSpPr>
        <p:spPr>
          <a:xfrm>
            <a:off x="2751446" y="5788895"/>
            <a:ext cx="530469" cy="369332"/>
          </a:xfrm>
          <a:prstGeom prst="rect">
            <a:avLst/>
          </a:prstGeom>
          <a:noFill/>
        </p:spPr>
        <p:txBody>
          <a:bodyPr wrap="square">
            <a:spAutoFit/>
          </a:bodyPr>
          <a:lstStyle/>
          <a:p>
            <a:r>
              <a:rPr lang="en-US" sz="1800" dirty="0">
                <a:effectLst/>
                <a:latin typeface="Times New Roman" panose="02020603050405020304" pitchFamily="18" charset="0"/>
                <a:ea typeface="SimSun" panose="02010600030101010101" pitchFamily="2" charset="-122"/>
                <a:cs typeface="Times New Roman" panose="02020603050405020304" pitchFamily="18" charset="0"/>
              </a:rPr>
              <a:t>=&gt;</a:t>
            </a:r>
            <a:endParaRPr lang="en-US" dirty="0"/>
          </a:p>
        </p:txBody>
      </p:sp>
      <p:sp>
        <p:nvSpPr>
          <p:cNvPr id="11" name="TextBox 10">
            <a:extLst>
              <a:ext uri="{FF2B5EF4-FFF2-40B4-BE49-F238E27FC236}">
                <a16:creationId xmlns:a16="http://schemas.microsoft.com/office/drawing/2014/main" id="{7959DFEE-06AD-A569-0560-4E35790A4886}"/>
              </a:ext>
            </a:extLst>
          </p:cNvPr>
          <p:cNvSpPr txBox="1"/>
          <p:nvPr/>
        </p:nvSpPr>
        <p:spPr>
          <a:xfrm>
            <a:off x="5093343" y="5782099"/>
            <a:ext cx="530469" cy="369332"/>
          </a:xfrm>
          <a:prstGeom prst="rect">
            <a:avLst/>
          </a:prstGeom>
          <a:noFill/>
        </p:spPr>
        <p:txBody>
          <a:bodyPr wrap="square">
            <a:spAutoFit/>
          </a:bodyPr>
          <a:lstStyle/>
          <a:p>
            <a:r>
              <a:rPr lang="en-US" sz="1800" dirty="0">
                <a:effectLst/>
                <a:latin typeface="Times New Roman" panose="02020603050405020304" pitchFamily="18" charset="0"/>
                <a:ea typeface="SimSun" panose="02010600030101010101" pitchFamily="2" charset="-122"/>
                <a:cs typeface="Times New Roman" panose="02020603050405020304" pitchFamily="18" charset="0"/>
              </a:rPr>
              <a:t>=&gt;</a:t>
            </a:r>
            <a:endParaRPr lang="en-US"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FD66ACF-9800-C768-781E-A4B304E21B51}"/>
                  </a:ext>
                </a:extLst>
              </p:cNvPr>
              <p:cNvSpPr txBox="1"/>
              <p:nvPr/>
            </p:nvSpPr>
            <p:spPr>
              <a:xfrm>
                <a:off x="5706896" y="5676668"/>
                <a:ext cx="1334174" cy="518475"/>
              </a:xfrm>
              <a:prstGeom prst="rect">
                <a:avLst/>
              </a:prstGeom>
              <a:noFill/>
            </p:spPr>
            <p:txBody>
              <a:bodyPr wrap="square">
                <a:spAutoFit/>
              </a:bodyPr>
              <a:lstStyle/>
              <a:p>
                <a14:m>
                  <m:oMath xmlns:m="http://schemas.openxmlformats.org/officeDocument/2006/math">
                    <m:f>
                      <m:f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num>
                      <m:den>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𝐼𝑁</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oMath>
                </a14:m>
                <a:r>
                  <a:rPr lang="en-US" dirty="0"/>
                  <a:t>=</a:t>
                </a:r>
                <a14:m>
                  <m:oMath xmlns:m="http://schemas.openxmlformats.org/officeDocument/2006/math">
                    <m:r>
                      <a:rPr lang="en-GB" b="0" i="0" smtClean="0">
                        <a:latin typeface="Cambria Math" panose="02040503050406030204" pitchFamily="18" charset="0"/>
                      </a:rPr>
                      <m:t>  </m:t>
                    </m:r>
                    <m:r>
                      <a:rPr lang="en-GB" b="0" i="1" smtClean="0">
                        <a:latin typeface="Cambria Math" panose="02040503050406030204" pitchFamily="18" charset="0"/>
                      </a:rPr>
                      <m:t>𝐷</m:t>
                    </m:r>
                  </m:oMath>
                </a14:m>
                <a:endParaRPr lang="en-US" dirty="0"/>
              </a:p>
            </p:txBody>
          </p:sp>
        </mc:Choice>
        <mc:Fallback xmlns="">
          <p:sp>
            <p:nvSpPr>
              <p:cNvPr id="12" name="TextBox 11">
                <a:extLst>
                  <a:ext uri="{FF2B5EF4-FFF2-40B4-BE49-F238E27FC236}">
                    <a16:creationId xmlns:a16="http://schemas.microsoft.com/office/drawing/2014/main" id="{4FD66ACF-9800-C768-781E-A4B304E21B51}"/>
                  </a:ext>
                </a:extLst>
              </p:cNvPr>
              <p:cNvSpPr txBox="1">
                <a:spLocks noRot="1" noChangeAspect="1" noMove="1" noResize="1" noEditPoints="1" noAdjustHandles="1" noChangeArrowheads="1" noChangeShapeType="1" noTextEdit="1"/>
              </p:cNvSpPr>
              <p:nvPr/>
            </p:nvSpPr>
            <p:spPr>
              <a:xfrm>
                <a:off x="5706896" y="5676668"/>
                <a:ext cx="1334174" cy="518475"/>
              </a:xfrm>
              <a:prstGeom prst="rect">
                <a:avLst/>
              </a:prstGeom>
              <a:blipFill>
                <a:blip r:embed="rId14"/>
                <a:stretch>
                  <a:fillRect b="-117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4916B8E-4F82-8514-9E83-F388D6D3D91D}"/>
                  </a:ext>
                </a:extLst>
              </p:cNvPr>
              <p:cNvSpPr txBox="1"/>
              <p:nvPr/>
            </p:nvSpPr>
            <p:spPr>
              <a:xfrm>
                <a:off x="3455355" y="6358170"/>
                <a:ext cx="1820029" cy="369332"/>
              </a:xfrm>
              <a:prstGeom prst="rect">
                <a:avLst/>
              </a:prstGeom>
              <a:noFill/>
            </p:spPr>
            <p:txBody>
              <a:bodyPr wrap="square">
                <a:spAutoFit/>
              </a:bodyPr>
              <a:lstStyle/>
              <a:p>
                <a14:m>
                  <m:oMath xmlns:m="http://schemas.openxmlformats.org/officeDocument/2006/math">
                    <m:sSub>
                      <m:sSubPr>
                        <m:ctrlPr>
                          <a:rPr lang="en-US"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oMath>
                </a14:m>
                <a:r>
                  <a:rPr lang="en-US" b="1" dirty="0">
                    <a:solidFill>
                      <a:srgbClr val="FF0000"/>
                    </a:solidFill>
                  </a:rPr>
                  <a:t> =</a:t>
                </a:r>
                <a14:m>
                  <m:oMath xmlns:m="http://schemas.openxmlformats.org/officeDocument/2006/math">
                    <m:r>
                      <a:rPr lang="en-GB" b="1" i="0" smtClean="0">
                        <a:solidFill>
                          <a:srgbClr val="FF0000"/>
                        </a:solidFill>
                        <a:latin typeface="Cambria Math" panose="02040503050406030204" pitchFamily="18" charset="0"/>
                      </a:rPr>
                      <m:t>  </m:t>
                    </m:r>
                    <m:r>
                      <a:rPr lang="en-GB" b="1" i="1" smtClean="0">
                        <a:solidFill>
                          <a:srgbClr val="FF0000"/>
                        </a:solidFill>
                        <a:latin typeface="Cambria Math" panose="02040503050406030204" pitchFamily="18" charset="0"/>
                      </a:rPr>
                      <m:t>𝑫</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oMath>
                </a14:m>
                <a:endParaRPr lang="en-US" b="1" dirty="0">
                  <a:solidFill>
                    <a:srgbClr val="FF0000"/>
                  </a:solidFill>
                </a:endParaRPr>
              </a:p>
            </p:txBody>
          </p:sp>
        </mc:Choice>
        <mc:Fallback xmlns="">
          <p:sp>
            <p:nvSpPr>
              <p:cNvPr id="13" name="TextBox 12">
                <a:extLst>
                  <a:ext uri="{FF2B5EF4-FFF2-40B4-BE49-F238E27FC236}">
                    <a16:creationId xmlns:a16="http://schemas.microsoft.com/office/drawing/2014/main" id="{14916B8E-4F82-8514-9E83-F388D6D3D91D}"/>
                  </a:ext>
                </a:extLst>
              </p:cNvPr>
              <p:cNvSpPr txBox="1">
                <a:spLocks noRot="1" noChangeAspect="1" noMove="1" noResize="1" noEditPoints="1" noAdjustHandles="1" noChangeArrowheads="1" noChangeShapeType="1" noTextEdit="1"/>
              </p:cNvSpPr>
              <p:nvPr/>
            </p:nvSpPr>
            <p:spPr>
              <a:xfrm>
                <a:off x="3455355" y="6358170"/>
                <a:ext cx="1820029" cy="369332"/>
              </a:xfrm>
              <a:prstGeom prst="rect">
                <a:avLst/>
              </a:prstGeom>
              <a:blipFill>
                <a:blip r:embed="rId15"/>
                <a:stretch>
                  <a:fillRect t="-8197" b="-24590"/>
                </a:stretch>
              </a:blipFill>
            </p:spPr>
            <p:txBody>
              <a:bodyPr/>
              <a:lstStyle/>
              <a:p>
                <a:r>
                  <a:rPr lang="en-GB">
                    <a:noFill/>
                  </a:rPr>
                  <a:t> </a:t>
                </a:r>
              </a:p>
            </p:txBody>
          </p:sp>
        </mc:Fallback>
      </mc:AlternateContent>
    </p:spTree>
    <p:extLst>
      <p:ext uri="{BB962C8B-B14F-4D97-AF65-F5344CB8AC3E}">
        <p14:creationId xmlns:p14="http://schemas.microsoft.com/office/powerpoint/2010/main" val="77413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7" grpId="0"/>
      <p:bldP spid="2" grpId="0"/>
      <p:bldP spid="5" grpId="0"/>
      <p:bldP spid="6" grpId="0"/>
      <p:bldP spid="7" grpId="0"/>
      <p:bldP spid="8" grpId="0"/>
      <p:bldP spid="10" grpId="0"/>
      <p:bldP spid="11" grpId="0"/>
      <p:bldP spid="12"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DF5A5DE-CCB4-D62A-5565-41C63A1F3F6A}"/>
              </a:ext>
            </a:extLst>
          </p:cNvPr>
          <p:cNvSpPr txBox="1">
            <a:spLocks noChangeArrowheads="1"/>
          </p:cNvSpPr>
          <p:nvPr/>
        </p:nvSpPr>
        <p:spPr bwMode="auto">
          <a:xfrm>
            <a:off x="418907" y="107562"/>
            <a:ext cx="46538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Input ~ Output Power (Loss less system)</a:t>
            </a:r>
            <a:endParaRPr lang="en-US" altLang="en-US" sz="1800" b="1" u="sng" dirty="0"/>
          </a:p>
        </p:txBody>
      </p:sp>
      <p:grpSp>
        <p:nvGrpSpPr>
          <p:cNvPr id="6" name="Group 5">
            <a:extLst>
              <a:ext uri="{FF2B5EF4-FFF2-40B4-BE49-F238E27FC236}">
                <a16:creationId xmlns:a16="http://schemas.microsoft.com/office/drawing/2014/main" id="{7C232D11-A14E-F725-9230-D5033E9B11BE}"/>
              </a:ext>
            </a:extLst>
          </p:cNvPr>
          <p:cNvGrpSpPr/>
          <p:nvPr/>
        </p:nvGrpSpPr>
        <p:grpSpPr>
          <a:xfrm>
            <a:off x="53965" y="623154"/>
            <a:ext cx="9036069" cy="5889949"/>
            <a:chOff x="168910" y="292228"/>
            <a:chExt cx="9036069" cy="5889949"/>
          </a:xfrm>
        </p:grpSpPr>
        <p:pic>
          <p:nvPicPr>
            <p:cNvPr id="2" name="Picture 1">
              <a:extLst>
                <a:ext uri="{FF2B5EF4-FFF2-40B4-BE49-F238E27FC236}">
                  <a16:creationId xmlns:a16="http://schemas.microsoft.com/office/drawing/2014/main" id="{E1C5AE8B-1640-2F4E-B995-BF061EA17B13}"/>
                </a:ext>
              </a:extLst>
            </p:cNvPr>
            <p:cNvPicPr>
              <a:picLocks noChangeAspect="1"/>
            </p:cNvPicPr>
            <p:nvPr/>
          </p:nvPicPr>
          <p:blipFill>
            <a:blip r:embed="rId2"/>
            <a:stretch>
              <a:fillRect/>
            </a:stretch>
          </p:blipFill>
          <p:spPr>
            <a:xfrm>
              <a:off x="168910" y="292228"/>
              <a:ext cx="9036069" cy="5889949"/>
            </a:xfrm>
            <a:prstGeom prst="rect">
              <a:avLst/>
            </a:prstGeom>
          </p:spPr>
        </p:pic>
        <p:sp>
          <p:nvSpPr>
            <p:cNvPr id="4" name="TextBox 3">
              <a:extLst>
                <a:ext uri="{FF2B5EF4-FFF2-40B4-BE49-F238E27FC236}">
                  <a16:creationId xmlns:a16="http://schemas.microsoft.com/office/drawing/2014/main" id="{AB134EAD-14EC-D9A5-187F-4FFD270C2692}"/>
                </a:ext>
              </a:extLst>
            </p:cNvPr>
            <p:cNvSpPr txBox="1"/>
            <p:nvPr/>
          </p:nvSpPr>
          <p:spPr>
            <a:xfrm>
              <a:off x="1924594" y="5086783"/>
              <a:ext cx="209005" cy="338554"/>
            </a:xfrm>
            <a:prstGeom prst="rect">
              <a:avLst/>
            </a:prstGeom>
            <a:solidFill>
              <a:schemeClr val="bg1"/>
            </a:solidFill>
            <a:ln>
              <a:solidFill>
                <a:schemeClr val="bg1"/>
              </a:solidFill>
            </a:ln>
          </p:spPr>
          <p:txBody>
            <a:bodyPr wrap="square" rtlCol="0">
              <a:spAutoFit/>
            </a:bodyPr>
            <a:lstStyle/>
            <a:p>
              <a:r>
                <a:rPr lang="en-GB" sz="1600" b="1" i="1" dirty="0">
                  <a:latin typeface="Times New Roman" panose="02020603050405020304" pitchFamily="18" charset="0"/>
                  <a:cs typeface="Times New Roman" panose="02020603050405020304" pitchFamily="18" charset="0"/>
                </a:rPr>
                <a:t>D</a:t>
              </a:r>
            </a:p>
          </p:txBody>
        </p:sp>
        <p:sp>
          <p:nvSpPr>
            <p:cNvPr id="5" name="TextBox 4">
              <a:extLst>
                <a:ext uri="{FF2B5EF4-FFF2-40B4-BE49-F238E27FC236}">
                  <a16:creationId xmlns:a16="http://schemas.microsoft.com/office/drawing/2014/main" id="{984A9E58-20E1-6736-24E0-B33E9FCC3ACD}"/>
                </a:ext>
              </a:extLst>
            </p:cNvPr>
            <p:cNvSpPr txBox="1"/>
            <p:nvPr/>
          </p:nvSpPr>
          <p:spPr>
            <a:xfrm>
              <a:off x="5020495" y="5108554"/>
              <a:ext cx="209005" cy="338554"/>
            </a:xfrm>
            <a:prstGeom prst="rect">
              <a:avLst/>
            </a:prstGeom>
            <a:solidFill>
              <a:schemeClr val="bg1"/>
            </a:solidFill>
            <a:ln>
              <a:solidFill>
                <a:schemeClr val="bg1"/>
              </a:solidFill>
            </a:ln>
          </p:spPr>
          <p:txBody>
            <a:bodyPr wrap="square" rtlCol="0">
              <a:spAutoFit/>
            </a:bodyPr>
            <a:lstStyle/>
            <a:p>
              <a:r>
                <a:rPr lang="en-GB" sz="1600" b="1" i="1" dirty="0">
                  <a:latin typeface="Times New Roman" panose="02020603050405020304" pitchFamily="18" charset="0"/>
                  <a:cs typeface="Times New Roman" panose="02020603050405020304" pitchFamily="18" charset="0"/>
                </a:rPr>
                <a:t>D</a:t>
              </a:r>
            </a:p>
          </p:txBody>
        </p:sp>
      </p:grpSp>
    </p:spTree>
    <p:extLst>
      <p:ext uri="{BB962C8B-B14F-4D97-AF65-F5344CB8AC3E}">
        <p14:creationId xmlns:p14="http://schemas.microsoft.com/office/powerpoint/2010/main" val="1666511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DF5A5DE-CCB4-D62A-5565-41C63A1F3F6A}"/>
              </a:ext>
            </a:extLst>
          </p:cNvPr>
          <p:cNvSpPr txBox="1">
            <a:spLocks noChangeArrowheads="1"/>
          </p:cNvSpPr>
          <p:nvPr/>
        </p:nvSpPr>
        <p:spPr bwMode="auto">
          <a:xfrm>
            <a:off x="418907" y="107562"/>
            <a:ext cx="4685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Minimum and Maximum Inductor Current</a:t>
            </a:r>
            <a:endParaRPr lang="en-US" altLang="en-US" sz="1800" b="1" u="sng"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1A84408-D5D6-40F9-A6AA-4EBBF4B0ABD0}"/>
                  </a:ext>
                </a:extLst>
              </p:cNvPr>
              <p:cNvSpPr txBox="1"/>
              <p:nvPr/>
            </p:nvSpPr>
            <p:spPr>
              <a:xfrm>
                <a:off x="-68581" y="2293459"/>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𝑚𝑎𝑥</m:t>
                          </m:r>
                        </m:sub>
                      </m:sSub>
                      <m:r>
                        <a:rPr lang="en-GB" i="0">
                          <a:latin typeface="Cambria Math" panose="02040503050406030204" pitchFamily="18" charset="0"/>
                        </a:rPr>
                        <m:t>= </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𝑎𝑣𝑔</m:t>
                          </m:r>
                        </m:sub>
                      </m:sSub>
                      <m:r>
                        <a:rPr lang="en-GB" i="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r>
                        <a:rPr lang="en-GB" i="0">
                          <a:latin typeface="Cambria Math" panose="02040503050406030204" pitchFamily="18" charset="0"/>
                        </a:rPr>
                        <m:t> </m:t>
                      </m:r>
                    </m:oMath>
                  </m:oMathPara>
                </a14:m>
                <a:endParaRPr lang="en-GB" dirty="0"/>
              </a:p>
            </p:txBody>
          </p:sp>
        </mc:Choice>
        <mc:Fallback xmlns="">
          <p:sp>
            <p:nvSpPr>
              <p:cNvPr id="8" name="TextBox 7">
                <a:extLst>
                  <a:ext uri="{FF2B5EF4-FFF2-40B4-BE49-F238E27FC236}">
                    <a16:creationId xmlns:a16="http://schemas.microsoft.com/office/drawing/2014/main" id="{41A84408-D5D6-40F9-A6AA-4EBBF4B0ABD0}"/>
                  </a:ext>
                </a:extLst>
              </p:cNvPr>
              <p:cNvSpPr txBox="1">
                <a:spLocks noRot="1" noChangeAspect="1" noMove="1" noResize="1" noEditPoints="1" noAdjustHandles="1" noChangeArrowheads="1" noChangeShapeType="1" noTextEdit="1"/>
              </p:cNvSpPr>
              <p:nvPr/>
            </p:nvSpPr>
            <p:spPr>
              <a:xfrm>
                <a:off x="-68581" y="2293459"/>
                <a:ext cx="4572000" cy="628057"/>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2A2B9B-3FC8-10D3-9A37-43C57C0AB2BE}"/>
                  </a:ext>
                </a:extLst>
              </p:cNvPr>
              <p:cNvSpPr txBox="1"/>
              <p:nvPr/>
            </p:nvSpPr>
            <p:spPr>
              <a:xfrm>
                <a:off x="4640583" y="2293458"/>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𝑚𝑖𝑛</m:t>
                          </m:r>
                        </m:sub>
                      </m:sSub>
                      <m:r>
                        <a:rPr lang="en-GB" i="0">
                          <a:latin typeface="Cambria Math" panose="02040503050406030204" pitchFamily="18" charset="0"/>
                        </a:rPr>
                        <m:t>= </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𝑎𝑣𝑔</m:t>
                          </m:r>
                        </m:sub>
                      </m:sSub>
                      <m:r>
                        <a:rPr lang="en-GB" i="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oMath>
                  </m:oMathPara>
                </a14:m>
                <a:endParaRPr lang="en-GB" dirty="0"/>
              </a:p>
            </p:txBody>
          </p:sp>
        </mc:Choice>
        <mc:Fallback xmlns="">
          <p:sp>
            <p:nvSpPr>
              <p:cNvPr id="10" name="TextBox 9">
                <a:extLst>
                  <a:ext uri="{FF2B5EF4-FFF2-40B4-BE49-F238E27FC236}">
                    <a16:creationId xmlns:a16="http://schemas.microsoft.com/office/drawing/2014/main" id="{822A2B9B-3FC8-10D3-9A37-43C57C0AB2BE}"/>
                  </a:ext>
                </a:extLst>
              </p:cNvPr>
              <p:cNvSpPr txBox="1">
                <a:spLocks noRot="1" noChangeAspect="1" noMove="1" noResize="1" noEditPoints="1" noAdjustHandles="1" noChangeArrowheads="1" noChangeShapeType="1" noTextEdit="1"/>
              </p:cNvSpPr>
              <p:nvPr/>
            </p:nvSpPr>
            <p:spPr>
              <a:xfrm>
                <a:off x="4640583" y="2293458"/>
                <a:ext cx="4572000" cy="62805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85EA3EE-9D99-17D7-EDB0-DBBC45F511B3}"/>
                  </a:ext>
                </a:extLst>
              </p:cNvPr>
              <p:cNvSpPr txBox="1"/>
              <p:nvPr/>
            </p:nvSpPr>
            <p:spPr>
              <a:xfrm>
                <a:off x="246888" y="4473860"/>
                <a:ext cx="8513063" cy="944746"/>
              </a:xfrm>
              <a:prstGeom prst="rect">
                <a:avLst/>
              </a:prstGeom>
              <a:noFill/>
            </p:spPr>
            <p:txBody>
              <a:bodyPr wrap="square" rtlCol="0">
                <a:spAutoFit/>
              </a:bodyPr>
              <a:lstStyle/>
              <a:p>
                <a:pPr algn="just"/>
                <a:r>
                  <a:rPr lang="en-GB" dirty="0">
                    <a:solidFill>
                      <a:srgbClr val="FF0000"/>
                    </a:solidFill>
                  </a:rPr>
                  <a:t>Note: Since change in inductor current is zero, you can take </a:t>
                </a:r>
                <a14:m>
                  <m:oMath xmlns:m="http://schemas.openxmlformats.org/officeDocument/2006/math">
                    <m:sSub>
                      <m:sSubPr>
                        <m:ctrlPr>
                          <a:rPr lang="en-GB" i="1" smtClean="0">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i="0">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i="0">
                            <a:solidFill>
                              <a:srgbClr val="FF0000"/>
                            </a:solidFill>
                            <a:latin typeface="Cambria Math" panose="02040503050406030204" pitchFamily="18" charset="0"/>
                          </a:rPr>
                          <m:t> </m:t>
                        </m:r>
                        <m:r>
                          <a:rPr lang="en-GB" i="1">
                            <a:solidFill>
                              <a:srgbClr val="FF0000"/>
                            </a:solidFill>
                            <a:latin typeface="Cambria Math" panose="02040503050406030204" pitchFamily="18" charset="0"/>
                          </a:rPr>
                          <m:t>𝑐𝑙𝑜𝑠𝑒𝑑</m:t>
                        </m:r>
                      </m:sub>
                    </m:sSub>
                  </m:oMath>
                </a14:m>
                <a:r>
                  <a:rPr lang="en-GB" dirty="0">
                    <a:solidFill>
                      <a:srgbClr val="FF0000"/>
                    </a:solidFill>
                  </a:rPr>
                  <a:t> or </a:t>
                </a:r>
                <a14:m>
                  <m:oMath xmlns:m="http://schemas.openxmlformats.org/officeDocument/2006/math">
                    <m:sSub>
                      <m:sSubPr>
                        <m:ctrlPr>
                          <a:rPr lang="en-GB" i="1">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a:solidFill>
                              <a:srgbClr val="FF0000"/>
                            </a:solidFill>
                            <a:latin typeface="Cambria Math" panose="02040503050406030204" pitchFamily="18" charset="0"/>
                          </a:rPr>
                          <m:t> </m:t>
                        </m:r>
                        <m:r>
                          <a:rPr lang="en-GB" b="0" i="1" smtClean="0">
                            <a:solidFill>
                              <a:srgbClr val="FF0000"/>
                            </a:solidFill>
                            <a:latin typeface="Cambria Math" panose="02040503050406030204" pitchFamily="18" charset="0"/>
                          </a:rPr>
                          <m:t>𝑜𝑝𝑒𝑛</m:t>
                        </m:r>
                      </m:sub>
                    </m:sSub>
                  </m:oMath>
                </a14:m>
                <a:r>
                  <a:rPr lang="en-GB" dirty="0">
                    <a:solidFill>
                      <a:srgbClr val="FF0000"/>
                    </a:solidFill>
                  </a:rPr>
                  <a:t>  to calculate max and min current. You need to consider the sign of the current.</a:t>
                </a:r>
              </a:p>
            </p:txBody>
          </p:sp>
        </mc:Choice>
        <mc:Fallback xmlns="">
          <p:sp>
            <p:nvSpPr>
              <p:cNvPr id="11" name="TextBox 10">
                <a:extLst>
                  <a:ext uri="{FF2B5EF4-FFF2-40B4-BE49-F238E27FC236}">
                    <a16:creationId xmlns:a16="http://schemas.microsoft.com/office/drawing/2014/main" id="{785EA3EE-9D99-17D7-EDB0-DBBC45F511B3}"/>
                  </a:ext>
                </a:extLst>
              </p:cNvPr>
              <p:cNvSpPr txBox="1">
                <a:spLocks noRot="1" noChangeAspect="1" noMove="1" noResize="1" noEditPoints="1" noAdjustHandles="1" noChangeArrowheads="1" noChangeShapeType="1" noTextEdit="1"/>
              </p:cNvSpPr>
              <p:nvPr/>
            </p:nvSpPr>
            <p:spPr>
              <a:xfrm>
                <a:off x="246888" y="4473860"/>
                <a:ext cx="8513063" cy="944746"/>
              </a:xfrm>
              <a:prstGeom prst="rect">
                <a:avLst/>
              </a:prstGeom>
              <a:blipFill>
                <a:blip r:embed="rId4"/>
                <a:stretch>
                  <a:fillRect l="-645" t="-3871" r="-573" b="-96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817CB2-DA02-DE20-684E-1C2F9D9C66FE}"/>
                  </a:ext>
                </a:extLst>
              </p:cNvPr>
              <p:cNvSpPr txBox="1"/>
              <p:nvPr/>
            </p:nvSpPr>
            <p:spPr>
              <a:xfrm>
                <a:off x="1333675" y="1052040"/>
                <a:ext cx="4617720" cy="6662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a:latin typeface="Cambria Math" panose="02040503050406030204" pitchFamily="18" charset="0"/>
                            </a:rPr>
                            <m:t>,</m:t>
                          </m:r>
                          <m:r>
                            <a:rPr lang="en-GB" i="1">
                              <a:latin typeface="Cambria Math" panose="02040503050406030204" pitchFamily="18" charset="0"/>
                            </a:rPr>
                            <m:t>𝑎𝑣𝑔</m:t>
                          </m:r>
                        </m:sub>
                      </m:sSub>
                      <m:r>
                        <a:rPr lang="en-GB" b="0" i="0" smtClean="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𝑂𝑈𝑇</m:t>
                              </m:r>
                            </m:sub>
                          </m:sSub>
                        </m:num>
                        <m:den>
                          <m:r>
                            <m:rPr>
                              <m:sty m:val="p"/>
                            </m:rPr>
                            <a:rPr lang="en-GB" b="0" i="0" smtClean="0">
                              <a:latin typeface="Cambria Math" panose="02040503050406030204" pitchFamily="18" charset="0"/>
                            </a:rPr>
                            <m:t>R</m:t>
                          </m:r>
                        </m:den>
                      </m:f>
                      <m:r>
                        <a:rPr lang="en-GB" b="0" i="1" smtClean="0">
                          <a:latin typeface="Cambria Math" panose="02040503050406030204" pitchFamily="18" charset="0"/>
                        </a:rPr>
                        <m:t> </m:t>
                      </m:r>
                      <m:r>
                        <a:rPr lang="en-GB" b="0" i="1" smtClean="0">
                          <a:latin typeface="Cambria Math" panose="02040503050406030204" pitchFamily="18" charset="0"/>
                        </a:rPr>
                        <m:t>𝑜𝑟</m:t>
                      </m:r>
                      <m:r>
                        <a:rPr lang="en-GB" b="0" i="1" smtClean="0">
                          <a:latin typeface="Cambria Math" panose="02040503050406030204" pitchFamily="18" charset="0"/>
                        </a:rPr>
                        <m:t> </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b="0" i="1" smtClean="0">
                                  <a:latin typeface="Cambria Math" panose="02040503050406030204" pitchFamily="18" charset="0"/>
                                </a:rPr>
                                <m:t>𝑃𝑜𝑤𝑒𝑟</m:t>
                              </m:r>
                            </m:e>
                            <m:sub>
                              <m:r>
                                <a:rPr lang="en-GB" b="0" i="1" smtClean="0">
                                  <a:latin typeface="Cambria Math" panose="02040503050406030204" pitchFamily="18" charset="0"/>
                                </a:rPr>
                                <m:t>𝑎𝑣𝑔</m:t>
                              </m:r>
                              <m:r>
                                <a:rPr lang="en-GB" b="0" i="1" smtClean="0">
                                  <a:latin typeface="Cambria Math" panose="02040503050406030204" pitchFamily="18" charset="0"/>
                                </a:rPr>
                                <m:t>,</m:t>
                              </m:r>
                              <m:r>
                                <a:rPr lang="en-GB" i="1">
                                  <a:latin typeface="Cambria Math" panose="02040503050406030204" pitchFamily="18" charset="0"/>
                                </a:rPr>
                                <m:t>𝑂𝑈𝑇</m:t>
                              </m:r>
                            </m:sub>
                          </m:sSub>
                        </m:num>
                        <m:den>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den>
                      </m:f>
                      <m:r>
                        <a:rPr lang="en-GB" i="1">
                          <a:latin typeface="Cambria Math" panose="02040503050406030204" pitchFamily="18" charset="0"/>
                        </a:rPr>
                        <m:t> </m:t>
                      </m:r>
                    </m:oMath>
                  </m:oMathPara>
                </a14:m>
                <a:endParaRPr lang="en-GB" dirty="0"/>
              </a:p>
            </p:txBody>
          </p:sp>
        </mc:Choice>
        <mc:Fallback xmlns="">
          <p:sp>
            <p:nvSpPr>
              <p:cNvPr id="13" name="TextBox 12">
                <a:extLst>
                  <a:ext uri="{FF2B5EF4-FFF2-40B4-BE49-F238E27FC236}">
                    <a16:creationId xmlns:a16="http://schemas.microsoft.com/office/drawing/2014/main" id="{5E817CB2-DA02-DE20-684E-1C2F9D9C66FE}"/>
                  </a:ext>
                </a:extLst>
              </p:cNvPr>
              <p:cNvSpPr txBox="1">
                <a:spLocks noRot="1" noChangeAspect="1" noMove="1" noResize="1" noEditPoints="1" noAdjustHandles="1" noChangeArrowheads="1" noChangeShapeType="1" noTextEdit="1"/>
              </p:cNvSpPr>
              <p:nvPr/>
            </p:nvSpPr>
            <p:spPr>
              <a:xfrm>
                <a:off x="1333675" y="1052040"/>
                <a:ext cx="4617720" cy="666273"/>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1793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2">
            <a:extLst>
              <a:ext uri="{FF2B5EF4-FFF2-40B4-BE49-F238E27FC236}">
                <a16:creationId xmlns:a16="http://schemas.microsoft.com/office/drawing/2014/main" id="{8B1D535C-7AD7-4B9F-018D-48BAEA6CDDFB}"/>
              </a:ext>
            </a:extLst>
          </p:cNvPr>
          <p:cNvSpPr txBox="1">
            <a:spLocks noChangeArrowheads="1"/>
          </p:cNvSpPr>
          <p:nvPr/>
        </p:nvSpPr>
        <p:spPr bwMode="auto">
          <a:xfrm>
            <a:off x="107950" y="115888"/>
            <a:ext cx="44635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Buck converter Output Voltage Ripples</a:t>
            </a:r>
            <a:endParaRPr lang="en-US" altLang="en-US" sz="1800" b="1" u="sng" dirty="0"/>
          </a:p>
        </p:txBody>
      </p:sp>
      <p:sp>
        <p:nvSpPr>
          <p:cNvPr id="4" name="TextBox 3">
            <a:extLst>
              <a:ext uri="{FF2B5EF4-FFF2-40B4-BE49-F238E27FC236}">
                <a16:creationId xmlns:a16="http://schemas.microsoft.com/office/drawing/2014/main" id="{043E728C-7403-68D5-E381-03526F644FF5}"/>
              </a:ext>
            </a:extLst>
          </p:cNvPr>
          <p:cNvSpPr txBox="1"/>
          <p:nvPr/>
        </p:nvSpPr>
        <p:spPr>
          <a:xfrm>
            <a:off x="118473" y="498723"/>
            <a:ext cx="8917577" cy="1200329"/>
          </a:xfrm>
          <a:prstGeom prst="rect">
            <a:avLst/>
          </a:prstGeom>
          <a:noFill/>
        </p:spPr>
        <p:txBody>
          <a:bodyPr wrap="square">
            <a:spAutoFit/>
          </a:bodyPr>
          <a:lstStyle/>
          <a:p>
            <a:pPr marL="285750" indent="-285750">
              <a:buFont typeface="Arial" panose="020B0604020202020204" pitchFamily="34" charset="0"/>
              <a:buChar char="•"/>
            </a:pPr>
            <a:r>
              <a:rPr lang="en-GB" dirty="0"/>
              <a:t>So far, the capacitor was assumed to be very large to keep the output voltage constant. </a:t>
            </a:r>
          </a:p>
          <a:p>
            <a:pPr marL="285750" indent="-285750">
              <a:buFont typeface="Arial" panose="020B0604020202020204" pitchFamily="34" charset="0"/>
              <a:buChar char="•"/>
            </a:pPr>
            <a:r>
              <a:rPr lang="en-GB" dirty="0"/>
              <a:t>In practice, the output voltage cannot be kept perfectly constant with a finite capacitance. </a:t>
            </a:r>
          </a:p>
          <a:p>
            <a:pPr marL="285750" indent="-285750">
              <a:buFont typeface="Arial" panose="020B0604020202020204" pitchFamily="34" charset="0"/>
              <a:buChar char="•"/>
            </a:pPr>
            <a:r>
              <a:rPr lang="en-GB" dirty="0"/>
              <a:t>The variation in output voltage, </a:t>
            </a:r>
            <a:r>
              <a:rPr lang="en-GB" b="1" dirty="0">
                <a:solidFill>
                  <a:srgbClr val="FF0000"/>
                </a:solidFill>
              </a:rPr>
              <a:t>or ripple</a:t>
            </a:r>
            <a:r>
              <a:rPr lang="en-GB" dirty="0"/>
              <a:t>, is computed from the voltage-current relationship of the capacitor.</a:t>
            </a:r>
          </a:p>
        </p:txBody>
      </p:sp>
      <p:pic>
        <p:nvPicPr>
          <p:cNvPr id="7" name="Picture 6">
            <a:extLst>
              <a:ext uri="{FF2B5EF4-FFF2-40B4-BE49-F238E27FC236}">
                <a16:creationId xmlns:a16="http://schemas.microsoft.com/office/drawing/2014/main" id="{373CCB16-7285-2C6C-BFCE-7800BA12A650}"/>
              </a:ext>
            </a:extLst>
          </p:cNvPr>
          <p:cNvPicPr>
            <a:picLocks noChangeAspect="1"/>
          </p:cNvPicPr>
          <p:nvPr/>
        </p:nvPicPr>
        <p:blipFill>
          <a:blip r:embed="rId2"/>
          <a:stretch>
            <a:fillRect/>
          </a:stretch>
        </p:blipFill>
        <p:spPr>
          <a:xfrm>
            <a:off x="1459134" y="1774965"/>
            <a:ext cx="1555446" cy="481775"/>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16C181B-DBB8-7F1C-83A6-E9BC4CC89D3A}"/>
                  </a:ext>
                </a:extLst>
              </p:cNvPr>
              <p:cNvSpPr txBox="1"/>
              <p:nvPr/>
            </p:nvSpPr>
            <p:spPr>
              <a:xfrm>
                <a:off x="171649" y="2273882"/>
                <a:ext cx="2065208" cy="4001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r>
                        <m:rPr>
                          <m:sty m:val="p"/>
                        </m:rPr>
                        <a:rPr lang="en-GB" sz="2000" b="0" i="0" smtClean="0">
                          <a:latin typeface="Cambria Math" panose="02040503050406030204" pitchFamily="18" charset="0"/>
                        </a:rPr>
                        <m:t>Q</m:t>
                      </m:r>
                      <m:r>
                        <a:rPr lang="en-GB" sz="2000" b="0" i="0" smtClean="0">
                          <a:latin typeface="Cambria Math" panose="02040503050406030204" pitchFamily="18" charset="0"/>
                        </a:rPr>
                        <m:t>=  </m:t>
                      </m:r>
                      <m:r>
                        <m:rPr>
                          <m:sty m:val="p"/>
                        </m:rPr>
                        <a:rPr lang="en-GB" sz="2000" b="0" i="0" smtClean="0">
                          <a:latin typeface="Cambria Math" panose="02040503050406030204" pitchFamily="18" charset="0"/>
                        </a:rPr>
                        <m:t>C</m:t>
                      </m:r>
                      <m:r>
                        <a:rPr lang="en-GB" sz="2000" b="0" i="0" smtClean="0">
                          <a:latin typeface="Cambria Math" panose="02040503050406030204" pitchFamily="18" charset="0"/>
                        </a:rPr>
                        <m:t> ∆</m:t>
                      </m:r>
                      <m:sSub>
                        <m:sSubPr>
                          <m:ctrlPr>
                            <a:rPr lang="en-US" sz="2000" i="1">
                              <a:solidFill>
                                <a:srgbClr val="836967"/>
                              </a:solidFill>
                              <a:latin typeface="Cambria Math" panose="02040503050406030204" pitchFamily="18" charset="0"/>
                            </a:rPr>
                          </m:ctrlPr>
                        </m:sSubPr>
                        <m:e>
                          <m:r>
                            <a:rPr lang="en-GB" sz="2000" b="0" i="1" smtClean="0">
                              <a:latin typeface="Cambria Math" panose="02040503050406030204" pitchFamily="18" charset="0"/>
                            </a:rPr>
                            <m:t>𝑉</m:t>
                          </m:r>
                        </m:e>
                        <m:sub>
                          <m:r>
                            <a:rPr lang="en-GB" sz="2000" b="0" i="1" smtClean="0">
                              <a:latin typeface="Cambria Math" panose="02040503050406030204" pitchFamily="18" charset="0"/>
                            </a:rPr>
                            <m:t>𝑂𝑈𝑇</m:t>
                          </m:r>
                        </m:sub>
                      </m:sSub>
                    </m:oMath>
                  </m:oMathPara>
                </a14:m>
                <a:endParaRPr lang="en-GB" sz="2000" dirty="0"/>
              </a:p>
            </p:txBody>
          </p:sp>
        </mc:Choice>
        <mc:Fallback xmlns="">
          <p:sp>
            <p:nvSpPr>
              <p:cNvPr id="20" name="TextBox 19">
                <a:extLst>
                  <a:ext uri="{FF2B5EF4-FFF2-40B4-BE49-F238E27FC236}">
                    <a16:creationId xmlns:a16="http://schemas.microsoft.com/office/drawing/2014/main" id="{B16C181B-DBB8-7F1C-83A6-E9BC4CC89D3A}"/>
                  </a:ext>
                </a:extLst>
              </p:cNvPr>
              <p:cNvSpPr txBox="1">
                <a:spLocks noRot="1" noChangeAspect="1" noMove="1" noResize="1" noEditPoints="1" noAdjustHandles="1" noChangeArrowheads="1" noChangeShapeType="1" noTextEdit="1"/>
              </p:cNvSpPr>
              <p:nvPr/>
            </p:nvSpPr>
            <p:spPr>
              <a:xfrm>
                <a:off x="171649" y="2273882"/>
                <a:ext cx="2065208" cy="400110"/>
              </a:xfrm>
              <a:prstGeom prst="rect">
                <a:avLst/>
              </a:prstGeom>
              <a:blipFill>
                <a:blip r:embed="rId3"/>
                <a:stretch>
                  <a:fillRect b="-8824"/>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66C624C-1F99-8561-33A4-FFB63EE9D766}"/>
                  </a:ext>
                </a:extLst>
              </p:cNvPr>
              <p:cNvSpPr txBox="1"/>
              <p:nvPr/>
            </p:nvSpPr>
            <p:spPr>
              <a:xfrm>
                <a:off x="307734" y="2956019"/>
                <a:ext cx="3403453" cy="670568"/>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sub>
                      </m:sSub>
                      <m:r>
                        <a:rPr lang="en-GB" sz="2000" b="0" i="0" smtClean="0">
                          <a:latin typeface="Cambria Math" panose="02040503050406030204" pitchFamily="18" charset="0"/>
                        </a:rPr>
                        <m:t>=</m:t>
                      </m:r>
                      <m:f>
                        <m:fPr>
                          <m:ctrlPr>
                            <a:rPr lang="en-US" sz="2000" i="1" smtClean="0">
                              <a:solidFill>
                                <a:srgbClr val="00B050"/>
                              </a:solidFill>
                              <a:latin typeface="Cambria Math" panose="02040503050406030204" pitchFamily="18" charset="0"/>
                            </a:rPr>
                          </m:ctrlPr>
                        </m:fPr>
                        <m:num>
                          <m:r>
                            <a:rPr lang="en-GB" sz="2000" b="0" i="1" smtClean="0">
                              <a:solidFill>
                                <a:srgbClr val="00B050"/>
                              </a:solidFill>
                              <a:latin typeface="Cambria Math" panose="02040503050406030204" pitchFamily="18" charset="0"/>
                            </a:rPr>
                            <m:t>1</m:t>
                          </m:r>
                        </m:num>
                        <m:den>
                          <m:r>
                            <a:rPr lang="en-GB" sz="2000" b="0" i="1" smtClean="0">
                              <a:solidFill>
                                <a:srgbClr val="00B050"/>
                              </a:solidFill>
                              <a:latin typeface="Cambria Math" panose="02040503050406030204" pitchFamily="18" charset="0"/>
                              <a:ea typeface="SimSun" panose="02010600030101010101" pitchFamily="2" charset="-122"/>
                              <a:cs typeface="Times New Roman" panose="02020603050405020304" pitchFamily="18" charset="0"/>
                            </a:rPr>
                            <m:t>2</m:t>
                          </m:r>
                        </m:den>
                      </m:f>
                      <m:r>
                        <a:rPr lang="en-US" sz="2000" i="1">
                          <a:solidFill>
                            <a:srgbClr val="00B050"/>
                          </a:solidFill>
                          <a:latin typeface="Cambria Math" panose="02040503050406030204" pitchFamily="18" charset="0"/>
                          <a:ea typeface="SimSun" panose="02010600030101010101" pitchFamily="2" charset="-122"/>
                          <a:cs typeface="Times New Roman" panose="02020603050405020304" pitchFamily="18" charset="0"/>
                        </a:rPr>
                        <m:t>×</m:t>
                      </m:r>
                      <m:f>
                        <m:fPr>
                          <m:ctrlPr>
                            <a:rPr lang="en-US" sz="2000" i="1">
                              <a:solidFill>
                                <a:srgbClr val="00B050"/>
                              </a:solidFill>
                              <a:latin typeface="Cambria Math" panose="02040503050406030204" pitchFamily="18" charset="0"/>
                            </a:rPr>
                          </m:ctrlPr>
                        </m:fPr>
                        <m:num>
                          <m:r>
                            <a:rPr lang="en-GB" sz="2000" b="0" i="1" smtClean="0">
                              <a:solidFill>
                                <a:srgbClr val="00B050"/>
                              </a:solidFill>
                              <a:latin typeface="Cambria Math" panose="02040503050406030204" pitchFamily="18" charset="0"/>
                            </a:rPr>
                            <m:t>𝑇</m:t>
                          </m:r>
                        </m:num>
                        <m:den>
                          <m:r>
                            <a:rPr lang="en-GB" sz="2000" i="1">
                              <a:solidFill>
                                <a:srgbClr val="00B050"/>
                              </a:solidFill>
                              <a:latin typeface="Cambria Math" panose="02040503050406030204" pitchFamily="18" charset="0"/>
                              <a:ea typeface="SimSun" panose="02010600030101010101" pitchFamily="2" charset="-122"/>
                              <a:cs typeface="Times New Roman" panose="02020603050405020304" pitchFamily="18" charset="0"/>
                            </a:rPr>
                            <m:t>2</m:t>
                          </m:r>
                        </m:den>
                      </m:f>
                      <m:r>
                        <a:rPr lang="en-US" sz="2000" i="1">
                          <a:solidFill>
                            <a:srgbClr val="00B050"/>
                          </a:solidFill>
                          <a:latin typeface="Cambria Math" panose="02040503050406030204" pitchFamily="18" charset="0"/>
                          <a:ea typeface="SimSun" panose="02010600030101010101" pitchFamily="2" charset="-122"/>
                          <a:cs typeface="Times New Roman" panose="02020603050405020304" pitchFamily="18" charset="0"/>
                        </a:rPr>
                        <m:t>×</m:t>
                      </m:r>
                      <m:f>
                        <m:fPr>
                          <m:ctrlPr>
                            <a:rPr lang="en-US" sz="2000" i="1">
                              <a:solidFill>
                                <a:srgbClr val="00B050"/>
                              </a:solidFill>
                              <a:latin typeface="Cambria Math" panose="02040503050406030204" pitchFamily="18" charset="0"/>
                            </a:rPr>
                          </m:ctrlPr>
                        </m:fPr>
                        <m:num>
                          <m:r>
                            <a:rPr lang="en-US" sz="2000">
                              <a:solidFill>
                                <a:srgbClr val="00B050"/>
                              </a:solidFill>
                              <a:latin typeface="Cambria Math" panose="02040503050406030204" pitchFamily="18" charset="0"/>
                            </a:rPr>
                            <m:t>∆</m:t>
                          </m:r>
                          <m:sSub>
                            <m:sSubPr>
                              <m:ctrlPr>
                                <a:rPr lang="en-US" sz="2000" i="1">
                                  <a:solidFill>
                                    <a:srgbClr val="00B050"/>
                                  </a:solidFill>
                                  <a:latin typeface="Cambria Math" panose="02040503050406030204" pitchFamily="18" charset="0"/>
                                </a:rPr>
                              </m:ctrlPr>
                            </m:sSubPr>
                            <m:e>
                              <m:r>
                                <a:rPr lang="en-GB" sz="2000" i="1">
                                  <a:solidFill>
                                    <a:srgbClr val="00B050"/>
                                  </a:solidFill>
                                  <a:latin typeface="Cambria Math" panose="02040503050406030204" pitchFamily="18" charset="0"/>
                                </a:rPr>
                                <m:t>𝐼</m:t>
                              </m:r>
                            </m:e>
                            <m:sub>
                              <m:r>
                                <a:rPr lang="en-GB" sz="2000" i="1">
                                  <a:solidFill>
                                    <a:srgbClr val="00B050"/>
                                  </a:solidFill>
                                  <a:latin typeface="Cambria Math" panose="02040503050406030204" pitchFamily="18" charset="0"/>
                                </a:rPr>
                                <m:t>𝐿</m:t>
                              </m:r>
                            </m:sub>
                          </m:sSub>
                        </m:num>
                        <m:den>
                          <m:r>
                            <a:rPr lang="en-GB" sz="2000" i="1">
                              <a:solidFill>
                                <a:srgbClr val="00B050"/>
                              </a:solidFill>
                              <a:latin typeface="Cambria Math" panose="02040503050406030204" pitchFamily="18" charset="0"/>
                              <a:ea typeface="SimSun" panose="02010600030101010101" pitchFamily="2" charset="-122"/>
                              <a:cs typeface="Times New Roman" panose="02020603050405020304" pitchFamily="18" charset="0"/>
                            </a:rPr>
                            <m:t>2</m:t>
                          </m:r>
                        </m:den>
                      </m:f>
                      <m:r>
                        <a:rPr lang="en-US" sz="2000" i="1">
                          <a:latin typeface="Cambria Math" panose="02040503050406030204" pitchFamily="18" charset="0"/>
                          <a:ea typeface="SimSun" panose="02010600030101010101" pitchFamily="2" charset="-122"/>
                          <a:cs typeface="Times New Roman" panose="02020603050405020304" pitchFamily="18" charset="0"/>
                        </a:rPr>
                        <m:t>×</m:t>
                      </m:r>
                      <m:f>
                        <m:fPr>
                          <m:ctrlPr>
                            <a:rPr lang="en-US" sz="2000" i="1" smtClean="0">
                              <a:solidFill>
                                <a:srgbClr val="4D2CFA"/>
                              </a:solidFill>
                              <a:latin typeface="Cambria Math" panose="02040503050406030204" pitchFamily="18" charset="0"/>
                            </a:rPr>
                          </m:ctrlPr>
                        </m:fPr>
                        <m:num>
                          <m:r>
                            <a:rPr lang="en-GB" sz="2000" i="1">
                              <a:solidFill>
                                <a:srgbClr val="4D2CFA"/>
                              </a:solidFill>
                              <a:latin typeface="Cambria Math" panose="02040503050406030204" pitchFamily="18" charset="0"/>
                            </a:rPr>
                            <m:t>1</m:t>
                          </m:r>
                        </m:num>
                        <m:den>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21" name="TextBox 20">
                <a:extLst>
                  <a:ext uri="{FF2B5EF4-FFF2-40B4-BE49-F238E27FC236}">
                    <a16:creationId xmlns:a16="http://schemas.microsoft.com/office/drawing/2014/main" id="{666C624C-1F99-8561-33A4-FFB63EE9D766}"/>
                  </a:ext>
                </a:extLst>
              </p:cNvPr>
              <p:cNvSpPr txBox="1">
                <a:spLocks noRot="1" noChangeAspect="1" noMove="1" noResize="1" noEditPoints="1" noAdjustHandles="1" noChangeArrowheads="1" noChangeShapeType="1" noTextEdit="1"/>
              </p:cNvSpPr>
              <p:nvPr/>
            </p:nvSpPr>
            <p:spPr>
              <a:xfrm>
                <a:off x="307734" y="2956019"/>
                <a:ext cx="3403453" cy="670568"/>
              </a:xfrm>
              <a:prstGeom prst="rect">
                <a:avLst/>
              </a:prstGeom>
              <a:blipFill>
                <a:blip r:embed="rId4"/>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B37E336-F700-E3A3-2735-4BF2ABB3ABC0}"/>
                  </a:ext>
                </a:extLst>
              </p:cNvPr>
              <p:cNvSpPr txBox="1"/>
              <p:nvPr/>
            </p:nvSpPr>
            <p:spPr>
              <a:xfrm>
                <a:off x="2175943" y="2139549"/>
                <a:ext cx="2134466" cy="66652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sub>
                      </m:sSub>
                      <m:r>
                        <a:rPr lang="en-GB" sz="2000" b="0" i="0" smtClean="0">
                          <a:latin typeface="Cambria Math" panose="02040503050406030204" pitchFamily="18" charset="0"/>
                        </a:rPr>
                        <m:t>=</m:t>
                      </m:r>
                      <m:f>
                        <m:fPr>
                          <m:ctrlPr>
                            <a:rPr lang="en-US" sz="2000" i="1">
                              <a:latin typeface="Cambria Math" panose="02040503050406030204" pitchFamily="18" charset="0"/>
                            </a:rPr>
                          </m:ctrlPr>
                        </m:fPr>
                        <m:num>
                          <m:r>
                            <a:rPr lang="en-US" sz="2000" smtClean="0">
                              <a:solidFill>
                                <a:srgbClr val="00B050"/>
                              </a:solidFill>
                              <a:latin typeface="Cambria Math" panose="02040503050406030204" pitchFamily="18" charset="0"/>
                            </a:rPr>
                            <m:t>∆</m:t>
                          </m:r>
                          <m:r>
                            <m:rPr>
                              <m:sty m:val="p"/>
                            </m:rPr>
                            <a:rPr lang="en-GB" sz="2000">
                              <a:solidFill>
                                <a:srgbClr val="00B050"/>
                              </a:solidFill>
                              <a:latin typeface="Cambria Math" panose="02040503050406030204" pitchFamily="18" charset="0"/>
                            </a:rPr>
                            <m:t>Q</m:t>
                          </m:r>
                        </m:num>
                        <m:den>
                          <m:r>
                            <m:rPr>
                              <m:sty m:val="p"/>
                            </m:rPr>
                            <a:rPr lang="en-GB" sz="2000" smtClean="0">
                              <a:solidFill>
                                <a:srgbClr val="4D2CFA"/>
                              </a:solidFill>
                              <a:latin typeface="Cambria Math" panose="02040503050406030204" pitchFamily="18" charset="0"/>
                            </a:rPr>
                            <m:t>C</m:t>
                          </m:r>
                        </m:den>
                      </m:f>
                    </m:oMath>
                  </m:oMathPara>
                </a14:m>
                <a:endParaRPr lang="en-GB" sz="2000" dirty="0"/>
              </a:p>
            </p:txBody>
          </p:sp>
        </mc:Choice>
        <mc:Fallback xmlns="">
          <p:sp>
            <p:nvSpPr>
              <p:cNvPr id="22" name="TextBox 21">
                <a:extLst>
                  <a:ext uri="{FF2B5EF4-FFF2-40B4-BE49-F238E27FC236}">
                    <a16:creationId xmlns:a16="http://schemas.microsoft.com/office/drawing/2014/main" id="{7B37E336-F700-E3A3-2735-4BF2ABB3ABC0}"/>
                  </a:ext>
                </a:extLst>
              </p:cNvPr>
              <p:cNvSpPr txBox="1">
                <a:spLocks noRot="1" noChangeAspect="1" noMove="1" noResize="1" noEditPoints="1" noAdjustHandles="1" noChangeArrowheads="1" noChangeShapeType="1" noTextEdit="1"/>
              </p:cNvSpPr>
              <p:nvPr/>
            </p:nvSpPr>
            <p:spPr>
              <a:xfrm>
                <a:off x="2175943" y="2139549"/>
                <a:ext cx="2134466" cy="666529"/>
              </a:xfrm>
              <a:prstGeom prst="rect">
                <a:avLst/>
              </a:prstGeom>
              <a:blipFill>
                <a:blip r:embed="rId5"/>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E86245E-B1BD-ED8F-343D-7C02544B0DA0}"/>
                  </a:ext>
                </a:extLst>
              </p:cNvPr>
              <p:cNvSpPr txBox="1"/>
              <p:nvPr/>
            </p:nvSpPr>
            <p:spPr>
              <a:xfrm>
                <a:off x="362454" y="3713293"/>
                <a:ext cx="3816205" cy="8860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𝐼</m:t>
                          </m:r>
                        </m:e>
                        <m:sub>
                          <m:r>
                            <a:rPr lang="en-GB" i="1">
                              <a:solidFill>
                                <a:srgbClr val="FF0000"/>
                              </a:solidFill>
                              <a:latin typeface="Cambria Math" panose="02040503050406030204" pitchFamily="18" charset="0"/>
                            </a:rPr>
                            <m:t>𝐿</m:t>
                          </m:r>
                        </m:sub>
                      </m:sSub>
                      <m:r>
                        <a:rPr lang="en-GB" b="0" i="1" smtClean="0">
                          <a:solidFill>
                            <a:srgbClr val="FF0000"/>
                          </a:solidFill>
                          <a:latin typeface="Cambria Math" panose="02040503050406030204" pitchFamily="18" charset="0"/>
                        </a:rPr>
                        <m:t>= </m:t>
                      </m:r>
                      <m:f>
                        <m:fPr>
                          <m:ctrlPr>
                            <a:rPr lang="en-US" i="1" smtClean="0">
                              <a:solidFill>
                                <a:srgbClr val="FF0000"/>
                              </a:solidFill>
                              <a:latin typeface="Cambria Math" panose="02040503050406030204" pitchFamily="18" charset="0"/>
                            </a:rPr>
                          </m:ctrlPr>
                        </m:fPr>
                        <m:num>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𝐿</m:t>
                          </m:r>
                        </m:den>
                      </m:f>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𝑇</m:t>
                          </m:r>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𝑡</m:t>
                          </m:r>
                        </m:e>
                        <m:sub>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US"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US" dirty="0">
                  <a:solidFill>
                    <a:srgbClr val="FF0000"/>
                  </a:solidFill>
                </a:endParaRPr>
              </a:p>
              <a:p>
                <a:r>
                  <a:rPr lang="en-US" dirty="0">
                    <a:solidFill>
                      <a:srgbClr val="FF0000"/>
                    </a:solidFill>
                  </a:rPr>
                  <a:t> From Previous slide</a:t>
                </a:r>
                <a:endParaRPr lang="en-GB" dirty="0">
                  <a:solidFill>
                    <a:srgbClr val="FF0000"/>
                  </a:solidFill>
                </a:endParaRPr>
              </a:p>
            </p:txBody>
          </p:sp>
        </mc:Choice>
        <mc:Fallback xmlns="">
          <p:sp>
            <p:nvSpPr>
              <p:cNvPr id="24" name="TextBox 23">
                <a:extLst>
                  <a:ext uri="{FF2B5EF4-FFF2-40B4-BE49-F238E27FC236}">
                    <a16:creationId xmlns:a16="http://schemas.microsoft.com/office/drawing/2014/main" id="{DE86245E-B1BD-ED8F-343D-7C02544B0DA0}"/>
                  </a:ext>
                </a:extLst>
              </p:cNvPr>
              <p:cNvSpPr txBox="1">
                <a:spLocks noRot="1" noChangeAspect="1" noMove="1" noResize="1" noEditPoints="1" noAdjustHandles="1" noChangeArrowheads="1" noChangeShapeType="1" noTextEdit="1"/>
              </p:cNvSpPr>
              <p:nvPr/>
            </p:nvSpPr>
            <p:spPr>
              <a:xfrm>
                <a:off x="362454" y="3713293"/>
                <a:ext cx="3816205" cy="886076"/>
              </a:xfrm>
              <a:prstGeom prst="rect">
                <a:avLst/>
              </a:prstGeom>
              <a:blipFill>
                <a:blip r:embed="rId6"/>
                <a:stretch>
                  <a:fillRect b="-10345"/>
                </a:stretch>
              </a:blipFill>
            </p:spPr>
            <p:txBody>
              <a:bodyPr/>
              <a:lstStyle/>
              <a:p>
                <a:r>
                  <a:rPr lang="en-GB">
                    <a:noFill/>
                  </a:rPr>
                  <a:t> </a:t>
                </a:r>
              </a:p>
            </p:txBody>
          </p:sp>
        </mc:Fallback>
      </mc:AlternateContent>
      <p:grpSp>
        <p:nvGrpSpPr>
          <p:cNvPr id="31" name="Group 30">
            <a:extLst>
              <a:ext uri="{FF2B5EF4-FFF2-40B4-BE49-F238E27FC236}">
                <a16:creationId xmlns:a16="http://schemas.microsoft.com/office/drawing/2014/main" id="{596ADD52-744E-8E56-6552-2A13C0051204}"/>
              </a:ext>
            </a:extLst>
          </p:cNvPr>
          <p:cNvGrpSpPr/>
          <p:nvPr/>
        </p:nvGrpSpPr>
        <p:grpSpPr>
          <a:xfrm>
            <a:off x="4772756" y="2467095"/>
            <a:ext cx="4355251" cy="4429594"/>
            <a:chOff x="4772756" y="2515492"/>
            <a:chExt cx="4355251" cy="4429594"/>
          </a:xfrm>
        </p:grpSpPr>
        <p:pic>
          <p:nvPicPr>
            <p:cNvPr id="9" name="Picture 8">
              <a:extLst>
                <a:ext uri="{FF2B5EF4-FFF2-40B4-BE49-F238E27FC236}">
                  <a16:creationId xmlns:a16="http://schemas.microsoft.com/office/drawing/2014/main" id="{CF4F152C-C50C-1058-119F-9BBDC4E176E6}"/>
                </a:ext>
              </a:extLst>
            </p:cNvPr>
            <p:cNvPicPr>
              <a:picLocks noChangeAspect="1"/>
            </p:cNvPicPr>
            <p:nvPr/>
          </p:nvPicPr>
          <p:blipFill>
            <a:blip r:embed="rId7"/>
            <a:stretch>
              <a:fillRect/>
            </a:stretch>
          </p:blipFill>
          <p:spPr>
            <a:xfrm>
              <a:off x="4772756" y="2515492"/>
              <a:ext cx="4355251" cy="4429594"/>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4A13805-F057-24B7-4BF5-A0A9234C8E16}"/>
                    </a:ext>
                  </a:extLst>
                </p:cNvPr>
                <p:cNvSpPr txBox="1"/>
                <p:nvPr/>
              </p:nvSpPr>
              <p:spPr>
                <a:xfrm>
                  <a:off x="6864446" y="2838575"/>
                  <a:ext cx="699525" cy="230832"/>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900" b="1"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900" b="1" i="1" smtClean="0">
                                <a:effectLst/>
                                <a:latin typeface="Cambria Math" panose="02040503050406030204" pitchFamily="18" charset="0"/>
                                <a:ea typeface="SimSun" panose="02010600030101010101" pitchFamily="2" charset="-122"/>
                                <a:cs typeface="Times New Roman" panose="02020603050405020304" pitchFamily="18" charset="0"/>
                              </a:rPr>
                              <m:t>(</m:t>
                            </m:r>
                            <m:r>
                              <a:rPr lang="en-US" sz="900" b="1" i="1">
                                <a:effectLst/>
                                <a:latin typeface="Cambria Math" panose="02040503050406030204" pitchFamily="18" charset="0"/>
                                <a:ea typeface="SimSun" panose="02010600030101010101" pitchFamily="2" charset="-122"/>
                                <a:cs typeface="Times New Roman" panose="02020603050405020304" pitchFamily="18" charset="0"/>
                              </a:rPr>
                              <m:t>𝑽</m:t>
                            </m:r>
                          </m:e>
                          <m:sub>
                            <m:r>
                              <a:rPr lang="en-GB" sz="900" b="1" i="1" smtClean="0">
                                <a:effectLst/>
                                <a:latin typeface="Cambria Math" panose="02040503050406030204" pitchFamily="18" charset="0"/>
                                <a:ea typeface="SimSun" panose="02010600030101010101" pitchFamily="2" charset="-122"/>
                                <a:cs typeface="Times New Roman" panose="02020603050405020304" pitchFamily="18" charset="0"/>
                              </a:rPr>
                              <m:t>𝑰𝑵</m:t>
                            </m:r>
                          </m:sub>
                        </m:sSub>
                        <m:r>
                          <a:rPr lang="en-GB" sz="900" b="1" i="1" smtClean="0">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sz="900" b="1" i="1">
                                <a:latin typeface="Cambria Math" panose="02040503050406030204" pitchFamily="18" charset="0"/>
                                <a:ea typeface="SimSun" panose="02010600030101010101" pitchFamily="2" charset="-122"/>
                                <a:cs typeface="Times New Roman" panose="02020603050405020304" pitchFamily="18" charset="0"/>
                              </a:rPr>
                            </m:ctrlPr>
                          </m:sSubPr>
                          <m:e>
                            <m:r>
                              <a:rPr lang="en-US" sz="900" b="1" i="1">
                                <a:latin typeface="Cambria Math" panose="02040503050406030204" pitchFamily="18" charset="0"/>
                                <a:ea typeface="SimSun" panose="02010600030101010101" pitchFamily="2" charset="-122"/>
                                <a:cs typeface="Times New Roman" panose="02020603050405020304" pitchFamily="18" charset="0"/>
                              </a:rPr>
                              <m:t>𝑽</m:t>
                            </m:r>
                          </m:e>
                          <m:sub>
                            <m:r>
                              <a:rPr lang="en-GB" sz="900" b="1" i="1" smtClean="0">
                                <a:latin typeface="Cambria Math" panose="02040503050406030204" pitchFamily="18" charset="0"/>
                                <a:ea typeface="SimSun" panose="02010600030101010101" pitchFamily="2" charset="-122"/>
                                <a:cs typeface="Times New Roman" panose="02020603050405020304" pitchFamily="18" charset="0"/>
                              </a:rPr>
                              <m:t>𝑶𝑼𝑻</m:t>
                            </m:r>
                          </m:sub>
                        </m:sSub>
                        <m:r>
                          <a:rPr lang="en-GB" sz="900" b="1" i="1" smtClean="0">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GB" sz="800" b="1" dirty="0"/>
                </a:p>
              </p:txBody>
            </p:sp>
          </mc:Choice>
          <mc:Fallback xmlns="">
            <p:sp>
              <p:nvSpPr>
                <p:cNvPr id="11" name="TextBox 10">
                  <a:extLst>
                    <a:ext uri="{FF2B5EF4-FFF2-40B4-BE49-F238E27FC236}">
                      <a16:creationId xmlns:a16="http://schemas.microsoft.com/office/drawing/2014/main" id="{24A13805-F057-24B7-4BF5-A0A9234C8E16}"/>
                    </a:ext>
                  </a:extLst>
                </p:cNvPr>
                <p:cNvSpPr txBox="1">
                  <a:spLocks noRot="1" noChangeAspect="1" noMove="1" noResize="1" noEditPoints="1" noAdjustHandles="1" noChangeArrowheads="1" noChangeShapeType="1" noTextEdit="1"/>
                </p:cNvSpPr>
                <p:nvPr/>
              </p:nvSpPr>
              <p:spPr>
                <a:xfrm>
                  <a:off x="6864446" y="2838575"/>
                  <a:ext cx="699525" cy="230832"/>
                </a:xfrm>
                <a:prstGeom prst="rect">
                  <a:avLst/>
                </a:prstGeom>
                <a:blipFill>
                  <a:blip r:embed="rId8"/>
                  <a:stretch>
                    <a:fillRect r="-11966"/>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5546674-4F6F-6649-4032-360A9E2C5735}"/>
                    </a:ext>
                  </a:extLst>
                </p:cNvPr>
                <p:cNvSpPr txBox="1"/>
                <p:nvPr/>
              </p:nvSpPr>
              <p:spPr>
                <a:xfrm>
                  <a:off x="6354993" y="4586631"/>
                  <a:ext cx="483326" cy="494238"/>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1" i="1" smtClean="0">
                                <a:effectLst/>
                                <a:latin typeface="Cambria Math" panose="02040503050406030204" pitchFamily="18" charset="0"/>
                                <a:ea typeface="SimSun" panose="02010600030101010101" pitchFamily="2" charset="-122"/>
                                <a:cs typeface="Times New Roman" panose="02020603050405020304" pitchFamily="18" charset="0"/>
                              </a:rPr>
                            </m:ctrlPr>
                          </m:fPr>
                          <m:num>
                            <m:r>
                              <a:rPr lang="en-GB" sz="1400" b="1" i="1" smtClean="0">
                                <a:effectLst/>
                                <a:latin typeface="Cambria Math" panose="02040503050406030204" pitchFamily="18" charset="0"/>
                                <a:ea typeface="SimSun" panose="02010600030101010101" pitchFamily="2" charset="-122"/>
                                <a:cs typeface="Times New Roman" panose="02020603050405020304" pitchFamily="18" charset="0"/>
                              </a:rPr>
                              <m:t> </m:t>
                            </m:r>
                            <m:r>
                              <a:rPr lang="en-GB" sz="1400" b="1" i="1" smtClean="0">
                                <a:effectLst/>
                                <a:latin typeface="Cambria Math" panose="02040503050406030204" pitchFamily="18" charset="0"/>
                                <a:ea typeface="SimSun" panose="02010600030101010101" pitchFamily="2" charset="-122"/>
                                <a:cs typeface="Times New Roman" panose="02020603050405020304" pitchFamily="18" charset="0"/>
                              </a:rPr>
                              <m:t>𝑻</m:t>
                            </m:r>
                            <m:r>
                              <a:rPr lang="en-GB" sz="1400" b="1" i="1" smtClean="0">
                                <a:effectLst/>
                                <a:latin typeface="Cambria Math" panose="02040503050406030204" pitchFamily="18" charset="0"/>
                                <a:ea typeface="SimSun" panose="02010600030101010101" pitchFamily="2" charset="-122"/>
                                <a:cs typeface="Times New Roman" panose="02020603050405020304" pitchFamily="18" charset="0"/>
                              </a:rPr>
                              <m:t> </m:t>
                            </m:r>
                          </m:num>
                          <m:den>
                            <m:r>
                              <a:rPr lang="en-GB" sz="1400" b="1" i="1" smtClean="0">
                                <a:latin typeface="Cambria Math" panose="02040503050406030204" pitchFamily="18" charset="0"/>
                              </a:rPr>
                              <m:t>𝟐</m:t>
                            </m:r>
                          </m:den>
                        </m:f>
                      </m:oMath>
                    </m:oMathPara>
                  </a14:m>
                  <a:endParaRPr lang="en-GB" b="1" dirty="0"/>
                </a:p>
              </p:txBody>
            </p:sp>
          </mc:Choice>
          <mc:Fallback xmlns="">
            <p:sp>
              <p:nvSpPr>
                <p:cNvPr id="15" name="TextBox 14">
                  <a:extLst>
                    <a:ext uri="{FF2B5EF4-FFF2-40B4-BE49-F238E27FC236}">
                      <a16:creationId xmlns:a16="http://schemas.microsoft.com/office/drawing/2014/main" id="{25546674-4F6F-6649-4032-360A9E2C5735}"/>
                    </a:ext>
                  </a:extLst>
                </p:cNvPr>
                <p:cNvSpPr txBox="1">
                  <a:spLocks noRot="1" noChangeAspect="1" noMove="1" noResize="1" noEditPoints="1" noAdjustHandles="1" noChangeArrowheads="1" noChangeShapeType="1" noTextEdit="1"/>
                </p:cNvSpPr>
                <p:nvPr/>
              </p:nvSpPr>
              <p:spPr>
                <a:xfrm>
                  <a:off x="6354993" y="4586631"/>
                  <a:ext cx="483326" cy="494238"/>
                </a:xfrm>
                <a:prstGeom prst="rect">
                  <a:avLst/>
                </a:prstGeom>
                <a:blipFill>
                  <a:blip r:embed="rId9"/>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8A7BD0B-D17C-5412-7872-80BC2791FFA3}"/>
                    </a:ext>
                  </a:extLst>
                </p:cNvPr>
                <p:cNvSpPr txBox="1"/>
                <p:nvPr/>
              </p:nvSpPr>
              <p:spPr>
                <a:xfrm>
                  <a:off x="7661272" y="3469951"/>
                  <a:ext cx="699525" cy="230832"/>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GB" sz="900" b="1" i="1" smtClean="0">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sz="900" b="1" i="1">
                                <a:latin typeface="Cambria Math" panose="02040503050406030204" pitchFamily="18" charset="0"/>
                                <a:ea typeface="SimSun" panose="02010600030101010101" pitchFamily="2" charset="-122"/>
                                <a:cs typeface="Times New Roman" panose="02020603050405020304" pitchFamily="18" charset="0"/>
                              </a:rPr>
                            </m:ctrlPr>
                          </m:sSubPr>
                          <m:e>
                            <m:r>
                              <a:rPr lang="en-US" sz="900" b="1" i="1">
                                <a:latin typeface="Cambria Math" panose="02040503050406030204" pitchFamily="18" charset="0"/>
                                <a:ea typeface="SimSun" panose="02010600030101010101" pitchFamily="2" charset="-122"/>
                                <a:cs typeface="Times New Roman" panose="02020603050405020304" pitchFamily="18" charset="0"/>
                              </a:rPr>
                              <m:t>𝑽</m:t>
                            </m:r>
                          </m:e>
                          <m:sub>
                            <m:r>
                              <a:rPr lang="en-GB" sz="900" b="1" i="1" smtClean="0">
                                <a:latin typeface="Cambria Math" panose="02040503050406030204" pitchFamily="18" charset="0"/>
                                <a:ea typeface="SimSun" panose="02010600030101010101" pitchFamily="2" charset="-122"/>
                                <a:cs typeface="Times New Roman" panose="02020603050405020304" pitchFamily="18" charset="0"/>
                              </a:rPr>
                              <m:t>𝑶𝑼𝑻</m:t>
                            </m:r>
                          </m:sub>
                        </m:sSub>
                      </m:oMath>
                    </m:oMathPara>
                  </a14:m>
                  <a:endParaRPr lang="en-GB" sz="800" b="1" dirty="0"/>
                </a:p>
              </p:txBody>
            </p:sp>
          </mc:Choice>
          <mc:Fallback xmlns="">
            <p:sp>
              <p:nvSpPr>
                <p:cNvPr id="16" name="TextBox 15">
                  <a:extLst>
                    <a:ext uri="{FF2B5EF4-FFF2-40B4-BE49-F238E27FC236}">
                      <a16:creationId xmlns:a16="http://schemas.microsoft.com/office/drawing/2014/main" id="{C8A7BD0B-D17C-5412-7872-80BC2791FFA3}"/>
                    </a:ext>
                  </a:extLst>
                </p:cNvPr>
                <p:cNvSpPr txBox="1">
                  <a:spLocks noRot="1" noChangeAspect="1" noMove="1" noResize="1" noEditPoints="1" noAdjustHandles="1" noChangeArrowheads="1" noChangeShapeType="1" noTextEdit="1"/>
                </p:cNvSpPr>
                <p:nvPr/>
              </p:nvSpPr>
              <p:spPr>
                <a:xfrm>
                  <a:off x="7661272" y="3469951"/>
                  <a:ext cx="699525" cy="230832"/>
                </a:xfrm>
                <a:prstGeom prst="rect">
                  <a:avLst/>
                </a:prstGeom>
                <a:blipFill>
                  <a:blip r:embed="rId10"/>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E729376-3FD1-37AF-9CB6-4CE16BAAE494}"/>
                    </a:ext>
                  </a:extLst>
                </p:cNvPr>
                <p:cNvSpPr txBox="1"/>
                <p:nvPr/>
              </p:nvSpPr>
              <p:spPr>
                <a:xfrm>
                  <a:off x="6073816" y="5855423"/>
                  <a:ext cx="535688"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1400" b="1" smtClean="0">
                            <a:latin typeface="Cambria Math" panose="02040503050406030204" pitchFamily="18" charset="0"/>
                          </a:rPr>
                          <m:t>∆</m:t>
                        </m:r>
                        <m:sSub>
                          <m:sSubPr>
                            <m:ctrlPr>
                              <a:rPr lang="en-US" sz="1400" b="1" i="1">
                                <a:solidFill>
                                  <a:srgbClr val="836967"/>
                                </a:solidFill>
                                <a:latin typeface="Cambria Math" panose="02040503050406030204" pitchFamily="18" charset="0"/>
                              </a:rPr>
                            </m:ctrlPr>
                          </m:sSubPr>
                          <m:e>
                            <m:r>
                              <a:rPr lang="en-GB" sz="1400" b="1" i="1" smtClean="0">
                                <a:latin typeface="Cambria Math" panose="02040503050406030204" pitchFamily="18" charset="0"/>
                              </a:rPr>
                              <m:t>𝑽</m:t>
                            </m:r>
                          </m:e>
                          <m:sub>
                            <m:r>
                              <a:rPr lang="en-GB" sz="1400" b="1" i="1" smtClean="0">
                                <a:latin typeface="Cambria Math" panose="02040503050406030204" pitchFamily="18" charset="0"/>
                              </a:rPr>
                              <m:t>𝑶𝑼𝑻</m:t>
                            </m:r>
                          </m:sub>
                        </m:sSub>
                      </m:oMath>
                    </m:oMathPara>
                  </a14:m>
                  <a:endParaRPr lang="en-GB" sz="1400" b="1" dirty="0"/>
                </a:p>
              </p:txBody>
            </p:sp>
          </mc:Choice>
          <mc:Fallback xmlns="">
            <p:sp>
              <p:nvSpPr>
                <p:cNvPr id="18" name="TextBox 17">
                  <a:extLst>
                    <a:ext uri="{FF2B5EF4-FFF2-40B4-BE49-F238E27FC236}">
                      <a16:creationId xmlns:a16="http://schemas.microsoft.com/office/drawing/2014/main" id="{3E729376-3FD1-37AF-9CB6-4CE16BAAE494}"/>
                    </a:ext>
                  </a:extLst>
                </p:cNvPr>
                <p:cNvSpPr txBox="1">
                  <a:spLocks noRot="1" noChangeAspect="1" noMove="1" noResize="1" noEditPoints="1" noAdjustHandles="1" noChangeArrowheads="1" noChangeShapeType="1" noTextEdit="1"/>
                </p:cNvSpPr>
                <p:nvPr/>
              </p:nvSpPr>
              <p:spPr>
                <a:xfrm>
                  <a:off x="6073816" y="5855423"/>
                  <a:ext cx="535688" cy="307777"/>
                </a:xfrm>
                <a:prstGeom prst="rect">
                  <a:avLst/>
                </a:prstGeom>
                <a:blipFill>
                  <a:blip r:embed="rId11"/>
                  <a:stretch>
                    <a:fillRect r="-15556"/>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D0EF144-1C57-39A8-F69C-BA90C2D0E6A6}"/>
                    </a:ext>
                  </a:extLst>
                </p:cNvPr>
                <p:cNvSpPr txBox="1"/>
                <p:nvPr/>
              </p:nvSpPr>
              <p:spPr>
                <a:xfrm>
                  <a:off x="6885374" y="6325026"/>
                  <a:ext cx="535688"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a:solidFill>
                                  <a:srgbClr val="836967"/>
                                </a:solidFill>
                                <a:latin typeface="Cambria Math" panose="02040503050406030204" pitchFamily="18" charset="0"/>
                              </a:rPr>
                            </m:ctrlPr>
                          </m:sSubPr>
                          <m:e>
                            <m:r>
                              <a:rPr lang="en-GB" sz="1400" b="1" i="1" smtClean="0">
                                <a:latin typeface="Cambria Math" panose="02040503050406030204" pitchFamily="18" charset="0"/>
                              </a:rPr>
                              <m:t>𝑽</m:t>
                            </m:r>
                          </m:e>
                          <m:sub>
                            <m:r>
                              <a:rPr lang="en-GB" sz="1400" b="1" i="1" smtClean="0">
                                <a:latin typeface="Cambria Math" panose="02040503050406030204" pitchFamily="18" charset="0"/>
                              </a:rPr>
                              <m:t>𝑶𝑼𝑻</m:t>
                            </m:r>
                          </m:sub>
                        </m:sSub>
                      </m:oMath>
                    </m:oMathPara>
                  </a14:m>
                  <a:endParaRPr lang="en-GB" sz="1400" b="1" dirty="0"/>
                </a:p>
              </p:txBody>
            </p:sp>
          </mc:Choice>
          <mc:Fallback xmlns="">
            <p:sp>
              <p:nvSpPr>
                <p:cNvPr id="19" name="TextBox 18">
                  <a:extLst>
                    <a:ext uri="{FF2B5EF4-FFF2-40B4-BE49-F238E27FC236}">
                      <a16:creationId xmlns:a16="http://schemas.microsoft.com/office/drawing/2014/main" id="{ED0EF144-1C57-39A8-F69C-BA90C2D0E6A6}"/>
                    </a:ext>
                  </a:extLst>
                </p:cNvPr>
                <p:cNvSpPr txBox="1">
                  <a:spLocks noRot="1" noChangeAspect="1" noMove="1" noResize="1" noEditPoints="1" noAdjustHandles="1" noChangeArrowheads="1" noChangeShapeType="1" noTextEdit="1"/>
                </p:cNvSpPr>
                <p:nvPr/>
              </p:nvSpPr>
              <p:spPr>
                <a:xfrm>
                  <a:off x="6885374" y="6325026"/>
                  <a:ext cx="535688" cy="307777"/>
                </a:xfrm>
                <a:prstGeom prst="rect">
                  <a:avLst/>
                </a:prstGeom>
                <a:blipFill>
                  <a:blip r:embed="rId12"/>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70B9D49-B476-8318-DBA5-09FD19DCC37A}"/>
                    </a:ext>
                  </a:extLst>
                </p:cNvPr>
                <p:cNvSpPr txBox="1"/>
                <p:nvPr/>
              </p:nvSpPr>
              <p:spPr>
                <a:xfrm>
                  <a:off x="4810533" y="5480908"/>
                  <a:ext cx="442717" cy="216206"/>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a:solidFill>
                                  <a:srgbClr val="836967"/>
                                </a:solidFill>
                                <a:latin typeface="Cambria Math" panose="02040503050406030204" pitchFamily="18" charset="0"/>
                              </a:rPr>
                            </m:ctrlPr>
                          </m:sSubPr>
                          <m:e>
                            <m:r>
                              <a:rPr lang="en-GB" sz="1100" b="1" i="1" smtClean="0">
                                <a:latin typeface="Cambria Math" panose="02040503050406030204" pitchFamily="18" charset="0"/>
                              </a:rPr>
                              <m:t>𝑽</m:t>
                            </m:r>
                          </m:e>
                          <m:sub>
                            <m:r>
                              <a:rPr lang="en-GB" sz="1100" b="1" i="1" smtClean="0">
                                <a:latin typeface="Cambria Math" panose="02040503050406030204" pitchFamily="18" charset="0"/>
                              </a:rPr>
                              <m:t>𝑶𝑼𝑻</m:t>
                            </m:r>
                          </m:sub>
                        </m:sSub>
                      </m:oMath>
                    </m:oMathPara>
                  </a14:m>
                  <a:endParaRPr lang="en-GB" sz="1100" b="1" dirty="0"/>
                </a:p>
              </p:txBody>
            </p:sp>
          </mc:Choice>
          <mc:Fallback xmlns="">
            <p:sp>
              <p:nvSpPr>
                <p:cNvPr id="25" name="TextBox 24">
                  <a:extLst>
                    <a:ext uri="{FF2B5EF4-FFF2-40B4-BE49-F238E27FC236}">
                      <a16:creationId xmlns:a16="http://schemas.microsoft.com/office/drawing/2014/main" id="{870B9D49-B476-8318-DBA5-09FD19DCC37A}"/>
                    </a:ext>
                  </a:extLst>
                </p:cNvPr>
                <p:cNvSpPr txBox="1">
                  <a:spLocks noRot="1" noChangeAspect="1" noMove="1" noResize="1" noEditPoints="1" noAdjustHandles="1" noChangeArrowheads="1" noChangeShapeType="1" noTextEdit="1"/>
                </p:cNvSpPr>
                <p:nvPr/>
              </p:nvSpPr>
              <p:spPr>
                <a:xfrm>
                  <a:off x="4810533" y="5480908"/>
                  <a:ext cx="442717" cy="216206"/>
                </a:xfrm>
                <a:prstGeom prst="rect">
                  <a:avLst/>
                </a:prstGeom>
                <a:blipFill>
                  <a:blip r:embed="rId13"/>
                  <a:stretch>
                    <a:fillRect b="-10526"/>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103D933-B16B-BDE5-0264-59D813309A9E}"/>
                    </a:ext>
                  </a:extLst>
                </p:cNvPr>
                <p:cNvSpPr txBox="1"/>
                <p:nvPr/>
              </p:nvSpPr>
              <p:spPr>
                <a:xfrm>
                  <a:off x="4885470" y="3733704"/>
                  <a:ext cx="262368" cy="262395"/>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latin typeface="Cambria Math" panose="02040503050406030204" pitchFamily="18" charset="0"/>
                              </a:rPr>
                              <m:t>𝑰</m:t>
                            </m:r>
                          </m:e>
                          <m:sub>
                            <m:r>
                              <a:rPr lang="en-GB" sz="1100" b="1" i="1" smtClean="0">
                                <a:latin typeface="Cambria Math" panose="02040503050406030204" pitchFamily="18" charset="0"/>
                              </a:rPr>
                              <m:t>𝑳</m:t>
                            </m:r>
                          </m:sub>
                        </m:sSub>
                      </m:oMath>
                    </m:oMathPara>
                  </a14:m>
                  <a:endParaRPr lang="en-GB" sz="1100" b="1" dirty="0"/>
                </a:p>
              </p:txBody>
            </p:sp>
          </mc:Choice>
          <mc:Fallback xmlns="">
            <p:sp>
              <p:nvSpPr>
                <p:cNvPr id="26" name="TextBox 25">
                  <a:extLst>
                    <a:ext uri="{FF2B5EF4-FFF2-40B4-BE49-F238E27FC236}">
                      <a16:creationId xmlns:a16="http://schemas.microsoft.com/office/drawing/2014/main" id="{1103D933-B16B-BDE5-0264-59D813309A9E}"/>
                    </a:ext>
                  </a:extLst>
                </p:cNvPr>
                <p:cNvSpPr txBox="1">
                  <a:spLocks noRot="1" noChangeAspect="1" noMove="1" noResize="1" noEditPoints="1" noAdjustHandles="1" noChangeArrowheads="1" noChangeShapeType="1" noTextEdit="1"/>
                </p:cNvSpPr>
                <p:nvPr/>
              </p:nvSpPr>
              <p:spPr>
                <a:xfrm>
                  <a:off x="4885470" y="3733704"/>
                  <a:ext cx="262368" cy="262395"/>
                </a:xfrm>
                <a:prstGeom prst="rect">
                  <a:avLst/>
                </a:prstGeom>
                <a:blipFill>
                  <a:blip r:embed="rId14"/>
                  <a:stretch>
                    <a:fillRect/>
                  </a:stretch>
                </a:blipFill>
                <a:ln>
                  <a:solidFill>
                    <a:schemeClr val="bg1"/>
                  </a:solid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77F4DA7-B053-791B-385F-5D2E92CD7AEF}"/>
                  </a:ext>
                </a:extLst>
              </p:cNvPr>
              <p:cNvSpPr txBox="1"/>
              <p:nvPr/>
            </p:nvSpPr>
            <p:spPr>
              <a:xfrm>
                <a:off x="128970" y="4724356"/>
                <a:ext cx="4215774" cy="670568"/>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sub>
                      </m:sSub>
                      <m:r>
                        <a:rPr lang="en-GB" sz="2000" b="0" i="0" smtClean="0">
                          <a:latin typeface="Cambria Math" panose="02040503050406030204" pitchFamily="18" charset="0"/>
                        </a:rPr>
                        <m:t>=</m:t>
                      </m:r>
                      <m:f>
                        <m:fPr>
                          <m:ctrlPr>
                            <a:rPr lang="en-US" sz="2000" i="1">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ea typeface="SimSun" panose="02010600030101010101" pitchFamily="2" charset="-122"/>
                              <a:cs typeface="Times New Roman" panose="02020603050405020304" pitchFamily="18" charset="0"/>
                            </a:rPr>
                            <m:t>8</m:t>
                          </m:r>
                        </m:den>
                      </m:f>
                      <m:r>
                        <a:rPr lang="en-US" sz="2000" i="1">
                          <a:latin typeface="Cambria Math" panose="02040503050406030204" pitchFamily="18" charset="0"/>
                          <a:ea typeface="SimSun" panose="02010600030101010101" pitchFamily="2" charset="-122"/>
                          <a:cs typeface="Times New Roman" panose="02020603050405020304" pitchFamily="18" charset="0"/>
                        </a:rPr>
                        <m:t>×</m:t>
                      </m:r>
                      <m:f>
                        <m:fPr>
                          <m:ctrlPr>
                            <a:rPr lang="en-US" sz="2000" i="1">
                              <a:latin typeface="Cambria Math" panose="02040503050406030204" pitchFamily="18" charset="0"/>
                            </a:rPr>
                          </m:ctrlPr>
                        </m:fPr>
                        <m:num>
                          <m:r>
                            <a:rPr lang="en-GB" sz="2000" b="0" i="1" smtClean="0">
                              <a:latin typeface="Cambria Math" panose="02040503050406030204" pitchFamily="18" charset="0"/>
                            </a:rPr>
                            <m:t>𝑇</m:t>
                          </m:r>
                        </m:num>
                        <m:den>
                          <m:r>
                            <a:rPr lang="en-GB" sz="2000" b="0" i="1" smtClean="0">
                              <a:latin typeface="Cambria Math" panose="02040503050406030204" pitchFamily="18" charset="0"/>
                              <a:ea typeface="SimSun" panose="02010600030101010101" pitchFamily="2" charset="-122"/>
                              <a:cs typeface="Times New Roman" panose="02020603050405020304" pitchFamily="18" charset="0"/>
                            </a:rPr>
                            <m:t>𝐶</m:t>
                          </m:r>
                        </m:den>
                      </m:f>
                      <m:r>
                        <a:rPr lang="en-US" sz="2000" i="1">
                          <a:latin typeface="Cambria Math" panose="02040503050406030204" pitchFamily="18" charset="0"/>
                          <a:ea typeface="SimSun" panose="02010600030101010101" pitchFamily="2" charset="-122"/>
                          <a:cs typeface="Times New Roman" panose="02020603050405020304" pitchFamily="18" charset="0"/>
                        </a:rPr>
                        <m:t>×</m:t>
                      </m:r>
                      <m:f>
                        <m:fPr>
                          <m:ctrlPr>
                            <a:rPr lang="en-US" sz="2000" i="1" smtClean="0">
                              <a:solidFill>
                                <a:schemeClr val="tx1"/>
                              </a:solidFill>
                              <a:latin typeface="Cambria Math" panose="02040503050406030204" pitchFamily="18" charset="0"/>
                            </a:rPr>
                          </m:ctrlPr>
                        </m:fPr>
                        <m:num>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𝐿</m:t>
                          </m:r>
                        </m:den>
                      </m:f>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𝑇</m:t>
                          </m:r>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sub>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US" sz="2000" i="1">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GB" sz="2000" dirty="0"/>
              </a:p>
            </p:txBody>
          </p:sp>
        </mc:Choice>
        <mc:Fallback xmlns="">
          <p:sp>
            <p:nvSpPr>
              <p:cNvPr id="27" name="TextBox 26">
                <a:extLst>
                  <a:ext uri="{FF2B5EF4-FFF2-40B4-BE49-F238E27FC236}">
                    <a16:creationId xmlns:a16="http://schemas.microsoft.com/office/drawing/2014/main" id="{F77F4DA7-B053-791B-385F-5D2E92CD7AEF}"/>
                  </a:ext>
                </a:extLst>
              </p:cNvPr>
              <p:cNvSpPr txBox="1">
                <a:spLocks noRot="1" noChangeAspect="1" noMove="1" noResize="1" noEditPoints="1" noAdjustHandles="1" noChangeArrowheads="1" noChangeShapeType="1" noTextEdit="1"/>
              </p:cNvSpPr>
              <p:nvPr/>
            </p:nvSpPr>
            <p:spPr>
              <a:xfrm>
                <a:off x="128970" y="4724356"/>
                <a:ext cx="4215774" cy="670568"/>
              </a:xfrm>
              <a:prstGeom prst="rect">
                <a:avLst/>
              </a:prstGeom>
              <a:blipFill>
                <a:blip r:embed="rId15"/>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C7358C8-B69B-2E7E-CB69-D8A323EE809E}"/>
                  </a:ext>
                </a:extLst>
              </p:cNvPr>
              <p:cNvSpPr txBox="1"/>
              <p:nvPr/>
            </p:nvSpPr>
            <p:spPr>
              <a:xfrm>
                <a:off x="208700" y="6114803"/>
                <a:ext cx="4538324" cy="674736"/>
              </a:xfrm>
              <a:prstGeom prst="rect">
                <a:avLst/>
              </a:prstGeom>
              <a:solidFill>
                <a:schemeClr val="bg1"/>
              </a:solidFill>
              <a:ln>
                <a:solidFill>
                  <a:schemeClr val="bg1"/>
                </a:solidFill>
              </a:ln>
            </p:spPr>
            <p:txBody>
              <a:bodyPr wrap="square">
                <a:spAutoFit/>
              </a:bodyPr>
              <a:lstStyle/>
              <a:p>
                <a14:m>
                  <m:oMath xmlns:m="http://schemas.openxmlformats.org/officeDocument/2006/math">
                    <m:f>
                      <m:fPr>
                        <m:ctrlPr>
                          <a:rPr lang="en-US" sz="2400" i="1" smtClean="0">
                            <a:latin typeface="Cambria Math" panose="02040503050406030204" pitchFamily="18" charset="0"/>
                          </a:rPr>
                        </m:ctrlPr>
                      </m:fPr>
                      <m:num>
                        <m:r>
                          <a:rPr lang="en-US" sz="2400">
                            <a:latin typeface="Cambria Math" panose="02040503050406030204" pitchFamily="18" charset="0"/>
                          </a:rPr>
                          <m:t>∆</m:t>
                        </m:r>
                        <m:sSub>
                          <m:sSubPr>
                            <m:ctrlPr>
                              <a:rPr lang="en-US" sz="2400" i="1">
                                <a:solidFill>
                                  <a:srgbClr val="836967"/>
                                </a:solidFill>
                                <a:latin typeface="Cambria Math" panose="02040503050406030204" pitchFamily="18" charset="0"/>
                              </a:rPr>
                            </m:ctrlPr>
                          </m:sSubPr>
                          <m:e>
                            <m:r>
                              <a:rPr lang="en-GB" sz="2400" i="1">
                                <a:latin typeface="Cambria Math" panose="02040503050406030204" pitchFamily="18" charset="0"/>
                              </a:rPr>
                              <m:t>𝑉</m:t>
                            </m:r>
                          </m:e>
                          <m:sub>
                            <m:r>
                              <a:rPr lang="en-GB" sz="2400" i="1">
                                <a:latin typeface="Cambria Math" panose="02040503050406030204" pitchFamily="18" charset="0"/>
                              </a:rPr>
                              <m:t>𝑂𝑈𝑇</m:t>
                            </m:r>
                          </m:sub>
                        </m:sSub>
                      </m:num>
                      <m:den>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sz="240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𝑂𝑈𝑇</m:t>
                            </m:r>
                          </m:sub>
                        </m:sSub>
                      </m:den>
                    </m:f>
                    <m:r>
                      <a:rPr lang="en-GB" sz="2400" b="0" i="0" smtClean="0">
                        <a:latin typeface="Cambria Math" panose="02040503050406030204" pitchFamily="18" charset="0"/>
                      </a:rPr>
                      <m:t>=</m:t>
                    </m:r>
                    <m:f>
                      <m:fPr>
                        <m:ctrlPr>
                          <a:rPr lang="en-US" sz="2400" i="1">
                            <a:latin typeface="Cambria Math" panose="02040503050406030204" pitchFamily="18" charset="0"/>
                          </a:rPr>
                        </m:ctrlPr>
                      </m:fPr>
                      <m:num>
                        <m:r>
                          <a:rPr lang="en-GB" sz="2400" b="0" i="1" smtClean="0">
                            <a:latin typeface="Cambria Math" panose="02040503050406030204" pitchFamily="18" charset="0"/>
                          </a:rPr>
                          <m:t>𝑇</m:t>
                        </m:r>
                        <m:r>
                          <a:rPr lang="en-GB" sz="2400" b="0" i="1" baseline="30000" smtClean="0">
                            <a:latin typeface="Cambria Math" panose="02040503050406030204" pitchFamily="18" charset="0"/>
                          </a:rPr>
                          <m:t>2</m:t>
                        </m:r>
                      </m:num>
                      <m:den>
                        <m:r>
                          <a:rPr lang="en-GB" sz="2400" b="0" i="1" smtClean="0">
                            <a:latin typeface="Cambria Math" panose="02040503050406030204" pitchFamily="18" charset="0"/>
                          </a:rPr>
                          <m:t>8</m:t>
                        </m:r>
                        <m:r>
                          <a:rPr lang="en-GB" sz="2400" b="0" i="1" smtClean="0">
                            <a:latin typeface="Cambria Math" panose="02040503050406030204" pitchFamily="18" charset="0"/>
                            <a:ea typeface="SimSun" panose="02010600030101010101" pitchFamily="2" charset="-122"/>
                            <a:cs typeface="Times New Roman" panose="02020603050405020304" pitchFamily="18" charset="0"/>
                          </a:rPr>
                          <m:t>𝐶𝐿</m:t>
                        </m:r>
                      </m:den>
                    </m:f>
                    <m:r>
                      <a:rPr lang="en-US" sz="2400" i="1">
                        <a:latin typeface="Cambria Math" panose="02040503050406030204" pitchFamily="18" charset="0"/>
                        <a:ea typeface="SimSun" panose="02010600030101010101" pitchFamily="2" charset="-122"/>
                        <a:cs typeface="Times New Roman" panose="02020603050405020304" pitchFamily="18" charset="0"/>
                      </a:rPr>
                      <m:t>×</m:t>
                    </m:r>
                    <m:r>
                      <a:rPr lang="en-GB" sz="2400" b="0" i="1" smtClean="0">
                        <a:latin typeface="Cambria Math" panose="02040503050406030204" pitchFamily="18" charset="0"/>
                        <a:ea typeface="SimSun" panose="02010600030101010101" pitchFamily="2" charset="-122"/>
                        <a:cs typeface="Times New Roman" panose="02020603050405020304" pitchFamily="18" charset="0"/>
                      </a:rPr>
                      <m:t>(1 −</m:t>
                    </m:r>
                    <m:r>
                      <a:rPr lang="en-GB" sz="2400" b="0" i="1" smtClean="0">
                        <a:latin typeface="Cambria Math" panose="02040503050406030204" pitchFamily="18" charset="0"/>
                        <a:ea typeface="SimSun" panose="02010600030101010101" pitchFamily="2" charset="-122"/>
                        <a:cs typeface="Times New Roman" panose="02020603050405020304" pitchFamily="18" charset="0"/>
                      </a:rPr>
                      <m:t>𝐷</m:t>
                    </m:r>
                    <m:r>
                      <a:rPr lang="en-GB" sz="2400" b="0" i="1" smtClean="0">
                        <a:latin typeface="Cambria Math" panose="02040503050406030204" pitchFamily="18" charset="0"/>
                        <a:ea typeface="SimSun" panose="02010600030101010101" pitchFamily="2" charset="-122"/>
                        <a:cs typeface="Times New Roman" panose="02020603050405020304" pitchFamily="18" charset="0"/>
                      </a:rPr>
                      <m:t>)</m:t>
                    </m:r>
                  </m:oMath>
                </a14:m>
                <a:r>
                  <a:rPr lang="en-GB" sz="2400" dirty="0"/>
                  <a:t> = </a:t>
                </a:r>
                <a14:m>
                  <m:oMath xmlns:m="http://schemas.openxmlformats.org/officeDocument/2006/math">
                    <m:f>
                      <m:fPr>
                        <m:ctrlPr>
                          <a:rPr lang="en-US" sz="2400" i="1">
                            <a:latin typeface="Cambria Math" panose="02040503050406030204" pitchFamily="18" charset="0"/>
                          </a:rPr>
                        </m:ctrlPr>
                      </m:fPr>
                      <m:num>
                        <m:r>
                          <a:rPr lang="en-GB" sz="2400" i="1">
                            <a:latin typeface="Cambria Math" panose="02040503050406030204" pitchFamily="18" charset="0"/>
                            <a:ea typeface="SimSun" panose="02010600030101010101" pitchFamily="2" charset="-122"/>
                            <a:cs typeface="Times New Roman" panose="02020603050405020304" pitchFamily="18" charset="0"/>
                          </a:rPr>
                          <m:t>(1 −</m:t>
                        </m:r>
                        <m:r>
                          <a:rPr lang="en-GB" sz="2400" i="1">
                            <a:latin typeface="Cambria Math" panose="02040503050406030204" pitchFamily="18" charset="0"/>
                            <a:ea typeface="SimSun" panose="02010600030101010101" pitchFamily="2" charset="-122"/>
                            <a:cs typeface="Times New Roman" panose="02020603050405020304" pitchFamily="18" charset="0"/>
                          </a:rPr>
                          <m:t>𝐷</m:t>
                        </m:r>
                        <m:r>
                          <a:rPr lang="en-GB" sz="2400" i="1">
                            <a:latin typeface="Cambria Math" panose="02040503050406030204" pitchFamily="18" charset="0"/>
                            <a:ea typeface="SimSun" panose="02010600030101010101" pitchFamily="2" charset="-122"/>
                            <a:cs typeface="Times New Roman" panose="02020603050405020304" pitchFamily="18" charset="0"/>
                          </a:rPr>
                          <m:t>)</m:t>
                        </m:r>
                      </m:num>
                      <m:den>
                        <m:r>
                          <a:rPr lang="en-GB" sz="2400" i="1">
                            <a:latin typeface="Cambria Math" panose="02040503050406030204" pitchFamily="18" charset="0"/>
                          </a:rPr>
                          <m:t>8</m:t>
                        </m:r>
                        <m:r>
                          <a:rPr lang="en-GB" sz="2400" i="1">
                            <a:latin typeface="Cambria Math" panose="02040503050406030204" pitchFamily="18" charset="0"/>
                            <a:ea typeface="SimSun" panose="02010600030101010101" pitchFamily="2" charset="-122"/>
                            <a:cs typeface="Times New Roman" panose="02020603050405020304" pitchFamily="18" charset="0"/>
                          </a:rPr>
                          <m:t>𝐶𝐿</m:t>
                        </m:r>
                        <m:r>
                          <a:rPr lang="en-GB" sz="2400" b="0" i="1" smtClean="0">
                            <a:latin typeface="Cambria Math" panose="02040503050406030204" pitchFamily="18" charset="0"/>
                            <a:ea typeface="SimSun" panose="02010600030101010101" pitchFamily="2" charset="-122"/>
                            <a:cs typeface="Times New Roman" panose="02020603050405020304" pitchFamily="18" charset="0"/>
                          </a:rPr>
                          <m:t>𝑓</m:t>
                        </m:r>
                        <m:r>
                          <a:rPr lang="en-GB" sz="2400" i="1" baseline="30000">
                            <a:latin typeface="Cambria Math" panose="02040503050406030204" pitchFamily="18" charset="0"/>
                          </a:rPr>
                          <m:t>2</m:t>
                        </m:r>
                      </m:den>
                    </m:f>
                  </m:oMath>
                </a14:m>
                <a:endParaRPr lang="en-GB" sz="2400" dirty="0"/>
              </a:p>
            </p:txBody>
          </p:sp>
        </mc:Choice>
        <mc:Fallback xmlns="">
          <p:sp>
            <p:nvSpPr>
              <p:cNvPr id="28" name="TextBox 27">
                <a:extLst>
                  <a:ext uri="{FF2B5EF4-FFF2-40B4-BE49-F238E27FC236}">
                    <a16:creationId xmlns:a16="http://schemas.microsoft.com/office/drawing/2014/main" id="{BC7358C8-B69B-2E7E-CB69-D8A323EE809E}"/>
                  </a:ext>
                </a:extLst>
              </p:cNvPr>
              <p:cNvSpPr txBox="1">
                <a:spLocks noRot="1" noChangeAspect="1" noMove="1" noResize="1" noEditPoints="1" noAdjustHandles="1" noChangeArrowheads="1" noChangeShapeType="1" noTextEdit="1"/>
              </p:cNvSpPr>
              <p:nvPr/>
            </p:nvSpPr>
            <p:spPr>
              <a:xfrm>
                <a:off x="208700" y="6114803"/>
                <a:ext cx="4538324" cy="674736"/>
              </a:xfrm>
              <a:prstGeom prst="rect">
                <a:avLst/>
              </a:prstGeom>
              <a:blipFill>
                <a:blip r:embed="rId16"/>
                <a:stretch>
                  <a:fillRect b="-885"/>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975928C-1FA2-4487-B11E-F80AD015D5AD}"/>
                  </a:ext>
                </a:extLst>
              </p:cNvPr>
              <p:cNvSpPr txBox="1"/>
              <p:nvPr/>
            </p:nvSpPr>
            <p:spPr>
              <a:xfrm>
                <a:off x="636701" y="5616747"/>
                <a:ext cx="25037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solidFill>
                                <a:srgbClr val="FF0000"/>
                              </a:solidFill>
                              <a:latin typeface="Cambria Math" panose="02040503050406030204" pitchFamily="18" charset="0"/>
                            </a:rPr>
                          </m:ctrlPr>
                        </m:sSubPr>
                        <m:e>
                          <m:r>
                            <a:rPr lang="en-US" sz="18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𝑇</m:t>
                          </m:r>
                          <m:r>
                            <a:rPr lang="en-US" sz="18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US" sz="18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sz="18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𝑇</m:t>
                      </m:r>
                      <m:r>
                        <a:rPr lang="en-GB" sz="18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(1 −</m:t>
                      </m:r>
                      <m:r>
                        <a:rPr lang="en-GB" sz="18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𝐷</m:t>
                      </m:r>
                      <m:r>
                        <a:rPr lang="en-GB" sz="18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GB" dirty="0"/>
              </a:p>
            </p:txBody>
          </p:sp>
        </mc:Choice>
        <mc:Fallback xmlns="">
          <p:sp>
            <p:nvSpPr>
              <p:cNvPr id="30" name="TextBox 29">
                <a:extLst>
                  <a:ext uri="{FF2B5EF4-FFF2-40B4-BE49-F238E27FC236}">
                    <a16:creationId xmlns:a16="http://schemas.microsoft.com/office/drawing/2014/main" id="{0975928C-1FA2-4487-B11E-F80AD015D5AD}"/>
                  </a:ext>
                </a:extLst>
              </p:cNvPr>
              <p:cNvSpPr txBox="1">
                <a:spLocks noRot="1" noChangeAspect="1" noMove="1" noResize="1" noEditPoints="1" noAdjustHandles="1" noChangeArrowheads="1" noChangeShapeType="1" noTextEdit="1"/>
              </p:cNvSpPr>
              <p:nvPr/>
            </p:nvSpPr>
            <p:spPr>
              <a:xfrm>
                <a:off x="636701" y="5616747"/>
                <a:ext cx="2503714" cy="369332"/>
              </a:xfrm>
              <a:prstGeom prst="rect">
                <a:avLst/>
              </a:prstGeom>
              <a:blipFill>
                <a:blip r:embed="rId17"/>
                <a:stretch>
                  <a:fillRect b="-13115"/>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BE936257-9EBA-05D7-149B-DF95B1AA338B}"/>
              </a:ext>
            </a:extLst>
          </p:cNvPr>
          <p:cNvPicPr>
            <a:picLocks noChangeAspect="1"/>
          </p:cNvPicPr>
          <p:nvPr/>
        </p:nvPicPr>
        <p:blipFill>
          <a:blip r:embed="rId18"/>
          <a:stretch>
            <a:fillRect/>
          </a:stretch>
        </p:blipFill>
        <p:spPr>
          <a:xfrm>
            <a:off x="5016654" y="1289450"/>
            <a:ext cx="4111353" cy="1280585"/>
          </a:xfrm>
          <a:prstGeom prst="rect">
            <a:avLst/>
          </a:prstGeom>
        </p:spPr>
      </p:pic>
    </p:spTree>
    <p:extLst>
      <p:ext uri="{BB962C8B-B14F-4D97-AF65-F5344CB8AC3E}">
        <p14:creationId xmlns:p14="http://schemas.microsoft.com/office/powerpoint/2010/main" val="396711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4" grpId="0"/>
      <p:bldP spid="27" grpId="0" animBg="1"/>
      <p:bldP spid="28" grpId="0" animBg="1"/>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B8D52A19-FF9F-D14E-AD05-FB3C97B1744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DD8D62F-4870-5E43-BD34-4532716D6039}" type="slidenum">
              <a:rPr lang="en-US" altLang="en-US" sz="1400"/>
              <a:pPr>
                <a:spcBef>
                  <a:spcPct val="0"/>
                </a:spcBef>
                <a:buFontTx/>
                <a:buNone/>
              </a:pPr>
              <a:t>23</a:t>
            </a:fld>
            <a:endParaRPr lang="en-US" altLang="en-US" sz="1400"/>
          </a:p>
        </p:txBody>
      </p:sp>
      <p:sp>
        <p:nvSpPr>
          <p:cNvPr id="43011" name="Text Box 4">
            <a:extLst>
              <a:ext uri="{FF2B5EF4-FFF2-40B4-BE49-F238E27FC236}">
                <a16:creationId xmlns:a16="http://schemas.microsoft.com/office/drawing/2014/main" id="{ED43F7EF-237B-C742-83A2-B6AA33186CA1}"/>
              </a:ext>
            </a:extLst>
          </p:cNvPr>
          <p:cNvSpPr txBox="1">
            <a:spLocks noChangeArrowheads="1"/>
          </p:cNvSpPr>
          <p:nvPr/>
        </p:nvSpPr>
        <p:spPr bwMode="auto">
          <a:xfrm>
            <a:off x="89693" y="125420"/>
            <a:ext cx="8964613"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Buck tutorial.</a:t>
            </a:r>
          </a:p>
          <a:p>
            <a:pPr eaLnBrk="1" hangingPunct="1">
              <a:spcBef>
                <a:spcPct val="50000"/>
              </a:spcBef>
              <a:buFontTx/>
              <a:buNone/>
            </a:pPr>
            <a:r>
              <a:rPr lang="en-GB" altLang="en-US" sz="1800" dirty="0"/>
              <a:t>A buck converter has following parameters. Determine output voltage, average, minimum and maximum inductor current and output voltage ripple.</a:t>
            </a:r>
            <a:endParaRPr lang="en-US" altLang="en-US" sz="1800" dirty="0"/>
          </a:p>
        </p:txBody>
      </p:sp>
      <p:grpSp>
        <p:nvGrpSpPr>
          <p:cNvPr id="8" name="Group 7">
            <a:extLst>
              <a:ext uri="{FF2B5EF4-FFF2-40B4-BE49-F238E27FC236}">
                <a16:creationId xmlns:a16="http://schemas.microsoft.com/office/drawing/2014/main" id="{485647B5-4F55-A0D5-0432-3C43749AAB31}"/>
              </a:ext>
            </a:extLst>
          </p:cNvPr>
          <p:cNvGrpSpPr/>
          <p:nvPr/>
        </p:nvGrpSpPr>
        <p:grpSpPr>
          <a:xfrm>
            <a:off x="3818793" y="1379934"/>
            <a:ext cx="1506412" cy="1915393"/>
            <a:chOff x="210084" y="1150024"/>
            <a:chExt cx="1506412" cy="1915393"/>
          </a:xfrm>
        </p:grpSpPr>
        <p:pic>
          <p:nvPicPr>
            <p:cNvPr id="5" name="Picture 4">
              <a:extLst>
                <a:ext uri="{FF2B5EF4-FFF2-40B4-BE49-F238E27FC236}">
                  <a16:creationId xmlns:a16="http://schemas.microsoft.com/office/drawing/2014/main" id="{96F515CA-692D-8920-6ECC-FC2A8149A297}"/>
                </a:ext>
              </a:extLst>
            </p:cNvPr>
            <p:cNvPicPr>
              <a:picLocks noChangeAspect="1"/>
            </p:cNvPicPr>
            <p:nvPr/>
          </p:nvPicPr>
          <p:blipFill>
            <a:blip r:embed="rId2"/>
            <a:stretch>
              <a:fillRect/>
            </a:stretch>
          </p:blipFill>
          <p:spPr>
            <a:xfrm>
              <a:off x="210084" y="1150024"/>
              <a:ext cx="1506412" cy="191539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4623D7-EDB0-B84A-2777-244BB8E50881}"/>
                    </a:ext>
                  </a:extLst>
                </p:cNvPr>
                <p:cNvSpPr txBox="1"/>
                <p:nvPr/>
              </p:nvSpPr>
              <p:spPr>
                <a:xfrm>
                  <a:off x="210084" y="1199995"/>
                  <a:ext cx="439783" cy="369332"/>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solidFill>
                                  <a:srgbClr val="836967"/>
                                </a:solidFill>
                                <a:latin typeface="Cambria Math" panose="02040503050406030204" pitchFamily="18" charset="0"/>
                              </a:rPr>
                            </m:ctrlPr>
                          </m:sSubPr>
                          <m:e>
                            <m:r>
                              <a:rPr lang="en-GB" sz="1800" b="0" i="1" smtClean="0">
                                <a:latin typeface="Cambria Math" panose="02040503050406030204" pitchFamily="18" charset="0"/>
                              </a:rPr>
                              <m:t>𝑉</m:t>
                            </m:r>
                          </m:e>
                          <m:sub>
                            <m:r>
                              <a:rPr lang="en-GB" sz="1800" b="0" i="1" smtClean="0">
                                <a:latin typeface="Cambria Math" panose="02040503050406030204" pitchFamily="18" charset="0"/>
                              </a:rPr>
                              <m:t>𝐼𝑁</m:t>
                            </m:r>
                          </m:sub>
                        </m:sSub>
                      </m:oMath>
                    </m:oMathPara>
                  </a14:m>
                  <a:endParaRPr lang="en-GB" dirty="0"/>
                </a:p>
              </p:txBody>
            </p:sp>
          </mc:Choice>
          <mc:Fallback xmlns="">
            <p:sp>
              <p:nvSpPr>
                <p:cNvPr id="7" name="TextBox 6">
                  <a:extLst>
                    <a:ext uri="{FF2B5EF4-FFF2-40B4-BE49-F238E27FC236}">
                      <a16:creationId xmlns:a16="http://schemas.microsoft.com/office/drawing/2014/main" id="{7A4623D7-EDB0-B84A-2777-244BB8E50881}"/>
                    </a:ext>
                  </a:extLst>
                </p:cNvPr>
                <p:cNvSpPr txBox="1">
                  <a:spLocks noRot="1" noChangeAspect="1" noMove="1" noResize="1" noEditPoints="1" noAdjustHandles="1" noChangeArrowheads="1" noChangeShapeType="1" noTextEdit="1"/>
                </p:cNvSpPr>
                <p:nvPr/>
              </p:nvSpPr>
              <p:spPr>
                <a:xfrm>
                  <a:off x="210084" y="1199995"/>
                  <a:ext cx="439783" cy="369332"/>
                </a:xfrm>
                <a:prstGeom prst="rect">
                  <a:avLst/>
                </a:prstGeom>
                <a:blipFill>
                  <a:blip r:embed="rId3"/>
                  <a:stretch>
                    <a:fillRect r="-2667"/>
                  </a:stretch>
                </a:blipFill>
                <a:ln>
                  <a:solidFill>
                    <a:schemeClr val="bg1"/>
                  </a:solid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B0AF007-D40C-BC75-2F3A-5D9A3D2757B1}"/>
                  </a:ext>
                </a:extLst>
              </p:cNvPr>
              <p:cNvSpPr txBox="1"/>
              <p:nvPr/>
            </p:nvSpPr>
            <p:spPr>
              <a:xfrm>
                <a:off x="1070915" y="4034237"/>
                <a:ext cx="1742793" cy="400110"/>
              </a:xfrm>
              <a:prstGeom prst="rect">
                <a:avLst/>
              </a:prstGeom>
              <a:noFill/>
            </p:spPr>
            <p:txBody>
              <a:bodyPr wrap="square">
                <a:spAutoFit/>
              </a:bodyPr>
              <a:lstStyle/>
              <a:p>
                <a14:m>
                  <m:oMath xmlns:m="http://schemas.openxmlformats.org/officeDocument/2006/math">
                    <m:sSub>
                      <m:sSubPr>
                        <m:ctrlPr>
                          <a:rPr lang="en-US" sz="2000"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sz="2000"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sz="2000"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oMath>
                </a14:m>
                <a:r>
                  <a:rPr lang="en-US" sz="2000" b="1" dirty="0">
                    <a:solidFill>
                      <a:srgbClr val="FF0000"/>
                    </a:solidFill>
                  </a:rPr>
                  <a:t> =</a:t>
                </a:r>
                <a14:m>
                  <m:oMath xmlns:m="http://schemas.openxmlformats.org/officeDocument/2006/math">
                    <m:r>
                      <a:rPr lang="en-GB" sz="2000" b="1" i="0" smtClean="0">
                        <a:solidFill>
                          <a:srgbClr val="FF0000"/>
                        </a:solidFill>
                        <a:latin typeface="Cambria Math" panose="02040503050406030204" pitchFamily="18" charset="0"/>
                      </a:rPr>
                      <m:t>  </m:t>
                    </m:r>
                    <m:r>
                      <a:rPr lang="en-GB" sz="2000" b="1" i="1" smtClean="0">
                        <a:solidFill>
                          <a:srgbClr val="FF0000"/>
                        </a:solidFill>
                        <a:latin typeface="Cambria Math" panose="02040503050406030204" pitchFamily="18" charset="0"/>
                      </a:rPr>
                      <m:t>𝑫</m:t>
                    </m:r>
                    <m:sSub>
                      <m:sSubPr>
                        <m:ctrlPr>
                          <a:rPr lang="en-US" sz="2000" b="1" i="1">
                            <a:solidFill>
                              <a:srgbClr val="FF0000"/>
                            </a:solidFill>
                            <a:latin typeface="Cambria Math" panose="02040503050406030204" pitchFamily="18" charset="0"/>
                          </a:rPr>
                        </m:ctrlPr>
                      </m:sSubPr>
                      <m:e>
                        <m:r>
                          <a:rPr lang="en-US" sz="2000"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sz="2000"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oMath>
                </a14:m>
                <a:endParaRPr lang="en-GB" sz="2000" b="1" dirty="0">
                  <a:solidFill>
                    <a:schemeClr val="tx1"/>
                  </a:solidFill>
                  <a:ea typeface="SimSun" panose="02010600030101010101" pitchFamily="2" charset="-122"/>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CB0AF007-D40C-BC75-2F3A-5D9A3D2757B1}"/>
                  </a:ext>
                </a:extLst>
              </p:cNvPr>
              <p:cNvSpPr txBox="1">
                <a:spLocks noRot="1" noChangeAspect="1" noMove="1" noResize="1" noEditPoints="1" noAdjustHandles="1" noChangeArrowheads="1" noChangeShapeType="1" noTextEdit="1"/>
              </p:cNvSpPr>
              <p:nvPr/>
            </p:nvSpPr>
            <p:spPr>
              <a:xfrm>
                <a:off x="1070915" y="4034237"/>
                <a:ext cx="1742793" cy="400110"/>
              </a:xfrm>
              <a:prstGeom prst="rect">
                <a:avLst/>
              </a:prstGeom>
              <a:blipFill>
                <a:blip r:embed="rId4"/>
                <a:stretch>
                  <a:fillRect t="-9231" b="-276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EAB5A9-E7A6-BBA9-71D2-85258E2A8800}"/>
                  </a:ext>
                </a:extLst>
              </p:cNvPr>
              <p:cNvSpPr txBox="1"/>
              <p:nvPr/>
            </p:nvSpPr>
            <p:spPr>
              <a:xfrm>
                <a:off x="4449346" y="4017422"/>
                <a:ext cx="3761895" cy="6090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GB" b="1" i="1" smtClean="0">
                              <a:solidFill>
                                <a:srgbClr val="FF0000"/>
                              </a:solidFill>
                              <a:latin typeface="Cambria Math" panose="02040503050406030204" pitchFamily="18" charset="0"/>
                            </a:rPr>
                            <m:t>𝑰</m:t>
                          </m:r>
                        </m:e>
                        <m:sub>
                          <m:r>
                            <a:rPr lang="en-GB" b="1" i="1" smtClean="0">
                              <a:solidFill>
                                <a:srgbClr val="FF0000"/>
                              </a:solidFill>
                              <a:latin typeface="Cambria Math" panose="02040503050406030204" pitchFamily="18" charset="0"/>
                            </a:rPr>
                            <m:t>𝑳</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𝒂𝒗𝒈</m:t>
                          </m:r>
                        </m:sub>
                      </m:sSub>
                      <m:r>
                        <a:rPr lang="en-GB" b="1" i="1" smtClean="0">
                          <a:solidFill>
                            <a:srgbClr val="FF0000"/>
                          </a:solidFill>
                          <a:latin typeface="Cambria Math" panose="02040503050406030204" pitchFamily="18" charset="0"/>
                        </a:rPr>
                        <m:t>= </m:t>
                      </m:r>
                      <m:f>
                        <m:fPr>
                          <m:ctrlPr>
                            <a:rPr lang="en-US" b="1" i="1" smtClean="0">
                              <a:solidFill>
                                <a:srgbClr val="FF0000"/>
                              </a:solidFill>
                              <a:latin typeface="Cambria Math" panose="02040503050406030204" pitchFamily="18" charset="0"/>
                            </a:rPr>
                          </m:ctrlPr>
                        </m:fPr>
                        <m:num>
                          <m:sSub>
                            <m:sSubPr>
                              <m:ctrlPr>
                                <a:rPr lang="en-US" b="1" i="1">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𝑽</m:t>
                              </m:r>
                            </m:e>
                            <m:sub>
                              <m:r>
                                <a:rPr lang="en-GB" b="1" i="1">
                                  <a:solidFill>
                                    <a:srgbClr val="FF0000"/>
                                  </a:solidFill>
                                  <a:latin typeface="Cambria Math" panose="02040503050406030204" pitchFamily="18" charset="0"/>
                                </a:rPr>
                                <m:t>𝑶𝑼𝑻</m:t>
                              </m:r>
                            </m:sub>
                          </m:sSub>
                        </m:num>
                        <m:den>
                          <m:r>
                            <a:rPr lang="en-GB" b="1" i="1" smtClean="0">
                              <a:solidFill>
                                <a:srgbClr val="FF0000"/>
                              </a:solidFill>
                              <a:latin typeface="Cambria Math" panose="02040503050406030204" pitchFamily="18" charset="0"/>
                            </a:rPr>
                            <m:t>𝑹</m:t>
                          </m:r>
                        </m:den>
                      </m:f>
                    </m:oMath>
                  </m:oMathPara>
                </a14:m>
                <a:endParaRPr lang="en-GB" b="1" dirty="0">
                  <a:solidFill>
                    <a:srgbClr val="FF0000"/>
                  </a:solidFill>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55EAB5A9-E7A6-BBA9-71D2-85258E2A8800}"/>
                  </a:ext>
                </a:extLst>
              </p:cNvPr>
              <p:cNvSpPr txBox="1">
                <a:spLocks noRot="1" noChangeAspect="1" noMove="1" noResize="1" noEditPoints="1" noAdjustHandles="1" noChangeArrowheads="1" noChangeShapeType="1" noTextEdit="1"/>
              </p:cNvSpPr>
              <p:nvPr/>
            </p:nvSpPr>
            <p:spPr>
              <a:xfrm>
                <a:off x="4449346" y="4017422"/>
                <a:ext cx="3761895" cy="609077"/>
              </a:xfrm>
              <a:prstGeom prst="rect">
                <a:avLst/>
              </a:prstGeom>
              <a:blipFill>
                <a:blip r:embed="rId5"/>
                <a:stretch>
                  <a:fillRect/>
                </a:stretch>
              </a:blipFill>
              <a:ln>
                <a:solidFill>
                  <a:schemeClr val="bg1"/>
                </a:solidFill>
              </a:ln>
            </p:spPr>
            <p:txBody>
              <a:bodyPr/>
              <a:lstStyle/>
              <a:p>
                <a:r>
                  <a:rPr lang="en-GB">
                    <a:noFill/>
                  </a:rPr>
                  <a:t> </a:t>
                </a:r>
              </a:p>
            </p:txBody>
          </p:sp>
        </mc:Fallback>
      </mc:AlternateContent>
      <p:pic>
        <p:nvPicPr>
          <p:cNvPr id="15" name="Picture 14">
            <a:extLst>
              <a:ext uri="{FF2B5EF4-FFF2-40B4-BE49-F238E27FC236}">
                <a16:creationId xmlns:a16="http://schemas.microsoft.com/office/drawing/2014/main" id="{F13F7E68-6163-8230-478E-43A7C2E5FD78}"/>
              </a:ext>
            </a:extLst>
          </p:cNvPr>
          <p:cNvPicPr>
            <a:picLocks noChangeAspect="1"/>
          </p:cNvPicPr>
          <p:nvPr/>
        </p:nvPicPr>
        <p:blipFill>
          <a:blip r:embed="rId6"/>
          <a:stretch>
            <a:fillRect/>
          </a:stretch>
        </p:blipFill>
        <p:spPr>
          <a:xfrm>
            <a:off x="1752445" y="4606950"/>
            <a:ext cx="2280155" cy="46088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16EBE9A-6ED1-2905-FCD1-1F3747C2836A}"/>
                  </a:ext>
                </a:extLst>
              </p:cNvPr>
              <p:cNvSpPr txBox="1"/>
              <p:nvPr/>
            </p:nvSpPr>
            <p:spPr>
              <a:xfrm>
                <a:off x="6217920" y="4747965"/>
                <a:ext cx="1618488" cy="492443"/>
              </a:xfrm>
              <a:prstGeom prst="rect">
                <a:avLst/>
              </a:prstGeom>
              <a:noFill/>
            </p:spPr>
            <p:txBody>
              <a:bodyPr wrap="square">
                <a:spAutoFit/>
              </a:bodyPr>
              <a:lstStyle/>
              <a:p>
                <a14:m>
                  <m:oMath xmlns:m="http://schemas.openxmlformats.org/officeDocument/2006/math">
                    <m:r>
                      <a:rPr lang="en-GB" sz="1800" b="1" i="0" smtClean="0">
                        <a:solidFill>
                          <a:schemeClr val="tx1"/>
                        </a:solidFill>
                        <a:latin typeface="Cambria Math" panose="02040503050406030204" pitchFamily="18" charset="0"/>
                      </a:rPr>
                      <m:t>=</m:t>
                    </m:r>
                    <m:f>
                      <m:fPr>
                        <m:ctrlPr>
                          <a:rPr lang="en-US" sz="1800" b="1" i="1">
                            <a:solidFill>
                              <a:schemeClr val="tx1"/>
                            </a:solidFill>
                            <a:latin typeface="Cambria Math" panose="02040503050406030204" pitchFamily="18" charset="0"/>
                          </a:rPr>
                        </m:ctrlPr>
                      </m:fPr>
                      <m:num>
                        <m:r>
                          <a:rPr lang="en-GB" sz="1800"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𝟐𝟎</m:t>
                        </m:r>
                      </m:num>
                      <m:den>
                        <m:r>
                          <a:rPr lang="en-GB" sz="1800"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𝟐𝟎</m:t>
                        </m:r>
                      </m:den>
                    </m:f>
                    <m:r>
                      <a:rPr lang="en-GB" sz="1800"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sz="1800"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𝟏</m:t>
                    </m:r>
                    <m:r>
                      <a:rPr lang="en-GB" sz="1800"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𝑨</m:t>
                    </m:r>
                  </m:oMath>
                </a14:m>
                <a:r>
                  <a:rPr lang="en-GB" sz="1800" b="1" dirty="0">
                    <a:solidFill>
                      <a:schemeClr val="tx1"/>
                    </a:solidFill>
                  </a:rPr>
                  <a:t> </a:t>
                </a:r>
                <a:endParaRPr lang="en-GB" dirty="0"/>
              </a:p>
            </p:txBody>
          </p:sp>
        </mc:Choice>
        <mc:Fallback xmlns="">
          <p:sp>
            <p:nvSpPr>
              <p:cNvPr id="3" name="TextBox 2">
                <a:extLst>
                  <a:ext uri="{FF2B5EF4-FFF2-40B4-BE49-F238E27FC236}">
                    <a16:creationId xmlns:a16="http://schemas.microsoft.com/office/drawing/2014/main" id="{D16EBE9A-6ED1-2905-FCD1-1F3747C2836A}"/>
                  </a:ext>
                </a:extLst>
              </p:cNvPr>
              <p:cNvSpPr txBox="1">
                <a:spLocks noRot="1" noChangeAspect="1" noMove="1" noResize="1" noEditPoints="1" noAdjustHandles="1" noChangeArrowheads="1" noChangeShapeType="1" noTextEdit="1"/>
              </p:cNvSpPr>
              <p:nvPr/>
            </p:nvSpPr>
            <p:spPr>
              <a:xfrm>
                <a:off x="6217920" y="4747965"/>
                <a:ext cx="1618488" cy="492443"/>
              </a:xfrm>
              <a:prstGeom prst="rect">
                <a:avLst/>
              </a:prstGeom>
              <a:blipFill>
                <a:blip r:embed="rId7"/>
                <a:stretch>
                  <a:fillRect b="-1235"/>
                </a:stretch>
              </a:blipFill>
            </p:spPr>
            <p:txBody>
              <a:bodyPr/>
              <a:lstStyle/>
              <a:p>
                <a:r>
                  <a:rPr lang="en-GB">
                    <a:noFill/>
                  </a:rPr>
                  <a:t> </a:t>
                </a:r>
              </a:p>
            </p:txBody>
          </p:sp>
        </mc:Fallback>
      </mc:AlternateContent>
    </p:spTree>
    <p:extLst>
      <p:ext uri="{BB962C8B-B14F-4D97-AF65-F5344CB8AC3E}">
        <p14:creationId xmlns:p14="http://schemas.microsoft.com/office/powerpoint/2010/main" val="366673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85647B5-4F55-A0D5-0432-3C43749AAB31}"/>
              </a:ext>
            </a:extLst>
          </p:cNvPr>
          <p:cNvGrpSpPr/>
          <p:nvPr/>
        </p:nvGrpSpPr>
        <p:grpSpPr>
          <a:xfrm>
            <a:off x="3511296" y="1035331"/>
            <a:ext cx="1488081" cy="2033293"/>
            <a:chOff x="210084" y="1150024"/>
            <a:chExt cx="1506412" cy="1915393"/>
          </a:xfrm>
        </p:grpSpPr>
        <p:pic>
          <p:nvPicPr>
            <p:cNvPr id="5" name="Picture 4">
              <a:extLst>
                <a:ext uri="{FF2B5EF4-FFF2-40B4-BE49-F238E27FC236}">
                  <a16:creationId xmlns:a16="http://schemas.microsoft.com/office/drawing/2014/main" id="{96F515CA-692D-8920-6ECC-FC2A8149A297}"/>
                </a:ext>
              </a:extLst>
            </p:cNvPr>
            <p:cNvPicPr>
              <a:picLocks noChangeAspect="1"/>
            </p:cNvPicPr>
            <p:nvPr/>
          </p:nvPicPr>
          <p:blipFill>
            <a:blip r:embed="rId2"/>
            <a:stretch>
              <a:fillRect/>
            </a:stretch>
          </p:blipFill>
          <p:spPr>
            <a:xfrm>
              <a:off x="210084" y="1150024"/>
              <a:ext cx="1506412" cy="191539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4623D7-EDB0-B84A-2777-244BB8E50881}"/>
                    </a:ext>
                  </a:extLst>
                </p:cNvPr>
                <p:cNvSpPr txBox="1"/>
                <p:nvPr/>
              </p:nvSpPr>
              <p:spPr>
                <a:xfrm>
                  <a:off x="210084" y="1199995"/>
                  <a:ext cx="439783" cy="369332"/>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solidFill>
                                  <a:srgbClr val="836967"/>
                                </a:solidFill>
                                <a:latin typeface="Cambria Math" panose="02040503050406030204" pitchFamily="18" charset="0"/>
                              </a:rPr>
                            </m:ctrlPr>
                          </m:sSubPr>
                          <m:e>
                            <m:r>
                              <a:rPr lang="en-GB" sz="1800" b="0" i="1" smtClean="0">
                                <a:latin typeface="Cambria Math" panose="02040503050406030204" pitchFamily="18" charset="0"/>
                              </a:rPr>
                              <m:t>𝑉</m:t>
                            </m:r>
                          </m:e>
                          <m:sub>
                            <m:r>
                              <a:rPr lang="en-GB" sz="1800" b="0" i="1" smtClean="0">
                                <a:latin typeface="Cambria Math" panose="02040503050406030204" pitchFamily="18" charset="0"/>
                              </a:rPr>
                              <m:t>𝐼𝑁</m:t>
                            </m:r>
                          </m:sub>
                        </m:sSub>
                      </m:oMath>
                    </m:oMathPara>
                  </a14:m>
                  <a:endParaRPr lang="en-GB" dirty="0"/>
                </a:p>
              </p:txBody>
            </p:sp>
          </mc:Choice>
          <mc:Fallback xmlns="">
            <p:sp>
              <p:nvSpPr>
                <p:cNvPr id="7" name="TextBox 6">
                  <a:extLst>
                    <a:ext uri="{FF2B5EF4-FFF2-40B4-BE49-F238E27FC236}">
                      <a16:creationId xmlns:a16="http://schemas.microsoft.com/office/drawing/2014/main" id="{7A4623D7-EDB0-B84A-2777-244BB8E50881}"/>
                    </a:ext>
                  </a:extLst>
                </p:cNvPr>
                <p:cNvSpPr txBox="1">
                  <a:spLocks noRot="1" noChangeAspect="1" noMove="1" noResize="1" noEditPoints="1" noAdjustHandles="1" noChangeArrowheads="1" noChangeShapeType="1" noTextEdit="1"/>
                </p:cNvSpPr>
                <p:nvPr/>
              </p:nvSpPr>
              <p:spPr>
                <a:xfrm>
                  <a:off x="210084" y="1199995"/>
                  <a:ext cx="439783" cy="369332"/>
                </a:xfrm>
                <a:prstGeom prst="rect">
                  <a:avLst/>
                </a:prstGeom>
                <a:blipFill>
                  <a:blip r:embed="rId3"/>
                  <a:stretch>
                    <a:fillRect r="-2667"/>
                  </a:stretch>
                </a:blipFill>
                <a:ln>
                  <a:solidFill>
                    <a:schemeClr val="bg1"/>
                  </a:solidFill>
                </a:ln>
              </p:spPr>
              <p:txBody>
                <a:bodyPr/>
                <a:lstStyle/>
                <a:p>
                  <a:r>
                    <a:rPr lang="en-GB">
                      <a:noFill/>
                    </a:rPr>
                    <a:t> </a:t>
                  </a:r>
                </a:p>
              </p:txBody>
            </p:sp>
          </mc:Fallback>
        </mc:AlternateContent>
      </p:grpSp>
      <p:sp>
        <p:nvSpPr>
          <p:cNvPr id="43010" name="Slide Number Placeholder 3">
            <a:extLst>
              <a:ext uri="{FF2B5EF4-FFF2-40B4-BE49-F238E27FC236}">
                <a16:creationId xmlns:a16="http://schemas.microsoft.com/office/drawing/2014/main" id="{B8D52A19-FF9F-D14E-AD05-FB3C97B1744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DD8D62F-4870-5E43-BD34-4532716D6039}" type="slidenum">
              <a:rPr lang="en-US" altLang="en-US" sz="1400"/>
              <a:pPr>
                <a:spcBef>
                  <a:spcPct val="0"/>
                </a:spcBef>
                <a:buFontTx/>
                <a:buNone/>
              </a:pPr>
              <a:t>24</a:t>
            </a:fld>
            <a:endParaRPr lang="en-US" altLang="en-US" sz="1400"/>
          </a:p>
        </p:txBody>
      </p:sp>
      <p:sp>
        <p:nvSpPr>
          <p:cNvPr id="43011" name="Text Box 4">
            <a:extLst>
              <a:ext uri="{FF2B5EF4-FFF2-40B4-BE49-F238E27FC236}">
                <a16:creationId xmlns:a16="http://schemas.microsoft.com/office/drawing/2014/main" id="{ED43F7EF-237B-C742-83A2-B6AA33186CA1}"/>
              </a:ext>
            </a:extLst>
          </p:cNvPr>
          <p:cNvSpPr txBox="1">
            <a:spLocks noChangeArrowheads="1"/>
          </p:cNvSpPr>
          <p:nvPr/>
        </p:nvSpPr>
        <p:spPr bwMode="auto">
          <a:xfrm>
            <a:off x="38862" y="33832"/>
            <a:ext cx="8964613"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Buck tutorial.</a:t>
            </a:r>
          </a:p>
          <a:p>
            <a:pPr eaLnBrk="1" hangingPunct="1">
              <a:spcBef>
                <a:spcPct val="50000"/>
              </a:spcBef>
              <a:buFontTx/>
              <a:buNone/>
            </a:pPr>
            <a:r>
              <a:rPr lang="en-GB" altLang="en-US" sz="1800" dirty="0"/>
              <a:t>A buck converter has following parameters. Determine output voltage, average minimum and maximum inductor current and output voltage ripple.</a:t>
            </a:r>
            <a:endParaRPr lang="en-US" altLang="en-US" sz="18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B0AF007-D40C-BC75-2F3A-5D9A3D2757B1}"/>
                  </a:ext>
                </a:extLst>
              </p:cNvPr>
              <p:cNvSpPr txBox="1"/>
              <p:nvPr/>
            </p:nvSpPr>
            <p:spPr>
              <a:xfrm>
                <a:off x="0" y="3196223"/>
                <a:ext cx="4852517" cy="6665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𝐼</m:t>
                              </m:r>
                            </m:e>
                            <m:sub>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𝐿</m:t>
                              </m:r>
                            </m:sub>
                          </m:sSub>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e>
                        <m:sub>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𝑐𝑙𝑜𝑠𝑒𝑑</m:t>
                          </m:r>
                        </m:sub>
                      </m:sSub>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f>
                        <m:fPr>
                          <m:ctrlP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𝐼𝑁</m:t>
                              </m:r>
                            </m:sub>
                          </m:sSub>
                          <m:r>
                            <a:rPr lang="en-GB"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sSub>
                            <m:sSubPr>
                              <m:ctrlP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𝐿</m:t>
                          </m:r>
                        </m:den>
                      </m:f>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sz="20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sSub>
                        <m:sSubPr>
                          <m:ctrlP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𝑡</m:t>
                          </m:r>
                        </m:e>
                        <m:sub>
                          <m:r>
                            <a:rPr lang="en-US" sz="2000"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𝑜𝑛</m:t>
                          </m:r>
                        </m:sub>
                      </m:sSub>
                    </m:oMath>
                  </m:oMathPara>
                </a14:m>
                <a:endParaRPr lang="en-GB" sz="2000" b="1" dirty="0">
                  <a:solidFill>
                    <a:srgbClr val="FF0000"/>
                  </a:solidFill>
                  <a:ea typeface="SimSun" panose="02010600030101010101" pitchFamily="2" charset="-122"/>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CB0AF007-D40C-BC75-2F3A-5D9A3D2757B1}"/>
                  </a:ext>
                </a:extLst>
              </p:cNvPr>
              <p:cNvSpPr txBox="1">
                <a:spLocks noRot="1" noChangeAspect="1" noMove="1" noResize="1" noEditPoints="1" noAdjustHandles="1" noChangeArrowheads="1" noChangeShapeType="1" noTextEdit="1"/>
              </p:cNvSpPr>
              <p:nvPr/>
            </p:nvSpPr>
            <p:spPr>
              <a:xfrm>
                <a:off x="0" y="3196223"/>
                <a:ext cx="4852517" cy="66652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750D484-82D9-1010-4259-F905539AFFA4}"/>
                  </a:ext>
                </a:extLst>
              </p:cNvPr>
              <p:cNvSpPr txBox="1"/>
              <p:nvPr/>
            </p:nvSpPr>
            <p:spPr>
              <a:xfrm>
                <a:off x="5404281" y="3206619"/>
                <a:ext cx="4164737" cy="657552"/>
              </a:xfrm>
              <a:prstGeom prst="rect">
                <a:avLst/>
              </a:prstGeom>
              <a:noFill/>
            </p:spPr>
            <p:txBody>
              <a:bodyPr wrap="square">
                <a:spAutoFit/>
              </a:bodyPr>
              <a:lstStyle/>
              <a:p>
                <a14:m>
                  <m:oMath xmlns:m="http://schemas.openxmlformats.org/officeDocument/2006/math">
                    <m:r>
                      <a:rPr lang="en-GB" sz="2400" i="1" smtClean="0">
                        <a:solidFill>
                          <a:srgbClr val="FF0000"/>
                        </a:solidFill>
                        <a:latin typeface="Cambria Math" panose="02040503050406030204" pitchFamily="18" charset="0"/>
                      </a:rPr>
                      <m:t>𝑇</m:t>
                    </m:r>
                    <m:r>
                      <a:rPr lang="en-GB" sz="2400" b="0" i="1" smtClean="0">
                        <a:solidFill>
                          <a:srgbClr val="FF0000"/>
                        </a:solidFill>
                        <a:latin typeface="Cambria Math" panose="02040503050406030204" pitchFamily="18" charset="0"/>
                      </a:rPr>
                      <m:t>= </m:t>
                    </m:r>
                    <m:f>
                      <m:fPr>
                        <m:ctrlPr>
                          <a:rPr lang="en-GB" sz="2400" b="0" i="1" smtClean="0">
                            <a:solidFill>
                              <a:srgbClr val="FF0000"/>
                            </a:solidFill>
                            <a:latin typeface="Cambria Math" panose="02040503050406030204" pitchFamily="18" charset="0"/>
                          </a:rPr>
                        </m:ctrlPr>
                      </m:fPr>
                      <m:num>
                        <m:r>
                          <a:rPr lang="en-GB" sz="2400" b="0" i="1" smtClean="0">
                            <a:solidFill>
                              <a:srgbClr val="FF0000"/>
                            </a:solidFill>
                            <a:latin typeface="Cambria Math" panose="02040503050406030204" pitchFamily="18" charset="0"/>
                          </a:rPr>
                          <m:t>1</m:t>
                        </m:r>
                      </m:num>
                      <m:den>
                        <m:r>
                          <a:rPr lang="en-GB" sz="2400" b="0" i="1" smtClean="0">
                            <a:solidFill>
                              <a:srgbClr val="FF0000"/>
                            </a:solidFill>
                            <a:latin typeface="Cambria Math" panose="02040503050406030204" pitchFamily="18" charset="0"/>
                          </a:rPr>
                          <m:t>𝑓</m:t>
                        </m:r>
                      </m:den>
                    </m:f>
                  </m:oMath>
                </a14:m>
                <a:r>
                  <a:rPr lang="en-US" sz="2400" dirty="0">
                    <a:solidFill>
                      <a:srgbClr val="FF0000"/>
                    </a:solidFill>
                  </a:rPr>
                  <a:t> and </a:t>
                </a:r>
                <a14:m>
                  <m:oMath xmlns:m="http://schemas.openxmlformats.org/officeDocument/2006/math">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𝑡</m:t>
                        </m:r>
                      </m:e>
                      <m:sub>
                        <m:r>
                          <a:rPr lang="en-US" sz="2400" i="1">
                            <a:solidFill>
                              <a:srgbClr val="FF0000"/>
                            </a:solidFill>
                            <a:latin typeface="Cambria Math" panose="02040503050406030204" pitchFamily="18" charset="0"/>
                          </a:rPr>
                          <m:t>𝑜𝑛</m:t>
                        </m:r>
                      </m:sub>
                    </m:sSub>
                    <m:r>
                      <a:rPr lang="en-GB" sz="2400">
                        <a:solidFill>
                          <a:srgbClr val="FF0000"/>
                        </a:solidFill>
                        <a:latin typeface="Cambria Math" panose="02040503050406030204" pitchFamily="18" charset="0"/>
                      </a:rPr>
                      <m:t>=</m:t>
                    </m:r>
                    <m:r>
                      <a:rPr lang="en-GB" sz="2400" i="1">
                        <a:solidFill>
                          <a:srgbClr val="FF0000"/>
                        </a:solidFill>
                        <a:latin typeface="Cambria Math" panose="02040503050406030204" pitchFamily="18" charset="0"/>
                      </a:rPr>
                      <m:t>𝐷𝑇</m:t>
                    </m:r>
                  </m:oMath>
                </a14:m>
                <a:endParaRPr lang="en-GB" sz="2400" dirty="0">
                  <a:solidFill>
                    <a:srgbClr val="FF0000"/>
                  </a:solidFill>
                </a:endParaRPr>
              </a:p>
            </p:txBody>
          </p:sp>
        </mc:Choice>
        <mc:Fallback xmlns="">
          <p:sp>
            <p:nvSpPr>
              <p:cNvPr id="2" name="TextBox 1">
                <a:extLst>
                  <a:ext uri="{FF2B5EF4-FFF2-40B4-BE49-F238E27FC236}">
                    <a16:creationId xmlns:a16="http://schemas.microsoft.com/office/drawing/2014/main" id="{8750D484-82D9-1010-4259-F905539AFFA4}"/>
                  </a:ext>
                </a:extLst>
              </p:cNvPr>
              <p:cNvSpPr txBox="1">
                <a:spLocks noRot="1" noChangeAspect="1" noMove="1" noResize="1" noEditPoints="1" noAdjustHandles="1" noChangeArrowheads="1" noChangeShapeType="1" noTextEdit="1"/>
              </p:cNvSpPr>
              <p:nvPr/>
            </p:nvSpPr>
            <p:spPr>
              <a:xfrm>
                <a:off x="5404281" y="3206619"/>
                <a:ext cx="4164737" cy="657552"/>
              </a:xfrm>
              <a:prstGeom prst="rect">
                <a:avLst/>
              </a:prstGeom>
              <a:blipFill>
                <a:blip r:embed="rId5"/>
                <a:stretch>
                  <a:fillRect b="-2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3895ED9-BF1E-82A4-15E4-9BDDAF9ADEE4}"/>
                  </a:ext>
                </a:extLst>
              </p:cNvPr>
              <p:cNvSpPr txBox="1"/>
              <p:nvPr/>
            </p:nvSpPr>
            <p:spPr>
              <a:xfrm>
                <a:off x="5404281" y="4020592"/>
                <a:ext cx="4585716" cy="616194"/>
              </a:xfrm>
              <a:prstGeom prst="rect">
                <a:avLst/>
              </a:prstGeom>
              <a:noFill/>
            </p:spPr>
            <p:txBody>
              <a:bodyPr wrap="square">
                <a:spAutoFit/>
              </a:bodyPr>
              <a:lstStyle/>
              <a:p>
                <a:r>
                  <a:rPr lang="en-US" sz="2400" dirty="0">
                    <a:solidFill>
                      <a:schemeClr val="tx1"/>
                    </a:solidFill>
                  </a:rPr>
                  <a:t> </a:t>
                </a:r>
                <a14:m>
                  <m:oMath xmlns:m="http://schemas.openxmlformats.org/officeDocument/2006/math">
                    <m:r>
                      <a:rPr lang="en-GB" sz="2400" i="1">
                        <a:solidFill>
                          <a:schemeClr val="tx1"/>
                        </a:solidFill>
                        <a:latin typeface="Cambria Math" panose="02040503050406030204" pitchFamily="18" charset="0"/>
                      </a:rPr>
                      <m:t>𝑇</m:t>
                    </m:r>
                    <m:r>
                      <a:rPr lang="en-GB" sz="2400" i="1">
                        <a:solidFill>
                          <a:schemeClr val="tx1"/>
                        </a:solidFill>
                        <a:latin typeface="Cambria Math" panose="02040503050406030204" pitchFamily="18" charset="0"/>
                      </a:rPr>
                      <m:t>=</m:t>
                    </m:r>
                  </m:oMath>
                </a14:m>
                <a:r>
                  <a:rPr lang="en-US" sz="2400" dirty="0">
                    <a:solidFill>
                      <a:schemeClr val="tx1"/>
                    </a:solidFill>
                  </a:rPr>
                  <a:t> </a:t>
                </a:r>
                <a14:m>
                  <m:oMath xmlns:m="http://schemas.openxmlformats.org/officeDocument/2006/math">
                    <m:f>
                      <m:fPr>
                        <m:ctrlPr>
                          <a:rPr lang="en-GB" sz="2400" i="1">
                            <a:solidFill>
                              <a:schemeClr val="tx1"/>
                            </a:solidFill>
                            <a:latin typeface="Cambria Math" panose="02040503050406030204" pitchFamily="18" charset="0"/>
                          </a:rPr>
                        </m:ctrlPr>
                      </m:fPr>
                      <m:num>
                        <m:r>
                          <a:rPr lang="en-GB" sz="2400" i="1">
                            <a:solidFill>
                              <a:schemeClr val="tx1"/>
                            </a:solidFill>
                            <a:latin typeface="Cambria Math" panose="02040503050406030204" pitchFamily="18" charset="0"/>
                          </a:rPr>
                          <m:t>1</m:t>
                        </m:r>
                      </m:num>
                      <m:den>
                        <m:r>
                          <a:rPr lang="en-GB" sz="2400" b="0" i="1" smtClean="0">
                            <a:solidFill>
                              <a:schemeClr val="tx1"/>
                            </a:solidFill>
                            <a:latin typeface="Cambria Math" panose="02040503050406030204" pitchFamily="18" charset="0"/>
                          </a:rPr>
                          <m:t>20 </m:t>
                        </m:r>
                        <m:r>
                          <a:rPr lang="en-GB" sz="2400" b="0" i="1" smtClean="0">
                            <a:solidFill>
                              <a:schemeClr val="tx1"/>
                            </a:solidFill>
                            <a:latin typeface="Cambria Math" panose="02040503050406030204" pitchFamily="18" charset="0"/>
                          </a:rPr>
                          <m:t>𝑘𝐻𝑧</m:t>
                        </m:r>
                      </m:den>
                    </m:f>
                    <m:r>
                      <a:rPr lang="en-GB" sz="2400" b="0" i="0" smtClean="0">
                        <a:solidFill>
                          <a:schemeClr val="tx1"/>
                        </a:solidFill>
                        <a:latin typeface="Cambria Math" panose="02040503050406030204" pitchFamily="18" charset="0"/>
                      </a:rPr>
                      <m:t>=50</m:t>
                    </m:r>
                    <m:r>
                      <m:rPr>
                        <m:sty m:val="p"/>
                      </m:rPr>
                      <a:rPr lang="el-GR" sz="2400" b="0" i="1" smtClean="0">
                        <a:solidFill>
                          <a:schemeClr val="tx1"/>
                        </a:solidFill>
                        <a:latin typeface="Cambria Math" panose="02040503050406030204" pitchFamily="18" charset="0"/>
                        <a:ea typeface="Cambria Math" panose="02040503050406030204" pitchFamily="18" charset="0"/>
                      </a:rPr>
                      <m:t>μ</m:t>
                    </m:r>
                    <m:r>
                      <a:rPr lang="en-GB" sz="2400" b="0" i="1" smtClean="0">
                        <a:solidFill>
                          <a:schemeClr val="tx1"/>
                        </a:solidFill>
                        <a:latin typeface="Cambria Math" panose="02040503050406030204" pitchFamily="18" charset="0"/>
                        <a:ea typeface="Cambria Math" panose="02040503050406030204" pitchFamily="18" charset="0"/>
                      </a:rPr>
                      <m:t>𝑠</m:t>
                    </m:r>
                  </m:oMath>
                </a14:m>
                <a:endParaRPr lang="en-GB" sz="2400" b="0" dirty="0">
                  <a:solidFill>
                    <a:schemeClr val="tx1"/>
                  </a:solidFill>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E3895ED9-BF1E-82A4-15E4-9BDDAF9ADEE4}"/>
                  </a:ext>
                </a:extLst>
              </p:cNvPr>
              <p:cNvSpPr txBox="1">
                <a:spLocks noRot="1" noChangeAspect="1" noMove="1" noResize="1" noEditPoints="1" noAdjustHandles="1" noChangeArrowheads="1" noChangeShapeType="1" noTextEdit="1"/>
              </p:cNvSpPr>
              <p:nvPr/>
            </p:nvSpPr>
            <p:spPr>
              <a:xfrm>
                <a:off x="5404281" y="4020592"/>
                <a:ext cx="4585716" cy="61619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7FE7ADD-4AD7-008A-2B93-4B928F6C3C9B}"/>
                  </a:ext>
                </a:extLst>
              </p:cNvPr>
              <p:cNvSpPr txBox="1"/>
              <p:nvPr/>
            </p:nvSpPr>
            <p:spPr>
              <a:xfrm>
                <a:off x="5512744" y="4866731"/>
                <a:ext cx="4773168" cy="461665"/>
              </a:xfrm>
              <a:prstGeom prst="rect">
                <a:avLst/>
              </a:prstGeom>
              <a:noFill/>
            </p:spPr>
            <p:txBody>
              <a:bodyPr wrap="square">
                <a:spAutoFit/>
              </a:bodyPr>
              <a:lstStyle/>
              <a:p>
                <a14:m>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𝑡</m:t>
                        </m:r>
                      </m:e>
                      <m:sub>
                        <m:r>
                          <a:rPr lang="en-US" sz="2400" i="1">
                            <a:solidFill>
                              <a:schemeClr val="tx1"/>
                            </a:solidFill>
                            <a:latin typeface="Cambria Math" panose="02040503050406030204" pitchFamily="18" charset="0"/>
                          </a:rPr>
                          <m:t>𝑜𝑛</m:t>
                        </m:r>
                      </m:sub>
                    </m:sSub>
                  </m:oMath>
                </a14:m>
                <a:r>
                  <a:rPr lang="en-GB" sz="2400" dirty="0">
                    <a:solidFill>
                      <a:schemeClr val="tx1"/>
                    </a:solidFill>
                  </a:rPr>
                  <a:t> </a:t>
                </a:r>
                <a14:m>
                  <m:oMath xmlns:m="http://schemas.openxmlformats.org/officeDocument/2006/math">
                    <m:r>
                      <a:rPr lang="en-GB" sz="2000">
                        <a:solidFill>
                          <a:schemeClr val="tx1"/>
                        </a:solidFill>
                        <a:latin typeface="Cambria Math" panose="02040503050406030204" pitchFamily="18" charset="0"/>
                      </a:rPr>
                      <m:t>=</m:t>
                    </m:r>
                    <m:r>
                      <a:rPr lang="en-GB" sz="2000" b="0" i="1" smtClean="0">
                        <a:solidFill>
                          <a:schemeClr val="tx1"/>
                        </a:solidFill>
                        <a:latin typeface="Cambria Math" panose="02040503050406030204" pitchFamily="18" charset="0"/>
                      </a:rPr>
                      <m:t>0.4</m:t>
                    </m:r>
                    <m:r>
                      <a:rPr lang="en-GB" sz="2000" b="0" i="1" smtClean="0">
                        <a:solidFill>
                          <a:schemeClr val="tx1"/>
                        </a:solidFill>
                        <a:latin typeface="Cambria Math" panose="02040503050406030204" pitchFamily="18" charset="0"/>
                        <a:ea typeface="Cambria Math" panose="02040503050406030204" pitchFamily="18" charset="0"/>
                      </a:rPr>
                      <m:t>×50=20</m:t>
                    </m:r>
                    <m:r>
                      <m:rPr>
                        <m:sty m:val="p"/>
                      </m:rPr>
                      <a:rPr lang="el-GR" sz="2000" i="1">
                        <a:solidFill>
                          <a:schemeClr val="tx1"/>
                        </a:solidFill>
                        <a:latin typeface="Cambria Math" panose="02040503050406030204" pitchFamily="18" charset="0"/>
                        <a:ea typeface="Cambria Math" panose="02040503050406030204" pitchFamily="18" charset="0"/>
                      </a:rPr>
                      <m:t>μ</m:t>
                    </m:r>
                    <m:r>
                      <a:rPr lang="en-GB" sz="2000" i="1">
                        <a:solidFill>
                          <a:schemeClr val="tx1"/>
                        </a:solidFill>
                        <a:latin typeface="Cambria Math" panose="02040503050406030204" pitchFamily="18" charset="0"/>
                        <a:ea typeface="Cambria Math" panose="02040503050406030204" pitchFamily="18" charset="0"/>
                      </a:rPr>
                      <m:t>𝑠</m:t>
                    </m:r>
                  </m:oMath>
                </a14:m>
                <a:endParaRPr lang="en-GB" sz="2000" dirty="0">
                  <a:solidFill>
                    <a:schemeClr val="tx1"/>
                  </a:solidFill>
                </a:endParaRPr>
              </a:p>
            </p:txBody>
          </p:sp>
        </mc:Choice>
        <mc:Fallback xmlns="">
          <p:sp>
            <p:nvSpPr>
              <p:cNvPr id="9" name="TextBox 8">
                <a:extLst>
                  <a:ext uri="{FF2B5EF4-FFF2-40B4-BE49-F238E27FC236}">
                    <a16:creationId xmlns:a16="http://schemas.microsoft.com/office/drawing/2014/main" id="{17FE7ADD-4AD7-008A-2B93-4B928F6C3C9B}"/>
                  </a:ext>
                </a:extLst>
              </p:cNvPr>
              <p:cNvSpPr txBox="1">
                <a:spLocks noRot="1" noChangeAspect="1" noMove="1" noResize="1" noEditPoints="1" noAdjustHandles="1" noChangeArrowheads="1" noChangeShapeType="1" noTextEdit="1"/>
              </p:cNvSpPr>
              <p:nvPr/>
            </p:nvSpPr>
            <p:spPr>
              <a:xfrm>
                <a:off x="5512744" y="4866731"/>
                <a:ext cx="4773168" cy="461665"/>
              </a:xfrm>
              <a:prstGeom prst="rect">
                <a:avLst/>
              </a:prstGeom>
              <a:blipFill>
                <a:blip r:embed="rId7"/>
                <a:stretch>
                  <a:fillRect b="-39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39F7BB4-4A2E-52C9-43D1-77654AE20D8F}"/>
                  </a:ext>
                </a:extLst>
              </p:cNvPr>
              <p:cNvSpPr txBox="1"/>
              <p:nvPr/>
            </p:nvSpPr>
            <p:spPr>
              <a:xfrm>
                <a:off x="596646" y="3947812"/>
                <a:ext cx="5143500" cy="6617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fPr>
                        <m:num>
                          <m:r>
                            <a:rPr lang="en-GB" sz="1800"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50</m:t>
                          </m:r>
                          <m:r>
                            <a:rPr lang="en-GB" sz="1800" i="1">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20</m:t>
                          </m:r>
                        </m:num>
                        <m:den>
                          <m:r>
                            <a:rPr lang="en-GB" sz="1800"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400</m:t>
                          </m:r>
                          <m:r>
                            <m:rPr>
                              <m:sty m:val="p"/>
                            </m:rPr>
                            <a:rPr lang="el-GR" sz="1800" i="1">
                              <a:solidFill>
                                <a:schemeClr val="tx1"/>
                              </a:solidFill>
                              <a:latin typeface="Cambria Math" panose="02040503050406030204" pitchFamily="18" charset="0"/>
                              <a:ea typeface="Cambria Math" panose="02040503050406030204" pitchFamily="18" charset="0"/>
                            </a:rPr>
                            <m:t>μ</m:t>
                          </m:r>
                          <m:r>
                            <a:rPr lang="en-GB" sz="1800" b="0" i="1" smtClean="0">
                              <a:solidFill>
                                <a:schemeClr val="tx1"/>
                              </a:solidFill>
                              <a:latin typeface="Cambria Math" panose="02040503050406030204" pitchFamily="18" charset="0"/>
                              <a:ea typeface="Cambria Math" panose="02040503050406030204" pitchFamily="18" charset="0"/>
                            </a:rPr>
                            <m:t>𝐻</m:t>
                          </m:r>
                        </m:den>
                      </m:f>
                      <m:r>
                        <a:rPr lang="en-US" sz="1800" i="1">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r>
                        <a:rPr lang="en-GB" sz="1800" i="1">
                          <a:solidFill>
                            <a:schemeClr val="tx1"/>
                          </a:solidFill>
                          <a:latin typeface="Cambria Math" panose="02040503050406030204" pitchFamily="18" charset="0"/>
                          <a:ea typeface="Cambria Math" panose="02040503050406030204" pitchFamily="18" charset="0"/>
                        </a:rPr>
                        <m:t>20</m:t>
                      </m:r>
                      <m:r>
                        <m:rPr>
                          <m:sty m:val="p"/>
                        </m:rPr>
                        <a:rPr lang="el-GR" sz="1800" i="1">
                          <a:solidFill>
                            <a:schemeClr val="tx1"/>
                          </a:solidFill>
                          <a:latin typeface="Cambria Math" panose="02040503050406030204" pitchFamily="18" charset="0"/>
                          <a:ea typeface="Cambria Math" panose="02040503050406030204" pitchFamily="18" charset="0"/>
                        </a:rPr>
                        <m:t>μ</m:t>
                      </m:r>
                      <m:r>
                        <a:rPr lang="en-GB" sz="1800" i="1">
                          <a:solidFill>
                            <a:schemeClr val="tx1"/>
                          </a:solidFill>
                          <a:latin typeface="Cambria Math" panose="02040503050406030204" pitchFamily="18" charset="0"/>
                          <a:ea typeface="Cambria Math" panose="02040503050406030204" pitchFamily="18" charset="0"/>
                        </a:rPr>
                        <m:t>𝑠</m:t>
                      </m:r>
                    </m:oMath>
                  </m:oMathPara>
                </a14:m>
                <a:endParaRPr lang="en-GB" dirty="0">
                  <a:solidFill>
                    <a:schemeClr val="tx1"/>
                  </a:solidFill>
                </a:endParaRPr>
              </a:p>
            </p:txBody>
          </p:sp>
        </mc:Choice>
        <mc:Fallback xmlns="">
          <p:sp>
            <p:nvSpPr>
              <p:cNvPr id="14" name="TextBox 13">
                <a:extLst>
                  <a:ext uri="{FF2B5EF4-FFF2-40B4-BE49-F238E27FC236}">
                    <a16:creationId xmlns:a16="http://schemas.microsoft.com/office/drawing/2014/main" id="{F39F7BB4-4A2E-52C9-43D1-77654AE20D8F}"/>
                  </a:ext>
                </a:extLst>
              </p:cNvPr>
              <p:cNvSpPr txBox="1">
                <a:spLocks noRot="1" noChangeAspect="1" noMove="1" noResize="1" noEditPoints="1" noAdjustHandles="1" noChangeArrowheads="1" noChangeShapeType="1" noTextEdit="1"/>
              </p:cNvSpPr>
              <p:nvPr/>
            </p:nvSpPr>
            <p:spPr>
              <a:xfrm>
                <a:off x="596646" y="3947812"/>
                <a:ext cx="5143500" cy="66172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E6163EC-E8E5-C57A-516F-AB6BF66FF078}"/>
                  </a:ext>
                </a:extLst>
              </p:cNvPr>
              <p:cNvSpPr txBox="1"/>
              <p:nvPr/>
            </p:nvSpPr>
            <p:spPr>
              <a:xfrm>
                <a:off x="523494" y="4775414"/>
                <a:ext cx="51435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r>
                        <a:rPr lang="en-GB" sz="1800" b="0" i="1" smtClean="0">
                          <a:solidFill>
                            <a:schemeClr val="tx1"/>
                          </a:solidFill>
                          <a:latin typeface="Cambria Math" panose="02040503050406030204" pitchFamily="18" charset="0"/>
                          <a:ea typeface="Cambria Math" panose="02040503050406030204" pitchFamily="18" charset="0"/>
                        </a:rPr>
                        <m:t>1.5</m:t>
                      </m:r>
                      <m:r>
                        <a:rPr lang="en-GB" sz="1800" b="0" i="1" smtClean="0">
                          <a:solidFill>
                            <a:schemeClr val="tx1"/>
                          </a:solidFill>
                          <a:latin typeface="Cambria Math" panose="02040503050406030204" pitchFamily="18" charset="0"/>
                          <a:ea typeface="Cambria Math" panose="02040503050406030204" pitchFamily="18" charset="0"/>
                        </a:rPr>
                        <m:t>𝐴</m:t>
                      </m:r>
                    </m:oMath>
                  </m:oMathPara>
                </a14:m>
                <a:endParaRPr lang="en-GB" dirty="0">
                  <a:solidFill>
                    <a:schemeClr val="tx1"/>
                  </a:solidFill>
                </a:endParaRPr>
              </a:p>
            </p:txBody>
          </p:sp>
        </mc:Choice>
        <mc:Fallback xmlns="">
          <p:sp>
            <p:nvSpPr>
              <p:cNvPr id="17" name="TextBox 16">
                <a:extLst>
                  <a:ext uri="{FF2B5EF4-FFF2-40B4-BE49-F238E27FC236}">
                    <a16:creationId xmlns:a16="http://schemas.microsoft.com/office/drawing/2014/main" id="{6E6163EC-E8E5-C57A-516F-AB6BF66FF078}"/>
                  </a:ext>
                </a:extLst>
              </p:cNvPr>
              <p:cNvSpPr txBox="1">
                <a:spLocks noRot="1" noChangeAspect="1" noMove="1" noResize="1" noEditPoints="1" noAdjustHandles="1" noChangeArrowheads="1" noChangeShapeType="1" noTextEdit="1"/>
              </p:cNvSpPr>
              <p:nvPr/>
            </p:nvSpPr>
            <p:spPr>
              <a:xfrm>
                <a:off x="523494" y="4775414"/>
                <a:ext cx="5143500"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5780A5F-23D8-A259-DEC1-18071D9FE105}"/>
                  </a:ext>
                </a:extLst>
              </p:cNvPr>
              <p:cNvSpPr txBox="1"/>
              <p:nvPr/>
            </p:nvSpPr>
            <p:spPr>
              <a:xfrm>
                <a:off x="0" y="5292718"/>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𝐼</m:t>
                          </m:r>
                        </m:e>
                        <m:sub>
                          <m:r>
                            <a:rPr lang="en-GB" i="1">
                              <a:solidFill>
                                <a:srgbClr val="FF0000"/>
                              </a:solidFill>
                              <a:latin typeface="Cambria Math" panose="02040503050406030204" pitchFamily="18" charset="0"/>
                            </a:rPr>
                            <m:t>𝐿</m:t>
                          </m:r>
                          <m:r>
                            <a:rPr lang="en-GB" i="0">
                              <a:solidFill>
                                <a:srgbClr val="FF0000"/>
                              </a:solidFill>
                              <a:latin typeface="Cambria Math" panose="02040503050406030204" pitchFamily="18" charset="0"/>
                            </a:rPr>
                            <m:t>,</m:t>
                          </m:r>
                          <m:r>
                            <a:rPr lang="en-GB" i="1">
                              <a:solidFill>
                                <a:srgbClr val="FF0000"/>
                              </a:solidFill>
                              <a:latin typeface="Cambria Math" panose="02040503050406030204" pitchFamily="18" charset="0"/>
                            </a:rPr>
                            <m:t>𝑚𝑎𝑥</m:t>
                          </m:r>
                        </m:sub>
                      </m:sSub>
                      <m:r>
                        <a:rPr lang="en-GB" i="0">
                          <a:solidFill>
                            <a:srgbClr val="FF0000"/>
                          </a:solidFill>
                          <a:latin typeface="Cambria Math" panose="02040503050406030204" pitchFamily="18" charset="0"/>
                        </a:rPr>
                        <m:t>= </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𝐼</m:t>
                          </m:r>
                        </m:e>
                        <m:sub>
                          <m:r>
                            <a:rPr lang="en-GB" i="1">
                              <a:solidFill>
                                <a:srgbClr val="FF0000"/>
                              </a:solidFill>
                              <a:latin typeface="Cambria Math" panose="02040503050406030204" pitchFamily="18" charset="0"/>
                            </a:rPr>
                            <m:t>𝐿</m:t>
                          </m:r>
                          <m:r>
                            <a:rPr lang="en-GB" i="0">
                              <a:solidFill>
                                <a:srgbClr val="FF0000"/>
                              </a:solidFill>
                              <a:latin typeface="Cambria Math" panose="02040503050406030204" pitchFamily="18" charset="0"/>
                            </a:rPr>
                            <m:t>,</m:t>
                          </m:r>
                          <m:r>
                            <a:rPr lang="en-GB" i="1">
                              <a:solidFill>
                                <a:srgbClr val="FF0000"/>
                              </a:solidFill>
                              <a:latin typeface="Cambria Math" panose="02040503050406030204" pitchFamily="18" charset="0"/>
                            </a:rPr>
                            <m:t>𝑎𝑣𝑔</m:t>
                          </m:r>
                        </m:sub>
                      </m:sSub>
                      <m:r>
                        <a:rPr lang="en-GB" i="0">
                          <a:solidFill>
                            <a:srgbClr val="FF0000"/>
                          </a:solidFill>
                          <a:latin typeface="Cambria Math" panose="02040503050406030204" pitchFamily="18" charset="0"/>
                        </a:rPr>
                        <m:t>+</m:t>
                      </m:r>
                      <m:f>
                        <m:fPr>
                          <m:ctrlPr>
                            <a:rPr lang="en-GB" i="1">
                              <a:solidFill>
                                <a:srgbClr val="FF0000"/>
                              </a:solidFill>
                              <a:latin typeface="Cambria Math" panose="02040503050406030204" pitchFamily="18" charset="0"/>
                            </a:rPr>
                          </m:ctrlPr>
                        </m:fPr>
                        <m:num>
                          <m:sSub>
                            <m:sSubPr>
                              <m:ctrlPr>
                                <a:rPr lang="en-GB" i="1">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i="0">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i="0">
                                  <a:solidFill>
                                    <a:srgbClr val="FF0000"/>
                                  </a:solidFill>
                                  <a:latin typeface="Cambria Math" panose="02040503050406030204" pitchFamily="18" charset="0"/>
                                </a:rPr>
                                <m:t> </m:t>
                              </m:r>
                              <m:r>
                                <a:rPr lang="en-GB" i="1">
                                  <a:solidFill>
                                    <a:srgbClr val="FF0000"/>
                                  </a:solidFill>
                                  <a:latin typeface="Cambria Math" panose="02040503050406030204" pitchFamily="18" charset="0"/>
                                </a:rPr>
                                <m:t>𝑐𝑙𝑜𝑠𝑒𝑑</m:t>
                              </m:r>
                            </m:sub>
                          </m:sSub>
                        </m:num>
                        <m:den>
                          <m:r>
                            <a:rPr lang="en-GB" i="0">
                              <a:solidFill>
                                <a:srgbClr val="FF0000"/>
                              </a:solidFill>
                              <a:latin typeface="Cambria Math" panose="02040503050406030204" pitchFamily="18" charset="0"/>
                            </a:rPr>
                            <m:t>2</m:t>
                          </m:r>
                        </m:den>
                      </m:f>
                      <m:r>
                        <a:rPr lang="en-GB" i="0">
                          <a:solidFill>
                            <a:srgbClr val="FF0000"/>
                          </a:solidFill>
                          <a:latin typeface="Cambria Math" panose="02040503050406030204" pitchFamily="18" charset="0"/>
                        </a:rPr>
                        <m:t> </m:t>
                      </m:r>
                    </m:oMath>
                  </m:oMathPara>
                </a14:m>
                <a:endParaRPr lang="en-GB" dirty="0">
                  <a:solidFill>
                    <a:srgbClr val="FF0000"/>
                  </a:solidFill>
                </a:endParaRPr>
              </a:p>
            </p:txBody>
          </p:sp>
        </mc:Choice>
        <mc:Fallback xmlns="">
          <p:sp>
            <p:nvSpPr>
              <p:cNvPr id="18" name="TextBox 17">
                <a:extLst>
                  <a:ext uri="{FF2B5EF4-FFF2-40B4-BE49-F238E27FC236}">
                    <a16:creationId xmlns:a16="http://schemas.microsoft.com/office/drawing/2014/main" id="{75780A5F-23D8-A259-DEC1-18071D9FE105}"/>
                  </a:ext>
                </a:extLst>
              </p:cNvPr>
              <p:cNvSpPr txBox="1">
                <a:spLocks noRot="1" noChangeAspect="1" noMove="1" noResize="1" noEditPoints="1" noAdjustHandles="1" noChangeArrowheads="1" noChangeShapeType="1" noTextEdit="1"/>
              </p:cNvSpPr>
              <p:nvPr/>
            </p:nvSpPr>
            <p:spPr>
              <a:xfrm>
                <a:off x="0" y="5292718"/>
                <a:ext cx="4572000" cy="62805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A609517-ED63-3C84-CF9A-FECD3BE3378B}"/>
                  </a:ext>
                </a:extLst>
              </p:cNvPr>
              <p:cNvSpPr txBox="1"/>
              <p:nvPr/>
            </p:nvSpPr>
            <p:spPr>
              <a:xfrm>
                <a:off x="-140107" y="5888898"/>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0"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1</m:t>
                      </m:r>
                      <m:r>
                        <a:rPr lang="en-GB" i="0">
                          <a:solidFill>
                            <a:schemeClr val="tx1"/>
                          </a:solidFill>
                          <a:latin typeface="Cambria Math" panose="02040503050406030204" pitchFamily="18" charset="0"/>
                        </a:rPr>
                        <m:t>+</m:t>
                      </m:r>
                      <m:f>
                        <m:fPr>
                          <m:ctrlPr>
                            <a:rPr lang="en-GB" i="1">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1.5</m:t>
                          </m:r>
                        </m:num>
                        <m:den>
                          <m:r>
                            <a:rPr lang="en-GB" i="0">
                              <a:solidFill>
                                <a:schemeClr val="tx1"/>
                              </a:solidFill>
                              <a:latin typeface="Cambria Math" panose="02040503050406030204" pitchFamily="18" charset="0"/>
                            </a:rPr>
                            <m:t>2</m:t>
                          </m:r>
                        </m:den>
                      </m:f>
                      <m:r>
                        <a:rPr lang="en-GB" b="0" i="1" smtClean="0">
                          <a:solidFill>
                            <a:schemeClr val="tx1"/>
                          </a:solidFill>
                          <a:latin typeface="Cambria Math" panose="02040503050406030204" pitchFamily="18" charset="0"/>
                        </a:rPr>
                        <m:t>=1.75</m:t>
                      </m:r>
                      <m:r>
                        <a:rPr lang="en-GB" b="0" i="1" smtClean="0">
                          <a:solidFill>
                            <a:schemeClr val="tx1"/>
                          </a:solidFill>
                          <a:latin typeface="Cambria Math" panose="02040503050406030204" pitchFamily="18" charset="0"/>
                        </a:rPr>
                        <m:t>𝐴</m:t>
                      </m:r>
                      <m:r>
                        <a:rPr lang="en-GB" i="0">
                          <a:solidFill>
                            <a:schemeClr val="tx1"/>
                          </a:solidFill>
                          <a:latin typeface="Cambria Math" panose="02040503050406030204" pitchFamily="18" charset="0"/>
                        </a:rPr>
                        <m:t> </m:t>
                      </m:r>
                    </m:oMath>
                  </m:oMathPara>
                </a14:m>
                <a:endParaRPr lang="en-GB" dirty="0">
                  <a:solidFill>
                    <a:schemeClr val="tx1"/>
                  </a:solidFill>
                </a:endParaRPr>
              </a:p>
            </p:txBody>
          </p:sp>
        </mc:Choice>
        <mc:Fallback xmlns="">
          <p:sp>
            <p:nvSpPr>
              <p:cNvPr id="19" name="TextBox 18">
                <a:extLst>
                  <a:ext uri="{FF2B5EF4-FFF2-40B4-BE49-F238E27FC236}">
                    <a16:creationId xmlns:a16="http://schemas.microsoft.com/office/drawing/2014/main" id="{7A609517-ED63-3C84-CF9A-FECD3BE3378B}"/>
                  </a:ext>
                </a:extLst>
              </p:cNvPr>
              <p:cNvSpPr txBox="1">
                <a:spLocks noRot="1" noChangeAspect="1" noMove="1" noResize="1" noEditPoints="1" noAdjustHandles="1" noChangeArrowheads="1" noChangeShapeType="1" noTextEdit="1"/>
              </p:cNvSpPr>
              <p:nvPr/>
            </p:nvSpPr>
            <p:spPr>
              <a:xfrm>
                <a:off x="-140107" y="5888898"/>
                <a:ext cx="4572000" cy="62805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A640A73-BBBB-25D3-3707-6871DECBCA31}"/>
                  </a:ext>
                </a:extLst>
              </p:cNvPr>
              <p:cNvSpPr txBox="1"/>
              <p:nvPr/>
            </p:nvSpPr>
            <p:spPr>
              <a:xfrm>
                <a:off x="4572000" y="5312234"/>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𝐼</m:t>
                          </m:r>
                        </m:e>
                        <m:sub>
                          <m:r>
                            <a:rPr lang="en-GB" i="1">
                              <a:solidFill>
                                <a:srgbClr val="FF0000"/>
                              </a:solidFill>
                              <a:latin typeface="Cambria Math" panose="02040503050406030204" pitchFamily="18" charset="0"/>
                            </a:rPr>
                            <m:t>𝐿</m:t>
                          </m:r>
                          <m:r>
                            <a:rPr lang="en-GB" i="0">
                              <a:solidFill>
                                <a:srgbClr val="FF0000"/>
                              </a:solidFill>
                              <a:latin typeface="Cambria Math" panose="02040503050406030204" pitchFamily="18" charset="0"/>
                            </a:rPr>
                            <m:t>,</m:t>
                          </m:r>
                          <m:r>
                            <a:rPr lang="en-GB" i="1">
                              <a:solidFill>
                                <a:srgbClr val="FF0000"/>
                              </a:solidFill>
                              <a:latin typeface="Cambria Math" panose="02040503050406030204" pitchFamily="18" charset="0"/>
                            </a:rPr>
                            <m:t>𝑚𝑖𝑛</m:t>
                          </m:r>
                        </m:sub>
                      </m:sSub>
                      <m:r>
                        <a:rPr lang="en-GB" i="0">
                          <a:solidFill>
                            <a:srgbClr val="FF0000"/>
                          </a:solidFill>
                          <a:latin typeface="Cambria Math" panose="02040503050406030204" pitchFamily="18" charset="0"/>
                        </a:rPr>
                        <m:t>= </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𝐼</m:t>
                          </m:r>
                        </m:e>
                        <m:sub>
                          <m:r>
                            <a:rPr lang="en-GB" i="1">
                              <a:solidFill>
                                <a:srgbClr val="FF0000"/>
                              </a:solidFill>
                              <a:latin typeface="Cambria Math" panose="02040503050406030204" pitchFamily="18" charset="0"/>
                            </a:rPr>
                            <m:t>𝐿</m:t>
                          </m:r>
                          <m:r>
                            <a:rPr lang="en-GB" i="0">
                              <a:solidFill>
                                <a:srgbClr val="FF0000"/>
                              </a:solidFill>
                              <a:latin typeface="Cambria Math" panose="02040503050406030204" pitchFamily="18" charset="0"/>
                            </a:rPr>
                            <m:t>,</m:t>
                          </m:r>
                          <m:r>
                            <a:rPr lang="en-GB" i="1">
                              <a:solidFill>
                                <a:srgbClr val="FF0000"/>
                              </a:solidFill>
                              <a:latin typeface="Cambria Math" panose="02040503050406030204" pitchFamily="18" charset="0"/>
                            </a:rPr>
                            <m:t>𝑎𝑣𝑔</m:t>
                          </m:r>
                        </m:sub>
                      </m:sSub>
                      <m:r>
                        <a:rPr lang="en-GB" i="0">
                          <a:solidFill>
                            <a:srgbClr val="FF0000"/>
                          </a:solidFill>
                          <a:latin typeface="Cambria Math" panose="02040503050406030204" pitchFamily="18" charset="0"/>
                        </a:rPr>
                        <m:t>−</m:t>
                      </m:r>
                      <m:f>
                        <m:fPr>
                          <m:ctrlPr>
                            <a:rPr lang="en-GB" i="1">
                              <a:solidFill>
                                <a:srgbClr val="FF0000"/>
                              </a:solidFill>
                              <a:latin typeface="Cambria Math" panose="02040503050406030204" pitchFamily="18" charset="0"/>
                            </a:rPr>
                          </m:ctrlPr>
                        </m:fPr>
                        <m:num>
                          <m:sSub>
                            <m:sSubPr>
                              <m:ctrlPr>
                                <a:rPr lang="en-GB" i="1">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i="0">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i="0">
                                  <a:solidFill>
                                    <a:srgbClr val="FF0000"/>
                                  </a:solidFill>
                                  <a:latin typeface="Cambria Math" panose="02040503050406030204" pitchFamily="18" charset="0"/>
                                </a:rPr>
                                <m:t> </m:t>
                              </m:r>
                              <m:r>
                                <a:rPr lang="en-GB" i="1">
                                  <a:solidFill>
                                    <a:srgbClr val="FF0000"/>
                                  </a:solidFill>
                                  <a:latin typeface="Cambria Math" panose="02040503050406030204" pitchFamily="18" charset="0"/>
                                </a:rPr>
                                <m:t>𝑐𝑙𝑜𝑠𝑒𝑑</m:t>
                              </m:r>
                            </m:sub>
                          </m:sSub>
                        </m:num>
                        <m:den>
                          <m:r>
                            <a:rPr lang="en-GB" i="0">
                              <a:solidFill>
                                <a:srgbClr val="FF0000"/>
                              </a:solidFill>
                              <a:latin typeface="Cambria Math" panose="02040503050406030204" pitchFamily="18" charset="0"/>
                            </a:rPr>
                            <m:t>2</m:t>
                          </m:r>
                        </m:den>
                      </m:f>
                    </m:oMath>
                  </m:oMathPara>
                </a14:m>
                <a:endParaRPr lang="en-GB" dirty="0">
                  <a:solidFill>
                    <a:srgbClr val="FF0000"/>
                  </a:solidFill>
                </a:endParaRPr>
              </a:p>
            </p:txBody>
          </p:sp>
        </mc:Choice>
        <mc:Fallback xmlns="">
          <p:sp>
            <p:nvSpPr>
              <p:cNvPr id="20" name="TextBox 19">
                <a:extLst>
                  <a:ext uri="{FF2B5EF4-FFF2-40B4-BE49-F238E27FC236}">
                    <a16:creationId xmlns:a16="http://schemas.microsoft.com/office/drawing/2014/main" id="{FA640A73-BBBB-25D3-3707-6871DECBCA31}"/>
                  </a:ext>
                </a:extLst>
              </p:cNvPr>
              <p:cNvSpPr txBox="1">
                <a:spLocks noRot="1" noChangeAspect="1" noMove="1" noResize="1" noEditPoints="1" noAdjustHandles="1" noChangeArrowheads="1" noChangeShapeType="1" noTextEdit="1"/>
              </p:cNvSpPr>
              <p:nvPr/>
            </p:nvSpPr>
            <p:spPr>
              <a:xfrm>
                <a:off x="4572000" y="5312234"/>
                <a:ext cx="4572000" cy="62805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7E0244B-B7B7-B835-5F03-33FDFBA43B10}"/>
                  </a:ext>
                </a:extLst>
              </p:cNvPr>
              <p:cNvSpPr txBox="1"/>
              <p:nvPr/>
            </p:nvSpPr>
            <p:spPr>
              <a:xfrm>
                <a:off x="4431893" y="5874170"/>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0"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1</m:t>
                      </m:r>
                      <m:r>
                        <a:rPr lang="en-GB" b="0" i="0" smtClean="0">
                          <a:solidFill>
                            <a:schemeClr val="tx1"/>
                          </a:solidFill>
                          <a:latin typeface="Cambria Math" panose="02040503050406030204" pitchFamily="18" charset="0"/>
                        </a:rPr>
                        <m:t>−</m:t>
                      </m:r>
                      <m:f>
                        <m:fPr>
                          <m:ctrlPr>
                            <a:rPr lang="en-GB" i="1">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1.5</m:t>
                          </m:r>
                        </m:num>
                        <m:den>
                          <m:r>
                            <a:rPr lang="en-GB" i="0">
                              <a:solidFill>
                                <a:schemeClr val="tx1"/>
                              </a:solidFill>
                              <a:latin typeface="Cambria Math" panose="02040503050406030204" pitchFamily="18" charset="0"/>
                            </a:rPr>
                            <m:t>2</m:t>
                          </m:r>
                        </m:den>
                      </m:f>
                      <m:r>
                        <a:rPr lang="en-GB" b="0" i="1" smtClean="0">
                          <a:solidFill>
                            <a:schemeClr val="tx1"/>
                          </a:solidFill>
                          <a:latin typeface="Cambria Math" panose="02040503050406030204" pitchFamily="18" charset="0"/>
                        </a:rPr>
                        <m:t>=0.25</m:t>
                      </m:r>
                      <m:r>
                        <a:rPr lang="en-GB" b="0" i="1" smtClean="0">
                          <a:solidFill>
                            <a:schemeClr val="tx1"/>
                          </a:solidFill>
                          <a:latin typeface="Cambria Math" panose="02040503050406030204" pitchFamily="18" charset="0"/>
                        </a:rPr>
                        <m:t>𝐴</m:t>
                      </m:r>
                      <m:r>
                        <a:rPr lang="en-GB" i="0">
                          <a:solidFill>
                            <a:schemeClr val="tx1"/>
                          </a:solidFill>
                          <a:latin typeface="Cambria Math" panose="02040503050406030204" pitchFamily="18" charset="0"/>
                        </a:rPr>
                        <m:t> </m:t>
                      </m:r>
                    </m:oMath>
                  </m:oMathPara>
                </a14:m>
                <a:endParaRPr lang="en-GB" dirty="0">
                  <a:solidFill>
                    <a:schemeClr val="tx1"/>
                  </a:solidFill>
                </a:endParaRPr>
              </a:p>
            </p:txBody>
          </p:sp>
        </mc:Choice>
        <mc:Fallback xmlns="">
          <p:sp>
            <p:nvSpPr>
              <p:cNvPr id="21" name="TextBox 20">
                <a:extLst>
                  <a:ext uri="{FF2B5EF4-FFF2-40B4-BE49-F238E27FC236}">
                    <a16:creationId xmlns:a16="http://schemas.microsoft.com/office/drawing/2014/main" id="{67E0244B-B7B7-B835-5F03-33FDFBA43B10}"/>
                  </a:ext>
                </a:extLst>
              </p:cNvPr>
              <p:cNvSpPr txBox="1">
                <a:spLocks noRot="1" noChangeAspect="1" noMove="1" noResize="1" noEditPoints="1" noAdjustHandles="1" noChangeArrowheads="1" noChangeShapeType="1" noTextEdit="1"/>
              </p:cNvSpPr>
              <p:nvPr/>
            </p:nvSpPr>
            <p:spPr>
              <a:xfrm>
                <a:off x="4431893" y="5874170"/>
                <a:ext cx="4572000" cy="628057"/>
              </a:xfrm>
              <a:prstGeom prst="rect">
                <a:avLst/>
              </a:prstGeom>
              <a:blipFill>
                <a:blip r:embed="rId1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3020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4" grpId="0"/>
      <p:bldP spid="9" grpId="0"/>
      <p:bldP spid="14" grpId="0"/>
      <p:bldP spid="17" grpId="0"/>
      <p:bldP spid="18" grpId="0"/>
      <p:bldP spid="19" grpId="0"/>
      <p:bldP spid="20"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B8D52A19-FF9F-D14E-AD05-FB3C97B1744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DD8D62F-4870-5E43-BD34-4532716D6039}" type="slidenum">
              <a:rPr lang="en-US" altLang="en-US" sz="1400"/>
              <a:pPr>
                <a:spcBef>
                  <a:spcPct val="0"/>
                </a:spcBef>
                <a:buFontTx/>
                <a:buNone/>
              </a:pPr>
              <a:t>25</a:t>
            </a:fld>
            <a:endParaRPr lang="en-US" altLang="en-US" sz="1400"/>
          </a:p>
        </p:txBody>
      </p:sp>
      <p:grpSp>
        <p:nvGrpSpPr>
          <p:cNvPr id="8" name="Group 7">
            <a:extLst>
              <a:ext uri="{FF2B5EF4-FFF2-40B4-BE49-F238E27FC236}">
                <a16:creationId xmlns:a16="http://schemas.microsoft.com/office/drawing/2014/main" id="{485647B5-4F55-A0D5-0432-3C43749AAB31}"/>
              </a:ext>
            </a:extLst>
          </p:cNvPr>
          <p:cNvGrpSpPr/>
          <p:nvPr/>
        </p:nvGrpSpPr>
        <p:grpSpPr>
          <a:xfrm>
            <a:off x="3467068" y="998245"/>
            <a:ext cx="1205516" cy="1690091"/>
            <a:chOff x="210084" y="1150024"/>
            <a:chExt cx="1506412" cy="1915393"/>
          </a:xfrm>
        </p:grpSpPr>
        <p:pic>
          <p:nvPicPr>
            <p:cNvPr id="5" name="Picture 4">
              <a:extLst>
                <a:ext uri="{FF2B5EF4-FFF2-40B4-BE49-F238E27FC236}">
                  <a16:creationId xmlns:a16="http://schemas.microsoft.com/office/drawing/2014/main" id="{96F515CA-692D-8920-6ECC-FC2A8149A297}"/>
                </a:ext>
              </a:extLst>
            </p:cNvPr>
            <p:cNvPicPr>
              <a:picLocks noChangeAspect="1"/>
            </p:cNvPicPr>
            <p:nvPr/>
          </p:nvPicPr>
          <p:blipFill>
            <a:blip r:embed="rId2"/>
            <a:stretch>
              <a:fillRect/>
            </a:stretch>
          </p:blipFill>
          <p:spPr>
            <a:xfrm>
              <a:off x="210084" y="1150024"/>
              <a:ext cx="1506412" cy="191539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4623D7-EDB0-B84A-2777-244BB8E50881}"/>
                    </a:ext>
                  </a:extLst>
                </p:cNvPr>
                <p:cNvSpPr txBox="1"/>
                <p:nvPr/>
              </p:nvSpPr>
              <p:spPr>
                <a:xfrm>
                  <a:off x="210084" y="1199995"/>
                  <a:ext cx="439783" cy="369332"/>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solidFill>
                                  <a:srgbClr val="836967"/>
                                </a:solidFill>
                                <a:latin typeface="Cambria Math" panose="02040503050406030204" pitchFamily="18" charset="0"/>
                              </a:rPr>
                            </m:ctrlPr>
                          </m:sSubPr>
                          <m:e>
                            <m:r>
                              <a:rPr lang="en-GB" sz="1800" b="0" i="1" smtClean="0">
                                <a:latin typeface="Cambria Math" panose="02040503050406030204" pitchFamily="18" charset="0"/>
                              </a:rPr>
                              <m:t>𝑉</m:t>
                            </m:r>
                          </m:e>
                          <m:sub>
                            <m:r>
                              <a:rPr lang="en-GB" sz="1800" b="0" i="1" smtClean="0">
                                <a:latin typeface="Cambria Math" panose="02040503050406030204" pitchFamily="18" charset="0"/>
                              </a:rPr>
                              <m:t>𝐼𝑁</m:t>
                            </m:r>
                          </m:sub>
                        </m:sSub>
                      </m:oMath>
                    </m:oMathPara>
                  </a14:m>
                  <a:endParaRPr lang="en-GB" dirty="0"/>
                </a:p>
              </p:txBody>
            </p:sp>
          </mc:Choice>
          <mc:Fallback xmlns="">
            <p:sp>
              <p:nvSpPr>
                <p:cNvPr id="7" name="TextBox 6">
                  <a:extLst>
                    <a:ext uri="{FF2B5EF4-FFF2-40B4-BE49-F238E27FC236}">
                      <a16:creationId xmlns:a16="http://schemas.microsoft.com/office/drawing/2014/main" id="{7A4623D7-EDB0-B84A-2777-244BB8E50881}"/>
                    </a:ext>
                  </a:extLst>
                </p:cNvPr>
                <p:cNvSpPr txBox="1">
                  <a:spLocks noRot="1" noChangeAspect="1" noMove="1" noResize="1" noEditPoints="1" noAdjustHandles="1" noChangeArrowheads="1" noChangeShapeType="1" noTextEdit="1"/>
                </p:cNvSpPr>
                <p:nvPr/>
              </p:nvSpPr>
              <p:spPr>
                <a:xfrm>
                  <a:off x="210084" y="1199995"/>
                  <a:ext cx="439783" cy="369332"/>
                </a:xfrm>
                <a:prstGeom prst="rect">
                  <a:avLst/>
                </a:prstGeom>
                <a:blipFill>
                  <a:blip r:embed="rId3"/>
                  <a:stretch>
                    <a:fillRect r="-2667"/>
                  </a:stretch>
                </a:blipFill>
                <a:ln>
                  <a:solidFill>
                    <a:schemeClr val="bg1"/>
                  </a:solid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EAB5A9-E7A6-BBA9-71D2-85258E2A8800}"/>
                  </a:ext>
                </a:extLst>
              </p:cNvPr>
              <p:cNvSpPr txBox="1"/>
              <p:nvPr/>
            </p:nvSpPr>
            <p:spPr>
              <a:xfrm>
                <a:off x="810105" y="3429000"/>
                <a:ext cx="3388486" cy="668516"/>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1" i="1" smtClean="0">
                              <a:solidFill>
                                <a:srgbClr val="FF0000"/>
                              </a:solidFill>
                              <a:latin typeface="Cambria Math" panose="02040503050406030204" pitchFamily="18" charset="0"/>
                            </a:rPr>
                          </m:ctrlPr>
                        </m:fPr>
                        <m:num>
                          <m:r>
                            <a:rPr lang="en-US" b="1">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𝑽</m:t>
                              </m:r>
                            </m:e>
                            <m:sub>
                              <m:r>
                                <a:rPr lang="en-GB" b="1" i="1">
                                  <a:solidFill>
                                    <a:srgbClr val="FF0000"/>
                                  </a:solidFill>
                                  <a:latin typeface="Cambria Math" panose="02040503050406030204" pitchFamily="18" charset="0"/>
                                </a:rPr>
                                <m:t>𝑶𝑼𝑻</m:t>
                              </m:r>
                            </m:sub>
                          </m:sSub>
                        </m:num>
                        <m:den>
                          <m:sSub>
                            <m:sSubPr>
                              <m:ctrlPr>
                                <a:rPr lang="en-US"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den>
                      </m:f>
                      <m:r>
                        <a:rPr lang="en-GB" b="1" i="0" smtClean="0">
                          <a:solidFill>
                            <a:srgbClr val="FF0000"/>
                          </a:solidFill>
                          <a:latin typeface="Cambria Math" panose="02040503050406030204" pitchFamily="18" charset="0"/>
                        </a:rPr>
                        <m:t>=</m:t>
                      </m:r>
                      <m:f>
                        <m:fPr>
                          <m:ctrlPr>
                            <a:rPr lang="en-US" b="1" i="1">
                              <a:solidFill>
                                <a:srgbClr val="FF0000"/>
                              </a:solidFill>
                              <a:latin typeface="Cambria Math" panose="02040503050406030204" pitchFamily="18" charset="0"/>
                            </a:rPr>
                          </m:ctrlPr>
                        </m:fPr>
                        <m:num>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𝟏</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𝑫</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num>
                        <m:den>
                          <m:r>
                            <a:rPr lang="en-GB" b="1" i="1">
                              <a:solidFill>
                                <a:srgbClr val="FF0000"/>
                              </a:solidFill>
                              <a:latin typeface="Cambria Math" panose="02040503050406030204" pitchFamily="18" charset="0"/>
                            </a:rPr>
                            <m:t>𝟖</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𝑪𝑳</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𝒇</m:t>
                          </m:r>
                          <m:r>
                            <a:rPr lang="en-GB" b="1" i="1" baseline="30000">
                              <a:solidFill>
                                <a:srgbClr val="FF0000"/>
                              </a:solidFill>
                              <a:latin typeface="Cambria Math" panose="02040503050406030204" pitchFamily="18" charset="0"/>
                            </a:rPr>
                            <m:t>𝟐</m:t>
                          </m:r>
                        </m:den>
                      </m:f>
                    </m:oMath>
                  </m:oMathPara>
                </a14:m>
                <a:endParaRPr lang="en-GB" b="1" dirty="0">
                  <a:solidFill>
                    <a:schemeClr val="tx1"/>
                  </a:solidFill>
                </a:endParaRPr>
              </a:p>
            </p:txBody>
          </p:sp>
        </mc:Choice>
        <mc:Fallback xmlns="">
          <p:sp>
            <p:nvSpPr>
              <p:cNvPr id="11" name="TextBox 10">
                <a:extLst>
                  <a:ext uri="{FF2B5EF4-FFF2-40B4-BE49-F238E27FC236}">
                    <a16:creationId xmlns:a16="http://schemas.microsoft.com/office/drawing/2014/main" id="{55EAB5A9-E7A6-BBA9-71D2-85258E2A8800}"/>
                  </a:ext>
                </a:extLst>
              </p:cNvPr>
              <p:cNvSpPr txBox="1">
                <a:spLocks noRot="1" noChangeAspect="1" noMove="1" noResize="1" noEditPoints="1" noAdjustHandles="1" noChangeArrowheads="1" noChangeShapeType="1" noTextEdit="1"/>
              </p:cNvSpPr>
              <p:nvPr/>
            </p:nvSpPr>
            <p:spPr>
              <a:xfrm>
                <a:off x="810105" y="3429000"/>
                <a:ext cx="3388486" cy="668516"/>
              </a:xfrm>
              <a:prstGeom prst="rect">
                <a:avLst/>
              </a:prstGeom>
              <a:blipFill>
                <a:blip r:embed="rId4"/>
                <a:stretch>
                  <a:fillRect/>
                </a:stretch>
              </a:blipFill>
              <a:ln>
                <a:solidFill>
                  <a:schemeClr val="bg1"/>
                </a:solidFill>
              </a:ln>
            </p:spPr>
            <p:txBody>
              <a:bodyPr/>
              <a:lstStyle/>
              <a:p>
                <a:r>
                  <a:rPr lang="en-GB">
                    <a:noFill/>
                  </a:rPr>
                  <a:t> </a:t>
                </a:r>
              </a:p>
            </p:txBody>
          </p:sp>
        </mc:Fallback>
      </mc:AlternateContent>
      <p:pic>
        <p:nvPicPr>
          <p:cNvPr id="13" name="Picture 12">
            <a:extLst>
              <a:ext uri="{FF2B5EF4-FFF2-40B4-BE49-F238E27FC236}">
                <a16:creationId xmlns:a16="http://schemas.microsoft.com/office/drawing/2014/main" id="{7151C065-9EFC-65E3-4DA7-6D0C8769DF3C}"/>
              </a:ext>
            </a:extLst>
          </p:cNvPr>
          <p:cNvPicPr>
            <a:picLocks noChangeAspect="1"/>
          </p:cNvPicPr>
          <p:nvPr/>
        </p:nvPicPr>
        <p:blipFill>
          <a:blip r:embed="rId5"/>
          <a:stretch>
            <a:fillRect/>
          </a:stretch>
        </p:blipFill>
        <p:spPr>
          <a:xfrm>
            <a:off x="2323564" y="4299077"/>
            <a:ext cx="3492523" cy="1061829"/>
          </a:xfrm>
          <a:prstGeom prst="rect">
            <a:avLst/>
          </a:prstGeom>
        </p:spPr>
      </p:pic>
      <p:sp>
        <p:nvSpPr>
          <p:cNvPr id="3" name="Text Box 4">
            <a:extLst>
              <a:ext uri="{FF2B5EF4-FFF2-40B4-BE49-F238E27FC236}">
                <a16:creationId xmlns:a16="http://schemas.microsoft.com/office/drawing/2014/main" id="{613EF4D6-F5D7-65AC-8E48-06F13D88FDBA}"/>
              </a:ext>
            </a:extLst>
          </p:cNvPr>
          <p:cNvSpPr txBox="1">
            <a:spLocks noChangeArrowheads="1"/>
          </p:cNvSpPr>
          <p:nvPr/>
        </p:nvSpPr>
        <p:spPr bwMode="auto">
          <a:xfrm>
            <a:off x="38862" y="33832"/>
            <a:ext cx="8964613"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Buck tutorial.</a:t>
            </a:r>
          </a:p>
          <a:p>
            <a:pPr eaLnBrk="1" hangingPunct="1">
              <a:spcBef>
                <a:spcPct val="50000"/>
              </a:spcBef>
              <a:buFontTx/>
              <a:buNone/>
            </a:pPr>
            <a:r>
              <a:rPr lang="en-GB" altLang="en-US" sz="1800" dirty="0"/>
              <a:t>A buck converter has following parameters. Determine output voltage, average minimum and maximum inductor current and output voltage ripple.</a:t>
            </a:r>
            <a:endParaRPr lang="en-US" altLang="en-US" sz="1800" dirty="0"/>
          </a:p>
        </p:txBody>
      </p:sp>
      <p:sp>
        <p:nvSpPr>
          <p:cNvPr id="12" name="TextBox 11">
            <a:extLst>
              <a:ext uri="{FF2B5EF4-FFF2-40B4-BE49-F238E27FC236}">
                <a16:creationId xmlns:a16="http://schemas.microsoft.com/office/drawing/2014/main" id="{39CC140C-03F7-FC65-89D2-25732876BC93}"/>
              </a:ext>
            </a:extLst>
          </p:cNvPr>
          <p:cNvSpPr txBox="1"/>
          <p:nvPr/>
        </p:nvSpPr>
        <p:spPr>
          <a:xfrm>
            <a:off x="0" y="2732429"/>
            <a:ext cx="4576572" cy="461665"/>
          </a:xfrm>
          <a:prstGeom prst="rect">
            <a:avLst/>
          </a:prstGeom>
          <a:noFill/>
        </p:spPr>
        <p:txBody>
          <a:bodyPr wrap="square">
            <a:spAutoFit/>
          </a:bodyPr>
          <a:lstStyle/>
          <a:p>
            <a:r>
              <a:rPr lang="en-GB" altLang="en-US" sz="2400" dirty="0"/>
              <a:t>Output voltage ripple:</a:t>
            </a:r>
            <a:endParaRPr lang="en-GB" sz="2400" dirty="0"/>
          </a:p>
        </p:txBody>
      </p:sp>
    </p:spTree>
    <p:extLst>
      <p:ext uri="{BB962C8B-B14F-4D97-AF65-F5344CB8AC3E}">
        <p14:creationId xmlns:p14="http://schemas.microsoft.com/office/powerpoint/2010/main" val="372569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B8D52A19-FF9F-D14E-AD05-FB3C97B1744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DD8D62F-4870-5E43-BD34-4532716D6039}" type="slidenum">
              <a:rPr lang="en-US" altLang="en-US" sz="1400"/>
              <a:pPr>
                <a:spcBef>
                  <a:spcPct val="0"/>
                </a:spcBef>
                <a:buFontTx/>
                <a:buNone/>
              </a:pPr>
              <a:t>26</a:t>
            </a:fld>
            <a:endParaRPr lang="en-US" altLang="en-US" sz="1400" dirty="0"/>
          </a:p>
        </p:txBody>
      </p:sp>
      <p:sp>
        <p:nvSpPr>
          <p:cNvPr id="43011" name="Text Box 4">
            <a:extLst>
              <a:ext uri="{FF2B5EF4-FFF2-40B4-BE49-F238E27FC236}">
                <a16:creationId xmlns:a16="http://schemas.microsoft.com/office/drawing/2014/main" id="{ED43F7EF-237B-C742-83A2-B6AA33186CA1}"/>
              </a:ext>
            </a:extLst>
          </p:cNvPr>
          <p:cNvSpPr txBox="1">
            <a:spLocks noChangeArrowheads="1"/>
          </p:cNvSpPr>
          <p:nvPr/>
        </p:nvSpPr>
        <p:spPr bwMode="auto">
          <a:xfrm>
            <a:off x="107950" y="260350"/>
            <a:ext cx="8964613"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a:t>Buck tutorial.</a:t>
            </a:r>
          </a:p>
          <a:p>
            <a:pPr eaLnBrk="1" hangingPunct="1">
              <a:spcBef>
                <a:spcPct val="50000"/>
              </a:spcBef>
              <a:buFontTx/>
              <a:buNone/>
            </a:pPr>
            <a:r>
              <a:rPr lang="en-GB" altLang="en-US" sz="1800"/>
              <a:t>Determine the mean output voltage, current and power for the following operating points. Assume 100% conversion efficiency and continuous mode operation. V</a:t>
            </a:r>
            <a:r>
              <a:rPr lang="en-GB" altLang="en-US" sz="1800" baseline="-25000"/>
              <a:t>In</a:t>
            </a:r>
            <a:r>
              <a:rPr lang="en-GB" altLang="en-US" sz="1800"/>
              <a:t>=100V</a:t>
            </a:r>
            <a:endParaRPr lang="en-US" altLang="en-US" sz="1800"/>
          </a:p>
        </p:txBody>
      </p:sp>
      <p:grpSp>
        <p:nvGrpSpPr>
          <p:cNvPr id="43012" name="Group 8">
            <a:extLst>
              <a:ext uri="{FF2B5EF4-FFF2-40B4-BE49-F238E27FC236}">
                <a16:creationId xmlns:a16="http://schemas.microsoft.com/office/drawing/2014/main" id="{88060E69-1601-6A49-BB23-0C4DB0635309}"/>
              </a:ext>
            </a:extLst>
          </p:cNvPr>
          <p:cNvGrpSpPr>
            <a:grpSpLocks/>
          </p:cNvGrpSpPr>
          <p:nvPr/>
        </p:nvGrpSpPr>
        <p:grpSpPr bwMode="auto">
          <a:xfrm>
            <a:off x="323850" y="1628775"/>
            <a:ext cx="3343275" cy="2238375"/>
            <a:chOff x="204" y="1026"/>
            <a:chExt cx="2106" cy="1410"/>
          </a:xfrm>
        </p:grpSpPr>
        <p:sp>
          <p:nvSpPr>
            <p:cNvPr id="43067" name="Line 5">
              <a:extLst>
                <a:ext uri="{FF2B5EF4-FFF2-40B4-BE49-F238E27FC236}">
                  <a16:creationId xmlns:a16="http://schemas.microsoft.com/office/drawing/2014/main" id="{A91D5FBE-4C71-5940-8B60-BCA9208EFB97}"/>
                </a:ext>
              </a:extLst>
            </p:cNvPr>
            <p:cNvSpPr>
              <a:spLocks noChangeShapeType="1"/>
            </p:cNvSpPr>
            <p:nvPr/>
          </p:nvSpPr>
          <p:spPr bwMode="auto">
            <a:xfrm flipV="1">
              <a:off x="204" y="1026"/>
              <a:ext cx="0" cy="12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68" name="Line 6">
              <a:extLst>
                <a:ext uri="{FF2B5EF4-FFF2-40B4-BE49-F238E27FC236}">
                  <a16:creationId xmlns:a16="http://schemas.microsoft.com/office/drawing/2014/main" id="{6EEA9377-BC48-3847-8B00-0373E4447151}"/>
                </a:ext>
              </a:extLst>
            </p:cNvPr>
            <p:cNvSpPr>
              <a:spLocks noChangeShapeType="1"/>
            </p:cNvSpPr>
            <p:nvPr/>
          </p:nvSpPr>
          <p:spPr bwMode="auto">
            <a:xfrm>
              <a:off x="204" y="2296"/>
              <a:ext cx="1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69" name="Text Box 7">
              <a:extLst>
                <a:ext uri="{FF2B5EF4-FFF2-40B4-BE49-F238E27FC236}">
                  <a16:creationId xmlns:a16="http://schemas.microsoft.com/office/drawing/2014/main" id="{E67DCA8F-24C5-6849-999C-04B154BDD99C}"/>
                </a:ext>
              </a:extLst>
            </p:cNvPr>
            <p:cNvSpPr txBox="1">
              <a:spLocks noChangeArrowheads="1"/>
            </p:cNvSpPr>
            <p:nvPr/>
          </p:nvSpPr>
          <p:spPr bwMode="auto">
            <a:xfrm>
              <a:off x="2154" y="2205"/>
              <a:ext cx="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t</a:t>
              </a:r>
              <a:endParaRPr lang="en-US" altLang="en-US" sz="1800" i="1">
                <a:latin typeface="Times New Roman" panose="02020603050405020304" pitchFamily="18" charset="0"/>
              </a:endParaRPr>
            </a:p>
          </p:txBody>
        </p:sp>
      </p:grpSp>
      <p:grpSp>
        <p:nvGrpSpPr>
          <p:cNvPr id="43013" name="Group 9">
            <a:extLst>
              <a:ext uri="{FF2B5EF4-FFF2-40B4-BE49-F238E27FC236}">
                <a16:creationId xmlns:a16="http://schemas.microsoft.com/office/drawing/2014/main" id="{A042A53D-6B7D-BA4A-A5F8-B917CB70DCD8}"/>
              </a:ext>
            </a:extLst>
          </p:cNvPr>
          <p:cNvGrpSpPr>
            <a:grpSpLocks/>
          </p:cNvGrpSpPr>
          <p:nvPr/>
        </p:nvGrpSpPr>
        <p:grpSpPr bwMode="auto">
          <a:xfrm>
            <a:off x="4284663" y="1628775"/>
            <a:ext cx="3343275" cy="2238375"/>
            <a:chOff x="204" y="1026"/>
            <a:chExt cx="2106" cy="1410"/>
          </a:xfrm>
        </p:grpSpPr>
        <p:sp>
          <p:nvSpPr>
            <p:cNvPr id="43064" name="Line 10">
              <a:extLst>
                <a:ext uri="{FF2B5EF4-FFF2-40B4-BE49-F238E27FC236}">
                  <a16:creationId xmlns:a16="http://schemas.microsoft.com/office/drawing/2014/main" id="{A5B848BE-7BFE-5841-A888-24EC5E768DEB}"/>
                </a:ext>
              </a:extLst>
            </p:cNvPr>
            <p:cNvSpPr>
              <a:spLocks noChangeShapeType="1"/>
            </p:cNvSpPr>
            <p:nvPr/>
          </p:nvSpPr>
          <p:spPr bwMode="auto">
            <a:xfrm flipV="1">
              <a:off x="204" y="1026"/>
              <a:ext cx="0" cy="12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65" name="Line 11">
              <a:extLst>
                <a:ext uri="{FF2B5EF4-FFF2-40B4-BE49-F238E27FC236}">
                  <a16:creationId xmlns:a16="http://schemas.microsoft.com/office/drawing/2014/main" id="{90464149-D221-0644-9BD8-150C045AC828}"/>
                </a:ext>
              </a:extLst>
            </p:cNvPr>
            <p:cNvSpPr>
              <a:spLocks noChangeShapeType="1"/>
            </p:cNvSpPr>
            <p:nvPr/>
          </p:nvSpPr>
          <p:spPr bwMode="auto">
            <a:xfrm>
              <a:off x="204" y="2296"/>
              <a:ext cx="1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66" name="Text Box 12">
              <a:extLst>
                <a:ext uri="{FF2B5EF4-FFF2-40B4-BE49-F238E27FC236}">
                  <a16:creationId xmlns:a16="http://schemas.microsoft.com/office/drawing/2014/main" id="{2701A29A-B628-DC4E-8DD0-75B9C8C782E2}"/>
                </a:ext>
              </a:extLst>
            </p:cNvPr>
            <p:cNvSpPr txBox="1">
              <a:spLocks noChangeArrowheads="1"/>
            </p:cNvSpPr>
            <p:nvPr/>
          </p:nvSpPr>
          <p:spPr bwMode="auto">
            <a:xfrm>
              <a:off x="2154" y="2205"/>
              <a:ext cx="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t</a:t>
              </a:r>
              <a:endParaRPr lang="en-US" altLang="en-US" sz="1800" i="1">
                <a:latin typeface="Times New Roman" panose="02020603050405020304" pitchFamily="18" charset="0"/>
              </a:endParaRPr>
            </a:p>
          </p:txBody>
        </p:sp>
      </p:grpSp>
      <p:sp>
        <p:nvSpPr>
          <p:cNvPr id="43016" name="Text Box 21">
            <a:extLst>
              <a:ext uri="{FF2B5EF4-FFF2-40B4-BE49-F238E27FC236}">
                <a16:creationId xmlns:a16="http://schemas.microsoft.com/office/drawing/2014/main" id="{C6A54DB0-78F5-4A4E-8DD1-269D087358F6}"/>
              </a:ext>
            </a:extLst>
          </p:cNvPr>
          <p:cNvSpPr txBox="1">
            <a:spLocks noChangeArrowheads="1"/>
          </p:cNvSpPr>
          <p:nvPr/>
        </p:nvSpPr>
        <p:spPr bwMode="auto">
          <a:xfrm>
            <a:off x="4284663" y="134143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I</a:t>
            </a:r>
            <a:r>
              <a:rPr lang="en-GB" altLang="en-US" sz="1800" i="1" baseline="-25000">
                <a:latin typeface="Times New Roman" panose="02020603050405020304" pitchFamily="18" charset="0"/>
              </a:rPr>
              <a:t>Out</a:t>
            </a:r>
            <a:endParaRPr lang="en-US" altLang="en-US" sz="1800" i="1" baseline="-25000">
              <a:latin typeface="Times New Roman" panose="02020603050405020304" pitchFamily="18" charset="0"/>
            </a:endParaRPr>
          </a:p>
        </p:txBody>
      </p:sp>
      <p:sp>
        <p:nvSpPr>
          <p:cNvPr id="43018" name="Text Box 23">
            <a:extLst>
              <a:ext uri="{FF2B5EF4-FFF2-40B4-BE49-F238E27FC236}">
                <a16:creationId xmlns:a16="http://schemas.microsoft.com/office/drawing/2014/main" id="{87B3074F-B8EF-AE43-97C0-E556DF66E7DB}"/>
              </a:ext>
            </a:extLst>
          </p:cNvPr>
          <p:cNvSpPr txBox="1">
            <a:spLocks noChangeArrowheads="1"/>
          </p:cNvSpPr>
          <p:nvPr/>
        </p:nvSpPr>
        <p:spPr bwMode="auto">
          <a:xfrm>
            <a:off x="323850" y="134143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I</a:t>
            </a:r>
            <a:r>
              <a:rPr lang="en-GB" altLang="en-US" sz="1800" i="1" baseline="-25000">
                <a:latin typeface="Times New Roman" panose="02020603050405020304" pitchFamily="18" charset="0"/>
              </a:rPr>
              <a:t>Out</a:t>
            </a:r>
            <a:endParaRPr lang="en-US" altLang="en-US" sz="1800" i="1" baseline="-25000">
              <a:latin typeface="Times New Roman" panose="02020603050405020304" pitchFamily="18" charset="0"/>
            </a:endParaRPr>
          </a:p>
        </p:txBody>
      </p:sp>
      <p:sp>
        <p:nvSpPr>
          <p:cNvPr id="43022" name="Freeform 27">
            <a:extLst>
              <a:ext uri="{FF2B5EF4-FFF2-40B4-BE49-F238E27FC236}">
                <a16:creationId xmlns:a16="http://schemas.microsoft.com/office/drawing/2014/main" id="{6FD98085-7505-9243-BF57-0D63496508D7}"/>
              </a:ext>
            </a:extLst>
          </p:cNvPr>
          <p:cNvSpPr>
            <a:spLocks/>
          </p:cNvSpPr>
          <p:nvPr/>
        </p:nvSpPr>
        <p:spPr bwMode="auto">
          <a:xfrm>
            <a:off x="323850" y="2133600"/>
            <a:ext cx="1152525" cy="1511300"/>
          </a:xfrm>
          <a:custGeom>
            <a:avLst/>
            <a:gdLst>
              <a:gd name="T0" fmla="*/ 0 w 726"/>
              <a:gd name="T1" fmla="*/ 2147483646 h 952"/>
              <a:gd name="T2" fmla="*/ 2147483646 w 726"/>
              <a:gd name="T3" fmla="*/ 0 h 952"/>
              <a:gd name="T4" fmla="*/ 2147483646 w 726"/>
              <a:gd name="T5" fmla="*/ 2147483646 h 952"/>
              <a:gd name="T6" fmla="*/ 0 60000 65536"/>
              <a:gd name="T7" fmla="*/ 0 60000 65536"/>
              <a:gd name="T8" fmla="*/ 0 60000 65536"/>
            </a:gdLst>
            <a:ahLst/>
            <a:cxnLst>
              <a:cxn ang="T6">
                <a:pos x="T0" y="T1"/>
              </a:cxn>
              <a:cxn ang="T7">
                <a:pos x="T2" y="T3"/>
              </a:cxn>
              <a:cxn ang="T8">
                <a:pos x="T4" y="T5"/>
              </a:cxn>
            </a:cxnLst>
            <a:rect l="0" t="0" r="r" b="b"/>
            <a:pathLst>
              <a:path w="726" h="952">
                <a:moveTo>
                  <a:pt x="0" y="952"/>
                </a:moveTo>
                <a:lnTo>
                  <a:pt x="499" y="0"/>
                </a:lnTo>
                <a:lnTo>
                  <a:pt x="726" y="95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3" name="Freeform 28">
            <a:extLst>
              <a:ext uri="{FF2B5EF4-FFF2-40B4-BE49-F238E27FC236}">
                <a16:creationId xmlns:a16="http://schemas.microsoft.com/office/drawing/2014/main" id="{05175D47-C6E9-B048-BB4E-7A0215295958}"/>
              </a:ext>
            </a:extLst>
          </p:cNvPr>
          <p:cNvSpPr>
            <a:spLocks/>
          </p:cNvSpPr>
          <p:nvPr/>
        </p:nvSpPr>
        <p:spPr bwMode="auto">
          <a:xfrm>
            <a:off x="1476375" y="2133600"/>
            <a:ext cx="1152525" cy="1511300"/>
          </a:xfrm>
          <a:custGeom>
            <a:avLst/>
            <a:gdLst>
              <a:gd name="T0" fmla="*/ 0 w 726"/>
              <a:gd name="T1" fmla="*/ 2147483646 h 952"/>
              <a:gd name="T2" fmla="*/ 2147483646 w 726"/>
              <a:gd name="T3" fmla="*/ 0 h 952"/>
              <a:gd name="T4" fmla="*/ 2147483646 w 726"/>
              <a:gd name="T5" fmla="*/ 2147483646 h 952"/>
              <a:gd name="T6" fmla="*/ 0 60000 65536"/>
              <a:gd name="T7" fmla="*/ 0 60000 65536"/>
              <a:gd name="T8" fmla="*/ 0 60000 65536"/>
            </a:gdLst>
            <a:ahLst/>
            <a:cxnLst>
              <a:cxn ang="T6">
                <a:pos x="T0" y="T1"/>
              </a:cxn>
              <a:cxn ang="T7">
                <a:pos x="T2" y="T3"/>
              </a:cxn>
              <a:cxn ang="T8">
                <a:pos x="T4" y="T5"/>
              </a:cxn>
            </a:cxnLst>
            <a:rect l="0" t="0" r="r" b="b"/>
            <a:pathLst>
              <a:path w="726" h="952">
                <a:moveTo>
                  <a:pt x="0" y="952"/>
                </a:moveTo>
                <a:lnTo>
                  <a:pt x="499" y="0"/>
                </a:lnTo>
                <a:lnTo>
                  <a:pt x="726" y="95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6" name="Freeform 31">
            <a:extLst>
              <a:ext uri="{FF2B5EF4-FFF2-40B4-BE49-F238E27FC236}">
                <a16:creationId xmlns:a16="http://schemas.microsoft.com/office/drawing/2014/main" id="{15C1D993-D836-C44A-A91E-20D0F50ECE84}"/>
              </a:ext>
            </a:extLst>
          </p:cNvPr>
          <p:cNvSpPr>
            <a:spLocks/>
          </p:cNvSpPr>
          <p:nvPr/>
        </p:nvSpPr>
        <p:spPr bwMode="auto">
          <a:xfrm>
            <a:off x="4284663" y="2492375"/>
            <a:ext cx="1295400" cy="503238"/>
          </a:xfrm>
          <a:custGeom>
            <a:avLst/>
            <a:gdLst>
              <a:gd name="T0" fmla="*/ 0 w 816"/>
              <a:gd name="T1" fmla="*/ 2147483646 h 317"/>
              <a:gd name="T2" fmla="*/ 2147483646 w 816"/>
              <a:gd name="T3" fmla="*/ 0 h 317"/>
              <a:gd name="T4" fmla="*/ 2147483646 w 816"/>
              <a:gd name="T5" fmla="*/ 2147483646 h 317"/>
              <a:gd name="T6" fmla="*/ 0 60000 65536"/>
              <a:gd name="T7" fmla="*/ 0 60000 65536"/>
              <a:gd name="T8" fmla="*/ 0 60000 65536"/>
            </a:gdLst>
            <a:ahLst/>
            <a:cxnLst>
              <a:cxn ang="T6">
                <a:pos x="T0" y="T1"/>
              </a:cxn>
              <a:cxn ang="T7">
                <a:pos x="T2" y="T3"/>
              </a:cxn>
              <a:cxn ang="T8">
                <a:pos x="T4" y="T5"/>
              </a:cxn>
            </a:cxnLst>
            <a:rect l="0" t="0" r="r" b="b"/>
            <a:pathLst>
              <a:path w="816" h="317">
                <a:moveTo>
                  <a:pt x="0" y="317"/>
                </a:moveTo>
                <a:lnTo>
                  <a:pt x="544" y="0"/>
                </a:lnTo>
                <a:lnTo>
                  <a:pt x="816" y="317"/>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7" name="Freeform 32">
            <a:extLst>
              <a:ext uri="{FF2B5EF4-FFF2-40B4-BE49-F238E27FC236}">
                <a16:creationId xmlns:a16="http://schemas.microsoft.com/office/drawing/2014/main" id="{C15D18FB-ABA6-2C44-824E-FD3BAA502D6D}"/>
              </a:ext>
            </a:extLst>
          </p:cNvPr>
          <p:cNvSpPr>
            <a:spLocks/>
          </p:cNvSpPr>
          <p:nvPr/>
        </p:nvSpPr>
        <p:spPr bwMode="auto">
          <a:xfrm>
            <a:off x="5580063" y="2492375"/>
            <a:ext cx="1295400" cy="503238"/>
          </a:xfrm>
          <a:custGeom>
            <a:avLst/>
            <a:gdLst>
              <a:gd name="T0" fmla="*/ 0 w 816"/>
              <a:gd name="T1" fmla="*/ 2147483646 h 317"/>
              <a:gd name="T2" fmla="*/ 2147483646 w 816"/>
              <a:gd name="T3" fmla="*/ 0 h 317"/>
              <a:gd name="T4" fmla="*/ 2147483646 w 816"/>
              <a:gd name="T5" fmla="*/ 2147483646 h 317"/>
              <a:gd name="T6" fmla="*/ 0 60000 65536"/>
              <a:gd name="T7" fmla="*/ 0 60000 65536"/>
              <a:gd name="T8" fmla="*/ 0 60000 65536"/>
            </a:gdLst>
            <a:ahLst/>
            <a:cxnLst>
              <a:cxn ang="T6">
                <a:pos x="T0" y="T1"/>
              </a:cxn>
              <a:cxn ang="T7">
                <a:pos x="T2" y="T3"/>
              </a:cxn>
              <a:cxn ang="T8">
                <a:pos x="T4" y="T5"/>
              </a:cxn>
            </a:cxnLst>
            <a:rect l="0" t="0" r="r" b="b"/>
            <a:pathLst>
              <a:path w="816" h="317">
                <a:moveTo>
                  <a:pt x="0" y="317"/>
                </a:moveTo>
                <a:lnTo>
                  <a:pt x="544" y="0"/>
                </a:lnTo>
                <a:lnTo>
                  <a:pt x="816" y="317"/>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8" name="Line 33">
            <a:extLst>
              <a:ext uri="{FF2B5EF4-FFF2-40B4-BE49-F238E27FC236}">
                <a16:creationId xmlns:a16="http://schemas.microsoft.com/office/drawing/2014/main" id="{81864EC8-DBD9-6D41-82FC-BD17C2BDA641}"/>
              </a:ext>
            </a:extLst>
          </p:cNvPr>
          <p:cNvSpPr>
            <a:spLocks noChangeShapeType="1"/>
          </p:cNvSpPr>
          <p:nvPr/>
        </p:nvSpPr>
        <p:spPr bwMode="auto">
          <a:xfrm flipV="1">
            <a:off x="1476375" y="1844675"/>
            <a:ext cx="0" cy="1800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9" name="Line 34">
            <a:extLst>
              <a:ext uri="{FF2B5EF4-FFF2-40B4-BE49-F238E27FC236}">
                <a16:creationId xmlns:a16="http://schemas.microsoft.com/office/drawing/2014/main" id="{CE2EF725-4FE0-6749-B86E-D335B0A3DA9E}"/>
              </a:ext>
            </a:extLst>
          </p:cNvPr>
          <p:cNvSpPr>
            <a:spLocks noChangeShapeType="1"/>
          </p:cNvSpPr>
          <p:nvPr/>
        </p:nvSpPr>
        <p:spPr bwMode="auto">
          <a:xfrm>
            <a:off x="1116013" y="1844675"/>
            <a:ext cx="0" cy="1800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0" name="Text Box 35">
            <a:extLst>
              <a:ext uri="{FF2B5EF4-FFF2-40B4-BE49-F238E27FC236}">
                <a16:creationId xmlns:a16="http://schemas.microsoft.com/office/drawing/2014/main" id="{3AAD2246-F306-8148-B537-C8CBAC735F90}"/>
              </a:ext>
            </a:extLst>
          </p:cNvPr>
          <p:cNvSpPr txBox="1">
            <a:spLocks noChangeArrowheads="1"/>
          </p:cNvSpPr>
          <p:nvPr/>
        </p:nvSpPr>
        <p:spPr bwMode="auto">
          <a:xfrm>
            <a:off x="2627313" y="3357563"/>
            <a:ext cx="43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0A</a:t>
            </a:r>
            <a:endParaRPr lang="en-US" altLang="en-US" sz="1800" i="1">
              <a:latin typeface="Times New Roman" panose="02020603050405020304" pitchFamily="18" charset="0"/>
            </a:endParaRPr>
          </a:p>
        </p:txBody>
      </p:sp>
      <p:sp>
        <p:nvSpPr>
          <p:cNvPr id="43031" name="Text Box 36">
            <a:extLst>
              <a:ext uri="{FF2B5EF4-FFF2-40B4-BE49-F238E27FC236}">
                <a16:creationId xmlns:a16="http://schemas.microsoft.com/office/drawing/2014/main" id="{AE44776E-D150-B641-A6B1-FD0CC880EA86}"/>
              </a:ext>
            </a:extLst>
          </p:cNvPr>
          <p:cNvSpPr txBox="1">
            <a:spLocks noChangeArrowheads="1"/>
          </p:cNvSpPr>
          <p:nvPr/>
        </p:nvSpPr>
        <p:spPr bwMode="auto">
          <a:xfrm>
            <a:off x="2051050" y="1773238"/>
            <a:ext cx="552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10A</a:t>
            </a:r>
            <a:endParaRPr lang="en-US" altLang="en-US" sz="1800" i="1">
              <a:latin typeface="Times New Roman" panose="02020603050405020304" pitchFamily="18" charset="0"/>
            </a:endParaRPr>
          </a:p>
        </p:txBody>
      </p:sp>
      <p:sp>
        <p:nvSpPr>
          <p:cNvPr id="43032" name="Line 37">
            <a:extLst>
              <a:ext uri="{FF2B5EF4-FFF2-40B4-BE49-F238E27FC236}">
                <a16:creationId xmlns:a16="http://schemas.microsoft.com/office/drawing/2014/main" id="{46B31BD4-0F64-9546-BB67-3D243E678DB1}"/>
              </a:ext>
            </a:extLst>
          </p:cNvPr>
          <p:cNvSpPr>
            <a:spLocks noChangeShapeType="1"/>
          </p:cNvSpPr>
          <p:nvPr/>
        </p:nvSpPr>
        <p:spPr bwMode="auto">
          <a:xfrm>
            <a:off x="2051050" y="2133600"/>
            <a:ext cx="792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3" name="Text Box 38">
            <a:extLst>
              <a:ext uri="{FF2B5EF4-FFF2-40B4-BE49-F238E27FC236}">
                <a16:creationId xmlns:a16="http://schemas.microsoft.com/office/drawing/2014/main" id="{6460AC7B-679E-1D48-94CB-F7D46E405DF7}"/>
              </a:ext>
            </a:extLst>
          </p:cNvPr>
          <p:cNvSpPr txBox="1">
            <a:spLocks noChangeArrowheads="1"/>
          </p:cNvSpPr>
          <p:nvPr/>
        </p:nvSpPr>
        <p:spPr bwMode="auto">
          <a:xfrm>
            <a:off x="468313" y="1844675"/>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i="1" dirty="0">
                <a:latin typeface="Times New Roman" panose="02020603050405020304" pitchFamily="18" charset="0"/>
              </a:rPr>
              <a:t>65uS</a:t>
            </a:r>
            <a:endParaRPr lang="en-US" altLang="en-US" sz="1600" i="1" dirty="0">
              <a:latin typeface="Times New Roman" panose="02020603050405020304" pitchFamily="18" charset="0"/>
            </a:endParaRPr>
          </a:p>
        </p:txBody>
      </p:sp>
      <p:sp>
        <p:nvSpPr>
          <p:cNvPr id="43034" name="Text Box 39">
            <a:extLst>
              <a:ext uri="{FF2B5EF4-FFF2-40B4-BE49-F238E27FC236}">
                <a16:creationId xmlns:a16="http://schemas.microsoft.com/office/drawing/2014/main" id="{77D97DA6-7336-6D41-9D6B-478ABAA56EAB}"/>
              </a:ext>
            </a:extLst>
          </p:cNvPr>
          <p:cNvSpPr txBox="1">
            <a:spLocks noChangeArrowheads="1"/>
          </p:cNvSpPr>
          <p:nvPr/>
        </p:nvSpPr>
        <p:spPr bwMode="auto">
          <a:xfrm>
            <a:off x="1042988" y="1844675"/>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i="1">
                <a:latin typeface="Times New Roman" panose="02020603050405020304" pitchFamily="18" charset="0"/>
              </a:rPr>
              <a:t>35uS</a:t>
            </a:r>
            <a:endParaRPr lang="en-US" altLang="en-US" sz="1600" i="1">
              <a:latin typeface="Times New Roman" panose="02020603050405020304" pitchFamily="18" charset="0"/>
            </a:endParaRPr>
          </a:p>
        </p:txBody>
      </p:sp>
      <p:sp>
        <p:nvSpPr>
          <p:cNvPr id="43035" name="Text Box 40">
            <a:extLst>
              <a:ext uri="{FF2B5EF4-FFF2-40B4-BE49-F238E27FC236}">
                <a16:creationId xmlns:a16="http://schemas.microsoft.com/office/drawing/2014/main" id="{DE3D0B2D-05D3-E941-9621-49E2EC8B2655}"/>
              </a:ext>
            </a:extLst>
          </p:cNvPr>
          <p:cNvSpPr txBox="1">
            <a:spLocks noChangeArrowheads="1"/>
          </p:cNvSpPr>
          <p:nvPr/>
        </p:nvSpPr>
        <p:spPr bwMode="auto">
          <a:xfrm>
            <a:off x="6227763" y="2133600"/>
            <a:ext cx="552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10A</a:t>
            </a:r>
            <a:endParaRPr lang="en-US" altLang="en-US" sz="1800" i="1">
              <a:latin typeface="Times New Roman" panose="02020603050405020304" pitchFamily="18" charset="0"/>
            </a:endParaRPr>
          </a:p>
        </p:txBody>
      </p:sp>
      <p:sp>
        <p:nvSpPr>
          <p:cNvPr id="43036" name="Line 41">
            <a:extLst>
              <a:ext uri="{FF2B5EF4-FFF2-40B4-BE49-F238E27FC236}">
                <a16:creationId xmlns:a16="http://schemas.microsoft.com/office/drawing/2014/main" id="{82346447-3A20-E34B-BEBD-F986736F3C8E}"/>
              </a:ext>
            </a:extLst>
          </p:cNvPr>
          <p:cNvSpPr>
            <a:spLocks noChangeShapeType="1"/>
          </p:cNvSpPr>
          <p:nvPr/>
        </p:nvSpPr>
        <p:spPr bwMode="auto">
          <a:xfrm>
            <a:off x="6227763" y="2493963"/>
            <a:ext cx="7921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7" name="Text Box 42">
            <a:extLst>
              <a:ext uri="{FF2B5EF4-FFF2-40B4-BE49-F238E27FC236}">
                <a16:creationId xmlns:a16="http://schemas.microsoft.com/office/drawing/2014/main" id="{61B28853-BC18-BB4E-86B5-DF612B11E637}"/>
              </a:ext>
            </a:extLst>
          </p:cNvPr>
          <p:cNvSpPr txBox="1">
            <a:spLocks noChangeArrowheads="1"/>
          </p:cNvSpPr>
          <p:nvPr/>
        </p:nvSpPr>
        <p:spPr bwMode="auto">
          <a:xfrm>
            <a:off x="5292725" y="3068638"/>
            <a:ext cx="43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i="1">
                <a:latin typeface="Times New Roman" panose="02020603050405020304" pitchFamily="18" charset="0"/>
              </a:rPr>
              <a:t>4A</a:t>
            </a:r>
            <a:endParaRPr lang="en-US" altLang="en-US" sz="1800" i="1">
              <a:latin typeface="Times New Roman" panose="02020603050405020304" pitchFamily="18" charset="0"/>
            </a:endParaRPr>
          </a:p>
        </p:txBody>
      </p:sp>
      <p:sp>
        <p:nvSpPr>
          <p:cNvPr id="43038" name="Line 43">
            <a:extLst>
              <a:ext uri="{FF2B5EF4-FFF2-40B4-BE49-F238E27FC236}">
                <a16:creationId xmlns:a16="http://schemas.microsoft.com/office/drawing/2014/main" id="{85F2B3EB-9BAB-E34D-868E-F16B6AD8995D}"/>
              </a:ext>
            </a:extLst>
          </p:cNvPr>
          <p:cNvSpPr>
            <a:spLocks noChangeShapeType="1"/>
          </p:cNvSpPr>
          <p:nvPr/>
        </p:nvSpPr>
        <p:spPr bwMode="auto">
          <a:xfrm>
            <a:off x="5292725" y="2997200"/>
            <a:ext cx="792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9" name="Line 44">
            <a:extLst>
              <a:ext uri="{FF2B5EF4-FFF2-40B4-BE49-F238E27FC236}">
                <a16:creationId xmlns:a16="http://schemas.microsoft.com/office/drawing/2014/main" id="{8BF7BA99-7059-054E-97C6-A498F7A7AAF6}"/>
              </a:ext>
            </a:extLst>
          </p:cNvPr>
          <p:cNvSpPr>
            <a:spLocks noChangeShapeType="1"/>
          </p:cNvSpPr>
          <p:nvPr/>
        </p:nvSpPr>
        <p:spPr bwMode="auto">
          <a:xfrm>
            <a:off x="5148263" y="2278063"/>
            <a:ext cx="0" cy="7191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0" name="Line 45">
            <a:extLst>
              <a:ext uri="{FF2B5EF4-FFF2-40B4-BE49-F238E27FC236}">
                <a16:creationId xmlns:a16="http://schemas.microsoft.com/office/drawing/2014/main" id="{384878B4-4384-9A41-A9D0-B316061BD358}"/>
              </a:ext>
            </a:extLst>
          </p:cNvPr>
          <p:cNvSpPr>
            <a:spLocks noChangeShapeType="1"/>
          </p:cNvSpPr>
          <p:nvPr/>
        </p:nvSpPr>
        <p:spPr bwMode="auto">
          <a:xfrm>
            <a:off x="5580063" y="2276475"/>
            <a:ext cx="0" cy="719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1" name="Text Box 46">
            <a:extLst>
              <a:ext uri="{FF2B5EF4-FFF2-40B4-BE49-F238E27FC236}">
                <a16:creationId xmlns:a16="http://schemas.microsoft.com/office/drawing/2014/main" id="{78804587-9D98-504C-B902-E964B9AB4B2A}"/>
              </a:ext>
            </a:extLst>
          </p:cNvPr>
          <p:cNvSpPr txBox="1">
            <a:spLocks noChangeArrowheads="1"/>
          </p:cNvSpPr>
          <p:nvPr/>
        </p:nvSpPr>
        <p:spPr bwMode="auto">
          <a:xfrm>
            <a:off x="4502150" y="191611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i="1">
                <a:latin typeface="Times New Roman" panose="02020603050405020304" pitchFamily="18" charset="0"/>
              </a:rPr>
              <a:t>36uS</a:t>
            </a:r>
            <a:endParaRPr lang="en-US" altLang="en-US" sz="1600" i="1">
              <a:latin typeface="Times New Roman" panose="02020603050405020304" pitchFamily="18" charset="0"/>
            </a:endParaRPr>
          </a:p>
        </p:txBody>
      </p:sp>
      <p:sp>
        <p:nvSpPr>
          <p:cNvPr id="43042" name="Text Box 47">
            <a:extLst>
              <a:ext uri="{FF2B5EF4-FFF2-40B4-BE49-F238E27FC236}">
                <a16:creationId xmlns:a16="http://schemas.microsoft.com/office/drawing/2014/main" id="{D81CE91E-E862-234D-85D6-3739ECD4D386}"/>
              </a:ext>
            </a:extLst>
          </p:cNvPr>
          <p:cNvSpPr txBox="1">
            <a:spLocks noChangeArrowheads="1"/>
          </p:cNvSpPr>
          <p:nvPr/>
        </p:nvSpPr>
        <p:spPr bwMode="auto">
          <a:xfrm>
            <a:off x="5076825" y="191611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600" i="1">
                <a:latin typeface="Times New Roman" panose="02020603050405020304" pitchFamily="18" charset="0"/>
              </a:rPr>
              <a:t>14uS</a:t>
            </a:r>
            <a:endParaRPr lang="en-US" altLang="en-US" sz="1600" i="1">
              <a:latin typeface="Times New Roman" panose="02020603050405020304" pitchFamily="18" charset="0"/>
            </a:endParaRPr>
          </a:p>
        </p:txBody>
      </p:sp>
      <p:sp>
        <p:nvSpPr>
          <p:cNvPr id="43054" name="Text Box 59">
            <a:extLst>
              <a:ext uri="{FF2B5EF4-FFF2-40B4-BE49-F238E27FC236}">
                <a16:creationId xmlns:a16="http://schemas.microsoft.com/office/drawing/2014/main" id="{C7A37270-B58C-DA49-9902-BF0ABCC05B3E}"/>
              </a:ext>
            </a:extLst>
          </p:cNvPr>
          <p:cNvSpPr txBox="1">
            <a:spLocks noChangeArrowheads="1"/>
          </p:cNvSpPr>
          <p:nvPr/>
        </p:nvSpPr>
        <p:spPr bwMode="auto">
          <a:xfrm>
            <a:off x="2916238" y="2492375"/>
            <a:ext cx="320675" cy="37623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1</a:t>
            </a:r>
            <a:endParaRPr lang="en-US" altLang="en-US" sz="1800"/>
          </a:p>
        </p:txBody>
      </p:sp>
      <p:sp>
        <p:nvSpPr>
          <p:cNvPr id="43055" name="Text Box 60">
            <a:extLst>
              <a:ext uri="{FF2B5EF4-FFF2-40B4-BE49-F238E27FC236}">
                <a16:creationId xmlns:a16="http://schemas.microsoft.com/office/drawing/2014/main" id="{6FB0DC59-3655-A94B-9C7E-D0A900032141}"/>
              </a:ext>
            </a:extLst>
          </p:cNvPr>
          <p:cNvSpPr txBox="1">
            <a:spLocks noChangeArrowheads="1"/>
          </p:cNvSpPr>
          <p:nvPr/>
        </p:nvSpPr>
        <p:spPr bwMode="auto">
          <a:xfrm>
            <a:off x="7164388" y="2492375"/>
            <a:ext cx="320675" cy="37623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2</a:t>
            </a:r>
            <a:endParaRPr lang="en-US" altLang="en-US" sz="1800"/>
          </a:p>
        </p:txBody>
      </p:sp>
      <mc:AlternateContent xmlns:mc="http://schemas.openxmlformats.org/markup-compatibility/2006" xmlns:a14="http://schemas.microsoft.com/office/drawing/2010/main">
        <mc:Choice Requires="a14">
          <p:sp>
            <p:nvSpPr>
              <p:cNvPr id="2" name="Text Box 4">
                <a:extLst>
                  <a:ext uri="{FF2B5EF4-FFF2-40B4-BE49-F238E27FC236}">
                    <a16:creationId xmlns:a16="http://schemas.microsoft.com/office/drawing/2014/main" id="{7EB6B8F2-C4F3-4E66-BA39-31A298D7D2D0}"/>
                  </a:ext>
                </a:extLst>
              </p:cNvPr>
              <p:cNvSpPr txBox="1">
                <a:spLocks noChangeArrowheads="1"/>
              </p:cNvSpPr>
              <p:nvPr/>
            </p:nvSpPr>
            <p:spPr bwMode="auto">
              <a:xfrm>
                <a:off x="107949" y="3932237"/>
                <a:ext cx="5700665" cy="20549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1. </a:t>
                </a:r>
              </a:p>
              <a:p>
                <a:pPr eaLnBrk="1" hangingPunct="1">
                  <a:spcBef>
                    <a:spcPct val="0"/>
                  </a:spcBef>
                  <a:buFontTx/>
                  <a:buNone/>
                </a:pPr>
                <a:r>
                  <a:rPr lang="en-GB" altLang="en-US" sz="1800" dirty="0" err="1"/>
                  <a:t>V</a:t>
                </a:r>
                <a:r>
                  <a:rPr lang="en-GB" altLang="en-US" sz="1800" baseline="-25000" dirty="0" err="1"/>
                  <a:t>In</a:t>
                </a:r>
                <a:r>
                  <a:rPr lang="en-GB" altLang="en-US" sz="1800" dirty="0"/>
                  <a:t> = 100V</a:t>
                </a:r>
              </a:p>
              <a:p>
                <a:pPr eaLnBrk="1" hangingPunct="1">
                  <a:spcBef>
                    <a:spcPct val="0"/>
                  </a:spcBef>
                  <a:buFontTx/>
                  <a:buNone/>
                </a:pPr>
                <a14:m>
                  <m:oMath xmlns:m="http://schemas.openxmlformats.org/officeDocument/2006/math">
                    <m:r>
                      <a:rPr lang="en-GB" sz="1800" b="0" i="1" smtClean="0">
                        <a:latin typeface="Cambria Math" panose="02040503050406030204" pitchFamily="18" charset="0"/>
                      </a:rPr>
                      <m:t>𝐷</m:t>
                    </m:r>
                  </m:oMath>
                </a14:m>
                <a:r>
                  <a:rPr lang="en-GB" altLang="en-US" sz="1800" dirty="0"/>
                  <a:t> = 0.65</a:t>
                </a:r>
              </a:p>
              <a:p>
                <a:pPr eaLnBrk="1" hangingPunct="1">
                  <a:spcBef>
                    <a:spcPct val="0"/>
                  </a:spcBef>
                  <a:buFontTx/>
                  <a:buNone/>
                </a:pPr>
                <a:r>
                  <a:rPr lang="en-GB" altLang="en-US" sz="1800" dirty="0" err="1"/>
                  <a:t>V</a:t>
                </a:r>
                <a:r>
                  <a:rPr lang="en-GB" altLang="en-US" sz="1800" baseline="-25000" dirty="0" err="1"/>
                  <a:t>Out</a:t>
                </a:r>
                <a:r>
                  <a:rPr lang="en-GB" altLang="en-US" sz="1800" dirty="0"/>
                  <a:t> = </a:t>
                </a:r>
                <a14:m>
                  <m:oMath xmlns:m="http://schemas.openxmlformats.org/officeDocument/2006/math">
                    <m:r>
                      <a:rPr lang="en-GB" sz="2000" b="0" i="1" smtClean="0">
                        <a:latin typeface="Cambria Math" panose="02040503050406030204" pitchFamily="18" charset="0"/>
                      </a:rPr>
                      <m:t>𝐷</m:t>
                    </m:r>
                  </m:oMath>
                </a14:m>
                <a:r>
                  <a:rPr lang="en-GB" altLang="en-US" sz="1800" dirty="0">
                    <a:cs typeface="Arial" panose="020B0604020202020204" pitchFamily="34" charset="0"/>
                  </a:rPr>
                  <a:t>.</a:t>
                </a:r>
                <a:r>
                  <a:rPr lang="en-GB" altLang="en-US" sz="1800" dirty="0" err="1">
                    <a:cs typeface="Arial" panose="020B0604020202020204" pitchFamily="34" charset="0"/>
                  </a:rPr>
                  <a:t>V</a:t>
                </a:r>
                <a:r>
                  <a:rPr lang="en-GB" altLang="en-US" sz="1800" baseline="-25000" dirty="0" err="1">
                    <a:cs typeface="Arial" panose="020B0604020202020204" pitchFamily="34" charset="0"/>
                  </a:rPr>
                  <a:t>In</a:t>
                </a:r>
                <a:r>
                  <a:rPr lang="en-GB" altLang="en-US" sz="1800" dirty="0">
                    <a:cs typeface="Arial" panose="020B0604020202020204" pitchFamily="34" charset="0"/>
                  </a:rPr>
                  <a:t> = 65V</a:t>
                </a:r>
              </a:p>
              <a:p>
                <a:pPr>
                  <a:spcBef>
                    <a:spcPct val="0"/>
                  </a:spcBef>
                  <a:buNone/>
                </a:pPr>
                <a:r>
                  <a:rPr lang="en-GB" altLang="en-US" sz="1800" dirty="0" err="1">
                    <a:cs typeface="Arial" panose="020B0604020202020204" pitchFamily="34" charset="0"/>
                  </a:rPr>
                  <a:t>I</a:t>
                </a:r>
                <a:r>
                  <a:rPr lang="en-GB" altLang="en-US" sz="1800" baseline="-25000" dirty="0" err="1">
                    <a:cs typeface="Arial" panose="020B0604020202020204" pitchFamily="34" charset="0"/>
                  </a:rPr>
                  <a:t>Out</a:t>
                </a:r>
                <a:r>
                  <a:rPr lang="en-GB" altLang="en-US" sz="1800" baseline="-25000" dirty="0">
                    <a:cs typeface="Arial" panose="020B0604020202020204" pitchFamily="34" charset="0"/>
                  </a:rPr>
                  <a:t> (Ave)</a:t>
                </a:r>
                <a:r>
                  <a:rPr lang="en-GB" altLang="en-US" sz="1800" dirty="0">
                    <a:cs typeface="Arial" panose="020B0604020202020204" pitchFamily="34" charset="0"/>
                  </a:rPr>
                  <a:t> = (0.5x65</a:t>
                </a:r>
                <a:r>
                  <a:rPr lang="en-GB" altLang="en-US" sz="1800" i="1" dirty="0">
                    <a:latin typeface="Times New Roman" panose="02020603050405020304" pitchFamily="18" charset="0"/>
                  </a:rPr>
                  <a:t>uS</a:t>
                </a:r>
                <a:r>
                  <a:rPr lang="en-GB" altLang="en-US" sz="1800" dirty="0">
                    <a:cs typeface="Arial" panose="020B0604020202020204" pitchFamily="34" charset="0"/>
                  </a:rPr>
                  <a:t>x10 + 0.5x35</a:t>
                </a:r>
                <a:r>
                  <a:rPr lang="en-GB" altLang="en-US" sz="1800" i="1" dirty="0">
                    <a:latin typeface="Times New Roman" panose="02020603050405020304" pitchFamily="18" charset="0"/>
                  </a:rPr>
                  <a:t>uS</a:t>
                </a:r>
                <a:r>
                  <a:rPr lang="en-GB" altLang="en-US" sz="1800" dirty="0">
                    <a:cs typeface="Arial" panose="020B0604020202020204" pitchFamily="34" charset="0"/>
                  </a:rPr>
                  <a:t>x10)/(65</a:t>
                </a:r>
                <a:r>
                  <a:rPr lang="en-GB" altLang="en-US" sz="1800" i="1" dirty="0">
                    <a:latin typeface="Times New Roman" panose="02020603050405020304" pitchFamily="18" charset="0"/>
                  </a:rPr>
                  <a:t>uS</a:t>
                </a:r>
                <a:r>
                  <a:rPr lang="en-GB" altLang="en-US" sz="1800" dirty="0">
                    <a:cs typeface="Arial" panose="020B0604020202020204" pitchFamily="34" charset="0"/>
                  </a:rPr>
                  <a:t>+35</a:t>
                </a:r>
                <a:r>
                  <a:rPr lang="en-GB" altLang="en-US" sz="1800" i="1" dirty="0">
                    <a:latin typeface="Times New Roman" panose="02020603050405020304" pitchFamily="18" charset="0"/>
                  </a:rPr>
                  <a:t>uS</a:t>
                </a:r>
                <a:r>
                  <a:rPr lang="en-GB" altLang="en-US" sz="1800" dirty="0">
                    <a:cs typeface="Arial" panose="020B0604020202020204" pitchFamily="34" charset="0"/>
                  </a:rPr>
                  <a:t>) </a:t>
                </a:r>
              </a:p>
              <a:p>
                <a:pPr>
                  <a:spcBef>
                    <a:spcPct val="0"/>
                  </a:spcBef>
                  <a:buNone/>
                </a:pPr>
                <a:r>
                  <a:rPr lang="en-GB" altLang="en-US" sz="1800" dirty="0">
                    <a:cs typeface="Arial" panose="020B0604020202020204" pitchFamily="34" charset="0"/>
                  </a:rPr>
                  <a:t>            = 5A </a:t>
                </a:r>
              </a:p>
              <a:p>
                <a:pPr eaLnBrk="1" hangingPunct="1">
                  <a:spcBef>
                    <a:spcPct val="0"/>
                  </a:spcBef>
                  <a:buFontTx/>
                  <a:buNone/>
                </a:pPr>
                <a:r>
                  <a:rPr lang="en-GB" altLang="en-US" sz="1800" dirty="0" err="1">
                    <a:cs typeface="Arial" panose="020B0604020202020204" pitchFamily="34" charset="0"/>
                  </a:rPr>
                  <a:t>P</a:t>
                </a:r>
                <a:r>
                  <a:rPr lang="en-GB" altLang="en-US" sz="1800" baseline="-25000" dirty="0" err="1">
                    <a:cs typeface="Arial" panose="020B0604020202020204" pitchFamily="34" charset="0"/>
                  </a:rPr>
                  <a:t>Out</a:t>
                </a:r>
                <a:r>
                  <a:rPr lang="en-GB" altLang="en-US" sz="1800" dirty="0">
                    <a:cs typeface="Arial" panose="020B0604020202020204" pitchFamily="34" charset="0"/>
                  </a:rPr>
                  <a:t> = 325W</a:t>
                </a:r>
                <a:endParaRPr lang="el-GR" altLang="en-US" sz="1800" dirty="0">
                  <a:cs typeface="Arial" panose="020B0604020202020204" pitchFamily="34" charset="0"/>
                </a:endParaRPr>
              </a:p>
            </p:txBody>
          </p:sp>
        </mc:Choice>
        <mc:Fallback xmlns="">
          <p:sp>
            <p:nvSpPr>
              <p:cNvPr id="2" name="Text Box 4">
                <a:extLst>
                  <a:ext uri="{FF2B5EF4-FFF2-40B4-BE49-F238E27FC236}">
                    <a16:creationId xmlns:a16="http://schemas.microsoft.com/office/drawing/2014/main" id="{7EB6B8F2-C4F3-4E66-BA39-31A298D7D2D0}"/>
                  </a:ext>
                </a:extLst>
              </p:cNvPr>
              <p:cNvSpPr txBox="1">
                <a:spLocks noRot="1" noChangeAspect="1" noMove="1" noResize="1" noEditPoints="1" noAdjustHandles="1" noChangeArrowheads="1" noChangeShapeType="1" noTextEdit="1"/>
              </p:cNvSpPr>
              <p:nvPr/>
            </p:nvSpPr>
            <p:spPr bwMode="auto">
              <a:xfrm>
                <a:off x="107949" y="3932237"/>
                <a:ext cx="5700665" cy="2054986"/>
              </a:xfrm>
              <a:prstGeom prst="rect">
                <a:avLst/>
              </a:prstGeom>
              <a:blipFill>
                <a:blip r:embed="rId2"/>
                <a:stretch>
                  <a:fillRect l="-963" t="-1484" b="-38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Box 5">
                <a:extLst>
                  <a:ext uri="{FF2B5EF4-FFF2-40B4-BE49-F238E27FC236}">
                    <a16:creationId xmlns:a16="http://schemas.microsoft.com/office/drawing/2014/main" id="{3F6307BE-1CDE-FD21-A3CE-F689322D4DA1}"/>
                  </a:ext>
                </a:extLst>
              </p:cNvPr>
              <p:cNvSpPr txBox="1">
                <a:spLocks noChangeArrowheads="1"/>
              </p:cNvSpPr>
              <p:nvPr/>
            </p:nvSpPr>
            <p:spPr bwMode="auto">
              <a:xfrm>
                <a:off x="6503988" y="3952737"/>
                <a:ext cx="1990738" cy="17779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2. </a:t>
                </a:r>
              </a:p>
              <a:p>
                <a:pPr eaLnBrk="1" hangingPunct="1">
                  <a:spcBef>
                    <a:spcPct val="0"/>
                  </a:spcBef>
                  <a:buFontTx/>
                  <a:buNone/>
                </a:pPr>
                <a:r>
                  <a:rPr lang="en-GB" altLang="en-US" sz="1800" dirty="0" err="1"/>
                  <a:t>V</a:t>
                </a:r>
                <a:r>
                  <a:rPr lang="en-GB" altLang="en-US" sz="1800" baseline="-25000" dirty="0" err="1"/>
                  <a:t>In</a:t>
                </a:r>
                <a:r>
                  <a:rPr lang="en-GB" altLang="en-US" sz="1800" dirty="0"/>
                  <a:t> = 100V</a:t>
                </a:r>
              </a:p>
              <a:p>
                <a:pPr eaLnBrk="1" hangingPunct="1">
                  <a:spcBef>
                    <a:spcPct val="0"/>
                  </a:spcBef>
                  <a:buFontTx/>
                  <a:buNone/>
                </a:pPr>
                <a14:m>
                  <m:oMath xmlns:m="http://schemas.openxmlformats.org/officeDocument/2006/math">
                    <m:r>
                      <a:rPr lang="en-GB" sz="1800" b="0" i="1" smtClean="0">
                        <a:latin typeface="Cambria Math" panose="02040503050406030204" pitchFamily="18" charset="0"/>
                      </a:rPr>
                      <m:t>𝐷</m:t>
                    </m:r>
                  </m:oMath>
                </a14:m>
                <a:r>
                  <a:rPr lang="en-GB" altLang="en-US" sz="1800" dirty="0"/>
                  <a:t> = 0.72</a:t>
                </a:r>
              </a:p>
              <a:p>
                <a:pPr>
                  <a:spcBef>
                    <a:spcPct val="0"/>
                  </a:spcBef>
                  <a:buNone/>
                </a:pPr>
                <a:r>
                  <a:rPr lang="en-GB" altLang="en-US" sz="1800" dirty="0" err="1"/>
                  <a:t>V</a:t>
                </a:r>
                <a:r>
                  <a:rPr lang="en-GB" altLang="en-US" sz="1800" baseline="-25000" dirty="0" err="1"/>
                  <a:t>Out</a:t>
                </a:r>
                <a:r>
                  <a:rPr lang="en-GB" altLang="en-US" sz="1800" dirty="0"/>
                  <a:t> =</a:t>
                </a:r>
                <a14:m>
                  <m:oMath xmlns:m="http://schemas.openxmlformats.org/officeDocument/2006/math">
                    <m:r>
                      <a:rPr lang="en-GB" sz="1800" i="1">
                        <a:latin typeface="Cambria Math" panose="02040503050406030204" pitchFamily="18" charset="0"/>
                      </a:rPr>
                      <m:t>𝐷</m:t>
                    </m:r>
                  </m:oMath>
                </a14:m>
                <a:r>
                  <a:rPr lang="en-GB" altLang="en-US" sz="1800" dirty="0">
                    <a:cs typeface="Arial" panose="020B0604020202020204" pitchFamily="34" charset="0"/>
                  </a:rPr>
                  <a:t>.</a:t>
                </a:r>
                <a:r>
                  <a:rPr lang="en-GB" altLang="en-US" sz="1800" dirty="0" err="1">
                    <a:cs typeface="Arial" panose="020B0604020202020204" pitchFamily="34" charset="0"/>
                  </a:rPr>
                  <a:t>V</a:t>
                </a:r>
                <a:r>
                  <a:rPr lang="en-GB" altLang="en-US" sz="1800" baseline="-25000" dirty="0" err="1">
                    <a:cs typeface="Arial" panose="020B0604020202020204" pitchFamily="34" charset="0"/>
                  </a:rPr>
                  <a:t>In</a:t>
                </a:r>
                <a:r>
                  <a:rPr lang="en-GB" altLang="en-US" sz="1800" dirty="0">
                    <a:cs typeface="Arial" panose="020B0604020202020204" pitchFamily="34" charset="0"/>
                  </a:rPr>
                  <a:t> = 72V</a:t>
                </a:r>
              </a:p>
              <a:p>
                <a:pPr eaLnBrk="1" hangingPunct="1">
                  <a:spcBef>
                    <a:spcPct val="0"/>
                  </a:spcBef>
                  <a:buFontTx/>
                  <a:buNone/>
                </a:pPr>
                <a:r>
                  <a:rPr lang="en-GB" altLang="en-US" sz="1800" dirty="0" err="1">
                    <a:cs typeface="Arial" panose="020B0604020202020204" pitchFamily="34" charset="0"/>
                  </a:rPr>
                  <a:t>I</a:t>
                </a:r>
                <a:r>
                  <a:rPr lang="en-GB" altLang="en-US" sz="1800" baseline="-25000" dirty="0" err="1">
                    <a:cs typeface="Arial" panose="020B0604020202020204" pitchFamily="34" charset="0"/>
                  </a:rPr>
                  <a:t>Out</a:t>
                </a:r>
                <a:r>
                  <a:rPr lang="en-GB" altLang="en-US" sz="1800" baseline="-25000" dirty="0">
                    <a:cs typeface="Arial" panose="020B0604020202020204" pitchFamily="34" charset="0"/>
                  </a:rPr>
                  <a:t> (Ave)</a:t>
                </a:r>
                <a:r>
                  <a:rPr lang="en-GB" altLang="en-US" sz="1800" dirty="0">
                    <a:cs typeface="Arial" panose="020B0604020202020204" pitchFamily="34" charset="0"/>
                  </a:rPr>
                  <a:t> = 7A</a:t>
                </a:r>
              </a:p>
              <a:p>
                <a:pPr eaLnBrk="1" hangingPunct="1">
                  <a:spcBef>
                    <a:spcPct val="0"/>
                  </a:spcBef>
                  <a:buFontTx/>
                  <a:buNone/>
                </a:pPr>
                <a:r>
                  <a:rPr lang="en-GB" altLang="en-US" sz="1800" dirty="0" err="1">
                    <a:cs typeface="Arial" panose="020B0604020202020204" pitchFamily="34" charset="0"/>
                  </a:rPr>
                  <a:t>P</a:t>
                </a:r>
                <a:r>
                  <a:rPr lang="en-GB" altLang="en-US" sz="1800" baseline="-25000" dirty="0" err="1">
                    <a:cs typeface="Arial" panose="020B0604020202020204" pitchFamily="34" charset="0"/>
                  </a:rPr>
                  <a:t>Out</a:t>
                </a:r>
                <a:r>
                  <a:rPr lang="en-GB" altLang="en-US" sz="1800" dirty="0">
                    <a:cs typeface="Arial" panose="020B0604020202020204" pitchFamily="34" charset="0"/>
                  </a:rPr>
                  <a:t> = 504W</a:t>
                </a:r>
                <a:endParaRPr lang="el-GR" altLang="en-US" sz="1800" dirty="0">
                  <a:cs typeface="Arial" panose="020B0604020202020204" pitchFamily="34" charset="0"/>
                </a:endParaRPr>
              </a:p>
            </p:txBody>
          </p:sp>
        </mc:Choice>
        <mc:Fallback xmlns="">
          <p:sp>
            <p:nvSpPr>
              <p:cNvPr id="3" name="Text Box 5">
                <a:extLst>
                  <a:ext uri="{FF2B5EF4-FFF2-40B4-BE49-F238E27FC236}">
                    <a16:creationId xmlns:a16="http://schemas.microsoft.com/office/drawing/2014/main" id="{3F6307BE-1CDE-FD21-A3CE-F689322D4DA1}"/>
                  </a:ext>
                </a:extLst>
              </p:cNvPr>
              <p:cNvSpPr txBox="1">
                <a:spLocks noRot="1" noChangeAspect="1" noMove="1" noResize="1" noEditPoints="1" noAdjustHandles="1" noChangeArrowheads="1" noChangeShapeType="1" noTextEdit="1"/>
              </p:cNvSpPr>
              <p:nvPr/>
            </p:nvSpPr>
            <p:spPr bwMode="auto">
              <a:xfrm>
                <a:off x="6503988" y="3952737"/>
                <a:ext cx="1990738" cy="1777987"/>
              </a:xfrm>
              <a:prstGeom prst="rect">
                <a:avLst/>
              </a:prstGeom>
              <a:blipFill>
                <a:blip r:embed="rId3"/>
                <a:stretch>
                  <a:fillRect l="-2761" t="-1712" r="-920" b="-308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CF3D1-E57A-559A-C175-4A2F4CEC6580}"/>
            </a:ext>
          </a:extLst>
        </p:cNvPr>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576D61F0-7DE7-36FC-2377-66B881D501CB}"/>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4D87E76-9F9E-5F4B-AEB2-77E7E8913FA1}" type="slidenum">
              <a:rPr lang="en-US" altLang="en-US" sz="1400"/>
              <a:pPr>
                <a:spcBef>
                  <a:spcPct val="0"/>
                </a:spcBef>
                <a:buFontTx/>
                <a:buNone/>
              </a:pPr>
              <a:t>27</a:t>
            </a:fld>
            <a:endParaRPr lang="en-US" altLang="en-US" sz="1400" dirty="0"/>
          </a:p>
        </p:txBody>
      </p:sp>
      <p:sp>
        <p:nvSpPr>
          <p:cNvPr id="6147" name="Text Box 4">
            <a:extLst>
              <a:ext uri="{FF2B5EF4-FFF2-40B4-BE49-F238E27FC236}">
                <a16:creationId xmlns:a16="http://schemas.microsoft.com/office/drawing/2014/main" id="{54762994-24D5-F98F-46AF-FB5EAC391B49}"/>
              </a:ext>
            </a:extLst>
          </p:cNvPr>
          <p:cNvSpPr txBox="1">
            <a:spLocks noChangeArrowheads="1"/>
          </p:cNvSpPr>
          <p:nvPr/>
        </p:nvSpPr>
        <p:spPr bwMode="auto">
          <a:xfrm>
            <a:off x="215900" y="158750"/>
            <a:ext cx="8928100" cy="438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solidFill>
                  <a:srgbClr val="FF0000"/>
                </a:solidFill>
              </a:rPr>
              <a:t>Switched-mode</a:t>
            </a:r>
            <a:r>
              <a:rPr lang="en-GB" altLang="en-US" sz="1800" u="sng" dirty="0"/>
              <a:t> Power Supplies (SMPS)</a:t>
            </a:r>
            <a:r>
              <a:rPr lang="zh-CN" altLang="en-US" sz="1800" u="sng" dirty="0">
                <a:ea typeface="宋体" panose="02010600030101010101" pitchFamily="2" charset="-122"/>
              </a:rPr>
              <a:t>开关电源</a:t>
            </a:r>
            <a:endParaRPr lang="en-GB" altLang="en-US" sz="1800" u="sng" dirty="0"/>
          </a:p>
          <a:p>
            <a:pPr eaLnBrk="1" hangingPunct="1">
              <a:spcBef>
                <a:spcPct val="50000"/>
              </a:spcBef>
              <a:buFontTx/>
              <a:buNone/>
            </a:pPr>
            <a:r>
              <a:rPr lang="en-GB" altLang="en-US" sz="1800" dirty="0"/>
              <a:t>We saw how the linear power supply was very easy to build but suffered from relatively low efficiency. Where efficiency is an important consideration, the SMPS should be the supply of choice. For even moderately-sized power supplies the </a:t>
            </a:r>
            <a:r>
              <a:rPr lang="en-GB" altLang="en-US" sz="1800" b="1" dirty="0">
                <a:solidFill>
                  <a:srgbClr val="0000FF"/>
                </a:solidFill>
              </a:rPr>
              <a:t>advantages</a:t>
            </a:r>
            <a:r>
              <a:rPr lang="en-GB" altLang="en-US" sz="1800" dirty="0"/>
              <a:t> of the SMPS efficiency can be considerable:</a:t>
            </a:r>
          </a:p>
          <a:p>
            <a:pPr eaLnBrk="1" hangingPunct="1">
              <a:spcBef>
                <a:spcPct val="50000"/>
              </a:spcBef>
              <a:buFontTx/>
              <a:buAutoNum type="arabicPeriod"/>
            </a:pPr>
            <a:r>
              <a:rPr lang="en-GB" altLang="en-US" sz="1800" dirty="0"/>
              <a:t>Heatsinks </a:t>
            </a:r>
            <a:r>
              <a:rPr lang="zh-CN" altLang="en-US" sz="1800" dirty="0">
                <a:ea typeface="宋体" panose="02010600030101010101" pitchFamily="2" charset="-122"/>
              </a:rPr>
              <a:t>散热片</a:t>
            </a:r>
            <a:r>
              <a:rPr lang="en-GB" altLang="en-US" sz="1800" dirty="0"/>
              <a:t>can be smaller;</a:t>
            </a:r>
          </a:p>
          <a:p>
            <a:pPr eaLnBrk="1" hangingPunct="1">
              <a:spcBef>
                <a:spcPct val="50000"/>
              </a:spcBef>
              <a:buFontTx/>
              <a:buAutoNum type="arabicPeriod"/>
            </a:pPr>
            <a:r>
              <a:rPr lang="en-GB" altLang="en-US" sz="1800" dirty="0"/>
              <a:t>A cooling fan is not usually needed;</a:t>
            </a:r>
          </a:p>
          <a:p>
            <a:pPr eaLnBrk="1" hangingPunct="1">
              <a:spcBef>
                <a:spcPct val="50000"/>
              </a:spcBef>
              <a:buFontTx/>
              <a:buAutoNum type="arabicPeriod"/>
            </a:pPr>
            <a:r>
              <a:rPr lang="en-GB" altLang="en-US" sz="1800" dirty="0"/>
              <a:t>The power density </a:t>
            </a:r>
            <a:r>
              <a:rPr lang="zh-CN" altLang="en-US" sz="1800" dirty="0">
                <a:ea typeface="宋体" panose="02010600030101010101" pitchFamily="2" charset="-122"/>
              </a:rPr>
              <a:t>功率密度</a:t>
            </a:r>
            <a:r>
              <a:rPr lang="en-GB" altLang="en-US" sz="1800" dirty="0"/>
              <a:t>(watts per cm</a:t>
            </a:r>
            <a:r>
              <a:rPr lang="en-GB" altLang="en-US" sz="1800" baseline="30000" dirty="0"/>
              <a:t>3</a:t>
            </a:r>
            <a:r>
              <a:rPr lang="en-GB" altLang="en-US" sz="1800" dirty="0"/>
              <a:t>) is greater.</a:t>
            </a:r>
          </a:p>
          <a:p>
            <a:pPr eaLnBrk="1" hangingPunct="1">
              <a:spcBef>
                <a:spcPct val="50000"/>
              </a:spcBef>
              <a:buFontTx/>
              <a:buAutoNum type="arabicPeriod"/>
            </a:pPr>
            <a:r>
              <a:rPr lang="en-GB" altLang="en-US" sz="1800" dirty="0"/>
              <a:t>The weight is lower.</a:t>
            </a:r>
          </a:p>
          <a:p>
            <a:pPr eaLnBrk="1" hangingPunct="1">
              <a:spcBef>
                <a:spcPct val="50000"/>
              </a:spcBef>
              <a:buFontTx/>
              <a:buNone/>
            </a:pPr>
            <a:r>
              <a:rPr lang="en-GB" altLang="en-US" sz="1800" dirty="0"/>
              <a:t>However, against these advantages, the following </a:t>
            </a:r>
            <a:r>
              <a:rPr lang="en-GB" altLang="en-US" sz="1800" b="1" dirty="0">
                <a:solidFill>
                  <a:srgbClr val="0000FF"/>
                </a:solidFill>
              </a:rPr>
              <a:t>disadvantages</a:t>
            </a:r>
            <a:r>
              <a:rPr lang="en-GB" altLang="en-US" sz="1800" dirty="0"/>
              <a:t> must be considered:</a:t>
            </a:r>
          </a:p>
          <a:p>
            <a:pPr eaLnBrk="1" hangingPunct="1">
              <a:spcBef>
                <a:spcPct val="50000"/>
              </a:spcBef>
              <a:buFontTx/>
              <a:buNone/>
            </a:pPr>
            <a:r>
              <a:rPr lang="en-GB" altLang="en-US" sz="1800" dirty="0"/>
              <a:t>1. The SMPS is electrically very noisy.</a:t>
            </a:r>
          </a:p>
        </p:txBody>
      </p:sp>
    </p:spTree>
    <p:extLst>
      <p:ext uri="{BB962C8B-B14F-4D97-AF65-F5344CB8AC3E}">
        <p14:creationId xmlns:p14="http://schemas.microsoft.com/office/powerpoint/2010/main" val="19214000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25123</TotalTime>
  <Words>2194</Words>
  <Application>Microsoft Office PowerPoint</Application>
  <PresentationFormat>On-screen Show (4:3)</PresentationFormat>
  <Paragraphs>335</Paragraphs>
  <Slides>27</Slides>
  <Notes>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8" baseType="lpstr">
      <vt:lpstr>宋体</vt:lpstr>
      <vt:lpstr>宋体</vt:lpstr>
      <vt:lpstr>Arial</vt:lpstr>
      <vt:lpstr>Calibri</vt:lpstr>
      <vt:lpstr>Calibri Light</vt:lpstr>
      <vt:lpstr>Cambria Math</vt:lpstr>
      <vt:lpstr>Google Sans</vt:lpstr>
      <vt:lpstr>Times</vt:lpstr>
      <vt:lpstr>Times New Roman</vt:lpstr>
      <vt:lpstr>Office Theme</vt:lpstr>
      <vt:lpstr>Equation</vt:lpstr>
      <vt:lpstr>Power Electronics</vt:lpstr>
      <vt:lpstr>PowerPoint Presentation</vt:lpstr>
      <vt:lpstr>Power Electronics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Shuja Ansari</dc:creator>
  <cp:lastModifiedBy>Atif Jafri</cp:lastModifiedBy>
  <cp:revision>49</cp:revision>
  <dcterms:created xsi:type="dcterms:W3CDTF">2022-04-16T23:12:10Z</dcterms:created>
  <dcterms:modified xsi:type="dcterms:W3CDTF">2025-05-05T12:15:54Z</dcterms:modified>
</cp:coreProperties>
</file>