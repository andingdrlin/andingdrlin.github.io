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5"/>
  </p:notesMasterIdLst>
  <p:sldIdLst>
    <p:sldId id="277" r:id="rId2"/>
    <p:sldId id="320" r:id="rId3"/>
    <p:sldId id="319" r:id="rId4"/>
    <p:sldId id="301" r:id="rId5"/>
    <p:sldId id="342" r:id="rId6"/>
    <p:sldId id="343" r:id="rId7"/>
    <p:sldId id="344" r:id="rId8"/>
    <p:sldId id="345" r:id="rId9"/>
    <p:sldId id="346" r:id="rId10"/>
    <p:sldId id="347" r:id="rId11"/>
    <p:sldId id="348" r:id="rId12"/>
    <p:sldId id="349" r:id="rId13"/>
    <p:sldId id="350" r:id="rId14"/>
    <p:sldId id="310" r:id="rId15"/>
    <p:sldId id="311" r:id="rId16"/>
    <p:sldId id="335" r:id="rId17"/>
    <p:sldId id="354" r:id="rId18"/>
    <p:sldId id="351" r:id="rId19"/>
    <p:sldId id="341" r:id="rId20"/>
    <p:sldId id="355" r:id="rId21"/>
    <p:sldId id="279" r:id="rId22"/>
    <p:sldId id="286" r:id="rId23"/>
    <p:sldId id="287" r:id="rId24"/>
    <p:sldId id="290" r:id="rId25"/>
    <p:sldId id="289" r:id="rId26"/>
    <p:sldId id="291" r:id="rId27"/>
    <p:sldId id="292" r:id="rId28"/>
    <p:sldId id="293" r:id="rId29"/>
    <p:sldId id="294" r:id="rId30"/>
    <p:sldId id="280" r:id="rId31"/>
    <p:sldId id="284" r:id="rId32"/>
    <p:sldId id="285" r:id="rId33"/>
    <p:sldId id="283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54" autoAdjust="0"/>
    <p:restoredTop sz="96110"/>
  </p:normalViewPr>
  <p:slideViewPr>
    <p:cSldViewPr snapToGrid="0" snapToObjects="1">
      <p:cViewPr varScale="1">
        <p:scale>
          <a:sx n="70" d="100"/>
          <a:sy n="70" d="100"/>
        </p:scale>
        <p:origin x="101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859AF1-813F-0445-B1FB-86B77D94D98E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E78384-6AAA-0A48-A2E9-CB4562A52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119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AF669-ACFE-D942-AAF4-46B993C76BA5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33195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E78384-6AAA-0A48-A2E9-CB4562A52E8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5134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E78384-6AAA-0A48-A2E9-CB4562A52E8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3127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E78384-6AAA-0A48-A2E9-CB4562A52E8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4047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E78384-6AAA-0A48-A2E9-CB4562A52E8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6224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AF669-ACFE-D942-AAF4-46B993C76BA5}" type="slidenum">
              <a:rPr lang="en-US" altLang="en-US" smtClean="0"/>
              <a:pPr/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33195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E316E-B748-1744-A085-17D24E381026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7354C-152B-0042-9C47-F2793FA440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431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E316E-B748-1744-A085-17D24E381026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7354C-152B-0042-9C47-F2793FA440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417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E316E-B748-1744-A085-17D24E381026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7354C-152B-0042-9C47-F2793FA440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477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E316E-B748-1744-A085-17D24E381026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7354C-152B-0042-9C47-F2793FA440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569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E316E-B748-1744-A085-17D24E381026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7354C-152B-0042-9C47-F2793FA440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70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E316E-B748-1744-A085-17D24E381026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7354C-152B-0042-9C47-F2793FA440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641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E316E-B748-1744-A085-17D24E381026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7354C-152B-0042-9C47-F2793FA440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053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E316E-B748-1744-A085-17D24E381026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7354C-152B-0042-9C47-F2793FA440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755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E316E-B748-1744-A085-17D24E381026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7354C-152B-0042-9C47-F2793FA440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21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E316E-B748-1744-A085-17D24E381026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7354C-152B-0042-9C47-F2793FA440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230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E316E-B748-1744-A085-17D24E381026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7354C-152B-0042-9C47-F2793FA440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965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FE316E-B748-1744-A085-17D24E381026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7354C-152B-0042-9C47-F2793FA440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089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6.png"/><Relationship Id="rId7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15.png"/><Relationship Id="rId9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8.png"/><Relationship Id="rId9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9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9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7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28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50.png"/><Relationship Id="rId4" Type="http://schemas.openxmlformats.org/officeDocument/2006/relationships/image" Target="../media/image34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6.png"/><Relationship Id="rId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6KHJ5JA4BbY" TargetMode="External"/><Relationship Id="rId2" Type="http://schemas.openxmlformats.org/officeDocument/2006/relationships/hyperlink" Target="https://www.youtube.com/watch?v=tJfERzrG-D8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electrical4u.com/application-of-power-electronic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AF1B502C-B4A1-564D-BFAD-ECFD17C92B3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741488"/>
            <a:ext cx="7772400" cy="1111250"/>
          </a:xfrm>
        </p:spPr>
        <p:txBody>
          <a:bodyPr/>
          <a:lstStyle/>
          <a:p>
            <a:pPr eaLnBrk="1" hangingPunct="1"/>
            <a:r>
              <a:rPr lang="en-GB" altLang="en-US" b="1">
                <a:solidFill>
                  <a:srgbClr val="0066FF"/>
                </a:solidFill>
              </a:rPr>
              <a:t>Power Electronics</a:t>
            </a:r>
          </a:p>
        </p:txBody>
      </p:sp>
      <p:sp>
        <p:nvSpPr>
          <p:cNvPr id="3075" name="Subtitle 2">
            <a:extLst>
              <a:ext uri="{FF2B5EF4-FFF2-40B4-BE49-F238E27FC236}">
                <a16:creationId xmlns:a16="http://schemas.microsoft.com/office/drawing/2014/main" id="{D06D2ED2-EC67-7248-AF25-4CA45054E04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79388" y="2852739"/>
            <a:ext cx="8713787" cy="1307280"/>
          </a:xfrm>
        </p:spPr>
        <p:txBody>
          <a:bodyPr/>
          <a:lstStyle/>
          <a:p>
            <a:pPr eaLnBrk="1" hangingPunct="1"/>
            <a:r>
              <a:rPr lang="en-GB" altLang="en-US" sz="3600" b="1" dirty="0">
                <a:solidFill>
                  <a:srgbClr val="FF0000"/>
                </a:solidFill>
              </a:rPr>
              <a:t>DC-AC Converters (Inverters)</a:t>
            </a:r>
          </a:p>
          <a:p>
            <a:r>
              <a:rPr lang="ja-JP" altLang="en-US" sz="3600" b="1">
                <a:solidFill>
                  <a:srgbClr val="FF0000"/>
                </a:solidFill>
              </a:rPr>
              <a:t>逆变器</a:t>
            </a:r>
            <a:endParaRPr lang="en-GB" altLang="en-US" sz="3600" b="1" dirty="0">
              <a:solidFill>
                <a:srgbClr val="FF0000"/>
              </a:solidFill>
            </a:endParaRPr>
          </a:p>
        </p:txBody>
      </p:sp>
      <p:sp>
        <p:nvSpPr>
          <p:cNvPr id="3076" name="Slide Number Placeholder 3">
            <a:extLst>
              <a:ext uri="{FF2B5EF4-FFF2-40B4-BE49-F238E27FC236}">
                <a16:creationId xmlns:a16="http://schemas.microsoft.com/office/drawing/2014/main" id="{9CD9EE9E-BAFC-C54E-9B39-5D041AB7B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CD69D0D-B3EA-3346-8D3D-5EAB83A603FD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400"/>
          </a:p>
        </p:txBody>
      </p:sp>
      <p:pic>
        <p:nvPicPr>
          <p:cNvPr id="3077" name="Picture 4" descr="http://www.ranklogos.com/wp-content/uploads/2012/06/university-of-glasgow.gif">
            <a:extLst>
              <a:ext uri="{FF2B5EF4-FFF2-40B4-BE49-F238E27FC236}">
                <a16:creationId xmlns:a16="http://schemas.microsoft.com/office/drawing/2014/main" id="{2BD010EB-7DC6-3C48-9AA2-CF362429C3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0338" y="152400"/>
            <a:ext cx="3529012" cy="129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8" name="TextBox 2">
            <a:extLst>
              <a:ext uri="{FF2B5EF4-FFF2-40B4-BE49-F238E27FC236}">
                <a16:creationId xmlns:a16="http://schemas.microsoft.com/office/drawing/2014/main" id="{1AC343B6-D271-4148-8991-CB73C14FEC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8243" y="5463652"/>
            <a:ext cx="67675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800" dirty="0"/>
              <a:t>Please read </a:t>
            </a:r>
            <a:r>
              <a:rPr lang="en-GB" altLang="en-US" sz="2800" dirty="0">
                <a:solidFill>
                  <a:srgbClr val="0000FF"/>
                </a:solidFill>
              </a:rPr>
              <a:t>Chapter </a:t>
            </a:r>
            <a:r>
              <a:rPr lang="en-US" altLang="en-US" sz="2800" dirty="0">
                <a:solidFill>
                  <a:srgbClr val="0000FF"/>
                </a:solidFill>
                <a:ea typeface="宋体" panose="02010600030101010101" pitchFamily="2" charset="-122"/>
              </a:rPr>
              <a:t>8</a:t>
            </a:r>
            <a:r>
              <a:rPr lang="en-GB" altLang="en-US" sz="2800" dirty="0">
                <a:solidFill>
                  <a:srgbClr val="0000FF"/>
                </a:solidFill>
              </a:rPr>
              <a:t> </a:t>
            </a:r>
            <a:r>
              <a:rPr lang="en-US" altLang="zh-CN" sz="2800" dirty="0">
                <a:ea typeface="宋体" panose="02010600030101010101" pitchFamily="2" charset="-122"/>
              </a:rPr>
              <a:t>in</a:t>
            </a:r>
            <a:r>
              <a:rPr lang="en-GB" altLang="en-US" sz="2800" dirty="0"/>
              <a:t> the textbook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C80C26-1BEB-484F-9A68-BC39F219BF4F}"/>
              </a:ext>
            </a:extLst>
          </p:cNvPr>
          <p:cNvSpPr txBox="1"/>
          <p:nvPr/>
        </p:nvSpPr>
        <p:spPr>
          <a:xfrm>
            <a:off x="3244381" y="4488670"/>
            <a:ext cx="24409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Dr Atif Jafri</a:t>
            </a:r>
          </a:p>
          <a:p>
            <a:pPr algn="ctr"/>
            <a:r>
              <a:rPr lang="en-US" dirty="0" err="1"/>
              <a:t>Atif.Jafri@glasgow.ac.uk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EFC66-CFB2-78E5-77A1-A4F410D9C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455" y="265428"/>
            <a:ext cx="7886700" cy="1325563"/>
          </a:xfrm>
        </p:spPr>
        <p:txBody>
          <a:bodyPr/>
          <a:lstStyle/>
          <a:p>
            <a:r>
              <a:rPr lang="en-US" dirty="0"/>
              <a:t>Schemes of Inverters to study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CEB0F78-3D15-1695-26EA-EAB24B80BC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8377660"/>
              </p:ext>
            </p:extLst>
          </p:nvPr>
        </p:nvGraphicFramePr>
        <p:xfrm>
          <a:off x="523015" y="1590991"/>
          <a:ext cx="8277740" cy="32064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5601">
                  <a:extLst>
                    <a:ext uri="{9D8B030D-6E8A-4147-A177-3AD203B41FA5}">
                      <a16:colId xmlns:a16="http://schemas.microsoft.com/office/drawing/2014/main" val="3770653852"/>
                    </a:ext>
                  </a:extLst>
                </a:gridCol>
                <a:gridCol w="902043">
                  <a:extLst>
                    <a:ext uri="{9D8B030D-6E8A-4147-A177-3AD203B41FA5}">
                      <a16:colId xmlns:a16="http://schemas.microsoft.com/office/drawing/2014/main" val="3123568636"/>
                    </a:ext>
                  </a:extLst>
                </a:gridCol>
                <a:gridCol w="2741141">
                  <a:extLst>
                    <a:ext uri="{9D8B030D-6E8A-4147-A177-3AD203B41FA5}">
                      <a16:colId xmlns:a16="http://schemas.microsoft.com/office/drawing/2014/main" val="2443411702"/>
                    </a:ext>
                  </a:extLst>
                </a:gridCol>
                <a:gridCol w="3288955">
                  <a:extLst>
                    <a:ext uri="{9D8B030D-6E8A-4147-A177-3AD203B41FA5}">
                      <a16:colId xmlns:a16="http://schemas.microsoft.com/office/drawing/2014/main" val="21138421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Phase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Switching Schemes</a:t>
                      </a:r>
                    </a:p>
                  </a:txBody>
                  <a:tcPr/>
                </a:tc>
                <a:tc rowSpan="7"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Operation in different switching schemes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Output Waveform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Harmonics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Practical Circuit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Avoiding shoot through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2930956"/>
                  </a:ext>
                </a:extLst>
              </a:tr>
              <a:tr h="320040">
                <a:tc rowSpan="4"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Single Phase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Half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Square Wave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3762962"/>
                  </a:ext>
                </a:extLst>
              </a:tr>
              <a:tr h="45307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Pules Width Modulation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319710"/>
                  </a:ext>
                </a:extLst>
              </a:tr>
              <a:tr h="18542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Full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Square Wave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4424368"/>
                  </a:ext>
                </a:extLst>
              </a:tr>
              <a:tr h="6400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Pules Width Modulation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(Bipolar &amp; Unipolar)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7736327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lang="en-US" dirty="0"/>
                        <a:t>Three Phase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dirty="0"/>
                        <a:t>3-Leg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Square Wave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589054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Pules Width Modulation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71796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D4E5C6D-682E-B976-3FF6-45EB5C0150A0}"/>
              </a:ext>
            </a:extLst>
          </p:cNvPr>
          <p:cNvSpPr txBox="1"/>
          <p:nvPr/>
        </p:nvSpPr>
        <p:spPr>
          <a:xfrm>
            <a:off x="2178657" y="5082343"/>
            <a:ext cx="4142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FF0000"/>
                </a:solidFill>
              </a:rPr>
              <a:t>So far studied Single Phase Inverter</a:t>
            </a:r>
          </a:p>
        </p:txBody>
      </p:sp>
    </p:spTree>
    <p:extLst>
      <p:ext uri="{BB962C8B-B14F-4D97-AF65-F5344CB8AC3E}">
        <p14:creationId xmlns:p14="http://schemas.microsoft.com/office/powerpoint/2010/main" val="2518080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EFC66-CFB2-78E5-77A1-A4F410D9C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455" y="265428"/>
            <a:ext cx="7886700" cy="1325563"/>
          </a:xfrm>
        </p:spPr>
        <p:txBody>
          <a:bodyPr/>
          <a:lstStyle/>
          <a:p>
            <a:r>
              <a:rPr lang="en-US" dirty="0"/>
              <a:t>Schemes of Inverters to study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CEB0F78-3D15-1695-26EA-EAB24B80BC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6765500"/>
              </p:ext>
            </p:extLst>
          </p:nvPr>
        </p:nvGraphicFramePr>
        <p:xfrm>
          <a:off x="513806" y="1590991"/>
          <a:ext cx="8286950" cy="32978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810">
                  <a:extLst>
                    <a:ext uri="{9D8B030D-6E8A-4147-A177-3AD203B41FA5}">
                      <a16:colId xmlns:a16="http://schemas.microsoft.com/office/drawing/2014/main" val="3770653852"/>
                    </a:ext>
                  </a:extLst>
                </a:gridCol>
                <a:gridCol w="902043">
                  <a:extLst>
                    <a:ext uri="{9D8B030D-6E8A-4147-A177-3AD203B41FA5}">
                      <a16:colId xmlns:a16="http://schemas.microsoft.com/office/drawing/2014/main" val="3123568636"/>
                    </a:ext>
                  </a:extLst>
                </a:gridCol>
                <a:gridCol w="1370571">
                  <a:extLst>
                    <a:ext uri="{9D8B030D-6E8A-4147-A177-3AD203B41FA5}">
                      <a16:colId xmlns:a16="http://schemas.microsoft.com/office/drawing/2014/main" val="2443411702"/>
                    </a:ext>
                  </a:extLst>
                </a:gridCol>
                <a:gridCol w="1370571">
                  <a:extLst>
                    <a:ext uri="{9D8B030D-6E8A-4147-A177-3AD203B41FA5}">
                      <a16:colId xmlns:a16="http://schemas.microsoft.com/office/drawing/2014/main" val="3759827870"/>
                    </a:ext>
                  </a:extLst>
                </a:gridCol>
                <a:gridCol w="3288955">
                  <a:extLst>
                    <a:ext uri="{9D8B030D-6E8A-4147-A177-3AD203B41FA5}">
                      <a16:colId xmlns:a16="http://schemas.microsoft.com/office/drawing/2014/main" val="21138421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Phase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Bridge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dirty="0"/>
                        <a:t>Switching Schemes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rowSpan="8"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Ideal Circuit Diagram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Operation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Output Waveform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Harmonics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Practical Circuit Diagram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Avoiding shoot through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2930956"/>
                  </a:ext>
                </a:extLst>
              </a:tr>
              <a:tr h="320040">
                <a:tc rowSpan="5"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Single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Phase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dirty="0"/>
                        <a:t>Half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dirty="0"/>
                        <a:t>Square Wave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3762962"/>
                  </a:ext>
                </a:extLst>
              </a:tr>
              <a:tr h="45307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Pules Width Modulation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319710"/>
                  </a:ext>
                </a:extLst>
              </a:tr>
              <a:tr h="18542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Full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Square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Wave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4424368"/>
                  </a:ext>
                </a:extLst>
              </a:tr>
              <a:tr h="3200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Pules Width Modulation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7736327"/>
                  </a:ext>
                </a:extLst>
              </a:tr>
              <a:tr h="32004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Bipolar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Unipolar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1580203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Three Phase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3-Leg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Square Wave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589054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Pules Width Modulation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7179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925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27ADDC1B-FB2F-0ED0-C16B-1AAF6FAA78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9562" y="3586951"/>
            <a:ext cx="4746731" cy="2450693"/>
          </a:xfrm>
          <a:prstGeom prst="rect">
            <a:avLst/>
          </a:prstGeom>
          <a:scene3d>
            <a:camera prst="orthographicFront">
              <a:rot lat="0" lon="0" rev="21570000"/>
            </a:camera>
            <a:lightRig rig="threePt" dir="t"/>
          </a:scene3d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CDAB49-4E83-D5C9-EF6D-0F2CE1E68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374" y="202468"/>
            <a:ext cx="7886700" cy="784053"/>
          </a:xfrm>
        </p:spPr>
        <p:txBody>
          <a:bodyPr/>
          <a:lstStyle/>
          <a:p>
            <a:r>
              <a:rPr lang="en-US" b="1" dirty="0"/>
              <a:t>Inverter Types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048724-1E38-20DC-4F7A-364F7093594F}"/>
              </a:ext>
            </a:extLst>
          </p:cNvPr>
          <p:cNvSpPr txBox="1"/>
          <p:nvPr/>
        </p:nvSpPr>
        <p:spPr>
          <a:xfrm>
            <a:off x="1183773" y="3569659"/>
            <a:ext cx="2359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 Phase Inverter (Ideal)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4F5E854-5ABC-0141-C1B6-52F7ACBD05DC}"/>
              </a:ext>
            </a:extLst>
          </p:cNvPr>
          <p:cNvSpPr txBox="1">
            <a:spLocks/>
          </p:cNvSpPr>
          <p:nvPr/>
        </p:nvSpPr>
        <p:spPr>
          <a:xfrm>
            <a:off x="571771" y="869633"/>
            <a:ext cx="7886700" cy="5651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- </a:t>
            </a:r>
            <a:r>
              <a:rPr lang="en-US" sz="3200" b="1" dirty="0">
                <a:solidFill>
                  <a:srgbClr val="FF0000"/>
                </a:solidFill>
              </a:rPr>
              <a:t>3-Leg for 3 Phase </a:t>
            </a:r>
            <a:r>
              <a:rPr lang="en-US" sz="3200" b="1" dirty="0" err="1">
                <a:solidFill>
                  <a:srgbClr val="FF0000"/>
                </a:solidFill>
              </a:rPr>
              <a:t>Inveter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3DEC83-0F8D-B2B0-B859-EEDFD045301B}"/>
              </a:ext>
            </a:extLst>
          </p:cNvPr>
          <p:cNvSpPr txBox="1"/>
          <p:nvPr/>
        </p:nvSpPr>
        <p:spPr>
          <a:xfrm>
            <a:off x="1850298" y="6411319"/>
            <a:ext cx="5329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Figures used in the literature for 3-Phase Inverter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CC35AA-056A-C2C3-EE99-329DA7C594B9}"/>
              </a:ext>
            </a:extLst>
          </p:cNvPr>
          <p:cNvSpPr txBox="1"/>
          <p:nvPr/>
        </p:nvSpPr>
        <p:spPr>
          <a:xfrm>
            <a:off x="4250724" y="6014100"/>
            <a:ext cx="36417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3-Phase Inverter with Flyback Diodes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E4916F2-9A0E-0E99-C2F5-74D35EC9E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869" y="1416859"/>
            <a:ext cx="4746731" cy="2041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057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DAB49-4E83-D5C9-EF6D-0F2CE1E68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284" y="63131"/>
            <a:ext cx="7886700" cy="721053"/>
          </a:xfrm>
        </p:spPr>
        <p:txBody>
          <a:bodyPr/>
          <a:lstStyle/>
          <a:p>
            <a:r>
              <a:rPr lang="en-US" dirty="0"/>
              <a:t>Operation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CBAEDFF-E468-A32D-3E40-75F0AFDF0E39}"/>
                  </a:ext>
                </a:extLst>
              </p:cNvPr>
              <p:cNvSpPr txBox="1"/>
              <p:nvPr/>
            </p:nvSpPr>
            <p:spPr>
              <a:xfrm>
                <a:off x="494211" y="852888"/>
                <a:ext cx="7474132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GB" dirty="0"/>
                  <a:t>The most frequently used three-phase inverter circuit consists of three legs, one for each phase. 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GB" dirty="0"/>
                  <a:t>Each inverter leg is similar to the one used for describing the basic half bridge inverter. 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GB" dirty="0"/>
                  <a:t>The output of each leg, for example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GB" sz="1800" b="1" i="1" smtClean="0">
                            <a:latin typeface="Cambria Math" panose="02040503050406030204" pitchFamily="18" charset="0"/>
                          </a:rPr>
                          <m:t>𝑨𝑵</m:t>
                        </m:r>
                      </m:sub>
                    </m:sSub>
                  </m:oMath>
                </a14:m>
                <a:r>
                  <a:rPr lang="en-US" sz="1800" dirty="0"/>
                  <a:t> </a:t>
                </a:r>
                <a:r>
                  <a:rPr lang="en-GB" dirty="0"/>
                  <a:t>(with respect to the negative dc bus), depends only on 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GB" dirty="0"/>
                  <a:t>, and the switch status.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CBAEDFF-E468-A32D-3E40-75F0AFDF0E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211" y="852888"/>
                <a:ext cx="7474132" cy="1754326"/>
              </a:xfrm>
              <a:prstGeom prst="rect">
                <a:avLst/>
              </a:prstGeom>
              <a:blipFill>
                <a:blip r:embed="rId2"/>
                <a:stretch>
                  <a:fillRect l="-489" t="-2083" r="-734" b="-45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298CC806-D38C-71BB-268E-22D4933733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9331" y="3160231"/>
            <a:ext cx="5939286" cy="3066398"/>
          </a:xfrm>
          <a:prstGeom prst="rect">
            <a:avLst/>
          </a:prstGeom>
          <a:scene3d>
            <a:camera prst="orthographicFront">
              <a:rot lat="0" lon="0" rev="21570000"/>
            </a:camera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2264205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DAB49-4E83-D5C9-EF6D-0F2CE1E68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284" y="63131"/>
            <a:ext cx="7886700" cy="721053"/>
          </a:xfrm>
        </p:spPr>
        <p:txBody>
          <a:bodyPr/>
          <a:lstStyle/>
          <a:p>
            <a:r>
              <a:rPr lang="en-US" dirty="0"/>
              <a:t>Operation – Square Wave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8CC806-D38C-71BB-268E-22D4933733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7230" y="714514"/>
            <a:ext cx="5939286" cy="3066398"/>
          </a:xfrm>
          <a:prstGeom prst="rect">
            <a:avLst/>
          </a:prstGeom>
          <a:scene3d>
            <a:camera prst="orthographicFront">
              <a:rot lat="0" lon="0" rev="0"/>
            </a:camera>
            <a:lightRig rig="threePt" dir="t"/>
          </a:scene3d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1">
                <a:extLst>
                  <a:ext uri="{FF2B5EF4-FFF2-40B4-BE49-F238E27FC236}">
                    <a16:creationId xmlns:a16="http://schemas.microsoft.com/office/drawing/2014/main" id="{4E3E2296-6825-8C5C-0151-50EF3794D54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03598" y="4129257"/>
                <a:ext cx="8474642" cy="2280251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62500" lnSpcReduction="20000"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5800" b="1" dirty="0">
                    <a:solidFill>
                      <a:srgbClr val="FF0000"/>
                    </a:solidFill>
                  </a:rPr>
                  <a:t>Note: </a:t>
                </a:r>
              </a:p>
              <a:p>
                <a:endParaRPr lang="en-US" dirty="0"/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FF0000"/>
                    </a:solidFill>
                  </a:rPr>
                  <a:t>The switches in each leg work in complementary way when square wave switching is applied i.e.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b="1" i="1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>
                    <a:solidFill>
                      <a:srgbClr val="FF0000"/>
                    </a:solidFill>
                  </a:rPr>
                  <a:t>is closed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GB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will be open and vice versa.</a:t>
                </a: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rgbClr val="FF0000"/>
                  </a:solidFill>
                </a:endParaRP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FF0000"/>
                    </a:solidFill>
                  </a:rPr>
                  <a:t>Hence, information of one switch in one leg is given.</a:t>
                </a:r>
              </a:p>
              <a:p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itle 1">
                <a:extLst>
                  <a:ext uri="{FF2B5EF4-FFF2-40B4-BE49-F238E27FC236}">
                    <a16:creationId xmlns:a16="http://schemas.microsoft.com/office/drawing/2014/main" id="{4E3E2296-6825-8C5C-0151-50EF3794D5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98" y="4129257"/>
                <a:ext cx="8474642" cy="2280251"/>
              </a:xfrm>
              <a:prstGeom prst="rect">
                <a:avLst/>
              </a:prstGeom>
              <a:blipFill>
                <a:blip r:embed="rId3"/>
                <a:stretch>
                  <a:fillRect l="-2230" t="-16845" r="-432" b="-13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1140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08938CB5-194C-DAEB-E445-E914EC16448F}"/>
              </a:ext>
            </a:extLst>
          </p:cNvPr>
          <p:cNvGrpSpPr/>
          <p:nvPr/>
        </p:nvGrpSpPr>
        <p:grpSpPr>
          <a:xfrm>
            <a:off x="1777975" y="701880"/>
            <a:ext cx="5277098" cy="2724516"/>
            <a:chOff x="1777975" y="701880"/>
            <a:chExt cx="5277098" cy="272451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98CC806-D38C-71BB-268E-22D4933733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77975" y="701880"/>
              <a:ext cx="5277098" cy="2724516"/>
            </a:xfrm>
            <a:prstGeom prst="rect">
              <a:avLst/>
            </a:prstGeom>
            <a:scene3d>
              <a:camera prst="orthographicFront">
                <a:rot lat="0" lon="0" rev="21576000"/>
              </a:camera>
              <a:lightRig rig="threePt" dir="t"/>
            </a:scene3d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803EE49E-406D-EE94-6EDF-BABD9C065F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41113" y="1253343"/>
              <a:ext cx="297453" cy="451518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FDB42CED-0A72-A354-8F7B-0528B7F5B2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44786" y="2064138"/>
              <a:ext cx="297453" cy="451518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3CDAB49-4E83-D5C9-EF6D-0F2CE1E68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284" y="63131"/>
            <a:ext cx="7886700" cy="721053"/>
          </a:xfrm>
        </p:spPr>
        <p:txBody>
          <a:bodyPr/>
          <a:lstStyle/>
          <a:p>
            <a:r>
              <a:rPr lang="en-US" dirty="0"/>
              <a:t>Operation – Square Wave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7">
                <a:extLst>
                  <a:ext uri="{FF2B5EF4-FFF2-40B4-BE49-F238E27FC236}">
                    <a16:creationId xmlns:a16="http://schemas.microsoft.com/office/drawing/2014/main" id="{64080A4E-81D6-937A-CCC9-015DB7EB0D6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05194833"/>
                  </p:ext>
                </p:extLst>
              </p:nvPr>
            </p:nvGraphicFramePr>
            <p:xfrm>
              <a:off x="199746" y="3708458"/>
              <a:ext cx="4580972" cy="28690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34305">
                      <a:extLst>
                        <a:ext uri="{9D8B030D-6E8A-4147-A177-3AD203B41FA5}">
                          <a16:colId xmlns:a16="http://schemas.microsoft.com/office/drawing/2014/main" val="3390288556"/>
                        </a:ext>
                      </a:extLst>
                    </a:gridCol>
                    <a:gridCol w="1156016">
                      <a:extLst>
                        <a:ext uri="{9D8B030D-6E8A-4147-A177-3AD203B41FA5}">
                          <a16:colId xmlns:a16="http://schemas.microsoft.com/office/drawing/2014/main" val="174814911"/>
                        </a:ext>
                      </a:extLst>
                    </a:gridCol>
                    <a:gridCol w="1333246">
                      <a:extLst>
                        <a:ext uri="{9D8B030D-6E8A-4147-A177-3AD203B41FA5}">
                          <a16:colId xmlns:a16="http://schemas.microsoft.com/office/drawing/2014/main" val="194596394"/>
                        </a:ext>
                      </a:extLst>
                    </a:gridCol>
                    <a:gridCol w="1157405">
                      <a:extLst>
                        <a:ext uri="{9D8B030D-6E8A-4147-A177-3AD203B41FA5}">
                          <a16:colId xmlns:a16="http://schemas.microsoft.com/office/drawing/2014/main" val="612083071"/>
                        </a:ext>
                      </a:extLst>
                    </a:gridCol>
                  </a:tblGrid>
                  <a:tr h="409867"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GB" sz="1200" dirty="0">
                              <a:effectLst/>
                              <a:latin typeface="Times" panose="020206030504050203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Seq. # </a:t>
                          </a:r>
                        </a:p>
                      </a:txBody>
                      <a:tcPr marL="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𝑨</m:t>
                                    </m:r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sz="1200" dirty="0">
                            <a:effectLst/>
                            <a:latin typeface="Times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𝑩</m:t>
                                    </m:r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sz="1200">
                            <a:effectLst/>
                            <a:latin typeface="Times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𝑪</m:t>
                                    </m:r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sz="1200">
                            <a:effectLst/>
                            <a:latin typeface="Times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721060236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400" dirty="0">
                              <a:solidFill>
                                <a:srgbClr val="FF0000"/>
                              </a:solidFill>
                              <a:effectLst/>
                              <a:latin typeface="Times New Roman" panose="020206030504050203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Closed</a:t>
                          </a:r>
                          <a:endParaRPr lang="en-GB" sz="1400" dirty="0">
                            <a:solidFill>
                              <a:srgbClr val="FF0000"/>
                            </a:solidFill>
                            <a:effectLst/>
                            <a:latin typeface="Times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400" dirty="0">
                              <a:solidFill>
                                <a:srgbClr val="FF0000"/>
                              </a:solidFill>
                              <a:effectLst/>
                              <a:latin typeface="Times New Roman" panose="020206030504050203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Open</a:t>
                          </a:r>
                          <a:endParaRPr lang="en-GB" sz="1400" dirty="0">
                            <a:solidFill>
                              <a:srgbClr val="FF0000"/>
                            </a:solidFill>
                            <a:effectLst/>
                            <a:latin typeface="Times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400" dirty="0">
                              <a:solidFill>
                                <a:srgbClr val="FF0000"/>
                              </a:solidFill>
                              <a:effectLst/>
                              <a:latin typeface="Times New Roman" panose="020206030504050203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Closed</a:t>
                          </a:r>
                          <a:endParaRPr lang="en-GB" sz="1400" dirty="0">
                            <a:solidFill>
                              <a:srgbClr val="FF0000"/>
                            </a:solidFill>
                            <a:effectLst/>
                            <a:latin typeface="Times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3677508713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400">
                              <a:effectLst/>
                              <a:latin typeface="Times New Roman" panose="020206030504050203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Closed</a:t>
                          </a:r>
                          <a:endParaRPr lang="en-GB" sz="1400">
                            <a:effectLst/>
                            <a:latin typeface="Times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400" dirty="0">
                              <a:effectLst/>
                              <a:latin typeface="Times New Roman" panose="020206030504050203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Open</a:t>
                          </a:r>
                          <a:endParaRPr lang="en-GB" sz="1400" dirty="0">
                            <a:effectLst/>
                            <a:latin typeface="Times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400" dirty="0">
                              <a:effectLst/>
                              <a:latin typeface="Times New Roman" panose="020206030504050203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Open</a:t>
                          </a:r>
                          <a:endParaRPr lang="en-GB" sz="1400" dirty="0">
                            <a:effectLst/>
                            <a:latin typeface="Times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860730528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400">
                              <a:effectLst/>
                              <a:latin typeface="Times New Roman" panose="020206030504050203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Closed</a:t>
                          </a:r>
                          <a:endParaRPr lang="en-GB" sz="1400">
                            <a:effectLst/>
                            <a:latin typeface="Times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400" dirty="0">
                              <a:effectLst/>
                              <a:latin typeface="Times New Roman" panose="020206030504050203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Closed</a:t>
                          </a:r>
                          <a:endParaRPr lang="en-GB" sz="1400" dirty="0">
                            <a:effectLst/>
                            <a:latin typeface="Times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400">
                              <a:effectLst/>
                              <a:latin typeface="Times New Roman" panose="020206030504050203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Open</a:t>
                          </a:r>
                          <a:endParaRPr lang="en-GB" sz="1400">
                            <a:effectLst/>
                            <a:latin typeface="Times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1564613377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400">
                              <a:effectLst/>
                              <a:latin typeface="Times New Roman" panose="020206030504050203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Open </a:t>
                          </a:r>
                          <a:endParaRPr lang="en-GB" sz="1400">
                            <a:effectLst/>
                            <a:latin typeface="Times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400" dirty="0">
                              <a:effectLst/>
                              <a:latin typeface="Times New Roman" panose="020206030504050203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Closed </a:t>
                          </a:r>
                          <a:endParaRPr lang="en-GB" sz="1400" dirty="0">
                            <a:effectLst/>
                            <a:latin typeface="Times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400">
                              <a:effectLst/>
                              <a:latin typeface="Times New Roman" panose="020206030504050203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Open</a:t>
                          </a:r>
                          <a:endParaRPr lang="en-GB" sz="1400">
                            <a:effectLst/>
                            <a:latin typeface="Times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122158048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400">
                              <a:effectLst/>
                              <a:latin typeface="Times New Roman" panose="020206030504050203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Open </a:t>
                          </a:r>
                          <a:endParaRPr lang="en-GB" sz="1400">
                            <a:effectLst/>
                            <a:latin typeface="Times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400" dirty="0">
                              <a:effectLst/>
                              <a:latin typeface="Times New Roman" panose="020206030504050203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Closed</a:t>
                          </a:r>
                          <a:endParaRPr lang="en-GB" sz="1400" dirty="0">
                            <a:effectLst/>
                            <a:latin typeface="Times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400" dirty="0">
                              <a:effectLst/>
                              <a:latin typeface="Times New Roman" panose="020206030504050203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Closed</a:t>
                          </a:r>
                          <a:endParaRPr lang="en-GB" sz="1400" dirty="0">
                            <a:effectLst/>
                            <a:latin typeface="Times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2274889156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400">
                              <a:effectLst/>
                              <a:latin typeface="Times New Roman" panose="020206030504050203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Open</a:t>
                          </a:r>
                          <a:endParaRPr lang="en-GB" sz="1400">
                            <a:effectLst/>
                            <a:latin typeface="Times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400" dirty="0">
                              <a:effectLst/>
                              <a:latin typeface="Times New Roman" panose="020206030504050203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Open </a:t>
                          </a:r>
                          <a:endParaRPr lang="en-GB" sz="1400" dirty="0">
                            <a:effectLst/>
                            <a:latin typeface="Times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400" dirty="0">
                              <a:effectLst/>
                              <a:latin typeface="Times New Roman" panose="020206030504050203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Closed</a:t>
                          </a:r>
                          <a:endParaRPr lang="en-GB" sz="1400" dirty="0">
                            <a:effectLst/>
                            <a:latin typeface="Times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178660934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7">
                <a:extLst>
                  <a:ext uri="{FF2B5EF4-FFF2-40B4-BE49-F238E27FC236}">
                    <a16:creationId xmlns:a16="http://schemas.microsoft.com/office/drawing/2014/main" id="{64080A4E-81D6-937A-CCC9-015DB7EB0D6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05194833"/>
                  </p:ext>
                </p:extLst>
              </p:nvPr>
            </p:nvGraphicFramePr>
            <p:xfrm>
              <a:off x="199746" y="3708458"/>
              <a:ext cx="4580972" cy="28690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34305">
                      <a:extLst>
                        <a:ext uri="{9D8B030D-6E8A-4147-A177-3AD203B41FA5}">
                          <a16:colId xmlns:a16="http://schemas.microsoft.com/office/drawing/2014/main" val="3390288556"/>
                        </a:ext>
                      </a:extLst>
                    </a:gridCol>
                    <a:gridCol w="1156016">
                      <a:extLst>
                        <a:ext uri="{9D8B030D-6E8A-4147-A177-3AD203B41FA5}">
                          <a16:colId xmlns:a16="http://schemas.microsoft.com/office/drawing/2014/main" val="174814911"/>
                        </a:ext>
                      </a:extLst>
                    </a:gridCol>
                    <a:gridCol w="1333246">
                      <a:extLst>
                        <a:ext uri="{9D8B030D-6E8A-4147-A177-3AD203B41FA5}">
                          <a16:colId xmlns:a16="http://schemas.microsoft.com/office/drawing/2014/main" val="194596394"/>
                        </a:ext>
                      </a:extLst>
                    </a:gridCol>
                    <a:gridCol w="1157405">
                      <a:extLst>
                        <a:ext uri="{9D8B030D-6E8A-4147-A177-3AD203B41FA5}">
                          <a16:colId xmlns:a16="http://schemas.microsoft.com/office/drawing/2014/main" val="612083071"/>
                        </a:ext>
                      </a:extLst>
                    </a:gridCol>
                  </a:tblGrid>
                  <a:tr h="409867"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GB" sz="1200" dirty="0">
                              <a:effectLst/>
                              <a:latin typeface="Times" panose="020206030504050203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Seq. # </a:t>
                          </a:r>
                        </a:p>
                      </a:txBody>
                      <a:tcPr marL="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68580" marT="0" marB="0" anchor="ctr">
                        <a:blipFill>
                          <a:blip r:embed="rId5"/>
                          <a:stretch>
                            <a:fillRect l="-81579" t="-1493" r="-217368" b="-6164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68580" marT="0" marB="0" anchor="ctr">
                        <a:blipFill>
                          <a:blip r:embed="rId5"/>
                          <a:stretch>
                            <a:fillRect l="-157534" t="-1493" r="-88584" b="-6164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68580" marT="0" marB="0" anchor="ctr">
                        <a:blipFill>
                          <a:blip r:embed="rId5"/>
                          <a:stretch>
                            <a:fillRect l="-296842" t="-1493" r="-2105" b="-6164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60236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400" dirty="0">
                              <a:solidFill>
                                <a:srgbClr val="FF0000"/>
                              </a:solidFill>
                              <a:effectLst/>
                              <a:latin typeface="Times New Roman" panose="020206030504050203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Closed</a:t>
                          </a:r>
                          <a:endParaRPr lang="en-GB" sz="1400" dirty="0">
                            <a:solidFill>
                              <a:srgbClr val="FF0000"/>
                            </a:solidFill>
                            <a:effectLst/>
                            <a:latin typeface="Times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400" dirty="0">
                              <a:solidFill>
                                <a:srgbClr val="FF0000"/>
                              </a:solidFill>
                              <a:effectLst/>
                              <a:latin typeface="Times New Roman" panose="020206030504050203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Open</a:t>
                          </a:r>
                          <a:endParaRPr lang="en-GB" sz="1400" dirty="0">
                            <a:solidFill>
                              <a:srgbClr val="FF0000"/>
                            </a:solidFill>
                            <a:effectLst/>
                            <a:latin typeface="Times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400" dirty="0">
                              <a:solidFill>
                                <a:srgbClr val="FF0000"/>
                              </a:solidFill>
                              <a:effectLst/>
                              <a:latin typeface="Times New Roman" panose="020206030504050203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Closed</a:t>
                          </a:r>
                          <a:endParaRPr lang="en-GB" sz="1400" dirty="0">
                            <a:solidFill>
                              <a:srgbClr val="FF0000"/>
                            </a:solidFill>
                            <a:effectLst/>
                            <a:latin typeface="Times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3677508713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400">
                              <a:effectLst/>
                              <a:latin typeface="Times New Roman" panose="020206030504050203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Closed</a:t>
                          </a:r>
                          <a:endParaRPr lang="en-GB" sz="1400">
                            <a:effectLst/>
                            <a:latin typeface="Times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400" dirty="0">
                              <a:effectLst/>
                              <a:latin typeface="Times New Roman" panose="020206030504050203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Open</a:t>
                          </a:r>
                          <a:endParaRPr lang="en-GB" sz="1400" dirty="0">
                            <a:effectLst/>
                            <a:latin typeface="Times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400" dirty="0">
                              <a:effectLst/>
                              <a:latin typeface="Times New Roman" panose="020206030504050203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Open</a:t>
                          </a:r>
                          <a:endParaRPr lang="en-GB" sz="1400" dirty="0">
                            <a:effectLst/>
                            <a:latin typeface="Times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860730528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400">
                              <a:effectLst/>
                              <a:latin typeface="Times New Roman" panose="020206030504050203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Closed</a:t>
                          </a:r>
                          <a:endParaRPr lang="en-GB" sz="1400">
                            <a:effectLst/>
                            <a:latin typeface="Times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400" dirty="0">
                              <a:effectLst/>
                              <a:latin typeface="Times New Roman" panose="020206030504050203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Closed</a:t>
                          </a:r>
                          <a:endParaRPr lang="en-GB" sz="1400" dirty="0">
                            <a:effectLst/>
                            <a:latin typeface="Times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400">
                              <a:effectLst/>
                              <a:latin typeface="Times New Roman" panose="020206030504050203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Open</a:t>
                          </a:r>
                          <a:endParaRPr lang="en-GB" sz="1400">
                            <a:effectLst/>
                            <a:latin typeface="Times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1564613377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400">
                              <a:effectLst/>
                              <a:latin typeface="Times New Roman" panose="020206030504050203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Open </a:t>
                          </a:r>
                          <a:endParaRPr lang="en-GB" sz="1400">
                            <a:effectLst/>
                            <a:latin typeface="Times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400" dirty="0">
                              <a:effectLst/>
                              <a:latin typeface="Times New Roman" panose="020206030504050203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Closed </a:t>
                          </a:r>
                          <a:endParaRPr lang="en-GB" sz="1400" dirty="0">
                            <a:effectLst/>
                            <a:latin typeface="Times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400">
                              <a:effectLst/>
                              <a:latin typeface="Times New Roman" panose="020206030504050203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Open</a:t>
                          </a:r>
                          <a:endParaRPr lang="en-GB" sz="1400">
                            <a:effectLst/>
                            <a:latin typeface="Times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122158048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400">
                              <a:effectLst/>
                              <a:latin typeface="Times New Roman" panose="020206030504050203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Open </a:t>
                          </a:r>
                          <a:endParaRPr lang="en-GB" sz="1400">
                            <a:effectLst/>
                            <a:latin typeface="Times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400" dirty="0">
                              <a:effectLst/>
                              <a:latin typeface="Times New Roman" panose="020206030504050203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Closed</a:t>
                          </a:r>
                          <a:endParaRPr lang="en-GB" sz="1400" dirty="0">
                            <a:effectLst/>
                            <a:latin typeface="Times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400" dirty="0">
                              <a:effectLst/>
                              <a:latin typeface="Times New Roman" panose="020206030504050203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Closed</a:t>
                          </a:r>
                          <a:endParaRPr lang="en-GB" sz="1400" dirty="0">
                            <a:effectLst/>
                            <a:latin typeface="Times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2274889156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400">
                              <a:effectLst/>
                              <a:latin typeface="Times New Roman" panose="020206030504050203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Open</a:t>
                          </a:r>
                          <a:endParaRPr lang="en-GB" sz="1400">
                            <a:effectLst/>
                            <a:latin typeface="Times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400" dirty="0">
                              <a:effectLst/>
                              <a:latin typeface="Times New Roman" panose="020206030504050203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Open </a:t>
                          </a:r>
                          <a:endParaRPr lang="en-GB" sz="1400" dirty="0">
                            <a:effectLst/>
                            <a:latin typeface="Times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400" dirty="0">
                              <a:effectLst/>
                              <a:latin typeface="Times New Roman" panose="020206030504050203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Closed</a:t>
                          </a:r>
                          <a:endParaRPr lang="en-GB" sz="1400" dirty="0">
                            <a:effectLst/>
                            <a:latin typeface="Times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1786609346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F02DB817-D665-0205-C6AF-7AD25893EB29}"/>
              </a:ext>
            </a:extLst>
          </p:cNvPr>
          <p:cNvGrpSpPr/>
          <p:nvPr/>
        </p:nvGrpSpPr>
        <p:grpSpPr>
          <a:xfrm>
            <a:off x="3361535" y="1214050"/>
            <a:ext cx="373792" cy="530105"/>
            <a:chOff x="2376137" y="2245847"/>
            <a:chExt cx="308919" cy="48191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79AE72B-9613-21A2-7827-A8DBC0897983}"/>
                </a:ext>
              </a:extLst>
            </p:cNvPr>
            <p:cNvSpPr/>
            <p:nvPr/>
          </p:nvSpPr>
          <p:spPr>
            <a:xfrm>
              <a:off x="2376137" y="2245847"/>
              <a:ext cx="308919" cy="4819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65DC5ED-696B-6902-2479-E88A9BDC0443}"/>
                </a:ext>
              </a:extLst>
            </p:cNvPr>
            <p:cNvCxnSpPr>
              <a:cxnSpLocks/>
            </p:cNvCxnSpPr>
            <p:nvPr/>
          </p:nvCxnSpPr>
          <p:spPr>
            <a:xfrm>
              <a:off x="2521453" y="2245847"/>
              <a:ext cx="0" cy="48191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6B7A734-1C9F-B0CE-187D-86478231890D}"/>
              </a:ext>
            </a:extLst>
          </p:cNvPr>
          <p:cNvGrpSpPr/>
          <p:nvPr/>
        </p:nvGrpSpPr>
        <p:grpSpPr>
          <a:xfrm>
            <a:off x="6023219" y="1304982"/>
            <a:ext cx="373792" cy="530105"/>
            <a:chOff x="2376137" y="2245847"/>
            <a:chExt cx="308919" cy="481914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5E60F77-33CF-E149-5E84-2F3181E03B7D}"/>
                </a:ext>
              </a:extLst>
            </p:cNvPr>
            <p:cNvSpPr/>
            <p:nvPr/>
          </p:nvSpPr>
          <p:spPr>
            <a:xfrm>
              <a:off x="2376137" y="2245847"/>
              <a:ext cx="308919" cy="4819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8924761-BC3F-C478-F689-02A34E329CB7}"/>
                </a:ext>
              </a:extLst>
            </p:cNvPr>
            <p:cNvCxnSpPr>
              <a:cxnSpLocks/>
            </p:cNvCxnSpPr>
            <p:nvPr/>
          </p:nvCxnSpPr>
          <p:spPr>
            <a:xfrm>
              <a:off x="2521453" y="2245847"/>
              <a:ext cx="0" cy="48191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7607DBB-BAFD-66C5-2661-E7DC6EFFE581}"/>
              </a:ext>
            </a:extLst>
          </p:cNvPr>
          <p:cNvGrpSpPr/>
          <p:nvPr/>
        </p:nvGrpSpPr>
        <p:grpSpPr>
          <a:xfrm>
            <a:off x="4687061" y="2064138"/>
            <a:ext cx="373792" cy="530105"/>
            <a:chOff x="2376137" y="2245847"/>
            <a:chExt cx="308919" cy="48191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CA59C20-D508-E483-00E4-F635A870BEC9}"/>
                </a:ext>
              </a:extLst>
            </p:cNvPr>
            <p:cNvSpPr/>
            <p:nvPr/>
          </p:nvSpPr>
          <p:spPr>
            <a:xfrm>
              <a:off x="2376137" y="2245847"/>
              <a:ext cx="308919" cy="4819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4EEEDCA-32E4-E25E-1D6F-2C4D78CEEF27}"/>
                </a:ext>
              </a:extLst>
            </p:cNvPr>
            <p:cNvCxnSpPr>
              <a:cxnSpLocks/>
            </p:cNvCxnSpPr>
            <p:nvPr/>
          </p:nvCxnSpPr>
          <p:spPr>
            <a:xfrm>
              <a:off x="2521453" y="2245847"/>
              <a:ext cx="0" cy="48191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DAD4D47-8A3A-38B4-2451-DD9F12F82250}"/>
                  </a:ext>
                </a:extLst>
              </p:cNvPr>
              <p:cNvSpPr txBox="1"/>
              <p:nvPr/>
            </p:nvSpPr>
            <p:spPr>
              <a:xfrm>
                <a:off x="3895513" y="3085505"/>
                <a:ext cx="453214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GB" sz="1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sub>
                      </m:sSub>
                    </m:oMath>
                  </m:oMathPara>
                </a14:m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DAD4D47-8A3A-38B4-2451-DD9F12F822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5513" y="3085505"/>
                <a:ext cx="453214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AC458E1-26A8-9412-EBE1-1BEF35623F1F}"/>
                  </a:ext>
                </a:extLst>
              </p:cNvPr>
              <p:cNvSpPr txBox="1"/>
              <p:nvPr/>
            </p:nvSpPr>
            <p:spPr>
              <a:xfrm>
                <a:off x="6599727" y="3118886"/>
                <a:ext cx="453214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GB" sz="1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sub>
                      </m:sSub>
                    </m:oMath>
                  </m:oMathPara>
                </a14:m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AC458E1-26A8-9412-EBE1-1BEF35623F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9727" y="3118886"/>
                <a:ext cx="453214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8FCAAAD-1234-C204-20A0-F0F206FE1A68}"/>
                  </a:ext>
                </a:extLst>
              </p:cNvPr>
              <p:cNvSpPr txBox="1"/>
              <p:nvPr/>
            </p:nvSpPr>
            <p:spPr>
              <a:xfrm>
                <a:off x="5247620" y="3118886"/>
                <a:ext cx="453214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8FCAAAD-1234-C204-20A0-F0F206FE1A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7620" y="3118886"/>
                <a:ext cx="453214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8" name="Table 27">
                <a:extLst>
                  <a:ext uri="{FF2B5EF4-FFF2-40B4-BE49-F238E27FC236}">
                    <a16:creationId xmlns:a16="http://schemas.microsoft.com/office/drawing/2014/main" id="{3C4A3790-90DB-2759-5227-599E13F7421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71381568"/>
                  </p:ext>
                </p:extLst>
              </p:nvPr>
            </p:nvGraphicFramePr>
            <p:xfrm>
              <a:off x="5463583" y="3669910"/>
              <a:ext cx="2966056" cy="28690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97446">
                      <a:extLst>
                        <a:ext uri="{9D8B030D-6E8A-4147-A177-3AD203B41FA5}">
                          <a16:colId xmlns:a16="http://schemas.microsoft.com/office/drawing/2014/main" val="441363178"/>
                        </a:ext>
                      </a:extLst>
                    </a:gridCol>
                    <a:gridCol w="934305">
                      <a:extLst>
                        <a:ext uri="{9D8B030D-6E8A-4147-A177-3AD203B41FA5}">
                          <a16:colId xmlns:a16="http://schemas.microsoft.com/office/drawing/2014/main" val="2031804365"/>
                        </a:ext>
                      </a:extLst>
                    </a:gridCol>
                    <a:gridCol w="934305">
                      <a:extLst>
                        <a:ext uri="{9D8B030D-6E8A-4147-A177-3AD203B41FA5}">
                          <a16:colId xmlns:a16="http://schemas.microsoft.com/office/drawing/2014/main" val="1064455656"/>
                        </a:ext>
                      </a:extLst>
                    </a:gridCol>
                  </a:tblGrid>
                  <a:tr h="409867"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𝑨𝑩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sz="1200">
                            <a:effectLst/>
                            <a:latin typeface="Times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𝑩𝑪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sz="1200">
                            <a:effectLst/>
                            <a:latin typeface="Times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𝑪𝑨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sz="1200" dirty="0">
                            <a:effectLst/>
                            <a:latin typeface="Times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192953803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GB" sz="18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GB" sz="18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GB" sz="18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    </a:t>
                          </a:r>
                          <a:r>
                            <a:rPr lang="en-GB" sz="1800" b="1" i="0" kern="120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0587647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00209062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63386025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3750960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80786983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4308414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8" name="Table 27">
                <a:extLst>
                  <a:ext uri="{FF2B5EF4-FFF2-40B4-BE49-F238E27FC236}">
                    <a16:creationId xmlns:a16="http://schemas.microsoft.com/office/drawing/2014/main" id="{3C4A3790-90DB-2759-5227-599E13F7421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71381568"/>
                  </p:ext>
                </p:extLst>
              </p:nvPr>
            </p:nvGraphicFramePr>
            <p:xfrm>
              <a:off x="5463583" y="3669910"/>
              <a:ext cx="2966056" cy="28690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97446">
                      <a:extLst>
                        <a:ext uri="{9D8B030D-6E8A-4147-A177-3AD203B41FA5}">
                          <a16:colId xmlns:a16="http://schemas.microsoft.com/office/drawing/2014/main" val="441363178"/>
                        </a:ext>
                      </a:extLst>
                    </a:gridCol>
                    <a:gridCol w="934305">
                      <a:extLst>
                        <a:ext uri="{9D8B030D-6E8A-4147-A177-3AD203B41FA5}">
                          <a16:colId xmlns:a16="http://schemas.microsoft.com/office/drawing/2014/main" val="2031804365"/>
                        </a:ext>
                      </a:extLst>
                    </a:gridCol>
                    <a:gridCol w="934305">
                      <a:extLst>
                        <a:ext uri="{9D8B030D-6E8A-4147-A177-3AD203B41FA5}">
                          <a16:colId xmlns:a16="http://schemas.microsoft.com/office/drawing/2014/main" val="1064455656"/>
                        </a:ext>
                      </a:extLst>
                    </a:gridCol>
                  </a:tblGrid>
                  <a:tr h="409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68580" marT="0" marB="0" anchor="ctr">
                        <a:blipFill>
                          <a:blip r:embed="rId9"/>
                          <a:stretch>
                            <a:fillRect l="-556" t="-2985" r="-172778" b="-6059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68580" marT="0" marB="0" anchor="ctr">
                        <a:blipFill>
                          <a:blip r:embed="rId9"/>
                          <a:stretch>
                            <a:fillRect l="-117532" t="-2985" r="-101948" b="-6059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68580" marT="0" marB="0" anchor="ctr">
                        <a:blipFill>
                          <a:blip r:embed="rId9"/>
                          <a:stretch>
                            <a:fillRect l="-218954" t="-2985" r="-2614" b="-6059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2953803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556" t="-101471" r="-172778" b="-4970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117532" t="-101471" r="-101948" b="-4970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    </a:t>
                          </a:r>
                          <a:r>
                            <a:rPr lang="en-GB" sz="1800" b="1" i="0" kern="120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0587647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00209062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63386025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3750960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80786983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4308414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146306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08938CB5-194C-DAEB-E445-E914EC16448F}"/>
              </a:ext>
            </a:extLst>
          </p:cNvPr>
          <p:cNvGrpSpPr/>
          <p:nvPr/>
        </p:nvGrpSpPr>
        <p:grpSpPr>
          <a:xfrm>
            <a:off x="1777975" y="701880"/>
            <a:ext cx="5277098" cy="2724516"/>
            <a:chOff x="1777975" y="701880"/>
            <a:chExt cx="5277098" cy="272451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98CC806-D38C-71BB-268E-22D4933733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77975" y="701880"/>
              <a:ext cx="5277098" cy="2724516"/>
            </a:xfrm>
            <a:prstGeom prst="rect">
              <a:avLst/>
            </a:prstGeom>
            <a:scene3d>
              <a:camera prst="orthographicFront">
                <a:rot lat="0" lon="0" rev="21576000"/>
              </a:camera>
              <a:lightRig rig="threePt" dir="t"/>
            </a:scene3d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803EE49E-406D-EE94-6EDF-BABD9C065F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41113" y="1253343"/>
              <a:ext cx="297453" cy="451518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FDB42CED-0A72-A354-8F7B-0528B7F5B2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44786" y="2064138"/>
              <a:ext cx="297453" cy="451518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3CDAB49-4E83-D5C9-EF6D-0F2CE1E68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284" y="63131"/>
            <a:ext cx="7886700" cy="721053"/>
          </a:xfrm>
        </p:spPr>
        <p:txBody>
          <a:bodyPr/>
          <a:lstStyle/>
          <a:p>
            <a:r>
              <a:rPr lang="en-US" dirty="0"/>
              <a:t>Operation – Square Wave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7">
                <a:extLst>
                  <a:ext uri="{FF2B5EF4-FFF2-40B4-BE49-F238E27FC236}">
                    <a16:creationId xmlns:a16="http://schemas.microsoft.com/office/drawing/2014/main" id="{64080A4E-81D6-937A-CCC9-015DB7EB0D6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43117340"/>
                  </p:ext>
                </p:extLst>
              </p:nvPr>
            </p:nvGraphicFramePr>
            <p:xfrm>
              <a:off x="199746" y="3708458"/>
              <a:ext cx="4580972" cy="28690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34305">
                      <a:extLst>
                        <a:ext uri="{9D8B030D-6E8A-4147-A177-3AD203B41FA5}">
                          <a16:colId xmlns:a16="http://schemas.microsoft.com/office/drawing/2014/main" val="3390288556"/>
                        </a:ext>
                      </a:extLst>
                    </a:gridCol>
                    <a:gridCol w="1156016">
                      <a:extLst>
                        <a:ext uri="{9D8B030D-6E8A-4147-A177-3AD203B41FA5}">
                          <a16:colId xmlns:a16="http://schemas.microsoft.com/office/drawing/2014/main" val="174814911"/>
                        </a:ext>
                      </a:extLst>
                    </a:gridCol>
                    <a:gridCol w="1333246">
                      <a:extLst>
                        <a:ext uri="{9D8B030D-6E8A-4147-A177-3AD203B41FA5}">
                          <a16:colId xmlns:a16="http://schemas.microsoft.com/office/drawing/2014/main" val="194596394"/>
                        </a:ext>
                      </a:extLst>
                    </a:gridCol>
                    <a:gridCol w="1157405">
                      <a:extLst>
                        <a:ext uri="{9D8B030D-6E8A-4147-A177-3AD203B41FA5}">
                          <a16:colId xmlns:a16="http://schemas.microsoft.com/office/drawing/2014/main" val="612083071"/>
                        </a:ext>
                      </a:extLst>
                    </a:gridCol>
                  </a:tblGrid>
                  <a:tr h="409867"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GB" sz="1200" dirty="0">
                              <a:effectLst/>
                              <a:latin typeface="Times" panose="020206030504050203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Seq. # </a:t>
                          </a:r>
                        </a:p>
                      </a:txBody>
                      <a:tcPr marL="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𝑨</m:t>
                                    </m:r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sz="1200" dirty="0">
                            <a:effectLst/>
                            <a:latin typeface="Times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𝑩</m:t>
                                    </m:r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sz="1200">
                            <a:effectLst/>
                            <a:latin typeface="Times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𝑪</m:t>
                                    </m:r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sz="1200">
                            <a:effectLst/>
                            <a:latin typeface="Times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721060236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GB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3677508713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GB" sz="1800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rgbClr val="FF000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</a:t>
                          </a:r>
                          <a:endParaRPr lang="en-GB" sz="1800" kern="1200" dirty="0">
                            <a:solidFill>
                              <a:srgbClr val="FF000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</a:t>
                          </a:r>
                          <a:endParaRPr lang="en-GB" sz="1800" kern="1200" dirty="0">
                            <a:solidFill>
                              <a:srgbClr val="FF000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860730528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GB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</a:t>
                          </a:r>
                          <a:endParaRPr lang="en-GB"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1564613377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GB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 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 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</a:t>
                          </a:r>
                          <a:endParaRPr lang="en-GB"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122158048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GB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 </a:t>
                          </a:r>
                          <a:endParaRPr lang="en-GB"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2274889156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GB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</a:t>
                          </a:r>
                          <a:endParaRPr lang="en-GB"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 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178660934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7">
                <a:extLst>
                  <a:ext uri="{FF2B5EF4-FFF2-40B4-BE49-F238E27FC236}">
                    <a16:creationId xmlns:a16="http://schemas.microsoft.com/office/drawing/2014/main" id="{64080A4E-81D6-937A-CCC9-015DB7EB0D6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43117340"/>
                  </p:ext>
                </p:extLst>
              </p:nvPr>
            </p:nvGraphicFramePr>
            <p:xfrm>
              <a:off x="199746" y="3708458"/>
              <a:ext cx="4580972" cy="28690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34305">
                      <a:extLst>
                        <a:ext uri="{9D8B030D-6E8A-4147-A177-3AD203B41FA5}">
                          <a16:colId xmlns:a16="http://schemas.microsoft.com/office/drawing/2014/main" val="3390288556"/>
                        </a:ext>
                      </a:extLst>
                    </a:gridCol>
                    <a:gridCol w="1156016">
                      <a:extLst>
                        <a:ext uri="{9D8B030D-6E8A-4147-A177-3AD203B41FA5}">
                          <a16:colId xmlns:a16="http://schemas.microsoft.com/office/drawing/2014/main" val="174814911"/>
                        </a:ext>
                      </a:extLst>
                    </a:gridCol>
                    <a:gridCol w="1333246">
                      <a:extLst>
                        <a:ext uri="{9D8B030D-6E8A-4147-A177-3AD203B41FA5}">
                          <a16:colId xmlns:a16="http://schemas.microsoft.com/office/drawing/2014/main" val="194596394"/>
                        </a:ext>
                      </a:extLst>
                    </a:gridCol>
                    <a:gridCol w="1157405">
                      <a:extLst>
                        <a:ext uri="{9D8B030D-6E8A-4147-A177-3AD203B41FA5}">
                          <a16:colId xmlns:a16="http://schemas.microsoft.com/office/drawing/2014/main" val="612083071"/>
                        </a:ext>
                      </a:extLst>
                    </a:gridCol>
                  </a:tblGrid>
                  <a:tr h="409867"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GB" sz="1200" dirty="0">
                              <a:effectLst/>
                              <a:latin typeface="Times" panose="020206030504050203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Seq. # </a:t>
                          </a:r>
                        </a:p>
                      </a:txBody>
                      <a:tcPr marL="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68580" marT="0" marB="0" anchor="ctr">
                        <a:blipFill>
                          <a:blip r:embed="rId5"/>
                          <a:stretch>
                            <a:fillRect l="-81579" t="-1493" r="-217368" b="-6164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68580" marT="0" marB="0" anchor="ctr">
                        <a:blipFill>
                          <a:blip r:embed="rId5"/>
                          <a:stretch>
                            <a:fillRect l="-157534" t="-1493" r="-88584" b="-6164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68580" marT="0" marB="0" anchor="ctr">
                        <a:blipFill>
                          <a:blip r:embed="rId5"/>
                          <a:stretch>
                            <a:fillRect l="-296842" t="-1493" r="-2105" b="-6164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60236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GB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3677508713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GB" sz="1800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rgbClr val="FF000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</a:t>
                          </a:r>
                          <a:endParaRPr lang="en-GB" sz="1800" kern="1200" dirty="0">
                            <a:solidFill>
                              <a:srgbClr val="FF000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</a:t>
                          </a:r>
                          <a:endParaRPr lang="en-GB" sz="1800" kern="1200" dirty="0">
                            <a:solidFill>
                              <a:srgbClr val="FF000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860730528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GB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</a:t>
                          </a:r>
                          <a:endParaRPr lang="en-GB"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1564613377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GB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 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 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</a:t>
                          </a:r>
                          <a:endParaRPr lang="en-GB"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122158048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GB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 </a:t>
                          </a:r>
                          <a:endParaRPr lang="en-GB"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2274889156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GB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</a:t>
                          </a:r>
                          <a:endParaRPr lang="en-GB"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 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1786609346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F02DB817-D665-0205-C6AF-7AD25893EB29}"/>
              </a:ext>
            </a:extLst>
          </p:cNvPr>
          <p:cNvGrpSpPr/>
          <p:nvPr/>
        </p:nvGrpSpPr>
        <p:grpSpPr>
          <a:xfrm>
            <a:off x="3361535" y="1214050"/>
            <a:ext cx="373792" cy="530105"/>
            <a:chOff x="2376137" y="2245847"/>
            <a:chExt cx="308919" cy="48191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79AE72B-9613-21A2-7827-A8DBC0897983}"/>
                </a:ext>
              </a:extLst>
            </p:cNvPr>
            <p:cNvSpPr/>
            <p:nvPr/>
          </p:nvSpPr>
          <p:spPr>
            <a:xfrm>
              <a:off x="2376137" y="2245847"/>
              <a:ext cx="308919" cy="4819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65DC5ED-696B-6902-2479-E88A9BDC0443}"/>
                </a:ext>
              </a:extLst>
            </p:cNvPr>
            <p:cNvCxnSpPr>
              <a:cxnSpLocks/>
            </p:cNvCxnSpPr>
            <p:nvPr/>
          </p:nvCxnSpPr>
          <p:spPr>
            <a:xfrm>
              <a:off x="2521453" y="2245847"/>
              <a:ext cx="0" cy="48191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6B7A734-1C9F-B0CE-187D-86478231890D}"/>
              </a:ext>
            </a:extLst>
          </p:cNvPr>
          <p:cNvGrpSpPr/>
          <p:nvPr/>
        </p:nvGrpSpPr>
        <p:grpSpPr>
          <a:xfrm>
            <a:off x="6023219" y="2038632"/>
            <a:ext cx="373792" cy="530105"/>
            <a:chOff x="2376137" y="2245847"/>
            <a:chExt cx="308919" cy="481914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5E60F77-33CF-E149-5E84-2F3181E03B7D}"/>
                </a:ext>
              </a:extLst>
            </p:cNvPr>
            <p:cNvSpPr/>
            <p:nvPr/>
          </p:nvSpPr>
          <p:spPr>
            <a:xfrm>
              <a:off x="2376137" y="2245847"/>
              <a:ext cx="308919" cy="4819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8924761-BC3F-C478-F689-02A34E329CB7}"/>
                </a:ext>
              </a:extLst>
            </p:cNvPr>
            <p:cNvCxnSpPr>
              <a:cxnSpLocks/>
            </p:cNvCxnSpPr>
            <p:nvPr/>
          </p:nvCxnSpPr>
          <p:spPr>
            <a:xfrm>
              <a:off x="2521453" y="2245847"/>
              <a:ext cx="0" cy="48191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7607DBB-BAFD-66C5-2661-E7DC6EFFE581}"/>
              </a:ext>
            </a:extLst>
          </p:cNvPr>
          <p:cNvGrpSpPr/>
          <p:nvPr/>
        </p:nvGrpSpPr>
        <p:grpSpPr>
          <a:xfrm>
            <a:off x="4687061" y="2064138"/>
            <a:ext cx="373792" cy="530105"/>
            <a:chOff x="2376137" y="2245847"/>
            <a:chExt cx="308919" cy="48191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CA59C20-D508-E483-00E4-F635A870BEC9}"/>
                </a:ext>
              </a:extLst>
            </p:cNvPr>
            <p:cNvSpPr/>
            <p:nvPr/>
          </p:nvSpPr>
          <p:spPr>
            <a:xfrm>
              <a:off x="2376137" y="2245847"/>
              <a:ext cx="308919" cy="4819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4EEEDCA-32E4-E25E-1D6F-2C4D78CEEF27}"/>
                </a:ext>
              </a:extLst>
            </p:cNvPr>
            <p:cNvCxnSpPr>
              <a:cxnSpLocks/>
            </p:cNvCxnSpPr>
            <p:nvPr/>
          </p:nvCxnSpPr>
          <p:spPr>
            <a:xfrm>
              <a:off x="2521453" y="2245847"/>
              <a:ext cx="0" cy="48191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DAD4D47-8A3A-38B4-2451-DD9F12F82250}"/>
                  </a:ext>
                </a:extLst>
              </p:cNvPr>
              <p:cNvSpPr txBox="1"/>
              <p:nvPr/>
            </p:nvSpPr>
            <p:spPr>
              <a:xfrm>
                <a:off x="3895513" y="3085505"/>
                <a:ext cx="453214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GB" sz="1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sub>
                      </m:sSub>
                    </m:oMath>
                  </m:oMathPara>
                </a14:m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DAD4D47-8A3A-38B4-2451-DD9F12F822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5513" y="3085505"/>
                <a:ext cx="453214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AC458E1-26A8-9412-EBE1-1BEF35623F1F}"/>
                  </a:ext>
                </a:extLst>
              </p:cNvPr>
              <p:cNvSpPr txBox="1"/>
              <p:nvPr/>
            </p:nvSpPr>
            <p:spPr>
              <a:xfrm>
                <a:off x="6599727" y="3118886"/>
                <a:ext cx="453214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AC458E1-26A8-9412-EBE1-1BEF35623F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9727" y="3118886"/>
                <a:ext cx="453214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8FCAAAD-1234-C204-20A0-F0F206FE1A68}"/>
                  </a:ext>
                </a:extLst>
              </p:cNvPr>
              <p:cNvSpPr txBox="1"/>
              <p:nvPr/>
            </p:nvSpPr>
            <p:spPr>
              <a:xfrm>
                <a:off x="5247620" y="3118886"/>
                <a:ext cx="453214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8FCAAAD-1234-C204-20A0-F0F206FE1A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7620" y="3118886"/>
                <a:ext cx="453214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8" name="Table 27">
                <a:extLst>
                  <a:ext uri="{FF2B5EF4-FFF2-40B4-BE49-F238E27FC236}">
                    <a16:creationId xmlns:a16="http://schemas.microsoft.com/office/drawing/2014/main" id="{3C4A3790-90DB-2759-5227-599E13F7421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43864619"/>
                  </p:ext>
                </p:extLst>
              </p:nvPr>
            </p:nvGraphicFramePr>
            <p:xfrm>
              <a:off x="5463583" y="3669910"/>
              <a:ext cx="2966056" cy="28690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97446">
                      <a:extLst>
                        <a:ext uri="{9D8B030D-6E8A-4147-A177-3AD203B41FA5}">
                          <a16:colId xmlns:a16="http://schemas.microsoft.com/office/drawing/2014/main" val="441363178"/>
                        </a:ext>
                      </a:extLst>
                    </a:gridCol>
                    <a:gridCol w="934305">
                      <a:extLst>
                        <a:ext uri="{9D8B030D-6E8A-4147-A177-3AD203B41FA5}">
                          <a16:colId xmlns:a16="http://schemas.microsoft.com/office/drawing/2014/main" val="2031804365"/>
                        </a:ext>
                      </a:extLst>
                    </a:gridCol>
                    <a:gridCol w="934305">
                      <a:extLst>
                        <a:ext uri="{9D8B030D-6E8A-4147-A177-3AD203B41FA5}">
                          <a16:colId xmlns:a16="http://schemas.microsoft.com/office/drawing/2014/main" val="1064455656"/>
                        </a:ext>
                      </a:extLst>
                    </a:gridCol>
                  </a:tblGrid>
                  <a:tr h="409867"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𝑨𝑩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sz="1200">
                            <a:effectLst/>
                            <a:latin typeface="Times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𝑩𝑪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sz="1200">
                            <a:effectLst/>
                            <a:latin typeface="Times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𝑪𝑨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sz="1200" dirty="0">
                            <a:effectLst/>
                            <a:latin typeface="Times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192953803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800" b="1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800" b="1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1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    </a:t>
                          </a:r>
                          <a:r>
                            <a:rPr lang="en-GB" sz="1800" b="1" i="0" kern="1200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0587647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GB" sz="18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 </a:t>
                          </a:r>
                          <a:r>
                            <a:rPr lang="en-GB" sz="1800" b="1" i="0" kern="120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</a:t>
                          </a:r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GB" sz="18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GB" sz="18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00209062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63386025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3750960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80786983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4308414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8" name="Table 27">
                <a:extLst>
                  <a:ext uri="{FF2B5EF4-FFF2-40B4-BE49-F238E27FC236}">
                    <a16:creationId xmlns:a16="http://schemas.microsoft.com/office/drawing/2014/main" id="{3C4A3790-90DB-2759-5227-599E13F7421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43864619"/>
                  </p:ext>
                </p:extLst>
              </p:nvPr>
            </p:nvGraphicFramePr>
            <p:xfrm>
              <a:off x="5463583" y="3669910"/>
              <a:ext cx="2966056" cy="28690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97446">
                      <a:extLst>
                        <a:ext uri="{9D8B030D-6E8A-4147-A177-3AD203B41FA5}">
                          <a16:colId xmlns:a16="http://schemas.microsoft.com/office/drawing/2014/main" val="441363178"/>
                        </a:ext>
                      </a:extLst>
                    </a:gridCol>
                    <a:gridCol w="934305">
                      <a:extLst>
                        <a:ext uri="{9D8B030D-6E8A-4147-A177-3AD203B41FA5}">
                          <a16:colId xmlns:a16="http://schemas.microsoft.com/office/drawing/2014/main" val="2031804365"/>
                        </a:ext>
                      </a:extLst>
                    </a:gridCol>
                    <a:gridCol w="934305">
                      <a:extLst>
                        <a:ext uri="{9D8B030D-6E8A-4147-A177-3AD203B41FA5}">
                          <a16:colId xmlns:a16="http://schemas.microsoft.com/office/drawing/2014/main" val="1064455656"/>
                        </a:ext>
                      </a:extLst>
                    </a:gridCol>
                  </a:tblGrid>
                  <a:tr h="409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68580" marT="0" marB="0" anchor="ctr">
                        <a:blipFill>
                          <a:blip r:embed="rId8"/>
                          <a:stretch>
                            <a:fillRect l="-556" t="-2985" r="-172778" b="-6059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68580" marT="0" marB="0" anchor="ctr">
                        <a:blipFill>
                          <a:blip r:embed="rId8"/>
                          <a:stretch>
                            <a:fillRect l="-117532" t="-2985" r="-101948" b="-6059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68580" marT="0" marB="0" anchor="ctr">
                        <a:blipFill>
                          <a:blip r:embed="rId8"/>
                          <a:stretch>
                            <a:fillRect l="-218954" t="-2985" r="-2614" b="-6059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2953803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556" t="-101471" r="-172778" b="-4970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117532" t="-101471" r="-101948" b="-4970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    </a:t>
                          </a:r>
                          <a:r>
                            <a:rPr lang="en-GB" sz="1800" b="1" i="0" kern="1200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0587647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556" t="-204478" r="-172778" b="-4044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 </a:t>
                          </a:r>
                          <a:r>
                            <a:rPr lang="en-GB" sz="1800" b="1" i="0" kern="120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</a:t>
                          </a:r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218954" t="-204478" r="-2614" b="-4044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209062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63386025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3750960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80786983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4308414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62713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08938CB5-194C-DAEB-E445-E914EC16448F}"/>
              </a:ext>
            </a:extLst>
          </p:cNvPr>
          <p:cNvGrpSpPr/>
          <p:nvPr/>
        </p:nvGrpSpPr>
        <p:grpSpPr>
          <a:xfrm>
            <a:off x="1777975" y="701880"/>
            <a:ext cx="5277098" cy="2724516"/>
            <a:chOff x="1777975" y="701880"/>
            <a:chExt cx="5277098" cy="272451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98CC806-D38C-71BB-268E-22D4933733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77975" y="701880"/>
              <a:ext cx="5277098" cy="2724516"/>
            </a:xfrm>
            <a:prstGeom prst="rect">
              <a:avLst/>
            </a:prstGeom>
            <a:scene3d>
              <a:camera prst="orthographicFront">
                <a:rot lat="0" lon="0" rev="21576000"/>
              </a:camera>
              <a:lightRig rig="threePt" dir="t"/>
            </a:scene3d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803EE49E-406D-EE94-6EDF-BABD9C065F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41113" y="1253343"/>
              <a:ext cx="297453" cy="451518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FDB42CED-0A72-A354-8F7B-0528B7F5B2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44786" y="2064138"/>
              <a:ext cx="297453" cy="451518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3CDAB49-4E83-D5C9-EF6D-0F2CE1E68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284" y="63131"/>
            <a:ext cx="7886700" cy="721053"/>
          </a:xfrm>
        </p:spPr>
        <p:txBody>
          <a:bodyPr/>
          <a:lstStyle/>
          <a:p>
            <a:r>
              <a:rPr lang="en-US" dirty="0"/>
              <a:t>Operation – Square Wave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7">
                <a:extLst>
                  <a:ext uri="{FF2B5EF4-FFF2-40B4-BE49-F238E27FC236}">
                    <a16:creationId xmlns:a16="http://schemas.microsoft.com/office/drawing/2014/main" id="{64080A4E-81D6-937A-CCC9-015DB7EB0D6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05424716"/>
                  </p:ext>
                </p:extLst>
              </p:nvPr>
            </p:nvGraphicFramePr>
            <p:xfrm>
              <a:off x="199746" y="3708458"/>
              <a:ext cx="4580972" cy="28690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34305">
                      <a:extLst>
                        <a:ext uri="{9D8B030D-6E8A-4147-A177-3AD203B41FA5}">
                          <a16:colId xmlns:a16="http://schemas.microsoft.com/office/drawing/2014/main" val="3390288556"/>
                        </a:ext>
                      </a:extLst>
                    </a:gridCol>
                    <a:gridCol w="1156016">
                      <a:extLst>
                        <a:ext uri="{9D8B030D-6E8A-4147-A177-3AD203B41FA5}">
                          <a16:colId xmlns:a16="http://schemas.microsoft.com/office/drawing/2014/main" val="174814911"/>
                        </a:ext>
                      </a:extLst>
                    </a:gridCol>
                    <a:gridCol w="1333246">
                      <a:extLst>
                        <a:ext uri="{9D8B030D-6E8A-4147-A177-3AD203B41FA5}">
                          <a16:colId xmlns:a16="http://schemas.microsoft.com/office/drawing/2014/main" val="194596394"/>
                        </a:ext>
                      </a:extLst>
                    </a:gridCol>
                    <a:gridCol w="1157405">
                      <a:extLst>
                        <a:ext uri="{9D8B030D-6E8A-4147-A177-3AD203B41FA5}">
                          <a16:colId xmlns:a16="http://schemas.microsoft.com/office/drawing/2014/main" val="612083071"/>
                        </a:ext>
                      </a:extLst>
                    </a:gridCol>
                  </a:tblGrid>
                  <a:tr h="409867"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GB" sz="1200" dirty="0">
                              <a:effectLst/>
                              <a:latin typeface="Times" panose="020206030504050203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Seq. # </a:t>
                          </a:r>
                        </a:p>
                      </a:txBody>
                      <a:tcPr marL="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𝑨</m:t>
                                    </m:r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sz="1200" dirty="0">
                            <a:effectLst/>
                            <a:latin typeface="Times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𝑩</m:t>
                                    </m:r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sz="1200">
                            <a:effectLst/>
                            <a:latin typeface="Times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𝑪</m:t>
                                    </m:r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sz="1200">
                            <a:effectLst/>
                            <a:latin typeface="Times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721060236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GB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3677508713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GB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860730528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GB" sz="1800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rgbClr val="FF000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rgbClr val="FF000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</a:t>
                          </a:r>
                          <a:endParaRPr lang="en-GB" sz="1800" kern="1200" dirty="0">
                            <a:solidFill>
                              <a:srgbClr val="FF000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1564613377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GB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 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 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</a:t>
                          </a:r>
                          <a:endParaRPr lang="en-GB"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122158048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GB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 </a:t>
                          </a:r>
                          <a:endParaRPr lang="en-GB"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2274889156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GB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</a:t>
                          </a:r>
                          <a:endParaRPr lang="en-GB"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 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178660934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7">
                <a:extLst>
                  <a:ext uri="{FF2B5EF4-FFF2-40B4-BE49-F238E27FC236}">
                    <a16:creationId xmlns:a16="http://schemas.microsoft.com/office/drawing/2014/main" id="{64080A4E-81D6-937A-CCC9-015DB7EB0D6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05424716"/>
                  </p:ext>
                </p:extLst>
              </p:nvPr>
            </p:nvGraphicFramePr>
            <p:xfrm>
              <a:off x="199746" y="3708458"/>
              <a:ext cx="4580972" cy="28690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34305">
                      <a:extLst>
                        <a:ext uri="{9D8B030D-6E8A-4147-A177-3AD203B41FA5}">
                          <a16:colId xmlns:a16="http://schemas.microsoft.com/office/drawing/2014/main" val="3390288556"/>
                        </a:ext>
                      </a:extLst>
                    </a:gridCol>
                    <a:gridCol w="1156016">
                      <a:extLst>
                        <a:ext uri="{9D8B030D-6E8A-4147-A177-3AD203B41FA5}">
                          <a16:colId xmlns:a16="http://schemas.microsoft.com/office/drawing/2014/main" val="174814911"/>
                        </a:ext>
                      </a:extLst>
                    </a:gridCol>
                    <a:gridCol w="1333246">
                      <a:extLst>
                        <a:ext uri="{9D8B030D-6E8A-4147-A177-3AD203B41FA5}">
                          <a16:colId xmlns:a16="http://schemas.microsoft.com/office/drawing/2014/main" val="194596394"/>
                        </a:ext>
                      </a:extLst>
                    </a:gridCol>
                    <a:gridCol w="1157405">
                      <a:extLst>
                        <a:ext uri="{9D8B030D-6E8A-4147-A177-3AD203B41FA5}">
                          <a16:colId xmlns:a16="http://schemas.microsoft.com/office/drawing/2014/main" val="612083071"/>
                        </a:ext>
                      </a:extLst>
                    </a:gridCol>
                  </a:tblGrid>
                  <a:tr h="409867"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GB" sz="1200" dirty="0">
                              <a:effectLst/>
                              <a:latin typeface="Times" panose="020206030504050203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Seq. # </a:t>
                          </a:r>
                        </a:p>
                      </a:txBody>
                      <a:tcPr marL="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68580" marT="0" marB="0" anchor="ctr">
                        <a:blipFill>
                          <a:blip r:embed="rId5"/>
                          <a:stretch>
                            <a:fillRect l="-81579" t="-1493" r="-217368" b="-6164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68580" marT="0" marB="0" anchor="ctr">
                        <a:blipFill>
                          <a:blip r:embed="rId5"/>
                          <a:stretch>
                            <a:fillRect l="-157534" t="-1493" r="-88584" b="-6164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68580" marT="0" marB="0" anchor="ctr">
                        <a:blipFill>
                          <a:blip r:embed="rId5"/>
                          <a:stretch>
                            <a:fillRect l="-296842" t="-1493" r="-2105" b="-6164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60236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GB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3677508713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GB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860730528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GB" sz="1800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rgbClr val="FF000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rgbClr val="FF000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</a:t>
                          </a:r>
                          <a:endParaRPr lang="en-GB" sz="1800" kern="1200" dirty="0">
                            <a:solidFill>
                              <a:srgbClr val="FF000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1564613377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GB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 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 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</a:t>
                          </a:r>
                          <a:endParaRPr lang="en-GB"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122158048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GB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 </a:t>
                          </a:r>
                          <a:endParaRPr lang="en-GB"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2274889156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GB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</a:t>
                          </a:r>
                          <a:endParaRPr lang="en-GB"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 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1786609346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F02DB817-D665-0205-C6AF-7AD25893EB29}"/>
              </a:ext>
            </a:extLst>
          </p:cNvPr>
          <p:cNvGrpSpPr/>
          <p:nvPr/>
        </p:nvGrpSpPr>
        <p:grpSpPr>
          <a:xfrm>
            <a:off x="3361535" y="1214050"/>
            <a:ext cx="373792" cy="530105"/>
            <a:chOff x="2376137" y="2245847"/>
            <a:chExt cx="308919" cy="48191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79AE72B-9613-21A2-7827-A8DBC0897983}"/>
                </a:ext>
              </a:extLst>
            </p:cNvPr>
            <p:cNvSpPr/>
            <p:nvPr/>
          </p:nvSpPr>
          <p:spPr>
            <a:xfrm>
              <a:off x="2376137" y="2245847"/>
              <a:ext cx="308919" cy="4819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65DC5ED-696B-6902-2479-E88A9BDC0443}"/>
                </a:ext>
              </a:extLst>
            </p:cNvPr>
            <p:cNvCxnSpPr>
              <a:cxnSpLocks/>
            </p:cNvCxnSpPr>
            <p:nvPr/>
          </p:nvCxnSpPr>
          <p:spPr>
            <a:xfrm>
              <a:off x="2521453" y="2245847"/>
              <a:ext cx="0" cy="48191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6B7A734-1C9F-B0CE-187D-86478231890D}"/>
              </a:ext>
            </a:extLst>
          </p:cNvPr>
          <p:cNvGrpSpPr/>
          <p:nvPr/>
        </p:nvGrpSpPr>
        <p:grpSpPr>
          <a:xfrm>
            <a:off x="6023219" y="2038632"/>
            <a:ext cx="373792" cy="530105"/>
            <a:chOff x="2376137" y="2245847"/>
            <a:chExt cx="308919" cy="481914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5E60F77-33CF-E149-5E84-2F3181E03B7D}"/>
                </a:ext>
              </a:extLst>
            </p:cNvPr>
            <p:cNvSpPr/>
            <p:nvPr/>
          </p:nvSpPr>
          <p:spPr>
            <a:xfrm>
              <a:off x="2376137" y="2245847"/>
              <a:ext cx="308919" cy="4819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8924761-BC3F-C478-F689-02A34E329CB7}"/>
                </a:ext>
              </a:extLst>
            </p:cNvPr>
            <p:cNvCxnSpPr>
              <a:cxnSpLocks/>
            </p:cNvCxnSpPr>
            <p:nvPr/>
          </p:nvCxnSpPr>
          <p:spPr>
            <a:xfrm>
              <a:off x="2521453" y="2245847"/>
              <a:ext cx="0" cy="48191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7607DBB-BAFD-66C5-2661-E7DC6EFFE581}"/>
              </a:ext>
            </a:extLst>
          </p:cNvPr>
          <p:cNvGrpSpPr/>
          <p:nvPr/>
        </p:nvGrpSpPr>
        <p:grpSpPr>
          <a:xfrm>
            <a:off x="4687061" y="1192242"/>
            <a:ext cx="373792" cy="530105"/>
            <a:chOff x="2376137" y="2245847"/>
            <a:chExt cx="308919" cy="48191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CA59C20-D508-E483-00E4-F635A870BEC9}"/>
                </a:ext>
              </a:extLst>
            </p:cNvPr>
            <p:cNvSpPr/>
            <p:nvPr/>
          </p:nvSpPr>
          <p:spPr>
            <a:xfrm>
              <a:off x="2376137" y="2245847"/>
              <a:ext cx="308919" cy="4819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4EEEDCA-32E4-E25E-1D6F-2C4D78CEEF27}"/>
                </a:ext>
              </a:extLst>
            </p:cNvPr>
            <p:cNvCxnSpPr>
              <a:cxnSpLocks/>
            </p:cNvCxnSpPr>
            <p:nvPr/>
          </p:nvCxnSpPr>
          <p:spPr>
            <a:xfrm>
              <a:off x="2521453" y="2245847"/>
              <a:ext cx="0" cy="48191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DAD4D47-8A3A-38B4-2451-DD9F12F82250}"/>
                  </a:ext>
                </a:extLst>
              </p:cNvPr>
              <p:cNvSpPr txBox="1"/>
              <p:nvPr/>
            </p:nvSpPr>
            <p:spPr>
              <a:xfrm>
                <a:off x="3948678" y="3064239"/>
                <a:ext cx="453214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GB" sz="1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sub>
                      </m:sSub>
                    </m:oMath>
                  </m:oMathPara>
                </a14:m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DAD4D47-8A3A-38B4-2451-DD9F12F822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8678" y="3064239"/>
                <a:ext cx="453214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AC458E1-26A8-9412-EBE1-1BEF35623F1F}"/>
                  </a:ext>
                </a:extLst>
              </p:cNvPr>
              <p:cNvSpPr txBox="1"/>
              <p:nvPr/>
            </p:nvSpPr>
            <p:spPr>
              <a:xfrm>
                <a:off x="6652892" y="3097620"/>
                <a:ext cx="453214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AC458E1-26A8-9412-EBE1-1BEF35623F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2892" y="3097620"/>
                <a:ext cx="453214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8FCAAAD-1234-C204-20A0-F0F206FE1A68}"/>
                  </a:ext>
                </a:extLst>
              </p:cNvPr>
              <p:cNvSpPr txBox="1"/>
              <p:nvPr/>
            </p:nvSpPr>
            <p:spPr>
              <a:xfrm>
                <a:off x="5300785" y="3097620"/>
                <a:ext cx="453214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GB" sz="1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sub>
                      </m:sSub>
                    </m:oMath>
                  </m:oMathPara>
                </a14:m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8FCAAAD-1234-C204-20A0-F0F206FE1A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0785" y="3097620"/>
                <a:ext cx="453214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8" name="Table 27">
                <a:extLst>
                  <a:ext uri="{FF2B5EF4-FFF2-40B4-BE49-F238E27FC236}">
                    <a16:creationId xmlns:a16="http://schemas.microsoft.com/office/drawing/2014/main" id="{3C4A3790-90DB-2759-5227-599E13F7421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47529219"/>
                  </p:ext>
                </p:extLst>
              </p:nvPr>
            </p:nvGraphicFramePr>
            <p:xfrm>
              <a:off x="5463583" y="3669910"/>
              <a:ext cx="2966056" cy="28690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97446">
                      <a:extLst>
                        <a:ext uri="{9D8B030D-6E8A-4147-A177-3AD203B41FA5}">
                          <a16:colId xmlns:a16="http://schemas.microsoft.com/office/drawing/2014/main" val="441363178"/>
                        </a:ext>
                      </a:extLst>
                    </a:gridCol>
                    <a:gridCol w="934305">
                      <a:extLst>
                        <a:ext uri="{9D8B030D-6E8A-4147-A177-3AD203B41FA5}">
                          <a16:colId xmlns:a16="http://schemas.microsoft.com/office/drawing/2014/main" val="2031804365"/>
                        </a:ext>
                      </a:extLst>
                    </a:gridCol>
                    <a:gridCol w="934305">
                      <a:extLst>
                        <a:ext uri="{9D8B030D-6E8A-4147-A177-3AD203B41FA5}">
                          <a16:colId xmlns:a16="http://schemas.microsoft.com/office/drawing/2014/main" val="1064455656"/>
                        </a:ext>
                      </a:extLst>
                    </a:gridCol>
                  </a:tblGrid>
                  <a:tr h="409867"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𝑨𝑩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sz="1200">
                            <a:effectLst/>
                            <a:latin typeface="Times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𝑩𝑪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sz="1200">
                            <a:effectLst/>
                            <a:latin typeface="Times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𝑪𝑨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sz="1200" dirty="0">
                            <a:effectLst/>
                            <a:latin typeface="Times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192953803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800" b="1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800" b="1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1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    </a:t>
                          </a:r>
                          <a:r>
                            <a:rPr lang="en-GB" sz="1800" b="1" i="0" kern="1200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0587647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800" b="1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 </a:t>
                          </a:r>
                          <a:r>
                            <a:rPr lang="en-GB" sz="1800" b="1" i="0" kern="1200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800" b="1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1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00209062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800" b="1" i="0" kern="120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</a:t>
                          </a:r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GB" sz="18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GB" sz="18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GB" sz="18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63386025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3750960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80786983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4308414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8" name="Table 27">
                <a:extLst>
                  <a:ext uri="{FF2B5EF4-FFF2-40B4-BE49-F238E27FC236}">
                    <a16:creationId xmlns:a16="http://schemas.microsoft.com/office/drawing/2014/main" id="{3C4A3790-90DB-2759-5227-599E13F7421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47529219"/>
                  </p:ext>
                </p:extLst>
              </p:nvPr>
            </p:nvGraphicFramePr>
            <p:xfrm>
              <a:off x="5463583" y="3669910"/>
              <a:ext cx="2966056" cy="28690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97446">
                      <a:extLst>
                        <a:ext uri="{9D8B030D-6E8A-4147-A177-3AD203B41FA5}">
                          <a16:colId xmlns:a16="http://schemas.microsoft.com/office/drawing/2014/main" val="441363178"/>
                        </a:ext>
                      </a:extLst>
                    </a:gridCol>
                    <a:gridCol w="934305">
                      <a:extLst>
                        <a:ext uri="{9D8B030D-6E8A-4147-A177-3AD203B41FA5}">
                          <a16:colId xmlns:a16="http://schemas.microsoft.com/office/drawing/2014/main" val="2031804365"/>
                        </a:ext>
                      </a:extLst>
                    </a:gridCol>
                    <a:gridCol w="934305">
                      <a:extLst>
                        <a:ext uri="{9D8B030D-6E8A-4147-A177-3AD203B41FA5}">
                          <a16:colId xmlns:a16="http://schemas.microsoft.com/office/drawing/2014/main" val="1064455656"/>
                        </a:ext>
                      </a:extLst>
                    </a:gridCol>
                  </a:tblGrid>
                  <a:tr h="409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68580" marT="0" marB="0" anchor="ctr">
                        <a:blipFill>
                          <a:blip r:embed="rId9"/>
                          <a:stretch>
                            <a:fillRect l="-556" t="-2985" r="-172778" b="-6059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68580" marT="0" marB="0" anchor="ctr">
                        <a:blipFill>
                          <a:blip r:embed="rId9"/>
                          <a:stretch>
                            <a:fillRect l="-117532" t="-2985" r="-101948" b="-6059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68580" marT="0" marB="0" anchor="ctr">
                        <a:blipFill>
                          <a:blip r:embed="rId9"/>
                          <a:stretch>
                            <a:fillRect l="-218954" t="-2985" r="-2614" b="-6059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2953803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556" t="-101471" r="-172778" b="-4970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117532" t="-101471" r="-101948" b="-4970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    </a:t>
                          </a:r>
                          <a:r>
                            <a:rPr lang="en-GB" sz="1800" b="1" i="0" kern="1200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0587647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556" t="-204478" r="-172778" b="-4044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 </a:t>
                          </a:r>
                          <a:r>
                            <a:rPr lang="en-GB" sz="1800" b="1" i="0" kern="1200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218954" t="-204478" r="-2614" b="-4044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209062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800" b="1" i="0" kern="120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</a:t>
                          </a:r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117532" t="-304478" r="-101948" b="-3044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218954" t="-304478" r="-2614" b="-3044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63386025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3750960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80786983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4308414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71599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08938CB5-194C-DAEB-E445-E914EC16448F}"/>
              </a:ext>
            </a:extLst>
          </p:cNvPr>
          <p:cNvGrpSpPr/>
          <p:nvPr/>
        </p:nvGrpSpPr>
        <p:grpSpPr>
          <a:xfrm>
            <a:off x="1777975" y="701880"/>
            <a:ext cx="5277098" cy="2724516"/>
            <a:chOff x="1777975" y="701880"/>
            <a:chExt cx="5277098" cy="272451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98CC806-D38C-71BB-268E-22D4933733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77975" y="701880"/>
              <a:ext cx="5277098" cy="2724516"/>
            </a:xfrm>
            <a:prstGeom prst="rect">
              <a:avLst/>
            </a:prstGeom>
            <a:scene3d>
              <a:camera prst="orthographicFront">
                <a:rot lat="0" lon="0" rev="21576000"/>
              </a:camera>
              <a:lightRig rig="threePt" dir="t"/>
            </a:scene3d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803EE49E-406D-EE94-6EDF-BABD9C065F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41113" y="1253343"/>
              <a:ext cx="297453" cy="451518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FDB42CED-0A72-A354-8F7B-0528B7F5B2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44786" y="2064138"/>
              <a:ext cx="297453" cy="451518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3CDAB49-4E83-D5C9-EF6D-0F2CE1E68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284" y="63131"/>
            <a:ext cx="7886700" cy="721053"/>
          </a:xfrm>
        </p:spPr>
        <p:txBody>
          <a:bodyPr/>
          <a:lstStyle/>
          <a:p>
            <a:r>
              <a:rPr lang="en-US" dirty="0"/>
              <a:t>Operation – Square Wave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7">
                <a:extLst>
                  <a:ext uri="{FF2B5EF4-FFF2-40B4-BE49-F238E27FC236}">
                    <a16:creationId xmlns:a16="http://schemas.microsoft.com/office/drawing/2014/main" id="{64080A4E-81D6-937A-CCC9-015DB7EB0D6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7857217"/>
                  </p:ext>
                </p:extLst>
              </p:nvPr>
            </p:nvGraphicFramePr>
            <p:xfrm>
              <a:off x="199746" y="3708458"/>
              <a:ext cx="4580972" cy="28690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34305">
                      <a:extLst>
                        <a:ext uri="{9D8B030D-6E8A-4147-A177-3AD203B41FA5}">
                          <a16:colId xmlns:a16="http://schemas.microsoft.com/office/drawing/2014/main" val="3390288556"/>
                        </a:ext>
                      </a:extLst>
                    </a:gridCol>
                    <a:gridCol w="1156016">
                      <a:extLst>
                        <a:ext uri="{9D8B030D-6E8A-4147-A177-3AD203B41FA5}">
                          <a16:colId xmlns:a16="http://schemas.microsoft.com/office/drawing/2014/main" val="174814911"/>
                        </a:ext>
                      </a:extLst>
                    </a:gridCol>
                    <a:gridCol w="1333246">
                      <a:extLst>
                        <a:ext uri="{9D8B030D-6E8A-4147-A177-3AD203B41FA5}">
                          <a16:colId xmlns:a16="http://schemas.microsoft.com/office/drawing/2014/main" val="194596394"/>
                        </a:ext>
                      </a:extLst>
                    </a:gridCol>
                    <a:gridCol w="1157405">
                      <a:extLst>
                        <a:ext uri="{9D8B030D-6E8A-4147-A177-3AD203B41FA5}">
                          <a16:colId xmlns:a16="http://schemas.microsoft.com/office/drawing/2014/main" val="612083071"/>
                        </a:ext>
                      </a:extLst>
                    </a:gridCol>
                  </a:tblGrid>
                  <a:tr h="409867"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GB" sz="1200" dirty="0">
                              <a:effectLst/>
                              <a:latin typeface="Times" panose="020206030504050203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Seq. # </a:t>
                          </a:r>
                        </a:p>
                      </a:txBody>
                      <a:tcPr marL="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𝑨</m:t>
                                    </m:r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sz="1200" dirty="0">
                            <a:effectLst/>
                            <a:latin typeface="Times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𝑩</m:t>
                                    </m:r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sz="1200">
                            <a:effectLst/>
                            <a:latin typeface="Times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𝑪</m:t>
                                    </m:r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sz="1200">
                            <a:effectLst/>
                            <a:latin typeface="Times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721060236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GB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3677508713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GB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860730528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GB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1564613377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GB" sz="1800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 </a:t>
                          </a:r>
                          <a:endParaRPr lang="en-GB" sz="1800" kern="1200" dirty="0">
                            <a:solidFill>
                              <a:srgbClr val="FF000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 </a:t>
                          </a:r>
                          <a:endParaRPr lang="en-GB" sz="1800" kern="1200" dirty="0">
                            <a:solidFill>
                              <a:srgbClr val="FF000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</a:t>
                          </a:r>
                          <a:endParaRPr lang="en-GB" sz="1800" kern="1200" dirty="0">
                            <a:solidFill>
                              <a:srgbClr val="FF000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122158048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GB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 </a:t>
                          </a:r>
                          <a:endParaRPr lang="en-GB"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2274889156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GB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</a:t>
                          </a:r>
                          <a:endParaRPr lang="en-GB"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 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178660934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7">
                <a:extLst>
                  <a:ext uri="{FF2B5EF4-FFF2-40B4-BE49-F238E27FC236}">
                    <a16:creationId xmlns:a16="http://schemas.microsoft.com/office/drawing/2014/main" id="{64080A4E-81D6-937A-CCC9-015DB7EB0D6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7857217"/>
                  </p:ext>
                </p:extLst>
              </p:nvPr>
            </p:nvGraphicFramePr>
            <p:xfrm>
              <a:off x="199746" y="3708458"/>
              <a:ext cx="4580972" cy="28690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34305">
                      <a:extLst>
                        <a:ext uri="{9D8B030D-6E8A-4147-A177-3AD203B41FA5}">
                          <a16:colId xmlns:a16="http://schemas.microsoft.com/office/drawing/2014/main" val="3390288556"/>
                        </a:ext>
                      </a:extLst>
                    </a:gridCol>
                    <a:gridCol w="1156016">
                      <a:extLst>
                        <a:ext uri="{9D8B030D-6E8A-4147-A177-3AD203B41FA5}">
                          <a16:colId xmlns:a16="http://schemas.microsoft.com/office/drawing/2014/main" val="174814911"/>
                        </a:ext>
                      </a:extLst>
                    </a:gridCol>
                    <a:gridCol w="1333246">
                      <a:extLst>
                        <a:ext uri="{9D8B030D-6E8A-4147-A177-3AD203B41FA5}">
                          <a16:colId xmlns:a16="http://schemas.microsoft.com/office/drawing/2014/main" val="194596394"/>
                        </a:ext>
                      </a:extLst>
                    </a:gridCol>
                    <a:gridCol w="1157405">
                      <a:extLst>
                        <a:ext uri="{9D8B030D-6E8A-4147-A177-3AD203B41FA5}">
                          <a16:colId xmlns:a16="http://schemas.microsoft.com/office/drawing/2014/main" val="612083071"/>
                        </a:ext>
                      </a:extLst>
                    </a:gridCol>
                  </a:tblGrid>
                  <a:tr h="409867"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GB" sz="1200" dirty="0">
                              <a:effectLst/>
                              <a:latin typeface="Times" panose="020206030504050203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Seq. # </a:t>
                          </a:r>
                        </a:p>
                      </a:txBody>
                      <a:tcPr marL="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68580" marT="0" marB="0" anchor="ctr">
                        <a:blipFill>
                          <a:blip r:embed="rId5"/>
                          <a:stretch>
                            <a:fillRect l="-81579" t="-1493" r="-217368" b="-6164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68580" marT="0" marB="0" anchor="ctr">
                        <a:blipFill>
                          <a:blip r:embed="rId5"/>
                          <a:stretch>
                            <a:fillRect l="-157534" t="-1493" r="-88584" b="-6164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68580" marT="0" marB="0" anchor="ctr">
                        <a:blipFill>
                          <a:blip r:embed="rId5"/>
                          <a:stretch>
                            <a:fillRect l="-296842" t="-1493" r="-2105" b="-6164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60236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GB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3677508713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GB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860730528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GB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1564613377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GB" sz="1800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 </a:t>
                          </a:r>
                          <a:endParaRPr lang="en-GB" sz="1800" kern="1200" dirty="0">
                            <a:solidFill>
                              <a:srgbClr val="FF000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 </a:t>
                          </a:r>
                          <a:endParaRPr lang="en-GB" sz="1800" kern="1200" dirty="0">
                            <a:solidFill>
                              <a:srgbClr val="FF000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</a:t>
                          </a:r>
                          <a:endParaRPr lang="en-GB" sz="1800" kern="1200" dirty="0">
                            <a:solidFill>
                              <a:srgbClr val="FF000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122158048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GB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 </a:t>
                          </a:r>
                          <a:endParaRPr lang="en-GB"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2274889156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GB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</a:t>
                          </a:r>
                          <a:endParaRPr lang="en-GB"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 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1786609346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F02DB817-D665-0205-C6AF-7AD25893EB29}"/>
              </a:ext>
            </a:extLst>
          </p:cNvPr>
          <p:cNvGrpSpPr/>
          <p:nvPr/>
        </p:nvGrpSpPr>
        <p:grpSpPr>
          <a:xfrm>
            <a:off x="3350902" y="1915828"/>
            <a:ext cx="373792" cy="530105"/>
            <a:chOff x="2376137" y="2245847"/>
            <a:chExt cx="308919" cy="48191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79AE72B-9613-21A2-7827-A8DBC0897983}"/>
                </a:ext>
              </a:extLst>
            </p:cNvPr>
            <p:cNvSpPr/>
            <p:nvPr/>
          </p:nvSpPr>
          <p:spPr>
            <a:xfrm>
              <a:off x="2376137" y="2245847"/>
              <a:ext cx="308919" cy="4819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65DC5ED-696B-6902-2479-E88A9BDC0443}"/>
                </a:ext>
              </a:extLst>
            </p:cNvPr>
            <p:cNvCxnSpPr>
              <a:cxnSpLocks/>
            </p:cNvCxnSpPr>
            <p:nvPr/>
          </p:nvCxnSpPr>
          <p:spPr>
            <a:xfrm>
              <a:off x="2521453" y="2245847"/>
              <a:ext cx="0" cy="48191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6B7A734-1C9F-B0CE-187D-86478231890D}"/>
              </a:ext>
            </a:extLst>
          </p:cNvPr>
          <p:cNvGrpSpPr/>
          <p:nvPr/>
        </p:nvGrpSpPr>
        <p:grpSpPr>
          <a:xfrm>
            <a:off x="6023219" y="2038632"/>
            <a:ext cx="373792" cy="530105"/>
            <a:chOff x="2376137" y="2245847"/>
            <a:chExt cx="308919" cy="481914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5E60F77-33CF-E149-5E84-2F3181E03B7D}"/>
                </a:ext>
              </a:extLst>
            </p:cNvPr>
            <p:cNvSpPr/>
            <p:nvPr/>
          </p:nvSpPr>
          <p:spPr>
            <a:xfrm>
              <a:off x="2376137" y="2245847"/>
              <a:ext cx="308919" cy="4819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8924761-BC3F-C478-F689-02A34E329CB7}"/>
                </a:ext>
              </a:extLst>
            </p:cNvPr>
            <p:cNvCxnSpPr>
              <a:cxnSpLocks/>
            </p:cNvCxnSpPr>
            <p:nvPr/>
          </p:nvCxnSpPr>
          <p:spPr>
            <a:xfrm>
              <a:off x="2521453" y="2245847"/>
              <a:ext cx="0" cy="48191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7607DBB-BAFD-66C5-2661-E7DC6EFFE581}"/>
              </a:ext>
            </a:extLst>
          </p:cNvPr>
          <p:cNvGrpSpPr/>
          <p:nvPr/>
        </p:nvGrpSpPr>
        <p:grpSpPr>
          <a:xfrm>
            <a:off x="4687061" y="1192242"/>
            <a:ext cx="373792" cy="530105"/>
            <a:chOff x="2376137" y="2245847"/>
            <a:chExt cx="308919" cy="48191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CA59C20-D508-E483-00E4-F635A870BEC9}"/>
                </a:ext>
              </a:extLst>
            </p:cNvPr>
            <p:cNvSpPr/>
            <p:nvPr/>
          </p:nvSpPr>
          <p:spPr>
            <a:xfrm>
              <a:off x="2376137" y="2245847"/>
              <a:ext cx="308919" cy="4819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4EEEDCA-32E4-E25E-1D6F-2C4D78CEEF27}"/>
                </a:ext>
              </a:extLst>
            </p:cNvPr>
            <p:cNvCxnSpPr>
              <a:cxnSpLocks/>
            </p:cNvCxnSpPr>
            <p:nvPr/>
          </p:nvCxnSpPr>
          <p:spPr>
            <a:xfrm>
              <a:off x="2521453" y="2245847"/>
              <a:ext cx="0" cy="48191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DAD4D47-8A3A-38B4-2451-DD9F12F82250}"/>
                  </a:ext>
                </a:extLst>
              </p:cNvPr>
              <p:cNvSpPr txBox="1"/>
              <p:nvPr/>
            </p:nvSpPr>
            <p:spPr>
              <a:xfrm>
                <a:off x="3948678" y="3096138"/>
                <a:ext cx="453214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DAD4D47-8A3A-38B4-2451-DD9F12F822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8678" y="3096138"/>
                <a:ext cx="453214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AC458E1-26A8-9412-EBE1-1BEF35623F1F}"/>
                  </a:ext>
                </a:extLst>
              </p:cNvPr>
              <p:cNvSpPr txBox="1"/>
              <p:nvPr/>
            </p:nvSpPr>
            <p:spPr>
              <a:xfrm>
                <a:off x="6652892" y="3129519"/>
                <a:ext cx="453214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AC458E1-26A8-9412-EBE1-1BEF35623F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2892" y="3129519"/>
                <a:ext cx="453214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8FCAAAD-1234-C204-20A0-F0F206FE1A68}"/>
                  </a:ext>
                </a:extLst>
              </p:cNvPr>
              <p:cNvSpPr txBox="1"/>
              <p:nvPr/>
            </p:nvSpPr>
            <p:spPr>
              <a:xfrm>
                <a:off x="5300785" y="3129519"/>
                <a:ext cx="453214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GB" sz="1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sub>
                      </m:sSub>
                    </m:oMath>
                  </m:oMathPara>
                </a14:m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8FCAAAD-1234-C204-20A0-F0F206FE1A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0785" y="3129519"/>
                <a:ext cx="453214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8" name="Table 27">
                <a:extLst>
                  <a:ext uri="{FF2B5EF4-FFF2-40B4-BE49-F238E27FC236}">
                    <a16:creationId xmlns:a16="http://schemas.microsoft.com/office/drawing/2014/main" id="{3C4A3790-90DB-2759-5227-599E13F7421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95713300"/>
                  </p:ext>
                </p:extLst>
              </p:nvPr>
            </p:nvGraphicFramePr>
            <p:xfrm>
              <a:off x="5463583" y="3669910"/>
              <a:ext cx="2966056" cy="28690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97446">
                      <a:extLst>
                        <a:ext uri="{9D8B030D-6E8A-4147-A177-3AD203B41FA5}">
                          <a16:colId xmlns:a16="http://schemas.microsoft.com/office/drawing/2014/main" val="441363178"/>
                        </a:ext>
                      </a:extLst>
                    </a:gridCol>
                    <a:gridCol w="934305">
                      <a:extLst>
                        <a:ext uri="{9D8B030D-6E8A-4147-A177-3AD203B41FA5}">
                          <a16:colId xmlns:a16="http://schemas.microsoft.com/office/drawing/2014/main" val="2031804365"/>
                        </a:ext>
                      </a:extLst>
                    </a:gridCol>
                    <a:gridCol w="934305">
                      <a:extLst>
                        <a:ext uri="{9D8B030D-6E8A-4147-A177-3AD203B41FA5}">
                          <a16:colId xmlns:a16="http://schemas.microsoft.com/office/drawing/2014/main" val="1064455656"/>
                        </a:ext>
                      </a:extLst>
                    </a:gridCol>
                  </a:tblGrid>
                  <a:tr h="409867"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𝑨𝑩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sz="1200">
                            <a:effectLst/>
                            <a:latin typeface="Times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𝑩𝑪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sz="1200">
                            <a:effectLst/>
                            <a:latin typeface="Times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𝑪𝑨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sz="1200" dirty="0">
                            <a:effectLst/>
                            <a:latin typeface="Times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192953803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800" b="1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800" b="1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1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    </a:t>
                          </a:r>
                          <a:r>
                            <a:rPr lang="en-GB" sz="1800" b="1" i="0" kern="1200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0587647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800" b="1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 </a:t>
                          </a:r>
                          <a:r>
                            <a:rPr lang="en-GB" sz="1800" b="1" i="0" kern="1200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800" b="1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1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00209062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800" b="1" i="0" kern="1200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800" b="1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800" b="1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1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63386025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GB" sz="18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GB" sz="18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𝑫𝑪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GB" sz="18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800" b="1" i="0" kern="120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</a:t>
                          </a:r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3750960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80786983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4308414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8" name="Table 27">
                <a:extLst>
                  <a:ext uri="{FF2B5EF4-FFF2-40B4-BE49-F238E27FC236}">
                    <a16:creationId xmlns:a16="http://schemas.microsoft.com/office/drawing/2014/main" id="{3C4A3790-90DB-2759-5227-599E13F7421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95713300"/>
                  </p:ext>
                </p:extLst>
              </p:nvPr>
            </p:nvGraphicFramePr>
            <p:xfrm>
              <a:off x="5463583" y="3669910"/>
              <a:ext cx="2966056" cy="28690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97446">
                      <a:extLst>
                        <a:ext uri="{9D8B030D-6E8A-4147-A177-3AD203B41FA5}">
                          <a16:colId xmlns:a16="http://schemas.microsoft.com/office/drawing/2014/main" val="441363178"/>
                        </a:ext>
                      </a:extLst>
                    </a:gridCol>
                    <a:gridCol w="934305">
                      <a:extLst>
                        <a:ext uri="{9D8B030D-6E8A-4147-A177-3AD203B41FA5}">
                          <a16:colId xmlns:a16="http://schemas.microsoft.com/office/drawing/2014/main" val="2031804365"/>
                        </a:ext>
                      </a:extLst>
                    </a:gridCol>
                    <a:gridCol w="934305">
                      <a:extLst>
                        <a:ext uri="{9D8B030D-6E8A-4147-A177-3AD203B41FA5}">
                          <a16:colId xmlns:a16="http://schemas.microsoft.com/office/drawing/2014/main" val="1064455656"/>
                        </a:ext>
                      </a:extLst>
                    </a:gridCol>
                  </a:tblGrid>
                  <a:tr h="409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68580" marT="0" marB="0" anchor="ctr">
                        <a:blipFill>
                          <a:blip r:embed="rId9"/>
                          <a:stretch>
                            <a:fillRect l="-556" t="-2985" r="-172778" b="-6059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68580" marT="0" marB="0" anchor="ctr">
                        <a:blipFill>
                          <a:blip r:embed="rId9"/>
                          <a:stretch>
                            <a:fillRect l="-117532" t="-2985" r="-101948" b="-6059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68580" marT="0" marB="0" anchor="ctr">
                        <a:blipFill>
                          <a:blip r:embed="rId9"/>
                          <a:stretch>
                            <a:fillRect l="-218954" t="-2985" r="-2614" b="-6059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2953803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556" t="-101471" r="-172778" b="-4970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117532" t="-101471" r="-101948" b="-4970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    </a:t>
                          </a:r>
                          <a:r>
                            <a:rPr lang="en-GB" sz="1800" b="1" i="0" kern="1200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0587647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556" t="-204478" r="-172778" b="-4044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 </a:t>
                          </a:r>
                          <a:r>
                            <a:rPr lang="en-GB" sz="1800" b="1" i="0" kern="1200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218954" t="-204478" r="-2614" b="-4044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209062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800" b="1" i="0" kern="1200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117532" t="-304478" r="-101948" b="-3044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218954" t="-304478" r="-2614" b="-3044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63386025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556" t="-404478" r="-172778" b="-2044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117532" t="-404478" r="-101948" b="-2044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800" b="1" i="0" kern="120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</a:t>
                          </a:r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3750960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80786983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4308414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15554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08938CB5-194C-DAEB-E445-E914EC16448F}"/>
              </a:ext>
            </a:extLst>
          </p:cNvPr>
          <p:cNvGrpSpPr/>
          <p:nvPr/>
        </p:nvGrpSpPr>
        <p:grpSpPr>
          <a:xfrm>
            <a:off x="1777975" y="701880"/>
            <a:ext cx="5277098" cy="2724516"/>
            <a:chOff x="1777975" y="701880"/>
            <a:chExt cx="5277098" cy="272451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98CC806-D38C-71BB-268E-22D4933733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77975" y="701880"/>
              <a:ext cx="5277098" cy="2724516"/>
            </a:xfrm>
            <a:prstGeom prst="rect">
              <a:avLst/>
            </a:prstGeom>
            <a:scene3d>
              <a:camera prst="orthographicFront">
                <a:rot lat="0" lon="0" rev="21576000"/>
              </a:camera>
              <a:lightRig rig="threePt" dir="t"/>
            </a:scene3d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803EE49E-406D-EE94-6EDF-BABD9C065F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41113" y="1253343"/>
              <a:ext cx="297453" cy="451518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FDB42CED-0A72-A354-8F7B-0528B7F5B2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44786" y="2064138"/>
              <a:ext cx="297453" cy="451518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3CDAB49-4E83-D5C9-EF6D-0F2CE1E68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284" y="63131"/>
            <a:ext cx="7886700" cy="721053"/>
          </a:xfrm>
        </p:spPr>
        <p:txBody>
          <a:bodyPr/>
          <a:lstStyle/>
          <a:p>
            <a:r>
              <a:rPr lang="en-US" dirty="0"/>
              <a:t>Operation – Square Wave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7">
                <a:extLst>
                  <a:ext uri="{FF2B5EF4-FFF2-40B4-BE49-F238E27FC236}">
                    <a16:creationId xmlns:a16="http://schemas.microsoft.com/office/drawing/2014/main" id="{64080A4E-81D6-937A-CCC9-015DB7EB0D6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34946150"/>
                  </p:ext>
                </p:extLst>
              </p:nvPr>
            </p:nvGraphicFramePr>
            <p:xfrm>
              <a:off x="199746" y="3708458"/>
              <a:ext cx="4580972" cy="28690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34305">
                      <a:extLst>
                        <a:ext uri="{9D8B030D-6E8A-4147-A177-3AD203B41FA5}">
                          <a16:colId xmlns:a16="http://schemas.microsoft.com/office/drawing/2014/main" val="3390288556"/>
                        </a:ext>
                      </a:extLst>
                    </a:gridCol>
                    <a:gridCol w="1156016">
                      <a:extLst>
                        <a:ext uri="{9D8B030D-6E8A-4147-A177-3AD203B41FA5}">
                          <a16:colId xmlns:a16="http://schemas.microsoft.com/office/drawing/2014/main" val="174814911"/>
                        </a:ext>
                      </a:extLst>
                    </a:gridCol>
                    <a:gridCol w="1333246">
                      <a:extLst>
                        <a:ext uri="{9D8B030D-6E8A-4147-A177-3AD203B41FA5}">
                          <a16:colId xmlns:a16="http://schemas.microsoft.com/office/drawing/2014/main" val="194596394"/>
                        </a:ext>
                      </a:extLst>
                    </a:gridCol>
                    <a:gridCol w="1157405">
                      <a:extLst>
                        <a:ext uri="{9D8B030D-6E8A-4147-A177-3AD203B41FA5}">
                          <a16:colId xmlns:a16="http://schemas.microsoft.com/office/drawing/2014/main" val="612083071"/>
                        </a:ext>
                      </a:extLst>
                    </a:gridCol>
                  </a:tblGrid>
                  <a:tr h="409867"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GB" sz="1200" dirty="0">
                              <a:effectLst/>
                              <a:latin typeface="Times" panose="020206030504050203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Seq. # </a:t>
                          </a:r>
                        </a:p>
                      </a:txBody>
                      <a:tcPr marL="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𝑨</m:t>
                                    </m:r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sz="1200" dirty="0">
                            <a:effectLst/>
                            <a:latin typeface="Times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𝑩</m:t>
                                    </m:r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sz="1200">
                            <a:effectLst/>
                            <a:latin typeface="Times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𝑪</m:t>
                                    </m:r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sz="1200">
                            <a:effectLst/>
                            <a:latin typeface="Times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721060236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GB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3677508713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GB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860730528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GB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1564613377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GB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 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 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122158048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GB" sz="1800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 </a:t>
                          </a:r>
                          <a:endParaRPr lang="en-GB" sz="1800" kern="1200" dirty="0">
                            <a:solidFill>
                              <a:srgbClr val="FF000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rgbClr val="FF000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rgbClr val="FF000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2274889156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GB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</a:t>
                          </a:r>
                          <a:endParaRPr lang="en-GB"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 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178660934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7">
                <a:extLst>
                  <a:ext uri="{FF2B5EF4-FFF2-40B4-BE49-F238E27FC236}">
                    <a16:creationId xmlns:a16="http://schemas.microsoft.com/office/drawing/2014/main" id="{64080A4E-81D6-937A-CCC9-015DB7EB0D6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34946150"/>
                  </p:ext>
                </p:extLst>
              </p:nvPr>
            </p:nvGraphicFramePr>
            <p:xfrm>
              <a:off x="199746" y="3708458"/>
              <a:ext cx="4580972" cy="28690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34305">
                      <a:extLst>
                        <a:ext uri="{9D8B030D-6E8A-4147-A177-3AD203B41FA5}">
                          <a16:colId xmlns:a16="http://schemas.microsoft.com/office/drawing/2014/main" val="3390288556"/>
                        </a:ext>
                      </a:extLst>
                    </a:gridCol>
                    <a:gridCol w="1156016">
                      <a:extLst>
                        <a:ext uri="{9D8B030D-6E8A-4147-A177-3AD203B41FA5}">
                          <a16:colId xmlns:a16="http://schemas.microsoft.com/office/drawing/2014/main" val="174814911"/>
                        </a:ext>
                      </a:extLst>
                    </a:gridCol>
                    <a:gridCol w="1333246">
                      <a:extLst>
                        <a:ext uri="{9D8B030D-6E8A-4147-A177-3AD203B41FA5}">
                          <a16:colId xmlns:a16="http://schemas.microsoft.com/office/drawing/2014/main" val="194596394"/>
                        </a:ext>
                      </a:extLst>
                    </a:gridCol>
                    <a:gridCol w="1157405">
                      <a:extLst>
                        <a:ext uri="{9D8B030D-6E8A-4147-A177-3AD203B41FA5}">
                          <a16:colId xmlns:a16="http://schemas.microsoft.com/office/drawing/2014/main" val="612083071"/>
                        </a:ext>
                      </a:extLst>
                    </a:gridCol>
                  </a:tblGrid>
                  <a:tr h="409867"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GB" sz="1200" dirty="0">
                              <a:effectLst/>
                              <a:latin typeface="Times" panose="020206030504050203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Seq. # </a:t>
                          </a:r>
                        </a:p>
                      </a:txBody>
                      <a:tcPr marL="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68580" marT="0" marB="0" anchor="ctr">
                        <a:blipFill>
                          <a:blip r:embed="rId5"/>
                          <a:stretch>
                            <a:fillRect l="-81579" t="-1493" r="-217368" b="-6164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68580" marT="0" marB="0" anchor="ctr">
                        <a:blipFill>
                          <a:blip r:embed="rId5"/>
                          <a:stretch>
                            <a:fillRect l="-157534" t="-1493" r="-88584" b="-6164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68580" marT="0" marB="0" anchor="ctr">
                        <a:blipFill>
                          <a:blip r:embed="rId5"/>
                          <a:stretch>
                            <a:fillRect l="-296842" t="-1493" r="-2105" b="-6164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60236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GB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3677508713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GB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860730528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GB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1564613377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GB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 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 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122158048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GB" sz="1800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 </a:t>
                          </a:r>
                          <a:endParaRPr lang="en-GB" sz="1800" kern="1200" dirty="0">
                            <a:solidFill>
                              <a:srgbClr val="FF000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rgbClr val="FF000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rgbClr val="FF000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2274889156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GB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</a:t>
                          </a:r>
                          <a:endParaRPr lang="en-GB"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 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1786609346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F02DB817-D665-0205-C6AF-7AD25893EB29}"/>
              </a:ext>
            </a:extLst>
          </p:cNvPr>
          <p:cNvGrpSpPr/>
          <p:nvPr/>
        </p:nvGrpSpPr>
        <p:grpSpPr>
          <a:xfrm>
            <a:off x="3350902" y="1915828"/>
            <a:ext cx="373792" cy="530105"/>
            <a:chOff x="2376137" y="2245847"/>
            <a:chExt cx="308919" cy="48191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79AE72B-9613-21A2-7827-A8DBC0897983}"/>
                </a:ext>
              </a:extLst>
            </p:cNvPr>
            <p:cNvSpPr/>
            <p:nvPr/>
          </p:nvSpPr>
          <p:spPr>
            <a:xfrm>
              <a:off x="2376137" y="2245847"/>
              <a:ext cx="308919" cy="4819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65DC5ED-696B-6902-2479-E88A9BDC0443}"/>
                </a:ext>
              </a:extLst>
            </p:cNvPr>
            <p:cNvCxnSpPr>
              <a:cxnSpLocks/>
            </p:cNvCxnSpPr>
            <p:nvPr/>
          </p:nvCxnSpPr>
          <p:spPr>
            <a:xfrm>
              <a:off x="2521453" y="2245847"/>
              <a:ext cx="0" cy="48191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6B7A734-1C9F-B0CE-187D-86478231890D}"/>
              </a:ext>
            </a:extLst>
          </p:cNvPr>
          <p:cNvGrpSpPr/>
          <p:nvPr/>
        </p:nvGrpSpPr>
        <p:grpSpPr>
          <a:xfrm>
            <a:off x="6023219" y="1241157"/>
            <a:ext cx="373792" cy="530105"/>
            <a:chOff x="2376137" y="2245847"/>
            <a:chExt cx="308919" cy="481914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5E60F77-33CF-E149-5E84-2F3181E03B7D}"/>
                </a:ext>
              </a:extLst>
            </p:cNvPr>
            <p:cNvSpPr/>
            <p:nvPr/>
          </p:nvSpPr>
          <p:spPr>
            <a:xfrm>
              <a:off x="2376137" y="2245847"/>
              <a:ext cx="308919" cy="4819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8924761-BC3F-C478-F689-02A34E329CB7}"/>
                </a:ext>
              </a:extLst>
            </p:cNvPr>
            <p:cNvCxnSpPr>
              <a:cxnSpLocks/>
            </p:cNvCxnSpPr>
            <p:nvPr/>
          </p:nvCxnSpPr>
          <p:spPr>
            <a:xfrm>
              <a:off x="2521453" y="2245847"/>
              <a:ext cx="0" cy="48191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7607DBB-BAFD-66C5-2661-E7DC6EFFE581}"/>
              </a:ext>
            </a:extLst>
          </p:cNvPr>
          <p:cNvGrpSpPr/>
          <p:nvPr/>
        </p:nvGrpSpPr>
        <p:grpSpPr>
          <a:xfrm>
            <a:off x="4687061" y="1192242"/>
            <a:ext cx="373792" cy="530105"/>
            <a:chOff x="2376137" y="2245847"/>
            <a:chExt cx="308919" cy="48191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CA59C20-D508-E483-00E4-F635A870BEC9}"/>
                </a:ext>
              </a:extLst>
            </p:cNvPr>
            <p:cNvSpPr/>
            <p:nvPr/>
          </p:nvSpPr>
          <p:spPr>
            <a:xfrm>
              <a:off x="2376137" y="2245847"/>
              <a:ext cx="308919" cy="4819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4EEEDCA-32E4-E25E-1D6F-2C4D78CEEF27}"/>
                </a:ext>
              </a:extLst>
            </p:cNvPr>
            <p:cNvCxnSpPr>
              <a:cxnSpLocks/>
            </p:cNvCxnSpPr>
            <p:nvPr/>
          </p:nvCxnSpPr>
          <p:spPr>
            <a:xfrm>
              <a:off x="2521453" y="2245847"/>
              <a:ext cx="0" cy="48191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DAD4D47-8A3A-38B4-2451-DD9F12F82250}"/>
                  </a:ext>
                </a:extLst>
              </p:cNvPr>
              <p:cNvSpPr txBox="1"/>
              <p:nvPr/>
            </p:nvSpPr>
            <p:spPr>
              <a:xfrm>
                <a:off x="3948678" y="3128037"/>
                <a:ext cx="453214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DAD4D47-8A3A-38B4-2451-DD9F12F822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8678" y="3128037"/>
                <a:ext cx="453214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AC458E1-26A8-9412-EBE1-1BEF35623F1F}"/>
                  </a:ext>
                </a:extLst>
              </p:cNvPr>
              <p:cNvSpPr txBox="1"/>
              <p:nvPr/>
            </p:nvSpPr>
            <p:spPr>
              <a:xfrm>
                <a:off x="6652892" y="3161418"/>
                <a:ext cx="453214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GB" sz="1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sub>
                      </m:sSub>
                    </m:oMath>
                  </m:oMathPara>
                </a14:m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AC458E1-26A8-9412-EBE1-1BEF35623F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2892" y="3161418"/>
                <a:ext cx="453214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8FCAAAD-1234-C204-20A0-F0F206FE1A68}"/>
                  </a:ext>
                </a:extLst>
              </p:cNvPr>
              <p:cNvSpPr txBox="1"/>
              <p:nvPr/>
            </p:nvSpPr>
            <p:spPr>
              <a:xfrm>
                <a:off x="5300785" y="3161418"/>
                <a:ext cx="453214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GB" sz="1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sub>
                      </m:sSub>
                    </m:oMath>
                  </m:oMathPara>
                </a14:m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8FCAAAD-1234-C204-20A0-F0F206FE1A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0785" y="3161418"/>
                <a:ext cx="453214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8" name="Table 27">
                <a:extLst>
                  <a:ext uri="{FF2B5EF4-FFF2-40B4-BE49-F238E27FC236}">
                    <a16:creationId xmlns:a16="http://schemas.microsoft.com/office/drawing/2014/main" id="{3C4A3790-90DB-2759-5227-599E13F7421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71637195"/>
                  </p:ext>
                </p:extLst>
              </p:nvPr>
            </p:nvGraphicFramePr>
            <p:xfrm>
              <a:off x="5463583" y="3669910"/>
              <a:ext cx="2966056" cy="28690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97446">
                      <a:extLst>
                        <a:ext uri="{9D8B030D-6E8A-4147-A177-3AD203B41FA5}">
                          <a16:colId xmlns:a16="http://schemas.microsoft.com/office/drawing/2014/main" val="441363178"/>
                        </a:ext>
                      </a:extLst>
                    </a:gridCol>
                    <a:gridCol w="934305">
                      <a:extLst>
                        <a:ext uri="{9D8B030D-6E8A-4147-A177-3AD203B41FA5}">
                          <a16:colId xmlns:a16="http://schemas.microsoft.com/office/drawing/2014/main" val="2031804365"/>
                        </a:ext>
                      </a:extLst>
                    </a:gridCol>
                    <a:gridCol w="934305">
                      <a:extLst>
                        <a:ext uri="{9D8B030D-6E8A-4147-A177-3AD203B41FA5}">
                          <a16:colId xmlns:a16="http://schemas.microsoft.com/office/drawing/2014/main" val="1064455656"/>
                        </a:ext>
                      </a:extLst>
                    </a:gridCol>
                  </a:tblGrid>
                  <a:tr h="409867"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𝑨𝑩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sz="1200">
                            <a:effectLst/>
                            <a:latin typeface="Times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𝑩𝑪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sz="1200">
                            <a:effectLst/>
                            <a:latin typeface="Times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𝑪𝑨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sz="1200" dirty="0">
                            <a:effectLst/>
                            <a:latin typeface="Times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192953803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800" b="1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800" b="1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1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    </a:t>
                          </a:r>
                          <a:r>
                            <a:rPr lang="en-GB" sz="1800" b="1" i="0" kern="1200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0587647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800" b="1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 </a:t>
                          </a:r>
                          <a:r>
                            <a:rPr lang="en-GB" sz="1800" b="1" i="0" kern="1200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800" b="1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1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00209062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800" b="1" i="0" kern="1200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800" b="1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800" b="1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1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63386025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800" b="1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1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800" b="1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800" b="1" i="0" kern="1200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</a:t>
                          </a: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3750960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GB" sz="18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GB" sz="18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800" b="1" i="0" kern="120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</a:t>
                          </a:r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GB" sz="18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80786983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4308414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8" name="Table 27">
                <a:extLst>
                  <a:ext uri="{FF2B5EF4-FFF2-40B4-BE49-F238E27FC236}">
                    <a16:creationId xmlns:a16="http://schemas.microsoft.com/office/drawing/2014/main" id="{3C4A3790-90DB-2759-5227-599E13F7421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71637195"/>
                  </p:ext>
                </p:extLst>
              </p:nvPr>
            </p:nvGraphicFramePr>
            <p:xfrm>
              <a:off x="5463583" y="3669910"/>
              <a:ext cx="2966056" cy="28690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97446">
                      <a:extLst>
                        <a:ext uri="{9D8B030D-6E8A-4147-A177-3AD203B41FA5}">
                          <a16:colId xmlns:a16="http://schemas.microsoft.com/office/drawing/2014/main" val="441363178"/>
                        </a:ext>
                      </a:extLst>
                    </a:gridCol>
                    <a:gridCol w="934305">
                      <a:extLst>
                        <a:ext uri="{9D8B030D-6E8A-4147-A177-3AD203B41FA5}">
                          <a16:colId xmlns:a16="http://schemas.microsoft.com/office/drawing/2014/main" val="2031804365"/>
                        </a:ext>
                      </a:extLst>
                    </a:gridCol>
                    <a:gridCol w="934305">
                      <a:extLst>
                        <a:ext uri="{9D8B030D-6E8A-4147-A177-3AD203B41FA5}">
                          <a16:colId xmlns:a16="http://schemas.microsoft.com/office/drawing/2014/main" val="1064455656"/>
                        </a:ext>
                      </a:extLst>
                    </a:gridCol>
                  </a:tblGrid>
                  <a:tr h="409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68580" marT="0" marB="0" anchor="ctr">
                        <a:blipFill>
                          <a:blip r:embed="rId9"/>
                          <a:stretch>
                            <a:fillRect l="-556" t="-2985" r="-172778" b="-6059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68580" marT="0" marB="0" anchor="ctr">
                        <a:blipFill>
                          <a:blip r:embed="rId9"/>
                          <a:stretch>
                            <a:fillRect l="-117532" t="-2985" r="-101948" b="-6059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68580" marT="0" marB="0" anchor="ctr">
                        <a:blipFill>
                          <a:blip r:embed="rId9"/>
                          <a:stretch>
                            <a:fillRect l="-218954" t="-2985" r="-2614" b="-6059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2953803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556" t="-101471" r="-172778" b="-4970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117532" t="-101471" r="-101948" b="-4970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    </a:t>
                          </a:r>
                          <a:r>
                            <a:rPr lang="en-GB" sz="1800" b="1" i="0" kern="1200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0587647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556" t="-204478" r="-172778" b="-4044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 </a:t>
                          </a:r>
                          <a:r>
                            <a:rPr lang="en-GB" sz="1800" b="1" i="0" kern="1200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218954" t="-204478" r="-2614" b="-4044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209062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800" b="1" i="0" kern="1200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117532" t="-304478" r="-101948" b="-3044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218954" t="-304478" r="-2614" b="-3044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63386025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556" t="-404478" r="-172778" b="-2044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117532" t="-404478" r="-101948" b="-2044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800" b="1" i="0" kern="1200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</a:t>
                          </a: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3750960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556" t="-497059" r="-172778" b="-101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800" b="1" i="0" kern="120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</a:t>
                          </a:r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218954" t="-497059" r="-2614" b="-1014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80786983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4308414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85862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08938CB5-194C-DAEB-E445-E914EC16448F}"/>
              </a:ext>
            </a:extLst>
          </p:cNvPr>
          <p:cNvGrpSpPr/>
          <p:nvPr/>
        </p:nvGrpSpPr>
        <p:grpSpPr>
          <a:xfrm>
            <a:off x="1777975" y="701880"/>
            <a:ext cx="5277098" cy="2724516"/>
            <a:chOff x="1777975" y="701880"/>
            <a:chExt cx="5277098" cy="272451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98CC806-D38C-71BB-268E-22D4933733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77975" y="701880"/>
              <a:ext cx="5277098" cy="2724516"/>
            </a:xfrm>
            <a:prstGeom prst="rect">
              <a:avLst/>
            </a:prstGeom>
            <a:scene3d>
              <a:camera prst="orthographicFront">
                <a:rot lat="0" lon="0" rev="21576000"/>
              </a:camera>
              <a:lightRig rig="threePt" dir="t"/>
            </a:scene3d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803EE49E-406D-EE94-6EDF-BABD9C065F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41113" y="1253343"/>
              <a:ext cx="297453" cy="451518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FDB42CED-0A72-A354-8F7B-0528B7F5B2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44786" y="2064138"/>
              <a:ext cx="297453" cy="451518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3CDAB49-4E83-D5C9-EF6D-0F2CE1E68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284" y="63131"/>
            <a:ext cx="7886700" cy="721053"/>
          </a:xfrm>
        </p:spPr>
        <p:txBody>
          <a:bodyPr/>
          <a:lstStyle/>
          <a:p>
            <a:r>
              <a:rPr lang="en-US" dirty="0"/>
              <a:t>Operation – Square Wave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7">
                <a:extLst>
                  <a:ext uri="{FF2B5EF4-FFF2-40B4-BE49-F238E27FC236}">
                    <a16:creationId xmlns:a16="http://schemas.microsoft.com/office/drawing/2014/main" id="{64080A4E-81D6-937A-CCC9-015DB7EB0D6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43115980"/>
                  </p:ext>
                </p:extLst>
              </p:nvPr>
            </p:nvGraphicFramePr>
            <p:xfrm>
              <a:off x="199746" y="3708458"/>
              <a:ext cx="4580972" cy="28690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34305">
                      <a:extLst>
                        <a:ext uri="{9D8B030D-6E8A-4147-A177-3AD203B41FA5}">
                          <a16:colId xmlns:a16="http://schemas.microsoft.com/office/drawing/2014/main" val="3390288556"/>
                        </a:ext>
                      </a:extLst>
                    </a:gridCol>
                    <a:gridCol w="1156016">
                      <a:extLst>
                        <a:ext uri="{9D8B030D-6E8A-4147-A177-3AD203B41FA5}">
                          <a16:colId xmlns:a16="http://schemas.microsoft.com/office/drawing/2014/main" val="174814911"/>
                        </a:ext>
                      </a:extLst>
                    </a:gridCol>
                    <a:gridCol w="1333246">
                      <a:extLst>
                        <a:ext uri="{9D8B030D-6E8A-4147-A177-3AD203B41FA5}">
                          <a16:colId xmlns:a16="http://schemas.microsoft.com/office/drawing/2014/main" val="194596394"/>
                        </a:ext>
                      </a:extLst>
                    </a:gridCol>
                    <a:gridCol w="1157405">
                      <a:extLst>
                        <a:ext uri="{9D8B030D-6E8A-4147-A177-3AD203B41FA5}">
                          <a16:colId xmlns:a16="http://schemas.microsoft.com/office/drawing/2014/main" val="612083071"/>
                        </a:ext>
                      </a:extLst>
                    </a:gridCol>
                  </a:tblGrid>
                  <a:tr h="409867"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GB" sz="1200" dirty="0">
                              <a:effectLst/>
                              <a:latin typeface="Times" panose="020206030504050203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Seq. # </a:t>
                          </a:r>
                        </a:p>
                      </a:txBody>
                      <a:tcPr marL="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𝑨</m:t>
                                    </m:r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sz="1200" dirty="0">
                            <a:effectLst/>
                            <a:latin typeface="Times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𝑩</m:t>
                                    </m:r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sz="1200">
                            <a:effectLst/>
                            <a:latin typeface="Times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𝑪</m:t>
                                    </m:r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sz="1200">
                            <a:effectLst/>
                            <a:latin typeface="Times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721060236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GB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3677508713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GB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860730528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GB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1564613377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GB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 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 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122158048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GB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 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2274889156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GB" sz="1800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</a:t>
                          </a:r>
                          <a:endParaRPr lang="en-GB" sz="1800" kern="1200">
                            <a:solidFill>
                              <a:srgbClr val="FF000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 </a:t>
                          </a:r>
                          <a:endParaRPr lang="en-GB" sz="1800" kern="1200" dirty="0">
                            <a:solidFill>
                              <a:srgbClr val="FF000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rgbClr val="FF000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178660934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7">
                <a:extLst>
                  <a:ext uri="{FF2B5EF4-FFF2-40B4-BE49-F238E27FC236}">
                    <a16:creationId xmlns:a16="http://schemas.microsoft.com/office/drawing/2014/main" id="{64080A4E-81D6-937A-CCC9-015DB7EB0D6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43115980"/>
                  </p:ext>
                </p:extLst>
              </p:nvPr>
            </p:nvGraphicFramePr>
            <p:xfrm>
              <a:off x="199746" y="3708458"/>
              <a:ext cx="4580972" cy="28690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34305">
                      <a:extLst>
                        <a:ext uri="{9D8B030D-6E8A-4147-A177-3AD203B41FA5}">
                          <a16:colId xmlns:a16="http://schemas.microsoft.com/office/drawing/2014/main" val="3390288556"/>
                        </a:ext>
                      </a:extLst>
                    </a:gridCol>
                    <a:gridCol w="1156016">
                      <a:extLst>
                        <a:ext uri="{9D8B030D-6E8A-4147-A177-3AD203B41FA5}">
                          <a16:colId xmlns:a16="http://schemas.microsoft.com/office/drawing/2014/main" val="174814911"/>
                        </a:ext>
                      </a:extLst>
                    </a:gridCol>
                    <a:gridCol w="1333246">
                      <a:extLst>
                        <a:ext uri="{9D8B030D-6E8A-4147-A177-3AD203B41FA5}">
                          <a16:colId xmlns:a16="http://schemas.microsoft.com/office/drawing/2014/main" val="194596394"/>
                        </a:ext>
                      </a:extLst>
                    </a:gridCol>
                    <a:gridCol w="1157405">
                      <a:extLst>
                        <a:ext uri="{9D8B030D-6E8A-4147-A177-3AD203B41FA5}">
                          <a16:colId xmlns:a16="http://schemas.microsoft.com/office/drawing/2014/main" val="612083071"/>
                        </a:ext>
                      </a:extLst>
                    </a:gridCol>
                  </a:tblGrid>
                  <a:tr h="409867"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GB" sz="1200" dirty="0">
                              <a:effectLst/>
                              <a:latin typeface="Times" panose="020206030504050203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Seq. # </a:t>
                          </a:r>
                        </a:p>
                      </a:txBody>
                      <a:tcPr marL="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68580" marT="0" marB="0" anchor="ctr">
                        <a:blipFill>
                          <a:blip r:embed="rId5"/>
                          <a:stretch>
                            <a:fillRect l="-81579" t="-1493" r="-217368" b="-6089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68580" marT="0" marB="0" anchor="ctr">
                        <a:blipFill>
                          <a:blip r:embed="rId5"/>
                          <a:stretch>
                            <a:fillRect l="-157534" t="-1493" r="-88584" b="-6089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68580" marT="0" marB="0" anchor="ctr">
                        <a:blipFill>
                          <a:blip r:embed="rId5"/>
                          <a:stretch>
                            <a:fillRect l="-296842" t="-1493" r="-2105" b="-6089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60236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GB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3677508713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GB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860730528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GB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1564613377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GB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 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 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122158048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GB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 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2274889156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GB" sz="1800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</a:t>
                          </a:r>
                          <a:endParaRPr lang="en-GB" sz="1800" kern="1200">
                            <a:solidFill>
                              <a:srgbClr val="FF000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 </a:t>
                          </a:r>
                          <a:endParaRPr lang="en-GB" sz="1800" kern="1200" dirty="0">
                            <a:solidFill>
                              <a:srgbClr val="FF000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rgbClr val="FF000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1786609346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F02DB817-D665-0205-C6AF-7AD25893EB29}"/>
              </a:ext>
            </a:extLst>
          </p:cNvPr>
          <p:cNvGrpSpPr/>
          <p:nvPr/>
        </p:nvGrpSpPr>
        <p:grpSpPr>
          <a:xfrm>
            <a:off x="3350902" y="1915828"/>
            <a:ext cx="373792" cy="530105"/>
            <a:chOff x="2376137" y="2245847"/>
            <a:chExt cx="308919" cy="48191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79AE72B-9613-21A2-7827-A8DBC0897983}"/>
                </a:ext>
              </a:extLst>
            </p:cNvPr>
            <p:cNvSpPr/>
            <p:nvPr/>
          </p:nvSpPr>
          <p:spPr>
            <a:xfrm>
              <a:off x="2376137" y="2245847"/>
              <a:ext cx="308919" cy="4819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65DC5ED-696B-6902-2479-E88A9BDC0443}"/>
                </a:ext>
              </a:extLst>
            </p:cNvPr>
            <p:cNvCxnSpPr>
              <a:cxnSpLocks/>
            </p:cNvCxnSpPr>
            <p:nvPr/>
          </p:nvCxnSpPr>
          <p:spPr>
            <a:xfrm>
              <a:off x="2521453" y="2245847"/>
              <a:ext cx="0" cy="48191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6B7A734-1C9F-B0CE-187D-86478231890D}"/>
              </a:ext>
            </a:extLst>
          </p:cNvPr>
          <p:cNvGrpSpPr/>
          <p:nvPr/>
        </p:nvGrpSpPr>
        <p:grpSpPr>
          <a:xfrm>
            <a:off x="6023219" y="1241157"/>
            <a:ext cx="373792" cy="530105"/>
            <a:chOff x="2376137" y="2245847"/>
            <a:chExt cx="308919" cy="481914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5E60F77-33CF-E149-5E84-2F3181E03B7D}"/>
                </a:ext>
              </a:extLst>
            </p:cNvPr>
            <p:cNvSpPr/>
            <p:nvPr/>
          </p:nvSpPr>
          <p:spPr>
            <a:xfrm>
              <a:off x="2376137" y="2245847"/>
              <a:ext cx="308919" cy="4819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8924761-BC3F-C478-F689-02A34E329CB7}"/>
                </a:ext>
              </a:extLst>
            </p:cNvPr>
            <p:cNvCxnSpPr>
              <a:cxnSpLocks/>
            </p:cNvCxnSpPr>
            <p:nvPr/>
          </p:nvCxnSpPr>
          <p:spPr>
            <a:xfrm>
              <a:off x="2521453" y="2245847"/>
              <a:ext cx="0" cy="48191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7607DBB-BAFD-66C5-2661-E7DC6EFFE581}"/>
              </a:ext>
            </a:extLst>
          </p:cNvPr>
          <p:cNvGrpSpPr/>
          <p:nvPr/>
        </p:nvGrpSpPr>
        <p:grpSpPr>
          <a:xfrm>
            <a:off x="4687061" y="2021616"/>
            <a:ext cx="373792" cy="530105"/>
            <a:chOff x="2376137" y="2245847"/>
            <a:chExt cx="308919" cy="48191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CA59C20-D508-E483-00E4-F635A870BEC9}"/>
                </a:ext>
              </a:extLst>
            </p:cNvPr>
            <p:cNvSpPr/>
            <p:nvPr/>
          </p:nvSpPr>
          <p:spPr>
            <a:xfrm>
              <a:off x="2376137" y="2245847"/>
              <a:ext cx="308919" cy="4819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4EEEDCA-32E4-E25E-1D6F-2C4D78CEEF27}"/>
                </a:ext>
              </a:extLst>
            </p:cNvPr>
            <p:cNvCxnSpPr>
              <a:cxnSpLocks/>
            </p:cNvCxnSpPr>
            <p:nvPr/>
          </p:nvCxnSpPr>
          <p:spPr>
            <a:xfrm>
              <a:off x="2521453" y="2245847"/>
              <a:ext cx="0" cy="48191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DAD4D47-8A3A-38B4-2451-DD9F12F82250}"/>
                  </a:ext>
                </a:extLst>
              </p:cNvPr>
              <p:cNvSpPr txBox="1"/>
              <p:nvPr/>
            </p:nvSpPr>
            <p:spPr>
              <a:xfrm>
                <a:off x="3969944" y="3106771"/>
                <a:ext cx="453214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DAD4D47-8A3A-38B4-2451-DD9F12F822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9944" y="3106771"/>
                <a:ext cx="453214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AC458E1-26A8-9412-EBE1-1BEF35623F1F}"/>
                  </a:ext>
                </a:extLst>
              </p:cNvPr>
              <p:cNvSpPr txBox="1"/>
              <p:nvPr/>
            </p:nvSpPr>
            <p:spPr>
              <a:xfrm>
                <a:off x="6674158" y="3140152"/>
                <a:ext cx="453214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GB" sz="1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sub>
                      </m:sSub>
                    </m:oMath>
                  </m:oMathPara>
                </a14:m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AC458E1-26A8-9412-EBE1-1BEF35623F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4158" y="3140152"/>
                <a:ext cx="453214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8FCAAAD-1234-C204-20A0-F0F206FE1A68}"/>
                  </a:ext>
                </a:extLst>
              </p:cNvPr>
              <p:cNvSpPr txBox="1"/>
              <p:nvPr/>
            </p:nvSpPr>
            <p:spPr>
              <a:xfrm>
                <a:off x="5322051" y="3140152"/>
                <a:ext cx="453214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8FCAAAD-1234-C204-20A0-F0F206FE1A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2051" y="3140152"/>
                <a:ext cx="453214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8" name="Table 27">
                <a:extLst>
                  <a:ext uri="{FF2B5EF4-FFF2-40B4-BE49-F238E27FC236}">
                    <a16:creationId xmlns:a16="http://schemas.microsoft.com/office/drawing/2014/main" id="{3C4A3790-90DB-2759-5227-599E13F7421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17849908"/>
                  </p:ext>
                </p:extLst>
              </p:nvPr>
            </p:nvGraphicFramePr>
            <p:xfrm>
              <a:off x="5463583" y="3669910"/>
              <a:ext cx="2966056" cy="28690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97446">
                      <a:extLst>
                        <a:ext uri="{9D8B030D-6E8A-4147-A177-3AD203B41FA5}">
                          <a16:colId xmlns:a16="http://schemas.microsoft.com/office/drawing/2014/main" val="441363178"/>
                        </a:ext>
                      </a:extLst>
                    </a:gridCol>
                    <a:gridCol w="934305">
                      <a:extLst>
                        <a:ext uri="{9D8B030D-6E8A-4147-A177-3AD203B41FA5}">
                          <a16:colId xmlns:a16="http://schemas.microsoft.com/office/drawing/2014/main" val="2031804365"/>
                        </a:ext>
                      </a:extLst>
                    </a:gridCol>
                    <a:gridCol w="934305">
                      <a:extLst>
                        <a:ext uri="{9D8B030D-6E8A-4147-A177-3AD203B41FA5}">
                          <a16:colId xmlns:a16="http://schemas.microsoft.com/office/drawing/2014/main" val="1064455656"/>
                        </a:ext>
                      </a:extLst>
                    </a:gridCol>
                  </a:tblGrid>
                  <a:tr h="409867"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𝑨𝑩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sz="1200" dirty="0">
                            <a:effectLst/>
                            <a:latin typeface="Times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𝑩𝑪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sz="1200">
                            <a:effectLst/>
                            <a:latin typeface="Times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𝑪𝑨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sz="1200" dirty="0">
                            <a:effectLst/>
                            <a:latin typeface="Times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192953803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800" b="1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800" b="1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1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    </a:t>
                          </a:r>
                          <a:r>
                            <a:rPr lang="en-GB" sz="1800" b="1" i="0" kern="1200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0587647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800" b="1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 </a:t>
                          </a:r>
                          <a:r>
                            <a:rPr lang="en-GB" sz="1800" b="1" i="0" kern="1200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800" b="1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1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00209062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800" b="1" i="0" kern="1200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800" b="1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800" b="1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1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63386025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800" b="1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1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800" b="1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800" b="1" i="0" kern="1200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</a:t>
                          </a: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3750960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800" b="1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1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800" b="1" i="0" kern="1200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800" b="1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80786983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800" b="1" i="0" kern="120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</a:t>
                          </a:r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GB" sz="18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GB" sz="18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GB" sz="18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4308414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8" name="Table 27">
                <a:extLst>
                  <a:ext uri="{FF2B5EF4-FFF2-40B4-BE49-F238E27FC236}">
                    <a16:creationId xmlns:a16="http://schemas.microsoft.com/office/drawing/2014/main" id="{3C4A3790-90DB-2759-5227-599E13F7421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17849908"/>
                  </p:ext>
                </p:extLst>
              </p:nvPr>
            </p:nvGraphicFramePr>
            <p:xfrm>
              <a:off x="5463583" y="3669910"/>
              <a:ext cx="2966056" cy="28690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97446">
                      <a:extLst>
                        <a:ext uri="{9D8B030D-6E8A-4147-A177-3AD203B41FA5}">
                          <a16:colId xmlns:a16="http://schemas.microsoft.com/office/drawing/2014/main" val="441363178"/>
                        </a:ext>
                      </a:extLst>
                    </a:gridCol>
                    <a:gridCol w="934305">
                      <a:extLst>
                        <a:ext uri="{9D8B030D-6E8A-4147-A177-3AD203B41FA5}">
                          <a16:colId xmlns:a16="http://schemas.microsoft.com/office/drawing/2014/main" val="2031804365"/>
                        </a:ext>
                      </a:extLst>
                    </a:gridCol>
                    <a:gridCol w="934305">
                      <a:extLst>
                        <a:ext uri="{9D8B030D-6E8A-4147-A177-3AD203B41FA5}">
                          <a16:colId xmlns:a16="http://schemas.microsoft.com/office/drawing/2014/main" val="1064455656"/>
                        </a:ext>
                      </a:extLst>
                    </a:gridCol>
                  </a:tblGrid>
                  <a:tr h="409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68580" marT="0" marB="0" anchor="ctr">
                        <a:blipFill>
                          <a:blip r:embed="rId9"/>
                          <a:stretch>
                            <a:fillRect l="-556" t="-2985" r="-172778" b="-6119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68580" marT="0" marB="0" anchor="ctr">
                        <a:blipFill>
                          <a:blip r:embed="rId9"/>
                          <a:stretch>
                            <a:fillRect l="-117532" t="-2985" r="-101948" b="-6119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68580" marT="0" marB="0" anchor="ctr">
                        <a:blipFill>
                          <a:blip r:embed="rId9"/>
                          <a:stretch>
                            <a:fillRect l="-218954" t="-2985" r="-2614" b="-61194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2953803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556" t="-101471" r="-172778" b="-50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117532" t="-101471" r="-101948" b="-50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    </a:t>
                          </a:r>
                          <a:r>
                            <a:rPr lang="en-GB" sz="1800" b="1" i="0" kern="1200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0587647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556" t="-204478" r="-172778" b="-410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 </a:t>
                          </a:r>
                          <a:r>
                            <a:rPr lang="en-GB" sz="1800" b="1" i="0" kern="1200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218954" t="-204478" r="-2614" b="-410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209062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800" b="1" i="0" kern="1200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117532" t="-304478" r="-101948" b="-310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218954" t="-304478" r="-2614" b="-310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63386025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556" t="-404478" r="-172778" b="-210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117532" t="-404478" r="-101948" b="-210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800" b="1" i="0" kern="1200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</a:t>
                          </a: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3750960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556" t="-497059" r="-172778" b="-107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800" b="1" i="0" kern="1200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218954" t="-497059" r="-2614" b="-107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80786983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800" b="1" i="0" kern="120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</a:t>
                          </a:r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117532" t="-605970" r="-101948" b="-89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218954" t="-605970" r="-2614" b="-89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308414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45432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DAB49-4E83-D5C9-EF6D-0F2CE1E68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284" y="63131"/>
            <a:ext cx="7886700" cy="721053"/>
          </a:xfrm>
        </p:spPr>
        <p:txBody>
          <a:bodyPr/>
          <a:lstStyle/>
          <a:p>
            <a:r>
              <a:rPr lang="en-US" dirty="0"/>
              <a:t>Operation – Square Wave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7">
                <a:extLst>
                  <a:ext uri="{FF2B5EF4-FFF2-40B4-BE49-F238E27FC236}">
                    <a16:creationId xmlns:a16="http://schemas.microsoft.com/office/drawing/2014/main" id="{64080A4E-81D6-937A-CCC9-015DB7EB0D6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61738269"/>
                  </p:ext>
                </p:extLst>
              </p:nvPr>
            </p:nvGraphicFramePr>
            <p:xfrm>
              <a:off x="454926" y="763221"/>
              <a:ext cx="4580972" cy="28690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34305">
                      <a:extLst>
                        <a:ext uri="{9D8B030D-6E8A-4147-A177-3AD203B41FA5}">
                          <a16:colId xmlns:a16="http://schemas.microsoft.com/office/drawing/2014/main" val="3390288556"/>
                        </a:ext>
                      </a:extLst>
                    </a:gridCol>
                    <a:gridCol w="1156016">
                      <a:extLst>
                        <a:ext uri="{9D8B030D-6E8A-4147-A177-3AD203B41FA5}">
                          <a16:colId xmlns:a16="http://schemas.microsoft.com/office/drawing/2014/main" val="174814911"/>
                        </a:ext>
                      </a:extLst>
                    </a:gridCol>
                    <a:gridCol w="1333246">
                      <a:extLst>
                        <a:ext uri="{9D8B030D-6E8A-4147-A177-3AD203B41FA5}">
                          <a16:colId xmlns:a16="http://schemas.microsoft.com/office/drawing/2014/main" val="194596394"/>
                        </a:ext>
                      </a:extLst>
                    </a:gridCol>
                    <a:gridCol w="1157405">
                      <a:extLst>
                        <a:ext uri="{9D8B030D-6E8A-4147-A177-3AD203B41FA5}">
                          <a16:colId xmlns:a16="http://schemas.microsoft.com/office/drawing/2014/main" val="612083071"/>
                        </a:ext>
                      </a:extLst>
                    </a:gridCol>
                  </a:tblGrid>
                  <a:tr h="409867"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GB" sz="1200" dirty="0">
                              <a:effectLst/>
                              <a:latin typeface="Times" panose="020206030504050203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Seq. # </a:t>
                          </a:r>
                        </a:p>
                      </a:txBody>
                      <a:tcPr marL="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𝑨</m:t>
                                    </m:r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sz="1200" dirty="0">
                            <a:effectLst/>
                            <a:latin typeface="Times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𝑩</m:t>
                                    </m:r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sz="1200">
                            <a:effectLst/>
                            <a:latin typeface="Times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𝑪</m:t>
                                    </m:r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sz="1200">
                            <a:effectLst/>
                            <a:latin typeface="Times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721060236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GB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3677508713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GB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860730528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GB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1564613377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GB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 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 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122158048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GB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 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2274889156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GB" sz="1800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</a:t>
                          </a:r>
                          <a:endParaRPr lang="en-GB" sz="1800" kern="1200">
                            <a:solidFill>
                              <a:srgbClr val="FF000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 </a:t>
                          </a:r>
                          <a:endParaRPr lang="en-GB" sz="1800" kern="1200" dirty="0">
                            <a:solidFill>
                              <a:srgbClr val="FF000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rgbClr val="FF000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178660934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7">
                <a:extLst>
                  <a:ext uri="{FF2B5EF4-FFF2-40B4-BE49-F238E27FC236}">
                    <a16:creationId xmlns:a16="http://schemas.microsoft.com/office/drawing/2014/main" id="{64080A4E-81D6-937A-CCC9-015DB7EB0D6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61738269"/>
                  </p:ext>
                </p:extLst>
              </p:nvPr>
            </p:nvGraphicFramePr>
            <p:xfrm>
              <a:off x="454926" y="763221"/>
              <a:ext cx="4580972" cy="28690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34305">
                      <a:extLst>
                        <a:ext uri="{9D8B030D-6E8A-4147-A177-3AD203B41FA5}">
                          <a16:colId xmlns:a16="http://schemas.microsoft.com/office/drawing/2014/main" val="3390288556"/>
                        </a:ext>
                      </a:extLst>
                    </a:gridCol>
                    <a:gridCol w="1156016">
                      <a:extLst>
                        <a:ext uri="{9D8B030D-6E8A-4147-A177-3AD203B41FA5}">
                          <a16:colId xmlns:a16="http://schemas.microsoft.com/office/drawing/2014/main" val="174814911"/>
                        </a:ext>
                      </a:extLst>
                    </a:gridCol>
                    <a:gridCol w="1333246">
                      <a:extLst>
                        <a:ext uri="{9D8B030D-6E8A-4147-A177-3AD203B41FA5}">
                          <a16:colId xmlns:a16="http://schemas.microsoft.com/office/drawing/2014/main" val="194596394"/>
                        </a:ext>
                      </a:extLst>
                    </a:gridCol>
                    <a:gridCol w="1157405">
                      <a:extLst>
                        <a:ext uri="{9D8B030D-6E8A-4147-A177-3AD203B41FA5}">
                          <a16:colId xmlns:a16="http://schemas.microsoft.com/office/drawing/2014/main" val="612083071"/>
                        </a:ext>
                      </a:extLst>
                    </a:gridCol>
                  </a:tblGrid>
                  <a:tr h="409867"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GB" sz="1200" dirty="0">
                              <a:effectLst/>
                              <a:latin typeface="Times" panose="020206030504050203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Seq. # </a:t>
                          </a:r>
                        </a:p>
                      </a:txBody>
                      <a:tcPr marL="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68580" marT="0" marB="0" anchor="ctr">
                        <a:blipFill>
                          <a:blip r:embed="rId2"/>
                          <a:stretch>
                            <a:fillRect l="-81579" t="-1493" r="-217368" b="-6089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68580" marT="0" marB="0" anchor="ctr">
                        <a:blipFill>
                          <a:blip r:embed="rId2"/>
                          <a:stretch>
                            <a:fillRect l="-157534" t="-1493" r="-88584" b="-6089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68580" marT="0" marB="0" anchor="ctr">
                        <a:blipFill>
                          <a:blip r:embed="rId2"/>
                          <a:stretch>
                            <a:fillRect l="-296842" t="-1493" r="-2105" b="-6089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60236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GB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3677508713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GB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860730528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GB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1564613377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GB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 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 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122158048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GB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 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2274889156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GB" sz="1800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</a:t>
                          </a:r>
                          <a:endParaRPr lang="en-GB" sz="1800" kern="1200">
                            <a:solidFill>
                              <a:srgbClr val="FF000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Open </a:t>
                          </a:r>
                          <a:endParaRPr lang="en-GB" sz="1800" kern="1200" dirty="0">
                            <a:solidFill>
                              <a:srgbClr val="FF000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tc>
                      <a:txBody>
                        <a:bodyPr/>
                        <a:lstStyle/>
                        <a:p>
                          <a:pPr marL="0" indent="-457200" algn="ctr" defTabSz="914400" rtl="0" eaLnBrk="1" latinLnBrk="0" hangingPunct="1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:r>
                            <a:rPr lang="en-US" sz="1800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Closed</a:t>
                          </a:r>
                          <a:endParaRPr lang="en-GB" sz="1800" kern="1200" dirty="0">
                            <a:solidFill>
                              <a:srgbClr val="FF000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108000" marB="0"/>
                    </a:tc>
                    <a:extLst>
                      <a:ext uri="{0D108BD9-81ED-4DB2-BD59-A6C34878D82A}">
                        <a16:rowId xmlns:a16="http://schemas.microsoft.com/office/drawing/2014/main" val="1786609346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2" name="Picture 31">
            <a:extLst>
              <a:ext uri="{FF2B5EF4-FFF2-40B4-BE49-F238E27FC236}">
                <a16:creationId xmlns:a16="http://schemas.microsoft.com/office/drawing/2014/main" id="{5C408AAB-1403-11FF-FE53-73051315D6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4" y="3902191"/>
            <a:ext cx="4846740" cy="220084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38FE376C-FE43-D4B3-0BE6-FC3BF4D1D15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1193826"/>
                  </p:ext>
                </p:extLst>
              </p:nvPr>
            </p:nvGraphicFramePr>
            <p:xfrm>
              <a:off x="5158928" y="749405"/>
              <a:ext cx="2966056" cy="28690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97446">
                      <a:extLst>
                        <a:ext uri="{9D8B030D-6E8A-4147-A177-3AD203B41FA5}">
                          <a16:colId xmlns:a16="http://schemas.microsoft.com/office/drawing/2014/main" val="441363178"/>
                        </a:ext>
                      </a:extLst>
                    </a:gridCol>
                    <a:gridCol w="934305">
                      <a:extLst>
                        <a:ext uri="{9D8B030D-6E8A-4147-A177-3AD203B41FA5}">
                          <a16:colId xmlns:a16="http://schemas.microsoft.com/office/drawing/2014/main" val="2031804365"/>
                        </a:ext>
                      </a:extLst>
                    </a:gridCol>
                    <a:gridCol w="934305">
                      <a:extLst>
                        <a:ext uri="{9D8B030D-6E8A-4147-A177-3AD203B41FA5}">
                          <a16:colId xmlns:a16="http://schemas.microsoft.com/office/drawing/2014/main" val="1064455656"/>
                        </a:ext>
                      </a:extLst>
                    </a:gridCol>
                  </a:tblGrid>
                  <a:tr h="409867"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𝑨𝑩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sz="1200">
                            <a:effectLst/>
                            <a:latin typeface="Times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𝑩𝑪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sz="1200">
                            <a:effectLst/>
                            <a:latin typeface="Times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914400" indent="-457200" algn="l">
                            <a:lnSpc>
                              <a:spcPts val="1300"/>
                            </a:lnSpc>
                            <a:spcBef>
                              <a:spcPts val="1200"/>
                            </a:spcBef>
                            <a:tabLst>
                              <a:tab pos="5715000" algn="r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sz="1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𝑪𝑨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sz="1200" dirty="0">
                            <a:effectLst/>
                            <a:latin typeface="Times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192953803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800" b="1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800" b="1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1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    </a:t>
                          </a:r>
                          <a:r>
                            <a:rPr lang="en-GB" sz="1800" b="1" i="0" kern="1200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0587647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800" b="1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 </a:t>
                          </a:r>
                          <a:r>
                            <a:rPr lang="en-GB" sz="1800" b="1" i="0" kern="1200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800" b="1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1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00209062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800" b="1" i="0" kern="1200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800" b="1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800" b="1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1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63386025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800" b="1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1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800" b="1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800" b="1" i="0" kern="1200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</a:t>
                          </a: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3750960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800" b="1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1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800" b="1" i="0" kern="1200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800" b="1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80786983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800" b="1" i="0" kern="120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</a:t>
                          </a:r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GB" sz="18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GB" sz="18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GB" sz="18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4308414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38FE376C-FE43-D4B3-0BE6-FC3BF4D1D15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1193826"/>
                  </p:ext>
                </p:extLst>
              </p:nvPr>
            </p:nvGraphicFramePr>
            <p:xfrm>
              <a:off x="5158928" y="749405"/>
              <a:ext cx="2966056" cy="28690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97446">
                      <a:extLst>
                        <a:ext uri="{9D8B030D-6E8A-4147-A177-3AD203B41FA5}">
                          <a16:colId xmlns:a16="http://schemas.microsoft.com/office/drawing/2014/main" val="441363178"/>
                        </a:ext>
                      </a:extLst>
                    </a:gridCol>
                    <a:gridCol w="934305">
                      <a:extLst>
                        <a:ext uri="{9D8B030D-6E8A-4147-A177-3AD203B41FA5}">
                          <a16:colId xmlns:a16="http://schemas.microsoft.com/office/drawing/2014/main" val="2031804365"/>
                        </a:ext>
                      </a:extLst>
                    </a:gridCol>
                    <a:gridCol w="934305">
                      <a:extLst>
                        <a:ext uri="{9D8B030D-6E8A-4147-A177-3AD203B41FA5}">
                          <a16:colId xmlns:a16="http://schemas.microsoft.com/office/drawing/2014/main" val="1064455656"/>
                        </a:ext>
                      </a:extLst>
                    </a:gridCol>
                  </a:tblGrid>
                  <a:tr h="409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68580" marT="0" marB="0" anchor="ctr">
                        <a:blipFill>
                          <a:blip r:embed="rId4"/>
                          <a:stretch>
                            <a:fillRect l="-556" t="-1493" r="-173333" b="-6134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68580" marT="0" marB="0" anchor="ctr">
                        <a:blipFill>
                          <a:blip r:embed="rId4"/>
                          <a:stretch>
                            <a:fillRect l="-117532" t="-1493" r="-102597" b="-6134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68580" marT="0" marB="0" anchor="ctr">
                        <a:blipFill>
                          <a:blip r:embed="rId4"/>
                          <a:stretch>
                            <a:fillRect l="-218954" t="-1493" r="-3268" b="-6134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2953803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56" t="-100000" r="-173333" b="-504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17532" t="-100000" r="-102597" b="-504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    </a:t>
                          </a:r>
                          <a:r>
                            <a:rPr lang="en-GB" sz="1800" b="1" i="0" kern="1200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0587647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56" t="-202985" r="-173333" b="-4119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 </a:t>
                          </a:r>
                          <a:r>
                            <a:rPr lang="en-GB" sz="1800" b="1" i="0" kern="1200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18954" t="-202985" r="-3268" b="-41194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209062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800" b="1" i="0" kern="1200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17532" t="-298529" r="-102597" b="-3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18954" t="-298529" r="-3268" b="-3058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63386025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56" t="-404478" r="-173333" b="-210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17532" t="-404478" r="-102597" b="-210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800" b="1" i="0" kern="1200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</a:t>
                          </a: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3750960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56" t="-497059" r="-173333" b="-107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800" b="1" i="0" kern="1200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18954" t="-497059" r="-3268" b="-107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80786983"/>
                      </a:ext>
                    </a:extLst>
                  </a:tr>
                  <a:tr h="409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800" b="1" i="0" kern="120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</a:t>
                          </a:r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17532" t="-605970" r="-102597" b="-89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18954" t="-605970" r="-3268" b="-89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3084149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5BA1CC55-4A6D-A0F5-2EFE-EA901F211018}"/>
              </a:ext>
            </a:extLst>
          </p:cNvPr>
          <p:cNvGrpSpPr/>
          <p:nvPr/>
        </p:nvGrpSpPr>
        <p:grpSpPr>
          <a:xfrm>
            <a:off x="4770316" y="3640258"/>
            <a:ext cx="4284184" cy="3154611"/>
            <a:chOff x="4770316" y="3640258"/>
            <a:chExt cx="4284184" cy="3154611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DAFB9E0A-5E51-1DBD-FA00-322A16BB6FB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770316" y="3640258"/>
              <a:ext cx="4284184" cy="3154611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DDC8D6FC-7DCB-21CC-7AD9-6A6F08200104}"/>
                    </a:ext>
                  </a:extLst>
                </p:cNvPr>
                <p:cNvSpPr txBox="1"/>
                <p:nvPr/>
              </p:nvSpPr>
              <p:spPr>
                <a:xfrm>
                  <a:off x="8278590" y="3748302"/>
                  <a:ext cx="394063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400" b="1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400" b="1" i="1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GB" sz="1400" b="1" i="1">
                                <a:latin typeface="Cambria Math" panose="02040503050406030204" pitchFamily="18" charset="0"/>
                              </a:rPr>
                              <m:t>𝑫</m:t>
                            </m:r>
                          </m:sub>
                        </m:sSub>
                      </m:oMath>
                    </m:oMathPara>
                  </a14:m>
                  <a:endParaRPr lang="en-GB" sz="1400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DDC8D6FC-7DCB-21CC-7AD9-6A6F082001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78590" y="3748302"/>
                  <a:ext cx="394063" cy="30777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C4FB4B4-B206-D5E4-1352-D2806218C51D}"/>
                    </a:ext>
                  </a:extLst>
                </p:cNvPr>
                <p:cNvSpPr txBox="1"/>
                <p:nvPr/>
              </p:nvSpPr>
              <p:spPr>
                <a:xfrm>
                  <a:off x="7142116" y="4492885"/>
                  <a:ext cx="394063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400" b="1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400" b="1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sz="1400" b="1" i="1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GB" sz="1400" b="1" i="1">
                                <a:latin typeface="Cambria Math" panose="02040503050406030204" pitchFamily="18" charset="0"/>
                              </a:rPr>
                              <m:t>𝑫</m:t>
                            </m:r>
                          </m:sub>
                        </m:sSub>
                      </m:oMath>
                    </m:oMathPara>
                  </a14:m>
                  <a:endParaRPr lang="en-GB" sz="1400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C4FB4B4-B206-D5E4-1352-D2806218C5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2116" y="4492885"/>
                  <a:ext cx="394063" cy="307777"/>
                </a:xfrm>
                <a:prstGeom prst="rect">
                  <a:avLst/>
                </a:prstGeom>
                <a:blipFill>
                  <a:blip r:embed="rId7"/>
                  <a:stretch>
                    <a:fillRect r="-23438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48E8BE33-0CA7-E1E0-E1B9-E0B5312C10CB}"/>
                    </a:ext>
                  </a:extLst>
                </p:cNvPr>
                <p:cNvSpPr txBox="1"/>
                <p:nvPr/>
              </p:nvSpPr>
              <p:spPr>
                <a:xfrm>
                  <a:off x="6748053" y="4673650"/>
                  <a:ext cx="394063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400" b="1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400" b="1" i="1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GB" sz="1400" b="1" i="1">
                                <a:latin typeface="Cambria Math" panose="02040503050406030204" pitchFamily="18" charset="0"/>
                              </a:rPr>
                              <m:t>𝑫</m:t>
                            </m:r>
                          </m:sub>
                        </m:sSub>
                      </m:oMath>
                    </m:oMathPara>
                  </a14:m>
                  <a:endParaRPr lang="en-GB" sz="14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48E8BE33-0CA7-E1E0-E1B9-E0B5312C10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48053" y="4673650"/>
                  <a:ext cx="394063" cy="30777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9E227057-406C-452E-ADB2-921ACF0EC9AF}"/>
                    </a:ext>
                  </a:extLst>
                </p:cNvPr>
                <p:cNvSpPr txBox="1"/>
                <p:nvPr/>
              </p:nvSpPr>
              <p:spPr>
                <a:xfrm>
                  <a:off x="5611579" y="5418233"/>
                  <a:ext cx="394063" cy="307777"/>
                </a:xfrm>
                <a:prstGeom prst="rect">
                  <a:avLst/>
                </a:prstGeom>
                <a:solidFill>
                  <a:schemeClr val="bg2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400" b="1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400" b="1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sz="1400" b="1" i="1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GB" sz="1400" b="1" i="1">
                                <a:latin typeface="Cambria Math" panose="02040503050406030204" pitchFamily="18" charset="0"/>
                              </a:rPr>
                              <m:t>𝑫</m:t>
                            </m:r>
                          </m:sub>
                        </m:sSub>
                      </m:oMath>
                    </m:oMathPara>
                  </a14:m>
                  <a:endParaRPr lang="en-GB" sz="14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9E227057-406C-452E-ADB2-921ACF0EC9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1579" y="5418233"/>
                  <a:ext cx="394063" cy="307777"/>
                </a:xfrm>
                <a:prstGeom prst="rect">
                  <a:avLst/>
                </a:prstGeom>
                <a:blipFill>
                  <a:blip r:embed="rId8"/>
                  <a:stretch>
                    <a:fillRect r="-23438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F56BD7C2-C70E-9F2D-034C-8067B4C4330A}"/>
                    </a:ext>
                  </a:extLst>
                </p:cNvPr>
                <p:cNvSpPr txBox="1"/>
                <p:nvPr/>
              </p:nvSpPr>
              <p:spPr>
                <a:xfrm>
                  <a:off x="7536179" y="5719540"/>
                  <a:ext cx="394063" cy="307777"/>
                </a:xfrm>
                <a:prstGeom prst="rect">
                  <a:avLst/>
                </a:prstGeom>
                <a:solidFill>
                  <a:schemeClr val="bg2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400" b="1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400" b="1" i="1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GB" sz="1400" b="1" i="1">
                                <a:latin typeface="Cambria Math" panose="02040503050406030204" pitchFamily="18" charset="0"/>
                              </a:rPr>
                              <m:t>𝑫</m:t>
                            </m:r>
                          </m:sub>
                        </m:sSub>
                      </m:oMath>
                    </m:oMathPara>
                  </a14:m>
                  <a:endParaRPr lang="en-GB" sz="140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F56BD7C2-C70E-9F2D-034C-8067B4C433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36179" y="5719540"/>
                  <a:ext cx="394063" cy="30777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8E670E9D-8019-A2AE-60EE-4AA2BE8CCE01}"/>
                    </a:ext>
                  </a:extLst>
                </p:cNvPr>
                <p:cNvSpPr txBox="1"/>
                <p:nvPr/>
              </p:nvSpPr>
              <p:spPr>
                <a:xfrm>
                  <a:off x="6399705" y="6464123"/>
                  <a:ext cx="394063" cy="307777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400" b="1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400" b="1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sz="1400" b="1" i="1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GB" sz="1400" b="1" i="1">
                                <a:latin typeface="Cambria Math" panose="02040503050406030204" pitchFamily="18" charset="0"/>
                              </a:rPr>
                              <m:t>𝑫</m:t>
                            </m:r>
                          </m:sub>
                        </m:sSub>
                      </m:oMath>
                    </m:oMathPara>
                  </a14:m>
                  <a:endParaRPr lang="en-GB" sz="14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8E670E9D-8019-A2AE-60EE-4AA2BE8CCE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9705" y="6464123"/>
                  <a:ext cx="394063" cy="307777"/>
                </a:xfrm>
                <a:prstGeom prst="rect">
                  <a:avLst/>
                </a:prstGeom>
                <a:blipFill>
                  <a:blip r:embed="rId10"/>
                  <a:stretch>
                    <a:fillRect r="-23438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720943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DAB49-4E83-D5C9-EF6D-0F2CE1E68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741" y="125608"/>
            <a:ext cx="7886700" cy="721053"/>
          </a:xfrm>
        </p:spPr>
        <p:txBody>
          <a:bodyPr/>
          <a:lstStyle/>
          <a:p>
            <a:r>
              <a:rPr lang="en-US" dirty="0"/>
              <a:t>Operation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itle 1">
                <a:extLst>
                  <a:ext uri="{FF2B5EF4-FFF2-40B4-BE49-F238E27FC236}">
                    <a16:creationId xmlns:a16="http://schemas.microsoft.com/office/drawing/2014/main" id="{4100A584-C9BA-C39F-A4D3-ABF895CCF5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008" y="487638"/>
                <a:ext cx="8894251" cy="3831221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457200" indent="-457200">
                  <a:buFontTx/>
                  <a:buChar char="-"/>
                </a:pPr>
                <a:r>
                  <a:rPr lang="en-US" sz="3200" b="1" dirty="0"/>
                  <a:t>Pulse Width Modulation (PWM) Switching</a:t>
                </a:r>
              </a:p>
              <a:p>
                <a:pPr marL="914400" lvl="1" indent="-457200">
                  <a:buFontTx/>
                  <a:buChar char="-"/>
                </a:pPr>
                <a:r>
                  <a:rPr lang="en-US" sz="2400" dirty="0"/>
                  <a:t>Is a type of switching technique.</a:t>
                </a:r>
              </a:p>
              <a:p>
                <a:pPr marL="914400" lvl="1" indent="-457200">
                  <a:buFontTx/>
                  <a:buChar char="-"/>
                </a:pPr>
                <a:r>
                  <a:rPr lang="en-US" sz="2400" dirty="0"/>
                  <a:t>Use two signal types called </a:t>
                </a:r>
                <a:endParaRPr lang="en-GB" sz="2400" b="1" i="1" dirty="0">
                  <a:solidFill>
                    <a:srgbClr val="836967"/>
                  </a:solidFill>
                  <a:latin typeface="Cambria Math" panose="02040503050406030204" pitchFamily="18" charset="0"/>
                </a:endParaRPr>
              </a:p>
              <a:p>
                <a:pPr marL="1371600" lvl="2" indent="-457200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GB" sz="2400" b="1" i="1">
                            <a:latin typeface="Cambria Math" panose="02040503050406030204" pitchFamily="18" charset="0"/>
                          </a:rPr>
                          <m:t>𝒕𝒓𝒊</m:t>
                        </m:r>
                      </m:sub>
                    </m:sSub>
                  </m:oMath>
                </a14:m>
                <a:r>
                  <a:rPr lang="en-US" sz="2400" dirty="0"/>
                  <a:t> (Triangular Signal)</a:t>
                </a:r>
              </a:p>
              <a:p>
                <a:pPr marL="1828800" lvl="3" indent="-457200">
                  <a:buFontTx/>
                  <a:buChar char="-"/>
                </a:pPr>
                <a:r>
                  <a:rPr lang="en-US" sz="2400" dirty="0"/>
                  <a:t>Has frequency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GB" sz="2400" b="1" i="1" smtClean="0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</m:oMath>
                </a14:m>
                <a:r>
                  <a:rPr lang="en-US" sz="2400" dirty="0"/>
                  <a:t> (called switching frequency)</a:t>
                </a:r>
              </a:p>
              <a:p>
                <a:pPr marL="1371600" lvl="2" indent="-457200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GB" sz="2400" b="1" i="1" smtClean="0">
                            <a:latin typeface="Cambria Math" panose="02040503050406030204" pitchFamily="18" charset="0"/>
                          </a:rPr>
                          <m:t>𝒄𝒐𝒏𝒕𝒓𝒐𝒍</m:t>
                        </m:r>
                        <m:r>
                          <a:rPr lang="en-GB" sz="2400" b="1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sz="2400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sub>
                    </m:sSub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1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GB" sz="2400" b="1" i="1">
                            <a:latin typeface="Cambria Math" panose="02040503050406030204" pitchFamily="18" charset="0"/>
                          </a:rPr>
                          <m:t>𝒄𝒐𝒏𝒕𝒓𝒐𝒍</m:t>
                        </m:r>
                        <m:r>
                          <a:rPr lang="en-GB" sz="2400" b="1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sz="2400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sub>
                    </m:sSub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1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GB" sz="2400" b="1" i="1">
                            <a:latin typeface="Cambria Math" panose="02040503050406030204" pitchFamily="18" charset="0"/>
                          </a:rPr>
                          <m:t>𝒄𝒐𝒏𝒕𝒓𝒐𝒍</m:t>
                        </m:r>
                        <m:r>
                          <a:rPr lang="en-GB" sz="2400" b="1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sz="2400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sub>
                    </m:sSub>
                  </m:oMath>
                </a14:m>
                <a:r>
                  <a:rPr lang="en-US" sz="2400" dirty="0"/>
                  <a:t> (Control Signals)</a:t>
                </a:r>
              </a:p>
              <a:p>
                <a:pPr marL="1828800" lvl="3" indent="-457200">
                  <a:buFontTx/>
                  <a:buChar char="-"/>
                </a:pPr>
                <a:r>
                  <a:rPr lang="en-US" sz="2400" dirty="0"/>
                  <a:t>Have frequency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GB" sz="24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400" dirty="0"/>
                  <a:t> (desired fundamental frequency)</a:t>
                </a:r>
              </a:p>
              <a:p>
                <a:pPr marL="1828800" lvl="3" indent="-457200">
                  <a:buFontTx/>
                  <a:buChar char="-"/>
                </a:pPr>
                <a:endParaRPr lang="en-US" sz="2400" dirty="0"/>
              </a:p>
            </p:txBody>
          </p:sp>
        </mc:Choice>
        <mc:Fallback xmlns="">
          <p:sp>
            <p:nvSpPr>
              <p:cNvPr id="17" name="Title 1">
                <a:extLst>
                  <a:ext uri="{FF2B5EF4-FFF2-40B4-BE49-F238E27FC236}">
                    <a16:creationId xmlns:a16="http://schemas.microsoft.com/office/drawing/2014/main" id="{4100A584-C9BA-C39F-A4D3-ABF895CCF5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" y="487638"/>
                <a:ext cx="8894251" cy="3831221"/>
              </a:xfrm>
              <a:prstGeom prst="rect">
                <a:avLst/>
              </a:prstGeom>
              <a:blipFill>
                <a:blip r:embed="rId3"/>
                <a:stretch>
                  <a:fillRect l="-18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8AF3F5EE-A0A2-A87C-81E2-288D28A67B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8577" y="3871311"/>
            <a:ext cx="6295263" cy="2499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2838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1F68C53-E1D2-77BF-694E-28F1BD2286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784" y="1039723"/>
            <a:ext cx="4388892" cy="39081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CDAB49-4E83-D5C9-EF6D-0F2CE1E68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741" y="125608"/>
            <a:ext cx="7886700" cy="721053"/>
          </a:xfrm>
        </p:spPr>
        <p:txBody>
          <a:bodyPr/>
          <a:lstStyle/>
          <a:p>
            <a:r>
              <a:rPr lang="en-US" dirty="0"/>
              <a:t>Operation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4100A584-C9BA-C39F-A4D3-ABF895CCF570}"/>
              </a:ext>
            </a:extLst>
          </p:cNvPr>
          <p:cNvSpPr txBox="1">
            <a:spLocks/>
          </p:cNvSpPr>
          <p:nvPr/>
        </p:nvSpPr>
        <p:spPr>
          <a:xfrm>
            <a:off x="301488" y="550554"/>
            <a:ext cx="8358064" cy="638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Tx/>
              <a:buChar char="-"/>
            </a:pPr>
            <a:r>
              <a:rPr lang="en-US" sz="2800" b="1" dirty="0"/>
              <a:t>Pulse Width Modulation (PWM) Switching</a:t>
            </a:r>
            <a:endParaRPr lang="en-US" sz="20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B55F925-CBDB-42D4-6949-A549CC955527}"/>
              </a:ext>
            </a:extLst>
          </p:cNvPr>
          <p:cNvSpPr/>
          <p:nvPr/>
        </p:nvSpPr>
        <p:spPr>
          <a:xfrm>
            <a:off x="2417961" y="3205465"/>
            <a:ext cx="87778" cy="6297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76AA8D5-A2DC-833E-3D38-CFBA6C7CF96E}"/>
                  </a:ext>
                </a:extLst>
              </p:cNvPr>
              <p:cNvSpPr txBox="1"/>
              <p:nvPr/>
            </p:nvSpPr>
            <p:spPr>
              <a:xfrm>
                <a:off x="911986" y="2045594"/>
                <a:ext cx="1577796" cy="3172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GB" sz="1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𝒄𝒐𝒏𝒕𝒓𝒐𝒍</m:t>
                        </m:r>
                        <m:r>
                          <a:rPr lang="en-GB" sz="1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sz="1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sub>
                    </m:sSub>
                  </m:oMath>
                </a14:m>
                <a:r>
                  <a:rPr lang="en-US" sz="1400" b="1" dirty="0">
                    <a:solidFill>
                      <a:srgbClr val="0070C0"/>
                    </a:solidFill>
                  </a:rPr>
                  <a:t> &gt;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GB" sz="1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𝒕𝒓𝒊</m:t>
                        </m:r>
                      </m:sub>
                    </m:sSub>
                  </m:oMath>
                </a14:m>
                <a:endParaRPr lang="en-US" sz="14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76AA8D5-A2DC-833E-3D38-CFBA6C7CF9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986" y="2045594"/>
                <a:ext cx="1577796" cy="317203"/>
              </a:xfrm>
              <a:prstGeom prst="rect">
                <a:avLst/>
              </a:prstGeom>
              <a:blipFill>
                <a:blip r:embed="rId4"/>
                <a:stretch>
                  <a:fillRect t="-1923" b="-173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ree-form: Shape 4">
            <a:extLst>
              <a:ext uri="{FF2B5EF4-FFF2-40B4-BE49-F238E27FC236}">
                <a16:creationId xmlns:a16="http://schemas.microsoft.com/office/drawing/2014/main" id="{53084C2B-0FE1-6667-C2F1-2CF19FE4926F}"/>
              </a:ext>
            </a:extLst>
          </p:cNvPr>
          <p:cNvSpPr/>
          <p:nvPr/>
        </p:nvSpPr>
        <p:spPr>
          <a:xfrm>
            <a:off x="2384309" y="1952786"/>
            <a:ext cx="120650" cy="762000"/>
          </a:xfrm>
          <a:custGeom>
            <a:avLst/>
            <a:gdLst>
              <a:gd name="connsiteX0" fmla="*/ 0 w 120650"/>
              <a:gd name="connsiteY0" fmla="*/ 95250 h 762000"/>
              <a:gd name="connsiteX1" fmla="*/ 57150 w 120650"/>
              <a:gd name="connsiteY1" fmla="*/ 762000 h 762000"/>
              <a:gd name="connsiteX2" fmla="*/ 120650 w 120650"/>
              <a:gd name="connsiteY2" fmla="*/ 0 h 762000"/>
              <a:gd name="connsiteX3" fmla="*/ 0 w 120650"/>
              <a:gd name="connsiteY3" fmla="*/ 95250 h 76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0650" h="762000">
                <a:moveTo>
                  <a:pt x="0" y="95250"/>
                </a:moveTo>
                <a:lnTo>
                  <a:pt x="57150" y="762000"/>
                </a:lnTo>
                <a:lnTo>
                  <a:pt x="120650" y="0"/>
                </a:lnTo>
                <a:lnTo>
                  <a:pt x="0" y="9525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Free-form: Shape 7">
            <a:extLst>
              <a:ext uri="{FF2B5EF4-FFF2-40B4-BE49-F238E27FC236}">
                <a16:creationId xmlns:a16="http://schemas.microsoft.com/office/drawing/2014/main" id="{2D64777F-ADD4-B3ED-CEFD-F4CC97EA2BEA}"/>
              </a:ext>
            </a:extLst>
          </p:cNvPr>
          <p:cNvSpPr/>
          <p:nvPr/>
        </p:nvSpPr>
        <p:spPr>
          <a:xfrm>
            <a:off x="3496829" y="1952786"/>
            <a:ext cx="120650" cy="762000"/>
          </a:xfrm>
          <a:custGeom>
            <a:avLst/>
            <a:gdLst>
              <a:gd name="connsiteX0" fmla="*/ 0 w 120650"/>
              <a:gd name="connsiteY0" fmla="*/ 95250 h 762000"/>
              <a:gd name="connsiteX1" fmla="*/ 57150 w 120650"/>
              <a:gd name="connsiteY1" fmla="*/ 762000 h 762000"/>
              <a:gd name="connsiteX2" fmla="*/ 120650 w 120650"/>
              <a:gd name="connsiteY2" fmla="*/ 0 h 762000"/>
              <a:gd name="connsiteX3" fmla="*/ 0 w 120650"/>
              <a:gd name="connsiteY3" fmla="*/ 95250 h 76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0650" h="762000">
                <a:moveTo>
                  <a:pt x="0" y="95250"/>
                </a:moveTo>
                <a:lnTo>
                  <a:pt x="57150" y="762000"/>
                </a:lnTo>
                <a:lnTo>
                  <a:pt x="12065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049630-97F2-D56A-8C69-FAA9864D8253}"/>
              </a:ext>
            </a:extLst>
          </p:cNvPr>
          <p:cNvSpPr/>
          <p:nvPr/>
        </p:nvSpPr>
        <p:spPr>
          <a:xfrm>
            <a:off x="3529701" y="4217401"/>
            <a:ext cx="87778" cy="629752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C86B15D-9F23-D54E-DEB5-47CBF6FBC888}"/>
              </a:ext>
            </a:extLst>
          </p:cNvPr>
          <p:cNvSpPr/>
          <p:nvPr/>
        </p:nvSpPr>
        <p:spPr>
          <a:xfrm>
            <a:off x="4129091" y="2714786"/>
            <a:ext cx="378901" cy="2295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5FD5F01-749F-2143-BEDF-C4F66612618E}"/>
                  </a:ext>
                </a:extLst>
              </p:cNvPr>
              <p:cNvSpPr txBox="1"/>
              <p:nvPr/>
            </p:nvSpPr>
            <p:spPr>
              <a:xfrm>
                <a:off x="3573590" y="2691652"/>
                <a:ext cx="1577796" cy="3172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GB" sz="1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𝒄𝒐𝒏𝒕𝒓𝒐𝒍</m:t>
                        </m:r>
                        <m:r>
                          <a:rPr lang="en-GB" sz="1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,   </m:t>
                        </m:r>
                        <m:r>
                          <a:rPr lang="en-GB" sz="1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1400" b="1" dirty="0">
                    <a:solidFill>
                      <a:srgbClr val="7030A0"/>
                    </a:solidFill>
                  </a:rPr>
                  <a:t> &gt;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GB" sz="1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𝒕𝒓𝒊</m:t>
                        </m:r>
                      </m:sub>
                    </m:sSub>
                  </m:oMath>
                </a14:m>
                <a:endParaRPr lang="en-US" sz="1400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5FD5F01-749F-2143-BEDF-C4F6661261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3590" y="2691652"/>
                <a:ext cx="1577796" cy="317203"/>
              </a:xfrm>
              <a:prstGeom prst="rect">
                <a:avLst/>
              </a:prstGeom>
              <a:blipFill>
                <a:blip r:embed="rId5"/>
                <a:stretch>
                  <a:fillRect t="-1923" b="-173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" name="Picture 28">
            <a:extLst>
              <a:ext uri="{FF2B5EF4-FFF2-40B4-BE49-F238E27FC236}">
                <a16:creationId xmlns:a16="http://schemas.microsoft.com/office/drawing/2014/main" id="{DF56C79B-E285-8778-2649-908CA5CA4D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88663" y="4907704"/>
            <a:ext cx="4756014" cy="1649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004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33" grpId="0"/>
      <p:bldP spid="5" grpId="0" animBg="1"/>
      <p:bldP spid="8" grpId="0" animBg="1"/>
      <p:bldP spid="9" grpId="0" animBg="1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13E38B2F-6F9E-47CF-9B5B-EA9E652D06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4240" y="4076108"/>
            <a:ext cx="7011378" cy="26673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CDAB49-4E83-D5C9-EF6D-0F2CE1E68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156" y="44712"/>
            <a:ext cx="7886700" cy="721053"/>
          </a:xfrm>
        </p:spPr>
        <p:txBody>
          <a:bodyPr/>
          <a:lstStyle/>
          <a:p>
            <a:r>
              <a:rPr lang="en-US" dirty="0"/>
              <a:t>Harmonics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4100A584-C9BA-C39F-A4D3-ABF895CCF570}"/>
              </a:ext>
            </a:extLst>
          </p:cNvPr>
          <p:cNvSpPr txBox="1">
            <a:spLocks/>
          </p:cNvSpPr>
          <p:nvPr/>
        </p:nvSpPr>
        <p:spPr>
          <a:xfrm>
            <a:off x="156156" y="619132"/>
            <a:ext cx="8851933" cy="4428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Tx/>
              <a:buChar char="-"/>
            </a:pPr>
            <a:r>
              <a:rPr lang="en-US" sz="2800" b="1" dirty="0"/>
              <a:t>Harmonics in PWM Switching 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0EA6C42-7C39-1B19-701E-ACA806DAAC1D}"/>
              </a:ext>
            </a:extLst>
          </p:cNvPr>
          <p:cNvGrpSpPr/>
          <p:nvPr/>
        </p:nvGrpSpPr>
        <p:grpSpPr>
          <a:xfrm>
            <a:off x="1425680" y="1230251"/>
            <a:ext cx="6258460" cy="2501151"/>
            <a:chOff x="1442770" y="3731402"/>
            <a:chExt cx="6258460" cy="2501151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CAFEB3C-2EA1-C0DC-B247-E5122DA9D96A}"/>
                </a:ext>
              </a:extLst>
            </p:cNvPr>
            <p:cNvGrpSpPr/>
            <p:nvPr/>
          </p:nvGrpSpPr>
          <p:grpSpPr>
            <a:xfrm>
              <a:off x="1442770" y="4077560"/>
              <a:ext cx="6258460" cy="2154993"/>
              <a:chOff x="1389050" y="4577399"/>
              <a:chExt cx="6258460" cy="2154993"/>
            </a:xfrm>
          </p:grpSpPr>
          <p:pic>
            <p:nvPicPr>
              <p:cNvPr id="47" name="Picture 46">
                <a:extLst>
                  <a:ext uri="{FF2B5EF4-FFF2-40B4-BE49-F238E27FC236}">
                    <a16:creationId xmlns:a16="http://schemas.microsoft.com/office/drawing/2014/main" id="{40BA6F01-B280-5C1E-9066-1D90EDD48E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89050" y="4577399"/>
                <a:ext cx="6258460" cy="2154993"/>
              </a:xfrm>
              <a:prstGeom prst="rect">
                <a:avLst/>
              </a:prstGeom>
            </p:spPr>
          </p:pic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A4C5D120-A8D1-2E1F-E9F0-AC50EE0DC13A}"/>
                  </a:ext>
                </a:extLst>
              </p:cNvPr>
              <p:cNvSpPr/>
              <p:nvPr/>
            </p:nvSpPr>
            <p:spPr>
              <a:xfrm>
                <a:off x="4240198" y="5091597"/>
                <a:ext cx="1246202" cy="24796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6897B9F9-A827-C548-C2AC-99F820F9F55F}"/>
                </a:ext>
              </a:extLst>
            </p:cNvPr>
            <p:cNvGrpSpPr/>
            <p:nvPr/>
          </p:nvGrpSpPr>
          <p:grpSpPr>
            <a:xfrm>
              <a:off x="1802097" y="3731402"/>
              <a:ext cx="373395" cy="605325"/>
              <a:chOff x="3789965" y="3501305"/>
              <a:chExt cx="468725" cy="840275"/>
            </a:xfrm>
          </p:grpSpPr>
          <p:pic>
            <p:nvPicPr>
              <p:cNvPr id="44" name="Picture 43">
                <a:extLst>
                  <a:ext uri="{FF2B5EF4-FFF2-40B4-BE49-F238E27FC236}">
                    <a16:creationId xmlns:a16="http://schemas.microsoft.com/office/drawing/2014/main" id="{C79AA9E6-72AE-D780-38A8-7514414737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17978" y="3714810"/>
                <a:ext cx="373395" cy="626770"/>
              </a:xfrm>
              <a:prstGeom prst="rect">
                <a:avLst/>
              </a:prstGeom>
            </p:spPr>
          </p:pic>
          <p:pic>
            <p:nvPicPr>
              <p:cNvPr id="45" name="Picture 44">
                <a:extLst>
                  <a:ext uri="{FF2B5EF4-FFF2-40B4-BE49-F238E27FC236}">
                    <a16:creationId xmlns:a16="http://schemas.microsoft.com/office/drawing/2014/main" id="{50B9AE91-E3D6-575E-0B39-B21760CD3F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99109" y="3501305"/>
                <a:ext cx="459581" cy="320840"/>
              </a:xfrm>
              <a:prstGeom prst="rect">
                <a:avLst/>
              </a:prstGeom>
            </p:spPr>
          </p:pic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845B856E-BBE3-3FD7-BDDD-FD8778E8DF7D}"/>
                  </a:ext>
                </a:extLst>
              </p:cNvPr>
              <p:cNvCxnSpPr/>
              <p:nvPr/>
            </p:nvCxnSpPr>
            <p:spPr>
              <a:xfrm>
                <a:off x="3789965" y="3803857"/>
                <a:ext cx="45958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BB270553-5DDC-BDED-EFB0-B635199F7D0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363182" y="3884286"/>
              <a:ext cx="857370" cy="447737"/>
            </a:xfrm>
            <a:prstGeom prst="rect">
              <a:avLst/>
            </a:prstGeom>
          </p:spPr>
        </p:pic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E9A6D404-94E1-559D-C9F1-4533A3B78531}"/>
              </a:ext>
            </a:extLst>
          </p:cNvPr>
          <p:cNvSpPr txBox="1"/>
          <p:nvPr/>
        </p:nvSpPr>
        <p:spPr>
          <a:xfrm>
            <a:off x="3577887" y="1724076"/>
            <a:ext cx="50167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The harmonics in the output of any one of the legs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19DE81E8-24EF-7564-57AB-5CC913161F3F}"/>
                  </a:ext>
                </a:extLst>
              </p:cNvPr>
              <p:cNvSpPr txBox="1"/>
              <p:nvPr/>
            </p:nvSpPr>
            <p:spPr>
              <a:xfrm>
                <a:off x="2894602" y="4434951"/>
                <a:ext cx="5773910" cy="67255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800" b="1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1800" b="1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𝒎</m:t>
                        </m:r>
                      </m:e>
                      <m:sub>
                        <m:r>
                          <a:rPr lang="en-GB" sz="1800" b="1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𝒇</m:t>
                        </m:r>
                      </m:sub>
                    </m:sSub>
                    <m:r>
                      <a:rPr lang="en-US" sz="1800" b="1" i="1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dirty="0">
                    <a:solidFill>
                      <a:srgbClr val="FF0000"/>
                    </a:solidFill>
                  </a:rPr>
                  <a:t>should be odd and a multiple of 3 to cancel out the most dominant harmonics in the line-to-line voltage</a:t>
                </a: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19DE81E8-24EF-7564-57AB-5CC913161F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4602" y="4434951"/>
                <a:ext cx="5773910" cy="672556"/>
              </a:xfrm>
              <a:prstGeom prst="rect">
                <a:avLst/>
              </a:prstGeom>
              <a:blipFill>
                <a:blip r:embed="rId8"/>
                <a:stretch>
                  <a:fillRect l="-950" t="-4545" b="-136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42C4F930-B1E4-B5CC-8F8B-1DA31B55AB3E}"/>
              </a:ext>
            </a:extLst>
          </p:cNvPr>
          <p:cNvSpPr txBox="1"/>
          <p:nvPr/>
        </p:nvSpPr>
        <p:spPr>
          <a:xfrm>
            <a:off x="2888167" y="3734306"/>
            <a:ext cx="52697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In the three-phase inverters, only the harmonics in the line-to-line voltages are of concern.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60EA134-AAED-4E69-7D35-183104FFA29B}"/>
              </a:ext>
            </a:extLst>
          </p:cNvPr>
          <p:cNvSpPr/>
          <p:nvPr/>
        </p:nvSpPr>
        <p:spPr>
          <a:xfrm>
            <a:off x="3157870" y="5411972"/>
            <a:ext cx="308344" cy="104199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9956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2" grpId="0" animBg="1"/>
      <p:bldP spid="4" grpId="0"/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49E0A6A-5616-FCE1-A3BC-2FE771491754}"/>
              </a:ext>
            </a:extLst>
          </p:cNvPr>
          <p:cNvGrpSpPr/>
          <p:nvPr/>
        </p:nvGrpSpPr>
        <p:grpSpPr>
          <a:xfrm>
            <a:off x="263320" y="3511524"/>
            <a:ext cx="6446478" cy="2208988"/>
            <a:chOff x="263320" y="4277070"/>
            <a:chExt cx="6446478" cy="2208988"/>
          </a:xfrm>
        </p:grpSpPr>
        <p:pic>
          <p:nvPicPr>
            <p:cNvPr id="21" name="Picture 4" descr="Image result for sine wave diagram">
              <a:extLst>
                <a:ext uri="{FF2B5EF4-FFF2-40B4-BE49-F238E27FC236}">
                  <a16:creationId xmlns:a16="http://schemas.microsoft.com/office/drawing/2014/main" id="{CB1E0A8C-4858-3B62-9648-D6FAA8A809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9663" y="4293216"/>
              <a:ext cx="6370135" cy="20211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D2CA0CB-A341-B435-AB39-4433D1E1997C}"/>
                </a:ext>
              </a:extLst>
            </p:cNvPr>
            <p:cNvSpPr/>
            <p:nvPr/>
          </p:nvSpPr>
          <p:spPr>
            <a:xfrm>
              <a:off x="2860285" y="4277070"/>
              <a:ext cx="1509823" cy="3756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2463F9F-114B-2DC1-9ECB-4ED9F3D9AFEC}"/>
                </a:ext>
              </a:extLst>
            </p:cNvPr>
            <p:cNvSpPr/>
            <p:nvPr/>
          </p:nvSpPr>
          <p:spPr>
            <a:xfrm>
              <a:off x="263320" y="4464912"/>
              <a:ext cx="462815" cy="202114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2B49B8DF-DEC2-650B-0178-ED16307F400E}"/>
              </a:ext>
            </a:extLst>
          </p:cNvPr>
          <p:cNvGrpSpPr/>
          <p:nvPr/>
        </p:nvGrpSpPr>
        <p:grpSpPr>
          <a:xfrm>
            <a:off x="-348693" y="723003"/>
            <a:ext cx="6370135" cy="2152866"/>
            <a:chOff x="-348693" y="1871330"/>
            <a:chExt cx="6370135" cy="2152866"/>
          </a:xfrm>
        </p:grpSpPr>
        <p:pic>
          <p:nvPicPr>
            <p:cNvPr id="1028" name="Picture 4" descr="Image result for sine wave diagram">
              <a:extLst>
                <a:ext uri="{FF2B5EF4-FFF2-40B4-BE49-F238E27FC236}">
                  <a16:creationId xmlns:a16="http://schemas.microsoft.com/office/drawing/2014/main" id="{BF8C314A-A8FA-257A-FFD6-28FABBF2F82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348693" y="2003050"/>
              <a:ext cx="6370135" cy="20211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04FC7BB0-2357-643F-4CAC-F7B82852C843}"/>
                </a:ext>
              </a:extLst>
            </p:cNvPr>
            <p:cNvSpPr/>
            <p:nvPr/>
          </p:nvSpPr>
          <p:spPr>
            <a:xfrm>
              <a:off x="2232837" y="1871330"/>
              <a:ext cx="1509823" cy="3508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29216FDA-82F0-76D3-8893-29EC4EA8A7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20" y="1597263"/>
            <a:ext cx="2051488" cy="64920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1415558-4C5A-FFDE-362F-CBA489C28D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8053" y="1584111"/>
            <a:ext cx="2072003" cy="65570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72AE04CE-A5A5-52D6-53D5-7CBCB2BDB8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0056" y="1574289"/>
            <a:ext cx="2072003" cy="65570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F6ADCCC-A985-AF71-3783-CFEFCB5CE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4108" y="1568409"/>
            <a:ext cx="2072003" cy="65570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E912706-F41E-4403-AAA5-71D67987F2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797" y="4259898"/>
            <a:ext cx="2051488" cy="64920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D215FE7-C265-EC24-903F-CDCF0150ED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5930" y="4246746"/>
            <a:ext cx="2072003" cy="655701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0CAB5F1-391A-7F56-8D94-AC5ADE6254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5932" y="4221344"/>
            <a:ext cx="2072003" cy="65570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EF3C9A6-F9CD-D903-3BC9-5F31CEBFC5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9984" y="4220777"/>
            <a:ext cx="2072003" cy="6557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2ACBC33-B9DC-A2EC-1797-17594F2399AA}"/>
              </a:ext>
            </a:extLst>
          </p:cNvPr>
          <p:cNvSpPr/>
          <p:nvPr/>
        </p:nvSpPr>
        <p:spPr>
          <a:xfrm>
            <a:off x="-383794" y="847634"/>
            <a:ext cx="462815" cy="202114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DD18B6-1DB7-2A88-F719-B40EEC7304D0}"/>
              </a:ext>
            </a:extLst>
          </p:cNvPr>
          <p:cNvSpPr txBox="1"/>
          <p:nvPr/>
        </p:nvSpPr>
        <p:spPr>
          <a:xfrm>
            <a:off x="263320" y="771708"/>
            <a:ext cx="22558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Phase-A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931F71-DD7D-2C6A-DBB6-49B7C6AE981D}"/>
              </a:ext>
            </a:extLst>
          </p:cNvPr>
          <p:cNvSpPr txBox="1"/>
          <p:nvPr/>
        </p:nvSpPr>
        <p:spPr>
          <a:xfrm>
            <a:off x="320402" y="2994897"/>
            <a:ext cx="22558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Phase-B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25C2FE5-AF4E-19D4-E5C3-B4D6EFD7510A}"/>
                  </a:ext>
                </a:extLst>
              </p:cNvPr>
              <p:cNvSpPr txBox="1"/>
              <p:nvPr/>
            </p:nvSpPr>
            <p:spPr>
              <a:xfrm>
                <a:off x="1998922" y="406725"/>
                <a:ext cx="5890436" cy="4966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GB" sz="2400" b="1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2400" b="1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𝒎</m:t>
                        </m:r>
                      </m:e>
                      <m:sub>
                        <m:r>
                          <a:rPr lang="en-GB" sz="2400" b="1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𝒇</m:t>
                        </m:r>
                      </m:sub>
                    </m:sSub>
                  </m:oMath>
                </a14:m>
                <a:r>
                  <a:rPr lang="en-GB" sz="2400" b="1" dirty="0"/>
                  <a:t> </a:t>
                </a:r>
                <a:r>
                  <a:rPr lang="en-GB" sz="2400" b="1" dirty="0">
                    <a:solidFill>
                      <a:srgbClr val="FF0000"/>
                    </a:solidFill>
                  </a:rPr>
                  <a:t>= 3 which is odd and multiple of 3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25C2FE5-AF4E-19D4-E5C3-B4D6EFD751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8922" y="406725"/>
                <a:ext cx="5890436" cy="496674"/>
              </a:xfrm>
              <a:prstGeom prst="rect">
                <a:avLst/>
              </a:prstGeom>
              <a:blipFill>
                <a:blip r:embed="rId4"/>
                <a:stretch>
                  <a:fillRect t="-8642" b="-222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F472B64-3A47-6A03-0DE8-866C7EFE2D9E}"/>
                  </a:ext>
                </a:extLst>
              </p:cNvPr>
              <p:cNvSpPr txBox="1"/>
              <p:nvPr/>
            </p:nvSpPr>
            <p:spPr>
              <a:xfrm flipH="1">
                <a:off x="808797" y="5868670"/>
                <a:ext cx="76707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>
                    <a:solidFill>
                      <a:srgbClr val="FF0000"/>
                    </a:solidFill>
                  </a:rPr>
                  <a:t>Hence, this is how the third harmonic in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b="1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sz="18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𝑨𝑩</m:t>
                        </m:r>
                      </m:sub>
                    </m:sSub>
                    <m:r>
                      <a:rPr lang="en-GB" sz="1800" b="1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dirty="0">
                    <a:solidFill>
                      <a:srgbClr val="FF0000"/>
                    </a:solidFill>
                  </a:rPr>
                  <a:t> will be eliminated from output 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F472B64-3A47-6A03-0DE8-866C7EFE2D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808797" y="5868670"/>
                <a:ext cx="7670760" cy="369332"/>
              </a:xfrm>
              <a:prstGeom prst="rect">
                <a:avLst/>
              </a:prstGeom>
              <a:blipFill>
                <a:blip r:embed="rId5"/>
                <a:stretch>
                  <a:fillRect l="-715" t="-10000" b="-2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9305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DAB49-4E83-D5C9-EF6D-0F2CE1E68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156" y="374323"/>
            <a:ext cx="7886700" cy="721053"/>
          </a:xfrm>
        </p:spPr>
        <p:txBody>
          <a:bodyPr/>
          <a:lstStyle/>
          <a:p>
            <a:r>
              <a:rPr lang="en-US" dirty="0"/>
              <a:t>Practical Inverter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4100A584-C9BA-C39F-A4D3-ABF895CCF570}"/>
              </a:ext>
            </a:extLst>
          </p:cNvPr>
          <p:cNvSpPr txBox="1">
            <a:spLocks/>
          </p:cNvSpPr>
          <p:nvPr/>
        </p:nvSpPr>
        <p:spPr>
          <a:xfrm>
            <a:off x="292067" y="1095376"/>
            <a:ext cx="8851933" cy="28333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Tx/>
              <a:buChar char="-"/>
            </a:pPr>
            <a:r>
              <a:rPr lang="en-US" sz="2800" b="1" dirty="0"/>
              <a:t>The hardware used in half bridge inverter can be used for each leg of three phase inverter to control the switching.</a:t>
            </a:r>
          </a:p>
          <a:p>
            <a:pPr marL="457200" indent="-457200">
              <a:buFontTx/>
              <a:buChar char="-"/>
            </a:pPr>
            <a:r>
              <a:rPr lang="en-US" sz="2800" b="1" dirty="0"/>
              <a:t>Similarly same techniques can be adopted to avoid the shoot through in both square wave and PWM switching mode.</a:t>
            </a:r>
          </a:p>
          <a:p>
            <a:pPr marL="457200" indent="-457200">
              <a:buFontTx/>
              <a:buChar char="-"/>
            </a:pPr>
            <a:endParaRPr lang="en-US" sz="2800" b="1" dirty="0"/>
          </a:p>
          <a:p>
            <a:pPr marL="457200" indent="-457200">
              <a:buFontTx/>
              <a:buChar char="-"/>
            </a:pP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03035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023A5-5956-7BCE-9CC5-6D2D1055E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354" y="90807"/>
            <a:ext cx="7886700" cy="803716"/>
          </a:xfrm>
        </p:spPr>
        <p:txBody>
          <a:bodyPr/>
          <a:lstStyle/>
          <a:p>
            <a:r>
              <a:rPr lang="en-GB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63388-0F99-30DE-7206-6822F4BBD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354" y="809228"/>
            <a:ext cx="7886700" cy="6048771"/>
          </a:xfrm>
        </p:spPr>
        <p:txBody>
          <a:bodyPr>
            <a:normAutofit/>
          </a:bodyPr>
          <a:lstStyle/>
          <a:p>
            <a:r>
              <a:rPr lang="en-GB" dirty="0"/>
              <a:t>Single Phase Inverter Studied</a:t>
            </a:r>
          </a:p>
          <a:p>
            <a:pPr lvl="1"/>
            <a:r>
              <a:rPr lang="en-GB" dirty="0"/>
              <a:t>Half Bridge</a:t>
            </a:r>
          </a:p>
          <a:p>
            <a:pPr lvl="2"/>
            <a:r>
              <a:rPr lang="en-GB" dirty="0"/>
              <a:t>Square Wave Switching</a:t>
            </a:r>
          </a:p>
          <a:p>
            <a:pPr lvl="2"/>
            <a:r>
              <a:rPr lang="en-GB" dirty="0"/>
              <a:t>PWM Switching</a:t>
            </a:r>
          </a:p>
          <a:p>
            <a:pPr lvl="3"/>
            <a:r>
              <a:rPr lang="en-GB" dirty="0"/>
              <a:t>Operation, Output Voltage, Harmonics, Inverter made through real components and avoiding shoot through</a:t>
            </a:r>
          </a:p>
          <a:p>
            <a:pPr lvl="1"/>
            <a:r>
              <a:rPr lang="en-GB" dirty="0"/>
              <a:t>Full Bridge</a:t>
            </a:r>
          </a:p>
          <a:p>
            <a:pPr lvl="2"/>
            <a:r>
              <a:rPr lang="en-GB" dirty="0"/>
              <a:t>Square Wave Switching</a:t>
            </a:r>
          </a:p>
          <a:p>
            <a:pPr lvl="2"/>
            <a:r>
              <a:rPr lang="en-GB" dirty="0"/>
              <a:t>PWM Switching</a:t>
            </a:r>
          </a:p>
          <a:p>
            <a:pPr lvl="3"/>
            <a:r>
              <a:rPr lang="en-GB" dirty="0"/>
              <a:t>Bipolar</a:t>
            </a:r>
          </a:p>
          <a:p>
            <a:pPr lvl="3"/>
            <a:r>
              <a:rPr lang="en-GB" dirty="0"/>
              <a:t>Unipolar</a:t>
            </a:r>
          </a:p>
          <a:p>
            <a:pPr lvl="4"/>
            <a:r>
              <a:rPr lang="en-GB" dirty="0"/>
              <a:t>Operation, Output Voltage, Harmonics, Inverter made through real components and avoiding shoot through</a:t>
            </a:r>
          </a:p>
          <a:p>
            <a:r>
              <a:rPr lang="en-GB" dirty="0"/>
              <a:t>Three Phase Inverter</a:t>
            </a:r>
          </a:p>
          <a:p>
            <a:pPr lvl="1"/>
            <a:r>
              <a:rPr lang="en-GB" dirty="0"/>
              <a:t>Square Wave Switching</a:t>
            </a:r>
          </a:p>
          <a:p>
            <a:pPr lvl="1"/>
            <a:r>
              <a:rPr lang="en-GB" dirty="0"/>
              <a:t>PWM Switching</a:t>
            </a:r>
          </a:p>
          <a:p>
            <a:pPr lvl="2"/>
            <a:r>
              <a:rPr lang="en-GB" dirty="0"/>
              <a:t>Operation, Output Voltage, Harmonics etc.</a:t>
            </a:r>
          </a:p>
          <a:p>
            <a:pPr lvl="1"/>
            <a:endParaRPr lang="en-GB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9046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AF1B502C-B4A1-564D-BFAD-ECFD17C92B3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741488"/>
            <a:ext cx="7772400" cy="1111250"/>
          </a:xfrm>
        </p:spPr>
        <p:txBody>
          <a:bodyPr/>
          <a:lstStyle/>
          <a:p>
            <a:pPr eaLnBrk="1" hangingPunct="1"/>
            <a:r>
              <a:rPr lang="en-GB" altLang="en-US" b="1">
                <a:solidFill>
                  <a:srgbClr val="0066FF"/>
                </a:solidFill>
              </a:rPr>
              <a:t>Power Electronics</a:t>
            </a:r>
          </a:p>
        </p:txBody>
      </p:sp>
      <p:sp>
        <p:nvSpPr>
          <p:cNvPr id="3075" name="Subtitle 2">
            <a:extLst>
              <a:ext uri="{FF2B5EF4-FFF2-40B4-BE49-F238E27FC236}">
                <a16:creationId xmlns:a16="http://schemas.microsoft.com/office/drawing/2014/main" id="{D06D2ED2-EC67-7248-AF25-4CA45054E04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79388" y="2852739"/>
            <a:ext cx="8713787" cy="1307280"/>
          </a:xfrm>
        </p:spPr>
        <p:txBody>
          <a:bodyPr/>
          <a:lstStyle/>
          <a:p>
            <a:pPr eaLnBrk="1" hangingPunct="1"/>
            <a:r>
              <a:rPr lang="en-GB" altLang="en-US" sz="3600" b="1" dirty="0">
                <a:solidFill>
                  <a:srgbClr val="FF0000"/>
                </a:solidFill>
              </a:rPr>
              <a:t>Applications and Systems</a:t>
            </a:r>
          </a:p>
        </p:txBody>
      </p:sp>
      <p:sp>
        <p:nvSpPr>
          <p:cNvPr id="3076" name="Slide Number Placeholder 3">
            <a:extLst>
              <a:ext uri="{FF2B5EF4-FFF2-40B4-BE49-F238E27FC236}">
                <a16:creationId xmlns:a16="http://schemas.microsoft.com/office/drawing/2014/main" id="{9CD9EE9E-BAFC-C54E-9B39-5D041AB7B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CD69D0D-B3EA-3346-8D3D-5EAB83A603FD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400"/>
          </a:p>
        </p:txBody>
      </p:sp>
      <p:pic>
        <p:nvPicPr>
          <p:cNvPr id="3077" name="Picture 4" descr="http://www.ranklogos.com/wp-content/uploads/2012/06/university-of-glasgow.gif">
            <a:extLst>
              <a:ext uri="{FF2B5EF4-FFF2-40B4-BE49-F238E27FC236}">
                <a16:creationId xmlns:a16="http://schemas.microsoft.com/office/drawing/2014/main" id="{2BD010EB-7DC6-3C48-9AA2-CF362429C3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0338" y="152400"/>
            <a:ext cx="3529012" cy="129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4C80C26-1BEB-484F-9A68-BC39F219BF4F}"/>
              </a:ext>
            </a:extLst>
          </p:cNvPr>
          <p:cNvSpPr txBox="1"/>
          <p:nvPr/>
        </p:nvSpPr>
        <p:spPr>
          <a:xfrm>
            <a:off x="3244380" y="4488670"/>
            <a:ext cx="24409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Dr Atif Jafri</a:t>
            </a:r>
          </a:p>
          <a:p>
            <a:pPr algn="ctr"/>
            <a:r>
              <a:rPr lang="en-US" dirty="0"/>
              <a:t>Atif.Jafri@glasgow.ac.uk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AA176-B24C-2C46-9F41-D435E4214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- High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9D89F8-A2B6-6D46-829D-476053D086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Topics covered so far</a:t>
            </a:r>
          </a:p>
          <a:p>
            <a:pPr lvl="1"/>
            <a:r>
              <a:rPr lang="en-US" dirty="0"/>
              <a:t>Power Supplies</a:t>
            </a:r>
          </a:p>
          <a:p>
            <a:pPr lvl="1"/>
            <a:r>
              <a:rPr lang="en-US" dirty="0"/>
              <a:t>Inverters</a:t>
            </a:r>
          </a:p>
          <a:p>
            <a:pPr lvl="1"/>
            <a:endParaRPr lang="en-US" dirty="0"/>
          </a:p>
          <a:p>
            <a:r>
              <a:rPr lang="en-US" dirty="0"/>
              <a:t>Applications</a:t>
            </a:r>
          </a:p>
          <a:p>
            <a:pPr lvl="1"/>
            <a:r>
              <a:rPr lang="en-US" dirty="0"/>
              <a:t>Residential applications</a:t>
            </a:r>
          </a:p>
          <a:p>
            <a:pPr lvl="1"/>
            <a:r>
              <a:rPr lang="en-US" dirty="0"/>
              <a:t>Industrial applications</a:t>
            </a:r>
          </a:p>
          <a:p>
            <a:pPr lvl="1"/>
            <a:r>
              <a:rPr lang="en-US" dirty="0"/>
              <a:t>Electric Utility applications</a:t>
            </a:r>
          </a:p>
          <a:p>
            <a:pPr lvl="1"/>
            <a:r>
              <a:rPr lang="en-US" dirty="0"/>
              <a:t>Motor drive applications </a:t>
            </a:r>
          </a:p>
          <a:p>
            <a:pPr lvl="1"/>
            <a:r>
              <a:rPr lang="en-US" dirty="0"/>
              <a:t>Electric Vehicles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7770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7BED6-2460-48F5-8884-F2F2AA78B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498" y="170878"/>
            <a:ext cx="7886700" cy="1325563"/>
          </a:xfrm>
        </p:spPr>
        <p:txBody>
          <a:bodyPr/>
          <a:lstStyle/>
          <a:p>
            <a:r>
              <a:rPr lang="en-GB" b="1" dirty="0"/>
              <a:t>Residential Applications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275AD-6831-1AD4-5C48-9AC3B3DB2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498" y="1496441"/>
            <a:ext cx="7886700" cy="2005711"/>
          </a:xfrm>
        </p:spPr>
        <p:txBody>
          <a:bodyPr>
            <a:normAutofit lnSpcReduction="10000"/>
          </a:bodyPr>
          <a:lstStyle/>
          <a:p>
            <a:pPr algn="just"/>
            <a:r>
              <a:rPr lang="en-GB" dirty="0"/>
              <a:t>Residential homes and buildings are the endpoint of approximately 35% of the total electricity generated in the United States, which corresponds to approximately 8.5% of the total primary energy usage.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581141-B191-97EC-D0C9-DFBD28AED877}"/>
              </a:ext>
            </a:extLst>
          </p:cNvPr>
          <p:cNvSpPr txBox="1"/>
          <p:nvPr/>
        </p:nvSpPr>
        <p:spPr>
          <a:xfrm>
            <a:off x="555498" y="3577304"/>
            <a:ext cx="78867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800" dirty="0"/>
              <a:t>The residential applications include </a:t>
            </a:r>
            <a:r>
              <a:rPr lang="en-GB" sz="2800" dirty="0">
                <a:solidFill>
                  <a:srgbClr val="FF0000"/>
                </a:solidFill>
              </a:rPr>
              <a:t>space heating and air conditioning</a:t>
            </a:r>
            <a:r>
              <a:rPr lang="en-GB" sz="2800" dirty="0"/>
              <a:t>, </a:t>
            </a:r>
            <a:r>
              <a:rPr lang="en-GB" sz="2800" dirty="0">
                <a:solidFill>
                  <a:srgbClr val="7030A0"/>
                </a:solidFill>
              </a:rPr>
              <a:t>refrigeration and freezing</a:t>
            </a:r>
            <a:r>
              <a:rPr lang="en-GB" sz="2800" dirty="0"/>
              <a:t>, </a:t>
            </a:r>
            <a:r>
              <a:rPr lang="en-GB" sz="2800" dirty="0">
                <a:solidFill>
                  <a:srgbClr val="0070C0"/>
                </a:solidFill>
              </a:rPr>
              <a:t>water heating, lighting, cooking, television, clothes washer and dryer, and many other miscellaneous appliances</a:t>
            </a:r>
            <a:r>
              <a:rPr lang="en-GB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29166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7BED6-2460-48F5-8884-F2F2AA78B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8058150" cy="645095"/>
          </a:xfrm>
        </p:spPr>
        <p:txBody>
          <a:bodyPr>
            <a:normAutofit/>
          </a:bodyPr>
          <a:lstStyle/>
          <a:p>
            <a:r>
              <a:rPr lang="en-GB" sz="3600" b="1" dirty="0"/>
              <a:t>SPACE HEATING AND AIR CONDITIONING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275AD-6831-1AD4-5C48-9AC3B3DB2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498" y="1139825"/>
            <a:ext cx="7886700" cy="1329055"/>
          </a:xfrm>
        </p:spPr>
        <p:txBody>
          <a:bodyPr/>
          <a:lstStyle/>
          <a:p>
            <a:pPr algn="just"/>
            <a:r>
              <a:rPr lang="en-GB" dirty="0"/>
              <a:t>Approximately 25-30% of the electric energy in an all-electric home is used for space heating and air conditioning.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574688-6D1C-F01B-28AC-1D7263877BF2}"/>
              </a:ext>
            </a:extLst>
          </p:cNvPr>
          <p:cNvSpPr txBox="1"/>
          <p:nvPr/>
        </p:nvSpPr>
        <p:spPr>
          <a:xfrm>
            <a:off x="925830" y="2423076"/>
            <a:ext cx="746379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dirty="0"/>
              <a:t>- In a </a:t>
            </a:r>
            <a:r>
              <a:rPr lang="en-GB" sz="2400" dirty="0">
                <a:solidFill>
                  <a:srgbClr val="FF0000"/>
                </a:solidFill>
              </a:rPr>
              <a:t>conventional heat pump</a:t>
            </a:r>
            <a:r>
              <a:rPr lang="en-GB" sz="2400" dirty="0"/>
              <a:t>, the compressor operates essentially at a constant speed when the motor is running.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85A60D-919F-9B88-C871-1C49DBA7A5DE}"/>
              </a:ext>
            </a:extLst>
          </p:cNvPr>
          <p:cNvSpPr txBox="1"/>
          <p:nvPr/>
        </p:nvSpPr>
        <p:spPr>
          <a:xfrm>
            <a:off x="978408" y="3336995"/>
            <a:ext cx="718718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dirty="0"/>
              <a:t>- The compressor output in this system is matched to the building heating or cooling load by cycling the compressor on or off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158AC4F-5A10-7C5E-CA49-B87E4FA2B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848" y="4433082"/>
            <a:ext cx="3813017" cy="1812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700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7BED6-2460-48F5-8884-F2F2AA78B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8058150" cy="645095"/>
          </a:xfrm>
        </p:spPr>
        <p:txBody>
          <a:bodyPr>
            <a:normAutofit/>
          </a:bodyPr>
          <a:lstStyle/>
          <a:p>
            <a:r>
              <a:rPr lang="en-GB" sz="3600" b="1" dirty="0"/>
              <a:t>SPACE HEATING AND AIR CONDITIONING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275AD-6831-1AD4-5C48-9AC3B3DB2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498" y="1010221"/>
            <a:ext cx="7886700" cy="1595819"/>
          </a:xfrm>
        </p:spPr>
        <p:txBody>
          <a:bodyPr>
            <a:normAutofit lnSpcReduction="10000"/>
          </a:bodyPr>
          <a:lstStyle/>
          <a:p>
            <a:pPr algn="just"/>
            <a:r>
              <a:rPr lang="en-GB" dirty="0"/>
              <a:t>In a </a:t>
            </a:r>
            <a:r>
              <a:rPr lang="en-GB" dirty="0">
                <a:solidFill>
                  <a:srgbClr val="FF0000"/>
                </a:solidFill>
              </a:rPr>
              <a:t>load-proportional capacity modulated heat pump</a:t>
            </a:r>
            <a:r>
              <a:rPr lang="en-GB" dirty="0"/>
              <a:t>, the </a:t>
            </a:r>
            <a:r>
              <a:rPr lang="en-GB" dirty="0">
                <a:solidFill>
                  <a:srgbClr val="7030A0"/>
                </a:solidFill>
              </a:rPr>
              <a:t>speed of the compressor motor </a:t>
            </a:r>
            <a:r>
              <a:rPr lang="en-GB" dirty="0"/>
              <a:t>and hence the </a:t>
            </a:r>
            <a:r>
              <a:rPr lang="en-GB" dirty="0">
                <a:solidFill>
                  <a:srgbClr val="7030A0"/>
                </a:solidFill>
              </a:rPr>
              <a:t>compressor output are adjusted</a:t>
            </a:r>
            <a:r>
              <a:rPr lang="en-GB" dirty="0"/>
              <a:t> to match the building heating or cooling load.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54695A-F23C-624E-EB59-8A64756A6FDB}"/>
              </a:ext>
            </a:extLst>
          </p:cNvPr>
          <p:cNvSpPr txBox="1"/>
          <p:nvPr/>
        </p:nvSpPr>
        <p:spPr>
          <a:xfrm>
            <a:off x="628650" y="4251961"/>
            <a:ext cx="7886700" cy="8679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GB" dirty="0">
                <a:solidFill>
                  <a:srgbClr val="FF0000"/>
                </a:solidFill>
              </a:rPr>
              <a:t>Eliminating</a:t>
            </a:r>
            <a:r>
              <a:rPr lang="en-GB" dirty="0"/>
              <a:t> the </a:t>
            </a:r>
            <a:r>
              <a:rPr lang="en-GB" dirty="0">
                <a:solidFill>
                  <a:srgbClr val="7030A0"/>
                </a:solidFill>
              </a:rPr>
              <a:t>on or off </a:t>
            </a:r>
            <a:r>
              <a:rPr lang="en-GB" dirty="0"/>
              <a:t>cycling of the compressor.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2EA495-19CD-9C2F-2030-F597DA815182}"/>
              </a:ext>
            </a:extLst>
          </p:cNvPr>
          <p:cNvSpPr txBox="1"/>
          <p:nvPr/>
        </p:nvSpPr>
        <p:spPr>
          <a:xfrm>
            <a:off x="628650" y="4965826"/>
            <a:ext cx="8058150" cy="15270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22860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rgbClr val="FF0000"/>
                </a:solidFill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just"/>
            <a:r>
              <a:rPr lang="en-GB" sz="2400" dirty="0">
                <a:solidFill>
                  <a:schemeClr val="tx1"/>
                </a:solidFill>
              </a:rPr>
              <a:t>The </a:t>
            </a:r>
            <a:r>
              <a:rPr lang="en-GB" sz="2400" dirty="0"/>
              <a:t>loss</a:t>
            </a:r>
            <a:r>
              <a:rPr lang="en-GB" sz="2400" dirty="0">
                <a:solidFill>
                  <a:schemeClr val="tx1"/>
                </a:solidFill>
              </a:rPr>
              <a:t> in the compressor output </a:t>
            </a:r>
            <a:r>
              <a:rPr lang="en-GB" sz="2400" dirty="0"/>
              <a:t>due to on-off cycling </a:t>
            </a:r>
            <a:r>
              <a:rPr lang="en-GB" sz="2400" dirty="0">
                <a:solidFill>
                  <a:schemeClr val="tx1"/>
                </a:solidFill>
              </a:rPr>
              <a:t>is </a:t>
            </a:r>
            <a:r>
              <a:rPr lang="en-GB" sz="2400" dirty="0"/>
              <a:t>eliminated</a:t>
            </a:r>
            <a:r>
              <a:rPr lang="en-GB" sz="2400" dirty="0">
                <a:solidFill>
                  <a:schemeClr val="tx1"/>
                </a:solidFill>
              </a:rPr>
              <a:t> in </a:t>
            </a:r>
            <a:r>
              <a:rPr lang="en-GB" sz="2400" dirty="0"/>
              <a:t>the load proportional capacity-modulated heat pump</a:t>
            </a:r>
            <a:r>
              <a:rPr lang="en-GB" sz="2400" dirty="0">
                <a:solidFill>
                  <a:schemeClr val="tx1"/>
                </a:solidFill>
              </a:rPr>
              <a:t>, where the speed of the compressor and, hence, the compressor output are adjusted to equal the building load.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CD489F-0987-2AA0-68FE-111B8713A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9633" y="2518147"/>
            <a:ext cx="5483231" cy="1376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384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7BED6-2460-48F5-8884-F2F2AA78B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55398"/>
            <a:ext cx="8058150" cy="645095"/>
          </a:xfrm>
        </p:spPr>
        <p:txBody>
          <a:bodyPr>
            <a:normAutofit/>
          </a:bodyPr>
          <a:lstStyle/>
          <a:p>
            <a:r>
              <a:rPr lang="en-GB" sz="3600" b="1" dirty="0"/>
              <a:t>INDUCTION COOKING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275AD-6831-1AD4-5C48-9AC3B3DB2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745" y="854773"/>
            <a:ext cx="8433054" cy="1361853"/>
          </a:xfrm>
        </p:spPr>
        <p:txBody>
          <a:bodyPr/>
          <a:lstStyle/>
          <a:p>
            <a:r>
              <a:rPr lang="en-GB" dirty="0"/>
              <a:t>In a standard electric or gas cooking range, a significant amount of heat escapes to the surroundings, thus resulting in poor thermal efficiency.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F0DF77-A838-3764-631E-271D31651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784" y="2011681"/>
            <a:ext cx="5844725" cy="17836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ADD2FB3-5ADC-36B0-5AD9-E0640B314F69}"/>
              </a:ext>
            </a:extLst>
          </p:cNvPr>
          <p:cNvSpPr txBox="1"/>
          <p:nvPr/>
        </p:nvSpPr>
        <p:spPr>
          <a:xfrm>
            <a:off x="396621" y="3820413"/>
            <a:ext cx="835075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The 60-Hz ac input is converted to a high-frequency ac in a range of 25-40 kHz, which is supplied to an induction coil.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99B26E-4569-6A96-4938-9A9872675735}"/>
              </a:ext>
            </a:extLst>
          </p:cNvPr>
          <p:cNvSpPr txBox="1"/>
          <p:nvPr/>
        </p:nvSpPr>
        <p:spPr>
          <a:xfrm>
            <a:off x="396621" y="5278324"/>
            <a:ext cx="797356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457200" indent="-457200">
              <a:buFont typeface="Arial" panose="020B0604020202020204" pitchFamily="34" charset="0"/>
              <a:buChar char="•"/>
              <a:defRPr sz="2800"/>
            </a:lvl1pPr>
          </a:lstStyle>
          <a:p>
            <a:r>
              <a:rPr lang="en-GB" dirty="0"/>
              <a:t>This induces circulating currents in the metal pan on top of the induction coil, thus directly heating the pan.</a:t>
            </a:r>
          </a:p>
        </p:txBody>
      </p:sp>
    </p:spTree>
    <p:extLst>
      <p:ext uri="{BB962C8B-B14F-4D97-AF65-F5344CB8AC3E}">
        <p14:creationId xmlns:p14="http://schemas.microsoft.com/office/powerpoint/2010/main" val="3274352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Oil And Pipelines Induction, Induction Heating Machine For Oil And Gas">
            <a:extLst>
              <a:ext uri="{FF2B5EF4-FFF2-40B4-BE49-F238E27FC236}">
                <a16:creationId xmlns:a16="http://schemas.microsoft.com/office/drawing/2014/main" id="{AC16EC0F-4899-C667-E3D0-5CC11BA63C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36" r="3" b="3"/>
          <a:stretch>
            <a:fillRect/>
          </a:stretch>
        </p:blipFill>
        <p:spPr bwMode="auto">
          <a:xfrm>
            <a:off x="3410952" y="-5"/>
            <a:ext cx="5733047" cy="3681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What are the 4 Types of Welding? - Iowa Valley Community College District">
            <a:extLst>
              <a:ext uri="{FF2B5EF4-FFF2-40B4-BE49-F238E27FC236}">
                <a16:creationId xmlns:a16="http://schemas.microsoft.com/office/drawing/2014/main" id="{1218F285-4EC0-2BFE-577B-0D915D286B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49" r="2" b="2"/>
          <a:stretch>
            <a:fillRect/>
          </a:stretch>
        </p:blipFill>
        <p:spPr bwMode="auto">
          <a:xfrm>
            <a:off x="3410953" y="3681409"/>
            <a:ext cx="5733047" cy="3176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67BED6-2460-48F5-8884-F2F2AA78B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15219"/>
            <a:ext cx="4046934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Industrial Applications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275AD-6831-1AD4-5C48-9AC3B3DB2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3902075"/>
            <a:ext cx="4046934" cy="165576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17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Industrial applications include applications such as induction heating and welding.</a:t>
            </a:r>
          </a:p>
        </p:txBody>
      </p:sp>
    </p:spTree>
    <p:extLst>
      <p:ext uri="{BB962C8B-B14F-4D97-AF65-F5344CB8AC3E}">
        <p14:creationId xmlns:p14="http://schemas.microsoft.com/office/powerpoint/2010/main" val="929321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B3D22B5D-E82C-7FCE-5D23-AF9E64B9E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3448" y="5268418"/>
            <a:ext cx="1524213" cy="10955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12D594-9713-D8E9-0CE6-B03BEDAA2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637" y="121849"/>
            <a:ext cx="7886700" cy="749998"/>
          </a:xfrm>
        </p:spPr>
        <p:txBody>
          <a:bodyPr/>
          <a:lstStyle/>
          <a:p>
            <a:r>
              <a:rPr lang="en-GB" dirty="0"/>
              <a:t>Induction Heating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757062-A98C-CA3A-08CD-8513F0955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624" y="821161"/>
            <a:ext cx="8094726" cy="1082167"/>
          </a:xfrm>
        </p:spPr>
        <p:txBody>
          <a:bodyPr>
            <a:normAutofit/>
          </a:bodyPr>
          <a:lstStyle/>
          <a:p>
            <a:r>
              <a:rPr lang="en-GB" sz="2400" dirty="0"/>
              <a:t>In induction heating, the heat in the </a:t>
            </a:r>
            <a:r>
              <a:rPr lang="en-GB" sz="2400" dirty="0">
                <a:solidFill>
                  <a:srgbClr val="7030A0"/>
                </a:solidFill>
              </a:rPr>
              <a:t>electrically</a:t>
            </a:r>
            <a:r>
              <a:rPr lang="en-GB" sz="2400" dirty="0"/>
              <a:t> </a:t>
            </a:r>
            <a:r>
              <a:rPr lang="en-GB" sz="2400" dirty="0">
                <a:solidFill>
                  <a:srgbClr val="7030A0"/>
                </a:solidFill>
              </a:rPr>
              <a:t>conducting</a:t>
            </a:r>
            <a:r>
              <a:rPr lang="en-GB" sz="2400" dirty="0"/>
              <a:t> </a:t>
            </a:r>
            <a:r>
              <a:rPr lang="en-GB" sz="2400" dirty="0">
                <a:solidFill>
                  <a:srgbClr val="7030A0"/>
                </a:solidFill>
              </a:rPr>
              <a:t>workpiece</a:t>
            </a:r>
            <a:r>
              <a:rPr lang="en-GB" sz="2400" dirty="0"/>
              <a:t> is produced by </a:t>
            </a:r>
            <a:r>
              <a:rPr lang="en-GB" sz="2400" dirty="0">
                <a:solidFill>
                  <a:srgbClr val="FF0000"/>
                </a:solidFill>
              </a:rPr>
              <a:t>circulating</a:t>
            </a:r>
            <a:r>
              <a:rPr lang="en-GB" sz="2400" dirty="0"/>
              <a:t> </a:t>
            </a:r>
            <a:r>
              <a:rPr lang="en-GB" sz="2400" dirty="0">
                <a:solidFill>
                  <a:srgbClr val="FF0000"/>
                </a:solidFill>
              </a:rPr>
              <a:t>currents</a:t>
            </a:r>
            <a:r>
              <a:rPr lang="en-GB" sz="2400" dirty="0"/>
              <a:t> caused by </a:t>
            </a:r>
            <a:r>
              <a:rPr lang="en-GB" sz="2400" dirty="0">
                <a:solidFill>
                  <a:srgbClr val="FF0000"/>
                </a:solidFill>
              </a:rPr>
              <a:t>electromagnetic</a:t>
            </a:r>
            <a:r>
              <a:rPr lang="en-GB" sz="2400" dirty="0"/>
              <a:t> </a:t>
            </a:r>
            <a:r>
              <a:rPr lang="en-GB" sz="2400" dirty="0">
                <a:solidFill>
                  <a:srgbClr val="FF0000"/>
                </a:solidFill>
              </a:rPr>
              <a:t>induction.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8178D96-270B-53A9-1E5F-1B159A64A061}"/>
              </a:ext>
            </a:extLst>
          </p:cNvPr>
          <p:cNvSpPr txBox="1">
            <a:spLocks/>
          </p:cNvSpPr>
          <p:nvPr/>
        </p:nvSpPr>
        <p:spPr>
          <a:xfrm>
            <a:off x="356616" y="1946784"/>
            <a:ext cx="8094726" cy="582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dirty="0"/>
              <a:t>Induction heating is clean, quick, and efficient.</a:t>
            </a:r>
            <a:endParaRPr lang="en-GB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880BBFD-7DAB-13D8-F3D0-12B2F4783F30}"/>
                  </a:ext>
                </a:extLst>
              </p:cNvPr>
              <p:cNvSpPr txBox="1"/>
              <p:nvPr/>
            </p:nvSpPr>
            <p:spPr>
              <a:xfrm>
                <a:off x="316611" y="2528736"/>
                <a:ext cx="8094726" cy="142712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defPPr>
                  <a:defRPr lang="en-US"/>
                </a:defPPr>
                <a:lvl1pPr marL="228600" indent="-228600" defTabSz="91440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/>
                </a:lvl1pPr>
                <a:lvl2pPr marL="685800" indent="-228600" defTabSz="9144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/>
                </a:lvl2pPr>
                <a:lvl3pPr marL="1143000" indent="-228600" defTabSz="9144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/>
                </a:lvl3pPr>
                <a:lvl4pPr marL="1600200" indent="-228600" defTabSz="9144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4pPr>
                <a:lvl5pPr marL="2057400" indent="-228600" defTabSz="9144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5pPr>
                <a:lvl6pPr marL="2514600" indent="-228600" defTabSz="9144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 defTabSz="9144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 defTabSz="9144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 defTabSz="9144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GB" sz="2400" dirty="0"/>
                  <a:t>It allows a defined section of the workpiece to be heated accurately. The magnitude of the induced currents in workpiece decreases exponentially with the distance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400" dirty="0"/>
                  <a:t> from the surface, as given by the equation: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880BBFD-7DAB-13D8-F3D0-12B2F4783F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611" y="2528736"/>
                <a:ext cx="8094726" cy="1427124"/>
              </a:xfrm>
              <a:prstGeom prst="rect">
                <a:avLst/>
              </a:prstGeom>
              <a:blipFill>
                <a:blip r:embed="rId3"/>
                <a:stretch>
                  <a:fillRect l="-1054" t="-5983" b="-85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E1C88DA2-7EC3-FAAE-E876-2B963E3313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9473" y="3854590"/>
            <a:ext cx="1629002" cy="54300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B048AC1-F6D0-310B-D343-9541A620C088}"/>
                  </a:ext>
                </a:extLst>
              </p:cNvPr>
              <p:cNvSpPr txBox="1"/>
              <p:nvPr/>
            </p:nvSpPr>
            <p:spPr>
              <a:xfrm>
                <a:off x="598932" y="4345193"/>
                <a:ext cx="7328916" cy="82116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defPPr>
                  <a:defRPr lang="en-US"/>
                </a:defPPr>
                <a:lvl1pPr marL="228600" indent="-228600" defTabSz="91440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400"/>
                </a:lvl1pPr>
                <a:lvl2pPr marL="685800" indent="-228600" defTabSz="9144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/>
                </a:lvl2pPr>
                <a:lvl3pPr marL="1143000" indent="-228600" defTabSz="9144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/>
                </a:lvl3pPr>
                <a:lvl4pPr marL="1600200" indent="-228600" defTabSz="9144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4pPr>
                <a:lvl5pPr marL="2057400" indent="-228600" defTabSz="9144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5pPr>
                <a:lvl6pPr marL="2514600" indent="-228600" defTabSz="9144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 defTabSz="9144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 defTabSz="9144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 defTabSz="9144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 marL="0" indent="0">
                  <a:buNone/>
                </a:pPr>
                <a:r>
                  <a:rPr lang="en-GB" sz="200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GB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2000" dirty="0"/>
                  <a:t> is the current at the surface and </a:t>
                </a:r>
                <a14:m>
                  <m:oMath xmlns:m="http://schemas.openxmlformats.org/officeDocument/2006/math">
                    <m:r>
                      <a:rPr lang="en-GB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GB" sz="2000" dirty="0"/>
                  <a:t> is the penetration depth at which the current is reduced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GB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2000" dirty="0"/>
                  <a:t> times a factor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lang="en-GB" sz="2000" dirty="0"/>
                  <a:t> (</a:t>
                </a:r>
                <a14:m>
                  <m:oMath xmlns:m="http://schemas.openxmlformats.org/officeDocument/2006/math"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000" dirty="0"/>
                  <a:t>0.368). 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B048AC1-F6D0-310B-D343-9541A620C0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932" y="4345193"/>
                <a:ext cx="7328916" cy="821167"/>
              </a:xfrm>
              <a:prstGeom prst="rect">
                <a:avLst/>
              </a:prstGeom>
              <a:blipFill>
                <a:blip r:embed="rId5"/>
                <a:stretch>
                  <a:fillRect l="-831" t="-8148" r="-16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B7C9C47-0392-897C-0A75-ECC48536C822}"/>
                  </a:ext>
                </a:extLst>
              </p:cNvPr>
              <p:cNvSpPr txBox="1"/>
              <p:nvPr/>
            </p:nvSpPr>
            <p:spPr>
              <a:xfrm>
                <a:off x="356616" y="5268418"/>
                <a:ext cx="6656832" cy="142712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defPPr>
                  <a:defRPr lang="en-US"/>
                </a:defPPr>
                <a:lvl1pPr marL="228600" indent="-228600" defTabSz="91440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/>
                </a:lvl1pPr>
                <a:lvl2pPr marL="685800" indent="-228600" defTabSz="9144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/>
                </a:lvl2pPr>
                <a:lvl3pPr marL="1143000" indent="-228600" defTabSz="9144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/>
                </a:lvl3pPr>
                <a:lvl4pPr marL="1600200" indent="-228600" defTabSz="9144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4pPr>
                <a:lvl5pPr marL="2057400" indent="-228600" defTabSz="9144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5pPr>
                <a:lvl6pPr marL="2514600" indent="-228600" defTabSz="9144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 defTabSz="9144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 defTabSz="9144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 defTabSz="9144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GB" sz="2400" dirty="0"/>
                  <a:t>The penetration depth is inversely proportional to the square root of frequency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GB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400" dirty="0"/>
                  <a:t>and proportional to the square root of the workpiece resistivity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sz="18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endParaRPr lang="en-GB" sz="24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B7C9C47-0392-897C-0A75-ECC48536C8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616" y="5268418"/>
                <a:ext cx="6656832" cy="1427124"/>
              </a:xfrm>
              <a:prstGeom prst="rect">
                <a:avLst/>
              </a:prstGeom>
              <a:blipFill>
                <a:blip r:embed="rId6"/>
                <a:stretch>
                  <a:fillRect l="-1282" t="-5983" r="-11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57616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2D594-9713-D8E9-0CE6-B03BEDAA2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637" y="121849"/>
            <a:ext cx="7886700" cy="749998"/>
          </a:xfrm>
        </p:spPr>
        <p:txBody>
          <a:bodyPr/>
          <a:lstStyle/>
          <a:p>
            <a:r>
              <a:rPr lang="en-GB" dirty="0"/>
              <a:t>Induction Heating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757062-A98C-CA3A-08CD-8513F0955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624" y="2486078"/>
            <a:ext cx="8094726" cy="2141495"/>
          </a:xfrm>
        </p:spPr>
        <p:txBody>
          <a:bodyPr>
            <a:noAutofit/>
          </a:bodyPr>
          <a:lstStyle/>
          <a:p>
            <a:r>
              <a:rPr lang="en-GB" sz="2400" dirty="0"/>
              <a:t>The induction frequency is selected based on the application. </a:t>
            </a:r>
          </a:p>
          <a:p>
            <a:r>
              <a:rPr lang="en-GB" sz="2400" dirty="0"/>
              <a:t>A low frequency such as the utility frequency may be used for induction melting  of large workpieces. </a:t>
            </a:r>
          </a:p>
          <a:p>
            <a:r>
              <a:rPr lang="en-GB" sz="2400" dirty="0"/>
              <a:t>High frequencies of up to a few hundred kilohertz are used for  forging, soldering, hardening, and annealing.</a:t>
            </a:r>
            <a:endParaRPr lang="en-GB" sz="2400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BE1DD0-572D-DF78-0948-AD5838057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831871"/>
            <a:ext cx="1885051" cy="13548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6B71D1-E617-8D43-F7CC-422208073B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3252" y="1303963"/>
            <a:ext cx="2058086" cy="686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2300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2D594-9713-D8E9-0CE6-B03BEDAA2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637" y="121849"/>
            <a:ext cx="7886700" cy="749998"/>
          </a:xfrm>
        </p:spPr>
        <p:txBody>
          <a:bodyPr/>
          <a:lstStyle/>
          <a:p>
            <a:r>
              <a:rPr lang="en-GB" dirty="0"/>
              <a:t>Electric Welding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757062-A98C-CA3A-08CD-8513F0955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624" y="821161"/>
            <a:ext cx="8094726" cy="108216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GB" sz="2400" dirty="0"/>
              <a:t>In </a:t>
            </a:r>
            <a:r>
              <a:rPr lang="en-GB" sz="2400" dirty="0">
                <a:solidFill>
                  <a:srgbClr val="FF0000"/>
                </a:solidFill>
              </a:rPr>
              <a:t>electric arc welding</a:t>
            </a:r>
            <a:r>
              <a:rPr lang="en-GB" sz="2400" dirty="0"/>
              <a:t>, the melting energy is provided by </a:t>
            </a:r>
            <a:r>
              <a:rPr lang="en-GB" sz="2400" dirty="0">
                <a:solidFill>
                  <a:srgbClr val="FF0000"/>
                </a:solidFill>
              </a:rPr>
              <a:t>establishing an arc between two electrodes</a:t>
            </a:r>
            <a:r>
              <a:rPr lang="en-GB" sz="2400" dirty="0"/>
              <a:t>, one of which is the </a:t>
            </a:r>
            <a:r>
              <a:rPr lang="en-GB" sz="2400" dirty="0">
                <a:solidFill>
                  <a:srgbClr val="FF0000"/>
                </a:solidFill>
              </a:rPr>
              <a:t>metallic workpiece being welded</a:t>
            </a:r>
            <a:r>
              <a:rPr lang="en-GB" sz="2400" dirty="0"/>
              <a:t>.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8178D96-270B-53A9-1E5F-1B159A64A061}"/>
              </a:ext>
            </a:extLst>
          </p:cNvPr>
          <p:cNvSpPr txBox="1">
            <a:spLocks/>
          </p:cNvSpPr>
          <p:nvPr/>
        </p:nvSpPr>
        <p:spPr>
          <a:xfrm>
            <a:off x="420624" y="2106213"/>
            <a:ext cx="8094726" cy="58261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defPPr>
              <a:defRPr lang="en-US"/>
            </a:defPPr>
            <a:lvl1pPr marL="22860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/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GB" dirty="0"/>
              <a:t>The voltage-current characteristic of the welder depends on the type of welding process employed.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80BBFD-7DAB-13D8-F3D0-12B2F4783F30}"/>
              </a:ext>
            </a:extLst>
          </p:cNvPr>
          <p:cNvSpPr txBox="1"/>
          <p:nvPr/>
        </p:nvSpPr>
        <p:spPr>
          <a:xfrm>
            <a:off x="417195" y="2830387"/>
            <a:ext cx="8094726" cy="8211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22860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GB" sz="2400" dirty="0"/>
              <a:t>Typical rated voltage and current are 50 V and 500 A dc, respectively.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A50AE1-2045-AFD9-9099-1A5B2181EB2F}"/>
              </a:ext>
            </a:extLst>
          </p:cNvPr>
          <p:cNvSpPr txBox="1"/>
          <p:nvPr/>
        </p:nvSpPr>
        <p:spPr>
          <a:xfrm>
            <a:off x="420624" y="3651604"/>
            <a:ext cx="8094726" cy="11855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22860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/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GB" dirty="0"/>
              <a:t>In all welding applications, the output needs to be electrically isolated from the utility input. This electrical isolation is provided by either a 60-Hz power transformer or a high.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FEBFD71-69FF-1828-8364-2850CBC197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50" y="4734186"/>
            <a:ext cx="6528816" cy="1864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0881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8F475-0D9E-384B-AA3A-473868B0E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61253"/>
            <a:ext cx="7886700" cy="1325563"/>
          </a:xfrm>
        </p:spPr>
        <p:txBody>
          <a:bodyPr/>
          <a:lstStyle/>
          <a:p>
            <a:r>
              <a:rPr lang="en-US" dirty="0"/>
              <a:t>Motor drive applications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5D5DF7-521A-3248-B191-A347E1493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767" y="833386"/>
            <a:ext cx="5234152" cy="23819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53998A3-4022-FC4E-8BDF-28358F784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767" y="3131237"/>
            <a:ext cx="5339254" cy="15609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EC01A2-1BD1-9D4B-9BA2-F2718094ED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767" y="4702743"/>
            <a:ext cx="5665076" cy="2155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1677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9747E-6917-1E43-BBCF-75DC97948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Electric Vehicle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DB8175-AA03-D443-982C-B99D50BA21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0689"/>
            <a:ext cx="9144000" cy="5089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2606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application of power electronics">
            <a:extLst>
              <a:ext uri="{FF2B5EF4-FFF2-40B4-BE49-F238E27FC236}">
                <a16:creationId xmlns:a16="http://schemas.microsoft.com/office/drawing/2014/main" id="{08135526-BDE6-4341-87E9-4D2C4B46AD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558800"/>
            <a:ext cx="6553200" cy="574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37596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45543-9CDF-6E48-9FF6-78734528E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Additional links for self study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22086E-C232-7749-9986-4E7858EB13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Electric Vehicle – parts and functions</a:t>
            </a:r>
          </a:p>
          <a:p>
            <a:pPr lvl="1"/>
            <a:r>
              <a:rPr lang="en-US" dirty="0">
                <a:hlinkClick r:id="rId2"/>
              </a:rPr>
              <a:t>https://www.youtube.com/watch?v=tJfERzrG-D8</a:t>
            </a:r>
            <a:endParaRPr lang="en-US" dirty="0"/>
          </a:p>
          <a:p>
            <a:r>
              <a:rPr lang="en-US" dirty="0"/>
              <a:t>Applications</a:t>
            </a:r>
          </a:p>
          <a:p>
            <a:pPr lvl="1"/>
            <a:r>
              <a:rPr lang="en-US" dirty="0">
                <a:hlinkClick r:id="rId3"/>
              </a:rPr>
              <a:t>https://www.youtube.com/watch?v=6KHJ5JA4BbY</a:t>
            </a:r>
            <a:endParaRPr lang="en-US" dirty="0"/>
          </a:p>
          <a:p>
            <a:r>
              <a:rPr lang="en-US" dirty="0">
                <a:hlinkClick r:id="rId4"/>
              </a:rPr>
              <a:t>https://www.electrical4u.com/application-of-power-electronics/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80299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16183</TotalTime>
  <Words>1586</Words>
  <Application>Microsoft Office PowerPoint</Application>
  <PresentationFormat>On-screen Show (4:3)</PresentationFormat>
  <Paragraphs>505</Paragraphs>
  <Slides>33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宋体</vt:lpstr>
      <vt:lpstr>Arial</vt:lpstr>
      <vt:lpstr>Calibri</vt:lpstr>
      <vt:lpstr>Calibri Light</vt:lpstr>
      <vt:lpstr>Cambria Math</vt:lpstr>
      <vt:lpstr>Times</vt:lpstr>
      <vt:lpstr>Times New Roman</vt:lpstr>
      <vt:lpstr>Office Theme</vt:lpstr>
      <vt:lpstr>Power Electronics</vt:lpstr>
      <vt:lpstr>Schemes of Inverters to study</vt:lpstr>
      <vt:lpstr>Schemes of Inverters to study</vt:lpstr>
      <vt:lpstr>Inverter Types</vt:lpstr>
      <vt:lpstr>Operation</vt:lpstr>
      <vt:lpstr>Operation – Square Wave</vt:lpstr>
      <vt:lpstr>Operation – Square Wave</vt:lpstr>
      <vt:lpstr>Operation – Square Wave</vt:lpstr>
      <vt:lpstr>Operation – Square Wave</vt:lpstr>
      <vt:lpstr>Operation – Square Wave</vt:lpstr>
      <vt:lpstr>Operation – Square Wave</vt:lpstr>
      <vt:lpstr>Operation – Square Wave</vt:lpstr>
      <vt:lpstr>Operation – Square Wave</vt:lpstr>
      <vt:lpstr>Operation</vt:lpstr>
      <vt:lpstr>Operation</vt:lpstr>
      <vt:lpstr>Harmonics</vt:lpstr>
      <vt:lpstr>PowerPoint Presentation</vt:lpstr>
      <vt:lpstr>Practical Inverter</vt:lpstr>
      <vt:lpstr>Summary</vt:lpstr>
      <vt:lpstr>Power Electronics</vt:lpstr>
      <vt:lpstr>Applications - High level</vt:lpstr>
      <vt:lpstr>Residential Applications </vt:lpstr>
      <vt:lpstr>SPACE HEATING AND AIR CONDITIONING</vt:lpstr>
      <vt:lpstr>SPACE HEATING AND AIR CONDITIONING</vt:lpstr>
      <vt:lpstr>INDUCTION COOKING</vt:lpstr>
      <vt:lpstr>Industrial Applications </vt:lpstr>
      <vt:lpstr>Induction Heating</vt:lpstr>
      <vt:lpstr>Induction Heating</vt:lpstr>
      <vt:lpstr>Electric Welding</vt:lpstr>
      <vt:lpstr>Motor drive applications</vt:lpstr>
      <vt:lpstr>Electric Vehicle</vt:lpstr>
      <vt:lpstr>PowerPoint Presentation</vt:lpstr>
      <vt:lpstr>Additional links for self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we have studied so far</dc:title>
  <dc:creator>Shuja Ansari</dc:creator>
  <cp:lastModifiedBy>Atif Jafri</cp:lastModifiedBy>
  <cp:revision>62</cp:revision>
  <dcterms:created xsi:type="dcterms:W3CDTF">2022-04-24T21:36:35Z</dcterms:created>
  <dcterms:modified xsi:type="dcterms:W3CDTF">2025-05-14T05:26:02Z</dcterms:modified>
</cp:coreProperties>
</file>