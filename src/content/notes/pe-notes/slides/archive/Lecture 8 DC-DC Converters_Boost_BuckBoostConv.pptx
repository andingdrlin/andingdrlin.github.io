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403" r:id="rId2"/>
    <p:sldId id="407" r:id="rId3"/>
    <p:sldId id="416" r:id="rId4"/>
    <p:sldId id="417" r:id="rId5"/>
    <p:sldId id="276" r:id="rId6"/>
    <p:sldId id="277" r:id="rId7"/>
    <p:sldId id="412" r:id="rId8"/>
    <p:sldId id="413" r:id="rId9"/>
    <p:sldId id="414" r:id="rId10"/>
    <p:sldId id="420" r:id="rId11"/>
    <p:sldId id="419" r:id="rId12"/>
    <p:sldId id="282" r:id="rId13"/>
    <p:sldId id="421" r:id="rId14"/>
    <p:sldId id="418" r:id="rId15"/>
    <p:sldId id="385" r:id="rId16"/>
    <p:sldId id="408" r:id="rId17"/>
    <p:sldId id="286" r:id="rId18"/>
    <p:sldId id="287" r:id="rId19"/>
    <p:sldId id="288" r:id="rId20"/>
    <p:sldId id="289" r:id="rId21"/>
    <p:sldId id="411" r:id="rId22"/>
    <p:sldId id="409" r:id="rId23"/>
    <p:sldId id="422" r:id="rId24"/>
    <p:sldId id="423" r:id="rId25"/>
    <p:sldId id="295" r:id="rId26"/>
    <p:sldId id="296" r:id="rId27"/>
    <p:sldId id="297" r:id="rId28"/>
    <p:sldId id="298" r:id="rId29"/>
    <p:sldId id="38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2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17" autoAdjust="0"/>
    <p:restoredTop sz="96095"/>
  </p:normalViewPr>
  <p:slideViewPr>
    <p:cSldViewPr snapToGrid="0" snapToObjects="1">
      <p:cViewPr varScale="1">
        <p:scale>
          <a:sx n="70" d="100"/>
          <a:sy n="70" d="100"/>
        </p:scale>
        <p:origin x="14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BFB02-F1FF-3446-ADFC-46B935C62F94}" type="datetimeFigureOut">
              <a:rPr lang="en-US" smtClean="0"/>
              <a:t>5/8/2025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5C68C-7517-2F44-A8B3-F42BECC95057}" type="slidenum">
              <a:rPr lang="en-US" smtClean="0"/>
              <a:t>‹#›</a:t>
            </a:fld>
            <a:endParaRPr lang="en-US"/>
          </a:p>
        </p:txBody>
      </p:sp>
    </p:spTree>
    <p:extLst>
      <p:ext uri="{BB962C8B-B14F-4D97-AF65-F5344CB8AC3E}">
        <p14:creationId xmlns:p14="http://schemas.microsoft.com/office/powerpoint/2010/main" val="1206158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2</a:t>
            </a:fld>
            <a:endParaRPr lang="en-US"/>
          </a:p>
        </p:txBody>
      </p:sp>
    </p:spTree>
    <p:extLst>
      <p:ext uri="{BB962C8B-B14F-4D97-AF65-F5344CB8AC3E}">
        <p14:creationId xmlns:p14="http://schemas.microsoft.com/office/powerpoint/2010/main" val="4066787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16</a:t>
            </a:fld>
            <a:endParaRPr lang="en-US"/>
          </a:p>
        </p:txBody>
      </p:sp>
    </p:spTree>
    <p:extLst>
      <p:ext uri="{BB962C8B-B14F-4D97-AF65-F5344CB8AC3E}">
        <p14:creationId xmlns:p14="http://schemas.microsoft.com/office/powerpoint/2010/main" val="295788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17</a:t>
            </a:fld>
            <a:endParaRPr lang="en-US"/>
          </a:p>
        </p:txBody>
      </p:sp>
    </p:spTree>
    <p:extLst>
      <p:ext uri="{BB962C8B-B14F-4D97-AF65-F5344CB8AC3E}">
        <p14:creationId xmlns:p14="http://schemas.microsoft.com/office/powerpoint/2010/main" val="2696894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5C68C-7517-2F44-A8B3-F42BECC95057}" type="slidenum">
              <a:rPr lang="en-US" smtClean="0"/>
              <a:t>20</a:t>
            </a:fld>
            <a:endParaRPr lang="en-US"/>
          </a:p>
        </p:txBody>
      </p:sp>
    </p:spTree>
    <p:extLst>
      <p:ext uri="{BB962C8B-B14F-4D97-AF65-F5344CB8AC3E}">
        <p14:creationId xmlns:p14="http://schemas.microsoft.com/office/powerpoint/2010/main" val="2915253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696736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37239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63DFD5F-D562-9E46-BEFD-1422EE9D5D5C}"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69667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63DFD5F-D562-9E46-BEFD-1422EE9D5D5C}"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254448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63DFD5F-D562-9E46-BEFD-1422EE9D5D5C}"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290926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63DFD5F-D562-9E46-BEFD-1422EE9D5D5C}"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219821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3DFD5F-D562-9E46-BEFD-1422EE9D5D5C}" type="datetimeFigureOut">
              <a:rPr lang="en-US" smtClean="0"/>
              <a:t>5/8/2025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40091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63DFD5F-D562-9E46-BEFD-1422EE9D5D5C}"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138785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63DFD5F-D562-9E46-BEFD-1422EE9D5D5C}"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716974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3763727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3DFD5F-D562-9E46-BEFD-1422EE9D5D5C}"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D66185-A23F-D840-B889-681227218EBF}" type="slidenum">
              <a:rPr lang="en-US" smtClean="0"/>
              <a:t>‹#›</a:t>
            </a:fld>
            <a:endParaRPr lang="en-US"/>
          </a:p>
        </p:txBody>
      </p:sp>
    </p:spTree>
    <p:extLst>
      <p:ext uri="{BB962C8B-B14F-4D97-AF65-F5344CB8AC3E}">
        <p14:creationId xmlns:p14="http://schemas.microsoft.com/office/powerpoint/2010/main" val="1604493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3DFD5F-D562-9E46-BEFD-1422EE9D5D5C}" type="datetimeFigureOut">
              <a:rPr lang="en-US" smtClean="0"/>
              <a:t>5/8/2025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66185-A23F-D840-B889-681227218EBF}" type="slidenum">
              <a:rPr lang="en-US" smtClean="0"/>
              <a:t>‹#›</a:t>
            </a:fld>
            <a:endParaRPr lang="en-US"/>
          </a:p>
        </p:txBody>
      </p:sp>
    </p:spTree>
    <p:extLst>
      <p:ext uri="{BB962C8B-B14F-4D97-AF65-F5344CB8AC3E}">
        <p14:creationId xmlns:p14="http://schemas.microsoft.com/office/powerpoint/2010/main" val="39596428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0.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0.png"/><Relationship Id="rId1" Type="http://schemas.openxmlformats.org/officeDocument/2006/relationships/slideLayout" Target="../slideLayouts/slideLayout7.xml"/><Relationship Id="rId6" Type="http://schemas.openxmlformats.org/officeDocument/2006/relationships/image" Target="../media/image140.png"/><Relationship Id="rId11" Type="http://schemas.openxmlformats.org/officeDocument/2006/relationships/image" Target="../media/image19.png"/><Relationship Id="rId5" Type="http://schemas.openxmlformats.org/officeDocument/2006/relationships/image" Target="../media/image130.png"/><Relationship Id="rId10" Type="http://schemas.openxmlformats.org/officeDocument/2006/relationships/image" Target="../media/image15.emf"/><Relationship Id="rId4" Type="http://schemas.openxmlformats.org/officeDocument/2006/relationships/image" Target="../media/image120.png"/><Relationship Id="rId9" Type="http://schemas.openxmlformats.org/officeDocument/2006/relationships/image" Target="../media/image14.emf"/></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46.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NULL"/><Relationship Id="rId7" Type="http://schemas.openxmlformats.org/officeDocument/2006/relationships/image" Target="../media/image3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NULL"/><Relationship Id="rId10" Type="http://schemas.openxmlformats.org/officeDocument/2006/relationships/image" Target="../media/image35.png"/><Relationship Id="rId4" Type="http://schemas.openxmlformats.org/officeDocument/2006/relationships/image" Target="../media/image30.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50.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9.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48.png"/><Relationship Id="rId5" Type="http://schemas.openxmlformats.org/officeDocument/2006/relationships/image" Target="../media/image41.png"/><Relationship Id="rId10" Type="http://schemas.openxmlformats.org/officeDocument/2006/relationships/image" Target="../media/image47.png"/><Relationship Id="rId4" Type="http://schemas.openxmlformats.org/officeDocument/2006/relationships/image" Target="../media/image40.png"/><Relationship Id="rId9"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10.png"/><Relationship Id="rId1" Type="http://schemas.openxmlformats.org/officeDocument/2006/relationships/slideLayout" Target="../slideLayouts/slideLayout7.xml"/><Relationship Id="rId4" Type="http://schemas.openxmlformats.org/officeDocument/2006/relationships/image" Target="../media/image30.emf"/></Relationships>
</file>

<file path=ppt/slides/_rels/slide1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slide" Target="slide20.xml"/></Relationships>
</file>

<file path=ppt/slides/_rels/slide2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2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8.png"/><Relationship Id="rId7" Type="http://schemas.openxmlformats.org/officeDocument/2006/relationships/image" Target="../media/image71.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23.png"/><Relationship Id="rId10" Type="http://schemas.openxmlformats.org/officeDocument/2006/relationships/image" Target="../media/image74.png"/><Relationship Id="rId4" Type="http://schemas.openxmlformats.org/officeDocument/2006/relationships/image" Target="../media/image69.png"/><Relationship Id="rId9" Type="http://schemas.openxmlformats.org/officeDocument/2006/relationships/image" Target="../media/image73.png"/></Relationships>
</file>

<file path=ppt/slides/_rels/slide2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441.png"/><Relationship Id="rId3" Type="http://schemas.openxmlformats.org/officeDocument/2006/relationships/image" Target="../media/image54.emf"/><Relationship Id="rId7" Type="http://schemas.openxmlformats.org/officeDocument/2006/relationships/image" Target="../media/image430.png"/><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image" Target="../media/image420.png"/><Relationship Id="rId5" Type="http://schemas.openxmlformats.org/officeDocument/2006/relationships/image" Target="../media/image410.png"/><Relationship Id="rId4" Type="http://schemas.openxmlformats.org/officeDocument/2006/relationships/image" Target="../media/image400.png"/><Relationship Id="rId9" Type="http://schemas.openxmlformats.org/officeDocument/2006/relationships/image" Target="../media/image451.png"/></Relationships>
</file>

<file path=ppt/slides/_rels/slide28.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8179B57-1590-BC45-A725-0181D151088C}"/>
              </a:ext>
            </a:extLst>
          </p:cNvPr>
          <p:cNvSpPr>
            <a:spLocks noGrp="1"/>
          </p:cNvSpPr>
          <p:nvPr>
            <p:ph type="ctrTitle"/>
          </p:nvPr>
        </p:nvSpPr>
        <p:spPr>
          <a:xfrm>
            <a:off x="773113" y="1633538"/>
            <a:ext cx="7772400" cy="1111250"/>
          </a:xfrm>
        </p:spPr>
        <p:txBody>
          <a:bodyPr/>
          <a:lstStyle/>
          <a:p>
            <a:pPr eaLnBrk="1" hangingPunct="1"/>
            <a:r>
              <a:rPr lang="en-GB" altLang="en-US" b="1" dirty="0">
                <a:solidFill>
                  <a:srgbClr val="0066FF"/>
                </a:solidFill>
              </a:rPr>
              <a:t>Power Electronics</a:t>
            </a:r>
          </a:p>
        </p:txBody>
      </p:sp>
      <p:sp>
        <p:nvSpPr>
          <p:cNvPr id="5123" name="Subtitle 2">
            <a:extLst>
              <a:ext uri="{FF2B5EF4-FFF2-40B4-BE49-F238E27FC236}">
                <a16:creationId xmlns:a16="http://schemas.microsoft.com/office/drawing/2014/main" id="{31824FBD-028C-BA40-B99F-80B32713F071}"/>
              </a:ext>
            </a:extLst>
          </p:cNvPr>
          <p:cNvSpPr>
            <a:spLocks noGrp="1"/>
          </p:cNvSpPr>
          <p:nvPr>
            <p:ph type="subTitle" idx="1"/>
          </p:nvPr>
        </p:nvSpPr>
        <p:spPr>
          <a:xfrm>
            <a:off x="107950" y="2698750"/>
            <a:ext cx="8713788" cy="1795463"/>
          </a:xfrm>
        </p:spPr>
        <p:txBody>
          <a:bodyPr/>
          <a:lstStyle/>
          <a:p>
            <a:pPr eaLnBrk="1" hangingPunct="1"/>
            <a:r>
              <a:rPr lang="en-GB" altLang="en-US" sz="3200" b="1" dirty="0">
                <a:solidFill>
                  <a:srgbClr val="FF0000"/>
                </a:solidFill>
              </a:rPr>
              <a:t>Switched Mode DC-DC Converters I:</a:t>
            </a:r>
          </a:p>
          <a:p>
            <a:pPr eaLnBrk="1" hangingPunct="1"/>
            <a:r>
              <a:rPr lang="en-GB" altLang="zh-CN" sz="3200" b="1" dirty="0">
                <a:solidFill>
                  <a:srgbClr val="7030A0"/>
                </a:solidFill>
                <a:ea typeface="宋体" panose="02010600030101010101" pitchFamily="2" charset="-122"/>
              </a:rPr>
              <a:t>Boost Converter, Buck-Boost Converter</a:t>
            </a:r>
            <a:endParaRPr lang="en-GB" altLang="en-US" sz="3200" b="1" dirty="0">
              <a:solidFill>
                <a:srgbClr val="7030A0"/>
              </a:solidFill>
            </a:endParaRPr>
          </a:p>
        </p:txBody>
      </p:sp>
      <p:sp>
        <p:nvSpPr>
          <p:cNvPr id="5124" name="Slide Number Placeholder 3">
            <a:extLst>
              <a:ext uri="{FF2B5EF4-FFF2-40B4-BE49-F238E27FC236}">
                <a16:creationId xmlns:a16="http://schemas.microsoft.com/office/drawing/2014/main" id="{FDF72E74-1EE9-7B49-96D7-FFD92A88D8FF}"/>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3EFF0B-84F2-CD43-A7F3-4FA0FAFA6A8D}" type="slidenum">
              <a:rPr lang="en-US" altLang="en-US" sz="1400"/>
              <a:pPr>
                <a:spcBef>
                  <a:spcPct val="0"/>
                </a:spcBef>
                <a:buFontTx/>
                <a:buNone/>
              </a:pPr>
              <a:t>1</a:t>
            </a:fld>
            <a:endParaRPr lang="en-US" altLang="en-US" sz="1400" dirty="0"/>
          </a:p>
        </p:txBody>
      </p:sp>
      <p:pic>
        <p:nvPicPr>
          <p:cNvPr id="5125" name="Picture 4" descr="http://www.ranklogos.com/wp-content/uploads/2012/06/university-of-glasgow.gif">
            <a:extLst>
              <a:ext uri="{FF2B5EF4-FFF2-40B4-BE49-F238E27FC236}">
                <a16:creationId xmlns:a16="http://schemas.microsoft.com/office/drawing/2014/main" id="{DE2A00EB-FE41-3F42-85BD-B25D5553B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152400"/>
            <a:ext cx="3529012"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
            <a:extLst>
              <a:ext uri="{FF2B5EF4-FFF2-40B4-BE49-F238E27FC236}">
                <a16:creationId xmlns:a16="http://schemas.microsoft.com/office/drawing/2014/main" id="{1C4DE0F9-D46F-8243-91F1-FDECB10B7BEE}"/>
              </a:ext>
            </a:extLst>
          </p:cNvPr>
          <p:cNvSpPr txBox="1">
            <a:spLocks noChangeArrowheads="1"/>
          </p:cNvSpPr>
          <p:nvPr/>
        </p:nvSpPr>
        <p:spPr bwMode="auto">
          <a:xfrm>
            <a:off x="0" y="5531663"/>
            <a:ext cx="67675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pPr>
            <a:r>
              <a:rPr lang="en-GB" altLang="en-US" sz="2800" dirty="0"/>
              <a:t>Please read </a:t>
            </a:r>
            <a:r>
              <a:rPr lang="en-GB" altLang="en-US" sz="2800" dirty="0">
                <a:solidFill>
                  <a:srgbClr val="0000FF"/>
                </a:solidFill>
              </a:rPr>
              <a:t>Chapter </a:t>
            </a:r>
            <a:r>
              <a:rPr lang="en-US" altLang="zh-CN" sz="2800" dirty="0">
                <a:solidFill>
                  <a:srgbClr val="0000FF"/>
                </a:solidFill>
                <a:ea typeface="宋体" panose="02010600030101010101" pitchFamily="2" charset="-122"/>
              </a:rPr>
              <a:t>7</a:t>
            </a:r>
            <a:r>
              <a:rPr lang="en-GB" altLang="en-US" sz="2800" dirty="0">
                <a:solidFill>
                  <a:srgbClr val="0000FF"/>
                </a:solidFill>
              </a:rPr>
              <a:t> </a:t>
            </a:r>
            <a:r>
              <a:rPr lang="en-US" altLang="zh-CN" sz="2800" dirty="0">
                <a:ea typeface="宋体" panose="02010600030101010101" pitchFamily="2" charset="-122"/>
              </a:rPr>
              <a:t>in</a:t>
            </a:r>
            <a:r>
              <a:rPr lang="en-GB" altLang="en-US" sz="2800" dirty="0"/>
              <a:t> the textbook </a:t>
            </a:r>
          </a:p>
          <a:p>
            <a:pPr lvl="1">
              <a:spcBef>
                <a:spcPct val="0"/>
              </a:spcBef>
              <a:buNone/>
            </a:pPr>
            <a:r>
              <a:rPr lang="en-GB" altLang="en-US" sz="1800" dirty="0"/>
              <a:t>POWER ELECTRONICS </a:t>
            </a:r>
          </a:p>
          <a:p>
            <a:pPr lvl="1">
              <a:spcBef>
                <a:spcPct val="0"/>
              </a:spcBef>
              <a:buNone/>
            </a:pPr>
            <a:r>
              <a:rPr lang="en-GB" altLang="en-US" sz="1800" dirty="0"/>
              <a:t>Converters, Applications, and Design </a:t>
            </a:r>
          </a:p>
        </p:txBody>
      </p:sp>
      <p:sp>
        <p:nvSpPr>
          <p:cNvPr id="8" name="TextBox 7">
            <a:extLst>
              <a:ext uri="{FF2B5EF4-FFF2-40B4-BE49-F238E27FC236}">
                <a16:creationId xmlns:a16="http://schemas.microsoft.com/office/drawing/2014/main" id="{5F03787A-FA8A-C145-AEC2-4E7A73E6A1E5}"/>
              </a:ext>
            </a:extLst>
          </p:cNvPr>
          <p:cNvSpPr txBox="1"/>
          <p:nvPr/>
        </p:nvSpPr>
        <p:spPr>
          <a:xfrm>
            <a:off x="3255058" y="4488670"/>
            <a:ext cx="2419573" cy="646331"/>
          </a:xfrm>
          <a:prstGeom prst="rect">
            <a:avLst/>
          </a:prstGeom>
          <a:noFill/>
        </p:spPr>
        <p:txBody>
          <a:bodyPr wrap="none" rtlCol="0">
            <a:spAutoFit/>
          </a:bodyPr>
          <a:lstStyle/>
          <a:p>
            <a:pPr algn="ctr"/>
            <a:r>
              <a:rPr lang="en-US" dirty="0"/>
              <a:t>Dr Atif Jafri</a:t>
            </a:r>
          </a:p>
          <a:p>
            <a:pPr algn="ctr"/>
            <a:r>
              <a:rPr lang="en-US" dirty="0" err="1"/>
              <a:t>Atif.Jafri@glasgow.ac.uk</a:t>
            </a:r>
            <a:endParaRPr lang="en-US"/>
          </a:p>
        </p:txBody>
      </p:sp>
    </p:spTree>
    <p:extLst>
      <p:ext uri="{BB962C8B-B14F-4D97-AF65-F5344CB8AC3E}">
        <p14:creationId xmlns:p14="http://schemas.microsoft.com/office/powerpoint/2010/main" val="3798275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4">
            <a:extLst>
              <a:ext uri="{FF2B5EF4-FFF2-40B4-BE49-F238E27FC236}">
                <a16:creationId xmlns:a16="http://schemas.microsoft.com/office/drawing/2014/main" id="{F59045BE-BB19-F641-BCDF-FE5E8B19C32D}"/>
              </a:ext>
            </a:extLst>
          </p:cNvPr>
          <p:cNvSpPr txBox="1">
            <a:spLocks noChangeArrowheads="1"/>
          </p:cNvSpPr>
          <p:nvPr/>
        </p:nvSpPr>
        <p:spPr bwMode="auto">
          <a:xfrm>
            <a:off x="196805" y="225514"/>
            <a:ext cx="3243081"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400" b="1" u="sng" dirty="0"/>
              <a:t>The Boost Converter</a:t>
            </a:r>
            <a:endParaRPr lang="en-US" altLang="en-US" sz="2400" b="1" u="sng" dirty="0"/>
          </a:p>
        </p:txBody>
      </p:sp>
      <p:sp>
        <p:nvSpPr>
          <p:cNvPr id="4" name="TextBox 3">
            <a:extLst>
              <a:ext uri="{FF2B5EF4-FFF2-40B4-BE49-F238E27FC236}">
                <a16:creationId xmlns:a16="http://schemas.microsoft.com/office/drawing/2014/main" id="{59D0B00B-6C3D-BC22-EE1C-09774BE47EF3}"/>
              </a:ext>
            </a:extLst>
          </p:cNvPr>
          <p:cNvSpPr txBox="1"/>
          <p:nvPr/>
        </p:nvSpPr>
        <p:spPr>
          <a:xfrm>
            <a:off x="100149" y="855004"/>
            <a:ext cx="8817428" cy="3046988"/>
          </a:xfrm>
          <a:prstGeom prst="rect">
            <a:avLst/>
          </a:prstGeom>
          <a:noFill/>
        </p:spPr>
        <p:txBody>
          <a:bodyPr wrap="square">
            <a:spAutoFit/>
          </a:bodyPr>
          <a:lstStyle/>
          <a:p>
            <a:pPr marL="1085850" lvl="1" indent="-342900">
              <a:buFontTx/>
              <a:buChar char="-"/>
            </a:pPr>
            <a:r>
              <a:rPr lang="en-GB" altLang="en-US" sz="3200" dirty="0"/>
              <a:t>How it works?</a:t>
            </a:r>
          </a:p>
          <a:p>
            <a:pPr marL="1085850" lvl="1" indent="-342900">
              <a:buFontTx/>
              <a:buChar char="-"/>
            </a:pPr>
            <a:r>
              <a:rPr lang="en-GB" altLang="en-US" sz="3200" dirty="0"/>
              <a:t>Important waveforms</a:t>
            </a:r>
          </a:p>
          <a:p>
            <a:pPr marL="1085850" lvl="1" indent="-342900">
              <a:buFontTx/>
              <a:buChar char="-"/>
            </a:pPr>
            <a:r>
              <a:rPr lang="en-GB" altLang="en-US" sz="3200" dirty="0"/>
              <a:t>Expression for output voltage</a:t>
            </a:r>
          </a:p>
          <a:p>
            <a:pPr marL="1543050" lvl="2" indent="-342900">
              <a:buFontTx/>
              <a:buChar char="-"/>
            </a:pPr>
            <a:r>
              <a:rPr lang="en-GB" altLang="en-US" sz="3200" dirty="0"/>
              <a:t>Based on average voltage of inductor</a:t>
            </a:r>
          </a:p>
          <a:p>
            <a:pPr marL="1543050" lvl="2" indent="-342900">
              <a:buFontTx/>
              <a:buChar char="-"/>
            </a:pPr>
            <a:r>
              <a:rPr lang="en-GB" altLang="en-US" sz="3200" dirty="0"/>
              <a:t>Based on change in current of inductor</a:t>
            </a:r>
          </a:p>
          <a:p>
            <a:pPr marL="1085850" lvl="1" indent="-342900">
              <a:buFontTx/>
              <a:buChar char="-"/>
            </a:pPr>
            <a:r>
              <a:rPr lang="en-GB" altLang="en-US" sz="3200" dirty="0"/>
              <a:t>Numerical Problems</a:t>
            </a:r>
          </a:p>
        </p:txBody>
      </p:sp>
    </p:spTree>
    <p:extLst>
      <p:ext uri="{BB962C8B-B14F-4D97-AF65-F5344CB8AC3E}">
        <p14:creationId xmlns:p14="http://schemas.microsoft.com/office/powerpoint/2010/main" val="3488060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a:extLst>
              <a:ext uri="{FF2B5EF4-FFF2-40B4-BE49-F238E27FC236}">
                <a16:creationId xmlns:a16="http://schemas.microsoft.com/office/drawing/2014/main" id="{51A3DAF2-37B8-0D42-B787-EEF2865B354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4D1F3F4-044A-B841-8441-0266E4967EE5}" type="slidenum">
              <a:rPr lang="en-US" altLang="en-US" sz="1400"/>
              <a:pPr>
                <a:spcBef>
                  <a:spcPct val="0"/>
                </a:spcBef>
                <a:buFontTx/>
                <a:buNone/>
              </a:pPr>
              <a:t>3</a:t>
            </a:fld>
            <a:endParaRPr lang="en-US" altLang="en-US" sz="1400"/>
          </a:p>
        </p:txBody>
      </p:sp>
      <p:sp>
        <p:nvSpPr>
          <p:cNvPr id="7171" name="Text Box 4">
            <a:extLst>
              <a:ext uri="{FF2B5EF4-FFF2-40B4-BE49-F238E27FC236}">
                <a16:creationId xmlns:a16="http://schemas.microsoft.com/office/drawing/2014/main" id="{17D4D0A1-8720-354B-9133-C968DA410CFA}"/>
              </a:ext>
            </a:extLst>
          </p:cNvPr>
          <p:cNvSpPr txBox="1">
            <a:spLocks noChangeArrowheads="1"/>
          </p:cNvSpPr>
          <p:nvPr/>
        </p:nvSpPr>
        <p:spPr bwMode="auto">
          <a:xfrm>
            <a:off x="214358" y="3472151"/>
            <a:ext cx="87137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285750" indent="-285750">
              <a:spcBef>
                <a:spcPct val="50000"/>
              </a:spcBef>
            </a:pPr>
            <a:r>
              <a:rPr lang="en-GB" altLang="en-US" sz="2000" dirty="0"/>
              <a:t>The boost converter is used to increase the output voltage (</a:t>
            </a:r>
            <a:r>
              <a:rPr lang="en-GB" altLang="en-US" sz="2000" dirty="0" err="1"/>
              <a:t>V</a:t>
            </a:r>
            <a:r>
              <a:rPr lang="en-GB" altLang="en-US" sz="2000" baseline="-25000" dirty="0" err="1"/>
              <a:t>Out</a:t>
            </a:r>
            <a:r>
              <a:rPr lang="en-GB" altLang="en-US" sz="2000" dirty="0"/>
              <a:t>) above the input voltage (</a:t>
            </a:r>
            <a:r>
              <a:rPr lang="en-GB" altLang="en-US" sz="2000" dirty="0" err="1"/>
              <a:t>V</a:t>
            </a:r>
            <a:r>
              <a:rPr lang="en-GB" altLang="en-US" sz="2000" baseline="-25000" dirty="0" err="1"/>
              <a:t>In</a:t>
            </a:r>
            <a:r>
              <a:rPr lang="en-GB" altLang="en-US" sz="2000" dirty="0"/>
              <a:t>). </a:t>
            </a:r>
            <a:endParaRPr lang="en-US" altLang="en-US" sz="2000" dirty="0"/>
          </a:p>
        </p:txBody>
      </p:sp>
      <p:grpSp>
        <p:nvGrpSpPr>
          <p:cNvPr id="2" name="Group 1">
            <a:extLst>
              <a:ext uri="{FF2B5EF4-FFF2-40B4-BE49-F238E27FC236}">
                <a16:creationId xmlns:a16="http://schemas.microsoft.com/office/drawing/2014/main" id="{9A6C3F36-392B-9EBD-3C3D-5729901A9048}"/>
              </a:ext>
            </a:extLst>
          </p:cNvPr>
          <p:cNvGrpSpPr/>
          <p:nvPr/>
        </p:nvGrpSpPr>
        <p:grpSpPr>
          <a:xfrm>
            <a:off x="892175" y="1267619"/>
            <a:ext cx="7058025" cy="1871662"/>
            <a:chOff x="322263" y="1484313"/>
            <a:chExt cx="7058025" cy="1871662"/>
          </a:xfrm>
        </p:grpSpPr>
        <p:sp>
          <p:nvSpPr>
            <p:cNvPr id="7172" name="Rectangle 5">
              <a:extLst>
                <a:ext uri="{FF2B5EF4-FFF2-40B4-BE49-F238E27FC236}">
                  <a16:creationId xmlns:a16="http://schemas.microsoft.com/office/drawing/2014/main" id="{67BDB86E-4644-3547-AA2E-B75B9B872041}"/>
                </a:ext>
              </a:extLst>
            </p:cNvPr>
            <p:cNvSpPr>
              <a:spLocks noChangeArrowheads="1"/>
            </p:cNvSpPr>
            <p:nvPr/>
          </p:nvSpPr>
          <p:spPr bwMode="auto">
            <a:xfrm>
              <a:off x="322263" y="2420938"/>
              <a:ext cx="433387" cy="71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173" name="Rectangle 6">
              <a:extLst>
                <a:ext uri="{FF2B5EF4-FFF2-40B4-BE49-F238E27FC236}">
                  <a16:creationId xmlns:a16="http://schemas.microsoft.com/office/drawing/2014/main" id="{557AFE70-7146-3E4B-B826-24F57276D048}"/>
                </a:ext>
              </a:extLst>
            </p:cNvPr>
            <p:cNvSpPr>
              <a:spLocks noChangeArrowheads="1"/>
            </p:cNvSpPr>
            <p:nvPr/>
          </p:nvSpPr>
          <p:spPr bwMode="auto">
            <a:xfrm>
              <a:off x="395288" y="2563813"/>
              <a:ext cx="287337"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174" name="Line 7">
              <a:extLst>
                <a:ext uri="{FF2B5EF4-FFF2-40B4-BE49-F238E27FC236}">
                  <a16:creationId xmlns:a16="http://schemas.microsoft.com/office/drawing/2014/main" id="{6CDF8F37-70C6-1144-9164-4798E126CE1B}"/>
                </a:ext>
              </a:extLst>
            </p:cNvPr>
            <p:cNvSpPr>
              <a:spLocks noChangeShapeType="1"/>
            </p:cNvSpPr>
            <p:nvPr/>
          </p:nvSpPr>
          <p:spPr bwMode="auto">
            <a:xfrm flipV="1">
              <a:off x="539750" y="1627188"/>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5" name="Line 8">
              <a:extLst>
                <a:ext uri="{FF2B5EF4-FFF2-40B4-BE49-F238E27FC236}">
                  <a16:creationId xmlns:a16="http://schemas.microsoft.com/office/drawing/2014/main" id="{85540635-0676-BE4A-ACA9-E7498BA7D58F}"/>
                </a:ext>
              </a:extLst>
            </p:cNvPr>
            <p:cNvSpPr>
              <a:spLocks noChangeShapeType="1"/>
            </p:cNvSpPr>
            <p:nvPr/>
          </p:nvSpPr>
          <p:spPr bwMode="auto">
            <a:xfrm flipV="1">
              <a:off x="539750" y="2636838"/>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6" name="Line 9">
              <a:extLst>
                <a:ext uri="{FF2B5EF4-FFF2-40B4-BE49-F238E27FC236}">
                  <a16:creationId xmlns:a16="http://schemas.microsoft.com/office/drawing/2014/main" id="{9F932B50-2C55-9540-BD20-6E2016F23D3C}"/>
                </a:ext>
              </a:extLst>
            </p:cNvPr>
            <p:cNvSpPr>
              <a:spLocks noChangeShapeType="1"/>
            </p:cNvSpPr>
            <p:nvPr/>
          </p:nvSpPr>
          <p:spPr bwMode="auto">
            <a:xfrm flipV="1">
              <a:off x="827088" y="227488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Text Box 10">
              <a:extLst>
                <a:ext uri="{FF2B5EF4-FFF2-40B4-BE49-F238E27FC236}">
                  <a16:creationId xmlns:a16="http://schemas.microsoft.com/office/drawing/2014/main" id="{97FAA18A-38D3-9746-9995-653EAA7BE800}"/>
                </a:ext>
              </a:extLst>
            </p:cNvPr>
            <p:cNvSpPr txBox="1">
              <a:spLocks noChangeArrowheads="1"/>
            </p:cNvSpPr>
            <p:nvPr/>
          </p:nvSpPr>
          <p:spPr bwMode="auto">
            <a:xfrm>
              <a:off x="755650" y="227488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7178" name="Line 11">
              <a:extLst>
                <a:ext uri="{FF2B5EF4-FFF2-40B4-BE49-F238E27FC236}">
                  <a16:creationId xmlns:a16="http://schemas.microsoft.com/office/drawing/2014/main" id="{78A703C1-E86E-0943-9B35-4FE97317C4F4}"/>
                </a:ext>
              </a:extLst>
            </p:cNvPr>
            <p:cNvSpPr>
              <a:spLocks noChangeShapeType="1"/>
            </p:cNvSpPr>
            <p:nvPr/>
          </p:nvSpPr>
          <p:spPr bwMode="auto">
            <a:xfrm>
              <a:off x="539750" y="162718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179" name="Group 12">
              <a:extLst>
                <a:ext uri="{FF2B5EF4-FFF2-40B4-BE49-F238E27FC236}">
                  <a16:creationId xmlns:a16="http://schemas.microsoft.com/office/drawing/2014/main" id="{C2358391-D984-A04F-AD8D-60D8453C284A}"/>
                </a:ext>
              </a:extLst>
            </p:cNvPr>
            <p:cNvGrpSpPr>
              <a:grpSpLocks/>
            </p:cNvGrpSpPr>
            <p:nvPr/>
          </p:nvGrpSpPr>
          <p:grpSpPr bwMode="auto">
            <a:xfrm rot="-5400000">
              <a:off x="2011362" y="884238"/>
              <a:ext cx="314325" cy="1530350"/>
              <a:chOff x="3211" y="2176"/>
              <a:chExt cx="198" cy="964"/>
            </a:xfrm>
          </p:grpSpPr>
          <p:sp>
            <p:nvSpPr>
              <p:cNvPr id="7208" name="Oval 13">
                <a:extLst>
                  <a:ext uri="{FF2B5EF4-FFF2-40B4-BE49-F238E27FC236}">
                    <a16:creationId xmlns:a16="http://schemas.microsoft.com/office/drawing/2014/main" id="{2C8800C2-9994-6A4C-991E-042C47D464B2}"/>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209" name="Oval 14">
                <a:extLst>
                  <a:ext uri="{FF2B5EF4-FFF2-40B4-BE49-F238E27FC236}">
                    <a16:creationId xmlns:a16="http://schemas.microsoft.com/office/drawing/2014/main" id="{EF20E6DD-47BB-484A-A38B-E226293D3A4C}"/>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210" name="Oval 15">
                <a:extLst>
                  <a:ext uri="{FF2B5EF4-FFF2-40B4-BE49-F238E27FC236}">
                    <a16:creationId xmlns:a16="http://schemas.microsoft.com/office/drawing/2014/main" id="{8A903EF5-AEB2-1D4B-AB1A-23D7D963EF5E}"/>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211" name="Oval 16">
                <a:extLst>
                  <a:ext uri="{FF2B5EF4-FFF2-40B4-BE49-F238E27FC236}">
                    <a16:creationId xmlns:a16="http://schemas.microsoft.com/office/drawing/2014/main" id="{5EA7E4CD-B948-104A-B753-E3BFC382DAC4}"/>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212" name="Oval 17">
                <a:extLst>
                  <a:ext uri="{FF2B5EF4-FFF2-40B4-BE49-F238E27FC236}">
                    <a16:creationId xmlns:a16="http://schemas.microsoft.com/office/drawing/2014/main" id="{B2F9EA1D-33BC-FD48-9292-E8B0FDE2CF28}"/>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213" name="Oval 18">
                <a:extLst>
                  <a:ext uri="{FF2B5EF4-FFF2-40B4-BE49-F238E27FC236}">
                    <a16:creationId xmlns:a16="http://schemas.microsoft.com/office/drawing/2014/main" id="{8F123140-DBBF-4D44-A982-576FC2DD1314}"/>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214" name="Rectangle 19">
                <a:extLst>
                  <a:ext uri="{FF2B5EF4-FFF2-40B4-BE49-F238E27FC236}">
                    <a16:creationId xmlns:a16="http://schemas.microsoft.com/office/drawing/2014/main" id="{345B4C66-25FA-7D48-B4A9-C8FF7E99D1F9}"/>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215" name="Line 20">
                <a:extLst>
                  <a:ext uri="{FF2B5EF4-FFF2-40B4-BE49-F238E27FC236}">
                    <a16:creationId xmlns:a16="http://schemas.microsoft.com/office/drawing/2014/main" id="{629C3FEA-0EB5-F94E-A806-5D475F36209A}"/>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16" name="Line 21">
                <a:extLst>
                  <a:ext uri="{FF2B5EF4-FFF2-40B4-BE49-F238E27FC236}">
                    <a16:creationId xmlns:a16="http://schemas.microsoft.com/office/drawing/2014/main" id="{BAC2EE57-C290-9347-B9FC-E616E22C561E}"/>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180" name="Line 22">
              <a:extLst>
                <a:ext uri="{FF2B5EF4-FFF2-40B4-BE49-F238E27FC236}">
                  <a16:creationId xmlns:a16="http://schemas.microsoft.com/office/drawing/2014/main" id="{9E2BDA65-2AA5-B94B-8F2A-56C848B4791E}"/>
                </a:ext>
              </a:extLst>
            </p:cNvPr>
            <p:cNvSpPr>
              <a:spLocks noChangeShapeType="1"/>
            </p:cNvSpPr>
            <p:nvPr/>
          </p:nvSpPr>
          <p:spPr bwMode="auto">
            <a:xfrm flipH="1">
              <a:off x="2914650" y="1627188"/>
              <a:ext cx="144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1" name="Line 23">
              <a:extLst>
                <a:ext uri="{FF2B5EF4-FFF2-40B4-BE49-F238E27FC236}">
                  <a16:creationId xmlns:a16="http://schemas.microsoft.com/office/drawing/2014/main" id="{87877232-E17A-EE48-8024-39C10E9BFE73}"/>
                </a:ext>
              </a:extLst>
            </p:cNvPr>
            <p:cNvSpPr>
              <a:spLocks noChangeShapeType="1"/>
            </p:cNvSpPr>
            <p:nvPr/>
          </p:nvSpPr>
          <p:spPr bwMode="auto">
            <a:xfrm>
              <a:off x="3490913" y="2276475"/>
              <a:ext cx="144462"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182" name="Group 24">
              <a:extLst>
                <a:ext uri="{FF2B5EF4-FFF2-40B4-BE49-F238E27FC236}">
                  <a16:creationId xmlns:a16="http://schemas.microsoft.com/office/drawing/2014/main" id="{C71ECA3F-7B65-A648-A310-CD30A6E2B721}"/>
                </a:ext>
              </a:extLst>
            </p:cNvPr>
            <p:cNvGrpSpPr>
              <a:grpSpLocks/>
            </p:cNvGrpSpPr>
            <p:nvPr/>
          </p:nvGrpSpPr>
          <p:grpSpPr bwMode="auto">
            <a:xfrm>
              <a:off x="4356100" y="1484313"/>
              <a:ext cx="215900" cy="287337"/>
              <a:chOff x="1973" y="2160"/>
              <a:chExt cx="136" cy="181"/>
            </a:xfrm>
          </p:grpSpPr>
          <p:sp>
            <p:nvSpPr>
              <p:cNvPr id="7204" name="Line 25">
                <a:extLst>
                  <a:ext uri="{FF2B5EF4-FFF2-40B4-BE49-F238E27FC236}">
                    <a16:creationId xmlns:a16="http://schemas.microsoft.com/office/drawing/2014/main" id="{3AA8FC85-8890-C44F-A678-F3B2D232DD34}"/>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05" name="Line 26">
                <a:extLst>
                  <a:ext uri="{FF2B5EF4-FFF2-40B4-BE49-F238E27FC236}">
                    <a16:creationId xmlns:a16="http://schemas.microsoft.com/office/drawing/2014/main" id="{583BB04A-3582-A540-8768-06E83201CC1E}"/>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06" name="Line 27">
                <a:extLst>
                  <a:ext uri="{FF2B5EF4-FFF2-40B4-BE49-F238E27FC236}">
                    <a16:creationId xmlns:a16="http://schemas.microsoft.com/office/drawing/2014/main" id="{082A0267-3C6E-4A4E-93D6-3558FF37AE0D}"/>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07" name="Line 28">
                <a:extLst>
                  <a:ext uri="{FF2B5EF4-FFF2-40B4-BE49-F238E27FC236}">
                    <a16:creationId xmlns:a16="http://schemas.microsoft.com/office/drawing/2014/main" id="{E806061B-9F00-B549-BC49-7C873E7C52BE}"/>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183" name="Rectangle 29">
              <a:extLst>
                <a:ext uri="{FF2B5EF4-FFF2-40B4-BE49-F238E27FC236}">
                  <a16:creationId xmlns:a16="http://schemas.microsoft.com/office/drawing/2014/main" id="{0F98637A-4C29-6E4D-889A-7B7410FF57D5}"/>
                </a:ext>
              </a:extLst>
            </p:cNvPr>
            <p:cNvSpPr>
              <a:spLocks noChangeArrowheads="1"/>
            </p:cNvSpPr>
            <p:nvPr/>
          </p:nvSpPr>
          <p:spPr bwMode="auto">
            <a:xfrm>
              <a:off x="5219700" y="2203450"/>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184" name="Rectangle 30">
              <a:extLst>
                <a:ext uri="{FF2B5EF4-FFF2-40B4-BE49-F238E27FC236}">
                  <a16:creationId xmlns:a16="http://schemas.microsoft.com/office/drawing/2014/main" id="{A6B0F1B8-ABE6-644B-ABEA-4DE26EE79BB6}"/>
                </a:ext>
              </a:extLst>
            </p:cNvPr>
            <p:cNvSpPr>
              <a:spLocks noChangeArrowheads="1"/>
            </p:cNvSpPr>
            <p:nvPr/>
          </p:nvSpPr>
          <p:spPr bwMode="auto">
            <a:xfrm>
              <a:off x="5219700" y="2347913"/>
              <a:ext cx="431800" cy="7143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185" name="Line 31">
              <a:extLst>
                <a:ext uri="{FF2B5EF4-FFF2-40B4-BE49-F238E27FC236}">
                  <a16:creationId xmlns:a16="http://schemas.microsoft.com/office/drawing/2014/main" id="{49EE9F0D-AD61-BF49-BE81-DD40521F6C24}"/>
                </a:ext>
              </a:extLst>
            </p:cNvPr>
            <p:cNvSpPr>
              <a:spLocks noChangeShapeType="1"/>
            </p:cNvSpPr>
            <p:nvPr/>
          </p:nvSpPr>
          <p:spPr bwMode="auto">
            <a:xfrm flipV="1">
              <a:off x="5435600" y="2419350"/>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6" name="Line 32">
              <a:extLst>
                <a:ext uri="{FF2B5EF4-FFF2-40B4-BE49-F238E27FC236}">
                  <a16:creationId xmlns:a16="http://schemas.microsoft.com/office/drawing/2014/main" id="{40D31E9C-9DBC-0A4C-A5C5-CEA26A8C435F}"/>
                </a:ext>
              </a:extLst>
            </p:cNvPr>
            <p:cNvSpPr>
              <a:spLocks noChangeShapeType="1"/>
            </p:cNvSpPr>
            <p:nvPr/>
          </p:nvSpPr>
          <p:spPr bwMode="auto">
            <a:xfrm>
              <a:off x="5435600" y="1627188"/>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7" name="Line 33">
              <a:extLst>
                <a:ext uri="{FF2B5EF4-FFF2-40B4-BE49-F238E27FC236}">
                  <a16:creationId xmlns:a16="http://schemas.microsoft.com/office/drawing/2014/main" id="{D71C2901-BFFC-2C42-942A-C916BC734E26}"/>
                </a:ext>
              </a:extLst>
            </p:cNvPr>
            <p:cNvSpPr>
              <a:spLocks noChangeShapeType="1"/>
            </p:cNvSpPr>
            <p:nvPr/>
          </p:nvSpPr>
          <p:spPr bwMode="auto">
            <a:xfrm>
              <a:off x="4572000" y="1627188"/>
              <a:ext cx="1439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8" name="Oval 34">
              <a:extLst>
                <a:ext uri="{FF2B5EF4-FFF2-40B4-BE49-F238E27FC236}">
                  <a16:creationId xmlns:a16="http://schemas.microsoft.com/office/drawing/2014/main" id="{8C86BF92-E1E0-3644-98AF-3C83F69DA7ED}"/>
                </a:ext>
              </a:extLst>
            </p:cNvPr>
            <p:cNvSpPr>
              <a:spLocks noChangeArrowheads="1"/>
            </p:cNvSpPr>
            <p:nvPr/>
          </p:nvSpPr>
          <p:spPr bwMode="auto">
            <a:xfrm>
              <a:off x="6011863" y="3213100"/>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189" name="Oval 35">
              <a:extLst>
                <a:ext uri="{FF2B5EF4-FFF2-40B4-BE49-F238E27FC236}">
                  <a16:creationId xmlns:a16="http://schemas.microsoft.com/office/drawing/2014/main" id="{DE29366D-6D6D-764B-9F71-26E982E8FE74}"/>
                </a:ext>
              </a:extLst>
            </p:cNvPr>
            <p:cNvSpPr>
              <a:spLocks noChangeArrowheads="1"/>
            </p:cNvSpPr>
            <p:nvPr/>
          </p:nvSpPr>
          <p:spPr bwMode="auto">
            <a:xfrm>
              <a:off x="6011863" y="1555750"/>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190" name="Line 36">
              <a:extLst>
                <a:ext uri="{FF2B5EF4-FFF2-40B4-BE49-F238E27FC236}">
                  <a16:creationId xmlns:a16="http://schemas.microsoft.com/office/drawing/2014/main" id="{2E349E91-55E9-1842-8B40-EAF7190DA9A4}"/>
                </a:ext>
              </a:extLst>
            </p:cNvPr>
            <p:cNvSpPr>
              <a:spLocks noChangeShapeType="1"/>
            </p:cNvSpPr>
            <p:nvPr/>
          </p:nvSpPr>
          <p:spPr bwMode="auto">
            <a:xfrm>
              <a:off x="539750" y="3282950"/>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1" name="Line 37">
              <a:extLst>
                <a:ext uri="{FF2B5EF4-FFF2-40B4-BE49-F238E27FC236}">
                  <a16:creationId xmlns:a16="http://schemas.microsoft.com/office/drawing/2014/main" id="{3896A429-9A6F-4143-8AEA-19EDC0DA6FA2}"/>
                </a:ext>
              </a:extLst>
            </p:cNvPr>
            <p:cNvSpPr>
              <a:spLocks noChangeShapeType="1"/>
            </p:cNvSpPr>
            <p:nvPr/>
          </p:nvSpPr>
          <p:spPr bwMode="auto">
            <a:xfrm>
              <a:off x="3490913" y="2635250"/>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2" name="Line 38">
              <a:extLst>
                <a:ext uri="{FF2B5EF4-FFF2-40B4-BE49-F238E27FC236}">
                  <a16:creationId xmlns:a16="http://schemas.microsoft.com/office/drawing/2014/main" id="{D34B33BA-7853-F44D-8570-BEC94E8F75FC}"/>
                </a:ext>
              </a:extLst>
            </p:cNvPr>
            <p:cNvSpPr>
              <a:spLocks noChangeShapeType="1"/>
            </p:cNvSpPr>
            <p:nvPr/>
          </p:nvSpPr>
          <p:spPr bwMode="auto">
            <a:xfrm flipV="1">
              <a:off x="3490913" y="1627188"/>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3" name="Rectangle 39">
              <a:extLst>
                <a:ext uri="{FF2B5EF4-FFF2-40B4-BE49-F238E27FC236}">
                  <a16:creationId xmlns:a16="http://schemas.microsoft.com/office/drawing/2014/main" id="{0D3F63BA-BA40-C74A-9DCD-EA9FF5D55842}"/>
                </a:ext>
              </a:extLst>
            </p:cNvPr>
            <p:cNvSpPr>
              <a:spLocks noChangeArrowheads="1"/>
            </p:cNvSpPr>
            <p:nvPr/>
          </p:nvSpPr>
          <p:spPr bwMode="auto">
            <a:xfrm>
              <a:off x="2124075" y="2276475"/>
              <a:ext cx="914400" cy="3603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7194" name="Line 40">
              <a:extLst>
                <a:ext uri="{FF2B5EF4-FFF2-40B4-BE49-F238E27FC236}">
                  <a16:creationId xmlns:a16="http://schemas.microsoft.com/office/drawing/2014/main" id="{3DC0B060-863A-A04B-8797-3B2C6369560F}"/>
                </a:ext>
              </a:extLst>
            </p:cNvPr>
            <p:cNvSpPr>
              <a:spLocks noChangeShapeType="1"/>
            </p:cNvSpPr>
            <p:nvPr/>
          </p:nvSpPr>
          <p:spPr bwMode="auto">
            <a:xfrm flipV="1">
              <a:off x="3059113" y="241935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5" name="Freeform 41">
              <a:extLst>
                <a:ext uri="{FF2B5EF4-FFF2-40B4-BE49-F238E27FC236}">
                  <a16:creationId xmlns:a16="http://schemas.microsoft.com/office/drawing/2014/main" id="{08AEF3B0-BBDE-A34C-98CE-BC6F0592D66E}"/>
                </a:ext>
              </a:extLst>
            </p:cNvPr>
            <p:cNvSpPr>
              <a:spLocks/>
            </p:cNvSpPr>
            <p:nvPr/>
          </p:nvSpPr>
          <p:spPr bwMode="auto">
            <a:xfrm>
              <a:off x="6156325" y="1627188"/>
              <a:ext cx="431800" cy="1655762"/>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6" name="Rectangle 42">
              <a:extLst>
                <a:ext uri="{FF2B5EF4-FFF2-40B4-BE49-F238E27FC236}">
                  <a16:creationId xmlns:a16="http://schemas.microsoft.com/office/drawing/2014/main" id="{76DA8F57-095E-EE4F-ACB0-0A9B0FA74BE6}"/>
                </a:ext>
              </a:extLst>
            </p:cNvPr>
            <p:cNvSpPr>
              <a:spLocks noChangeArrowheads="1"/>
            </p:cNvSpPr>
            <p:nvPr/>
          </p:nvSpPr>
          <p:spPr bwMode="auto">
            <a:xfrm>
              <a:off x="6515100" y="1987550"/>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7197" name="Text Box 43">
              <a:extLst>
                <a:ext uri="{FF2B5EF4-FFF2-40B4-BE49-F238E27FC236}">
                  <a16:creationId xmlns:a16="http://schemas.microsoft.com/office/drawing/2014/main" id="{E0D6BA2F-5F0F-434C-A84D-4F6FF773FD6E}"/>
                </a:ext>
              </a:extLst>
            </p:cNvPr>
            <p:cNvSpPr txBox="1">
              <a:spLocks noChangeArrowheads="1"/>
            </p:cNvSpPr>
            <p:nvPr/>
          </p:nvSpPr>
          <p:spPr bwMode="auto">
            <a:xfrm>
              <a:off x="3563938" y="2708275"/>
              <a:ext cx="85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7198" name="Text Box 44">
              <a:extLst>
                <a:ext uri="{FF2B5EF4-FFF2-40B4-BE49-F238E27FC236}">
                  <a16:creationId xmlns:a16="http://schemas.microsoft.com/office/drawing/2014/main" id="{9CC00087-BCE5-5E41-A9BE-906273BECC64}"/>
                </a:ext>
              </a:extLst>
            </p:cNvPr>
            <p:cNvSpPr txBox="1">
              <a:spLocks noChangeArrowheads="1"/>
            </p:cNvSpPr>
            <p:nvPr/>
          </p:nvSpPr>
          <p:spPr bwMode="auto">
            <a:xfrm>
              <a:off x="4283075" y="18430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7199" name="Text Box 45">
              <a:extLst>
                <a:ext uri="{FF2B5EF4-FFF2-40B4-BE49-F238E27FC236}">
                  <a16:creationId xmlns:a16="http://schemas.microsoft.com/office/drawing/2014/main" id="{64CE3013-5C27-404B-935C-CF51BEE375CA}"/>
                </a:ext>
              </a:extLst>
            </p:cNvPr>
            <p:cNvSpPr txBox="1">
              <a:spLocks noChangeArrowheads="1"/>
            </p:cNvSpPr>
            <p:nvPr/>
          </p:nvSpPr>
          <p:spPr bwMode="auto">
            <a:xfrm>
              <a:off x="5075238" y="24193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7200" name="Text Box 46">
              <a:extLst>
                <a:ext uri="{FF2B5EF4-FFF2-40B4-BE49-F238E27FC236}">
                  <a16:creationId xmlns:a16="http://schemas.microsoft.com/office/drawing/2014/main" id="{D8703D95-F4BB-1E43-9F19-5D66AFA9567B}"/>
                </a:ext>
              </a:extLst>
            </p:cNvPr>
            <p:cNvSpPr txBox="1">
              <a:spLocks noChangeArrowheads="1"/>
            </p:cNvSpPr>
            <p:nvPr/>
          </p:nvSpPr>
          <p:spPr bwMode="auto">
            <a:xfrm>
              <a:off x="6083300" y="2203450"/>
              <a:ext cx="4333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7201" name="Text Box 47">
              <a:extLst>
                <a:ext uri="{FF2B5EF4-FFF2-40B4-BE49-F238E27FC236}">
                  <a16:creationId xmlns:a16="http://schemas.microsoft.com/office/drawing/2014/main" id="{9D6C66FA-3A1F-9343-99F2-6A2EE3FB58EB}"/>
                </a:ext>
              </a:extLst>
            </p:cNvPr>
            <p:cNvSpPr txBox="1">
              <a:spLocks noChangeArrowheads="1"/>
            </p:cNvSpPr>
            <p:nvPr/>
          </p:nvSpPr>
          <p:spPr bwMode="auto">
            <a:xfrm>
              <a:off x="6797675" y="2274888"/>
              <a:ext cx="5826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7202" name="Line 48">
              <a:extLst>
                <a:ext uri="{FF2B5EF4-FFF2-40B4-BE49-F238E27FC236}">
                  <a16:creationId xmlns:a16="http://schemas.microsoft.com/office/drawing/2014/main" id="{CC9971C0-E2D1-BD42-83B5-59D26298AA02}"/>
                </a:ext>
              </a:extLst>
            </p:cNvPr>
            <p:cNvSpPr>
              <a:spLocks noChangeShapeType="1"/>
            </p:cNvSpPr>
            <p:nvPr/>
          </p:nvSpPr>
          <p:spPr bwMode="auto">
            <a:xfrm flipV="1">
              <a:off x="6804025" y="1627188"/>
              <a:ext cx="0" cy="16557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203" name="Text Box 49">
            <a:extLst>
              <a:ext uri="{FF2B5EF4-FFF2-40B4-BE49-F238E27FC236}">
                <a16:creationId xmlns:a16="http://schemas.microsoft.com/office/drawing/2014/main" id="{3B66034C-08BB-DB45-A8AD-2F299C47DA75}"/>
              </a:ext>
            </a:extLst>
          </p:cNvPr>
          <p:cNvSpPr txBox="1">
            <a:spLocks noChangeArrowheads="1"/>
          </p:cNvSpPr>
          <p:nvPr/>
        </p:nvSpPr>
        <p:spPr bwMode="auto">
          <a:xfrm>
            <a:off x="250825" y="260350"/>
            <a:ext cx="653891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800" b="1" u="sng"/>
              <a:t>The boost (step-up) converter</a:t>
            </a:r>
            <a:r>
              <a:rPr lang="en-GB" altLang="en-US" sz="1800" b="1" u="sng"/>
              <a:t>. (V</a:t>
            </a:r>
            <a:r>
              <a:rPr lang="en-GB" altLang="en-US" sz="1800" b="1" u="sng" baseline="-25000"/>
              <a:t>Out</a:t>
            </a:r>
            <a:r>
              <a:rPr lang="en-GB" altLang="en-US" sz="1800" b="1" u="sng"/>
              <a:t> &gt; V</a:t>
            </a:r>
            <a:r>
              <a:rPr lang="en-GB" altLang="en-US" sz="1800" b="1" u="sng" baseline="-25000"/>
              <a:t>In</a:t>
            </a:r>
            <a:r>
              <a:rPr lang="en-GB" altLang="en-US" sz="1800" b="1" u="sng"/>
              <a:t>)</a:t>
            </a:r>
            <a:endParaRPr lang="en-US" altLang="en-US" sz="1800" b="1" u="sng"/>
          </a:p>
          <a:p>
            <a:pPr eaLnBrk="1" hangingPunct="1">
              <a:spcBef>
                <a:spcPct val="0"/>
              </a:spcBef>
              <a:buFontTx/>
              <a:buNone/>
            </a:pPr>
            <a:endParaRPr lang="en-US" altLang="en-US" sz="1800"/>
          </a:p>
        </p:txBody>
      </p:sp>
      <p:sp>
        <p:nvSpPr>
          <p:cNvPr id="4" name="TextBox 3">
            <a:extLst>
              <a:ext uri="{FF2B5EF4-FFF2-40B4-BE49-F238E27FC236}">
                <a16:creationId xmlns:a16="http://schemas.microsoft.com/office/drawing/2014/main" id="{62F2F228-1D97-C68F-ADF3-C2454F227EBC}"/>
              </a:ext>
            </a:extLst>
          </p:cNvPr>
          <p:cNvSpPr txBox="1"/>
          <p:nvPr/>
        </p:nvSpPr>
        <p:spPr>
          <a:xfrm>
            <a:off x="313031" y="5019654"/>
            <a:ext cx="8127410" cy="1323439"/>
          </a:xfrm>
          <a:prstGeom prst="rect">
            <a:avLst/>
          </a:prstGeom>
          <a:noFill/>
        </p:spPr>
        <p:txBody>
          <a:bodyPr wrap="square">
            <a:spAutoFit/>
          </a:bodyPr>
          <a:lstStyle/>
          <a:p>
            <a:pPr marL="285750" indent="-285750" algn="just" eaLnBrk="1" hangingPunct="1">
              <a:spcBef>
                <a:spcPct val="50000"/>
              </a:spcBef>
              <a:buFont typeface="Arial" panose="020B0604020202020204" pitchFamily="34" charset="0"/>
              <a:buChar char="•"/>
            </a:pPr>
            <a:r>
              <a:rPr lang="en-GB" altLang="en-US" sz="2000" dirty="0"/>
              <a:t>If we disregard the switch for a moment and examine the circuit, we see that in the steady state the output voltage is connected to the input voltage via an inductor (assume zero resistance) and a diode. As with the buck, ignore the voltage drop across the diode.</a:t>
            </a:r>
            <a:endParaRPr lang="en-US" altLang="en-US" sz="2000" dirty="0"/>
          </a:p>
        </p:txBody>
      </p:sp>
      <p:sp>
        <p:nvSpPr>
          <p:cNvPr id="5" name="TextBox 4">
            <a:extLst>
              <a:ext uri="{FF2B5EF4-FFF2-40B4-BE49-F238E27FC236}">
                <a16:creationId xmlns:a16="http://schemas.microsoft.com/office/drawing/2014/main" id="{D00445D5-C1EF-ABEF-1BAD-A1F8A7D448AC}"/>
              </a:ext>
            </a:extLst>
          </p:cNvPr>
          <p:cNvSpPr txBox="1"/>
          <p:nvPr/>
        </p:nvSpPr>
        <p:spPr>
          <a:xfrm>
            <a:off x="313031" y="4230092"/>
            <a:ext cx="8351997" cy="707886"/>
          </a:xfrm>
          <a:prstGeom prst="rect">
            <a:avLst/>
          </a:prstGeom>
          <a:noFill/>
        </p:spPr>
        <p:txBody>
          <a:bodyPr wrap="square">
            <a:spAutoFit/>
          </a:bodyPr>
          <a:lstStyle/>
          <a:p>
            <a:pPr marL="285750" indent="-285750" eaLnBrk="1" hangingPunct="1">
              <a:spcBef>
                <a:spcPct val="50000"/>
              </a:spcBef>
              <a:buFont typeface="Arial" panose="020B0604020202020204" pitchFamily="34" charset="0"/>
              <a:buChar char="•"/>
            </a:pPr>
            <a:r>
              <a:rPr lang="en-GB" altLang="en-US" sz="2000" dirty="0"/>
              <a:t>As in the case of the buck converter we will assume the circuit operates in </a:t>
            </a:r>
            <a:r>
              <a:rPr lang="en-GB" altLang="en-US" sz="2000" b="1" u="sng" dirty="0">
                <a:solidFill>
                  <a:srgbClr val="FF0000"/>
                </a:solidFill>
              </a:rPr>
              <a:t>continuous mode</a:t>
            </a:r>
            <a:r>
              <a:rPr lang="en-GB" altLang="en-US" sz="2000" dirty="0"/>
              <a:t>, i.e., current is always flowing in the inductor.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a:extLst>
              <a:ext uri="{FF2B5EF4-FFF2-40B4-BE49-F238E27FC236}">
                <a16:creationId xmlns:a16="http://schemas.microsoft.com/office/drawing/2014/main" id="{EC6A0F61-521C-1145-81A9-8A039303EE67}"/>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5027C68-AA28-034A-9EFC-7F6DB7F121F1}" type="slidenum">
              <a:rPr lang="en-US" altLang="en-US" sz="1400"/>
              <a:pPr>
                <a:spcBef>
                  <a:spcPct val="0"/>
                </a:spcBef>
                <a:buFontTx/>
                <a:buNone/>
              </a:pPr>
              <a:t>4</a:t>
            </a:fld>
            <a:endParaRPr lang="en-US" altLang="en-US" sz="1400"/>
          </a:p>
        </p:txBody>
      </p:sp>
      <p:sp>
        <p:nvSpPr>
          <p:cNvPr id="8195" name="Text Box 48">
            <a:extLst>
              <a:ext uri="{FF2B5EF4-FFF2-40B4-BE49-F238E27FC236}">
                <a16:creationId xmlns:a16="http://schemas.microsoft.com/office/drawing/2014/main" id="{AF697DA2-23F7-9A4C-988E-B7E8019ACDA5}"/>
              </a:ext>
            </a:extLst>
          </p:cNvPr>
          <p:cNvSpPr txBox="1">
            <a:spLocks noChangeArrowheads="1"/>
          </p:cNvSpPr>
          <p:nvPr/>
        </p:nvSpPr>
        <p:spPr bwMode="auto">
          <a:xfrm>
            <a:off x="161925" y="2414588"/>
            <a:ext cx="87852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285750" indent="-285750">
              <a:spcBef>
                <a:spcPct val="50000"/>
              </a:spcBef>
            </a:pPr>
            <a:r>
              <a:rPr lang="en-GB" altLang="en-US" sz="1800" dirty="0"/>
              <a:t>Now consider the circuit when the switch is closed. </a:t>
            </a:r>
          </a:p>
          <a:p>
            <a:pPr marL="285750" indent="-285750">
              <a:spcBef>
                <a:spcPct val="50000"/>
              </a:spcBef>
            </a:pPr>
            <a:r>
              <a:rPr lang="en-GB" altLang="en-US" sz="1800" dirty="0"/>
              <a:t>Any voltage on capacitor C will ensure the diode is reverse biased and therefore the output circuit is “disconnected” from the input. [Because the diode’s anode is connected to ground via the switch.]</a:t>
            </a:r>
          </a:p>
          <a:p>
            <a:pPr marL="285750" indent="-285750">
              <a:spcBef>
                <a:spcPct val="50000"/>
              </a:spcBef>
            </a:pPr>
            <a:r>
              <a:rPr lang="en-GB" altLang="en-US" sz="1800" dirty="0"/>
              <a:t>The inductor is connected across the supply (</a:t>
            </a:r>
            <a:r>
              <a:rPr lang="en-GB" altLang="en-US" sz="1800" dirty="0" err="1"/>
              <a:t>V</a:t>
            </a:r>
            <a:r>
              <a:rPr lang="en-GB" altLang="en-US" sz="1800" baseline="-25000" dirty="0" err="1"/>
              <a:t>In</a:t>
            </a:r>
            <a:r>
              <a:rPr lang="en-GB" altLang="en-US" sz="1800" dirty="0"/>
              <a:t>) and hence current will start to build through it with the energy being stored in the magnetic field. During this phase, V</a:t>
            </a:r>
            <a:r>
              <a:rPr lang="en-GB" altLang="en-US" sz="1800" baseline="-25000" dirty="0"/>
              <a:t>L</a:t>
            </a:r>
            <a:r>
              <a:rPr lang="en-GB" altLang="en-US" sz="1800" dirty="0"/>
              <a:t> = </a:t>
            </a:r>
            <a:r>
              <a:rPr lang="en-GB" altLang="en-US" sz="1800" dirty="0" err="1"/>
              <a:t>V</a:t>
            </a:r>
            <a:r>
              <a:rPr lang="en-GB" altLang="en-US" sz="1800" baseline="-25000" dirty="0" err="1"/>
              <a:t>In</a:t>
            </a:r>
            <a:r>
              <a:rPr lang="en-GB" altLang="en-US" sz="1800" dirty="0"/>
              <a:t>.</a:t>
            </a:r>
          </a:p>
        </p:txBody>
      </p:sp>
      <p:grpSp>
        <p:nvGrpSpPr>
          <p:cNvPr id="8196" name="Group 2">
            <a:extLst>
              <a:ext uri="{FF2B5EF4-FFF2-40B4-BE49-F238E27FC236}">
                <a16:creationId xmlns:a16="http://schemas.microsoft.com/office/drawing/2014/main" id="{894729F8-082E-D240-82AA-3E34B2B06376}"/>
              </a:ext>
            </a:extLst>
          </p:cNvPr>
          <p:cNvGrpSpPr>
            <a:grpSpLocks/>
          </p:cNvGrpSpPr>
          <p:nvPr/>
        </p:nvGrpSpPr>
        <p:grpSpPr bwMode="auto">
          <a:xfrm>
            <a:off x="1000125" y="135029"/>
            <a:ext cx="7058025" cy="2232025"/>
            <a:chOff x="250825" y="188913"/>
            <a:chExt cx="7058025" cy="2232025"/>
          </a:xfrm>
        </p:grpSpPr>
        <p:sp>
          <p:nvSpPr>
            <p:cNvPr id="8227" name="Rectangle 4">
              <a:extLst>
                <a:ext uri="{FF2B5EF4-FFF2-40B4-BE49-F238E27FC236}">
                  <a16:creationId xmlns:a16="http://schemas.microsoft.com/office/drawing/2014/main" id="{8355E0E5-1AFC-F249-BAB6-E6337A84D96D}"/>
                </a:ext>
              </a:extLst>
            </p:cNvPr>
            <p:cNvSpPr>
              <a:spLocks noChangeArrowheads="1"/>
            </p:cNvSpPr>
            <p:nvPr/>
          </p:nvSpPr>
          <p:spPr bwMode="auto">
            <a:xfrm>
              <a:off x="250825" y="1485900"/>
              <a:ext cx="433388" cy="71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8" name="Rectangle 5">
              <a:extLst>
                <a:ext uri="{FF2B5EF4-FFF2-40B4-BE49-F238E27FC236}">
                  <a16:creationId xmlns:a16="http://schemas.microsoft.com/office/drawing/2014/main" id="{D4AFE339-21F2-FF42-A466-7C3CB19A9DD7}"/>
                </a:ext>
              </a:extLst>
            </p:cNvPr>
            <p:cNvSpPr>
              <a:spLocks noChangeArrowheads="1"/>
            </p:cNvSpPr>
            <p:nvPr/>
          </p:nvSpPr>
          <p:spPr bwMode="auto">
            <a:xfrm>
              <a:off x="323850" y="1628775"/>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9" name="Line 6">
              <a:extLst>
                <a:ext uri="{FF2B5EF4-FFF2-40B4-BE49-F238E27FC236}">
                  <a16:creationId xmlns:a16="http://schemas.microsoft.com/office/drawing/2014/main" id="{7E43322C-FB54-6E48-A8F1-86ECE2B68717}"/>
                </a:ext>
              </a:extLst>
            </p:cNvPr>
            <p:cNvSpPr>
              <a:spLocks noChangeShapeType="1"/>
            </p:cNvSpPr>
            <p:nvPr/>
          </p:nvSpPr>
          <p:spPr bwMode="auto">
            <a:xfrm flipV="1">
              <a:off x="468313" y="692150"/>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0" name="Line 7">
              <a:extLst>
                <a:ext uri="{FF2B5EF4-FFF2-40B4-BE49-F238E27FC236}">
                  <a16:creationId xmlns:a16="http://schemas.microsoft.com/office/drawing/2014/main" id="{CAD35CD4-85EE-084D-8BF8-E34B6CFE5FD3}"/>
                </a:ext>
              </a:extLst>
            </p:cNvPr>
            <p:cNvSpPr>
              <a:spLocks noChangeShapeType="1"/>
            </p:cNvSpPr>
            <p:nvPr/>
          </p:nvSpPr>
          <p:spPr bwMode="auto">
            <a:xfrm flipV="1">
              <a:off x="468313" y="1701800"/>
              <a:ext cx="0" cy="646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1" name="Line 8">
              <a:extLst>
                <a:ext uri="{FF2B5EF4-FFF2-40B4-BE49-F238E27FC236}">
                  <a16:creationId xmlns:a16="http://schemas.microsoft.com/office/drawing/2014/main" id="{ACD1967D-95E0-1B43-88A3-728DCDA6E5E3}"/>
                </a:ext>
              </a:extLst>
            </p:cNvPr>
            <p:cNvSpPr>
              <a:spLocks noChangeShapeType="1"/>
            </p:cNvSpPr>
            <p:nvPr/>
          </p:nvSpPr>
          <p:spPr bwMode="auto">
            <a:xfrm flipV="1">
              <a:off x="755650" y="13398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2" name="Text Box 9">
              <a:extLst>
                <a:ext uri="{FF2B5EF4-FFF2-40B4-BE49-F238E27FC236}">
                  <a16:creationId xmlns:a16="http://schemas.microsoft.com/office/drawing/2014/main" id="{9759EF50-3721-4640-919D-E0E497F24BBF}"/>
                </a:ext>
              </a:extLst>
            </p:cNvPr>
            <p:cNvSpPr txBox="1">
              <a:spLocks noChangeArrowheads="1"/>
            </p:cNvSpPr>
            <p:nvPr/>
          </p:nvSpPr>
          <p:spPr bwMode="auto">
            <a:xfrm>
              <a:off x="684213" y="1339850"/>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8233" name="Line 10">
              <a:extLst>
                <a:ext uri="{FF2B5EF4-FFF2-40B4-BE49-F238E27FC236}">
                  <a16:creationId xmlns:a16="http://schemas.microsoft.com/office/drawing/2014/main" id="{D73DA23F-83E5-3C4F-A03C-72B05FAF3CCB}"/>
                </a:ext>
              </a:extLst>
            </p:cNvPr>
            <p:cNvSpPr>
              <a:spLocks noChangeShapeType="1"/>
            </p:cNvSpPr>
            <p:nvPr/>
          </p:nvSpPr>
          <p:spPr bwMode="auto">
            <a:xfrm>
              <a:off x="468313" y="692150"/>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8234" name="Group 11">
              <a:extLst>
                <a:ext uri="{FF2B5EF4-FFF2-40B4-BE49-F238E27FC236}">
                  <a16:creationId xmlns:a16="http://schemas.microsoft.com/office/drawing/2014/main" id="{422B5A05-27D0-A048-88CD-0463D49E82FE}"/>
                </a:ext>
              </a:extLst>
            </p:cNvPr>
            <p:cNvGrpSpPr>
              <a:grpSpLocks/>
            </p:cNvGrpSpPr>
            <p:nvPr/>
          </p:nvGrpSpPr>
          <p:grpSpPr bwMode="auto">
            <a:xfrm rot="-5400000">
              <a:off x="1939925" y="-50799"/>
              <a:ext cx="314325" cy="1530350"/>
              <a:chOff x="3211" y="2176"/>
              <a:chExt cx="198" cy="964"/>
            </a:xfrm>
          </p:grpSpPr>
          <p:sp>
            <p:nvSpPr>
              <p:cNvPr id="8266" name="Oval 12">
                <a:extLst>
                  <a:ext uri="{FF2B5EF4-FFF2-40B4-BE49-F238E27FC236}">
                    <a16:creationId xmlns:a16="http://schemas.microsoft.com/office/drawing/2014/main" id="{6AD62C42-34F3-EB4C-BFA2-A9EA9D01E402}"/>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67" name="Oval 13">
                <a:extLst>
                  <a:ext uri="{FF2B5EF4-FFF2-40B4-BE49-F238E27FC236}">
                    <a16:creationId xmlns:a16="http://schemas.microsoft.com/office/drawing/2014/main" id="{49C33C92-3381-4044-A8C0-803068D1CBB5}"/>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68" name="Oval 14">
                <a:extLst>
                  <a:ext uri="{FF2B5EF4-FFF2-40B4-BE49-F238E27FC236}">
                    <a16:creationId xmlns:a16="http://schemas.microsoft.com/office/drawing/2014/main" id="{E6E9E1A7-800B-CF46-AB86-EA8CF6499407}"/>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69" name="Oval 15">
                <a:extLst>
                  <a:ext uri="{FF2B5EF4-FFF2-40B4-BE49-F238E27FC236}">
                    <a16:creationId xmlns:a16="http://schemas.microsoft.com/office/drawing/2014/main" id="{38BCBB63-6172-524B-8221-B838088610D3}"/>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70" name="Oval 16">
                <a:extLst>
                  <a:ext uri="{FF2B5EF4-FFF2-40B4-BE49-F238E27FC236}">
                    <a16:creationId xmlns:a16="http://schemas.microsoft.com/office/drawing/2014/main" id="{7927C72F-F4F2-9942-949E-1517E012462B}"/>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71" name="Oval 17">
                <a:extLst>
                  <a:ext uri="{FF2B5EF4-FFF2-40B4-BE49-F238E27FC236}">
                    <a16:creationId xmlns:a16="http://schemas.microsoft.com/office/drawing/2014/main" id="{DD045954-76F9-644F-B64D-F0EDE33EF67F}"/>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72" name="Rectangle 18">
                <a:extLst>
                  <a:ext uri="{FF2B5EF4-FFF2-40B4-BE49-F238E27FC236}">
                    <a16:creationId xmlns:a16="http://schemas.microsoft.com/office/drawing/2014/main" id="{B588B340-CEBC-FB4A-B684-F4D5E99076D8}"/>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73" name="Line 19">
                <a:extLst>
                  <a:ext uri="{FF2B5EF4-FFF2-40B4-BE49-F238E27FC236}">
                    <a16:creationId xmlns:a16="http://schemas.microsoft.com/office/drawing/2014/main" id="{74E8D622-703E-334B-A03D-BB7D296B95E3}"/>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74" name="Line 20">
                <a:extLst>
                  <a:ext uri="{FF2B5EF4-FFF2-40B4-BE49-F238E27FC236}">
                    <a16:creationId xmlns:a16="http://schemas.microsoft.com/office/drawing/2014/main" id="{B4221B39-534F-A24F-8800-39AD0F37E797}"/>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8235" name="Line 21">
              <a:extLst>
                <a:ext uri="{FF2B5EF4-FFF2-40B4-BE49-F238E27FC236}">
                  <a16:creationId xmlns:a16="http://schemas.microsoft.com/office/drawing/2014/main" id="{69EE31EB-478D-4A4F-9A34-D40D2ED966EB}"/>
                </a:ext>
              </a:extLst>
            </p:cNvPr>
            <p:cNvSpPr>
              <a:spLocks noChangeShapeType="1"/>
            </p:cNvSpPr>
            <p:nvPr/>
          </p:nvSpPr>
          <p:spPr bwMode="auto">
            <a:xfrm flipH="1">
              <a:off x="2843213" y="692150"/>
              <a:ext cx="144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36" name="Line 22">
              <a:extLst>
                <a:ext uri="{FF2B5EF4-FFF2-40B4-BE49-F238E27FC236}">
                  <a16:creationId xmlns:a16="http://schemas.microsoft.com/office/drawing/2014/main" id="{95DC465B-56CD-8642-974B-0CBFCC50C9D7}"/>
                </a:ext>
              </a:extLst>
            </p:cNvPr>
            <p:cNvSpPr>
              <a:spLocks noChangeShapeType="1"/>
            </p:cNvSpPr>
            <p:nvPr/>
          </p:nvSpPr>
          <p:spPr bwMode="auto">
            <a:xfrm>
              <a:off x="3419475" y="1341438"/>
              <a:ext cx="0" cy="358775"/>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8237" name="Group 23">
              <a:extLst>
                <a:ext uri="{FF2B5EF4-FFF2-40B4-BE49-F238E27FC236}">
                  <a16:creationId xmlns:a16="http://schemas.microsoft.com/office/drawing/2014/main" id="{5665785D-95F5-724C-8E95-935F2DB0280C}"/>
                </a:ext>
              </a:extLst>
            </p:cNvPr>
            <p:cNvGrpSpPr>
              <a:grpSpLocks/>
            </p:cNvGrpSpPr>
            <p:nvPr/>
          </p:nvGrpSpPr>
          <p:grpSpPr bwMode="auto">
            <a:xfrm>
              <a:off x="4284663" y="549275"/>
              <a:ext cx="215900" cy="287338"/>
              <a:chOff x="1973" y="2160"/>
              <a:chExt cx="136" cy="181"/>
            </a:xfrm>
          </p:grpSpPr>
          <p:sp>
            <p:nvSpPr>
              <p:cNvPr id="8262" name="Line 24">
                <a:extLst>
                  <a:ext uri="{FF2B5EF4-FFF2-40B4-BE49-F238E27FC236}">
                    <a16:creationId xmlns:a16="http://schemas.microsoft.com/office/drawing/2014/main" id="{DC5698F4-4F04-3D4D-AE61-3443A8880080}"/>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3" name="Line 25">
                <a:extLst>
                  <a:ext uri="{FF2B5EF4-FFF2-40B4-BE49-F238E27FC236}">
                    <a16:creationId xmlns:a16="http://schemas.microsoft.com/office/drawing/2014/main" id="{B91CB4BC-8B0C-B74D-8D84-166A3E0C857C}"/>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4" name="Line 26">
                <a:extLst>
                  <a:ext uri="{FF2B5EF4-FFF2-40B4-BE49-F238E27FC236}">
                    <a16:creationId xmlns:a16="http://schemas.microsoft.com/office/drawing/2014/main" id="{642D0105-51A0-7C46-9585-B38F001B9CA6}"/>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5" name="Line 27">
                <a:extLst>
                  <a:ext uri="{FF2B5EF4-FFF2-40B4-BE49-F238E27FC236}">
                    <a16:creationId xmlns:a16="http://schemas.microsoft.com/office/drawing/2014/main" id="{2AD2D97D-30FF-F64E-B26F-C1883EFB4757}"/>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8238" name="Rectangle 28">
              <a:extLst>
                <a:ext uri="{FF2B5EF4-FFF2-40B4-BE49-F238E27FC236}">
                  <a16:creationId xmlns:a16="http://schemas.microsoft.com/office/drawing/2014/main" id="{9C91FDED-4F75-E048-9546-037FBEF52A13}"/>
                </a:ext>
              </a:extLst>
            </p:cNvPr>
            <p:cNvSpPr>
              <a:spLocks noChangeArrowheads="1"/>
            </p:cNvSpPr>
            <p:nvPr/>
          </p:nvSpPr>
          <p:spPr bwMode="auto">
            <a:xfrm>
              <a:off x="5148263" y="1268413"/>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39" name="Rectangle 29">
              <a:extLst>
                <a:ext uri="{FF2B5EF4-FFF2-40B4-BE49-F238E27FC236}">
                  <a16:creationId xmlns:a16="http://schemas.microsoft.com/office/drawing/2014/main" id="{24C7D8A0-C725-2B4A-A8F9-95E63CED4B58}"/>
                </a:ext>
              </a:extLst>
            </p:cNvPr>
            <p:cNvSpPr>
              <a:spLocks noChangeArrowheads="1"/>
            </p:cNvSpPr>
            <p:nvPr/>
          </p:nvSpPr>
          <p:spPr bwMode="auto">
            <a:xfrm>
              <a:off x="5148263" y="1412875"/>
              <a:ext cx="431800" cy="714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40" name="Line 30">
              <a:extLst>
                <a:ext uri="{FF2B5EF4-FFF2-40B4-BE49-F238E27FC236}">
                  <a16:creationId xmlns:a16="http://schemas.microsoft.com/office/drawing/2014/main" id="{F1A47941-65B2-D743-9D33-A1614093C308}"/>
                </a:ext>
              </a:extLst>
            </p:cNvPr>
            <p:cNvSpPr>
              <a:spLocks noChangeShapeType="1"/>
            </p:cNvSpPr>
            <p:nvPr/>
          </p:nvSpPr>
          <p:spPr bwMode="auto">
            <a:xfrm flipV="1">
              <a:off x="5364163" y="1484313"/>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1" name="Line 31">
              <a:extLst>
                <a:ext uri="{FF2B5EF4-FFF2-40B4-BE49-F238E27FC236}">
                  <a16:creationId xmlns:a16="http://schemas.microsoft.com/office/drawing/2014/main" id="{3EE33B5B-17A3-C34F-8564-4FC8A3136062}"/>
                </a:ext>
              </a:extLst>
            </p:cNvPr>
            <p:cNvSpPr>
              <a:spLocks noChangeShapeType="1"/>
            </p:cNvSpPr>
            <p:nvPr/>
          </p:nvSpPr>
          <p:spPr bwMode="auto">
            <a:xfrm>
              <a:off x="5364163" y="692150"/>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2" name="Line 32">
              <a:extLst>
                <a:ext uri="{FF2B5EF4-FFF2-40B4-BE49-F238E27FC236}">
                  <a16:creationId xmlns:a16="http://schemas.microsoft.com/office/drawing/2014/main" id="{302F4579-0ECE-394D-B70D-D375F2D4E91D}"/>
                </a:ext>
              </a:extLst>
            </p:cNvPr>
            <p:cNvSpPr>
              <a:spLocks noChangeShapeType="1"/>
            </p:cNvSpPr>
            <p:nvPr/>
          </p:nvSpPr>
          <p:spPr bwMode="auto">
            <a:xfrm>
              <a:off x="4500563" y="692150"/>
              <a:ext cx="14398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3" name="Oval 33">
              <a:extLst>
                <a:ext uri="{FF2B5EF4-FFF2-40B4-BE49-F238E27FC236}">
                  <a16:creationId xmlns:a16="http://schemas.microsoft.com/office/drawing/2014/main" id="{8895CE3F-B9EE-8B4E-8DA3-461FC68531F8}"/>
                </a:ext>
              </a:extLst>
            </p:cNvPr>
            <p:cNvSpPr>
              <a:spLocks noChangeArrowheads="1"/>
            </p:cNvSpPr>
            <p:nvPr/>
          </p:nvSpPr>
          <p:spPr bwMode="auto">
            <a:xfrm>
              <a:off x="5940425" y="2278063"/>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44" name="Oval 34">
              <a:extLst>
                <a:ext uri="{FF2B5EF4-FFF2-40B4-BE49-F238E27FC236}">
                  <a16:creationId xmlns:a16="http://schemas.microsoft.com/office/drawing/2014/main" id="{1E0BDF20-1ECB-3D42-B9F6-EC927415C53B}"/>
                </a:ext>
              </a:extLst>
            </p:cNvPr>
            <p:cNvSpPr>
              <a:spLocks noChangeArrowheads="1"/>
            </p:cNvSpPr>
            <p:nvPr/>
          </p:nvSpPr>
          <p:spPr bwMode="auto">
            <a:xfrm>
              <a:off x="5940425" y="620713"/>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45" name="Line 35">
              <a:extLst>
                <a:ext uri="{FF2B5EF4-FFF2-40B4-BE49-F238E27FC236}">
                  <a16:creationId xmlns:a16="http://schemas.microsoft.com/office/drawing/2014/main" id="{5F4DA3F2-B657-2045-9C7B-E188F68F77E5}"/>
                </a:ext>
              </a:extLst>
            </p:cNvPr>
            <p:cNvSpPr>
              <a:spLocks noChangeShapeType="1"/>
            </p:cNvSpPr>
            <p:nvPr/>
          </p:nvSpPr>
          <p:spPr bwMode="auto">
            <a:xfrm>
              <a:off x="468313" y="2347913"/>
              <a:ext cx="547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6" name="Line 36">
              <a:extLst>
                <a:ext uri="{FF2B5EF4-FFF2-40B4-BE49-F238E27FC236}">
                  <a16:creationId xmlns:a16="http://schemas.microsoft.com/office/drawing/2014/main" id="{BED8636F-715E-A34F-93CE-DCB2A47C3F8A}"/>
                </a:ext>
              </a:extLst>
            </p:cNvPr>
            <p:cNvSpPr>
              <a:spLocks noChangeShapeType="1"/>
            </p:cNvSpPr>
            <p:nvPr/>
          </p:nvSpPr>
          <p:spPr bwMode="auto">
            <a:xfrm>
              <a:off x="3419475" y="1700213"/>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7" name="Line 37">
              <a:extLst>
                <a:ext uri="{FF2B5EF4-FFF2-40B4-BE49-F238E27FC236}">
                  <a16:creationId xmlns:a16="http://schemas.microsoft.com/office/drawing/2014/main" id="{1D779337-F03A-014E-BB41-7047797B2CBC}"/>
                </a:ext>
              </a:extLst>
            </p:cNvPr>
            <p:cNvSpPr>
              <a:spLocks noChangeShapeType="1"/>
            </p:cNvSpPr>
            <p:nvPr/>
          </p:nvSpPr>
          <p:spPr bwMode="auto">
            <a:xfrm flipV="1">
              <a:off x="3419475" y="692150"/>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48" name="Rectangle 38">
              <a:extLst>
                <a:ext uri="{FF2B5EF4-FFF2-40B4-BE49-F238E27FC236}">
                  <a16:creationId xmlns:a16="http://schemas.microsoft.com/office/drawing/2014/main" id="{4EA152F3-0E65-C446-8435-BDE37344787B}"/>
                </a:ext>
              </a:extLst>
            </p:cNvPr>
            <p:cNvSpPr>
              <a:spLocks noChangeArrowheads="1"/>
            </p:cNvSpPr>
            <p:nvPr/>
          </p:nvSpPr>
          <p:spPr bwMode="auto">
            <a:xfrm>
              <a:off x="2052638" y="1341438"/>
              <a:ext cx="914400"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8249" name="Line 39">
              <a:extLst>
                <a:ext uri="{FF2B5EF4-FFF2-40B4-BE49-F238E27FC236}">
                  <a16:creationId xmlns:a16="http://schemas.microsoft.com/office/drawing/2014/main" id="{3A8F2694-044A-BB4F-8644-836FC16DF765}"/>
                </a:ext>
              </a:extLst>
            </p:cNvPr>
            <p:cNvSpPr>
              <a:spLocks noChangeShapeType="1"/>
            </p:cNvSpPr>
            <p:nvPr/>
          </p:nvSpPr>
          <p:spPr bwMode="auto">
            <a:xfrm flipV="1">
              <a:off x="2987675" y="148431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50" name="Freeform 40">
              <a:extLst>
                <a:ext uri="{FF2B5EF4-FFF2-40B4-BE49-F238E27FC236}">
                  <a16:creationId xmlns:a16="http://schemas.microsoft.com/office/drawing/2014/main" id="{993A7D2F-E6E2-E449-95A1-1D4FCCC81C25}"/>
                </a:ext>
              </a:extLst>
            </p:cNvPr>
            <p:cNvSpPr>
              <a:spLocks/>
            </p:cNvSpPr>
            <p:nvPr/>
          </p:nvSpPr>
          <p:spPr bwMode="auto">
            <a:xfrm>
              <a:off x="6084888" y="692150"/>
              <a:ext cx="431800" cy="1655763"/>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51" name="Rectangle 41">
              <a:extLst>
                <a:ext uri="{FF2B5EF4-FFF2-40B4-BE49-F238E27FC236}">
                  <a16:creationId xmlns:a16="http://schemas.microsoft.com/office/drawing/2014/main" id="{9C7DC777-79AA-9648-B84B-5DB480939EB2}"/>
                </a:ext>
              </a:extLst>
            </p:cNvPr>
            <p:cNvSpPr>
              <a:spLocks noChangeArrowheads="1"/>
            </p:cNvSpPr>
            <p:nvPr/>
          </p:nvSpPr>
          <p:spPr bwMode="auto">
            <a:xfrm>
              <a:off x="6443663" y="1052513"/>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52" name="Text Box 42">
              <a:extLst>
                <a:ext uri="{FF2B5EF4-FFF2-40B4-BE49-F238E27FC236}">
                  <a16:creationId xmlns:a16="http://schemas.microsoft.com/office/drawing/2014/main" id="{000F28D2-7515-A444-A6C5-FA45EB2EF5D0}"/>
                </a:ext>
              </a:extLst>
            </p:cNvPr>
            <p:cNvSpPr txBox="1">
              <a:spLocks noChangeArrowheads="1"/>
            </p:cNvSpPr>
            <p:nvPr/>
          </p:nvSpPr>
          <p:spPr bwMode="auto">
            <a:xfrm>
              <a:off x="3492500" y="1773238"/>
              <a:ext cx="857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8253" name="Text Box 43">
              <a:extLst>
                <a:ext uri="{FF2B5EF4-FFF2-40B4-BE49-F238E27FC236}">
                  <a16:creationId xmlns:a16="http://schemas.microsoft.com/office/drawing/2014/main" id="{F8A3A17A-9111-5F40-9BF3-E7439B5968CD}"/>
                </a:ext>
              </a:extLst>
            </p:cNvPr>
            <p:cNvSpPr txBox="1">
              <a:spLocks noChangeArrowheads="1"/>
            </p:cNvSpPr>
            <p:nvPr/>
          </p:nvSpPr>
          <p:spPr bwMode="auto">
            <a:xfrm>
              <a:off x="4211638" y="9080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8254" name="Text Box 44">
              <a:extLst>
                <a:ext uri="{FF2B5EF4-FFF2-40B4-BE49-F238E27FC236}">
                  <a16:creationId xmlns:a16="http://schemas.microsoft.com/office/drawing/2014/main" id="{F0DC5BFB-7D38-DB42-A9A2-1CF0DE4A2241}"/>
                </a:ext>
              </a:extLst>
            </p:cNvPr>
            <p:cNvSpPr txBox="1">
              <a:spLocks noChangeArrowheads="1"/>
            </p:cNvSpPr>
            <p:nvPr/>
          </p:nvSpPr>
          <p:spPr bwMode="auto">
            <a:xfrm>
              <a:off x="5003800" y="14843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8255" name="Text Box 45">
              <a:extLst>
                <a:ext uri="{FF2B5EF4-FFF2-40B4-BE49-F238E27FC236}">
                  <a16:creationId xmlns:a16="http://schemas.microsoft.com/office/drawing/2014/main" id="{63787D4A-F3C5-1146-B2C8-1CE03AB38782}"/>
                </a:ext>
              </a:extLst>
            </p:cNvPr>
            <p:cNvSpPr txBox="1">
              <a:spLocks noChangeArrowheads="1"/>
            </p:cNvSpPr>
            <p:nvPr/>
          </p:nvSpPr>
          <p:spPr bwMode="auto">
            <a:xfrm>
              <a:off x="6011863" y="1268413"/>
              <a:ext cx="433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8256" name="Text Box 46">
              <a:extLst>
                <a:ext uri="{FF2B5EF4-FFF2-40B4-BE49-F238E27FC236}">
                  <a16:creationId xmlns:a16="http://schemas.microsoft.com/office/drawing/2014/main" id="{F1609D2D-4B31-0A4D-BEF1-5713507CEE53}"/>
                </a:ext>
              </a:extLst>
            </p:cNvPr>
            <p:cNvSpPr txBox="1">
              <a:spLocks noChangeArrowheads="1"/>
            </p:cNvSpPr>
            <p:nvPr/>
          </p:nvSpPr>
          <p:spPr bwMode="auto">
            <a:xfrm>
              <a:off x="6726238" y="1339850"/>
              <a:ext cx="5826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8257" name="Line 47">
              <a:extLst>
                <a:ext uri="{FF2B5EF4-FFF2-40B4-BE49-F238E27FC236}">
                  <a16:creationId xmlns:a16="http://schemas.microsoft.com/office/drawing/2014/main" id="{DADDDB23-06D3-874C-BCAE-B2AB41E16B96}"/>
                </a:ext>
              </a:extLst>
            </p:cNvPr>
            <p:cNvSpPr>
              <a:spLocks noChangeShapeType="1"/>
            </p:cNvSpPr>
            <p:nvPr/>
          </p:nvSpPr>
          <p:spPr bwMode="auto">
            <a:xfrm flipV="1">
              <a:off x="6732588" y="692150"/>
              <a:ext cx="0" cy="1655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58" name="Line 49">
              <a:extLst>
                <a:ext uri="{FF2B5EF4-FFF2-40B4-BE49-F238E27FC236}">
                  <a16:creationId xmlns:a16="http://schemas.microsoft.com/office/drawing/2014/main" id="{C9C5990F-8819-3745-B4DA-B1D213A504ED}"/>
                </a:ext>
              </a:extLst>
            </p:cNvPr>
            <p:cNvSpPr>
              <a:spLocks noChangeShapeType="1"/>
            </p:cNvSpPr>
            <p:nvPr/>
          </p:nvSpPr>
          <p:spPr bwMode="auto">
            <a:xfrm flipH="1">
              <a:off x="1547813" y="333375"/>
              <a:ext cx="936625" cy="0"/>
            </a:xfrm>
            <a:prstGeom prst="line">
              <a:avLst/>
            </a:prstGeom>
            <a:noFill/>
            <a:ln w="25400">
              <a:solidFill>
                <a:srgbClr val="3366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59" name="Text Box 50">
              <a:extLst>
                <a:ext uri="{FF2B5EF4-FFF2-40B4-BE49-F238E27FC236}">
                  <a16:creationId xmlns:a16="http://schemas.microsoft.com/office/drawing/2014/main" id="{0A5E2ACB-8A9D-1848-A347-215BC3AEF93F}"/>
                </a:ext>
              </a:extLst>
            </p:cNvPr>
            <p:cNvSpPr txBox="1">
              <a:spLocks noChangeArrowheads="1"/>
            </p:cNvSpPr>
            <p:nvPr/>
          </p:nvSpPr>
          <p:spPr bwMode="auto">
            <a:xfrm>
              <a:off x="2555875" y="188913"/>
              <a:ext cx="420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8260" name="Line 51">
              <a:extLst>
                <a:ext uri="{FF2B5EF4-FFF2-40B4-BE49-F238E27FC236}">
                  <a16:creationId xmlns:a16="http://schemas.microsoft.com/office/drawing/2014/main" id="{E9283D46-16EB-7747-A73C-523488C7F874}"/>
                </a:ext>
              </a:extLst>
            </p:cNvPr>
            <p:cNvSpPr>
              <a:spLocks noChangeShapeType="1"/>
            </p:cNvSpPr>
            <p:nvPr/>
          </p:nvSpPr>
          <p:spPr bwMode="auto">
            <a:xfrm>
              <a:off x="1404938" y="1125538"/>
              <a:ext cx="1439862"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61" name="Text Box 52">
              <a:extLst>
                <a:ext uri="{FF2B5EF4-FFF2-40B4-BE49-F238E27FC236}">
                  <a16:creationId xmlns:a16="http://schemas.microsoft.com/office/drawing/2014/main" id="{7ED67989-8FCB-9B43-A172-B8E18B4C3CE9}"/>
                </a:ext>
              </a:extLst>
            </p:cNvPr>
            <p:cNvSpPr txBox="1">
              <a:spLocks noChangeArrowheads="1"/>
            </p:cNvSpPr>
            <p:nvPr/>
          </p:nvSpPr>
          <p:spPr bwMode="auto">
            <a:xfrm>
              <a:off x="1547813" y="765175"/>
              <a:ext cx="946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0000"/>
                  </a:solidFill>
                </a:rPr>
                <a:t>Current</a:t>
              </a:r>
              <a:endParaRPr lang="en-US" altLang="en-US" sz="1800">
                <a:solidFill>
                  <a:srgbClr val="FF0000"/>
                </a:solidFill>
              </a:endParaRPr>
            </a:p>
          </p:txBody>
        </p:sp>
      </p:grpSp>
      <p:sp>
        <p:nvSpPr>
          <p:cNvPr id="8197" name="TextBox 1">
            <a:extLst>
              <a:ext uri="{FF2B5EF4-FFF2-40B4-BE49-F238E27FC236}">
                <a16:creationId xmlns:a16="http://schemas.microsoft.com/office/drawing/2014/main" id="{DED628A0-FCBD-9647-8E7D-C6C72618F111}"/>
              </a:ext>
            </a:extLst>
          </p:cNvPr>
          <p:cNvSpPr txBox="1">
            <a:spLocks noChangeArrowheads="1"/>
          </p:cNvSpPr>
          <p:nvPr/>
        </p:nvSpPr>
        <p:spPr bwMode="auto">
          <a:xfrm>
            <a:off x="217805" y="5639200"/>
            <a:ext cx="45927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2000" b="1" dirty="0">
                <a:solidFill>
                  <a:srgbClr val="0000CC"/>
                </a:solidFill>
              </a:rPr>
              <a:t>Switch ON: </a:t>
            </a:r>
            <a:r>
              <a:rPr lang="en-GB" altLang="en-US" sz="2000" b="1" dirty="0">
                <a:solidFill>
                  <a:srgbClr val="FF0000"/>
                </a:solidFill>
              </a:rPr>
              <a:t>Charging the inductor !!!</a:t>
            </a:r>
          </a:p>
        </p:txBody>
      </p:sp>
      <p:grpSp>
        <p:nvGrpSpPr>
          <p:cNvPr id="8198" name="Group 52">
            <a:extLst>
              <a:ext uri="{FF2B5EF4-FFF2-40B4-BE49-F238E27FC236}">
                <a16:creationId xmlns:a16="http://schemas.microsoft.com/office/drawing/2014/main" id="{DEE4831B-4CEF-C04E-AA61-90FC90209478}"/>
              </a:ext>
            </a:extLst>
          </p:cNvPr>
          <p:cNvGrpSpPr>
            <a:grpSpLocks/>
          </p:cNvGrpSpPr>
          <p:nvPr/>
        </p:nvGrpSpPr>
        <p:grpSpPr bwMode="auto">
          <a:xfrm>
            <a:off x="5051062" y="4506913"/>
            <a:ext cx="3168650" cy="2160587"/>
            <a:chOff x="250825" y="692150"/>
            <a:chExt cx="3168650" cy="2160588"/>
          </a:xfrm>
        </p:grpSpPr>
        <p:sp>
          <p:nvSpPr>
            <p:cNvPr id="8199" name="Rectangle 52">
              <a:extLst>
                <a:ext uri="{FF2B5EF4-FFF2-40B4-BE49-F238E27FC236}">
                  <a16:creationId xmlns:a16="http://schemas.microsoft.com/office/drawing/2014/main" id="{FB122AE1-AA65-B24A-99E1-1D2DDD5B1997}"/>
                </a:ext>
              </a:extLst>
            </p:cNvPr>
            <p:cNvSpPr>
              <a:spLocks noChangeArrowheads="1"/>
            </p:cNvSpPr>
            <p:nvPr/>
          </p:nvSpPr>
          <p:spPr bwMode="auto">
            <a:xfrm>
              <a:off x="250825" y="1989138"/>
              <a:ext cx="433388" cy="71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00" name="Rectangle 53">
              <a:extLst>
                <a:ext uri="{FF2B5EF4-FFF2-40B4-BE49-F238E27FC236}">
                  <a16:creationId xmlns:a16="http://schemas.microsoft.com/office/drawing/2014/main" id="{4F316B1A-4D42-824C-99E5-ACDAEEC5E2EA}"/>
                </a:ext>
              </a:extLst>
            </p:cNvPr>
            <p:cNvSpPr>
              <a:spLocks noChangeArrowheads="1"/>
            </p:cNvSpPr>
            <p:nvPr/>
          </p:nvSpPr>
          <p:spPr bwMode="auto">
            <a:xfrm>
              <a:off x="323850" y="2132013"/>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01" name="Line 54">
              <a:extLst>
                <a:ext uri="{FF2B5EF4-FFF2-40B4-BE49-F238E27FC236}">
                  <a16:creationId xmlns:a16="http://schemas.microsoft.com/office/drawing/2014/main" id="{290C5FC1-064C-0A43-AF45-D4D6B38CAD77}"/>
                </a:ext>
              </a:extLst>
            </p:cNvPr>
            <p:cNvSpPr>
              <a:spLocks noChangeShapeType="1"/>
            </p:cNvSpPr>
            <p:nvPr/>
          </p:nvSpPr>
          <p:spPr bwMode="auto">
            <a:xfrm flipV="1">
              <a:off x="468313" y="1195388"/>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Line 55">
              <a:extLst>
                <a:ext uri="{FF2B5EF4-FFF2-40B4-BE49-F238E27FC236}">
                  <a16:creationId xmlns:a16="http://schemas.microsoft.com/office/drawing/2014/main" id="{75C06FB0-8963-FA4F-93A9-51E8EA3A9975}"/>
                </a:ext>
              </a:extLst>
            </p:cNvPr>
            <p:cNvSpPr>
              <a:spLocks noChangeShapeType="1"/>
            </p:cNvSpPr>
            <p:nvPr/>
          </p:nvSpPr>
          <p:spPr bwMode="auto">
            <a:xfrm flipV="1">
              <a:off x="468313" y="2205038"/>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3" name="Line 56">
              <a:extLst>
                <a:ext uri="{FF2B5EF4-FFF2-40B4-BE49-F238E27FC236}">
                  <a16:creationId xmlns:a16="http://schemas.microsoft.com/office/drawing/2014/main" id="{FF4A3896-978D-5746-BE17-E68D104F72F4}"/>
                </a:ext>
              </a:extLst>
            </p:cNvPr>
            <p:cNvSpPr>
              <a:spLocks noChangeShapeType="1"/>
            </p:cNvSpPr>
            <p:nvPr/>
          </p:nvSpPr>
          <p:spPr bwMode="auto">
            <a:xfrm flipV="1">
              <a:off x="755650" y="184308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4" name="Text Box 57">
              <a:extLst>
                <a:ext uri="{FF2B5EF4-FFF2-40B4-BE49-F238E27FC236}">
                  <a16:creationId xmlns:a16="http://schemas.microsoft.com/office/drawing/2014/main" id="{71D01D30-C0D8-134E-BD4C-50C995D0D2D0}"/>
                </a:ext>
              </a:extLst>
            </p:cNvPr>
            <p:cNvSpPr txBox="1">
              <a:spLocks noChangeArrowheads="1"/>
            </p:cNvSpPr>
            <p:nvPr/>
          </p:nvSpPr>
          <p:spPr bwMode="auto">
            <a:xfrm>
              <a:off x="684213" y="184308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8205" name="Line 58">
              <a:extLst>
                <a:ext uri="{FF2B5EF4-FFF2-40B4-BE49-F238E27FC236}">
                  <a16:creationId xmlns:a16="http://schemas.microsoft.com/office/drawing/2014/main" id="{171F1781-A86B-7A48-9CF1-A614F519F686}"/>
                </a:ext>
              </a:extLst>
            </p:cNvPr>
            <p:cNvSpPr>
              <a:spLocks noChangeShapeType="1"/>
            </p:cNvSpPr>
            <p:nvPr/>
          </p:nvSpPr>
          <p:spPr bwMode="auto">
            <a:xfrm>
              <a:off x="468313" y="1195388"/>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8206" name="Group 59">
              <a:extLst>
                <a:ext uri="{FF2B5EF4-FFF2-40B4-BE49-F238E27FC236}">
                  <a16:creationId xmlns:a16="http://schemas.microsoft.com/office/drawing/2014/main" id="{D4132428-1420-FE45-B51B-7236CEE0FBA5}"/>
                </a:ext>
              </a:extLst>
            </p:cNvPr>
            <p:cNvGrpSpPr>
              <a:grpSpLocks/>
            </p:cNvGrpSpPr>
            <p:nvPr/>
          </p:nvGrpSpPr>
          <p:grpSpPr bwMode="auto">
            <a:xfrm rot="-5400000">
              <a:off x="1939925" y="452438"/>
              <a:ext cx="314325" cy="1530350"/>
              <a:chOff x="3211" y="2176"/>
              <a:chExt cx="198" cy="964"/>
            </a:xfrm>
          </p:grpSpPr>
          <p:sp>
            <p:nvSpPr>
              <p:cNvPr id="8218" name="Oval 60">
                <a:extLst>
                  <a:ext uri="{FF2B5EF4-FFF2-40B4-BE49-F238E27FC236}">
                    <a16:creationId xmlns:a16="http://schemas.microsoft.com/office/drawing/2014/main" id="{DFF3C028-BDD9-4749-A2C0-7C9D6DD8EB17}"/>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19" name="Oval 61">
                <a:extLst>
                  <a:ext uri="{FF2B5EF4-FFF2-40B4-BE49-F238E27FC236}">
                    <a16:creationId xmlns:a16="http://schemas.microsoft.com/office/drawing/2014/main" id="{15952AB4-799F-9C49-9321-B8D98D11387F}"/>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0" name="Oval 62">
                <a:extLst>
                  <a:ext uri="{FF2B5EF4-FFF2-40B4-BE49-F238E27FC236}">
                    <a16:creationId xmlns:a16="http://schemas.microsoft.com/office/drawing/2014/main" id="{93FC8A35-A101-C24C-8B81-875C4DF4B7DC}"/>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1" name="Oval 63">
                <a:extLst>
                  <a:ext uri="{FF2B5EF4-FFF2-40B4-BE49-F238E27FC236}">
                    <a16:creationId xmlns:a16="http://schemas.microsoft.com/office/drawing/2014/main" id="{EADB33B3-0BC8-F144-BAEE-53ADB6C5080F}"/>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2" name="Oval 64">
                <a:extLst>
                  <a:ext uri="{FF2B5EF4-FFF2-40B4-BE49-F238E27FC236}">
                    <a16:creationId xmlns:a16="http://schemas.microsoft.com/office/drawing/2014/main" id="{7D757345-F197-2740-BF69-2A0A55C50E50}"/>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3" name="Oval 65">
                <a:extLst>
                  <a:ext uri="{FF2B5EF4-FFF2-40B4-BE49-F238E27FC236}">
                    <a16:creationId xmlns:a16="http://schemas.microsoft.com/office/drawing/2014/main" id="{6C92D147-121C-594C-90E0-5178202A82C1}"/>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4" name="Rectangle 66">
                <a:extLst>
                  <a:ext uri="{FF2B5EF4-FFF2-40B4-BE49-F238E27FC236}">
                    <a16:creationId xmlns:a16="http://schemas.microsoft.com/office/drawing/2014/main" id="{33767EE2-4EA5-6946-85D1-2C566AFBB88F}"/>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8225" name="Line 67">
                <a:extLst>
                  <a:ext uri="{FF2B5EF4-FFF2-40B4-BE49-F238E27FC236}">
                    <a16:creationId xmlns:a16="http://schemas.microsoft.com/office/drawing/2014/main" id="{A43FE218-3812-F341-8D59-1AFF88B8EF30}"/>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6" name="Line 68">
                <a:extLst>
                  <a:ext uri="{FF2B5EF4-FFF2-40B4-BE49-F238E27FC236}">
                    <a16:creationId xmlns:a16="http://schemas.microsoft.com/office/drawing/2014/main" id="{37FEE9BD-CB45-AC42-B39C-05B1B6DD776C}"/>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8207" name="Line 69">
              <a:extLst>
                <a:ext uri="{FF2B5EF4-FFF2-40B4-BE49-F238E27FC236}">
                  <a16:creationId xmlns:a16="http://schemas.microsoft.com/office/drawing/2014/main" id="{6DA9BEA1-1B2E-3E40-AAF1-78EB8EEF0D34}"/>
                </a:ext>
              </a:extLst>
            </p:cNvPr>
            <p:cNvSpPr>
              <a:spLocks noChangeShapeType="1"/>
            </p:cNvSpPr>
            <p:nvPr/>
          </p:nvSpPr>
          <p:spPr bwMode="auto">
            <a:xfrm flipH="1">
              <a:off x="2843213" y="1195388"/>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8" name="Line 70">
              <a:extLst>
                <a:ext uri="{FF2B5EF4-FFF2-40B4-BE49-F238E27FC236}">
                  <a16:creationId xmlns:a16="http://schemas.microsoft.com/office/drawing/2014/main" id="{65B8280B-CD03-A940-B22B-4727A942A724}"/>
                </a:ext>
              </a:extLst>
            </p:cNvPr>
            <p:cNvSpPr>
              <a:spLocks noChangeShapeType="1"/>
            </p:cNvSpPr>
            <p:nvPr/>
          </p:nvSpPr>
          <p:spPr bwMode="auto">
            <a:xfrm>
              <a:off x="3419475" y="1844675"/>
              <a:ext cx="0" cy="358775"/>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9" name="Line 83">
              <a:extLst>
                <a:ext uri="{FF2B5EF4-FFF2-40B4-BE49-F238E27FC236}">
                  <a16:creationId xmlns:a16="http://schemas.microsoft.com/office/drawing/2014/main" id="{68DBED2B-876D-A44E-B844-8BCFF2486D14}"/>
                </a:ext>
              </a:extLst>
            </p:cNvPr>
            <p:cNvSpPr>
              <a:spLocks noChangeShapeType="1"/>
            </p:cNvSpPr>
            <p:nvPr/>
          </p:nvSpPr>
          <p:spPr bwMode="auto">
            <a:xfrm>
              <a:off x="468313" y="2851150"/>
              <a:ext cx="2951162"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0" name="Line 84">
              <a:extLst>
                <a:ext uri="{FF2B5EF4-FFF2-40B4-BE49-F238E27FC236}">
                  <a16:creationId xmlns:a16="http://schemas.microsoft.com/office/drawing/2014/main" id="{EB4374A5-A4BB-7645-9267-0CB35FBDC081}"/>
                </a:ext>
              </a:extLst>
            </p:cNvPr>
            <p:cNvSpPr>
              <a:spLocks noChangeShapeType="1"/>
            </p:cNvSpPr>
            <p:nvPr/>
          </p:nvSpPr>
          <p:spPr bwMode="auto">
            <a:xfrm>
              <a:off x="3419475" y="2203450"/>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1" name="Line 85">
              <a:extLst>
                <a:ext uri="{FF2B5EF4-FFF2-40B4-BE49-F238E27FC236}">
                  <a16:creationId xmlns:a16="http://schemas.microsoft.com/office/drawing/2014/main" id="{555CC42B-3D75-9942-BCA2-542A78282792}"/>
                </a:ext>
              </a:extLst>
            </p:cNvPr>
            <p:cNvSpPr>
              <a:spLocks noChangeShapeType="1"/>
            </p:cNvSpPr>
            <p:nvPr/>
          </p:nvSpPr>
          <p:spPr bwMode="auto">
            <a:xfrm flipV="1">
              <a:off x="3419475" y="1195388"/>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2" name="Text Box 90">
              <a:extLst>
                <a:ext uri="{FF2B5EF4-FFF2-40B4-BE49-F238E27FC236}">
                  <a16:creationId xmlns:a16="http://schemas.microsoft.com/office/drawing/2014/main" id="{2CEC4AF3-37EE-CC47-823A-13E8409BCADB}"/>
                </a:ext>
              </a:extLst>
            </p:cNvPr>
            <p:cNvSpPr txBox="1">
              <a:spLocks noChangeArrowheads="1"/>
            </p:cNvSpPr>
            <p:nvPr/>
          </p:nvSpPr>
          <p:spPr bwMode="auto">
            <a:xfrm>
              <a:off x="468313" y="1195388"/>
              <a:ext cx="819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 on</a:t>
              </a:r>
              <a:endParaRPr lang="en-US" altLang="en-US" sz="1800"/>
            </a:p>
          </p:txBody>
        </p:sp>
        <p:sp>
          <p:nvSpPr>
            <p:cNvPr id="8213" name="Line 96">
              <a:extLst>
                <a:ext uri="{FF2B5EF4-FFF2-40B4-BE49-F238E27FC236}">
                  <a16:creationId xmlns:a16="http://schemas.microsoft.com/office/drawing/2014/main" id="{B2A937F8-0895-8543-B581-DBD15594A04B}"/>
                </a:ext>
              </a:extLst>
            </p:cNvPr>
            <p:cNvSpPr>
              <a:spLocks noChangeShapeType="1"/>
            </p:cNvSpPr>
            <p:nvPr/>
          </p:nvSpPr>
          <p:spPr bwMode="auto">
            <a:xfrm flipH="1">
              <a:off x="1547813" y="836613"/>
              <a:ext cx="936625" cy="0"/>
            </a:xfrm>
            <a:prstGeom prst="line">
              <a:avLst/>
            </a:prstGeom>
            <a:noFill/>
            <a:ln w="25400">
              <a:solidFill>
                <a:srgbClr val="3366FF"/>
              </a:solidFill>
              <a:round/>
              <a:headEnd type="non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4" name="Text Box 97">
              <a:extLst>
                <a:ext uri="{FF2B5EF4-FFF2-40B4-BE49-F238E27FC236}">
                  <a16:creationId xmlns:a16="http://schemas.microsoft.com/office/drawing/2014/main" id="{33135EA7-1735-FE4C-994B-57B6EE4FF7D6}"/>
                </a:ext>
              </a:extLst>
            </p:cNvPr>
            <p:cNvSpPr txBox="1">
              <a:spLocks noChangeArrowheads="1"/>
            </p:cNvSpPr>
            <p:nvPr/>
          </p:nvSpPr>
          <p:spPr bwMode="auto">
            <a:xfrm>
              <a:off x="2555875" y="692150"/>
              <a:ext cx="4206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8215" name="Line 98">
              <a:extLst>
                <a:ext uri="{FF2B5EF4-FFF2-40B4-BE49-F238E27FC236}">
                  <a16:creationId xmlns:a16="http://schemas.microsoft.com/office/drawing/2014/main" id="{8DA0A7B0-4876-FA48-B70E-C376D5140A6B}"/>
                </a:ext>
              </a:extLst>
            </p:cNvPr>
            <p:cNvSpPr>
              <a:spLocks noChangeShapeType="1"/>
            </p:cNvSpPr>
            <p:nvPr/>
          </p:nvSpPr>
          <p:spPr bwMode="auto">
            <a:xfrm>
              <a:off x="1404938" y="1628775"/>
              <a:ext cx="1439862"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6" name="Text Box 99">
              <a:extLst>
                <a:ext uri="{FF2B5EF4-FFF2-40B4-BE49-F238E27FC236}">
                  <a16:creationId xmlns:a16="http://schemas.microsoft.com/office/drawing/2014/main" id="{530415A2-79DB-8049-8811-BCCF41C1069B}"/>
                </a:ext>
              </a:extLst>
            </p:cNvPr>
            <p:cNvSpPr txBox="1">
              <a:spLocks noChangeArrowheads="1"/>
            </p:cNvSpPr>
            <p:nvPr/>
          </p:nvSpPr>
          <p:spPr bwMode="auto">
            <a:xfrm>
              <a:off x="1547813" y="1268413"/>
              <a:ext cx="946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0000"/>
                  </a:solidFill>
                </a:rPr>
                <a:t>Current</a:t>
              </a:r>
              <a:endParaRPr lang="en-US" altLang="en-US" sz="1800">
                <a:solidFill>
                  <a:srgbClr val="FF0000"/>
                </a:solidFill>
              </a:endParaRPr>
            </a:p>
          </p:txBody>
        </p:sp>
        <p:sp>
          <p:nvSpPr>
            <p:cNvPr id="8217" name="Rectangle 100">
              <a:extLst>
                <a:ext uri="{FF2B5EF4-FFF2-40B4-BE49-F238E27FC236}">
                  <a16:creationId xmlns:a16="http://schemas.microsoft.com/office/drawing/2014/main" id="{938DD466-592D-554A-B612-5D0C1FB4C461}"/>
                </a:ext>
              </a:extLst>
            </p:cNvPr>
            <p:cNvSpPr>
              <a:spLocks noChangeArrowheads="1"/>
            </p:cNvSpPr>
            <p:nvPr/>
          </p:nvSpPr>
          <p:spPr bwMode="auto">
            <a:xfrm>
              <a:off x="1189038" y="1903413"/>
              <a:ext cx="2087562" cy="804862"/>
            </a:xfrm>
            <a:prstGeom prst="rect">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b="1">
                  <a:latin typeface="Times New Roman" panose="02020603050405020304" pitchFamily="18" charset="0"/>
                </a:rPr>
                <a:t>V</a:t>
              </a:r>
              <a:r>
                <a:rPr lang="en-GB" altLang="en-US" sz="1800" b="1" baseline="-25000">
                  <a:latin typeface="Times New Roman" panose="02020603050405020304" pitchFamily="18" charset="0"/>
                </a:rPr>
                <a:t>L</a:t>
              </a:r>
              <a:r>
                <a:rPr lang="en-GB" altLang="en-US" sz="1800" b="1">
                  <a:latin typeface="Times New Roman" panose="02020603050405020304" pitchFamily="18" charset="0"/>
                </a:rPr>
                <a:t>=</a:t>
              </a:r>
              <a:r>
                <a:rPr lang="en-GB" altLang="en-US" sz="1800" b="1" err="1">
                  <a:latin typeface="Times New Roman" panose="02020603050405020304" pitchFamily="18" charset="0"/>
                </a:rPr>
                <a:t>V</a:t>
              </a:r>
              <a:r>
                <a:rPr lang="en-GB" altLang="en-US" sz="1800" b="1" baseline="-25000" err="1">
                  <a:latin typeface="Times New Roman" panose="02020603050405020304" pitchFamily="18" charset="0"/>
                </a:rPr>
                <a:t>In</a:t>
              </a:r>
              <a:endParaRPr lang="en-GB" altLang="en-US" sz="1800" b="1" baseline="-25000">
                <a:latin typeface="Times New Roman" panose="02020603050405020304" pitchFamily="18" charset="0"/>
              </a:endParaRPr>
            </a:p>
            <a:p>
              <a:pPr algn="ctr" eaLnBrk="1" hangingPunct="1">
                <a:spcBef>
                  <a:spcPct val="0"/>
                </a:spcBef>
                <a:buFontTx/>
                <a:buNone/>
              </a:pPr>
              <a:r>
                <a:rPr lang="en-GB" altLang="en-US" sz="1800" b="1">
                  <a:latin typeface="Times New Roman" panose="02020603050405020304" pitchFamily="18" charset="0"/>
                </a:rPr>
                <a:t>Energy in =&gt; I </a:t>
              </a:r>
              <a:r>
                <a:rPr lang="en-GB" altLang="en-US" sz="1800" b="1">
                  <a:latin typeface="Times New Roman" panose="02020603050405020304" pitchFamily="18" charset="0"/>
                  <a:cs typeface="Arial" panose="020B0604020202020204" pitchFamily="34"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p:bldP spid="819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B5E5B721-4338-1542-BF3C-EA5E915D0EF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A64FFC8-B4C2-D940-8629-E473424AD4C1}" type="slidenum">
              <a:rPr lang="en-US" altLang="en-US" sz="1400"/>
              <a:pPr>
                <a:spcBef>
                  <a:spcPct val="0"/>
                </a:spcBef>
                <a:buFontTx/>
                <a:buNone/>
              </a:pPr>
              <a:t>5</a:t>
            </a:fld>
            <a:endParaRPr lang="en-US" altLang="en-US" sz="1400"/>
          </a:p>
        </p:txBody>
      </p:sp>
      <p:grpSp>
        <p:nvGrpSpPr>
          <p:cNvPr id="9219" name="Group 1">
            <a:extLst>
              <a:ext uri="{FF2B5EF4-FFF2-40B4-BE49-F238E27FC236}">
                <a16:creationId xmlns:a16="http://schemas.microsoft.com/office/drawing/2014/main" id="{979EAA45-5D2F-4B43-AEC5-7CE0CAE96314}"/>
              </a:ext>
            </a:extLst>
          </p:cNvPr>
          <p:cNvGrpSpPr>
            <a:grpSpLocks/>
          </p:cNvGrpSpPr>
          <p:nvPr/>
        </p:nvGrpSpPr>
        <p:grpSpPr bwMode="auto">
          <a:xfrm>
            <a:off x="865188" y="47625"/>
            <a:ext cx="7058025" cy="2232025"/>
            <a:chOff x="250825" y="188913"/>
            <a:chExt cx="7058025" cy="2232025"/>
          </a:xfrm>
        </p:grpSpPr>
        <p:sp>
          <p:nvSpPr>
            <p:cNvPr id="9257" name="Rectangle 4">
              <a:extLst>
                <a:ext uri="{FF2B5EF4-FFF2-40B4-BE49-F238E27FC236}">
                  <a16:creationId xmlns:a16="http://schemas.microsoft.com/office/drawing/2014/main" id="{11ED265A-1B6B-B242-A615-6B7AEBC7C9EB}"/>
                </a:ext>
              </a:extLst>
            </p:cNvPr>
            <p:cNvSpPr>
              <a:spLocks noChangeArrowheads="1"/>
            </p:cNvSpPr>
            <p:nvPr/>
          </p:nvSpPr>
          <p:spPr bwMode="auto">
            <a:xfrm>
              <a:off x="250825" y="1485900"/>
              <a:ext cx="433388" cy="71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8" name="Rectangle 5">
              <a:extLst>
                <a:ext uri="{FF2B5EF4-FFF2-40B4-BE49-F238E27FC236}">
                  <a16:creationId xmlns:a16="http://schemas.microsoft.com/office/drawing/2014/main" id="{F119C7FC-5415-AE48-A8F8-E0A618F795D5}"/>
                </a:ext>
              </a:extLst>
            </p:cNvPr>
            <p:cNvSpPr>
              <a:spLocks noChangeArrowheads="1"/>
            </p:cNvSpPr>
            <p:nvPr/>
          </p:nvSpPr>
          <p:spPr bwMode="auto">
            <a:xfrm>
              <a:off x="323850" y="1628775"/>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9" name="Line 6">
              <a:extLst>
                <a:ext uri="{FF2B5EF4-FFF2-40B4-BE49-F238E27FC236}">
                  <a16:creationId xmlns:a16="http://schemas.microsoft.com/office/drawing/2014/main" id="{C2F7269C-8DAC-424F-90BE-E62CF88852D7}"/>
                </a:ext>
              </a:extLst>
            </p:cNvPr>
            <p:cNvSpPr>
              <a:spLocks noChangeShapeType="1"/>
            </p:cNvSpPr>
            <p:nvPr/>
          </p:nvSpPr>
          <p:spPr bwMode="auto">
            <a:xfrm flipV="1">
              <a:off x="468313" y="692150"/>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0" name="Line 7">
              <a:extLst>
                <a:ext uri="{FF2B5EF4-FFF2-40B4-BE49-F238E27FC236}">
                  <a16:creationId xmlns:a16="http://schemas.microsoft.com/office/drawing/2014/main" id="{D65229EA-B065-FD4E-AA9C-BBB90AF06F8E}"/>
                </a:ext>
              </a:extLst>
            </p:cNvPr>
            <p:cNvSpPr>
              <a:spLocks noChangeShapeType="1"/>
            </p:cNvSpPr>
            <p:nvPr/>
          </p:nvSpPr>
          <p:spPr bwMode="auto">
            <a:xfrm flipV="1">
              <a:off x="468313" y="1701800"/>
              <a:ext cx="0" cy="646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1" name="Line 8">
              <a:extLst>
                <a:ext uri="{FF2B5EF4-FFF2-40B4-BE49-F238E27FC236}">
                  <a16:creationId xmlns:a16="http://schemas.microsoft.com/office/drawing/2014/main" id="{6AA63288-143B-CA4F-841F-751C9B023295}"/>
                </a:ext>
              </a:extLst>
            </p:cNvPr>
            <p:cNvSpPr>
              <a:spLocks noChangeShapeType="1"/>
            </p:cNvSpPr>
            <p:nvPr/>
          </p:nvSpPr>
          <p:spPr bwMode="auto">
            <a:xfrm flipV="1">
              <a:off x="755650" y="13398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2" name="Text Box 9">
              <a:extLst>
                <a:ext uri="{FF2B5EF4-FFF2-40B4-BE49-F238E27FC236}">
                  <a16:creationId xmlns:a16="http://schemas.microsoft.com/office/drawing/2014/main" id="{313FB4BE-0B49-114B-8681-92606478AC3F}"/>
                </a:ext>
              </a:extLst>
            </p:cNvPr>
            <p:cNvSpPr txBox="1">
              <a:spLocks noChangeArrowheads="1"/>
            </p:cNvSpPr>
            <p:nvPr/>
          </p:nvSpPr>
          <p:spPr bwMode="auto">
            <a:xfrm>
              <a:off x="684213" y="1339850"/>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9263" name="Line 10">
              <a:extLst>
                <a:ext uri="{FF2B5EF4-FFF2-40B4-BE49-F238E27FC236}">
                  <a16:creationId xmlns:a16="http://schemas.microsoft.com/office/drawing/2014/main" id="{DA5078DE-5ACE-8E47-A439-38B6BC2BC215}"/>
                </a:ext>
              </a:extLst>
            </p:cNvPr>
            <p:cNvSpPr>
              <a:spLocks noChangeShapeType="1"/>
            </p:cNvSpPr>
            <p:nvPr/>
          </p:nvSpPr>
          <p:spPr bwMode="auto">
            <a:xfrm>
              <a:off x="468313" y="692150"/>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264" name="Group 11">
              <a:extLst>
                <a:ext uri="{FF2B5EF4-FFF2-40B4-BE49-F238E27FC236}">
                  <a16:creationId xmlns:a16="http://schemas.microsoft.com/office/drawing/2014/main" id="{E59B1F34-0273-434A-9E6F-56002AC88062}"/>
                </a:ext>
              </a:extLst>
            </p:cNvPr>
            <p:cNvGrpSpPr>
              <a:grpSpLocks/>
            </p:cNvGrpSpPr>
            <p:nvPr/>
          </p:nvGrpSpPr>
          <p:grpSpPr bwMode="auto">
            <a:xfrm rot="-5400000">
              <a:off x="1939925" y="-50799"/>
              <a:ext cx="314325" cy="1530350"/>
              <a:chOff x="3211" y="2176"/>
              <a:chExt cx="198" cy="964"/>
            </a:xfrm>
          </p:grpSpPr>
          <p:sp>
            <p:nvSpPr>
              <p:cNvPr id="9296" name="Oval 12">
                <a:extLst>
                  <a:ext uri="{FF2B5EF4-FFF2-40B4-BE49-F238E27FC236}">
                    <a16:creationId xmlns:a16="http://schemas.microsoft.com/office/drawing/2014/main" id="{AD969BED-3B38-874C-909C-38DE88B618C0}"/>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97" name="Oval 13">
                <a:extLst>
                  <a:ext uri="{FF2B5EF4-FFF2-40B4-BE49-F238E27FC236}">
                    <a16:creationId xmlns:a16="http://schemas.microsoft.com/office/drawing/2014/main" id="{CDB357A2-FF52-FC4B-BCE0-A3CDEC1A5B24}"/>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98" name="Oval 14">
                <a:extLst>
                  <a:ext uri="{FF2B5EF4-FFF2-40B4-BE49-F238E27FC236}">
                    <a16:creationId xmlns:a16="http://schemas.microsoft.com/office/drawing/2014/main" id="{D1F60746-EFB0-274D-9E5B-7FE4EC1E7E17}"/>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99" name="Oval 15">
                <a:extLst>
                  <a:ext uri="{FF2B5EF4-FFF2-40B4-BE49-F238E27FC236}">
                    <a16:creationId xmlns:a16="http://schemas.microsoft.com/office/drawing/2014/main" id="{B7FD2A9E-AC02-5942-82D1-4EA6F392B321}"/>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300" name="Oval 16">
                <a:extLst>
                  <a:ext uri="{FF2B5EF4-FFF2-40B4-BE49-F238E27FC236}">
                    <a16:creationId xmlns:a16="http://schemas.microsoft.com/office/drawing/2014/main" id="{79FBE0A7-8719-B44D-A1F4-7BD06BC1332C}"/>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301" name="Oval 17">
                <a:extLst>
                  <a:ext uri="{FF2B5EF4-FFF2-40B4-BE49-F238E27FC236}">
                    <a16:creationId xmlns:a16="http://schemas.microsoft.com/office/drawing/2014/main" id="{C915F828-FC15-3946-BD09-9F7C0723B1E4}"/>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302" name="Rectangle 18">
                <a:extLst>
                  <a:ext uri="{FF2B5EF4-FFF2-40B4-BE49-F238E27FC236}">
                    <a16:creationId xmlns:a16="http://schemas.microsoft.com/office/drawing/2014/main" id="{709B0145-BA11-B34E-8E35-76BAB5867D86}"/>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303" name="Line 19">
                <a:extLst>
                  <a:ext uri="{FF2B5EF4-FFF2-40B4-BE49-F238E27FC236}">
                    <a16:creationId xmlns:a16="http://schemas.microsoft.com/office/drawing/2014/main" id="{DBBDD0D7-B0B9-2B4B-B8B7-F6BA5580195C}"/>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04" name="Line 20">
                <a:extLst>
                  <a:ext uri="{FF2B5EF4-FFF2-40B4-BE49-F238E27FC236}">
                    <a16:creationId xmlns:a16="http://schemas.microsoft.com/office/drawing/2014/main" id="{DEC59F78-9BB4-5248-AAB0-EE120987DAA3}"/>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265" name="Line 21">
              <a:extLst>
                <a:ext uri="{FF2B5EF4-FFF2-40B4-BE49-F238E27FC236}">
                  <a16:creationId xmlns:a16="http://schemas.microsoft.com/office/drawing/2014/main" id="{18830A8E-2A3C-3342-9261-973FB6DA31FF}"/>
                </a:ext>
              </a:extLst>
            </p:cNvPr>
            <p:cNvSpPr>
              <a:spLocks noChangeShapeType="1"/>
            </p:cNvSpPr>
            <p:nvPr/>
          </p:nvSpPr>
          <p:spPr bwMode="auto">
            <a:xfrm flipH="1">
              <a:off x="2843213" y="692150"/>
              <a:ext cx="144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6" name="Line 22">
              <a:extLst>
                <a:ext uri="{FF2B5EF4-FFF2-40B4-BE49-F238E27FC236}">
                  <a16:creationId xmlns:a16="http://schemas.microsoft.com/office/drawing/2014/main" id="{718C5E5A-8448-FD4A-A2D7-271342FA659E}"/>
                </a:ext>
              </a:extLst>
            </p:cNvPr>
            <p:cNvSpPr>
              <a:spLocks noChangeShapeType="1"/>
            </p:cNvSpPr>
            <p:nvPr/>
          </p:nvSpPr>
          <p:spPr bwMode="auto">
            <a:xfrm>
              <a:off x="3419475" y="1341438"/>
              <a:ext cx="144463"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267" name="Group 23">
              <a:extLst>
                <a:ext uri="{FF2B5EF4-FFF2-40B4-BE49-F238E27FC236}">
                  <a16:creationId xmlns:a16="http://schemas.microsoft.com/office/drawing/2014/main" id="{CE56DE17-E6B4-2942-BEF0-F40B20063D19}"/>
                </a:ext>
              </a:extLst>
            </p:cNvPr>
            <p:cNvGrpSpPr>
              <a:grpSpLocks/>
            </p:cNvGrpSpPr>
            <p:nvPr/>
          </p:nvGrpSpPr>
          <p:grpSpPr bwMode="auto">
            <a:xfrm>
              <a:off x="4284663" y="549275"/>
              <a:ext cx="215900" cy="287338"/>
              <a:chOff x="1973" y="2160"/>
              <a:chExt cx="136" cy="181"/>
            </a:xfrm>
          </p:grpSpPr>
          <p:sp>
            <p:nvSpPr>
              <p:cNvPr id="9292" name="Line 24">
                <a:extLst>
                  <a:ext uri="{FF2B5EF4-FFF2-40B4-BE49-F238E27FC236}">
                    <a16:creationId xmlns:a16="http://schemas.microsoft.com/office/drawing/2014/main" id="{B16CCE0C-5544-6A42-A230-308FB4B3984F}"/>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93" name="Line 25">
                <a:extLst>
                  <a:ext uri="{FF2B5EF4-FFF2-40B4-BE49-F238E27FC236}">
                    <a16:creationId xmlns:a16="http://schemas.microsoft.com/office/drawing/2014/main" id="{C14E6666-65AB-AD4D-ADA0-9EDCDAB24561}"/>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94" name="Line 26">
                <a:extLst>
                  <a:ext uri="{FF2B5EF4-FFF2-40B4-BE49-F238E27FC236}">
                    <a16:creationId xmlns:a16="http://schemas.microsoft.com/office/drawing/2014/main" id="{556718FD-6DCE-7C44-9C13-0DC4B928D690}"/>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95" name="Line 27">
                <a:extLst>
                  <a:ext uri="{FF2B5EF4-FFF2-40B4-BE49-F238E27FC236}">
                    <a16:creationId xmlns:a16="http://schemas.microsoft.com/office/drawing/2014/main" id="{E74517BB-2EDB-4E42-A598-517B31E34708}"/>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268" name="Rectangle 28">
              <a:extLst>
                <a:ext uri="{FF2B5EF4-FFF2-40B4-BE49-F238E27FC236}">
                  <a16:creationId xmlns:a16="http://schemas.microsoft.com/office/drawing/2014/main" id="{368C71CB-80C4-4248-AA21-1D640C743213}"/>
                </a:ext>
              </a:extLst>
            </p:cNvPr>
            <p:cNvSpPr>
              <a:spLocks noChangeArrowheads="1"/>
            </p:cNvSpPr>
            <p:nvPr/>
          </p:nvSpPr>
          <p:spPr bwMode="auto">
            <a:xfrm>
              <a:off x="5148263" y="1268413"/>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69" name="Rectangle 29">
              <a:extLst>
                <a:ext uri="{FF2B5EF4-FFF2-40B4-BE49-F238E27FC236}">
                  <a16:creationId xmlns:a16="http://schemas.microsoft.com/office/drawing/2014/main" id="{D6CBF083-4A09-D344-995A-C6BCB4DD8047}"/>
                </a:ext>
              </a:extLst>
            </p:cNvPr>
            <p:cNvSpPr>
              <a:spLocks noChangeArrowheads="1"/>
            </p:cNvSpPr>
            <p:nvPr/>
          </p:nvSpPr>
          <p:spPr bwMode="auto">
            <a:xfrm>
              <a:off x="5148263" y="1412875"/>
              <a:ext cx="431800" cy="714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70" name="Line 30">
              <a:extLst>
                <a:ext uri="{FF2B5EF4-FFF2-40B4-BE49-F238E27FC236}">
                  <a16:creationId xmlns:a16="http://schemas.microsoft.com/office/drawing/2014/main" id="{199D4382-D5F3-EA49-BDB8-17F8BA0FD2B5}"/>
                </a:ext>
              </a:extLst>
            </p:cNvPr>
            <p:cNvSpPr>
              <a:spLocks noChangeShapeType="1"/>
            </p:cNvSpPr>
            <p:nvPr/>
          </p:nvSpPr>
          <p:spPr bwMode="auto">
            <a:xfrm flipV="1">
              <a:off x="5364163" y="1484313"/>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71" name="Line 31">
              <a:extLst>
                <a:ext uri="{FF2B5EF4-FFF2-40B4-BE49-F238E27FC236}">
                  <a16:creationId xmlns:a16="http://schemas.microsoft.com/office/drawing/2014/main" id="{EF4A6DBE-C441-5E43-89B7-6E2EA80DC4CD}"/>
                </a:ext>
              </a:extLst>
            </p:cNvPr>
            <p:cNvSpPr>
              <a:spLocks noChangeShapeType="1"/>
            </p:cNvSpPr>
            <p:nvPr/>
          </p:nvSpPr>
          <p:spPr bwMode="auto">
            <a:xfrm>
              <a:off x="5364163" y="692150"/>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72" name="Line 32">
              <a:extLst>
                <a:ext uri="{FF2B5EF4-FFF2-40B4-BE49-F238E27FC236}">
                  <a16:creationId xmlns:a16="http://schemas.microsoft.com/office/drawing/2014/main" id="{53EB7E51-19B7-D345-B109-6BF34F809F2E}"/>
                </a:ext>
              </a:extLst>
            </p:cNvPr>
            <p:cNvSpPr>
              <a:spLocks noChangeShapeType="1"/>
            </p:cNvSpPr>
            <p:nvPr/>
          </p:nvSpPr>
          <p:spPr bwMode="auto">
            <a:xfrm>
              <a:off x="4500563" y="692150"/>
              <a:ext cx="14398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73" name="Oval 33">
              <a:extLst>
                <a:ext uri="{FF2B5EF4-FFF2-40B4-BE49-F238E27FC236}">
                  <a16:creationId xmlns:a16="http://schemas.microsoft.com/office/drawing/2014/main" id="{E25A6365-F026-624F-81CD-4E48017CC237}"/>
                </a:ext>
              </a:extLst>
            </p:cNvPr>
            <p:cNvSpPr>
              <a:spLocks noChangeArrowheads="1"/>
            </p:cNvSpPr>
            <p:nvPr/>
          </p:nvSpPr>
          <p:spPr bwMode="auto">
            <a:xfrm>
              <a:off x="5940425" y="2278063"/>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74" name="Oval 34">
              <a:extLst>
                <a:ext uri="{FF2B5EF4-FFF2-40B4-BE49-F238E27FC236}">
                  <a16:creationId xmlns:a16="http://schemas.microsoft.com/office/drawing/2014/main" id="{E88C07D4-E0B6-C248-822D-A0CD825C3630}"/>
                </a:ext>
              </a:extLst>
            </p:cNvPr>
            <p:cNvSpPr>
              <a:spLocks noChangeArrowheads="1"/>
            </p:cNvSpPr>
            <p:nvPr/>
          </p:nvSpPr>
          <p:spPr bwMode="auto">
            <a:xfrm>
              <a:off x="5940425" y="620713"/>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75" name="Line 35">
              <a:extLst>
                <a:ext uri="{FF2B5EF4-FFF2-40B4-BE49-F238E27FC236}">
                  <a16:creationId xmlns:a16="http://schemas.microsoft.com/office/drawing/2014/main" id="{970675A6-B0A5-8549-8F4F-1D5EFEFD423C}"/>
                </a:ext>
              </a:extLst>
            </p:cNvPr>
            <p:cNvSpPr>
              <a:spLocks noChangeShapeType="1"/>
            </p:cNvSpPr>
            <p:nvPr/>
          </p:nvSpPr>
          <p:spPr bwMode="auto">
            <a:xfrm>
              <a:off x="468313" y="2347913"/>
              <a:ext cx="547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76" name="Line 36">
              <a:extLst>
                <a:ext uri="{FF2B5EF4-FFF2-40B4-BE49-F238E27FC236}">
                  <a16:creationId xmlns:a16="http://schemas.microsoft.com/office/drawing/2014/main" id="{FE68578E-C1EE-C549-9B0C-D51F83CFAC3B}"/>
                </a:ext>
              </a:extLst>
            </p:cNvPr>
            <p:cNvSpPr>
              <a:spLocks noChangeShapeType="1"/>
            </p:cNvSpPr>
            <p:nvPr/>
          </p:nvSpPr>
          <p:spPr bwMode="auto">
            <a:xfrm>
              <a:off x="3419475" y="1700213"/>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77" name="Line 37">
              <a:extLst>
                <a:ext uri="{FF2B5EF4-FFF2-40B4-BE49-F238E27FC236}">
                  <a16:creationId xmlns:a16="http://schemas.microsoft.com/office/drawing/2014/main" id="{B94BE8BA-6D25-9141-8C1D-C4803D51BB8D}"/>
                </a:ext>
              </a:extLst>
            </p:cNvPr>
            <p:cNvSpPr>
              <a:spLocks noChangeShapeType="1"/>
            </p:cNvSpPr>
            <p:nvPr/>
          </p:nvSpPr>
          <p:spPr bwMode="auto">
            <a:xfrm flipV="1">
              <a:off x="3419475" y="692150"/>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78" name="Rectangle 38">
              <a:extLst>
                <a:ext uri="{FF2B5EF4-FFF2-40B4-BE49-F238E27FC236}">
                  <a16:creationId xmlns:a16="http://schemas.microsoft.com/office/drawing/2014/main" id="{ADD998D0-10C8-B441-9269-5478DBDADF4D}"/>
                </a:ext>
              </a:extLst>
            </p:cNvPr>
            <p:cNvSpPr>
              <a:spLocks noChangeArrowheads="1"/>
            </p:cNvSpPr>
            <p:nvPr/>
          </p:nvSpPr>
          <p:spPr bwMode="auto">
            <a:xfrm>
              <a:off x="2052638" y="1341438"/>
              <a:ext cx="914400"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9279" name="Line 39">
              <a:extLst>
                <a:ext uri="{FF2B5EF4-FFF2-40B4-BE49-F238E27FC236}">
                  <a16:creationId xmlns:a16="http://schemas.microsoft.com/office/drawing/2014/main" id="{41831433-A287-6C47-AA6A-7EED01537614}"/>
                </a:ext>
              </a:extLst>
            </p:cNvPr>
            <p:cNvSpPr>
              <a:spLocks noChangeShapeType="1"/>
            </p:cNvSpPr>
            <p:nvPr/>
          </p:nvSpPr>
          <p:spPr bwMode="auto">
            <a:xfrm flipV="1">
              <a:off x="2987675" y="148431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80" name="Freeform 40">
              <a:extLst>
                <a:ext uri="{FF2B5EF4-FFF2-40B4-BE49-F238E27FC236}">
                  <a16:creationId xmlns:a16="http://schemas.microsoft.com/office/drawing/2014/main" id="{B6C7C955-3791-2243-9419-1BF15C2C903D}"/>
                </a:ext>
              </a:extLst>
            </p:cNvPr>
            <p:cNvSpPr>
              <a:spLocks/>
            </p:cNvSpPr>
            <p:nvPr/>
          </p:nvSpPr>
          <p:spPr bwMode="auto">
            <a:xfrm>
              <a:off x="6084888" y="692150"/>
              <a:ext cx="431800" cy="1655763"/>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81" name="Rectangle 41">
              <a:extLst>
                <a:ext uri="{FF2B5EF4-FFF2-40B4-BE49-F238E27FC236}">
                  <a16:creationId xmlns:a16="http://schemas.microsoft.com/office/drawing/2014/main" id="{D06066BA-FCAE-B84F-A183-98A13F532425}"/>
                </a:ext>
              </a:extLst>
            </p:cNvPr>
            <p:cNvSpPr>
              <a:spLocks noChangeArrowheads="1"/>
            </p:cNvSpPr>
            <p:nvPr/>
          </p:nvSpPr>
          <p:spPr bwMode="auto">
            <a:xfrm>
              <a:off x="6443663" y="1052513"/>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82" name="Text Box 42">
              <a:extLst>
                <a:ext uri="{FF2B5EF4-FFF2-40B4-BE49-F238E27FC236}">
                  <a16:creationId xmlns:a16="http://schemas.microsoft.com/office/drawing/2014/main" id="{56F73D28-EC0D-2446-8E23-F0C378EAC66E}"/>
                </a:ext>
              </a:extLst>
            </p:cNvPr>
            <p:cNvSpPr txBox="1">
              <a:spLocks noChangeArrowheads="1"/>
            </p:cNvSpPr>
            <p:nvPr/>
          </p:nvSpPr>
          <p:spPr bwMode="auto">
            <a:xfrm>
              <a:off x="3492500" y="1773238"/>
              <a:ext cx="857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9283" name="Text Box 43">
              <a:extLst>
                <a:ext uri="{FF2B5EF4-FFF2-40B4-BE49-F238E27FC236}">
                  <a16:creationId xmlns:a16="http://schemas.microsoft.com/office/drawing/2014/main" id="{AC991E52-318E-7B45-9758-ED170BACC9C1}"/>
                </a:ext>
              </a:extLst>
            </p:cNvPr>
            <p:cNvSpPr txBox="1">
              <a:spLocks noChangeArrowheads="1"/>
            </p:cNvSpPr>
            <p:nvPr/>
          </p:nvSpPr>
          <p:spPr bwMode="auto">
            <a:xfrm>
              <a:off x="4211638" y="9080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9284" name="Text Box 44">
              <a:extLst>
                <a:ext uri="{FF2B5EF4-FFF2-40B4-BE49-F238E27FC236}">
                  <a16:creationId xmlns:a16="http://schemas.microsoft.com/office/drawing/2014/main" id="{0E19681D-112D-C245-AC0D-7FCC5503C1AA}"/>
                </a:ext>
              </a:extLst>
            </p:cNvPr>
            <p:cNvSpPr txBox="1">
              <a:spLocks noChangeArrowheads="1"/>
            </p:cNvSpPr>
            <p:nvPr/>
          </p:nvSpPr>
          <p:spPr bwMode="auto">
            <a:xfrm>
              <a:off x="5003800" y="14843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9285" name="Text Box 45">
              <a:extLst>
                <a:ext uri="{FF2B5EF4-FFF2-40B4-BE49-F238E27FC236}">
                  <a16:creationId xmlns:a16="http://schemas.microsoft.com/office/drawing/2014/main" id="{F949E17C-F49E-334C-A90C-16DFB0A77E18}"/>
                </a:ext>
              </a:extLst>
            </p:cNvPr>
            <p:cNvSpPr txBox="1">
              <a:spLocks noChangeArrowheads="1"/>
            </p:cNvSpPr>
            <p:nvPr/>
          </p:nvSpPr>
          <p:spPr bwMode="auto">
            <a:xfrm>
              <a:off x="6011863" y="1268413"/>
              <a:ext cx="433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9286" name="Text Box 46">
              <a:extLst>
                <a:ext uri="{FF2B5EF4-FFF2-40B4-BE49-F238E27FC236}">
                  <a16:creationId xmlns:a16="http://schemas.microsoft.com/office/drawing/2014/main" id="{3DEFBB87-43ED-7E4D-9304-D1C04CCA990A}"/>
                </a:ext>
              </a:extLst>
            </p:cNvPr>
            <p:cNvSpPr txBox="1">
              <a:spLocks noChangeArrowheads="1"/>
            </p:cNvSpPr>
            <p:nvPr/>
          </p:nvSpPr>
          <p:spPr bwMode="auto">
            <a:xfrm>
              <a:off x="6726238" y="1339850"/>
              <a:ext cx="5826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9287" name="Line 47">
              <a:extLst>
                <a:ext uri="{FF2B5EF4-FFF2-40B4-BE49-F238E27FC236}">
                  <a16:creationId xmlns:a16="http://schemas.microsoft.com/office/drawing/2014/main" id="{85EB3627-BE9F-1348-B80A-C075E876ADEC}"/>
                </a:ext>
              </a:extLst>
            </p:cNvPr>
            <p:cNvSpPr>
              <a:spLocks noChangeShapeType="1"/>
            </p:cNvSpPr>
            <p:nvPr/>
          </p:nvSpPr>
          <p:spPr bwMode="auto">
            <a:xfrm flipV="1">
              <a:off x="6732588" y="692150"/>
              <a:ext cx="0" cy="1655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88" name="Line 48">
              <a:extLst>
                <a:ext uri="{FF2B5EF4-FFF2-40B4-BE49-F238E27FC236}">
                  <a16:creationId xmlns:a16="http://schemas.microsoft.com/office/drawing/2014/main" id="{EF11A121-46E3-7E49-97E4-DA5AB939AA81}"/>
                </a:ext>
              </a:extLst>
            </p:cNvPr>
            <p:cNvSpPr>
              <a:spLocks noChangeShapeType="1"/>
            </p:cNvSpPr>
            <p:nvPr/>
          </p:nvSpPr>
          <p:spPr bwMode="auto">
            <a:xfrm flipH="1">
              <a:off x="1547813" y="333375"/>
              <a:ext cx="936625" cy="0"/>
            </a:xfrm>
            <a:prstGeom prst="line">
              <a:avLst/>
            </a:prstGeom>
            <a:noFill/>
            <a:ln w="25400">
              <a:solidFill>
                <a:srgbClr val="3366FF"/>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89" name="Text Box 49">
              <a:extLst>
                <a:ext uri="{FF2B5EF4-FFF2-40B4-BE49-F238E27FC236}">
                  <a16:creationId xmlns:a16="http://schemas.microsoft.com/office/drawing/2014/main" id="{210B3857-30B2-2145-B1F8-3CA985691227}"/>
                </a:ext>
              </a:extLst>
            </p:cNvPr>
            <p:cNvSpPr txBox="1">
              <a:spLocks noChangeArrowheads="1"/>
            </p:cNvSpPr>
            <p:nvPr/>
          </p:nvSpPr>
          <p:spPr bwMode="auto">
            <a:xfrm>
              <a:off x="2555875" y="188913"/>
              <a:ext cx="420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9290" name="Line 50">
              <a:extLst>
                <a:ext uri="{FF2B5EF4-FFF2-40B4-BE49-F238E27FC236}">
                  <a16:creationId xmlns:a16="http://schemas.microsoft.com/office/drawing/2014/main" id="{C301F11D-0049-CE4F-BE7B-EEBAF8780500}"/>
                </a:ext>
              </a:extLst>
            </p:cNvPr>
            <p:cNvSpPr>
              <a:spLocks noChangeShapeType="1"/>
            </p:cNvSpPr>
            <p:nvPr/>
          </p:nvSpPr>
          <p:spPr bwMode="auto">
            <a:xfrm>
              <a:off x="1404938" y="1125538"/>
              <a:ext cx="1439862"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91" name="Text Box 51">
              <a:extLst>
                <a:ext uri="{FF2B5EF4-FFF2-40B4-BE49-F238E27FC236}">
                  <a16:creationId xmlns:a16="http://schemas.microsoft.com/office/drawing/2014/main" id="{82F81283-5FF6-C347-AE75-DDF09088102F}"/>
                </a:ext>
              </a:extLst>
            </p:cNvPr>
            <p:cNvSpPr txBox="1">
              <a:spLocks noChangeArrowheads="1"/>
            </p:cNvSpPr>
            <p:nvPr/>
          </p:nvSpPr>
          <p:spPr bwMode="auto">
            <a:xfrm>
              <a:off x="1547813" y="765175"/>
              <a:ext cx="946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0000"/>
                  </a:solidFill>
                </a:rPr>
                <a:t>Current</a:t>
              </a:r>
              <a:endParaRPr lang="en-US" altLang="en-US" sz="1800">
                <a:solidFill>
                  <a:srgbClr val="FF0000"/>
                </a:solidFill>
              </a:endParaRPr>
            </a:p>
          </p:txBody>
        </p:sp>
      </p:grpSp>
      <p:sp>
        <p:nvSpPr>
          <p:cNvPr id="9220" name="Text Box 52">
            <a:extLst>
              <a:ext uri="{FF2B5EF4-FFF2-40B4-BE49-F238E27FC236}">
                <a16:creationId xmlns:a16="http://schemas.microsoft.com/office/drawing/2014/main" id="{A6806440-508B-A442-9E34-C137FF7657F4}"/>
              </a:ext>
            </a:extLst>
          </p:cNvPr>
          <p:cNvSpPr txBox="1">
            <a:spLocks noChangeArrowheads="1"/>
          </p:cNvSpPr>
          <p:nvPr/>
        </p:nvSpPr>
        <p:spPr bwMode="auto">
          <a:xfrm>
            <a:off x="122240" y="2840038"/>
            <a:ext cx="525779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When the switch is opened, the inductor wants to maintain the current flow and with the supply side of the inductor still held at V</a:t>
            </a:r>
            <a:r>
              <a:rPr lang="en-GB" altLang="en-US" sz="1800" baseline="-25000" dirty="0"/>
              <a:t>IN</a:t>
            </a:r>
            <a:r>
              <a:rPr lang="en-GB" altLang="en-US" sz="1800" dirty="0"/>
              <a:t>, the potential at the opposite side of the inductor rises until the diode starts to conduct. The inductor voltage during this phase is the difference between the input voltage (V</a:t>
            </a:r>
            <a:r>
              <a:rPr lang="en-GB" altLang="en-US" sz="1800" baseline="-25000" dirty="0"/>
              <a:t>IN</a:t>
            </a:r>
            <a:r>
              <a:rPr lang="en-GB" altLang="en-US" sz="1800" dirty="0"/>
              <a:t>) and the output voltage (V</a:t>
            </a:r>
            <a:r>
              <a:rPr lang="en-GB" altLang="en-US" sz="1800" baseline="-25000" dirty="0"/>
              <a:t>OUT</a:t>
            </a:r>
            <a:r>
              <a:rPr lang="en-GB" altLang="en-US" sz="1800" dirty="0"/>
              <a:t>). </a:t>
            </a:r>
          </a:p>
          <a:p>
            <a:pPr eaLnBrk="1" hangingPunct="1">
              <a:spcBef>
                <a:spcPct val="50000"/>
              </a:spcBef>
              <a:buFontTx/>
              <a:buNone/>
            </a:pPr>
            <a:r>
              <a:rPr lang="en-GB" altLang="en-US" sz="1800" dirty="0"/>
              <a:t>So V</a:t>
            </a:r>
            <a:r>
              <a:rPr lang="en-GB" altLang="en-US" sz="1800" baseline="-25000" dirty="0"/>
              <a:t>L</a:t>
            </a:r>
            <a:r>
              <a:rPr lang="en-GB" altLang="en-US" sz="1800" dirty="0"/>
              <a:t>  = V</a:t>
            </a:r>
            <a:r>
              <a:rPr lang="en-GB" altLang="en-US" sz="1800" baseline="-25000" dirty="0"/>
              <a:t>IN</a:t>
            </a:r>
            <a:r>
              <a:rPr lang="en-GB" altLang="en-US" sz="1800" dirty="0"/>
              <a:t> – V</a:t>
            </a:r>
            <a:r>
              <a:rPr lang="en-GB" altLang="en-US" sz="1800" baseline="-25000" dirty="0"/>
              <a:t>OUT</a:t>
            </a:r>
            <a:endParaRPr lang="en-GB" altLang="en-US" sz="1800" dirty="0"/>
          </a:p>
          <a:p>
            <a:pPr eaLnBrk="1" hangingPunct="1">
              <a:spcBef>
                <a:spcPct val="50000"/>
              </a:spcBef>
              <a:buFontTx/>
              <a:buNone/>
            </a:pPr>
            <a:r>
              <a:rPr lang="en-GB" altLang="en-US" sz="1800" dirty="0"/>
              <a:t>As energy is transferred from the inductor’s magnetic field so the current flowing through the inductor and diode falls.</a:t>
            </a:r>
            <a:endParaRPr lang="en-US" altLang="en-US" sz="1800" dirty="0"/>
          </a:p>
        </p:txBody>
      </p:sp>
      <p:sp>
        <p:nvSpPr>
          <p:cNvPr id="9221" name="TextBox 51">
            <a:extLst>
              <a:ext uri="{FF2B5EF4-FFF2-40B4-BE49-F238E27FC236}">
                <a16:creationId xmlns:a16="http://schemas.microsoft.com/office/drawing/2014/main" id="{BFE9A726-8844-1247-9FC1-9A8516ECF18A}"/>
              </a:ext>
            </a:extLst>
          </p:cNvPr>
          <p:cNvSpPr txBox="1">
            <a:spLocks noChangeArrowheads="1"/>
          </p:cNvSpPr>
          <p:nvPr/>
        </p:nvSpPr>
        <p:spPr bwMode="auto">
          <a:xfrm>
            <a:off x="204788" y="2289471"/>
            <a:ext cx="7278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2800" b="1" dirty="0">
                <a:solidFill>
                  <a:srgbClr val="0000CC"/>
                </a:solidFill>
              </a:rPr>
              <a:t>Switch OFF: </a:t>
            </a:r>
            <a:r>
              <a:rPr lang="en-GB" altLang="en-US" sz="2800" b="1" dirty="0">
                <a:solidFill>
                  <a:srgbClr val="FF0000"/>
                </a:solidFill>
              </a:rPr>
              <a:t>Discharging the inductor !!!</a:t>
            </a:r>
          </a:p>
        </p:txBody>
      </p:sp>
      <p:grpSp>
        <p:nvGrpSpPr>
          <p:cNvPr id="9222" name="Group 53">
            <a:extLst>
              <a:ext uri="{FF2B5EF4-FFF2-40B4-BE49-F238E27FC236}">
                <a16:creationId xmlns:a16="http://schemas.microsoft.com/office/drawing/2014/main" id="{1C70D106-1BD8-1A40-ADD9-8D9A2E78C7A8}"/>
              </a:ext>
            </a:extLst>
          </p:cNvPr>
          <p:cNvGrpSpPr>
            <a:grpSpLocks/>
          </p:cNvGrpSpPr>
          <p:nvPr/>
        </p:nvGrpSpPr>
        <p:grpSpPr bwMode="auto">
          <a:xfrm>
            <a:off x="5254625" y="3181351"/>
            <a:ext cx="3889375" cy="2160588"/>
            <a:chOff x="4138613" y="690563"/>
            <a:chExt cx="3889375" cy="2160587"/>
          </a:xfrm>
        </p:grpSpPr>
        <p:sp>
          <p:nvSpPr>
            <p:cNvPr id="9223" name="Rectangle 4">
              <a:extLst>
                <a:ext uri="{FF2B5EF4-FFF2-40B4-BE49-F238E27FC236}">
                  <a16:creationId xmlns:a16="http://schemas.microsoft.com/office/drawing/2014/main" id="{FD362613-E8E2-D041-A71F-98730A8A0A4E}"/>
                </a:ext>
              </a:extLst>
            </p:cNvPr>
            <p:cNvSpPr>
              <a:spLocks noChangeArrowheads="1"/>
            </p:cNvSpPr>
            <p:nvPr/>
          </p:nvSpPr>
          <p:spPr bwMode="auto">
            <a:xfrm>
              <a:off x="4138613" y="1987550"/>
              <a:ext cx="433387" cy="71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24" name="Rectangle 5">
              <a:extLst>
                <a:ext uri="{FF2B5EF4-FFF2-40B4-BE49-F238E27FC236}">
                  <a16:creationId xmlns:a16="http://schemas.microsoft.com/office/drawing/2014/main" id="{CCFB0D81-2F4A-1342-B9AD-6A9D38ADBCA6}"/>
                </a:ext>
              </a:extLst>
            </p:cNvPr>
            <p:cNvSpPr>
              <a:spLocks noChangeArrowheads="1"/>
            </p:cNvSpPr>
            <p:nvPr/>
          </p:nvSpPr>
          <p:spPr bwMode="auto">
            <a:xfrm>
              <a:off x="4211638" y="2130425"/>
              <a:ext cx="287337"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25" name="Line 6">
              <a:extLst>
                <a:ext uri="{FF2B5EF4-FFF2-40B4-BE49-F238E27FC236}">
                  <a16:creationId xmlns:a16="http://schemas.microsoft.com/office/drawing/2014/main" id="{E363E989-930B-B14D-8947-5C1324411CA6}"/>
                </a:ext>
              </a:extLst>
            </p:cNvPr>
            <p:cNvSpPr>
              <a:spLocks noChangeShapeType="1"/>
            </p:cNvSpPr>
            <p:nvPr/>
          </p:nvSpPr>
          <p:spPr bwMode="auto">
            <a:xfrm flipV="1">
              <a:off x="4356100" y="1193800"/>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6" name="Line 7">
              <a:extLst>
                <a:ext uri="{FF2B5EF4-FFF2-40B4-BE49-F238E27FC236}">
                  <a16:creationId xmlns:a16="http://schemas.microsoft.com/office/drawing/2014/main" id="{ADCED656-D53B-DE45-8825-0A9E15BDC090}"/>
                </a:ext>
              </a:extLst>
            </p:cNvPr>
            <p:cNvSpPr>
              <a:spLocks noChangeShapeType="1"/>
            </p:cNvSpPr>
            <p:nvPr/>
          </p:nvSpPr>
          <p:spPr bwMode="auto">
            <a:xfrm flipV="1">
              <a:off x="4356100" y="2203450"/>
              <a:ext cx="0" cy="646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7" name="Line 8">
              <a:extLst>
                <a:ext uri="{FF2B5EF4-FFF2-40B4-BE49-F238E27FC236}">
                  <a16:creationId xmlns:a16="http://schemas.microsoft.com/office/drawing/2014/main" id="{3D7EC695-FC1C-F54A-B6EA-FF1F2FD99BBE}"/>
                </a:ext>
              </a:extLst>
            </p:cNvPr>
            <p:cNvSpPr>
              <a:spLocks noChangeShapeType="1"/>
            </p:cNvSpPr>
            <p:nvPr/>
          </p:nvSpPr>
          <p:spPr bwMode="auto">
            <a:xfrm flipV="1">
              <a:off x="4643438" y="184150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8" name="Text Box 9">
              <a:extLst>
                <a:ext uri="{FF2B5EF4-FFF2-40B4-BE49-F238E27FC236}">
                  <a16:creationId xmlns:a16="http://schemas.microsoft.com/office/drawing/2014/main" id="{98F7B324-EC8E-A64E-9FCF-911DC3FF4411}"/>
                </a:ext>
              </a:extLst>
            </p:cNvPr>
            <p:cNvSpPr txBox="1">
              <a:spLocks noChangeArrowheads="1"/>
            </p:cNvSpPr>
            <p:nvPr/>
          </p:nvSpPr>
          <p:spPr bwMode="auto">
            <a:xfrm>
              <a:off x="4572000" y="1841500"/>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9229" name="Line 10">
              <a:extLst>
                <a:ext uri="{FF2B5EF4-FFF2-40B4-BE49-F238E27FC236}">
                  <a16:creationId xmlns:a16="http://schemas.microsoft.com/office/drawing/2014/main" id="{8FCFB9E1-D0E9-3F43-8B13-A2EBE08044BE}"/>
                </a:ext>
              </a:extLst>
            </p:cNvPr>
            <p:cNvSpPr>
              <a:spLocks noChangeShapeType="1"/>
            </p:cNvSpPr>
            <p:nvPr/>
          </p:nvSpPr>
          <p:spPr bwMode="auto">
            <a:xfrm>
              <a:off x="4356100" y="1193800"/>
              <a:ext cx="287338"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230" name="Group 11">
              <a:extLst>
                <a:ext uri="{FF2B5EF4-FFF2-40B4-BE49-F238E27FC236}">
                  <a16:creationId xmlns:a16="http://schemas.microsoft.com/office/drawing/2014/main" id="{2A8653F9-8FF1-EC41-867E-DD72ADA4FD1C}"/>
                </a:ext>
              </a:extLst>
            </p:cNvPr>
            <p:cNvGrpSpPr>
              <a:grpSpLocks/>
            </p:cNvGrpSpPr>
            <p:nvPr/>
          </p:nvGrpSpPr>
          <p:grpSpPr bwMode="auto">
            <a:xfrm rot="-5400000">
              <a:off x="5180012" y="452438"/>
              <a:ext cx="314325" cy="1530350"/>
              <a:chOff x="3211" y="2176"/>
              <a:chExt cx="198" cy="964"/>
            </a:xfrm>
          </p:grpSpPr>
          <p:sp>
            <p:nvSpPr>
              <p:cNvPr id="9248" name="Oval 12">
                <a:extLst>
                  <a:ext uri="{FF2B5EF4-FFF2-40B4-BE49-F238E27FC236}">
                    <a16:creationId xmlns:a16="http://schemas.microsoft.com/office/drawing/2014/main" id="{5516F1BC-32EB-0E48-9A60-06368FF171CA}"/>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49" name="Oval 13">
                <a:extLst>
                  <a:ext uri="{FF2B5EF4-FFF2-40B4-BE49-F238E27FC236}">
                    <a16:creationId xmlns:a16="http://schemas.microsoft.com/office/drawing/2014/main" id="{FB3680D7-43D6-3644-8B53-DBC0BFE2B78B}"/>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0" name="Oval 14">
                <a:extLst>
                  <a:ext uri="{FF2B5EF4-FFF2-40B4-BE49-F238E27FC236}">
                    <a16:creationId xmlns:a16="http://schemas.microsoft.com/office/drawing/2014/main" id="{F70D3EF6-F0DF-014B-928C-9F12DD6CFD46}"/>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1" name="Oval 15">
                <a:extLst>
                  <a:ext uri="{FF2B5EF4-FFF2-40B4-BE49-F238E27FC236}">
                    <a16:creationId xmlns:a16="http://schemas.microsoft.com/office/drawing/2014/main" id="{4ACDC957-4A79-0E4D-B93C-C204C8111506}"/>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2" name="Oval 16">
                <a:extLst>
                  <a:ext uri="{FF2B5EF4-FFF2-40B4-BE49-F238E27FC236}">
                    <a16:creationId xmlns:a16="http://schemas.microsoft.com/office/drawing/2014/main" id="{6873EA7E-A233-EE44-81C4-3D9B0836717A}"/>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3" name="Oval 17">
                <a:extLst>
                  <a:ext uri="{FF2B5EF4-FFF2-40B4-BE49-F238E27FC236}">
                    <a16:creationId xmlns:a16="http://schemas.microsoft.com/office/drawing/2014/main" id="{5DB6A8E8-8919-6044-B9E6-EDE2561D4520}"/>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4" name="Rectangle 18">
                <a:extLst>
                  <a:ext uri="{FF2B5EF4-FFF2-40B4-BE49-F238E27FC236}">
                    <a16:creationId xmlns:a16="http://schemas.microsoft.com/office/drawing/2014/main" id="{43A73F06-858D-814B-9BE8-147BB33FF528}"/>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55" name="Line 19">
                <a:extLst>
                  <a:ext uri="{FF2B5EF4-FFF2-40B4-BE49-F238E27FC236}">
                    <a16:creationId xmlns:a16="http://schemas.microsoft.com/office/drawing/2014/main" id="{9899E4B7-C317-884F-A284-D1DBA58F3849}"/>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6" name="Line 20">
                <a:extLst>
                  <a:ext uri="{FF2B5EF4-FFF2-40B4-BE49-F238E27FC236}">
                    <a16:creationId xmlns:a16="http://schemas.microsoft.com/office/drawing/2014/main" id="{C101CF69-F957-7742-A87B-CEDBA7EB1398}"/>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9231" name="Group 23">
              <a:extLst>
                <a:ext uri="{FF2B5EF4-FFF2-40B4-BE49-F238E27FC236}">
                  <a16:creationId xmlns:a16="http://schemas.microsoft.com/office/drawing/2014/main" id="{419AF596-87B4-B944-A1B2-A5C431C94E1D}"/>
                </a:ext>
              </a:extLst>
            </p:cNvPr>
            <p:cNvGrpSpPr>
              <a:grpSpLocks/>
            </p:cNvGrpSpPr>
            <p:nvPr/>
          </p:nvGrpSpPr>
          <p:grpSpPr bwMode="auto">
            <a:xfrm>
              <a:off x="6586538" y="1050925"/>
              <a:ext cx="215900" cy="287338"/>
              <a:chOff x="1973" y="2160"/>
              <a:chExt cx="136" cy="181"/>
            </a:xfrm>
          </p:grpSpPr>
          <p:sp>
            <p:nvSpPr>
              <p:cNvPr id="9244" name="Line 24">
                <a:extLst>
                  <a:ext uri="{FF2B5EF4-FFF2-40B4-BE49-F238E27FC236}">
                    <a16:creationId xmlns:a16="http://schemas.microsoft.com/office/drawing/2014/main" id="{7C8E2950-7373-BF48-883A-9BCC795DB679}"/>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5" name="Line 25">
                <a:extLst>
                  <a:ext uri="{FF2B5EF4-FFF2-40B4-BE49-F238E27FC236}">
                    <a16:creationId xmlns:a16="http://schemas.microsoft.com/office/drawing/2014/main" id="{35FAF6BF-8575-B947-852A-0C08F2F63118}"/>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6" name="Line 26">
                <a:extLst>
                  <a:ext uri="{FF2B5EF4-FFF2-40B4-BE49-F238E27FC236}">
                    <a16:creationId xmlns:a16="http://schemas.microsoft.com/office/drawing/2014/main" id="{722DEB54-3099-744E-87E9-F96DD206EB38}"/>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7" name="Line 27">
                <a:extLst>
                  <a:ext uri="{FF2B5EF4-FFF2-40B4-BE49-F238E27FC236}">
                    <a16:creationId xmlns:a16="http://schemas.microsoft.com/office/drawing/2014/main" id="{8A1C911C-8266-D747-8E91-9BD03DAE14B9}"/>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232" name="Line 35">
              <a:extLst>
                <a:ext uri="{FF2B5EF4-FFF2-40B4-BE49-F238E27FC236}">
                  <a16:creationId xmlns:a16="http://schemas.microsoft.com/office/drawing/2014/main" id="{47AE7BCF-432C-7048-9895-C8D4271C1225}"/>
                </a:ext>
              </a:extLst>
            </p:cNvPr>
            <p:cNvSpPr>
              <a:spLocks noChangeShapeType="1"/>
            </p:cNvSpPr>
            <p:nvPr/>
          </p:nvSpPr>
          <p:spPr bwMode="auto">
            <a:xfrm>
              <a:off x="4356100" y="2849563"/>
              <a:ext cx="2447925"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3" name="Freeform 40">
              <a:extLst>
                <a:ext uri="{FF2B5EF4-FFF2-40B4-BE49-F238E27FC236}">
                  <a16:creationId xmlns:a16="http://schemas.microsoft.com/office/drawing/2014/main" id="{14C79097-8E0A-1C40-817D-D3CB493A33B1}"/>
                </a:ext>
              </a:extLst>
            </p:cNvPr>
            <p:cNvSpPr>
              <a:spLocks/>
            </p:cNvSpPr>
            <p:nvPr/>
          </p:nvSpPr>
          <p:spPr bwMode="auto">
            <a:xfrm>
              <a:off x="6804025" y="1193800"/>
              <a:ext cx="431800" cy="1655763"/>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4" name="Rectangle 41">
              <a:extLst>
                <a:ext uri="{FF2B5EF4-FFF2-40B4-BE49-F238E27FC236}">
                  <a16:creationId xmlns:a16="http://schemas.microsoft.com/office/drawing/2014/main" id="{98EA460C-94D0-1F4F-A2B7-78B3B0E6C876}"/>
                </a:ext>
              </a:extLst>
            </p:cNvPr>
            <p:cNvSpPr>
              <a:spLocks noChangeArrowheads="1"/>
            </p:cNvSpPr>
            <p:nvPr/>
          </p:nvSpPr>
          <p:spPr bwMode="auto">
            <a:xfrm>
              <a:off x="7162800" y="1554163"/>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9235" name="Text Box 42">
              <a:extLst>
                <a:ext uri="{FF2B5EF4-FFF2-40B4-BE49-F238E27FC236}">
                  <a16:creationId xmlns:a16="http://schemas.microsoft.com/office/drawing/2014/main" id="{0D9941CC-6337-B747-A313-D29B0A4795E6}"/>
                </a:ext>
              </a:extLst>
            </p:cNvPr>
            <p:cNvSpPr txBox="1">
              <a:spLocks noChangeArrowheads="1"/>
            </p:cNvSpPr>
            <p:nvPr/>
          </p:nvSpPr>
          <p:spPr bwMode="auto">
            <a:xfrm>
              <a:off x="4356100" y="1195388"/>
              <a:ext cx="819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 off</a:t>
              </a:r>
              <a:endParaRPr lang="en-US" altLang="en-US" sz="1800"/>
            </a:p>
          </p:txBody>
        </p:sp>
        <p:sp>
          <p:nvSpPr>
            <p:cNvPr id="9236" name="Text Box 46">
              <a:extLst>
                <a:ext uri="{FF2B5EF4-FFF2-40B4-BE49-F238E27FC236}">
                  <a16:creationId xmlns:a16="http://schemas.microsoft.com/office/drawing/2014/main" id="{21477112-EF38-A64A-96CA-76577950D172}"/>
                </a:ext>
              </a:extLst>
            </p:cNvPr>
            <p:cNvSpPr txBox="1">
              <a:spLocks noChangeArrowheads="1"/>
            </p:cNvSpPr>
            <p:nvPr/>
          </p:nvSpPr>
          <p:spPr bwMode="auto">
            <a:xfrm>
              <a:off x="7445375" y="1841500"/>
              <a:ext cx="582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9237" name="Line 47">
              <a:extLst>
                <a:ext uri="{FF2B5EF4-FFF2-40B4-BE49-F238E27FC236}">
                  <a16:creationId xmlns:a16="http://schemas.microsoft.com/office/drawing/2014/main" id="{FDA35893-9BBF-6845-8066-6F861C7E3B78}"/>
                </a:ext>
              </a:extLst>
            </p:cNvPr>
            <p:cNvSpPr>
              <a:spLocks noChangeShapeType="1"/>
            </p:cNvSpPr>
            <p:nvPr/>
          </p:nvSpPr>
          <p:spPr bwMode="auto">
            <a:xfrm flipV="1">
              <a:off x="7451725" y="1193800"/>
              <a:ext cx="0" cy="1655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8" name="Line 48">
              <a:extLst>
                <a:ext uri="{FF2B5EF4-FFF2-40B4-BE49-F238E27FC236}">
                  <a16:creationId xmlns:a16="http://schemas.microsoft.com/office/drawing/2014/main" id="{86112E16-18D1-FD4F-901C-6D4139839E44}"/>
                </a:ext>
              </a:extLst>
            </p:cNvPr>
            <p:cNvSpPr>
              <a:spLocks noChangeShapeType="1"/>
            </p:cNvSpPr>
            <p:nvPr/>
          </p:nvSpPr>
          <p:spPr bwMode="auto">
            <a:xfrm flipH="1">
              <a:off x="4787900" y="835025"/>
              <a:ext cx="936625" cy="0"/>
            </a:xfrm>
            <a:prstGeom prst="line">
              <a:avLst/>
            </a:prstGeom>
            <a:noFill/>
            <a:ln w="25400">
              <a:solidFill>
                <a:srgbClr val="3366FF"/>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9" name="Text Box 49">
              <a:extLst>
                <a:ext uri="{FF2B5EF4-FFF2-40B4-BE49-F238E27FC236}">
                  <a16:creationId xmlns:a16="http://schemas.microsoft.com/office/drawing/2014/main" id="{467A4C84-5321-BE43-BB01-2E71F67F2151}"/>
                </a:ext>
              </a:extLst>
            </p:cNvPr>
            <p:cNvSpPr txBox="1">
              <a:spLocks noChangeArrowheads="1"/>
            </p:cNvSpPr>
            <p:nvPr/>
          </p:nvSpPr>
          <p:spPr bwMode="auto">
            <a:xfrm>
              <a:off x="5795963" y="690563"/>
              <a:ext cx="420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9240" name="Line 50">
              <a:extLst>
                <a:ext uri="{FF2B5EF4-FFF2-40B4-BE49-F238E27FC236}">
                  <a16:creationId xmlns:a16="http://schemas.microsoft.com/office/drawing/2014/main" id="{FF1C531B-D49F-BC40-A95C-7ABBF3C10C54}"/>
                </a:ext>
              </a:extLst>
            </p:cNvPr>
            <p:cNvSpPr>
              <a:spLocks noChangeShapeType="1"/>
            </p:cNvSpPr>
            <p:nvPr/>
          </p:nvSpPr>
          <p:spPr bwMode="auto">
            <a:xfrm>
              <a:off x="5075238" y="1627188"/>
              <a:ext cx="1439862"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1" name="Text Box 51">
              <a:extLst>
                <a:ext uri="{FF2B5EF4-FFF2-40B4-BE49-F238E27FC236}">
                  <a16:creationId xmlns:a16="http://schemas.microsoft.com/office/drawing/2014/main" id="{05209B26-C3BE-2842-864F-3686B3F58F5D}"/>
                </a:ext>
              </a:extLst>
            </p:cNvPr>
            <p:cNvSpPr txBox="1">
              <a:spLocks noChangeArrowheads="1"/>
            </p:cNvSpPr>
            <p:nvPr/>
          </p:nvSpPr>
          <p:spPr bwMode="auto">
            <a:xfrm>
              <a:off x="5218113" y="1266825"/>
              <a:ext cx="946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solidFill>
                    <a:srgbClr val="FF0000"/>
                  </a:solidFill>
                </a:rPr>
                <a:t>Current</a:t>
              </a:r>
              <a:endParaRPr lang="en-US" altLang="en-US" sz="1800" dirty="0">
                <a:solidFill>
                  <a:srgbClr val="FF0000"/>
                </a:solidFill>
              </a:endParaRPr>
            </a:p>
          </p:txBody>
        </p:sp>
        <p:sp>
          <p:nvSpPr>
            <p:cNvPr id="9242" name="Line 101">
              <a:extLst>
                <a:ext uri="{FF2B5EF4-FFF2-40B4-BE49-F238E27FC236}">
                  <a16:creationId xmlns:a16="http://schemas.microsoft.com/office/drawing/2014/main" id="{09DF10B7-A4B5-6E42-8494-C78F651F05B5}"/>
                </a:ext>
              </a:extLst>
            </p:cNvPr>
            <p:cNvSpPr>
              <a:spLocks noChangeShapeType="1"/>
            </p:cNvSpPr>
            <p:nvPr/>
          </p:nvSpPr>
          <p:spPr bwMode="auto">
            <a:xfrm flipH="1">
              <a:off x="6011863" y="1195388"/>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3" name="Rectangle 102">
              <a:extLst>
                <a:ext uri="{FF2B5EF4-FFF2-40B4-BE49-F238E27FC236}">
                  <a16:creationId xmlns:a16="http://schemas.microsoft.com/office/drawing/2014/main" id="{601E8706-C3D3-4144-A208-323745C01560}"/>
                </a:ext>
              </a:extLst>
            </p:cNvPr>
            <p:cNvSpPr>
              <a:spLocks noChangeArrowheads="1"/>
            </p:cNvSpPr>
            <p:nvPr/>
          </p:nvSpPr>
          <p:spPr bwMode="auto">
            <a:xfrm>
              <a:off x="5075238" y="1914525"/>
              <a:ext cx="1917700" cy="804863"/>
            </a:xfrm>
            <a:prstGeom prst="rect">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b="1" dirty="0">
                  <a:latin typeface="Times New Roman" panose="02020603050405020304" pitchFamily="18" charset="0"/>
                </a:rPr>
                <a:t>V</a:t>
              </a:r>
              <a:r>
                <a:rPr lang="en-GB" altLang="en-US" sz="1800" b="1" baseline="-25000" dirty="0">
                  <a:latin typeface="Times New Roman" panose="02020603050405020304" pitchFamily="18" charset="0"/>
                </a:rPr>
                <a:t>L</a:t>
              </a:r>
              <a:r>
                <a:rPr lang="en-GB" altLang="en-US" sz="1800" b="1" dirty="0">
                  <a:latin typeface="Times New Roman" panose="02020603050405020304" pitchFamily="18" charset="0"/>
                </a:rPr>
                <a:t>= V</a:t>
              </a:r>
              <a:r>
                <a:rPr lang="en-GB" altLang="en-US" sz="1800" b="1" baseline="-25000" dirty="0">
                  <a:latin typeface="Times New Roman" panose="02020603050405020304" pitchFamily="18" charset="0"/>
                </a:rPr>
                <a:t>IN </a:t>
              </a:r>
              <a:r>
                <a:rPr lang="en-GB" altLang="en-US" sz="1800" b="1" dirty="0">
                  <a:latin typeface="Times New Roman" panose="02020603050405020304" pitchFamily="18" charset="0"/>
                </a:rPr>
                <a:t>- V</a:t>
              </a:r>
              <a:r>
                <a:rPr lang="en-GB" altLang="en-US" sz="1800" b="1" baseline="-25000" dirty="0">
                  <a:latin typeface="Times New Roman" panose="02020603050405020304" pitchFamily="18" charset="0"/>
                </a:rPr>
                <a:t>OUT</a:t>
              </a:r>
            </a:p>
            <a:p>
              <a:pPr algn="ctr" eaLnBrk="1" hangingPunct="1">
                <a:spcBef>
                  <a:spcPct val="0"/>
                </a:spcBef>
                <a:buFontTx/>
                <a:buNone/>
              </a:pPr>
              <a:r>
                <a:rPr lang="en-GB" altLang="en-US" sz="1800" b="1" dirty="0">
                  <a:latin typeface="Times New Roman" panose="02020603050405020304" pitchFamily="18" charset="0"/>
                </a:rPr>
                <a:t>Energy out =&gt; I </a:t>
              </a:r>
              <a:r>
                <a:rPr lang="en-GB" altLang="en-US" sz="1800" b="1" dirty="0">
                  <a:latin typeface="Times New Roman" panose="02020603050405020304" pitchFamily="18" charset="0"/>
                  <a:cs typeface="Arial" panose="020B0604020202020204" pitchFamily="34" charset="0"/>
                </a:rPr>
                <a:t>↓</a:t>
              </a:r>
              <a:endParaRPr lang="en-GB" altLang="en-US" sz="1800" b="1"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a:extLst>
              <a:ext uri="{FF2B5EF4-FFF2-40B4-BE49-F238E27FC236}">
                <a16:creationId xmlns:a16="http://schemas.microsoft.com/office/drawing/2014/main" id="{1B6570E6-DFDA-5949-BFA7-F646F8527108}"/>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DCBCD11-2151-F440-8EAA-4BF8B4CF3747}" type="slidenum">
              <a:rPr lang="en-US" altLang="en-US" sz="1400"/>
              <a:pPr>
                <a:spcBef>
                  <a:spcPct val="0"/>
                </a:spcBef>
                <a:buFontTx/>
                <a:buNone/>
              </a:pPr>
              <a:t>6</a:t>
            </a:fld>
            <a:endParaRPr lang="en-US" altLang="en-US" sz="1400"/>
          </a:p>
        </p:txBody>
      </p:sp>
      <p:grpSp>
        <p:nvGrpSpPr>
          <p:cNvPr id="2" name="Group 1">
            <a:extLst>
              <a:ext uri="{FF2B5EF4-FFF2-40B4-BE49-F238E27FC236}">
                <a16:creationId xmlns:a16="http://schemas.microsoft.com/office/drawing/2014/main" id="{3953A5FD-E337-E7CD-E238-158D03BE49F5}"/>
              </a:ext>
            </a:extLst>
          </p:cNvPr>
          <p:cNvGrpSpPr/>
          <p:nvPr/>
        </p:nvGrpSpPr>
        <p:grpSpPr>
          <a:xfrm>
            <a:off x="250825" y="347936"/>
            <a:ext cx="7058025" cy="2232025"/>
            <a:chOff x="250825" y="188913"/>
            <a:chExt cx="7058025" cy="2232025"/>
          </a:xfrm>
        </p:grpSpPr>
        <p:sp>
          <p:nvSpPr>
            <p:cNvPr id="10243" name="Rectangle 4">
              <a:extLst>
                <a:ext uri="{FF2B5EF4-FFF2-40B4-BE49-F238E27FC236}">
                  <a16:creationId xmlns:a16="http://schemas.microsoft.com/office/drawing/2014/main" id="{78C72E9B-E195-5B4A-9AAC-2A41DD591500}"/>
                </a:ext>
              </a:extLst>
            </p:cNvPr>
            <p:cNvSpPr>
              <a:spLocks noChangeArrowheads="1"/>
            </p:cNvSpPr>
            <p:nvPr/>
          </p:nvSpPr>
          <p:spPr bwMode="auto">
            <a:xfrm>
              <a:off x="250825" y="1485900"/>
              <a:ext cx="433388" cy="71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244" name="Rectangle 5">
              <a:extLst>
                <a:ext uri="{FF2B5EF4-FFF2-40B4-BE49-F238E27FC236}">
                  <a16:creationId xmlns:a16="http://schemas.microsoft.com/office/drawing/2014/main" id="{F0E21714-623B-824D-AE48-D86B18DF401B}"/>
                </a:ext>
              </a:extLst>
            </p:cNvPr>
            <p:cNvSpPr>
              <a:spLocks noChangeArrowheads="1"/>
            </p:cNvSpPr>
            <p:nvPr/>
          </p:nvSpPr>
          <p:spPr bwMode="auto">
            <a:xfrm>
              <a:off x="323850" y="1628775"/>
              <a:ext cx="287338"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245" name="Line 6">
              <a:extLst>
                <a:ext uri="{FF2B5EF4-FFF2-40B4-BE49-F238E27FC236}">
                  <a16:creationId xmlns:a16="http://schemas.microsoft.com/office/drawing/2014/main" id="{64B2ABA4-F345-5840-AF68-56E090D85347}"/>
                </a:ext>
              </a:extLst>
            </p:cNvPr>
            <p:cNvSpPr>
              <a:spLocks noChangeShapeType="1"/>
            </p:cNvSpPr>
            <p:nvPr/>
          </p:nvSpPr>
          <p:spPr bwMode="auto">
            <a:xfrm flipV="1">
              <a:off x="468313" y="692150"/>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 name="Line 7">
              <a:extLst>
                <a:ext uri="{FF2B5EF4-FFF2-40B4-BE49-F238E27FC236}">
                  <a16:creationId xmlns:a16="http://schemas.microsoft.com/office/drawing/2014/main" id="{602E6014-4AA7-464E-A7A2-9D55D61DD090}"/>
                </a:ext>
              </a:extLst>
            </p:cNvPr>
            <p:cNvSpPr>
              <a:spLocks noChangeShapeType="1"/>
            </p:cNvSpPr>
            <p:nvPr/>
          </p:nvSpPr>
          <p:spPr bwMode="auto">
            <a:xfrm flipV="1">
              <a:off x="468313" y="1701800"/>
              <a:ext cx="0" cy="646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8">
              <a:extLst>
                <a:ext uri="{FF2B5EF4-FFF2-40B4-BE49-F238E27FC236}">
                  <a16:creationId xmlns:a16="http://schemas.microsoft.com/office/drawing/2014/main" id="{FC5BA23B-D7D9-C04B-B4DB-CDA4D389EE9F}"/>
                </a:ext>
              </a:extLst>
            </p:cNvPr>
            <p:cNvSpPr>
              <a:spLocks noChangeShapeType="1"/>
            </p:cNvSpPr>
            <p:nvPr/>
          </p:nvSpPr>
          <p:spPr bwMode="auto">
            <a:xfrm flipV="1">
              <a:off x="755650" y="13398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Text Box 9">
              <a:extLst>
                <a:ext uri="{FF2B5EF4-FFF2-40B4-BE49-F238E27FC236}">
                  <a16:creationId xmlns:a16="http://schemas.microsoft.com/office/drawing/2014/main" id="{3142A7EB-BC45-9F4F-A6EA-1A8D4825BE91}"/>
                </a:ext>
              </a:extLst>
            </p:cNvPr>
            <p:cNvSpPr txBox="1">
              <a:spLocks noChangeArrowheads="1"/>
            </p:cNvSpPr>
            <p:nvPr/>
          </p:nvSpPr>
          <p:spPr bwMode="auto">
            <a:xfrm>
              <a:off x="684213" y="1339850"/>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10249" name="Line 10">
              <a:extLst>
                <a:ext uri="{FF2B5EF4-FFF2-40B4-BE49-F238E27FC236}">
                  <a16:creationId xmlns:a16="http://schemas.microsoft.com/office/drawing/2014/main" id="{1DFCADCD-D743-834E-8CBE-41436E72E44C}"/>
                </a:ext>
              </a:extLst>
            </p:cNvPr>
            <p:cNvSpPr>
              <a:spLocks noChangeShapeType="1"/>
            </p:cNvSpPr>
            <p:nvPr/>
          </p:nvSpPr>
          <p:spPr bwMode="auto">
            <a:xfrm>
              <a:off x="468313" y="692150"/>
              <a:ext cx="86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0250" name="Group 11">
              <a:extLst>
                <a:ext uri="{FF2B5EF4-FFF2-40B4-BE49-F238E27FC236}">
                  <a16:creationId xmlns:a16="http://schemas.microsoft.com/office/drawing/2014/main" id="{B8E98752-07D9-174F-BD79-30C58C7218E4}"/>
                </a:ext>
              </a:extLst>
            </p:cNvPr>
            <p:cNvGrpSpPr>
              <a:grpSpLocks/>
            </p:cNvGrpSpPr>
            <p:nvPr/>
          </p:nvGrpSpPr>
          <p:grpSpPr bwMode="auto">
            <a:xfrm rot="-5400000">
              <a:off x="1939925" y="-50799"/>
              <a:ext cx="314325" cy="1530350"/>
              <a:chOff x="3211" y="2176"/>
              <a:chExt cx="198" cy="964"/>
            </a:xfrm>
          </p:grpSpPr>
          <p:sp>
            <p:nvSpPr>
              <p:cNvPr id="10305" name="Oval 12">
                <a:extLst>
                  <a:ext uri="{FF2B5EF4-FFF2-40B4-BE49-F238E27FC236}">
                    <a16:creationId xmlns:a16="http://schemas.microsoft.com/office/drawing/2014/main" id="{E153E5ED-B5A5-EE4E-8F6C-91543B4EC92B}"/>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306" name="Oval 13">
                <a:extLst>
                  <a:ext uri="{FF2B5EF4-FFF2-40B4-BE49-F238E27FC236}">
                    <a16:creationId xmlns:a16="http://schemas.microsoft.com/office/drawing/2014/main" id="{7B5D4B5C-4DCB-7349-B87F-38FDBCC36E52}"/>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307" name="Oval 14">
                <a:extLst>
                  <a:ext uri="{FF2B5EF4-FFF2-40B4-BE49-F238E27FC236}">
                    <a16:creationId xmlns:a16="http://schemas.microsoft.com/office/drawing/2014/main" id="{CB5BE46E-C9B6-7040-BE63-BCD8698F4E47}"/>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308" name="Oval 15">
                <a:extLst>
                  <a:ext uri="{FF2B5EF4-FFF2-40B4-BE49-F238E27FC236}">
                    <a16:creationId xmlns:a16="http://schemas.microsoft.com/office/drawing/2014/main" id="{BC22F0D0-9789-5549-A190-03AEDFB0DA29}"/>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309" name="Oval 16">
                <a:extLst>
                  <a:ext uri="{FF2B5EF4-FFF2-40B4-BE49-F238E27FC236}">
                    <a16:creationId xmlns:a16="http://schemas.microsoft.com/office/drawing/2014/main" id="{B9B1020C-DC59-0041-8621-9864FA8CFB72}"/>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310" name="Oval 17">
                <a:extLst>
                  <a:ext uri="{FF2B5EF4-FFF2-40B4-BE49-F238E27FC236}">
                    <a16:creationId xmlns:a16="http://schemas.microsoft.com/office/drawing/2014/main" id="{F4DD97A0-3B40-9E41-81AA-AAB2D2EEE272}"/>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311" name="Rectangle 18">
                <a:extLst>
                  <a:ext uri="{FF2B5EF4-FFF2-40B4-BE49-F238E27FC236}">
                    <a16:creationId xmlns:a16="http://schemas.microsoft.com/office/drawing/2014/main" id="{DEBE0670-C910-9642-B721-6EC92EA145B7}"/>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312" name="Line 19">
                <a:extLst>
                  <a:ext uri="{FF2B5EF4-FFF2-40B4-BE49-F238E27FC236}">
                    <a16:creationId xmlns:a16="http://schemas.microsoft.com/office/drawing/2014/main" id="{555EAE29-880C-AB45-97C5-6B38A9079602}"/>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13" name="Line 20">
                <a:extLst>
                  <a:ext uri="{FF2B5EF4-FFF2-40B4-BE49-F238E27FC236}">
                    <a16:creationId xmlns:a16="http://schemas.microsoft.com/office/drawing/2014/main" id="{2B9B1E6B-1A22-A942-88F9-B7DB4C7450DA}"/>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251" name="Line 21">
              <a:extLst>
                <a:ext uri="{FF2B5EF4-FFF2-40B4-BE49-F238E27FC236}">
                  <a16:creationId xmlns:a16="http://schemas.microsoft.com/office/drawing/2014/main" id="{EB369028-36EB-FC43-937E-9C3D709CD193}"/>
                </a:ext>
              </a:extLst>
            </p:cNvPr>
            <p:cNvSpPr>
              <a:spLocks noChangeShapeType="1"/>
            </p:cNvSpPr>
            <p:nvPr/>
          </p:nvSpPr>
          <p:spPr bwMode="auto">
            <a:xfrm flipH="1">
              <a:off x="2843213" y="692150"/>
              <a:ext cx="144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2" name="Line 22">
              <a:extLst>
                <a:ext uri="{FF2B5EF4-FFF2-40B4-BE49-F238E27FC236}">
                  <a16:creationId xmlns:a16="http://schemas.microsoft.com/office/drawing/2014/main" id="{05B88D56-9AD5-3C42-92B2-EE5EA26017AF}"/>
                </a:ext>
              </a:extLst>
            </p:cNvPr>
            <p:cNvSpPr>
              <a:spLocks noChangeShapeType="1"/>
            </p:cNvSpPr>
            <p:nvPr/>
          </p:nvSpPr>
          <p:spPr bwMode="auto">
            <a:xfrm>
              <a:off x="3419475" y="1341438"/>
              <a:ext cx="144463"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0253" name="Group 23">
              <a:extLst>
                <a:ext uri="{FF2B5EF4-FFF2-40B4-BE49-F238E27FC236}">
                  <a16:creationId xmlns:a16="http://schemas.microsoft.com/office/drawing/2014/main" id="{2FE95AC2-250F-4F4F-8F66-3B165D596028}"/>
                </a:ext>
              </a:extLst>
            </p:cNvPr>
            <p:cNvGrpSpPr>
              <a:grpSpLocks/>
            </p:cNvGrpSpPr>
            <p:nvPr/>
          </p:nvGrpSpPr>
          <p:grpSpPr bwMode="auto">
            <a:xfrm>
              <a:off x="4284663" y="549275"/>
              <a:ext cx="215900" cy="287338"/>
              <a:chOff x="1973" y="2160"/>
              <a:chExt cx="136" cy="181"/>
            </a:xfrm>
          </p:grpSpPr>
          <p:sp>
            <p:nvSpPr>
              <p:cNvPr id="10301" name="Line 24">
                <a:extLst>
                  <a:ext uri="{FF2B5EF4-FFF2-40B4-BE49-F238E27FC236}">
                    <a16:creationId xmlns:a16="http://schemas.microsoft.com/office/drawing/2014/main" id="{F4BC6B4F-0999-BA4A-971E-DEBA3489FD5F}"/>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02" name="Line 25">
                <a:extLst>
                  <a:ext uri="{FF2B5EF4-FFF2-40B4-BE49-F238E27FC236}">
                    <a16:creationId xmlns:a16="http://schemas.microsoft.com/office/drawing/2014/main" id="{619E0C5E-2180-624E-836D-3143A0C26D5A}"/>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03" name="Line 26">
                <a:extLst>
                  <a:ext uri="{FF2B5EF4-FFF2-40B4-BE49-F238E27FC236}">
                    <a16:creationId xmlns:a16="http://schemas.microsoft.com/office/drawing/2014/main" id="{F4124B3B-E140-4043-BBC5-04964AA6DF40}"/>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04" name="Line 27">
                <a:extLst>
                  <a:ext uri="{FF2B5EF4-FFF2-40B4-BE49-F238E27FC236}">
                    <a16:creationId xmlns:a16="http://schemas.microsoft.com/office/drawing/2014/main" id="{0C325205-B3CC-1644-B808-13E403DCA5E9}"/>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254" name="Rectangle 28">
              <a:extLst>
                <a:ext uri="{FF2B5EF4-FFF2-40B4-BE49-F238E27FC236}">
                  <a16:creationId xmlns:a16="http://schemas.microsoft.com/office/drawing/2014/main" id="{DA89AE14-39C8-AD4A-90AF-D950C5FB1321}"/>
                </a:ext>
              </a:extLst>
            </p:cNvPr>
            <p:cNvSpPr>
              <a:spLocks noChangeArrowheads="1"/>
            </p:cNvSpPr>
            <p:nvPr/>
          </p:nvSpPr>
          <p:spPr bwMode="auto">
            <a:xfrm>
              <a:off x="5148263" y="1268413"/>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255" name="Rectangle 29">
              <a:extLst>
                <a:ext uri="{FF2B5EF4-FFF2-40B4-BE49-F238E27FC236}">
                  <a16:creationId xmlns:a16="http://schemas.microsoft.com/office/drawing/2014/main" id="{771FCF52-9F82-774C-8C36-DBCC0E584F90}"/>
                </a:ext>
              </a:extLst>
            </p:cNvPr>
            <p:cNvSpPr>
              <a:spLocks noChangeArrowheads="1"/>
            </p:cNvSpPr>
            <p:nvPr/>
          </p:nvSpPr>
          <p:spPr bwMode="auto">
            <a:xfrm>
              <a:off x="5148263" y="1412875"/>
              <a:ext cx="431800" cy="714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256" name="Line 30">
              <a:extLst>
                <a:ext uri="{FF2B5EF4-FFF2-40B4-BE49-F238E27FC236}">
                  <a16:creationId xmlns:a16="http://schemas.microsoft.com/office/drawing/2014/main" id="{150016E2-6CEB-5547-BF5F-024F44AB5499}"/>
                </a:ext>
              </a:extLst>
            </p:cNvPr>
            <p:cNvSpPr>
              <a:spLocks noChangeShapeType="1"/>
            </p:cNvSpPr>
            <p:nvPr/>
          </p:nvSpPr>
          <p:spPr bwMode="auto">
            <a:xfrm flipV="1">
              <a:off x="5364163" y="1484313"/>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7" name="Line 31">
              <a:extLst>
                <a:ext uri="{FF2B5EF4-FFF2-40B4-BE49-F238E27FC236}">
                  <a16:creationId xmlns:a16="http://schemas.microsoft.com/office/drawing/2014/main" id="{BBAD00BC-7777-0144-A931-7D5D7F01A9DB}"/>
                </a:ext>
              </a:extLst>
            </p:cNvPr>
            <p:cNvSpPr>
              <a:spLocks noChangeShapeType="1"/>
            </p:cNvSpPr>
            <p:nvPr/>
          </p:nvSpPr>
          <p:spPr bwMode="auto">
            <a:xfrm>
              <a:off x="5364163" y="692150"/>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8" name="Line 32">
              <a:extLst>
                <a:ext uri="{FF2B5EF4-FFF2-40B4-BE49-F238E27FC236}">
                  <a16:creationId xmlns:a16="http://schemas.microsoft.com/office/drawing/2014/main" id="{D2775E26-BF0A-624F-87EE-30D11C42C3FF}"/>
                </a:ext>
              </a:extLst>
            </p:cNvPr>
            <p:cNvSpPr>
              <a:spLocks noChangeShapeType="1"/>
            </p:cNvSpPr>
            <p:nvPr/>
          </p:nvSpPr>
          <p:spPr bwMode="auto">
            <a:xfrm>
              <a:off x="4500563" y="692150"/>
              <a:ext cx="14398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Oval 33">
              <a:extLst>
                <a:ext uri="{FF2B5EF4-FFF2-40B4-BE49-F238E27FC236}">
                  <a16:creationId xmlns:a16="http://schemas.microsoft.com/office/drawing/2014/main" id="{ADF54FD6-7F03-3F41-942F-9052164A08E7}"/>
                </a:ext>
              </a:extLst>
            </p:cNvPr>
            <p:cNvSpPr>
              <a:spLocks noChangeArrowheads="1"/>
            </p:cNvSpPr>
            <p:nvPr/>
          </p:nvSpPr>
          <p:spPr bwMode="auto">
            <a:xfrm>
              <a:off x="5940425" y="2278063"/>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260" name="Oval 34">
              <a:extLst>
                <a:ext uri="{FF2B5EF4-FFF2-40B4-BE49-F238E27FC236}">
                  <a16:creationId xmlns:a16="http://schemas.microsoft.com/office/drawing/2014/main" id="{EFE5C8BA-8B92-2F44-9B2C-8F8AA2FB01F2}"/>
                </a:ext>
              </a:extLst>
            </p:cNvPr>
            <p:cNvSpPr>
              <a:spLocks noChangeArrowheads="1"/>
            </p:cNvSpPr>
            <p:nvPr/>
          </p:nvSpPr>
          <p:spPr bwMode="auto">
            <a:xfrm>
              <a:off x="5940425" y="620713"/>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261" name="Line 35">
              <a:extLst>
                <a:ext uri="{FF2B5EF4-FFF2-40B4-BE49-F238E27FC236}">
                  <a16:creationId xmlns:a16="http://schemas.microsoft.com/office/drawing/2014/main" id="{E166F72C-370A-3347-B339-71BEB9D2474F}"/>
                </a:ext>
              </a:extLst>
            </p:cNvPr>
            <p:cNvSpPr>
              <a:spLocks noChangeShapeType="1"/>
            </p:cNvSpPr>
            <p:nvPr/>
          </p:nvSpPr>
          <p:spPr bwMode="auto">
            <a:xfrm>
              <a:off x="468313" y="2347913"/>
              <a:ext cx="547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2" name="Line 36">
              <a:extLst>
                <a:ext uri="{FF2B5EF4-FFF2-40B4-BE49-F238E27FC236}">
                  <a16:creationId xmlns:a16="http://schemas.microsoft.com/office/drawing/2014/main" id="{BB606939-3F6E-4145-B3AF-AD1A865F8B18}"/>
                </a:ext>
              </a:extLst>
            </p:cNvPr>
            <p:cNvSpPr>
              <a:spLocks noChangeShapeType="1"/>
            </p:cNvSpPr>
            <p:nvPr/>
          </p:nvSpPr>
          <p:spPr bwMode="auto">
            <a:xfrm>
              <a:off x="3419475" y="1700213"/>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3" name="Line 37">
              <a:extLst>
                <a:ext uri="{FF2B5EF4-FFF2-40B4-BE49-F238E27FC236}">
                  <a16:creationId xmlns:a16="http://schemas.microsoft.com/office/drawing/2014/main" id="{A2D5EB06-C375-0D4E-8566-146710003EAE}"/>
                </a:ext>
              </a:extLst>
            </p:cNvPr>
            <p:cNvSpPr>
              <a:spLocks noChangeShapeType="1"/>
            </p:cNvSpPr>
            <p:nvPr/>
          </p:nvSpPr>
          <p:spPr bwMode="auto">
            <a:xfrm flipV="1">
              <a:off x="3419475" y="692150"/>
              <a:ext cx="0" cy="64770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4" name="Rectangle 38">
              <a:extLst>
                <a:ext uri="{FF2B5EF4-FFF2-40B4-BE49-F238E27FC236}">
                  <a16:creationId xmlns:a16="http://schemas.microsoft.com/office/drawing/2014/main" id="{A5C25436-AEFB-774F-BB88-CD5304512924}"/>
                </a:ext>
              </a:extLst>
            </p:cNvPr>
            <p:cNvSpPr>
              <a:spLocks noChangeArrowheads="1"/>
            </p:cNvSpPr>
            <p:nvPr/>
          </p:nvSpPr>
          <p:spPr bwMode="auto">
            <a:xfrm>
              <a:off x="2052638" y="1341438"/>
              <a:ext cx="914400"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10265" name="Line 39">
              <a:extLst>
                <a:ext uri="{FF2B5EF4-FFF2-40B4-BE49-F238E27FC236}">
                  <a16:creationId xmlns:a16="http://schemas.microsoft.com/office/drawing/2014/main" id="{9A6D5C96-9C2F-3942-A203-357568DA0272}"/>
                </a:ext>
              </a:extLst>
            </p:cNvPr>
            <p:cNvSpPr>
              <a:spLocks noChangeShapeType="1"/>
            </p:cNvSpPr>
            <p:nvPr/>
          </p:nvSpPr>
          <p:spPr bwMode="auto">
            <a:xfrm flipV="1">
              <a:off x="2987675" y="148431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6" name="Freeform 40">
              <a:extLst>
                <a:ext uri="{FF2B5EF4-FFF2-40B4-BE49-F238E27FC236}">
                  <a16:creationId xmlns:a16="http://schemas.microsoft.com/office/drawing/2014/main" id="{84E10EBA-A487-C248-9DE2-12C76C88A211}"/>
                </a:ext>
              </a:extLst>
            </p:cNvPr>
            <p:cNvSpPr>
              <a:spLocks/>
            </p:cNvSpPr>
            <p:nvPr/>
          </p:nvSpPr>
          <p:spPr bwMode="auto">
            <a:xfrm>
              <a:off x="6084888" y="692150"/>
              <a:ext cx="431800" cy="1655763"/>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7" name="Rectangle 41">
              <a:extLst>
                <a:ext uri="{FF2B5EF4-FFF2-40B4-BE49-F238E27FC236}">
                  <a16:creationId xmlns:a16="http://schemas.microsoft.com/office/drawing/2014/main" id="{22042E1D-73CC-084F-A993-FA00A13A1CC2}"/>
                </a:ext>
              </a:extLst>
            </p:cNvPr>
            <p:cNvSpPr>
              <a:spLocks noChangeArrowheads="1"/>
            </p:cNvSpPr>
            <p:nvPr/>
          </p:nvSpPr>
          <p:spPr bwMode="auto">
            <a:xfrm>
              <a:off x="6443663" y="1052513"/>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10268" name="Text Box 42">
              <a:extLst>
                <a:ext uri="{FF2B5EF4-FFF2-40B4-BE49-F238E27FC236}">
                  <a16:creationId xmlns:a16="http://schemas.microsoft.com/office/drawing/2014/main" id="{02ADA0B2-F03C-2B47-8515-58742BB2B55C}"/>
                </a:ext>
              </a:extLst>
            </p:cNvPr>
            <p:cNvSpPr txBox="1">
              <a:spLocks noChangeArrowheads="1"/>
            </p:cNvSpPr>
            <p:nvPr/>
          </p:nvSpPr>
          <p:spPr bwMode="auto">
            <a:xfrm>
              <a:off x="3492500" y="1773238"/>
              <a:ext cx="857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10269" name="Text Box 43">
              <a:extLst>
                <a:ext uri="{FF2B5EF4-FFF2-40B4-BE49-F238E27FC236}">
                  <a16:creationId xmlns:a16="http://schemas.microsoft.com/office/drawing/2014/main" id="{653FB075-B90D-BE40-9124-AE742C8FBFBC}"/>
                </a:ext>
              </a:extLst>
            </p:cNvPr>
            <p:cNvSpPr txBox="1">
              <a:spLocks noChangeArrowheads="1"/>
            </p:cNvSpPr>
            <p:nvPr/>
          </p:nvSpPr>
          <p:spPr bwMode="auto">
            <a:xfrm>
              <a:off x="4211638" y="9080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10270" name="Text Box 44">
              <a:extLst>
                <a:ext uri="{FF2B5EF4-FFF2-40B4-BE49-F238E27FC236}">
                  <a16:creationId xmlns:a16="http://schemas.microsoft.com/office/drawing/2014/main" id="{29278643-5A28-F24A-87EE-752D12CD53C7}"/>
                </a:ext>
              </a:extLst>
            </p:cNvPr>
            <p:cNvSpPr txBox="1">
              <a:spLocks noChangeArrowheads="1"/>
            </p:cNvSpPr>
            <p:nvPr/>
          </p:nvSpPr>
          <p:spPr bwMode="auto">
            <a:xfrm>
              <a:off x="5003800" y="14843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10271" name="Text Box 45">
              <a:extLst>
                <a:ext uri="{FF2B5EF4-FFF2-40B4-BE49-F238E27FC236}">
                  <a16:creationId xmlns:a16="http://schemas.microsoft.com/office/drawing/2014/main" id="{8C155EC8-2FBD-A548-97A4-C4DDAB81176F}"/>
                </a:ext>
              </a:extLst>
            </p:cNvPr>
            <p:cNvSpPr txBox="1">
              <a:spLocks noChangeArrowheads="1"/>
            </p:cNvSpPr>
            <p:nvPr/>
          </p:nvSpPr>
          <p:spPr bwMode="auto">
            <a:xfrm>
              <a:off x="6011863" y="1268413"/>
              <a:ext cx="433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10272" name="Text Box 46">
              <a:extLst>
                <a:ext uri="{FF2B5EF4-FFF2-40B4-BE49-F238E27FC236}">
                  <a16:creationId xmlns:a16="http://schemas.microsoft.com/office/drawing/2014/main" id="{C3437F73-5092-5749-9013-4439DCEC23CB}"/>
                </a:ext>
              </a:extLst>
            </p:cNvPr>
            <p:cNvSpPr txBox="1">
              <a:spLocks noChangeArrowheads="1"/>
            </p:cNvSpPr>
            <p:nvPr/>
          </p:nvSpPr>
          <p:spPr bwMode="auto">
            <a:xfrm>
              <a:off x="6726238" y="1339850"/>
              <a:ext cx="5826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10273" name="Line 47">
              <a:extLst>
                <a:ext uri="{FF2B5EF4-FFF2-40B4-BE49-F238E27FC236}">
                  <a16:creationId xmlns:a16="http://schemas.microsoft.com/office/drawing/2014/main" id="{6D1F131E-E530-574D-9643-BB5220FE579E}"/>
                </a:ext>
              </a:extLst>
            </p:cNvPr>
            <p:cNvSpPr>
              <a:spLocks noChangeShapeType="1"/>
            </p:cNvSpPr>
            <p:nvPr/>
          </p:nvSpPr>
          <p:spPr bwMode="auto">
            <a:xfrm flipV="1">
              <a:off x="6732588" y="692150"/>
              <a:ext cx="0" cy="1655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74" name="Line 48">
              <a:extLst>
                <a:ext uri="{FF2B5EF4-FFF2-40B4-BE49-F238E27FC236}">
                  <a16:creationId xmlns:a16="http://schemas.microsoft.com/office/drawing/2014/main" id="{C2124E03-0788-1A41-9AF8-336197FDF2A9}"/>
                </a:ext>
              </a:extLst>
            </p:cNvPr>
            <p:cNvSpPr>
              <a:spLocks noChangeShapeType="1"/>
            </p:cNvSpPr>
            <p:nvPr/>
          </p:nvSpPr>
          <p:spPr bwMode="auto">
            <a:xfrm flipH="1">
              <a:off x="1547813" y="333375"/>
              <a:ext cx="936625" cy="0"/>
            </a:xfrm>
            <a:prstGeom prst="line">
              <a:avLst/>
            </a:prstGeom>
            <a:noFill/>
            <a:ln w="25400">
              <a:solidFill>
                <a:srgbClr val="3366FF"/>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75" name="Text Box 49">
              <a:extLst>
                <a:ext uri="{FF2B5EF4-FFF2-40B4-BE49-F238E27FC236}">
                  <a16:creationId xmlns:a16="http://schemas.microsoft.com/office/drawing/2014/main" id="{01B730A7-F9A7-BD4E-BA59-DBE0475B55DC}"/>
                </a:ext>
              </a:extLst>
            </p:cNvPr>
            <p:cNvSpPr txBox="1">
              <a:spLocks noChangeArrowheads="1"/>
            </p:cNvSpPr>
            <p:nvPr/>
          </p:nvSpPr>
          <p:spPr bwMode="auto">
            <a:xfrm>
              <a:off x="2555875" y="188913"/>
              <a:ext cx="5461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66FF"/>
                  </a:solidFill>
                  <a:cs typeface="Arial" panose="020B0604020202020204" pitchFamily="34" charset="0"/>
                </a:rPr>
                <a:t>±</a:t>
              </a: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10276" name="Line 50">
              <a:extLst>
                <a:ext uri="{FF2B5EF4-FFF2-40B4-BE49-F238E27FC236}">
                  <a16:creationId xmlns:a16="http://schemas.microsoft.com/office/drawing/2014/main" id="{85D174A9-5FBC-BB43-AEB6-A3EB36E11941}"/>
                </a:ext>
              </a:extLst>
            </p:cNvPr>
            <p:cNvSpPr>
              <a:spLocks noChangeShapeType="1"/>
            </p:cNvSpPr>
            <p:nvPr/>
          </p:nvSpPr>
          <p:spPr bwMode="auto">
            <a:xfrm>
              <a:off x="1404938" y="1125538"/>
              <a:ext cx="1439862"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77" name="Text Box 51">
              <a:extLst>
                <a:ext uri="{FF2B5EF4-FFF2-40B4-BE49-F238E27FC236}">
                  <a16:creationId xmlns:a16="http://schemas.microsoft.com/office/drawing/2014/main" id="{0D6ED545-FDA3-3B4C-9381-58C538FA31DE}"/>
                </a:ext>
              </a:extLst>
            </p:cNvPr>
            <p:cNvSpPr txBox="1">
              <a:spLocks noChangeArrowheads="1"/>
            </p:cNvSpPr>
            <p:nvPr/>
          </p:nvSpPr>
          <p:spPr bwMode="auto">
            <a:xfrm>
              <a:off x="1547813" y="765175"/>
              <a:ext cx="946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0000"/>
                  </a:solidFill>
                </a:rPr>
                <a:t>Current</a:t>
              </a:r>
              <a:endParaRPr lang="en-US" altLang="en-US" sz="1800">
                <a:solidFill>
                  <a:srgbClr val="FF0000"/>
                </a:solidFill>
              </a:endParaRPr>
            </a:p>
          </p:txBody>
        </p:sp>
      </p:grpSp>
      <p:sp>
        <p:nvSpPr>
          <p:cNvPr id="10278" name="Line 52">
            <a:extLst>
              <a:ext uri="{FF2B5EF4-FFF2-40B4-BE49-F238E27FC236}">
                <a16:creationId xmlns:a16="http://schemas.microsoft.com/office/drawing/2014/main" id="{48F4EC67-3AC8-334F-954B-0A42E837FA35}"/>
              </a:ext>
            </a:extLst>
          </p:cNvPr>
          <p:cNvSpPr>
            <a:spLocks noChangeShapeType="1"/>
          </p:cNvSpPr>
          <p:nvPr/>
        </p:nvSpPr>
        <p:spPr bwMode="auto">
          <a:xfrm>
            <a:off x="395288" y="6021388"/>
            <a:ext cx="7921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79" name="Line 53">
            <a:extLst>
              <a:ext uri="{FF2B5EF4-FFF2-40B4-BE49-F238E27FC236}">
                <a16:creationId xmlns:a16="http://schemas.microsoft.com/office/drawing/2014/main" id="{A80D4B66-04BB-4249-80C2-B49646C0D18C}"/>
              </a:ext>
            </a:extLst>
          </p:cNvPr>
          <p:cNvSpPr>
            <a:spLocks noChangeShapeType="1"/>
          </p:cNvSpPr>
          <p:nvPr/>
        </p:nvSpPr>
        <p:spPr bwMode="auto">
          <a:xfrm flipV="1">
            <a:off x="395288" y="2565400"/>
            <a:ext cx="0" cy="34559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80" name="Line 64">
            <a:extLst>
              <a:ext uri="{FF2B5EF4-FFF2-40B4-BE49-F238E27FC236}">
                <a16:creationId xmlns:a16="http://schemas.microsoft.com/office/drawing/2014/main" id="{941EC055-B728-C443-8105-5042D0C8540D}"/>
              </a:ext>
            </a:extLst>
          </p:cNvPr>
          <p:cNvSpPr>
            <a:spLocks noChangeShapeType="1"/>
          </p:cNvSpPr>
          <p:nvPr/>
        </p:nvSpPr>
        <p:spPr bwMode="auto">
          <a:xfrm>
            <a:off x="395288" y="3429000"/>
            <a:ext cx="7921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81" name="Freeform 65">
            <a:extLst>
              <a:ext uri="{FF2B5EF4-FFF2-40B4-BE49-F238E27FC236}">
                <a16:creationId xmlns:a16="http://schemas.microsoft.com/office/drawing/2014/main" id="{282F561B-1855-8B4A-93B8-9F32B1962439}"/>
              </a:ext>
            </a:extLst>
          </p:cNvPr>
          <p:cNvSpPr>
            <a:spLocks/>
          </p:cNvSpPr>
          <p:nvPr/>
        </p:nvSpPr>
        <p:spPr bwMode="auto">
          <a:xfrm>
            <a:off x="395288" y="2781300"/>
            <a:ext cx="7416800" cy="647700"/>
          </a:xfrm>
          <a:custGeom>
            <a:avLst/>
            <a:gdLst>
              <a:gd name="T0" fmla="*/ 0 w 4672"/>
              <a:gd name="T1" fmla="*/ 2147483646 h 408"/>
              <a:gd name="T2" fmla="*/ 2147483646 w 4672"/>
              <a:gd name="T3" fmla="*/ 2147483646 h 408"/>
              <a:gd name="T4" fmla="*/ 2147483646 w 4672"/>
              <a:gd name="T5" fmla="*/ 0 h 408"/>
              <a:gd name="T6" fmla="*/ 2147483646 w 4672"/>
              <a:gd name="T7" fmla="*/ 0 h 408"/>
              <a:gd name="T8" fmla="*/ 2147483646 w 4672"/>
              <a:gd name="T9" fmla="*/ 2147483646 h 408"/>
              <a:gd name="T10" fmla="*/ 2147483646 w 4672"/>
              <a:gd name="T11" fmla="*/ 2147483646 h 408"/>
              <a:gd name="T12" fmla="*/ 2147483646 w 4672"/>
              <a:gd name="T13" fmla="*/ 0 h 408"/>
              <a:gd name="T14" fmla="*/ 2147483646 w 4672"/>
              <a:gd name="T15" fmla="*/ 0 h 408"/>
              <a:gd name="T16" fmla="*/ 2147483646 w 4672"/>
              <a:gd name="T17" fmla="*/ 2147483646 h 408"/>
              <a:gd name="T18" fmla="*/ 2147483646 w 4672"/>
              <a:gd name="T19" fmla="*/ 2147483646 h 408"/>
              <a:gd name="T20" fmla="*/ 2147483646 w 4672"/>
              <a:gd name="T21" fmla="*/ 0 h 408"/>
              <a:gd name="T22" fmla="*/ 2147483646 w 4672"/>
              <a:gd name="T23" fmla="*/ 0 h 408"/>
              <a:gd name="T24" fmla="*/ 2147483646 w 4672"/>
              <a:gd name="T25" fmla="*/ 2147483646 h 408"/>
              <a:gd name="T26" fmla="*/ 2147483646 w 4672"/>
              <a:gd name="T27" fmla="*/ 2147483646 h 408"/>
              <a:gd name="T28" fmla="*/ 2147483646 w 4672"/>
              <a:gd name="T29" fmla="*/ 0 h 408"/>
              <a:gd name="T30" fmla="*/ 2147483646 w 4672"/>
              <a:gd name="T31" fmla="*/ 0 h 408"/>
              <a:gd name="T32" fmla="*/ 2147483646 w 4672"/>
              <a:gd name="T33" fmla="*/ 2147483646 h 408"/>
              <a:gd name="T34" fmla="*/ 2147483646 w 4672"/>
              <a:gd name="T35" fmla="*/ 2147483646 h 408"/>
              <a:gd name="T36" fmla="*/ 2147483646 w 4672"/>
              <a:gd name="T37" fmla="*/ 0 h 408"/>
              <a:gd name="T38" fmla="*/ 2147483646 w 4672"/>
              <a:gd name="T39" fmla="*/ 0 h 4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672" h="408">
                <a:moveTo>
                  <a:pt x="0" y="408"/>
                </a:moveTo>
                <a:lnTo>
                  <a:pt x="136" y="408"/>
                </a:lnTo>
                <a:lnTo>
                  <a:pt x="136" y="0"/>
                </a:lnTo>
                <a:lnTo>
                  <a:pt x="771" y="0"/>
                </a:lnTo>
                <a:lnTo>
                  <a:pt x="771" y="408"/>
                </a:lnTo>
                <a:lnTo>
                  <a:pt x="1225" y="408"/>
                </a:lnTo>
                <a:lnTo>
                  <a:pt x="1225" y="0"/>
                </a:lnTo>
                <a:lnTo>
                  <a:pt x="1860" y="0"/>
                </a:lnTo>
                <a:lnTo>
                  <a:pt x="1860" y="408"/>
                </a:lnTo>
                <a:lnTo>
                  <a:pt x="2313" y="408"/>
                </a:lnTo>
                <a:lnTo>
                  <a:pt x="2313" y="0"/>
                </a:lnTo>
                <a:lnTo>
                  <a:pt x="2949" y="0"/>
                </a:lnTo>
                <a:lnTo>
                  <a:pt x="2949" y="408"/>
                </a:lnTo>
                <a:lnTo>
                  <a:pt x="3402" y="408"/>
                </a:lnTo>
                <a:lnTo>
                  <a:pt x="3402" y="0"/>
                </a:lnTo>
                <a:lnTo>
                  <a:pt x="4037" y="0"/>
                </a:lnTo>
                <a:lnTo>
                  <a:pt x="4037" y="408"/>
                </a:lnTo>
                <a:lnTo>
                  <a:pt x="4491" y="408"/>
                </a:lnTo>
                <a:lnTo>
                  <a:pt x="4491" y="0"/>
                </a:lnTo>
                <a:lnTo>
                  <a:pt x="4672" y="0"/>
                </a:lnTo>
              </a:path>
            </a:pathLst>
          </a:custGeom>
          <a:noFill/>
          <a:ln w="2540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82" name="Freeform 68">
            <a:extLst>
              <a:ext uri="{FF2B5EF4-FFF2-40B4-BE49-F238E27FC236}">
                <a16:creationId xmlns:a16="http://schemas.microsoft.com/office/drawing/2014/main" id="{74867CDE-1CEB-174D-B6A4-87A51E6C4BF3}"/>
              </a:ext>
            </a:extLst>
          </p:cNvPr>
          <p:cNvSpPr>
            <a:spLocks/>
          </p:cNvSpPr>
          <p:nvPr/>
        </p:nvSpPr>
        <p:spPr bwMode="auto">
          <a:xfrm>
            <a:off x="395288" y="5373688"/>
            <a:ext cx="7416800" cy="647700"/>
          </a:xfrm>
          <a:custGeom>
            <a:avLst/>
            <a:gdLst>
              <a:gd name="T0" fmla="*/ 0 w 4672"/>
              <a:gd name="T1" fmla="*/ 2147483646 h 408"/>
              <a:gd name="T2" fmla="*/ 2147483646 w 4672"/>
              <a:gd name="T3" fmla="*/ 2147483646 h 408"/>
              <a:gd name="T4" fmla="*/ 2147483646 w 4672"/>
              <a:gd name="T5" fmla="*/ 2147483646 h 408"/>
              <a:gd name="T6" fmla="*/ 2147483646 w 4672"/>
              <a:gd name="T7" fmla="*/ 2147483646 h 408"/>
              <a:gd name="T8" fmla="*/ 2147483646 w 4672"/>
              <a:gd name="T9" fmla="*/ 0 h 408"/>
              <a:gd name="T10" fmla="*/ 2147483646 w 4672"/>
              <a:gd name="T11" fmla="*/ 2147483646 h 408"/>
              <a:gd name="T12" fmla="*/ 2147483646 w 4672"/>
              <a:gd name="T13" fmla="*/ 2147483646 h 408"/>
              <a:gd name="T14" fmla="*/ 2147483646 w 4672"/>
              <a:gd name="T15" fmla="*/ 2147483646 h 408"/>
              <a:gd name="T16" fmla="*/ 2147483646 w 4672"/>
              <a:gd name="T17" fmla="*/ 0 h 408"/>
              <a:gd name="T18" fmla="*/ 2147483646 w 4672"/>
              <a:gd name="T19" fmla="*/ 2147483646 h 408"/>
              <a:gd name="T20" fmla="*/ 2147483646 w 4672"/>
              <a:gd name="T21" fmla="*/ 2147483646 h 408"/>
              <a:gd name="T22" fmla="*/ 2147483646 w 4672"/>
              <a:gd name="T23" fmla="*/ 2147483646 h 408"/>
              <a:gd name="T24" fmla="*/ 2147483646 w 4672"/>
              <a:gd name="T25" fmla="*/ 0 h 408"/>
              <a:gd name="T26" fmla="*/ 2147483646 w 4672"/>
              <a:gd name="T27" fmla="*/ 2147483646 h 408"/>
              <a:gd name="T28" fmla="*/ 2147483646 w 4672"/>
              <a:gd name="T29" fmla="*/ 2147483646 h 408"/>
              <a:gd name="T30" fmla="*/ 2147483646 w 4672"/>
              <a:gd name="T31" fmla="*/ 2147483646 h 408"/>
              <a:gd name="T32" fmla="*/ 2147483646 w 4672"/>
              <a:gd name="T33" fmla="*/ 0 h 408"/>
              <a:gd name="T34" fmla="*/ 2147483646 w 4672"/>
              <a:gd name="T35" fmla="*/ 2147483646 h 408"/>
              <a:gd name="T36" fmla="*/ 2147483646 w 4672"/>
              <a:gd name="T37" fmla="*/ 2147483646 h 408"/>
              <a:gd name="T38" fmla="*/ 2147483646 w 4672"/>
              <a:gd name="T39" fmla="*/ 2147483646 h 4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672" h="408">
                <a:moveTo>
                  <a:pt x="0" y="136"/>
                </a:moveTo>
                <a:lnTo>
                  <a:pt x="136" y="181"/>
                </a:lnTo>
                <a:lnTo>
                  <a:pt x="136" y="408"/>
                </a:lnTo>
                <a:lnTo>
                  <a:pt x="771" y="408"/>
                </a:lnTo>
                <a:lnTo>
                  <a:pt x="771" y="0"/>
                </a:lnTo>
                <a:lnTo>
                  <a:pt x="1225" y="227"/>
                </a:lnTo>
                <a:lnTo>
                  <a:pt x="1225" y="408"/>
                </a:lnTo>
                <a:lnTo>
                  <a:pt x="1860" y="408"/>
                </a:lnTo>
                <a:lnTo>
                  <a:pt x="1860" y="0"/>
                </a:lnTo>
                <a:lnTo>
                  <a:pt x="2313" y="227"/>
                </a:lnTo>
                <a:lnTo>
                  <a:pt x="2313" y="408"/>
                </a:lnTo>
                <a:lnTo>
                  <a:pt x="2949" y="408"/>
                </a:lnTo>
                <a:lnTo>
                  <a:pt x="2949" y="0"/>
                </a:lnTo>
                <a:lnTo>
                  <a:pt x="3402" y="227"/>
                </a:lnTo>
                <a:lnTo>
                  <a:pt x="3402" y="408"/>
                </a:lnTo>
                <a:lnTo>
                  <a:pt x="4037" y="408"/>
                </a:lnTo>
                <a:lnTo>
                  <a:pt x="4037" y="0"/>
                </a:lnTo>
                <a:lnTo>
                  <a:pt x="4491" y="227"/>
                </a:lnTo>
                <a:lnTo>
                  <a:pt x="4491" y="408"/>
                </a:lnTo>
                <a:lnTo>
                  <a:pt x="4672" y="408"/>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83" name="Text Box 69">
            <a:extLst>
              <a:ext uri="{FF2B5EF4-FFF2-40B4-BE49-F238E27FC236}">
                <a16:creationId xmlns:a16="http://schemas.microsoft.com/office/drawing/2014/main" id="{94F4F2BA-0D95-7640-82AD-FF8FB79F68FE}"/>
              </a:ext>
            </a:extLst>
          </p:cNvPr>
          <p:cNvSpPr txBox="1">
            <a:spLocks noChangeArrowheads="1"/>
          </p:cNvSpPr>
          <p:nvPr/>
        </p:nvSpPr>
        <p:spPr bwMode="auto">
          <a:xfrm>
            <a:off x="6948488" y="2636838"/>
            <a:ext cx="5381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latin typeface="Times New Roman" panose="02020603050405020304" pitchFamily="18" charset="0"/>
              </a:rPr>
              <a:t>Shut</a:t>
            </a:r>
            <a:endParaRPr lang="en-US" altLang="en-US" sz="1400" b="1">
              <a:latin typeface="Times New Roman" panose="02020603050405020304" pitchFamily="18" charset="0"/>
            </a:endParaRPr>
          </a:p>
        </p:txBody>
      </p:sp>
      <p:sp>
        <p:nvSpPr>
          <p:cNvPr id="10284" name="Text Box 70">
            <a:extLst>
              <a:ext uri="{FF2B5EF4-FFF2-40B4-BE49-F238E27FC236}">
                <a16:creationId xmlns:a16="http://schemas.microsoft.com/office/drawing/2014/main" id="{31E7B524-196A-DD4A-AF1B-2C29C904AD59}"/>
              </a:ext>
            </a:extLst>
          </p:cNvPr>
          <p:cNvSpPr txBox="1">
            <a:spLocks noChangeArrowheads="1"/>
          </p:cNvSpPr>
          <p:nvPr/>
        </p:nvSpPr>
        <p:spPr bwMode="auto">
          <a:xfrm>
            <a:off x="6877050" y="3141663"/>
            <a:ext cx="5984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latin typeface="Times New Roman" panose="02020603050405020304" pitchFamily="18" charset="0"/>
              </a:rPr>
              <a:t>Open</a:t>
            </a:r>
            <a:endParaRPr lang="en-US" altLang="en-US" sz="1400" b="1">
              <a:latin typeface="Times New Roman" panose="02020603050405020304" pitchFamily="18" charset="0"/>
            </a:endParaRPr>
          </a:p>
        </p:txBody>
      </p:sp>
      <p:sp>
        <p:nvSpPr>
          <p:cNvPr id="10285" name="Text Box 71">
            <a:extLst>
              <a:ext uri="{FF2B5EF4-FFF2-40B4-BE49-F238E27FC236}">
                <a16:creationId xmlns:a16="http://schemas.microsoft.com/office/drawing/2014/main" id="{36B066FC-0B79-9342-925E-5AEF2BC693C1}"/>
              </a:ext>
            </a:extLst>
          </p:cNvPr>
          <p:cNvSpPr txBox="1">
            <a:spLocks noChangeArrowheads="1"/>
          </p:cNvSpPr>
          <p:nvPr/>
        </p:nvSpPr>
        <p:spPr bwMode="auto">
          <a:xfrm>
            <a:off x="7956550" y="3068638"/>
            <a:ext cx="6969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latin typeface="Times New Roman" panose="02020603050405020304" pitchFamily="18" charset="0"/>
              </a:rPr>
              <a:t>Switch</a:t>
            </a:r>
            <a:endParaRPr lang="en-US" altLang="en-US" sz="1400" b="1">
              <a:latin typeface="Times New Roman" panose="02020603050405020304" pitchFamily="18" charset="0"/>
            </a:endParaRPr>
          </a:p>
        </p:txBody>
      </p:sp>
      <p:sp>
        <p:nvSpPr>
          <p:cNvPr id="10286" name="Text Box 72">
            <a:extLst>
              <a:ext uri="{FF2B5EF4-FFF2-40B4-BE49-F238E27FC236}">
                <a16:creationId xmlns:a16="http://schemas.microsoft.com/office/drawing/2014/main" id="{66D485E6-F0BC-3B42-9A95-DBC89520E0CB}"/>
              </a:ext>
            </a:extLst>
          </p:cNvPr>
          <p:cNvSpPr txBox="1">
            <a:spLocks noChangeArrowheads="1"/>
          </p:cNvSpPr>
          <p:nvPr/>
        </p:nvSpPr>
        <p:spPr bwMode="auto">
          <a:xfrm>
            <a:off x="6877050" y="3573463"/>
            <a:ext cx="439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latin typeface="Times New Roman" panose="02020603050405020304" pitchFamily="18" charset="0"/>
              </a:rPr>
              <a:t>V</a:t>
            </a:r>
            <a:r>
              <a:rPr lang="en-GB" altLang="en-US" sz="1400" b="1" baseline="-25000">
                <a:latin typeface="Times New Roman" panose="02020603050405020304" pitchFamily="18" charset="0"/>
              </a:rPr>
              <a:t>IN</a:t>
            </a:r>
            <a:endParaRPr lang="en-US" altLang="en-US" sz="1400" b="1" baseline="-25000">
              <a:latin typeface="Times New Roman" panose="02020603050405020304" pitchFamily="18" charset="0"/>
            </a:endParaRPr>
          </a:p>
        </p:txBody>
      </p:sp>
      <p:grpSp>
        <p:nvGrpSpPr>
          <p:cNvPr id="10287" name="Group 2">
            <a:extLst>
              <a:ext uri="{FF2B5EF4-FFF2-40B4-BE49-F238E27FC236}">
                <a16:creationId xmlns:a16="http://schemas.microsoft.com/office/drawing/2014/main" id="{DC54770B-37F9-EB4A-B891-A9869194D1D2}"/>
              </a:ext>
            </a:extLst>
          </p:cNvPr>
          <p:cNvGrpSpPr>
            <a:grpSpLocks/>
          </p:cNvGrpSpPr>
          <p:nvPr/>
        </p:nvGrpSpPr>
        <p:grpSpPr bwMode="auto">
          <a:xfrm>
            <a:off x="395288" y="3717925"/>
            <a:ext cx="8431212" cy="724833"/>
            <a:chOff x="395288" y="3717925"/>
            <a:chExt cx="8431937" cy="724833"/>
          </a:xfrm>
        </p:grpSpPr>
        <p:sp>
          <p:nvSpPr>
            <p:cNvPr id="10297" name="Line 62">
              <a:extLst>
                <a:ext uri="{FF2B5EF4-FFF2-40B4-BE49-F238E27FC236}">
                  <a16:creationId xmlns:a16="http://schemas.microsoft.com/office/drawing/2014/main" id="{D6A6E149-E933-EF4F-8A95-0482BC743E47}"/>
                </a:ext>
              </a:extLst>
            </p:cNvPr>
            <p:cNvSpPr>
              <a:spLocks noChangeShapeType="1"/>
            </p:cNvSpPr>
            <p:nvPr/>
          </p:nvSpPr>
          <p:spPr bwMode="auto">
            <a:xfrm>
              <a:off x="395288" y="3933825"/>
              <a:ext cx="7921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98" name="Freeform 66">
              <a:extLst>
                <a:ext uri="{FF2B5EF4-FFF2-40B4-BE49-F238E27FC236}">
                  <a16:creationId xmlns:a16="http://schemas.microsoft.com/office/drawing/2014/main" id="{DC2171BB-EF71-8841-8B50-EBFF52AA15D8}"/>
                </a:ext>
              </a:extLst>
            </p:cNvPr>
            <p:cNvSpPr>
              <a:spLocks/>
            </p:cNvSpPr>
            <p:nvPr/>
          </p:nvSpPr>
          <p:spPr bwMode="auto">
            <a:xfrm>
              <a:off x="395288" y="3717925"/>
              <a:ext cx="7416800" cy="647700"/>
            </a:xfrm>
            <a:custGeom>
              <a:avLst/>
              <a:gdLst>
                <a:gd name="T0" fmla="*/ 0 w 4672"/>
                <a:gd name="T1" fmla="*/ 2147483646 h 408"/>
                <a:gd name="T2" fmla="*/ 2147483646 w 4672"/>
                <a:gd name="T3" fmla="*/ 2147483646 h 408"/>
                <a:gd name="T4" fmla="*/ 2147483646 w 4672"/>
                <a:gd name="T5" fmla="*/ 0 h 408"/>
                <a:gd name="T6" fmla="*/ 2147483646 w 4672"/>
                <a:gd name="T7" fmla="*/ 0 h 408"/>
                <a:gd name="T8" fmla="*/ 2147483646 w 4672"/>
                <a:gd name="T9" fmla="*/ 2147483646 h 408"/>
                <a:gd name="T10" fmla="*/ 2147483646 w 4672"/>
                <a:gd name="T11" fmla="*/ 2147483646 h 408"/>
                <a:gd name="T12" fmla="*/ 2147483646 w 4672"/>
                <a:gd name="T13" fmla="*/ 0 h 408"/>
                <a:gd name="T14" fmla="*/ 2147483646 w 4672"/>
                <a:gd name="T15" fmla="*/ 0 h 408"/>
                <a:gd name="T16" fmla="*/ 2147483646 w 4672"/>
                <a:gd name="T17" fmla="*/ 2147483646 h 408"/>
                <a:gd name="T18" fmla="*/ 2147483646 w 4672"/>
                <a:gd name="T19" fmla="*/ 2147483646 h 408"/>
                <a:gd name="T20" fmla="*/ 2147483646 w 4672"/>
                <a:gd name="T21" fmla="*/ 0 h 408"/>
                <a:gd name="T22" fmla="*/ 2147483646 w 4672"/>
                <a:gd name="T23" fmla="*/ 0 h 408"/>
                <a:gd name="T24" fmla="*/ 2147483646 w 4672"/>
                <a:gd name="T25" fmla="*/ 2147483646 h 408"/>
                <a:gd name="T26" fmla="*/ 2147483646 w 4672"/>
                <a:gd name="T27" fmla="*/ 2147483646 h 408"/>
                <a:gd name="T28" fmla="*/ 2147483646 w 4672"/>
                <a:gd name="T29" fmla="*/ 0 h 408"/>
                <a:gd name="T30" fmla="*/ 2147483646 w 4672"/>
                <a:gd name="T31" fmla="*/ 0 h 408"/>
                <a:gd name="T32" fmla="*/ 2147483646 w 4672"/>
                <a:gd name="T33" fmla="*/ 2147483646 h 408"/>
                <a:gd name="T34" fmla="*/ 2147483646 w 4672"/>
                <a:gd name="T35" fmla="*/ 2147483646 h 408"/>
                <a:gd name="T36" fmla="*/ 2147483646 w 4672"/>
                <a:gd name="T37" fmla="*/ 0 h 408"/>
                <a:gd name="T38" fmla="*/ 2147483646 w 4672"/>
                <a:gd name="T39" fmla="*/ 0 h 4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672" h="408">
                  <a:moveTo>
                    <a:pt x="0" y="408"/>
                  </a:moveTo>
                  <a:lnTo>
                    <a:pt x="136" y="408"/>
                  </a:lnTo>
                  <a:lnTo>
                    <a:pt x="136" y="0"/>
                  </a:lnTo>
                  <a:lnTo>
                    <a:pt x="771" y="0"/>
                  </a:lnTo>
                  <a:lnTo>
                    <a:pt x="771" y="408"/>
                  </a:lnTo>
                  <a:lnTo>
                    <a:pt x="1225" y="408"/>
                  </a:lnTo>
                  <a:lnTo>
                    <a:pt x="1225" y="0"/>
                  </a:lnTo>
                  <a:lnTo>
                    <a:pt x="1860" y="0"/>
                  </a:lnTo>
                  <a:lnTo>
                    <a:pt x="1860" y="408"/>
                  </a:lnTo>
                  <a:lnTo>
                    <a:pt x="2313" y="408"/>
                  </a:lnTo>
                  <a:lnTo>
                    <a:pt x="2313" y="0"/>
                  </a:lnTo>
                  <a:lnTo>
                    <a:pt x="2949" y="0"/>
                  </a:lnTo>
                  <a:lnTo>
                    <a:pt x="2949" y="408"/>
                  </a:lnTo>
                  <a:lnTo>
                    <a:pt x="3402" y="408"/>
                  </a:lnTo>
                  <a:lnTo>
                    <a:pt x="3402" y="0"/>
                  </a:lnTo>
                  <a:lnTo>
                    <a:pt x="4037" y="0"/>
                  </a:lnTo>
                  <a:lnTo>
                    <a:pt x="4037" y="408"/>
                  </a:lnTo>
                  <a:lnTo>
                    <a:pt x="4491" y="408"/>
                  </a:lnTo>
                  <a:lnTo>
                    <a:pt x="4491" y="0"/>
                  </a:lnTo>
                  <a:lnTo>
                    <a:pt x="4672" y="0"/>
                  </a:lnTo>
                </a:path>
              </a:pathLst>
            </a:custGeom>
            <a:noFill/>
            <a:ln w="25400">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99" name="Text Box 73">
              <a:extLst>
                <a:ext uri="{FF2B5EF4-FFF2-40B4-BE49-F238E27FC236}">
                  <a16:creationId xmlns:a16="http://schemas.microsoft.com/office/drawing/2014/main" id="{0810003C-5944-E24D-9156-8AD37010A230}"/>
                </a:ext>
              </a:extLst>
            </p:cNvPr>
            <p:cNvSpPr txBox="1">
              <a:spLocks noChangeArrowheads="1"/>
            </p:cNvSpPr>
            <p:nvPr/>
          </p:nvSpPr>
          <p:spPr bwMode="auto">
            <a:xfrm>
              <a:off x="5841793" y="4112820"/>
              <a:ext cx="9516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dirty="0">
                  <a:latin typeface="Times New Roman" panose="02020603050405020304" pitchFamily="18" charset="0"/>
                </a:rPr>
                <a:t>V</a:t>
              </a:r>
              <a:r>
                <a:rPr lang="en-GB" altLang="en-US" sz="1400" b="1" baseline="-25000" dirty="0">
                  <a:latin typeface="Times New Roman" panose="02020603050405020304" pitchFamily="18" charset="0"/>
                </a:rPr>
                <a:t>IN </a:t>
              </a:r>
              <a:r>
                <a:rPr lang="en-GB" altLang="en-US" sz="1400" b="1" dirty="0">
                  <a:latin typeface="Times New Roman" panose="02020603050405020304" pitchFamily="18" charset="0"/>
                </a:rPr>
                <a:t>-V</a:t>
              </a:r>
              <a:r>
                <a:rPr lang="en-GB" altLang="en-US" sz="1400" b="1" baseline="-25000" dirty="0">
                  <a:latin typeface="Times New Roman" panose="02020603050405020304" pitchFamily="18" charset="0"/>
                </a:rPr>
                <a:t>OUT </a:t>
              </a:r>
              <a:endParaRPr lang="en-US" altLang="en-US" sz="1400" b="1" dirty="0">
                <a:latin typeface="Times New Roman" panose="02020603050405020304" pitchFamily="18" charset="0"/>
              </a:endParaRPr>
            </a:p>
          </p:txBody>
        </p:sp>
        <p:sp>
          <p:nvSpPr>
            <p:cNvPr id="10300" name="Text Box 74">
              <a:extLst>
                <a:ext uri="{FF2B5EF4-FFF2-40B4-BE49-F238E27FC236}">
                  <a16:creationId xmlns:a16="http://schemas.microsoft.com/office/drawing/2014/main" id="{F0F797AD-94A2-CE4D-8D16-6236768A8E59}"/>
                </a:ext>
              </a:extLst>
            </p:cNvPr>
            <p:cNvSpPr txBox="1">
              <a:spLocks noChangeArrowheads="1"/>
            </p:cNvSpPr>
            <p:nvPr/>
          </p:nvSpPr>
          <p:spPr bwMode="auto">
            <a:xfrm>
              <a:off x="7964488" y="3919538"/>
              <a:ext cx="8627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solidFill>
                    <a:srgbClr val="0000FF"/>
                  </a:solidFill>
                  <a:latin typeface="Times New Roman" panose="02020603050405020304" pitchFamily="18" charset="0"/>
                </a:rPr>
                <a:t>Inductor</a:t>
              </a:r>
            </a:p>
            <a:p>
              <a:pPr eaLnBrk="1" hangingPunct="1">
                <a:spcBef>
                  <a:spcPct val="0"/>
                </a:spcBef>
                <a:buFontTx/>
                <a:buNone/>
              </a:pPr>
              <a:r>
                <a:rPr lang="en-GB" altLang="en-US" sz="1400" b="1">
                  <a:solidFill>
                    <a:srgbClr val="0000FF"/>
                  </a:solidFill>
                  <a:latin typeface="Times New Roman" panose="02020603050405020304" pitchFamily="18" charset="0"/>
                </a:rPr>
                <a:t>voltage</a:t>
              </a:r>
              <a:endParaRPr lang="en-US" altLang="en-US" sz="1400" b="1">
                <a:solidFill>
                  <a:srgbClr val="0000FF"/>
                </a:solidFill>
                <a:latin typeface="Times New Roman" panose="02020603050405020304" pitchFamily="18" charset="0"/>
              </a:endParaRPr>
            </a:p>
          </p:txBody>
        </p:sp>
      </p:grpSp>
      <p:grpSp>
        <p:nvGrpSpPr>
          <p:cNvPr id="10289" name="Group 1">
            <a:extLst>
              <a:ext uri="{FF2B5EF4-FFF2-40B4-BE49-F238E27FC236}">
                <a16:creationId xmlns:a16="http://schemas.microsoft.com/office/drawing/2014/main" id="{CA22D65F-ED48-734F-80BB-976D474286CF}"/>
              </a:ext>
            </a:extLst>
          </p:cNvPr>
          <p:cNvGrpSpPr>
            <a:grpSpLocks/>
          </p:cNvGrpSpPr>
          <p:nvPr/>
        </p:nvGrpSpPr>
        <p:grpSpPr bwMode="auto">
          <a:xfrm>
            <a:off x="395288" y="4437063"/>
            <a:ext cx="8636000" cy="647700"/>
            <a:chOff x="395288" y="4437063"/>
            <a:chExt cx="8635652" cy="647700"/>
          </a:xfrm>
        </p:grpSpPr>
        <p:sp>
          <p:nvSpPr>
            <p:cNvPr id="10292" name="Line 63">
              <a:extLst>
                <a:ext uri="{FF2B5EF4-FFF2-40B4-BE49-F238E27FC236}">
                  <a16:creationId xmlns:a16="http://schemas.microsoft.com/office/drawing/2014/main" id="{238D5933-A27C-FC44-97C1-0D5221DF19B6}"/>
                </a:ext>
              </a:extLst>
            </p:cNvPr>
            <p:cNvSpPr>
              <a:spLocks noChangeShapeType="1"/>
            </p:cNvSpPr>
            <p:nvPr/>
          </p:nvSpPr>
          <p:spPr bwMode="auto">
            <a:xfrm>
              <a:off x="395288" y="5084763"/>
              <a:ext cx="7921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93" name="Freeform 67">
              <a:extLst>
                <a:ext uri="{FF2B5EF4-FFF2-40B4-BE49-F238E27FC236}">
                  <a16:creationId xmlns:a16="http://schemas.microsoft.com/office/drawing/2014/main" id="{8125A606-181C-B643-B21C-6E3E055BD88B}"/>
                </a:ext>
              </a:extLst>
            </p:cNvPr>
            <p:cNvSpPr>
              <a:spLocks/>
            </p:cNvSpPr>
            <p:nvPr/>
          </p:nvSpPr>
          <p:spPr bwMode="auto">
            <a:xfrm>
              <a:off x="395288" y="4652963"/>
              <a:ext cx="7345362" cy="360362"/>
            </a:xfrm>
            <a:custGeom>
              <a:avLst/>
              <a:gdLst>
                <a:gd name="T0" fmla="*/ 0 w 4627"/>
                <a:gd name="T1" fmla="*/ 2147483646 h 408"/>
                <a:gd name="T2" fmla="*/ 2147483646 w 4627"/>
                <a:gd name="T3" fmla="*/ 2147483646 h 408"/>
                <a:gd name="T4" fmla="*/ 2147483646 w 4627"/>
                <a:gd name="T5" fmla="*/ 0 h 408"/>
                <a:gd name="T6" fmla="*/ 2147483646 w 4627"/>
                <a:gd name="T7" fmla="*/ 2147483646 h 408"/>
                <a:gd name="T8" fmla="*/ 2147483646 w 4627"/>
                <a:gd name="T9" fmla="*/ 0 h 408"/>
                <a:gd name="T10" fmla="*/ 2147483646 w 4627"/>
                <a:gd name="T11" fmla="*/ 2147483646 h 408"/>
                <a:gd name="T12" fmla="*/ 2147483646 w 4627"/>
                <a:gd name="T13" fmla="*/ 0 h 408"/>
                <a:gd name="T14" fmla="*/ 2147483646 w 4627"/>
                <a:gd name="T15" fmla="*/ 2147483646 h 408"/>
                <a:gd name="T16" fmla="*/ 2147483646 w 4627"/>
                <a:gd name="T17" fmla="*/ 0 h 408"/>
                <a:gd name="T18" fmla="*/ 2147483646 w 4627"/>
                <a:gd name="T19" fmla="*/ 2147483646 h 408"/>
                <a:gd name="T20" fmla="*/ 2147483646 w 4627"/>
                <a:gd name="T21" fmla="*/ 2147483646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627" h="408">
                  <a:moveTo>
                    <a:pt x="0" y="318"/>
                  </a:moveTo>
                  <a:lnTo>
                    <a:pt x="136" y="408"/>
                  </a:lnTo>
                  <a:lnTo>
                    <a:pt x="771" y="0"/>
                  </a:lnTo>
                  <a:lnTo>
                    <a:pt x="1225" y="408"/>
                  </a:lnTo>
                  <a:lnTo>
                    <a:pt x="1860" y="0"/>
                  </a:lnTo>
                  <a:lnTo>
                    <a:pt x="2313" y="408"/>
                  </a:lnTo>
                  <a:lnTo>
                    <a:pt x="2949" y="0"/>
                  </a:lnTo>
                  <a:lnTo>
                    <a:pt x="3402" y="408"/>
                  </a:lnTo>
                  <a:lnTo>
                    <a:pt x="4037" y="0"/>
                  </a:lnTo>
                  <a:lnTo>
                    <a:pt x="4491" y="408"/>
                  </a:lnTo>
                  <a:lnTo>
                    <a:pt x="4627" y="318"/>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94" name="Text Box 75">
              <a:extLst>
                <a:ext uri="{FF2B5EF4-FFF2-40B4-BE49-F238E27FC236}">
                  <a16:creationId xmlns:a16="http://schemas.microsoft.com/office/drawing/2014/main" id="{FF2E9231-7A6B-C545-9528-84807B22DAA7}"/>
                </a:ext>
              </a:extLst>
            </p:cNvPr>
            <p:cNvSpPr txBox="1">
              <a:spLocks noChangeArrowheads="1"/>
            </p:cNvSpPr>
            <p:nvPr/>
          </p:nvSpPr>
          <p:spPr bwMode="auto">
            <a:xfrm>
              <a:off x="7451725" y="4437063"/>
              <a:ext cx="15792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solidFill>
                    <a:srgbClr val="0000FF"/>
                  </a:solidFill>
                  <a:latin typeface="Times New Roman" panose="02020603050405020304" pitchFamily="18" charset="0"/>
                </a:rPr>
                <a:t>Inductor current</a:t>
              </a:r>
            </a:p>
            <a:p>
              <a:pPr eaLnBrk="1" hangingPunct="1">
                <a:spcBef>
                  <a:spcPct val="0"/>
                </a:spcBef>
                <a:buFontTx/>
                <a:buNone/>
              </a:pPr>
              <a:r>
                <a:rPr lang="en-GB" altLang="en-US" sz="1400" b="1">
                  <a:solidFill>
                    <a:srgbClr val="0000FF"/>
                  </a:solidFill>
                  <a:latin typeface="Times New Roman" panose="02020603050405020304" pitchFamily="18" charset="0"/>
                </a:rPr>
                <a:t>(= supply current)</a:t>
              </a:r>
              <a:endParaRPr lang="en-US" altLang="en-US" sz="1400" b="1">
                <a:solidFill>
                  <a:srgbClr val="0000FF"/>
                </a:solidFill>
                <a:latin typeface="Times New Roman" panose="02020603050405020304" pitchFamily="18" charset="0"/>
              </a:endParaRPr>
            </a:p>
          </p:txBody>
        </p:sp>
      </p:grpSp>
      <p:sp>
        <p:nvSpPr>
          <p:cNvPr id="10290" name="Text Box 79">
            <a:extLst>
              <a:ext uri="{FF2B5EF4-FFF2-40B4-BE49-F238E27FC236}">
                <a16:creationId xmlns:a16="http://schemas.microsoft.com/office/drawing/2014/main" id="{5EE4EAD7-72E0-8043-BFAA-6FAE86FDFEC2}"/>
              </a:ext>
            </a:extLst>
          </p:cNvPr>
          <p:cNvSpPr txBox="1">
            <a:spLocks noChangeArrowheads="1"/>
          </p:cNvSpPr>
          <p:nvPr/>
        </p:nvSpPr>
        <p:spPr bwMode="auto">
          <a:xfrm>
            <a:off x="7513638" y="5373688"/>
            <a:ext cx="1522412"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latin typeface="Times New Roman" panose="02020603050405020304" pitchFamily="18" charset="0"/>
              </a:rPr>
              <a:t>Diode current</a:t>
            </a:r>
          </a:p>
          <a:p>
            <a:pPr eaLnBrk="1" hangingPunct="1">
              <a:spcBef>
                <a:spcPct val="0"/>
              </a:spcBef>
              <a:buFontTx/>
              <a:buNone/>
            </a:pPr>
            <a:r>
              <a:rPr lang="en-GB" altLang="en-US" sz="1400" b="1">
                <a:latin typeface="Times New Roman" panose="02020603050405020304" pitchFamily="18" charset="0"/>
              </a:rPr>
              <a:t>(=output current)</a:t>
            </a:r>
            <a:endParaRPr lang="en-US" altLang="en-US" sz="1400" b="1">
              <a:latin typeface="Times New Roman" panose="02020603050405020304" pitchFamily="18" charset="0"/>
            </a:endParaRPr>
          </a:p>
        </p:txBody>
      </p:sp>
      <p:sp>
        <p:nvSpPr>
          <p:cNvPr id="10291" name="Text Box 80">
            <a:extLst>
              <a:ext uri="{FF2B5EF4-FFF2-40B4-BE49-F238E27FC236}">
                <a16:creationId xmlns:a16="http://schemas.microsoft.com/office/drawing/2014/main" id="{08EABD4A-9BA1-4F4A-B226-8963025734CE}"/>
              </a:ext>
            </a:extLst>
          </p:cNvPr>
          <p:cNvSpPr txBox="1">
            <a:spLocks noChangeArrowheads="1"/>
          </p:cNvSpPr>
          <p:nvPr/>
        </p:nvSpPr>
        <p:spPr bwMode="auto">
          <a:xfrm>
            <a:off x="539750" y="6237288"/>
            <a:ext cx="7318375" cy="376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Note that current always flows in the inductor (continuous mode again)</a:t>
            </a:r>
            <a:endParaRPr lang="en-US" altLang="en-US" sz="1800"/>
          </a:p>
        </p:txBody>
      </p:sp>
      <p:sp>
        <p:nvSpPr>
          <p:cNvPr id="3" name="Text Box 4">
            <a:extLst>
              <a:ext uri="{FF2B5EF4-FFF2-40B4-BE49-F238E27FC236}">
                <a16:creationId xmlns:a16="http://schemas.microsoft.com/office/drawing/2014/main" id="{BC521FAA-A3E3-2E25-6609-FC5A7439BA05}"/>
              </a:ext>
            </a:extLst>
          </p:cNvPr>
          <p:cNvSpPr txBox="1">
            <a:spLocks noChangeArrowheads="1"/>
          </p:cNvSpPr>
          <p:nvPr/>
        </p:nvSpPr>
        <p:spPr bwMode="auto">
          <a:xfrm>
            <a:off x="158750" y="30254"/>
            <a:ext cx="41515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Waveforms for the boost converter</a:t>
            </a:r>
            <a:endParaRPr lang="en-US" alt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a:extLst>
              <a:ext uri="{FF2B5EF4-FFF2-40B4-BE49-F238E27FC236}">
                <a16:creationId xmlns:a16="http://schemas.microsoft.com/office/drawing/2014/main" id="{7658B29A-A3D5-6A09-6606-550CFFF95512}"/>
              </a:ext>
            </a:extLst>
          </p:cNvPr>
          <p:cNvSpPr txBox="1">
            <a:spLocks noChangeArrowheads="1"/>
          </p:cNvSpPr>
          <p:nvPr/>
        </p:nvSpPr>
        <p:spPr bwMode="auto">
          <a:xfrm>
            <a:off x="158750" y="65088"/>
            <a:ext cx="52266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Boost converter Input/Output Voltage Relation</a:t>
            </a:r>
            <a:endParaRPr lang="en-US" altLang="en-US" sz="1800" dirty="0"/>
          </a:p>
        </p:txBody>
      </p:sp>
      <p:sp>
        <p:nvSpPr>
          <p:cNvPr id="2" name="Rectangle 1">
            <a:extLst>
              <a:ext uri="{FF2B5EF4-FFF2-40B4-BE49-F238E27FC236}">
                <a16:creationId xmlns:a16="http://schemas.microsoft.com/office/drawing/2014/main" id="{80652424-D913-9A38-33F2-17EBE55D5D90}"/>
              </a:ext>
            </a:extLst>
          </p:cNvPr>
          <p:cNvSpPr/>
          <p:nvPr/>
        </p:nvSpPr>
        <p:spPr>
          <a:xfrm>
            <a:off x="2735374" y="3050083"/>
            <a:ext cx="104503" cy="1132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22EA8FFF-F9BD-374D-A163-E0FDDD65A258}"/>
              </a:ext>
            </a:extLst>
          </p:cNvPr>
          <p:cNvSpPr txBox="1"/>
          <p:nvPr/>
        </p:nvSpPr>
        <p:spPr>
          <a:xfrm>
            <a:off x="290776" y="512430"/>
            <a:ext cx="8421624" cy="923330"/>
          </a:xfrm>
          <a:prstGeom prst="rect">
            <a:avLst/>
          </a:prstGeom>
          <a:noFill/>
        </p:spPr>
        <p:txBody>
          <a:bodyPr wrap="square">
            <a:spAutoFit/>
          </a:bodyPr>
          <a:lstStyle/>
          <a:p>
            <a:r>
              <a:rPr lang="en-GB" dirty="0"/>
              <a:t>The integral of inductor voltage is equal to the change in the inductor flux linkage. </a:t>
            </a:r>
          </a:p>
          <a:p>
            <a:r>
              <a:rPr lang="en-GB" dirty="0"/>
              <a:t>The net change of flux linking the inductor over one time period of repetition is zero, which is a necessary condition for steady-state operation.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3BAA9E7-EAFD-0CF3-E8A3-29EAF1CA1C5A}"/>
                  </a:ext>
                </a:extLst>
              </p:cNvPr>
              <p:cNvSpPr txBox="1"/>
              <p:nvPr/>
            </p:nvSpPr>
            <p:spPr>
              <a:xfrm>
                <a:off x="2295144" y="1629003"/>
                <a:ext cx="2459736" cy="425758"/>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pPr marL="0" marR="0" indent="0" algn="ctr">
                  <a:lnSpc>
                    <a:spcPts val="1300"/>
                  </a:lnSpc>
                  <a:spcBef>
                    <a:spcPts val="1200"/>
                  </a:spcBef>
                  <a:spcAft>
                    <a:spcPts val="0"/>
                  </a:spcAft>
                  <a:tabLst>
                    <a:tab pos="5715000" algn="r"/>
                  </a:tabLst>
                </a:pPr>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𝐿</m:t>
                              </m:r>
                            </m:sub>
                          </m:sSub>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US" sz="1800" dirty="0">
                  <a:effectLst/>
                  <a:latin typeface="Times"/>
                  <a:ea typeface="SimSun" panose="02010600030101010101" pitchFamily="2" charset="-122"/>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63BAA9E7-EAFD-0CF3-E8A3-29EAF1CA1C5A}"/>
                  </a:ext>
                </a:extLst>
              </p:cNvPr>
              <p:cNvSpPr txBox="1">
                <a:spLocks noRot="1" noChangeAspect="1" noMove="1" noResize="1" noEditPoints="1" noAdjustHandles="1" noChangeArrowheads="1" noChangeShapeType="1" noTextEdit="1"/>
              </p:cNvSpPr>
              <p:nvPr/>
            </p:nvSpPr>
            <p:spPr>
              <a:xfrm>
                <a:off x="2295144" y="1629003"/>
                <a:ext cx="2459736" cy="425758"/>
              </a:xfrm>
              <a:prstGeom prst="rect">
                <a:avLst/>
              </a:prstGeom>
              <a:blipFill>
                <a:blip r:embed="rId3"/>
                <a:stretch>
                  <a:fillRect l="-15385" t="-304286" b="-4171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406D51-A8DC-7231-5E41-BE5F74D619E8}"/>
                  </a:ext>
                </a:extLst>
              </p:cNvPr>
              <p:cNvSpPr txBox="1"/>
              <p:nvPr/>
            </p:nvSpPr>
            <p:spPr>
              <a:xfrm>
                <a:off x="1048142" y="2151375"/>
                <a:ext cx="3773084" cy="7492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sSub>
                            <m:sSubPr>
                              <m:ctrl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𝑡</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𝑜𝑛</m:t>
                              </m:r>
                            </m:sub>
                          </m:sSub>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nary>
                        <m:naryPr>
                          <m:ctrlPr>
                            <a:rPr lang="en-US" i="1">
                              <a:latin typeface="Cambria Math" panose="02040503050406030204" pitchFamily="18" charset="0"/>
                              <a:ea typeface="SimSun" panose="02010600030101010101" pitchFamily="2" charset="-122"/>
                              <a:cs typeface="Times New Roman" panose="02020603050405020304" pitchFamily="18" charset="0"/>
                            </a:rPr>
                          </m:ctrlPr>
                        </m:naryPr>
                        <m: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sub>
                        <m:sup>
                          <m:r>
                            <a:rPr lang="en-GB" i="1">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e>
                      </m:nary>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𝑑𝑡</m:t>
                      </m:r>
                      <m:r>
                        <a:rPr lang="en-US" i="1">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GB" dirty="0"/>
              </a:p>
            </p:txBody>
          </p:sp>
        </mc:Choice>
        <mc:Fallback xmlns="">
          <p:sp>
            <p:nvSpPr>
              <p:cNvPr id="11" name="TextBox 10">
                <a:extLst>
                  <a:ext uri="{FF2B5EF4-FFF2-40B4-BE49-F238E27FC236}">
                    <a16:creationId xmlns:a16="http://schemas.microsoft.com/office/drawing/2014/main" id="{52406D51-A8DC-7231-5E41-BE5F74D619E8}"/>
                  </a:ext>
                </a:extLst>
              </p:cNvPr>
              <p:cNvSpPr txBox="1">
                <a:spLocks noRot="1" noChangeAspect="1" noMove="1" noResize="1" noEditPoints="1" noAdjustHandles="1" noChangeArrowheads="1" noChangeShapeType="1" noTextEdit="1"/>
              </p:cNvSpPr>
              <p:nvPr/>
            </p:nvSpPr>
            <p:spPr>
              <a:xfrm>
                <a:off x="1048142" y="2151375"/>
                <a:ext cx="3773084" cy="74924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B562934-604B-BE9A-5D85-D2F2EBBC9A8E}"/>
                  </a:ext>
                </a:extLst>
              </p:cNvPr>
              <p:cNvSpPr txBox="1"/>
              <p:nvPr/>
            </p:nvSpPr>
            <p:spPr>
              <a:xfrm>
                <a:off x="984625" y="2978629"/>
                <a:ext cx="49857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𝐼𝑁</m:t>
                          </m:r>
                        </m:sub>
                      </m:sSub>
                      <m:sSub>
                        <m:sSubPr>
                          <m:ctrlP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𝑡</m:t>
                          </m:r>
                        </m:e>
                        <m: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𝐼𝑁</m:t>
                              </m:r>
                            </m:sub>
                          </m:sSub>
                          <m:r>
                            <a:rPr lang="en-GB"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𝑡</m:t>
                          </m:r>
                        </m:e>
                        <m:sub>
                          <m:r>
                            <a:rPr lang="en-GB"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GB" dirty="0"/>
              </a:p>
            </p:txBody>
          </p:sp>
        </mc:Choice>
        <mc:Fallback xmlns="">
          <p:sp>
            <p:nvSpPr>
              <p:cNvPr id="4" name="TextBox 3">
                <a:extLst>
                  <a:ext uri="{FF2B5EF4-FFF2-40B4-BE49-F238E27FC236}">
                    <a16:creationId xmlns:a16="http://schemas.microsoft.com/office/drawing/2014/main" id="{CB562934-604B-BE9A-5D85-D2F2EBBC9A8E}"/>
                  </a:ext>
                </a:extLst>
              </p:cNvPr>
              <p:cNvSpPr txBox="1">
                <a:spLocks noRot="1" noChangeAspect="1" noMove="1" noResize="1" noEditPoints="1" noAdjustHandles="1" noChangeArrowheads="1" noChangeShapeType="1" noTextEdit="1"/>
              </p:cNvSpPr>
              <p:nvPr/>
            </p:nvSpPr>
            <p:spPr>
              <a:xfrm>
                <a:off x="984625" y="2978629"/>
                <a:ext cx="4985788"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59ABC69-D2E0-08D5-CD3A-8AF61427226D}"/>
                  </a:ext>
                </a:extLst>
              </p:cNvPr>
              <p:cNvSpPr txBox="1"/>
              <p:nvPr/>
            </p:nvSpPr>
            <p:spPr>
              <a:xfrm>
                <a:off x="1001842" y="3545420"/>
                <a:ext cx="2815322" cy="369332"/>
              </a:xfrm>
              <a:prstGeom prst="rect">
                <a:avLst/>
              </a:prstGeom>
              <a:noFill/>
            </p:spPr>
            <p:txBody>
              <a:bodyPr wrap="none" rtlCol="0">
                <a:spAutoFit/>
              </a:bodyPr>
              <a:lstStyle/>
              <a:p>
                <a:r>
                  <a:rPr lang="en-US" dirty="0">
                    <a:ea typeface="SimSun" panose="02010600030101010101" pitchFamily="2" charset="-122"/>
                    <a:cs typeface="Times New Roman" panose="02020603050405020304" pitchFamily="18" charset="0"/>
                  </a:rPr>
                  <a:t>(</a:t>
                </a:r>
                <a14:m>
                  <m:oMath xmlns:m="http://schemas.openxmlformats.org/officeDocument/2006/math">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oMath>
                </a14:m>
                <a:endParaRPr lang="en-GB" dirty="0"/>
              </a:p>
            </p:txBody>
          </p:sp>
        </mc:Choice>
        <mc:Fallback xmlns="">
          <p:sp>
            <p:nvSpPr>
              <p:cNvPr id="8" name="TextBox 7">
                <a:extLst>
                  <a:ext uri="{FF2B5EF4-FFF2-40B4-BE49-F238E27FC236}">
                    <a16:creationId xmlns:a16="http://schemas.microsoft.com/office/drawing/2014/main" id="{B59ABC69-D2E0-08D5-CD3A-8AF61427226D}"/>
                  </a:ext>
                </a:extLst>
              </p:cNvPr>
              <p:cNvSpPr txBox="1">
                <a:spLocks noRot="1" noChangeAspect="1" noMove="1" noResize="1" noEditPoints="1" noAdjustHandles="1" noChangeArrowheads="1" noChangeShapeType="1" noTextEdit="1"/>
              </p:cNvSpPr>
              <p:nvPr/>
            </p:nvSpPr>
            <p:spPr>
              <a:xfrm>
                <a:off x="1001842" y="3545420"/>
                <a:ext cx="2815322" cy="369332"/>
              </a:xfrm>
              <a:prstGeom prst="rect">
                <a:avLst/>
              </a:prstGeom>
              <a:blipFill>
                <a:blip r:embed="rId6"/>
                <a:stretch>
                  <a:fillRect l="-1732" t="-10000"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D2BB1A-F092-2F5A-2868-EAB69D2339F9}"/>
                  </a:ext>
                </a:extLst>
              </p:cNvPr>
              <p:cNvSpPr txBox="1"/>
              <p:nvPr/>
            </p:nvSpPr>
            <p:spPr>
              <a:xfrm>
                <a:off x="946345" y="3998209"/>
                <a:ext cx="2697598" cy="480644"/>
              </a:xfrm>
              <a:prstGeom prst="rect">
                <a:avLst/>
              </a:prstGeom>
              <a:noFill/>
            </p:spPr>
            <p:txBody>
              <a:bodyPr wrap="none" rtlCol="0">
                <a:spAutoFit/>
              </a:bodyPr>
              <a:lstStyle/>
              <a:p>
                <a:r>
                  <a:rPr lang="en-US" dirty="0">
                    <a:ea typeface="SimSun" panose="02010600030101010101" pitchFamily="2" charset="-122"/>
                    <a:cs typeface="Times New Roman" panose="02020603050405020304" pitchFamily="18" charset="0"/>
                  </a:rPr>
                  <a:t>(</a:t>
                </a:r>
                <a14:m>
                  <m:oMath xmlns:m="http://schemas.openxmlformats.org/officeDocument/2006/math">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f>
                      <m:fPr>
                        <m:ctrlPr>
                          <a:rPr lang="en-GB" i="1" smtClean="0">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r>
                              <a:rPr lang="en-GB" i="1">
                                <a:latin typeface="Cambria Math" panose="02040503050406030204" pitchFamily="18" charset="0"/>
                                <a:ea typeface="SimSun" panose="02010600030101010101" pitchFamily="2" charset="-122"/>
                                <a:cs typeface="Times New Roman" panose="02020603050405020304" pitchFamily="18" charset="0"/>
                              </a:rPr>
                              <m:t> </m:t>
                            </m:r>
                          </m:sub>
                        </m:sSub>
                      </m:num>
                      <m:den>
                        <m:r>
                          <a:rPr lang="en-GB" b="0" i="1" smtClean="0">
                            <a:latin typeface="Cambria Math" panose="02040503050406030204" pitchFamily="18" charset="0"/>
                            <a:ea typeface="SimSun" panose="02010600030101010101" pitchFamily="2" charset="-122"/>
                            <a:cs typeface="Times New Roman" panose="02020603050405020304" pitchFamily="18" charset="0"/>
                          </a:rPr>
                          <m:t>𝑇</m:t>
                        </m:r>
                      </m:den>
                    </m:f>
                  </m:oMath>
                </a14:m>
                <a:endParaRPr lang="en-GB" dirty="0"/>
              </a:p>
            </p:txBody>
          </p:sp>
        </mc:Choice>
        <mc:Fallback xmlns="">
          <p:sp>
            <p:nvSpPr>
              <p:cNvPr id="9" name="TextBox 8">
                <a:extLst>
                  <a:ext uri="{FF2B5EF4-FFF2-40B4-BE49-F238E27FC236}">
                    <a16:creationId xmlns:a16="http://schemas.microsoft.com/office/drawing/2014/main" id="{38D2BB1A-F092-2F5A-2868-EAB69D2339F9}"/>
                  </a:ext>
                </a:extLst>
              </p:cNvPr>
              <p:cNvSpPr txBox="1">
                <a:spLocks noRot="1" noChangeAspect="1" noMove="1" noResize="1" noEditPoints="1" noAdjustHandles="1" noChangeArrowheads="1" noChangeShapeType="1" noTextEdit="1"/>
              </p:cNvSpPr>
              <p:nvPr/>
            </p:nvSpPr>
            <p:spPr>
              <a:xfrm>
                <a:off x="946345" y="3998209"/>
                <a:ext cx="2697598" cy="480644"/>
              </a:xfrm>
              <a:prstGeom prst="rect">
                <a:avLst/>
              </a:prstGeom>
              <a:blipFill>
                <a:blip r:embed="rId7"/>
                <a:stretch>
                  <a:fillRect l="-1806" b="-759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AD24A6-B50C-1D51-3F30-0B036301C029}"/>
                  </a:ext>
                </a:extLst>
              </p:cNvPr>
              <p:cNvSpPr txBox="1"/>
              <p:nvPr/>
            </p:nvSpPr>
            <p:spPr>
              <a:xfrm>
                <a:off x="946345" y="4516228"/>
                <a:ext cx="241681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i="1" smtClean="0">
                          <a:latin typeface="Cambria Math" panose="02040503050406030204" pitchFamily="18" charset="0"/>
                          <a:ea typeface="SimSun" panose="02010600030101010101" pitchFamily="2" charset="-122"/>
                          <a:cs typeface="Times New Roman" panose="02020603050405020304" pitchFamily="18" charset="0"/>
                        </a:rPr>
                        <m:t>𝐷</m:t>
                      </m:r>
                    </m:oMath>
                  </m:oMathPara>
                </a14:m>
                <a:endParaRPr lang="en-GB" dirty="0"/>
              </a:p>
            </p:txBody>
          </p:sp>
        </mc:Choice>
        <mc:Fallback xmlns="">
          <p:sp>
            <p:nvSpPr>
              <p:cNvPr id="10" name="TextBox 9">
                <a:extLst>
                  <a:ext uri="{FF2B5EF4-FFF2-40B4-BE49-F238E27FC236}">
                    <a16:creationId xmlns:a16="http://schemas.microsoft.com/office/drawing/2014/main" id="{E4AD24A6-B50C-1D51-3F30-0B036301C029}"/>
                  </a:ext>
                </a:extLst>
              </p:cNvPr>
              <p:cNvSpPr txBox="1">
                <a:spLocks noRot="1" noChangeAspect="1" noMove="1" noResize="1" noEditPoints="1" noAdjustHandles="1" noChangeArrowheads="1" noChangeShapeType="1" noTextEdit="1"/>
              </p:cNvSpPr>
              <p:nvPr/>
            </p:nvSpPr>
            <p:spPr>
              <a:xfrm>
                <a:off x="946345" y="4516228"/>
                <a:ext cx="2416815"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A31A161-4831-C216-EF1C-19C7C7148B5E}"/>
                  </a:ext>
                </a:extLst>
              </p:cNvPr>
              <p:cNvSpPr txBox="1"/>
              <p:nvPr/>
            </p:nvSpPr>
            <p:spPr>
              <a:xfrm>
                <a:off x="1173298" y="5044331"/>
                <a:ext cx="224369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i="1" smtClean="0">
                          <a:latin typeface="Cambria Math" panose="02040503050406030204" pitchFamily="18" charset="0"/>
                          <a:ea typeface="SimSun" panose="02010600030101010101" pitchFamily="2" charset="-122"/>
                          <a:cs typeface="Times New Roman" panose="02020603050405020304" pitchFamily="18" charset="0"/>
                        </a:rPr>
                        <m:t>𝐷</m:t>
                      </m:r>
                    </m:oMath>
                  </m:oMathPara>
                </a14:m>
                <a:endParaRPr lang="en-GB" dirty="0"/>
              </a:p>
            </p:txBody>
          </p:sp>
        </mc:Choice>
        <mc:Fallback xmlns="">
          <p:sp>
            <p:nvSpPr>
              <p:cNvPr id="12" name="TextBox 11">
                <a:extLst>
                  <a:ext uri="{FF2B5EF4-FFF2-40B4-BE49-F238E27FC236}">
                    <a16:creationId xmlns:a16="http://schemas.microsoft.com/office/drawing/2014/main" id="{8A31A161-4831-C216-EF1C-19C7C7148B5E}"/>
                  </a:ext>
                </a:extLst>
              </p:cNvPr>
              <p:cNvSpPr txBox="1">
                <a:spLocks noRot="1" noChangeAspect="1" noMove="1" noResize="1" noEditPoints="1" noAdjustHandles="1" noChangeArrowheads="1" noChangeShapeType="1" noTextEdit="1"/>
              </p:cNvSpPr>
              <p:nvPr/>
            </p:nvSpPr>
            <p:spPr>
              <a:xfrm>
                <a:off x="1173298" y="5044331"/>
                <a:ext cx="2243691"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CADA6F3-2428-F822-B6B0-4FC0E42986CA}"/>
                  </a:ext>
                </a:extLst>
              </p:cNvPr>
              <p:cNvSpPr txBox="1"/>
              <p:nvPr/>
            </p:nvSpPr>
            <p:spPr>
              <a:xfrm>
                <a:off x="1173298" y="5597433"/>
                <a:ext cx="209300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(1−</m:t>
                      </m:r>
                      <m:r>
                        <a:rPr lang="en-GB" i="1" smtClean="0">
                          <a:latin typeface="Cambria Math" panose="02040503050406030204" pitchFamily="18" charset="0"/>
                          <a:ea typeface="SimSun" panose="02010600030101010101" pitchFamily="2" charset="-122"/>
                          <a:cs typeface="Times New Roman" panose="02020603050405020304" pitchFamily="18" charset="0"/>
                        </a:rPr>
                        <m:t>𝐷</m:t>
                      </m:r>
                      <m:r>
                        <a:rPr lang="en-GB" b="0" i="1" smtClean="0">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GB" dirty="0"/>
              </a:p>
            </p:txBody>
          </p:sp>
        </mc:Choice>
        <mc:Fallback xmlns="">
          <p:sp>
            <p:nvSpPr>
              <p:cNvPr id="13" name="TextBox 12">
                <a:extLst>
                  <a:ext uri="{FF2B5EF4-FFF2-40B4-BE49-F238E27FC236}">
                    <a16:creationId xmlns:a16="http://schemas.microsoft.com/office/drawing/2014/main" id="{ACADA6F3-2428-F822-B6B0-4FC0E42986CA}"/>
                  </a:ext>
                </a:extLst>
              </p:cNvPr>
              <p:cNvSpPr txBox="1">
                <a:spLocks noRot="1" noChangeAspect="1" noMove="1" noResize="1" noEditPoints="1" noAdjustHandles="1" noChangeArrowheads="1" noChangeShapeType="1" noTextEdit="1"/>
              </p:cNvSpPr>
              <p:nvPr/>
            </p:nvSpPr>
            <p:spPr>
              <a:xfrm>
                <a:off x="1173298" y="5597433"/>
                <a:ext cx="2093009" cy="369332"/>
              </a:xfrm>
              <a:prstGeom prst="rect">
                <a:avLst/>
              </a:prstGeom>
              <a:blipFill>
                <a:blip r:embed="rId10"/>
                <a:stretch>
                  <a:fillRect b="-131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B2FD186-9FD0-6890-205A-EB01282DC6AF}"/>
                  </a:ext>
                </a:extLst>
              </p:cNvPr>
              <p:cNvSpPr txBox="1"/>
              <p:nvPr/>
            </p:nvSpPr>
            <p:spPr>
              <a:xfrm>
                <a:off x="290776" y="6050383"/>
                <a:ext cx="5094598"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d>
                        <m:dPr>
                          <m:ctrlPr>
                            <a:rPr lang="en-GB" b="0" i="1" smtClean="0">
                              <a:latin typeface="Cambria Math" panose="02040503050406030204" pitchFamily="18" charset="0"/>
                              <a:ea typeface="SimSun" panose="02010600030101010101" pitchFamily="2" charset="-122"/>
                              <a:cs typeface="Times New Roman" panose="02020603050405020304" pitchFamily="18" charset="0"/>
                            </a:rPr>
                          </m:ctrlPr>
                        </m:dPr>
                        <m:e>
                          <m:r>
                            <a:rPr lang="en-GB" b="0" i="1" smtClean="0">
                              <a:latin typeface="Cambria Math" panose="02040503050406030204" pitchFamily="18" charset="0"/>
                              <a:ea typeface="SimSun" panose="02010600030101010101" pitchFamily="2" charset="-122"/>
                              <a:cs typeface="Times New Roman" panose="02020603050405020304" pitchFamily="18" charset="0"/>
                            </a:rPr>
                            <m:t>1−</m:t>
                          </m:r>
                          <m:r>
                            <a:rPr lang="en-GB" i="1" smtClean="0">
                              <a:latin typeface="Cambria Math" panose="02040503050406030204" pitchFamily="18" charset="0"/>
                              <a:ea typeface="SimSun" panose="02010600030101010101" pitchFamily="2" charset="-122"/>
                              <a:cs typeface="Times New Roman" panose="02020603050405020304" pitchFamily="18" charset="0"/>
                            </a:rPr>
                            <m:t>𝐷</m:t>
                          </m:r>
                        </m:e>
                      </m:d>
                      <m:r>
                        <a:rPr lang="en-GB" b="0" i="1" smtClean="0">
                          <a:latin typeface="Cambria Math" panose="02040503050406030204" pitchFamily="18" charset="0"/>
                          <a:ea typeface="SimSun" panose="02010600030101010101" pitchFamily="2" charset="-122"/>
                          <a:cs typeface="Times New Roman" panose="02020603050405020304" pitchFamily="18" charset="0"/>
                        </a:rPr>
                        <m:t>       ⇒</m:t>
                      </m:r>
                      <m:sSub>
                        <m:sSubPr>
                          <m:ctrlPr>
                            <a:rPr lang="en-US"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r>
                        <a:rPr lang="en-GB" b="1" i="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f>
                        <m:fPr>
                          <m:ctrlP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num>
                        <m:den>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𝟏</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𝑫</m:t>
                          </m:r>
                        </m:den>
                      </m:f>
                    </m:oMath>
                  </m:oMathPara>
                </a14:m>
                <a:endParaRPr lang="en-GB" b="1" dirty="0">
                  <a:solidFill>
                    <a:srgbClr val="FF0000"/>
                  </a:solidFill>
                </a:endParaRPr>
              </a:p>
            </p:txBody>
          </p:sp>
        </mc:Choice>
        <mc:Fallback xmlns="">
          <p:sp>
            <p:nvSpPr>
              <p:cNvPr id="14" name="TextBox 13">
                <a:extLst>
                  <a:ext uri="{FF2B5EF4-FFF2-40B4-BE49-F238E27FC236}">
                    <a16:creationId xmlns:a16="http://schemas.microsoft.com/office/drawing/2014/main" id="{CB2FD186-9FD0-6890-205A-EB01282DC6AF}"/>
                  </a:ext>
                </a:extLst>
              </p:cNvPr>
              <p:cNvSpPr txBox="1">
                <a:spLocks noRot="1" noChangeAspect="1" noMove="1" noResize="1" noEditPoints="1" noAdjustHandles="1" noChangeArrowheads="1" noChangeShapeType="1" noTextEdit="1"/>
              </p:cNvSpPr>
              <p:nvPr/>
            </p:nvSpPr>
            <p:spPr>
              <a:xfrm>
                <a:off x="290776" y="6050383"/>
                <a:ext cx="5094598" cy="609077"/>
              </a:xfrm>
              <a:prstGeom prst="rect">
                <a:avLst/>
              </a:prstGeom>
              <a:blipFill>
                <a:blip r:embed="rId11"/>
                <a:stretch>
                  <a:fillRect/>
                </a:stretch>
              </a:blipFill>
            </p:spPr>
            <p:txBody>
              <a:bodyPr/>
              <a:lstStyle/>
              <a:p>
                <a:r>
                  <a:rPr lang="en-GB">
                    <a:noFill/>
                  </a:rPr>
                  <a:t> </a:t>
                </a:r>
              </a:p>
            </p:txBody>
          </p:sp>
        </mc:Fallback>
      </mc:AlternateContent>
      <p:pic>
        <p:nvPicPr>
          <p:cNvPr id="16" name="Picture 15">
            <a:extLst>
              <a:ext uri="{FF2B5EF4-FFF2-40B4-BE49-F238E27FC236}">
                <a16:creationId xmlns:a16="http://schemas.microsoft.com/office/drawing/2014/main" id="{FF5A8559-194A-06D4-D89F-5AEF0607B6D2}"/>
              </a:ext>
            </a:extLst>
          </p:cNvPr>
          <p:cNvPicPr>
            <a:picLocks noChangeAspect="1"/>
          </p:cNvPicPr>
          <p:nvPr/>
        </p:nvPicPr>
        <p:blipFill>
          <a:blip r:embed="rId12"/>
          <a:stretch>
            <a:fillRect/>
          </a:stretch>
        </p:blipFill>
        <p:spPr>
          <a:xfrm>
            <a:off x="5037117" y="3347961"/>
            <a:ext cx="3934374" cy="3000794"/>
          </a:xfrm>
          <a:prstGeom prst="rect">
            <a:avLst/>
          </a:prstGeom>
        </p:spPr>
      </p:pic>
    </p:spTree>
    <p:extLst>
      <p:ext uri="{BB962C8B-B14F-4D97-AF65-F5344CB8AC3E}">
        <p14:creationId xmlns:p14="http://schemas.microsoft.com/office/powerpoint/2010/main" val="367984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4" grpId="0"/>
      <p:bldP spid="8" grpId="0"/>
      <p:bldP spid="9" grpId="0"/>
      <p:bldP spid="10" grpId="0"/>
      <p:bldP spid="12"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52">
            <a:extLst>
              <a:ext uri="{FF2B5EF4-FFF2-40B4-BE49-F238E27FC236}">
                <a16:creationId xmlns:a16="http://schemas.microsoft.com/office/drawing/2014/main" id="{E6ECBF2A-0B24-356C-D498-A5AB17637E48}"/>
              </a:ext>
            </a:extLst>
          </p:cNvPr>
          <p:cNvSpPr txBox="1">
            <a:spLocks noChangeArrowheads="1"/>
          </p:cNvSpPr>
          <p:nvPr/>
        </p:nvSpPr>
        <p:spPr bwMode="auto">
          <a:xfrm>
            <a:off x="6663101" y="1200428"/>
            <a:ext cx="155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Inductor current</a:t>
            </a:r>
            <a:endParaRPr lang="en-US" altLang="en-US" sz="1400" b="1"/>
          </a:p>
        </p:txBody>
      </p:sp>
      <p:cxnSp>
        <p:nvCxnSpPr>
          <p:cNvPr id="29" name="Straight Arrow Connector 28">
            <a:extLst>
              <a:ext uri="{FF2B5EF4-FFF2-40B4-BE49-F238E27FC236}">
                <a16:creationId xmlns:a16="http://schemas.microsoft.com/office/drawing/2014/main" id="{E09FD076-CFFA-3881-50C1-0C5D769EF791}"/>
              </a:ext>
            </a:extLst>
          </p:cNvPr>
          <p:cNvCxnSpPr/>
          <p:nvPr/>
        </p:nvCxnSpPr>
        <p:spPr>
          <a:xfrm flipV="1">
            <a:off x="975089" y="317912"/>
            <a:ext cx="0" cy="9294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2A0D876-00D7-A410-4F7C-CD04597B9DB4}"/>
                  </a:ext>
                </a:extLst>
              </p:cNvPr>
              <p:cNvSpPr txBox="1"/>
              <p:nvPr/>
            </p:nvSpPr>
            <p:spPr>
              <a:xfrm>
                <a:off x="79834" y="1699768"/>
                <a:ext cx="7557660" cy="959302"/>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Computing the change in current using following expression:</a:t>
                </a:r>
              </a:p>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pPr marL="0" marR="0" indent="0" algn="ctr">
                  <a:lnSpc>
                    <a:spcPts val="1300"/>
                  </a:lnSpc>
                  <a:spcBef>
                    <a:spcPts val="1200"/>
                  </a:spcBef>
                  <a:spcAft>
                    <a:spcPts val="0"/>
                  </a:spcAft>
                  <a:tabLst>
                    <a:tab pos="5715000" algn="r"/>
                  </a:tabLst>
                </a:pPr>
                <a14:m>
                  <m:oMath xmlns:m="http://schemas.openxmlformats.org/officeDocument/2006/math">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𝑣</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=&gt;  </a:t>
                </a:r>
                <a14:m>
                  <m:oMath xmlns:m="http://schemas.openxmlformats.org/officeDocument/2006/math">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𝑣</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800" dirty="0">
                  <a:effectLst/>
                  <a:latin typeface="Times"/>
                  <a:ea typeface="SimSun" panose="02010600030101010101" pitchFamily="2" charset="-122"/>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42A0D876-00D7-A410-4F7C-CD04597B9DB4}"/>
                  </a:ext>
                </a:extLst>
              </p:cNvPr>
              <p:cNvSpPr txBox="1">
                <a:spLocks noRot="1" noChangeAspect="1" noMove="1" noResize="1" noEditPoints="1" noAdjustHandles="1" noChangeArrowheads="1" noChangeShapeType="1" noTextEdit="1"/>
              </p:cNvSpPr>
              <p:nvPr/>
            </p:nvSpPr>
            <p:spPr>
              <a:xfrm>
                <a:off x="79834" y="1699768"/>
                <a:ext cx="7557660" cy="959302"/>
              </a:xfrm>
              <a:prstGeom prst="rect">
                <a:avLst/>
              </a:prstGeom>
              <a:blipFill>
                <a:blip r:embed="rId2"/>
                <a:stretch>
                  <a:fillRect t="-14013" b="-31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35C3A2F-CB2F-A11D-ACEB-44E355EFF118}"/>
                  </a:ext>
                </a:extLst>
              </p:cNvPr>
              <p:cNvSpPr txBox="1"/>
              <p:nvPr/>
            </p:nvSpPr>
            <p:spPr>
              <a:xfrm>
                <a:off x="158750" y="3111513"/>
                <a:ext cx="6136390" cy="1019382"/>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closed:</a:t>
                </a:r>
              </a:p>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14:m>
                  <m:oMath xmlns:m="http://schemas.openxmlformats.org/officeDocument/2006/math">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         ⇒</m:t>
                    </m:r>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oMath>
                </a14:m>
                <a:r>
                  <a:rPr lang="en-US" sz="1800" dirty="0">
                    <a:effectLst/>
                    <a:latin typeface="Times New Roman" panose="02020603050405020304" pitchFamily="18" charset="0"/>
                    <a:ea typeface="SimSun" panose="02010600030101010101" pitchFamily="2" charset="-122"/>
                  </a:rPr>
                  <a:t>	</a:t>
                </a:r>
                <a:r>
                  <a:rPr lang="en-US" dirty="0">
                    <a:effectLst/>
                  </a:rPr>
                  <a:t> </a:t>
                </a:r>
                <a:endParaRPr lang="en-US" dirty="0"/>
              </a:p>
            </p:txBody>
          </p:sp>
        </mc:Choice>
        <mc:Fallback xmlns="">
          <p:sp>
            <p:nvSpPr>
              <p:cNvPr id="33" name="TextBox 32">
                <a:extLst>
                  <a:ext uri="{FF2B5EF4-FFF2-40B4-BE49-F238E27FC236}">
                    <a16:creationId xmlns:a16="http://schemas.microsoft.com/office/drawing/2014/main" id="{135C3A2F-CB2F-A11D-ACEB-44E355EFF118}"/>
                  </a:ext>
                </a:extLst>
              </p:cNvPr>
              <p:cNvSpPr txBox="1">
                <a:spLocks noRot="1" noChangeAspect="1" noMove="1" noResize="1" noEditPoints="1" noAdjustHandles="1" noChangeArrowheads="1" noChangeShapeType="1" noTextEdit="1"/>
              </p:cNvSpPr>
              <p:nvPr/>
            </p:nvSpPr>
            <p:spPr>
              <a:xfrm>
                <a:off x="158750" y="3111513"/>
                <a:ext cx="6136390" cy="1019382"/>
              </a:xfrm>
              <a:prstGeom prst="rect">
                <a:avLst/>
              </a:prstGeom>
              <a:blipFill>
                <a:blip r:embed="rId3"/>
                <a:stretch>
                  <a:fillRect t="-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4262A03-CE96-9B49-D4B5-F23CD11BB94C}"/>
                  </a:ext>
                </a:extLst>
              </p:cNvPr>
              <p:cNvSpPr txBox="1"/>
              <p:nvPr/>
            </p:nvSpPr>
            <p:spPr>
              <a:xfrm>
                <a:off x="335866" y="5990847"/>
                <a:ext cx="8921042" cy="550279"/>
              </a:xfrm>
              <a:prstGeom prst="rect">
                <a:avLst/>
              </a:prstGeom>
              <a:noFill/>
            </p:spPr>
            <p:txBody>
              <a:bodyPr wrap="square">
                <a:spAutoFit/>
              </a:bodyPr>
              <a:lstStyle/>
              <a:p>
                <a14:m>
                  <m:oMath xmlns:m="http://schemas.openxmlformats.org/officeDocument/2006/math">
                    <m:f>
                      <m:fPr>
                        <m:ctrlPr>
                          <a:rPr lang="en-US" i="1" smtClean="0">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r>
                      <a:rPr lang="en-GB" b="0" i="0" smtClean="0">
                        <a:latin typeface="Cambria Math" panose="02040503050406030204" pitchFamily="18" charset="0"/>
                        <a:ea typeface="SimSun" panose="02010600030101010101" pitchFamily="2" charset="-122"/>
                        <a:cs typeface="Times New Roman" panose="02020603050405020304" pitchFamily="18" charset="0"/>
                      </a:rPr>
                      <m:t>                       </m:t>
                    </m:r>
                    <m:r>
                      <a:rPr lang="en-GB" i="1">
                        <a:latin typeface="Cambria Math" panose="02040503050406030204" pitchFamily="18" charset="0"/>
                        <a:ea typeface="SimSun" panose="02010600030101010101" pitchFamily="2" charset="-122"/>
                        <a:cs typeface="Times New Roman" panose="02020603050405020304" pitchFamily="18" charset="0"/>
                      </a:rPr>
                      <m:t>⇒</m:t>
                    </m:r>
                  </m:oMath>
                </a14:m>
                <a:r>
                  <a:rPr lang="en-US" sz="1800" dirty="0">
                    <a:effectLst/>
                    <a:latin typeface="Times New Roman" panose="02020603050405020304" pitchFamily="18" charset="0"/>
                    <a:ea typeface="SimSun" panose="02010600030101010101" pitchFamily="2" charset="-122"/>
                  </a:rPr>
                  <a:t>        </a:t>
                </a:r>
                <a14:m>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smtClean="0">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𝐼𝑁</m:t>
                            </m:r>
                          </m:sub>
                        </m:sSub>
                        <m:r>
                          <a:rPr lang="en-GB" i="1">
                            <a:latin typeface="Cambria Math" panose="02040503050406030204" pitchFamily="18" charset="0"/>
                            <a:ea typeface="SimSun" panose="02010600030101010101" pitchFamily="2" charset="-122"/>
                            <a:cs typeface="Times New Roman" panose="02020603050405020304" pitchFamily="18" charset="0"/>
                          </a:rPr>
                          <m:t> −</m:t>
                        </m:r>
                        <m:r>
                          <a:rPr lang="en-GB" i="1" smtClean="0">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dirty="0">
                    <a:effectLst/>
                  </a:rPr>
                  <a:t> </a:t>
                </a:r>
                <a:endParaRPr lang="en-US" dirty="0"/>
              </a:p>
            </p:txBody>
          </p:sp>
        </mc:Choice>
        <mc:Fallback xmlns="">
          <p:sp>
            <p:nvSpPr>
              <p:cNvPr id="84" name="TextBox 83">
                <a:extLst>
                  <a:ext uri="{FF2B5EF4-FFF2-40B4-BE49-F238E27FC236}">
                    <a16:creationId xmlns:a16="http://schemas.microsoft.com/office/drawing/2014/main" id="{74262A03-CE96-9B49-D4B5-F23CD11BB94C}"/>
                  </a:ext>
                </a:extLst>
              </p:cNvPr>
              <p:cNvSpPr txBox="1">
                <a:spLocks noRot="1" noChangeAspect="1" noMove="1" noResize="1" noEditPoints="1" noAdjustHandles="1" noChangeArrowheads="1" noChangeShapeType="1" noTextEdit="1"/>
              </p:cNvSpPr>
              <p:nvPr/>
            </p:nvSpPr>
            <p:spPr>
              <a:xfrm>
                <a:off x="335866" y="5990847"/>
                <a:ext cx="8921042" cy="550279"/>
              </a:xfrm>
              <a:prstGeom prst="rect">
                <a:avLst/>
              </a:prstGeom>
              <a:blipFill>
                <a:blip r:embed="rId4"/>
                <a:stretch>
                  <a:fillRect/>
                </a:stretch>
              </a:blipFill>
            </p:spPr>
            <p:txBody>
              <a:bodyPr/>
              <a:lstStyle/>
              <a:p>
                <a:r>
                  <a:rPr lang="en-GB">
                    <a:noFill/>
                  </a:rPr>
                  <a:t> </a:t>
                </a:r>
              </a:p>
            </p:txBody>
          </p:sp>
        </mc:Fallback>
      </mc:AlternateContent>
      <p:sp>
        <p:nvSpPr>
          <p:cNvPr id="133" name="Text Box 4">
            <a:extLst>
              <a:ext uri="{FF2B5EF4-FFF2-40B4-BE49-F238E27FC236}">
                <a16:creationId xmlns:a16="http://schemas.microsoft.com/office/drawing/2014/main" id="{A662ADEC-E548-AC64-788D-3682A3D1F081}"/>
              </a:ext>
            </a:extLst>
          </p:cNvPr>
          <p:cNvSpPr txBox="1">
            <a:spLocks noChangeArrowheads="1"/>
          </p:cNvSpPr>
          <p:nvPr/>
        </p:nvSpPr>
        <p:spPr bwMode="auto">
          <a:xfrm>
            <a:off x="158750" y="-3147"/>
            <a:ext cx="47500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Boost converter Inductor Current Change</a:t>
            </a:r>
            <a:endParaRPr lang="en-US" altLang="en-US" sz="1800" dirty="0"/>
          </a:p>
        </p:txBody>
      </p:sp>
      <p:grpSp>
        <p:nvGrpSpPr>
          <p:cNvPr id="2" name="Group 1">
            <a:extLst>
              <a:ext uri="{FF2B5EF4-FFF2-40B4-BE49-F238E27FC236}">
                <a16:creationId xmlns:a16="http://schemas.microsoft.com/office/drawing/2014/main" id="{01CE8449-5535-E9CB-E684-028E6C7F8396}"/>
              </a:ext>
            </a:extLst>
          </p:cNvPr>
          <p:cNvGrpSpPr>
            <a:grpSpLocks/>
          </p:cNvGrpSpPr>
          <p:nvPr/>
        </p:nvGrpSpPr>
        <p:grpSpPr bwMode="auto">
          <a:xfrm>
            <a:off x="975089" y="291896"/>
            <a:ext cx="7921944" cy="955428"/>
            <a:chOff x="395288" y="4129335"/>
            <a:chExt cx="7921625" cy="955428"/>
          </a:xfrm>
        </p:grpSpPr>
        <p:sp>
          <p:nvSpPr>
            <p:cNvPr id="3" name="Line 63">
              <a:extLst>
                <a:ext uri="{FF2B5EF4-FFF2-40B4-BE49-F238E27FC236}">
                  <a16:creationId xmlns:a16="http://schemas.microsoft.com/office/drawing/2014/main" id="{C9958325-015A-E394-2315-E7AF1EB8CB8A}"/>
                </a:ext>
              </a:extLst>
            </p:cNvPr>
            <p:cNvSpPr>
              <a:spLocks noChangeShapeType="1"/>
            </p:cNvSpPr>
            <p:nvPr/>
          </p:nvSpPr>
          <p:spPr bwMode="auto">
            <a:xfrm>
              <a:off x="395288" y="5084763"/>
              <a:ext cx="7921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67">
              <a:extLst>
                <a:ext uri="{FF2B5EF4-FFF2-40B4-BE49-F238E27FC236}">
                  <a16:creationId xmlns:a16="http://schemas.microsoft.com/office/drawing/2014/main" id="{97453314-ECBB-86E6-E2E2-B882355D2E0E}"/>
                </a:ext>
              </a:extLst>
            </p:cNvPr>
            <p:cNvSpPr>
              <a:spLocks/>
            </p:cNvSpPr>
            <p:nvPr/>
          </p:nvSpPr>
          <p:spPr bwMode="auto">
            <a:xfrm>
              <a:off x="395288" y="4652963"/>
              <a:ext cx="7345362" cy="360362"/>
            </a:xfrm>
            <a:custGeom>
              <a:avLst/>
              <a:gdLst>
                <a:gd name="T0" fmla="*/ 0 w 4627"/>
                <a:gd name="T1" fmla="*/ 2147483646 h 408"/>
                <a:gd name="T2" fmla="*/ 2147483646 w 4627"/>
                <a:gd name="T3" fmla="*/ 2147483646 h 408"/>
                <a:gd name="T4" fmla="*/ 2147483646 w 4627"/>
                <a:gd name="T5" fmla="*/ 0 h 408"/>
                <a:gd name="T6" fmla="*/ 2147483646 w 4627"/>
                <a:gd name="T7" fmla="*/ 2147483646 h 408"/>
                <a:gd name="T8" fmla="*/ 2147483646 w 4627"/>
                <a:gd name="T9" fmla="*/ 0 h 408"/>
                <a:gd name="T10" fmla="*/ 2147483646 w 4627"/>
                <a:gd name="T11" fmla="*/ 2147483646 h 408"/>
                <a:gd name="T12" fmla="*/ 2147483646 w 4627"/>
                <a:gd name="T13" fmla="*/ 0 h 408"/>
                <a:gd name="T14" fmla="*/ 2147483646 w 4627"/>
                <a:gd name="T15" fmla="*/ 2147483646 h 408"/>
                <a:gd name="T16" fmla="*/ 2147483646 w 4627"/>
                <a:gd name="T17" fmla="*/ 0 h 408"/>
                <a:gd name="T18" fmla="*/ 2147483646 w 4627"/>
                <a:gd name="T19" fmla="*/ 2147483646 h 408"/>
                <a:gd name="T20" fmla="*/ 2147483646 w 4627"/>
                <a:gd name="T21" fmla="*/ 2147483646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627" h="408">
                  <a:moveTo>
                    <a:pt x="0" y="318"/>
                  </a:moveTo>
                  <a:lnTo>
                    <a:pt x="136" y="408"/>
                  </a:lnTo>
                  <a:lnTo>
                    <a:pt x="771" y="0"/>
                  </a:lnTo>
                  <a:lnTo>
                    <a:pt x="1225" y="408"/>
                  </a:lnTo>
                  <a:lnTo>
                    <a:pt x="1860" y="0"/>
                  </a:lnTo>
                  <a:lnTo>
                    <a:pt x="2313" y="408"/>
                  </a:lnTo>
                  <a:lnTo>
                    <a:pt x="2949" y="0"/>
                  </a:lnTo>
                  <a:lnTo>
                    <a:pt x="3402" y="408"/>
                  </a:lnTo>
                  <a:lnTo>
                    <a:pt x="4037" y="0"/>
                  </a:lnTo>
                  <a:lnTo>
                    <a:pt x="4491" y="408"/>
                  </a:lnTo>
                  <a:lnTo>
                    <a:pt x="4627" y="318"/>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75">
              <a:extLst>
                <a:ext uri="{FF2B5EF4-FFF2-40B4-BE49-F238E27FC236}">
                  <a16:creationId xmlns:a16="http://schemas.microsoft.com/office/drawing/2014/main" id="{DDA3BCC6-5273-7BE7-005A-5F4818C8D50F}"/>
                </a:ext>
              </a:extLst>
            </p:cNvPr>
            <p:cNvSpPr txBox="1">
              <a:spLocks noChangeArrowheads="1"/>
            </p:cNvSpPr>
            <p:nvPr/>
          </p:nvSpPr>
          <p:spPr bwMode="auto">
            <a:xfrm>
              <a:off x="6672716" y="4129335"/>
              <a:ext cx="15792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dirty="0">
                  <a:solidFill>
                    <a:srgbClr val="0000FF"/>
                  </a:solidFill>
                  <a:latin typeface="Times New Roman" panose="02020603050405020304" pitchFamily="18" charset="0"/>
                </a:rPr>
                <a:t>Inductor current</a:t>
              </a:r>
            </a:p>
            <a:p>
              <a:pPr eaLnBrk="1" hangingPunct="1">
                <a:spcBef>
                  <a:spcPct val="0"/>
                </a:spcBef>
                <a:buFontTx/>
                <a:buNone/>
              </a:pPr>
              <a:r>
                <a:rPr lang="en-GB" altLang="en-US" sz="1400" b="1" dirty="0">
                  <a:solidFill>
                    <a:srgbClr val="0000FF"/>
                  </a:solidFill>
                  <a:latin typeface="Times New Roman" panose="02020603050405020304" pitchFamily="18" charset="0"/>
                </a:rPr>
                <a:t>(= supply current)</a:t>
              </a:r>
              <a:endParaRPr lang="en-US" altLang="en-US" sz="1400" b="1" dirty="0">
                <a:solidFill>
                  <a:srgbClr val="0000FF"/>
                </a:solidFill>
                <a:latin typeface="Times New Roman" panose="02020603050405020304" pitchFamily="18" charset="0"/>
              </a:endParaRPr>
            </a:p>
          </p:txBody>
        </p:sp>
      </p:grpSp>
      <p:pic>
        <p:nvPicPr>
          <p:cNvPr id="141" name="Picture 140">
            <a:extLst>
              <a:ext uri="{FF2B5EF4-FFF2-40B4-BE49-F238E27FC236}">
                <a16:creationId xmlns:a16="http://schemas.microsoft.com/office/drawing/2014/main" id="{9783FE7D-FFBB-7325-590F-A94281597F23}"/>
              </a:ext>
            </a:extLst>
          </p:cNvPr>
          <p:cNvPicPr>
            <a:picLocks noChangeAspect="1"/>
          </p:cNvPicPr>
          <p:nvPr/>
        </p:nvPicPr>
        <p:blipFill>
          <a:blip r:embed="rId5"/>
          <a:stretch>
            <a:fillRect/>
          </a:stretch>
        </p:blipFill>
        <p:spPr>
          <a:xfrm>
            <a:off x="6629455" y="2734761"/>
            <a:ext cx="2371421" cy="1605554"/>
          </a:xfrm>
          <a:prstGeom prst="rect">
            <a:avLst/>
          </a:prstGeom>
        </p:spPr>
      </p:pic>
      <p:pic>
        <p:nvPicPr>
          <p:cNvPr id="177" name="Picture 176">
            <a:extLst>
              <a:ext uri="{FF2B5EF4-FFF2-40B4-BE49-F238E27FC236}">
                <a16:creationId xmlns:a16="http://schemas.microsoft.com/office/drawing/2014/main" id="{2001F8EA-8BDF-476E-BA26-5B66D1BB304D}"/>
              </a:ext>
            </a:extLst>
          </p:cNvPr>
          <p:cNvPicPr>
            <a:picLocks noChangeAspect="1"/>
          </p:cNvPicPr>
          <p:nvPr/>
        </p:nvPicPr>
        <p:blipFill>
          <a:blip r:embed="rId6"/>
          <a:stretch>
            <a:fillRect/>
          </a:stretch>
        </p:blipFill>
        <p:spPr>
          <a:xfrm>
            <a:off x="6732767" y="4471136"/>
            <a:ext cx="2631661" cy="1486718"/>
          </a:xfrm>
          <a:prstGeom prst="rect">
            <a:avLst/>
          </a:prstGeom>
        </p:spPr>
      </p:pic>
      <p:sp>
        <p:nvSpPr>
          <p:cNvPr id="8" name="TextBox 7">
            <a:extLst>
              <a:ext uri="{FF2B5EF4-FFF2-40B4-BE49-F238E27FC236}">
                <a16:creationId xmlns:a16="http://schemas.microsoft.com/office/drawing/2014/main" id="{4F39BC4B-A923-113A-79C4-891E36798703}"/>
              </a:ext>
            </a:extLst>
          </p:cNvPr>
          <p:cNvSpPr txBox="1"/>
          <p:nvPr/>
        </p:nvSpPr>
        <p:spPr>
          <a:xfrm>
            <a:off x="0" y="5348974"/>
            <a:ext cx="2924085" cy="271485"/>
          </a:xfrm>
          <a:prstGeom prst="rect">
            <a:avLst/>
          </a:prstGeom>
          <a:noFill/>
        </p:spPr>
        <p:txBody>
          <a:bodyPr wrap="square">
            <a:spAutoFit/>
          </a:bodyPr>
          <a:lstStyle/>
          <a:p>
            <a:pPr marL="685800" marR="0" indent="0">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open:</a:t>
            </a:r>
            <a:endParaRPr lang="en-US" sz="1800" dirty="0">
              <a:effectLst/>
              <a:latin typeface="Times"/>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4652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8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A48359D-A51A-A64C-006E-255C8A4666C1}"/>
                  </a:ext>
                </a:extLst>
              </p:cNvPr>
              <p:cNvSpPr txBox="1"/>
              <p:nvPr/>
            </p:nvSpPr>
            <p:spPr>
              <a:xfrm>
                <a:off x="975089" y="1408047"/>
                <a:ext cx="7067321" cy="557460"/>
              </a:xfrm>
              <a:prstGeom prst="rect">
                <a:avLst/>
              </a:prstGeom>
              <a:noFill/>
            </p:spPr>
            <p:txBody>
              <a:bodyPr wrap="square">
                <a:spAutoFit/>
              </a:bodyPr>
              <a:lstStyle/>
              <a:p>
                <a:pPr marR="0" lvl="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Net change in inductor current over one period is zero.</a:t>
                </a:r>
                <a:endParaRPr lang="en-US" sz="1800" dirty="0">
                  <a:effectLst/>
                  <a:latin typeface="Times"/>
                  <a:ea typeface="SimSun"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=0. </m:t>
                      </m:r>
                    </m:oMath>
                  </m:oMathPara>
                </a14:m>
                <a:endParaRPr lang="en-US" dirty="0"/>
              </a:p>
            </p:txBody>
          </p:sp>
        </mc:Choice>
        <mc:Fallback xmlns="">
          <p:sp>
            <p:nvSpPr>
              <p:cNvPr id="5" name="TextBox 4">
                <a:extLst>
                  <a:ext uri="{FF2B5EF4-FFF2-40B4-BE49-F238E27FC236}">
                    <a16:creationId xmlns:a16="http://schemas.microsoft.com/office/drawing/2014/main" id="{CA48359D-A51A-A64C-006E-255C8A4666C1}"/>
                  </a:ext>
                </a:extLst>
              </p:cNvPr>
              <p:cNvSpPr txBox="1">
                <a:spLocks noRot="1" noChangeAspect="1" noMove="1" noResize="1" noEditPoints="1" noAdjustHandles="1" noChangeArrowheads="1" noChangeShapeType="1" noTextEdit="1"/>
              </p:cNvSpPr>
              <p:nvPr/>
            </p:nvSpPr>
            <p:spPr>
              <a:xfrm>
                <a:off x="975089" y="1408047"/>
                <a:ext cx="7067321" cy="557460"/>
              </a:xfrm>
              <a:prstGeom prst="rect">
                <a:avLst/>
              </a:prstGeom>
              <a:blipFill>
                <a:blip r:embed="rId2"/>
                <a:stretch>
                  <a:fillRect l="-717" t="-20000" b="-6667"/>
                </a:stretch>
              </a:blipFill>
            </p:spPr>
            <p:txBody>
              <a:bodyPr/>
              <a:lstStyle/>
              <a:p>
                <a:r>
                  <a:rPr lang="en-US">
                    <a:noFill/>
                  </a:rPr>
                  <a:t> </a:t>
                </a:r>
              </a:p>
            </p:txBody>
          </p:sp>
        </mc:Fallback>
      </mc:AlternateContent>
      <p:sp>
        <p:nvSpPr>
          <p:cNvPr id="133" name="Text Box 4">
            <a:extLst>
              <a:ext uri="{FF2B5EF4-FFF2-40B4-BE49-F238E27FC236}">
                <a16:creationId xmlns:a16="http://schemas.microsoft.com/office/drawing/2014/main" id="{A662ADEC-E548-AC64-788D-3682A3D1F081}"/>
              </a:ext>
            </a:extLst>
          </p:cNvPr>
          <p:cNvSpPr txBox="1">
            <a:spLocks noChangeArrowheads="1"/>
          </p:cNvSpPr>
          <p:nvPr/>
        </p:nvSpPr>
        <p:spPr bwMode="auto">
          <a:xfrm>
            <a:off x="158750" y="65088"/>
            <a:ext cx="52586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Boost converter Input/Output Voltage Relation</a:t>
            </a:r>
            <a:endParaRPr lang="en-US" altLang="en-US" sz="1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A79865A-96B2-A339-1360-85099AE762E3}"/>
                  </a:ext>
                </a:extLst>
              </p:cNvPr>
              <p:cNvSpPr txBox="1"/>
              <p:nvPr/>
            </p:nvSpPr>
            <p:spPr>
              <a:xfrm>
                <a:off x="-66738" y="3563275"/>
                <a:ext cx="3962096" cy="4942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𝑉</m:t>
                              </m:r>
                            </m:e>
                            <m:sub>
                              <m:r>
                                <a:rPr lang="en-GB" sz="1400" i="1">
                                  <a:latin typeface="Cambria Math" panose="02040503050406030204" pitchFamily="18" charset="0"/>
                                  <a:ea typeface="SimSun" panose="02010600030101010101" pitchFamily="2" charset="-122"/>
                                  <a:cs typeface="Times New Roman" panose="02020603050405020304" pitchFamily="18" charset="0"/>
                                </a:rPr>
                                <m:t>𝐼𝑁</m:t>
                              </m:r>
                            </m:sub>
                          </m:sSub>
                        </m:num>
                        <m:den>
                          <m:r>
                            <a:rPr lang="en-US" sz="1400" i="1">
                              <a:latin typeface="Cambria Math" panose="02040503050406030204" pitchFamily="18" charset="0"/>
                              <a:ea typeface="SimSun" panose="02010600030101010101" pitchFamily="2" charset="-122"/>
                              <a:cs typeface="Times New Roman" panose="02020603050405020304" pitchFamily="18" charset="0"/>
                            </a:rPr>
                            <m:t>𝐿</m:t>
                          </m:r>
                        </m:den>
                      </m:f>
                      <m:r>
                        <a:rPr lang="en-US" sz="1400"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𝑡</m:t>
                          </m:r>
                        </m:e>
                        <m:sub>
                          <m:r>
                            <a:rPr lang="en-US" sz="1400" i="1">
                              <a:latin typeface="Cambria Math" panose="02040503050406030204" pitchFamily="18" charset="0"/>
                              <a:ea typeface="SimSun" panose="02010600030101010101" pitchFamily="2" charset="-122"/>
                              <a:cs typeface="Times New Roman" panose="02020603050405020304" pitchFamily="18" charset="0"/>
                            </a:rPr>
                            <m:t>𝑜𝑛</m:t>
                          </m:r>
                        </m:sub>
                      </m:sSub>
                      <m:r>
                        <a:rPr lang="en-US" sz="1400" i="0">
                          <a:latin typeface="Cambria Math" panose="02040503050406030204" pitchFamily="18" charset="0"/>
                        </a:rPr>
                        <m:t>+</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𝑉</m:t>
                              </m:r>
                            </m:e>
                            <m:sub>
                              <m:r>
                                <a:rPr lang="en-GB" sz="1400" i="1">
                                  <a:latin typeface="Cambria Math" panose="02040503050406030204" pitchFamily="18" charset="0"/>
                                  <a:ea typeface="SimSun" panose="02010600030101010101" pitchFamily="2" charset="-122"/>
                                  <a:cs typeface="Times New Roman" panose="02020603050405020304" pitchFamily="18" charset="0"/>
                                </a:rPr>
                                <m:t>𝐼𝑁</m:t>
                              </m:r>
                            </m:sub>
                          </m:sSub>
                          <m:r>
                            <a:rPr lang="en-GB" sz="1400"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𝑉</m:t>
                              </m:r>
                            </m:e>
                            <m:sub>
                              <m:r>
                                <a:rPr lang="en-GB" sz="1400" i="1">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400" i="1">
                              <a:latin typeface="Cambria Math" panose="02040503050406030204" pitchFamily="18" charset="0"/>
                              <a:ea typeface="SimSun" panose="02010600030101010101" pitchFamily="2" charset="-122"/>
                              <a:cs typeface="Times New Roman" panose="02020603050405020304" pitchFamily="18" charset="0"/>
                            </a:rPr>
                            <m:t>𝐿</m:t>
                          </m:r>
                        </m:den>
                      </m:f>
                      <m:r>
                        <a:rPr lang="en-US" sz="1400"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1">
                              <a:latin typeface="Cambria Math" panose="02040503050406030204" pitchFamily="18" charset="0"/>
                              <a:ea typeface="SimSun" panose="02010600030101010101" pitchFamily="2" charset="-122"/>
                              <a:cs typeface="Times New Roman" panose="02020603050405020304" pitchFamily="18" charset="0"/>
                            </a:rPr>
                            <m:t>𝑇</m:t>
                          </m:r>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1">
                              <a:latin typeface="Cambria Math" panose="02040503050406030204" pitchFamily="18" charset="0"/>
                              <a:ea typeface="SimSun" panose="02010600030101010101" pitchFamily="2" charset="-122"/>
                              <a:cs typeface="Times New Roman" panose="02020603050405020304" pitchFamily="18" charset="0"/>
                            </a:rPr>
                            <m:t>𝑡</m:t>
                          </m:r>
                        </m:e>
                        <m:sub>
                          <m:r>
                            <a:rPr lang="en-US" sz="1400" i="1">
                              <a:latin typeface="Cambria Math" panose="02040503050406030204" pitchFamily="18" charset="0"/>
                              <a:ea typeface="SimSun" panose="02010600030101010101" pitchFamily="2" charset="-122"/>
                              <a:cs typeface="Times New Roman" panose="02020603050405020304" pitchFamily="18" charset="0"/>
                            </a:rPr>
                            <m:t>𝑜𝑛</m:t>
                          </m:r>
                        </m:sub>
                      </m:sSub>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0">
                          <a:latin typeface="Cambria Math" panose="02040503050406030204" pitchFamily="18" charset="0"/>
                        </a:rPr>
                        <m:t>=0</m:t>
                      </m:r>
                    </m:oMath>
                  </m:oMathPara>
                </a14:m>
                <a:endParaRPr lang="en-US" sz="1400" dirty="0"/>
              </a:p>
            </p:txBody>
          </p:sp>
        </mc:Choice>
        <mc:Fallback xmlns="">
          <p:sp>
            <p:nvSpPr>
              <p:cNvPr id="6" name="TextBox 5">
                <a:extLst>
                  <a:ext uri="{FF2B5EF4-FFF2-40B4-BE49-F238E27FC236}">
                    <a16:creationId xmlns:a16="http://schemas.microsoft.com/office/drawing/2014/main" id="{3A79865A-96B2-A339-1360-85099AE762E3}"/>
                  </a:ext>
                </a:extLst>
              </p:cNvPr>
              <p:cNvSpPr txBox="1">
                <a:spLocks noRot="1" noChangeAspect="1" noMove="1" noResize="1" noEditPoints="1" noAdjustHandles="1" noChangeArrowheads="1" noChangeShapeType="1" noTextEdit="1"/>
              </p:cNvSpPr>
              <p:nvPr/>
            </p:nvSpPr>
            <p:spPr>
              <a:xfrm>
                <a:off x="-66738" y="3563275"/>
                <a:ext cx="3962096" cy="494238"/>
              </a:xfrm>
              <a:prstGeom prst="rect">
                <a:avLst/>
              </a:prstGeom>
              <a:blipFill>
                <a:blip r:embed="rId3"/>
                <a:stretch>
                  <a:fillRect b="-123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4D1EFD9-B404-E94D-DF9C-6B2563EBE1DF}"/>
                  </a:ext>
                </a:extLst>
              </p:cNvPr>
              <p:cNvSpPr txBox="1"/>
              <p:nvPr/>
            </p:nvSpPr>
            <p:spPr>
              <a:xfrm>
                <a:off x="29027" y="4267286"/>
                <a:ext cx="3962096" cy="460832"/>
              </a:xfrm>
              <a:prstGeom prst="rect">
                <a:avLst/>
              </a:prstGeom>
              <a:noFill/>
            </p:spPr>
            <p:txBody>
              <a:bodyPr wrap="square">
                <a:spAutoFit/>
              </a:bodyPr>
              <a:lstStyle/>
              <a:p>
                <a14:m>
                  <m:oMath xmlns:m="http://schemas.openxmlformats.org/officeDocument/2006/math">
                    <m:d>
                      <m:dPr>
                        <m:begChr m:val=""/>
                        <m:ctrlPr>
                          <a:rPr lang="en-US" sz="1600" i="1" smtClean="0">
                            <a:solidFill>
                              <a:srgbClr val="836967"/>
                            </a:solidFill>
                            <a:latin typeface="Cambria Math" panose="02040503050406030204" pitchFamily="18" charset="0"/>
                          </a:rPr>
                        </m:ctrlPr>
                      </m:dPr>
                      <m:e>
                        <m:f>
                          <m:fPr>
                            <m:ctrlPr>
                              <a:rPr lang="en-US" sz="1600" i="1">
                                <a:solidFill>
                                  <a:srgbClr val="836967"/>
                                </a:solidFill>
                                <a:latin typeface="Cambria Math" panose="02040503050406030204" pitchFamily="18" charset="0"/>
                              </a:rPr>
                            </m:ctrlPr>
                          </m:fPr>
                          <m:num>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GB" sz="1600" b="0" i="1" smtClean="0">
                                    <a:latin typeface="Cambria Math" panose="02040503050406030204" pitchFamily="18" charset="0"/>
                                  </a:rPr>
                                  <m:t>𝑂𝑈𝑇</m:t>
                                </m:r>
                              </m:sub>
                            </m:sSub>
                          </m:num>
                          <m:den>
                            <m:r>
                              <a:rPr lang="en-US" sz="1600" i="1">
                                <a:latin typeface="Cambria Math" panose="02040503050406030204" pitchFamily="18" charset="0"/>
                              </a:rPr>
                              <m:t>𝐿</m:t>
                            </m:r>
                          </m:den>
                        </m:f>
                        <m:r>
                          <a:rPr lang="en-US" sz="1600" i="0">
                            <a:latin typeface="Cambria Math" panose="02040503050406030204" pitchFamily="18" charset="0"/>
                          </a:rPr>
                          <m:t> × </m:t>
                        </m:r>
                        <m:sSub>
                          <m:sSubPr>
                            <m:ctrlPr>
                              <a:rPr lang="en-US" sz="1600" i="1">
                                <a:solidFill>
                                  <a:srgbClr val="836967"/>
                                </a:solidFill>
                                <a:latin typeface="Cambria Math" panose="02040503050406030204" pitchFamily="18" charset="0"/>
                              </a:rPr>
                            </m:ctrlPr>
                          </m:sSubPr>
                          <m:e>
                            <m:d>
                              <m:dPr>
                                <m:endChr m:val=""/>
                                <m:ctrlPr>
                                  <a:rPr lang="en-US" sz="1600" i="1">
                                    <a:latin typeface="Cambria Math" panose="02040503050406030204" pitchFamily="18" charset="0"/>
                                  </a:rPr>
                                </m:ctrlPr>
                              </m:dPr>
                              <m:e>
                                <m:r>
                                  <a:rPr lang="en-US" sz="1600" i="1">
                                    <a:latin typeface="Cambria Math" panose="02040503050406030204" pitchFamily="18" charset="0"/>
                                  </a:rPr>
                                  <m:t>𝑇</m:t>
                                </m:r>
                                <m:r>
                                  <a:rPr lang="en-US" sz="1600" i="0">
                                    <a:latin typeface="Cambria Math" panose="02040503050406030204" pitchFamily="18" charset="0"/>
                                  </a:rPr>
                                  <m:t>−</m:t>
                                </m:r>
                                <m:r>
                                  <a:rPr lang="en-US" sz="1600" i="1">
                                    <a:latin typeface="Cambria Math" panose="02040503050406030204" pitchFamily="18" charset="0"/>
                                  </a:rPr>
                                  <m:t>𝑡</m:t>
                                </m:r>
                              </m:e>
                            </m:d>
                          </m:e>
                          <m:sub>
                            <m:r>
                              <a:rPr lang="en-US" sz="1600" i="1">
                                <a:latin typeface="Cambria Math" panose="02040503050406030204" pitchFamily="18" charset="0"/>
                              </a:rPr>
                              <m:t>𝑜𝑛</m:t>
                            </m:r>
                          </m:sub>
                        </m:sSub>
                      </m:e>
                    </m:d>
                    <m:r>
                      <a:rPr lang="en-US" sz="1600" i="0">
                        <a:latin typeface="Cambria Math" panose="02040503050406030204" pitchFamily="18" charset="0"/>
                      </a:rPr>
                      <m:t>= </m:t>
                    </m:r>
                    <m:f>
                      <m:fPr>
                        <m:ctrlPr>
                          <a:rPr lang="en-US" sz="1600" i="1">
                            <a:solidFill>
                              <a:srgbClr val="836967"/>
                            </a:solidFill>
                            <a:latin typeface="Cambria Math" panose="02040503050406030204" pitchFamily="18" charset="0"/>
                          </a:rPr>
                        </m:ctrlPr>
                      </m:fPr>
                      <m:num>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GB" sz="1600" b="0" i="1" smtClean="0">
                                <a:latin typeface="Cambria Math" panose="02040503050406030204" pitchFamily="18" charset="0"/>
                              </a:rPr>
                              <m:t>𝐼𝑁</m:t>
                            </m:r>
                          </m:sub>
                        </m:sSub>
                      </m:num>
                      <m:den>
                        <m:r>
                          <a:rPr lang="en-US" sz="1600" i="1">
                            <a:latin typeface="Cambria Math" panose="02040503050406030204" pitchFamily="18" charset="0"/>
                          </a:rPr>
                          <m:t>𝐿</m:t>
                        </m:r>
                      </m:den>
                    </m:f>
                    <m:r>
                      <a:rPr lang="en-US" sz="1600" i="0">
                        <a:latin typeface="Cambria Math" panose="02040503050406030204" pitchFamily="18" charset="0"/>
                      </a:rPr>
                      <m:t> × </m:t>
                    </m:r>
                    <m:r>
                      <a:rPr lang="en-GB" sz="1600" b="0" i="0" smtClean="0">
                        <a:latin typeface="Cambria Math" panose="02040503050406030204" pitchFamily="18" charset="0"/>
                      </a:rPr>
                      <m:t>(</m:t>
                    </m:r>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𝑜𝑛</m:t>
                        </m:r>
                      </m:sub>
                    </m:sSub>
                  </m:oMath>
                </a14:m>
                <a:r>
                  <a:rPr lang="en-US" sz="1600" dirty="0"/>
                  <a:t> </a:t>
                </a:r>
                <a14:m>
                  <m:oMath xmlns:m="http://schemas.openxmlformats.org/officeDocument/2006/math">
                    <m:sSub>
                      <m:sSubPr>
                        <m:ctrlPr>
                          <a:rPr lang="en-US" sz="1600" i="1">
                            <a:latin typeface="Cambria Math" panose="02040503050406030204" pitchFamily="18" charset="0"/>
                          </a:rPr>
                        </m:ctrlPr>
                      </m:sSubPr>
                      <m:e>
                        <m:r>
                          <a:rPr lang="en-GB" sz="1600" b="0" i="1" smtClean="0">
                            <a:latin typeface="Cambria Math" panose="02040503050406030204" pitchFamily="18" charset="0"/>
                          </a:rPr>
                          <m:t>+ </m:t>
                        </m:r>
                        <m:r>
                          <a:rPr lang="en-US" sz="1600" i="1">
                            <a:latin typeface="Cambria Math" panose="02040503050406030204" pitchFamily="18" charset="0"/>
                            <a:ea typeface="SimSun" panose="02010600030101010101" pitchFamily="2" charset="-122"/>
                            <a:cs typeface="Times New Roman" panose="02020603050405020304" pitchFamily="18" charset="0"/>
                          </a:rPr>
                          <m:t>𝑇</m:t>
                        </m:r>
                        <m:r>
                          <a:rPr lang="en-US" sz="1600" i="1">
                            <a:latin typeface="Cambria Math" panose="02040503050406030204" pitchFamily="18" charset="0"/>
                            <a:ea typeface="SimSun" panose="02010600030101010101" pitchFamily="2" charset="-122"/>
                            <a:cs typeface="Times New Roman" panose="02020603050405020304" pitchFamily="18" charset="0"/>
                          </a:rPr>
                          <m:t>−</m:t>
                        </m:r>
                        <m:r>
                          <a:rPr lang="en-US" sz="1600" i="1">
                            <a:latin typeface="Cambria Math" panose="02040503050406030204" pitchFamily="18" charset="0"/>
                            <a:ea typeface="SimSun" panose="02010600030101010101" pitchFamily="2" charset="-122"/>
                            <a:cs typeface="Times New Roman" panose="02020603050405020304" pitchFamily="18" charset="0"/>
                          </a:rPr>
                          <m:t>𝑡</m:t>
                        </m:r>
                      </m:e>
                      <m:sub>
                        <m:r>
                          <a:rPr lang="en-US" sz="1600" i="1">
                            <a:latin typeface="Cambria Math" panose="02040503050406030204" pitchFamily="18" charset="0"/>
                            <a:ea typeface="SimSun" panose="02010600030101010101" pitchFamily="2" charset="-122"/>
                            <a:cs typeface="Times New Roman" panose="02020603050405020304" pitchFamily="18" charset="0"/>
                          </a:rPr>
                          <m:t>𝑜𝑛</m:t>
                        </m:r>
                      </m:sub>
                    </m:sSub>
                  </m:oMath>
                </a14:m>
                <a:r>
                  <a:rPr lang="en-US" sz="1600" dirty="0"/>
                  <a:t>)</a:t>
                </a:r>
              </a:p>
            </p:txBody>
          </p:sp>
        </mc:Choice>
        <mc:Fallback xmlns="">
          <p:sp>
            <p:nvSpPr>
              <p:cNvPr id="9" name="TextBox 8">
                <a:extLst>
                  <a:ext uri="{FF2B5EF4-FFF2-40B4-BE49-F238E27FC236}">
                    <a16:creationId xmlns:a16="http://schemas.microsoft.com/office/drawing/2014/main" id="{04D1EFD9-B404-E94D-DF9C-6B2563EBE1DF}"/>
                  </a:ext>
                </a:extLst>
              </p:cNvPr>
              <p:cNvSpPr txBox="1">
                <a:spLocks noRot="1" noChangeAspect="1" noMove="1" noResize="1" noEditPoints="1" noAdjustHandles="1" noChangeArrowheads="1" noChangeShapeType="1" noTextEdit="1"/>
              </p:cNvSpPr>
              <p:nvPr/>
            </p:nvSpPr>
            <p:spPr>
              <a:xfrm>
                <a:off x="29027" y="4267286"/>
                <a:ext cx="3962096" cy="460832"/>
              </a:xfrm>
              <a:prstGeom prst="rect">
                <a:avLst/>
              </a:prstGeom>
              <a:blipFill>
                <a:blip r:embed="rId4"/>
                <a:stretch>
                  <a:fillRect t="-162162" b="-2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F13B5D8-456B-21F4-2A29-ECACDAA2C923}"/>
                  </a:ext>
                </a:extLst>
              </p:cNvPr>
              <p:cNvSpPr txBox="1"/>
              <p:nvPr/>
            </p:nvSpPr>
            <p:spPr>
              <a:xfrm>
                <a:off x="29027" y="4850249"/>
                <a:ext cx="3066841" cy="709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b="0" i="1" smtClean="0">
                              <a:latin typeface="Cambria Math" panose="02040503050406030204" pitchFamily="18" charset="0"/>
                            </a:rPr>
                            <m:t>𝑂𝑈𝑇</m:t>
                          </m:r>
                        </m:sub>
                      </m:sSub>
                      <m:r>
                        <a:rPr lang="en-US" i="0">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b="0" i="1" smtClean="0">
                              <a:latin typeface="Cambria Math" panose="02040503050406030204" pitchFamily="18" charset="0"/>
                            </a:rPr>
                            <m:t>𝐼𝑁</m:t>
                          </m:r>
                        </m:sub>
                      </m:sSub>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𝑇</m:t>
                          </m:r>
                        </m:num>
                        <m:den>
                          <m:d>
                            <m:dPr>
                              <m:begChr m:val=""/>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d>
                                    <m:dPr>
                                      <m:endChr m:val=""/>
                                      <m:ctrlPr>
                                        <a:rPr lang="en-US" i="1">
                                          <a:latin typeface="Cambria Math" panose="02040503050406030204" pitchFamily="18" charset="0"/>
                                        </a:rPr>
                                      </m:ctrlPr>
                                    </m:dPr>
                                    <m:e>
                                      <m:r>
                                        <a:rPr lang="en-US" i="1">
                                          <a:latin typeface="Cambria Math" panose="02040503050406030204" pitchFamily="18" charset="0"/>
                                        </a:rPr>
                                        <m:t>𝑇</m:t>
                                      </m:r>
                                      <m:r>
                                        <a:rPr lang="en-US" i="0">
                                          <a:latin typeface="Cambria Math" panose="02040503050406030204" pitchFamily="18" charset="0"/>
                                        </a:rPr>
                                        <m:t>−</m:t>
                                      </m:r>
                                      <m:r>
                                        <a:rPr lang="en-US" i="1">
                                          <a:latin typeface="Cambria Math" panose="02040503050406030204" pitchFamily="18" charset="0"/>
                                        </a:rPr>
                                        <m:t>𝑡</m:t>
                                      </m:r>
                                    </m:e>
                                  </m:d>
                                </m:e>
                                <m:sub>
                                  <m:r>
                                    <a:rPr lang="en-US" i="1">
                                      <a:latin typeface="Cambria Math" panose="02040503050406030204" pitchFamily="18" charset="0"/>
                                    </a:rPr>
                                    <m:t>𝑜𝑛</m:t>
                                  </m:r>
                                </m:sub>
                              </m:sSub>
                            </m:e>
                          </m:d>
                        </m:den>
                      </m:f>
                      <m:r>
                        <a:rPr lang="en-US" i="0">
                          <a:latin typeface="Cambria Math" panose="02040503050406030204" pitchFamily="18" charset="0"/>
                        </a:rPr>
                        <m:t> </m:t>
                      </m:r>
                    </m:oMath>
                  </m:oMathPara>
                </a14:m>
                <a:endParaRPr lang="en-US" dirty="0"/>
              </a:p>
            </p:txBody>
          </p:sp>
        </mc:Choice>
        <mc:Fallback xmlns="">
          <p:sp>
            <p:nvSpPr>
              <p:cNvPr id="12" name="TextBox 11">
                <a:extLst>
                  <a:ext uri="{FF2B5EF4-FFF2-40B4-BE49-F238E27FC236}">
                    <a16:creationId xmlns:a16="http://schemas.microsoft.com/office/drawing/2014/main" id="{FF13B5D8-456B-21F4-2A29-ECACDAA2C923}"/>
                  </a:ext>
                </a:extLst>
              </p:cNvPr>
              <p:cNvSpPr txBox="1">
                <a:spLocks noRot="1" noChangeAspect="1" noMove="1" noResize="1" noEditPoints="1" noAdjustHandles="1" noChangeArrowheads="1" noChangeShapeType="1" noTextEdit="1"/>
              </p:cNvSpPr>
              <p:nvPr/>
            </p:nvSpPr>
            <p:spPr>
              <a:xfrm>
                <a:off x="29027" y="4850249"/>
                <a:ext cx="3066841" cy="709490"/>
              </a:xfrm>
              <a:prstGeom prst="rect">
                <a:avLst/>
              </a:prstGeom>
              <a:blipFill>
                <a:blip r:embed="rId5"/>
                <a:stretch>
                  <a:fillRect t="-46429" b="-130357"/>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F405D117-0F1F-D713-0A7F-51EC27F66D08}"/>
              </a:ext>
            </a:extLst>
          </p:cNvPr>
          <p:cNvSpPr txBox="1"/>
          <p:nvPr/>
        </p:nvSpPr>
        <p:spPr>
          <a:xfrm>
            <a:off x="3575627" y="5011222"/>
            <a:ext cx="415498" cy="369332"/>
          </a:xfrm>
          <a:prstGeom prst="rect">
            <a:avLst/>
          </a:prstGeom>
          <a:noFill/>
        </p:spPr>
        <p:txBody>
          <a:bodyPr wrap="none" rtlCol="0">
            <a:spAutoFit/>
          </a:bodyPr>
          <a:lstStyle/>
          <a:p>
            <a:r>
              <a:rPr lang="en-US" dirty="0"/>
              <a:t>=&gt;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F2702D-E136-2834-79C1-FC0EED710C47}"/>
                  </a:ext>
                </a:extLst>
              </p:cNvPr>
              <p:cNvSpPr txBox="1"/>
              <p:nvPr/>
            </p:nvSpPr>
            <p:spPr>
              <a:xfrm>
                <a:off x="4651513" y="4831607"/>
                <a:ext cx="3496114" cy="10100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𝑂𝑈𝑇</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f>
                        <m:fPr>
                          <m:ctrlPr>
                            <a:rPr lang="en-US" i="1">
                              <a:effectLst/>
                              <a:latin typeface="Cambria Math" panose="020405030504060302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r>
                                <a:rPr lang="en-US" i="1">
                                  <a:latin typeface="Cambria Math" panose="02040503050406030204" pitchFamily="18" charset="0"/>
                                </a:rPr>
                                <m:t>𝑇</m:t>
                              </m:r>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den>
                          </m:f>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i="1">
                                  <a:effectLst/>
                                  <a:latin typeface="Cambria Math" panose="020405030504060302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oMath>
                  </m:oMathPara>
                </a14:m>
                <a:endParaRPr lang="en-US" dirty="0"/>
              </a:p>
            </p:txBody>
          </p:sp>
        </mc:Choice>
        <mc:Fallback xmlns="">
          <p:sp>
            <p:nvSpPr>
              <p:cNvPr id="15" name="TextBox 14">
                <a:extLst>
                  <a:ext uri="{FF2B5EF4-FFF2-40B4-BE49-F238E27FC236}">
                    <a16:creationId xmlns:a16="http://schemas.microsoft.com/office/drawing/2014/main" id="{E7F2702D-E136-2834-79C1-FC0EED710C47}"/>
                  </a:ext>
                </a:extLst>
              </p:cNvPr>
              <p:cNvSpPr txBox="1">
                <a:spLocks noRot="1" noChangeAspect="1" noMove="1" noResize="1" noEditPoints="1" noAdjustHandles="1" noChangeArrowheads="1" noChangeShapeType="1" noTextEdit="1"/>
              </p:cNvSpPr>
              <p:nvPr/>
            </p:nvSpPr>
            <p:spPr>
              <a:xfrm>
                <a:off x="4651513" y="4831607"/>
                <a:ext cx="3496114" cy="1010085"/>
              </a:xfrm>
              <a:prstGeom prst="rect">
                <a:avLst/>
              </a:prstGeom>
              <a:blipFill>
                <a:blip r:embed="rId6"/>
                <a:stretch>
                  <a:fillRect b="-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94114CC-E877-BB63-3D64-86F3115ED7A1}"/>
                  </a:ext>
                </a:extLst>
              </p:cNvPr>
              <p:cNvSpPr txBox="1"/>
              <p:nvPr/>
            </p:nvSpPr>
            <p:spPr>
              <a:xfrm>
                <a:off x="-415522" y="5760843"/>
                <a:ext cx="5377135" cy="314445"/>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Duty cycle of switching signal =  </a:t>
                </a:r>
                <a14:m>
                  <m:oMath xmlns:m="http://schemas.openxmlformats.org/officeDocument/2006/math">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𝐷</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den>
                    </m:f>
                  </m:oMath>
                </a14:m>
                <a:endParaRPr lang="en-US" sz="1800" dirty="0">
                  <a:effectLst/>
                  <a:latin typeface="Times"/>
                  <a:ea typeface="SimSun" panose="02010600030101010101" pitchFamily="2" charset="-122"/>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994114CC-E877-BB63-3D64-86F3115ED7A1}"/>
                  </a:ext>
                </a:extLst>
              </p:cNvPr>
              <p:cNvSpPr txBox="1">
                <a:spLocks noRot="1" noChangeAspect="1" noMove="1" noResize="1" noEditPoints="1" noAdjustHandles="1" noChangeArrowheads="1" noChangeShapeType="1" noTextEdit="1"/>
              </p:cNvSpPr>
              <p:nvPr/>
            </p:nvSpPr>
            <p:spPr>
              <a:xfrm>
                <a:off x="-415522" y="5760843"/>
                <a:ext cx="5377135" cy="314445"/>
              </a:xfrm>
              <a:prstGeom prst="rect">
                <a:avLst/>
              </a:prstGeom>
              <a:blipFill>
                <a:blip r:embed="rId7"/>
                <a:stretch>
                  <a:fillRect t="-46154" b="-96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E36E5F5-39FE-56C7-7F9A-D448EDEEE009}"/>
                  </a:ext>
                </a:extLst>
              </p:cNvPr>
              <p:cNvSpPr txBox="1"/>
              <p:nvPr/>
            </p:nvSpPr>
            <p:spPr>
              <a:xfrm>
                <a:off x="1914310" y="6082888"/>
                <a:ext cx="4782708" cy="6596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𝑽</m:t>
                          </m:r>
                        </m:e>
                        <m:sub>
                          <m:r>
                            <a:rPr lang="en-GB" b="1" i="1" smtClean="0">
                              <a:solidFill>
                                <a:srgbClr val="FF0000"/>
                              </a:solidFill>
                              <a:latin typeface="Cambria Math" panose="02040503050406030204" pitchFamily="18" charset="0"/>
                            </a:rPr>
                            <m:t>𝑶𝑼𝑻</m:t>
                          </m:r>
                        </m:sub>
                      </m:sSub>
                      <m:r>
                        <a:rPr lang="en-US" b="1" i="0">
                          <a:solidFill>
                            <a:srgbClr val="FF0000"/>
                          </a:solidFill>
                          <a:latin typeface="Cambria Math" panose="02040503050406030204" pitchFamily="18" charset="0"/>
                        </a:rPr>
                        <m:t> = </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𝑽</m:t>
                          </m:r>
                        </m:e>
                        <m:sub>
                          <m:r>
                            <a:rPr lang="en-GB" b="1" i="1" smtClean="0">
                              <a:solidFill>
                                <a:srgbClr val="FF0000"/>
                              </a:solidFill>
                              <a:latin typeface="Cambria Math" panose="02040503050406030204" pitchFamily="18" charset="0"/>
                            </a:rPr>
                            <m:t>𝑰𝑵</m:t>
                          </m:r>
                        </m:sub>
                      </m:sSub>
                      <m:f>
                        <m:fPr>
                          <m:ctrlPr>
                            <a:rPr lang="en-US"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 </m:t>
                          </m:r>
                          <m:r>
                            <a:rPr lang="en-GB" b="1" i="1" smtClean="0">
                              <a:solidFill>
                                <a:srgbClr val="FF0000"/>
                              </a:solidFill>
                              <a:latin typeface="Cambria Math" panose="02040503050406030204" pitchFamily="18" charset="0"/>
                            </a:rPr>
                            <m:t>𝟏</m:t>
                          </m:r>
                        </m:num>
                        <m:den>
                          <m:d>
                            <m:dPr>
                              <m:ctrlPr>
                                <a:rPr lang="en-US"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𝟏</m:t>
                              </m:r>
                              <m:r>
                                <a:rPr lang="en-US" b="1" i="0">
                                  <a:solidFill>
                                    <a:srgbClr val="FF0000"/>
                                  </a:solidFill>
                                  <a:latin typeface="Cambria Math" panose="02040503050406030204" pitchFamily="18" charset="0"/>
                                </a:rPr>
                                <m:t>− </m:t>
                              </m:r>
                              <m:r>
                                <a:rPr lang="en-GB" b="1" i="1" smtClean="0">
                                  <a:solidFill>
                                    <a:srgbClr val="FF0000"/>
                                  </a:solidFill>
                                  <a:latin typeface="Cambria Math" panose="02040503050406030204" pitchFamily="18" charset="0"/>
                                </a:rPr>
                                <m:t>𝑫</m:t>
                              </m:r>
                            </m:e>
                          </m:d>
                        </m:den>
                      </m:f>
                      <m:r>
                        <a:rPr lang="en-US" b="1" i="0">
                          <a:solidFill>
                            <a:srgbClr val="FF0000"/>
                          </a:solidFill>
                          <a:latin typeface="Cambria Math" panose="02040503050406030204" pitchFamily="18" charset="0"/>
                        </a:rPr>
                        <m:t> </m:t>
                      </m:r>
                    </m:oMath>
                  </m:oMathPara>
                </a14:m>
                <a:endParaRPr lang="en-US" b="1" dirty="0">
                  <a:solidFill>
                    <a:srgbClr val="FF0000"/>
                  </a:solidFill>
                </a:endParaRPr>
              </a:p>
            </p:txBody>
          </p:sp>
        </mc:Choice>
        <mc:Fallback xmlns="">
          <p:sp>
            <p:nvSpPr>
              <p:cNvPr id="20" name="TextBox 19">
                <a:extLst>
                  <a:ext uri="{FF2B5EF4-FFF2-40B4-BE49-F238E27FC236}">
                    <a16:creationId xmlns:a16="http://schemas.microsoft.com/office/drawing/2014/main" id="{7E36E5F5-39FE-56C7-7F9A-D448EDEEE009}"/>
                  </a:ext>
                </a:extLst>
              </p:cNvPr>
              <p:cNvSpPr txBox="1">
                <a:spLocks noRot="1" noChangeAspect="1" noMove="1" noResize="1" noEditPoints="1" noAdjustHandles="1" noChangeArrowheads="1" noChangeShapeType="1" noTextEdit="1"/>
              </p:cNvSpPr>
              <p:nvPr/>
            </p:nvSpPr>
            <p:spPr>
              <a:xfrm>
                <a:off x="1914310" y="6082888"/>
                <a:ext cx="4782708" cy="659604"/>
              </a:xfrm>
              <a:prstGeom prst="rect">
                <a:avLst/>
              </a:prstGeom>
              <a:blipFill>
                <a:blip r:embed="rId8"/>
                <a:stretch>
                  <a:fillRect/>
                </a:stretch>
              </a:blipFill>
            </p:spPr>
            <p:txBody>
              <a:bodyPr/>
              <a:lstStyle/>
              <a:p>
                <a:r>
                  <a:rPr lang="en-GB">
                    <a:noFill/>
                  </a:rPr>
                  <a:t> </a:t>
                </a:r>
              </a:p>
            </p:txBody>
          </p:sp>
        </mc:Fallback>
      </mc:AlternateContent>
      <p:sp>
        <p:nvSpPr>
          <p:cNvPr id="2" name="Text Box 52">
            <a:extLst>
              <a:ext uri="{FF2B5EF4-FFF2-40B4-BE49-F238E27FC236}">
                <a16:creationId xmlns:a16="http://schemas.microsoft.com/office/drawing/2014/main" id="{78B01385-1B4C-78A5-C248-A7DD493B3A72}"/>
              </a:ext>
            </a:extLst>
          </p:cNvPr>
          <p:cNvSpPr txBox="1">
            <a:spLocks noChangeArrowheads="1"/>
          </p:cNvSpPr>
          <p:nvPr/>
        </p:nvSpPr>
        <p:spPr bwMode="auto">
          <a:xfrm>
            <a:off x="6663101" y="1264036"/>
            <a:ext cx="155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Inductor current</a:t>
            </a:r>
            <a:endParaRPr lang="en-US" altLang="en-US" sz="1400" b="1"/>
          </a:p>
        </p:txBody>
      </p:sp>
      <p:cxnSp>
        <p:nvCxnSpPr>
          <p:cNvPr id="3" name="Straight Arrow Connector 2">
            <a:extLst>
              <a:ext uri="{FF2B5EF4-FFF2-40B4-BE49-F238E27FC236}">
                <a16:creationId xmlns:a16="http://schemas.microsoft.com/office/drawing/2014/main" id="{0AC71D53-34D3-5236-DD20-D157CC3A098D}"/>
              </a:ext>
            </a:extLst>
          </p:cNvPr>
          <p:cNvCxnSpPr/>
          <p:nvPr/>
        </p:nvCxnSpPr>
        <p:spPr>
          <a:xfrm flipV="1">
            <a:off x="975089" y="381520"/>
            <a:ext cx="0" cy="9294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A5D9F594-23EE-7458-5A09-82D84A3472F5}"/>
              </a:ext>
            </a:extLst>
          </p:cNvPr>
          <p:cNvGrpSpPr>
            <a:grpSpLocks/>
          </p:cNvGrpSpPr>
          <p:nvPr/>
        </p:nvGrpSpPr>
        <p:grpSpPr bwMode="auto">
          <a:xfrm>
            <a:off x="975089" y="355504"/>
            <a:ext cx="7921944" cy="955428"/>
            <a:chOff x="395288" y="4129335"/>
            <a:chExt cx="7921625" cy="955428"/>
          </a:xfrm>
        </p:grpSpPr>
        <p:sp>
          <p:nvSpPr>
            <p:cNvPr id="7" name="Line 63">
              <a:extLst>
                <a:ext uri="{FF2B5EF4-FFF2-40B4-BE49-F238E27FC236}">
                  <a16:creationId xmlns:a16="http://schemas.microsoft.com/office/drawing/2014/main" id="{F6CBC7DD-05E4-1951-15CB-169551A985FE}"/>
                </a:ext>
              </a:extLst>
            </p:cNvPr>
            <p:cNvSpPr>
              <a:spLocks noChangeShapeType="1"/>
            </p:cNvSpPr>
            <p:nvPr/>
          </p:nvSpPr>
          <p:spPr bwMode="auto">
            <a:xfrm>
              <a:off x="395288" y="5084763"/>
              <a:ext cx="7921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67">
              <a:extLst>
                <a:ext uri="{FF2B5EF4-FFF2-40B4-BE49-F238E27FC236}">
                  <a16:creationId xmlns:a16="http://schemas.microsoft.com/office/drawing/2014/main" id="{F540664A-6151-37DD-0179-631B848F836B}"/>
                </a:ext>
              </a:extLst>
            </p:cNvPr>
            <p:cNvSpPr>
              <a:spLocks/>
            </p:cNvSpPr>
            <p:nvPr/>
          </p:nvSpPr>
          <p:spPr bwMode="auto">
            <a:xfrm>
              <a:off x="395288" y="4652963"/>
              <a:ext cx="7345362" cy="360362"/>
            </a:xfrm>
            <a:custGeom>
              <a:avLst/>
              <a:gdLst>
                <a:gd name="T0" fmla="*/ 0 w 4627"/>
                <a:gd name="T1" fmla="*/ 2147483646 h 408"/>
                <a:gd name="T2" fmla="*/ 2147483646 w 4627"/>
                <a:gd name="T3" fmla="*/ 2147483646 h 408"/>
                <a:gd name="T4" fmla="*/ 2147483646 w 4627"/>
                <a:gd name="T5" fmla="*/ 0 h 408"/>
                <a:gd name="T6" fmla="*/ 2147483646 w 4627"/>
                <a:gd name="T7" fmla="*/ 2147483646 h 408"/>
                <a:gd name="T8" fmla="*/ 2147483646 w 4627"/>
                <a:gd name="T9" fmla="*/ 0 h 408"/>
                <a:gd name="T10" fmla="*/ 2147483646 w 4627"/>
                <a:gd name="T11" fmla="*/ 2147483646 h 408"/>
                <a:gd name="T12" fmla="*/ 2147483646 w 4627"/>
                <a:gd name="T13" fmla="*/ 0 h 408"/>
                <a:gd name="T14" fmla="*/ 2147483646 w 4627"/>
                <a:gd name="T15" fmla="*/ 2147483646 h 408"/>
                <a:gd name="T16" fmla="*/ 2147483646 w 4627"/>
                <a:gd name="T17" fmla="*/ 0 h 408"/>
                <a:gd name="T18" fmla="*/ 2147483646 w 4627"/>
                <a:gd name="T19" fmla="*/ 2147483646 h 408"/>
                <a:gd name="T20" fmla="*/ 2147483646 w 4627"/>
                <a:gd name="T21" fmla="*/ 2147483646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627" h="408">
                  <a:moveTo>
                    <a:pt x="0" y="318"/>
                  </a:moveTo>
                  <a:lnTo>
                    <a:pt x="136" y="408"/>
                  </a:lnTo>
                  <a:lnTo>
                    <a:pt x="771" y="0"/>
                  </a:lnTo>
                  <a:lnTo>
                    <a:pt x="1225" y="408"/>
                  </a:lnTo>
                  <a:lnTo>
                    <a:pt x="1860" y="0"/>
                  </a:lnTo>
                  <a:lnTo>
                    <a:pt x="2313" y="408"/>
                  </a:lnTo>
                  <a:lnTo>
                    <a:pt x="2949" y="0"/>
                  </a:lnTo>
                  <a:lnTo>
                    <a:pt x="3402" y="408"/>
                  </a:lnTo>
                  <a:lnTo>
                    <a:pt x="4037" y="0"/>
                  </a:lnTo>
                  <a:lnTo>
                    <a:pt x="4491" y="408"/>
                  </a:lnTo>
                  <a:lnTo>
                    <a:pt x="4627" y="318"/>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Text Box 75">
              <a:extLst>
                <a:ext uri="{FF2B5EF4-FFF2-40B4-BE49-F238E27FC236}">
                  <a16:creationId xmlns:a16="http://schemas.microsoft.com/office/drawing/2014/main" id="{686F7217-C39C-810F-BC24-41CF17DB15C8}"/>
                </a:ext>
              </a:extLst>
            </p:cNvPr>
            <p:cNvSpPr txBox="1">
              <a:spLocks noChangeArrowheads="1"/>
            </p:cNvSpPr>
            <p:nvPr/>
          </p:nvSpPr>
          <p:spPr bwMode="auto">
            <a:xfrm>
              <a:off x="6672716" y="4129335"/>
              <a:ext cx="15792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dirty="0">
                  <a:solidFill>
                    <a:srgbClr val="0000FF"/>
                  </a:solidFill>
                  <a:latin typeface="Times New Roman" panose="02020603050405020304" pitchFamily="18" charset="0"/>
                </a:rPr>
                <a:t>Inductor current</a:t>
              </a:r>
            </a:p>
            <a:p>
              <a:pPr eaLnBrk="1" hangingPunct="1">
                <a:spcBef>
                  <a:spcPct val="0"/>
                </a:spcBef>
                <a:buFontTx/>
                <a:buNone/>
              </a:pPr>
              <a:r>
                <a:rPr lang="en-GB" altLang="en-US" sz="1400" b="1" dirty="0">
                  <a:solidFill>
                    <a:srgbClr val="0000FF"/>
                  </a:solidFill>
                  <a:latin typeface="Times New Roman" panose="02020603050405020304" pitchFamily="18" charset="0"/>
                </a:rPr>
                <a:t>(= supply current)</a:t>
              </a:r>
              <a:endParaRPr lang="en-US" altLang="en-US" sz="1400" b="1" dirty="0">
                <a:solidFill>
                  <a:srgbClr val="0000FF"/>
                </a:solidFill>
                <a:latin typeface="Times New Roman" panose="02020603050405020304" pitchFamily="18" charset="0"/>
              </a:endParaRPr>
            </a:p>
          </p:txBody>
        </p:sp>
      </p:grpSp>
      <p:pic>
        <p:nvPicPr>
          <p:cNvPr id="21" name="Picture 20">
            <a:extLst>
              <a:ext uri="{FF2B5EF4-FFF2-40B4-BE49-F238E27FC236}">
                <a16:creationId xmlns:a16="http://schemas.microsoft.com/office/drawing/2014/main" id="{D0A371AA-3133-1CE0-C288-8C58B14350A6}"/>
              </a:ext>
            </a:extLst>
          </p:cNvPr>
          <p:cNvPicPr>
            <a:picLocks noChangeAspect="1"/>
          </p:cNvPicPr>
          <p:nvPr/>
        </p:nvPicPr>
        <p:blipFill>
          <a:blip r:embed="rId9"/>
          <a:stretch>
            <a:fillRect/>
          </a:stretch>
        </p:blipFill>
        <p:spPr>
          <a:xfrm>
            <a:off x="1562447" y="1880251"/>
            <a:ext cx="2371421" cy="1605554"/>
          </a:xfrm>
          <a:prstGeom prst="rect">
            <a:avLst/>
          </a:prstGeom>
        </p:spPr>
      </p:pic>
      <p:pic>
        <p:nvPicPr>
          <p:cNvPr id="22" name="Picture 21">
            <a:extLst>
              <a:ext uri="{FF2B5EF4-FFF2-40B4-BE49-F238E27FC236}">
                <a16:creationId xmlns:a16="http://schemas.microsoft.com/office/drawing/2014/main" id="{5FFF73B5-D38E-679A-13E5-B81C8E155D5F}"/>
              </a:ext>
            </a:extLst>
          </p:cNvPr>
          <p:cNvPicPr>
            <a:picLocks noChangeAspect="1"/>
          </p:cNvPicPr>
          <p:nvPr/>
        </p:nvPicPr>
        <p:blipFill>
          <a:blip r:embed="rId10"/>
          <a:stretch>
            <a:fillRect/>
          </a:stretch>
        </p:blipFill>
        <p:spPr>
          <a:xfrm>
            <a:off x="4961613" y="1966036"/>
            <a:ext cx="2631661" cy="1486718"/>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B69419D-935B-232F-F04D-2CD485D2B8B2}"/>
                  </a:ext>
                </a:extLst>
              </p:cNvPr>
              <p:cNvSpPr txBox="1"/>
              <p:nvPr/>
            </p:nvSpPr>
            <p:spPr>
              <a:xfrm>
                <a:off x="4280309" y="3528119"/>
                <a:ext cx="4917500" cy="4942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i="1" smtClean="0">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𝑉</m:t>
                              </m:r>
                            </m:e>
                            <m:sub>
                              <m:r>
                                <a:rPr lang="en-GB" sz="1400" i="1">
                                  <a:latin typeface="Cambria Math" panose="02040503050406030204" pitchFamily="18" charset="0"/>
                                  <a:ea typeface="SimSun" panose="02010600030101010101" pitchFamily="2" charset="-122"/>
                                  <a:cs typeface="Times New Roman" panose="02020603050405020304" pitchFamily="18" charset="0"/>
                                </a:rPr>
                                <m:t>𝐼𝑁</m:t>
                              </m:r>
                            </m:sub>
                          </m:sSub>
                        </m:num>
                        <m:den>
                          <m:r>
                            <a:rPr lang="en-US" sz="1400" i="1">
                              <a:latin typeface="Cambria Math" panose="02040503050406030204" pitchFamily="18" charset="0"/>
                              <a:ea typeface="SimSun" panose="02010600030101010101" pitchFamily="2" charset="-122"/>
                              <a:cs typeface="Times New Roman" panose="02020603050405020304" pitchFamily="18" charset="0"/>
                            </a:rPr>
                            <m:t>𝐿</m:t>
                          </m:r>
                        </m:den>
                      </m:f>
                      <m:r>
                        <a:rPr lang="en-US" sz="1400"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𝑡</m:t>
                          </m:r>
                        </m:e>
                        <m:sub>
                          <m:r>
                            <a:rPr lang="en-US" sz="1400" i="1">
                              <a:latin typeface="Cambria Math" panose="02040503050406030204" pitchFamily="18" charset="0"/>
                              <a:ea typeface="SimSun" panose="02010600030101010101" pitchFamily="2" charset="-122"/>
                              <a:cs typeface="Times New Roman" panose="02020603050405020304" pitchFamily="18" charset="0"/>
                            </a:rPr>
                            <m:t>𝑜𝑛</m:t>
                          </m:r>
                        </m:sub>
                      </m:sSub>
                      <m:r>
                        <a:rPr lang="en-US" sz="1400" i="0">
                          <a:latin typeface="Cambria Math" panose="02040503050406030204" pitchFamily="18" charset="0"/>
                        </a:rPr>
                        <m:t>+</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𝑉</m:t>
                              </m:r>
                            </m:e>
                            <m:sub>
                              <m:r>
                                <a:rPr lang="en-GB" sz="1400" i="1">
                                  <a:latin typeface="Cambria Math" panose="02040503050406030204" pitchFamily="18" charset="0"/>
                                  <a:ea typeface="SimSun" panose="02010600030101010101" pitchFamily="2" charset="-122"/>
                                  <a:cs typeface="Times New Roman" panose="02020603050405020304" pitchFamily="18" charset="0"/>
                                </a:rPr>
                                <m:t>𝐼𝑁</m:t>
                              </m:r>
                            </m:sub>
                          </m:sSub>
                          <m:r>
                            <a:rPr lang="en-GB" sz="1400" i="1">
                              <a:latin typeface="Cambria Math" panose="02040503050406030204" pitchFamily="18" charset="0"/>
                              <a:ea typeface="SimSun" panose="02010600030101010101" pitchFamily="2" charset="-122"/>
                              <a:cs typeface="Times New Roman" panose="02020603050405020304" pitchFamily="18" charset="0"/>
                            </a:rPr>
                            <m:t> </m:t>
                          </m:r>
                        </m:num>
                        <m:den>
                          <m:r>
                            <a:rPr lang="en-US" sz="1400" i="1">
                              <a:latin typeface="Cambria Math" panose="02040503050406030204" pitchFamily="18" charset="0"/>
                              <a:ea typeface="SimSun" panose="02010600030101010101" pitchFamily="2" charset="-122"/>
                              <a:cs typeface="Times New Roman" panose="02020603050405020304" pitchFamily="18" charset="0"/>
                            </a:rPr>
                            <m:t>𝐿</m:t>
                          </m:r>
                        </m:den>
                      </m:f>
                      <m:r>
                        <a:rPr lang="en-US" sz="1400"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1">
                              <a:latin typeface="Cambria Math" panose="02040503050406030204" pitchFamily="18" charset="0"/>
                              <a:ea typeface="SimSun" panose="02010600030101010101" pitchFamily="2" charset="-122"/>
                              <a:cs typeface="Times New Roman" panose="02020603050405020304" pitchFamily="18" charset="0"/>
                            </a:rPr>
                            <m:t>𝑇</m:t>
                          </m:r>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1">
                              <a:latin typeface="Cambria Math" panose="02040503050406030204" pitchFamily="18" charset="0"/>
                              <a:ea typeface="SimSun" panose="02010600030101010101" pitchFamily="2" charset="-122"/>
                              <a:cs typeface="Times New Roman" panose="02020603050405020304" pitchFamily="18" charset="0"/>
                            </a:rPr>
                            <m:t>𝑡</m:t>
                          </m:r>
                        </m:e>
                        <m:sub>
                          <m:r>
                            <a:rPr lang="en-US" sz="1400" i="1">
                              <a:latin typeface="Cambria Math" panose="02040503050406030204" pitchFamily="18" charset="0"/>
                              <a:ea typeface="SimSun" panose="02010600030101010101" pitchFamily="2" charset="-122"/>
                              <a:cs typeface="Times New Roman" panose="02020603050405020304" pitchFamily="18" charset="0"/>
                            </a:rPr>
                            <m:t>𝑜𝑛</m:t>
                          </m:r>
                        </m:sub>
                      </m:sSub>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GB" sz="1400" b="0" i="1" smtClean="0">
                          <a:latin typeface="Cambria Math" panose="02040503050406030204" pitchFamily="18" charset="0"/>
                          <a:ea typeface="SimSun" panose="02010600030101010101" pitchFamily="2" charset="-122"/>
                          <a:cs typeface="Times New Roman" panose="02020603050405020304" pitchFamily="18" charset="0"/>
                        </a:rPr>
                        <m:t>− </m:t>
                      </m:r>
                      <m:f>
                        <m:fPr>
                          <m:ctrlPr>
                            <a:rPr lang="en-US" sz="1400" i="1">
                              <a:latin typeface="Cambria Math" panose="02040503050406030204" pitchFamily="18" charset="0"/>
                            </a:rPr>
                          </m:ctrlPr>
                        </m:fPr>
                        <m:num>
                          <m:r>
                            <a:rPr lang="en-GB" sz="1400" i="1" smtClean="0">
                              <a:latin typeface="Cambria Math" panose="02040503050406030204" pitchFamily="18" charset="0"/>
                              <a:ea typeface="SimSun" panose="02010600030101010101" pitchFamily="2" charset="-122"/>
                              <a:cs typeface="Times New Roman" panose="02020603050405020304" pitchFamily="18" charset="0"/>
                            </a:rPr>
                            <m:t> </m:t>
                          </m:r>
                          <m:sSub>
                            <m:sSubPr>
                              <m:ctrlPr>
                                <a:rPr lang="en-US" sz="1400" i="1" smtClean="0">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𝑉</m:t>
                              </m:r>
                            </m:e>
                            <m:sub>
                              <m:r>
                                <a:rPr lang="en-GB" sz="1400" i="1">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400" i="1">
                              <a:latin typeface="Cambria Math" panose="02040503050406030204" pitchFamily="18" charset="0"/>
                              <a:ea typeface="SimSun" panose="02010600030101010101" pitchFamily="2" charset="-122"/>
                              <a:cs typeface="Times New Roman" panose="02020603050405020304" pitchFamily="18" charset="0"/>
                            </a:rPr>
                            <m:t>𝐿</m:t>
                          </m:r>
                        </m:den>
                      </m:f>
                      <m:r>
                        <a:rPr lang="en-US" sz="1400" i="1">
                          <a:latin typeface="Cambria Math" panose="02040503050406030204" pitchFamily="18" charset="0"/>
                          <a:ea typeface="SimSun" panose="02010600030101010101" pitchFamily="2" charset="-122"/>
                          <a:cs typeface="Times New Roman" panose="02020603050405020304" pitchFamily="18" charset="0"/>
                        </a:rPr>
                        <m:t> × </m:t>
                      </m:r>
                      <m:sSub>
                        <m:sSubPr>
                          <m:ctrlPr>
                            <a:rPr lang="en-US" sz="1400" i="1">
                              <a:latin typeface="Cambria Math" panose="02040503050406030204" pitchFamily="18" charset="0"/>
                            </a:rPr>
                          </m:ctrlPr>
                        </m:sSubPr>
                        <m:e>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1">
                              <a:latin typeface="Cambria Math" panose="02040503050406030204" pitchFamily="18" charset="0"/>
                              <a:ea typeface="SimSun" panose="02010600030101010101" pitchFamily="2" charset="-122"/>
                              <a:cs typeface="Times New Roman" panose="02020603050405020304" pitchFamily="18" charset="0"/>
                            </a:rPr>
                            <m:t>𝑇</m:t>
                          </m:r>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1">
                              <a:latin typeface="Cambria Math" panose="02040503050406030204" pitchFamily="18" charset="0"/>
                              <a:ea typeface="SimSun" panose="02010600030101010101" pitchFamily="2" charset="-122"/>
                              <a:cs typeface="Times New Roman" panose="02020603050405020304" pitchFamily="18" charset="0"/>
                            </a:rPr>
                            <m:t>𝑡</m:t>
                          </m:r>
                        </m:e>
                        <m:sub>
                          <m:r>
                            <a:rPr lang="en-US" sz="1400" i="1">
                              <a:latin typeface="Cambria Math" panose="02040503050406030204" pitchFamily="18" charset="0"/>
                              <a:ea typeface="SimSun" panose="02010600030101010101" pitchFamily="2" charset="-122"/>
                              <a:cs typeface="Times New Roman" panose="02020603050405020304" pitchFamily="18" charset="0"/>
                            </a:rPr>
                            <m:t>𝑜𝑛</m:t>
                          </m:r>
                        </m:sub>
                      </m:sSub>
                      <m:r>
                        <a:rPr lang="en-US" sz="1400" i="1">
                          <a:latin typeface="Cambria Math" panose="02040503050406030204" pitchFamily="18" charset="0"/>
                          <a:ea typeface="SimSun" panose="02010600030101010101" pitchFamily="2" charset="-122"/>
                          <a:cs typeface="Times New Roman" panose="02020603050405020304" pitchFamily="18" charset="0"/>
                        </a:rPr>
                        <m:t>)</m:t>
                      </m:r>
                      <m:r>
                        <a:rPr lang="en-US" sz="1400" i="0">
                          <a:latin typeface="Cambria Math" panose="02040503050406030204" pitchFamily="18" charset="0"/>
                        </a:rPr>
                        <m:t>=0</m:t>
                      </m:r>
                    </m:oMath>
                  </m:oMathPara>
                </a14:m>
                <a:endParaRPr lang="en-US" sz="1400" dirty="0"/>
              </a:p>
            </p:txBody>
          </p:sp>
        </mc:Choice>
        <mc:Fallback xmlns="">
          <p:sp>
            <p:nvSpPr>
              <p:cNvPr id="23" name="TextBox 22">
                <a:extLst>
                  <a:ext uri="{FF2B5EF4-FFF2-40B4-BE49-F238E27FC236}">
                    <a16:creationId xmlns:a16="http://schemas.microsoft.com/office/drawing/2014/main" id="{AB69419D-935B-232F-F04D-2CD485D2B8B2}"/>
                  </a:ext>
                </a:extLst>
              </p:cNvPr>
              <p:cNvSpPr txBox="1">
                <a:spLocks noRot="1" noChangeAspect="1" noMove="1" noResize="1" noEditPoints="1" noAdjustHandles="1" noChangeArrowheads="1" noChangeShapeType="1" noTextEdit="1"/>
              </p:cNvSpPr>
              <p:nvPr/>
            </p:nvSpPr>
            <p:spPr>
              <a:xfrm>
                <a:off x="4280309" y="3528119"/>
                <a:ext cx="4917500" cy="494238"/>
              </a:xfrm>
              <a:prstGeom prst="rect">
                <a:avLst/>
              </a:prstGeom>
              <a:blipFill>
                <a:blip r:embed="rId11"/>
                <a:stretch>
                  <a:fillRect b="-1235"/>
                </a:stretch>
              </a:blipFill>
            </p:spPr>
            <p:txBody>
              <a:bodyPr/>
              <a:lstStyle/>
              <a:p>
                <a:r>
                  <a:rPr lang="en-GB">
                    <a:noFill/>
                  </a:rPr>
                  <a:t> </a:t>
                </a:r>
              </a:p>
            </p:txBody>
          </p:sp>
        </mc:Fallback>
      </mc:AlternateContent>
      <p:sp>
        <p:nvSpPr>
          <p:cNvPr id="24" name="TextBox 23">
            <a:extLst>
              <a:ext uri="{FF2B5EF4-FFF2-40B4-BE49-F238E27FC236}">
                <a16:creationId xmlns:a16="http://schemas.microsoft.com/office/drawing/2014/main" id="{68B34B10-85FB-6FB4-31D8-3DEEEC7384AB}"/>
              </a:ext>
            </a:extLst>
          </p:cNvPr>
          <p:cNvSpPr txBox="1"/>
          <p:nvPr/>
        </p:nvSpPr>
        <p:spPr>
          <a:xfrm>
            <a:off x="3872890" y="3563275"/>
            <a:ext cx="468398" cy="369332"/>
          </a:xfrm>
          <a:prstGeom prst="rect">
            <a:avLst/>
          </a:prstGeom>
          <a:noFill/>
        </p:spPr>
        <p:txBody>
          <a:bodyPr wrap="none" rtlCol="0">
            <a:spAutoFit/>
          </a:bodyPr>
          <a:lstStyle/>
          <a:p>
            <a:r>
              <a:rPr lang="en-US" dirty="0"/>
              <a:t>=&gt; </a:t>
            </a:r>
          </a:p>
        </p:txBody>
      </p:sp>
      <p:sp>
        <p:nvSpPr>
          <p:cNvPr id="25" name="TextBox 24">
            <a:extLst>
              <a:ext uri="{FF2B5EF4-FFF2-40B4-BE49-F238E27FC236}">
                <a16:creationId xmlns:a16="http://schemas.microsoft.com/office/drawing/2014/main" id="{D23D3A73-4F52-A248-8358-E1279C08640C}"/>
              </a:ext>
            </a:extLst>
          </p:cNvPr>
          <p:cNvSpPr txBox="1"/>
          <p:nvPr/>
        </p:nvSpPr>
        <p:spPr>
          <a:xfrm>
            <a:off x="3864815" y="4321507"/>
            <a:ext cx="468398" cy="369332"/>
          </a:xfrm>
          <a:prstGeom prst="rect">
            <a:avLst/>
          </a:prstGeom>
          <a:noFill/>
        </p:spPr>
        <p:txBody>
          <a:bodyPr wrap="none" rtlCol="0">
            <a:spAutoFit/>
          </a:bodyPr>
          <a:lstStyle/>
          <a:p>
            <a:r>
              <a:rPr lang="en-US" dirty="0"/>
              <a:t>=&gt; </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C82B691-29FF-E9F9-3863-835646A17473}"/>
                  </a:ext>
                </a:extLst>
              </p:cNvPr>
              <p:cNvSpPr txBox="1"/>
              <p:nvPr/>
            </p:nvSpPr>
            <p:spPr>
              <a:xfrm>
                <a:off x="4508749" y="4263553"/>
                <a:ext cx="3962096" cy="374718"/>
              </a:xfrm>
              <a:prstGeom prst="rect">
                <a:avLst/>
              </a:prstGeom>
              <a:noFill/>
            </p:spPr>
            <p:txBody>
              <a:bodyPr wrap="square">
                <a:spAutoFit/>
              </a:bodyPr>
              <a:lstStyle/>
              <a:p>
                <a14:m>
                  <m:oMath xmlns:m="http://schemas.openxmlformats.org/officeDocument/2006/math">
                    <m:d>
                      <m:dPr>
                        <m:begChr m:val=""/>
                        <m:ctrlPr>
                          <a:rPr lang="en-US" sz="1600" i="1" smtClean="0">
                            <a:solidFill>
                              <a:srgbClr val="836967"/>
                            </a:solidFill>
                            <a:latin typeface="Cambria Math" panose="02040503050406030204" pitchFamily="18" charset="0"/>
                          </a:rPr>
                        </m:ctrlPr>
                      </m:dPr>
                      <m:e>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GB" sz="1600" i="1">
                                <a:latin typeface="Cambria Math" panose="02040503050406030204" pitchFamily="18" charset="0"/>
                              </a:rPr>
                              <m:t>𝑂𝑈𝑇</m:t>
                            </m:r>
                          </m:sub>
                        </m:sSub>
                        <m:r>
                          <a:rPr lang="en-US" sz="1600" i="0">
                            <a:latin typeface="Cambria Math" panose="02040503050406030204" pitchFamily="18" charset="0"/>
                          </a:rPr>
                          <m:t>× </m:t>
                        </m:r>
                        <m:sSub>
                          <m:sSubPr>
                            <m:ctrlPr>
                              <a:rPr lang="en-US" sz="1600" i="1">
                                <a:solidFill>
                                  <a:srgbClr val="836967"/>
                                </a:solidFill>
                                <a:latin typeface="Cambria Math" panose="02040503050406030204" pitchFamily="18" charset="0"/>
                              </a:rPr>
                            </m:ctrlPr>
                          </m:sSubPr>
                          <m:e>
                            <m:d>
                              <m:dPr>
                                <m:endChr m:val=""/>
                                <m:ctrlPr>
                                  <a:rPr lang="en-US" sz="1600" i="1">
                                    <a:latin typeface="Cambria Math" panose="02040503050406030204" pitchFamily="18" charset="0"/>
                                  </a:rPr>
                                </m:ctrlPr>
                              </m:dPr>
                              <m:e>
                                <m:r>
                                  <a:rPr lang="en-US" sz="1600" i="1">
                                    <a:latin typeface="Cambria Math" panose="02040503050406030204" pitchFamily="18" charset="0"/>
                                  </a:rPr>
                                  <m:t>𝑇</m:t>
                                </m:r>
                                <m:r>
                                  <a:rPr lang="en-US" sz="1600" i="0">
                                    <a:latin typeface="Cambria Math" panose="02040503050406030204" pitchFamily="18" charset="0"/>
                                  </a:rPr>
                                  <m:t>−</m:t>
                                </m:r>
                                <m:r>
                                  <a:rPr lang="en-US" sz="1600" i="1">
                                    <a:latin typeface="Cambria Math" panose="02040503050406030204" pitchFamily="18" charset="0"/>
                                  </a:rPr>
                                  <m:t>𝑡</m:t>
                                </m:r>
                              </m:e>
                            </m:d>
                          </m:e>
                          <m:sub>
                            <m:r>
                              <a:rPr lang="en-US" sz="1600" i="1">
                                <a:latin typeface="Cambria Math" panose="02040503050406030204" pitchFamily="18" charset="0"/>
                              </a:rPr>
                              <m:t>𝑜𝑛</m:t>
                            </m:r>
                          </m:sub>
                        </m:sSub>
                      </m:e>
                    </m:d>
                    <m:r>
                      <a:rPr lang="en-US" sz="1600" i="0">
                        <a:latin typeface="Cambria Math" panose="02040503050406030204" pitchFamily="18" charset="0"/>
                      </a:rPr>
                      <m:t>=</m:t>
                    </m:r>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GB" sz="1600" i="1">
                            <a:latin typeface="Cambria Math" panose="02040503050406030204" pitchFamily="18" charset="0"/>
                          </a:rPr>
                          <m:t>𝐼𝑁</m:t>
                        </m:r>
                      </m:sub>
                    </m:sSub>
                    <m:r>
                      <a:rPr lang="en-US" sz="1600" i="0">
                        <a:latin typeface="Cambria Math" panose="02040503050406030204" pitchFamily="18" charset="0"/>
                      </a:rPr>
                      <m:t>× </m:t>
                    </m:r>
                    <m:r>
                      <a:rPr lang="en-GB" sz="1600" b="0" i="0" smtClean="0">
                        <a:latin typeface="Cambria Math" panose="02040503050406030204" pitchFamily="18" charset="0"/>
                      </a:rPr>
                      <m:t>(</m:t>
                    </m:r>
                    <m:r>
                      <a:rPr lang="en-US" sz="1600" i="1">
                        <a:latin typeface="Cambria Math" panose="02040503050406030204" pitchFamily="18" charset="0"/>
                        <a:ea typeface="SimSun" panose="02010600030101010101" pitchFamily="2" charset="-122"/>
                        <a:cs typeface="Times New Roman" panose="02020603050405020304" pitchFamily="18" charset="0"/>
                      </a:rPr>
                      <m:t>𝑇</m:t>
                    </m:r>
                  </m:oMath>
                </a14:m>
                <a:r>
                  <a:rPr lang="en-US" sz="1600" dirty="0"/>
                  <a:t>)</a:t>
                </a:r>
              </a:p>
            </p:txBody>
          </p:sp>
        </mc:Choice>
        <mc:Fallback xmlns="">
          <p:sp>
            <p:nvSpPr>
              <p:cNvPr id="26" name="TextBox 25">
                <a:extLst>
                  <a:ext uri="{FF2B5EF4-FFF2-40B4-BE49-F238E27FC236}">
                    <a16:creationId xmlns:a16="http://schemas.microsoft.com/office/drawing/2014/main" id="{3C82B691-29FF-E9F9-3863-835646A17473}"/>
                  </a:ext>
                </a:extLst>
              </p:cNvPr>
              <p:cNvSpPr txBox="1">
                <a:spLocks noRot="1" noChangeAspect="1" noMove="1" noResize="1" noEditPoints="1" noAdjustHandles="1" noChangeArrowheads="1" noChangeShapeType="1" noTextEdit="1"/>
              </p:cNvSpPr>
              <p:nvPr/>
            </p:nvSpPr>
            <p:spPr>
              <a:xfrm>
                <a:off x="4508749" y="4263553"/>
                <a:ext cx="3962096" cy="374718"/>
              </a:xfrm>
              <a:prstGeom prst="rect">
                <a:avLst/>
              </a:prstGeom>
              <a:blipFill>
                <a:blip r:embed="rId12"/>
                <a:stretch>
                  <a:fillRect t="-129032" b="-203226"/>
                </a:stretch>
              </a:blipFill>
            </p:spPr>
            <p:txBody>
              <a:bodyPr/>
              <a:lstStyle/>
              <a:p>
                <a:r>
                  <a:rPr lang="en-US">
                    <a:noFill/>
                  </a:rPr>
                  <a:t> </a:t>
                </a:r>
              </a:p>
            </p:txBody>
          </p:sp>
        </mc:Fallback>
      </mc:AlternateContent>
    </p:spTree>
    <p:extLst>
      <p:ext uri="{BB962C8B-B14F-4D97-AF65-F5344CB8AC3E}">
        <p14:creationId xmlns:p14="http://schemas.microsoft.com/office/powerpoint/2010/main" val="397547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P spid="13" grpId="0"/>
      <p:bldP spid="15" grpId="0"/>
      <p:bldP spid="17" grpId="0"/>
      <p:bldP spid="20" grpId="0"/>
      <p:bldP spid="23" grpId="0"/>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DF5A5DE-CCB4-D62A-5565-41C63A1F3F6A}"/>
              </a:ext>
            </a:extLst>
          </p:cNvPr>
          <p:cNvSpPr txBox="1">
            <a:spLocks noChangeArrowheads="1"/>
          </p:cNvSpPr>
          <p:nvPr/>
        </p:nvSpPr>
        <p:spPr bwMode="auto">
          <a:xfrm>
            <a:off x="418907" y="107562"/>
            <a:ext cx="4685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Minimum and Maximum Inductor Current</a:t>
            </a:r>
            <a:endParaRPr lang="en-US" altLang="en-US" sz="1800" b="1" u="sng"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1A84408-D5D6-40F9-A6AA-4EBBF4B0ABD0}"/>
                  </a:ext>
                </a:extLst>
              </p:cNvPr>
              <p:cNvSpPr txBox="1"/>
              <p:nvPr/>
            </p:nvSpPr>
            <p:spPr>
              <a:xfrm>
                <a:off x="0" y="3459773"/>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𝑚𝑎𝑥</m:t>
                          </m:r>
                        </m:sub>
                      </m:sSub>
                      <m:r>
                        <a:rPr lang="en-GB" i="0">
                          <a:latin typeface="Cambria Math" panose="02040503050406030204" pitchFamily="18" charset="0"/>
                        </a:rPr>
                        <m:t>= </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𝑎𝑣𝑔</m:t>
                          </m:r>
                        </m:sub>
                      </m:sSub>
                      <m:r>
                        <a:rPr lang="en-GB" i="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r>
                        <a:rPr lang="en-GB" i="0">
                          <a:latin typeface="Cambria Math" panose="02040503050406030204" pitchFamily="18" charset="0"/>
                        </a:rPr>
                        <m:t> </m:t>
                      </m:r>
                    </m:oMath>
                  </m:oMathPara>
                </a14:m>
                <a:endParaRPr lang="en-GB" dirty="0"/>
              </a:p>
            </p:txBody>
          </p:sp>
        </mc:Choice>
        <mc:Fallback xmlns="">
          <p:sp>
            <p:nvSpPr>
              <p:cNvPr id="8" name="TextBox 7">
                <a:extLst>
                  <a:ext uri="{FF2B5EF4-FFF2-40B4-BE49-F238E27FC236}">
                    <a16:creationId xmlns:a16="http://schemas.microsoft.com/office/drawing/2014/main" id="{41A84408-D5D6-40F9-A6AA-4EBBF4B0ABD0}"/>
                  </a:ext>
                </a:extLst>
              </p:cNvPr>
              <p:cNvSpPr txBox="1">
                <a:spLocks noRot="1" noChangeAspect="1" noMove="1" noResize="1" noEditPoints="1" noAdjustHandles="1" noChangeArrowheads="1" noChangeShapeType="1" noTextEdit="1"/>
              </p:cNvSpPr>
              <p:nvPr/>
            </p:nvSpPr>
            <p:spPr>
              <a:xfrm>
                <a:off x="0" y="3459773"/>
                <a:ext cx="4572000" cy="628057"/>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2A2B9B-3FC8-10D3-9A37-43C57C0AB2BE}"/>
                  </a:ext>
                </a:extLst>
              </p:cNvPr>
              <p:cNvSpPr txBox="1"/>
              <p:nvPr/>
            </p:nvSpPr>
            <p:spPr>
              <a:xfrm>
                <a:off x="4654296" y="3389102"/>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𝑚𝑖𝑛</m:t>
                          </m:r>
                        </m:sub>
                      </m:sSub>
                      <m:r>
                        <a:rPr lang="en-GB" i="0">
                          <a:latin typeface="Cambria Math" panose="02040503050406030204" pitchFamily="18" charset="0"/>
                        </a:rPr>
                        <m:t>= </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𝑎𝑣𝑔</m:t>
                          </m:r>
                        </m:sub>
                      </m:sSub>
                      <m:r>
                        <a:rPr lang="en-GB" i="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oMath>
                  </m:oMathPara>
                </a14:m>
                <a:endParaRPr lang="en-GB" dirty="0"/>
              </a:p>
            </p:txBody>
          </p:sp>
        </mc:Choice>
        <mc:Fallback xmlns="">
          <p:sp>
            <p:nvSpPr>
              <p:cNvPr id="10" name="TextBox 9">
                <a:extLst>
                  <a:ext uri="{FF2B5EF4-FFF2-40B4-BE49-F238E27FC236}">
                    <a16:creationId xmlns:a16="http://schemas.microsoft.com/office/drawing/2014/main" id="{822A2B9B-3FC8-10D3-9A37-43C57C0AB2BE}"/>
                  </a:ext>
                </a:extLst>
              </p:cNvPr>
              <p:cNvSpPr txBox="1">
                <a:spLocks noRot="1" noChangeAspect="1" noMove="1" noResize="1" noEditPoints="1" noAdjustHandles="1" noChangeArrowheads="1" noChangeShapeType="1" noTextEdit="1"/>
              </p:cNvSpPr>
              <p:nvPr/>
            </p:nvSpPr>
            <p:spPr>
              <a:xfrm>
                <a:off x="4654296" y="3389102"/>
                <a:ext cx="4572000" cy="62805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85EA3EE-9D99-17D7-EDB0-DBBC45F511B3}"/>
                  </a:ext>
                </a:extLst>
              </p:cNvPr>
              <p:cNvSpPr txBox="1"/>
              <p:nvPr/>
            </p:nvSpPr>
            <p:spPr>
              <a:xfrm>
                <a:off x="246888" y="4473860"/>
                <a:ext cx="8513063" cy="944746"/>
              </a:xfrm>
              <a:prstGeom prst="rect">
                <a:avLst/>
              </a:prstGeom>
              <a:noFill/>
            </p:spPr>
            <p:txBody>
              <a:bodyPr wrap="square" rtlCol="0">
                <a:spAutoFit/>
              </a:bodyPr>
              <a:lstStyle/>
              <a:p>
                <a:pPr algn="just"/>
                <a:r>
                  <a:rPr lang="en-GB" dirty="0">
                    <a:solidFill>
                      <a:srgbClr val="FF0000"/>
                    </a:solidFill>
                  </a:rPr>
                  <a:t>Note: Since change in inductor current is zero, you can take </a:t>
                </a:r>
                <a14:m>
                  <m:oMath xmlns:m="http://schemas.openxmlformats.org/officeDocument/2006/math">
                    <m:sSub>
                      <m:sSubPr>
                        <m:ctrlPr>
                          <a:rPr lang="en-GB" i="1" smtClean="0">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i="0">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i="0">
                            <a:solidFill>
                              <a:srgbClr val="FF0000"/>
                            </a:solidFill>
                            <a:latin typeface="Cambria Math" panose="02040503050406030204" pitchFamily="18" charset="0"/>
                          </a:rPr>
                          <m:t> </m:t>
                        </m:r>
                        <m:r>
                          <a:rPr lang="en-GB" i="1">
                            <a:solidFill>
                              <a:srgbClr val="FF0000"/>
                            </a:solidFill>
                            <a:latin typeface="Cambria Math" panose="02040503050406030204" pitchFamily="18" charset="0"/>
                          </a:rPr>
                          <m:t>𝑐𝑙𝑜𝑠𝑒𝑑</m:t>
                        </m:r>
                      </m:sub>
                    </m:sSub>
                  </m:oMath>
                </a14:m>
                <a:r>
                  <a:rPr lang="en-GB" dirty="0">
                    <a:solidFill>
                      <a:srgbClr val="FF0000"/>
                    </a:solidFill>
                  </a:rPr>
                  <a:t> or </a:t>
                </a:r>
                <a14:m>
                  <m:oMath xmlns:m="http://schemas.openxmlformats.org/officeDocument/2006/math">
                    <m:sSub>
                      <m:sSubPr>
                        <m:ctrlPr>
                          <a:rPr lang="en-GB" i="1">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a:solidFill>
                              <a:srgbClr val="FF0000"/>
                            </a:solidFill>
                            <a:latin typeface="Cambria Math" panose="02040503050406030204" pitchFamily="18" charset="0"/>
                          </a:rPr>
                          <m:t> </m:t>
                        </m:r>
                        <m:r>
                          <a:rPr lang="en-GB" b="0" i="1" smtClean="0">
                            <a:solidFill>
                              <a:srgbClr val="FF0000"/>
                            </a:solidFill>
                            <a:latin typeface="Cambria Math" panose="02040503050406030204" pitchFamily="18" charset="0"/>
                          </a:rPr>
                          <m:t>𝑜𝑝𝑒𝑛</m:t>
                        </m:r>
                      </m:sub>
                    </m:sSub>
                  </m:oMath>
                </a14:m>
                <a:r>
                  <a:rPr lang="en-GB" dirty="0">
                    <a:solidFill>
                      <a:srgbClr val="FF0000"/>
                    </a:solidFill>
                  </a:rPr>
                  <a:t>  to calculate max and min current. You need to consider the sign of the current.</a:t>
                </a:r>
              </a:p>
            </p:txBody>
          </p:sp>
        </mc:Choice>
        <mc:Fallback xmlns="">
          <p:sp>
            <p:nvSpPr>
              <p:cNvPr id="11" name="TextBox 10">
                <a:extLst>
                  <a:ext uri="{FF2B5EF4-FFF2-40B4-BE49-F238E27FC236}">
                    <a16:creationId xmlns:a16="http://schemas.microsoft.com/office/drawing/2014/main" id="{785EA3EE-9D99-17D7-EDB0-DBBC45F511B3}"/>
                  </a:ext>
                </a:extLst>
              </p:cNvPr>
              <p:cNvSpPr txBox="1">
                <a:spLocks noRot="1" noChangeAspect="1" noMove="1" noResize="1" noEditPoints="1" noAdjustHandles="1" noChangeArrowheads="1" noChangeShapeType="1" noTextEdit="1"/>
              </p:cNvSpPr>
              <p:nvPr/>
            </p:nvSpPr>
            <p:spPr>
              <a:xfrm>
                <a:off x="246888" y="4473860"/>
                <a:ext cx="8513063" cy="944746"/>
              </a:xfrm>
              <a:prstGeom prst="rect">
                <a:avLst/>
              </a:prstGeom>
              <a:blipFill>
                <a:blip r:embed="rId4"/>
                <a:stretch>
                  <a:fillRect l="-645" t="-3871" r="-573" b="-96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1488935-143A-B51E-81FD-10533719E831}"/>
                  </a:ext>
                </a:extLst>
              </p:cNvPr>
              <p:cNvSpPr txBox="1"/>
              <p:nvPr/>
            </p:nvSpPr>
            <p:spPr>
              <a:xfrm>
                <a:off x="75438" y="924819"/>
                <a:ext cx="22105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𝑃</m:t>
                          </m:r>
                        </m:e>
                        <m:sub>
                          <m:r>
                            <a:rPr lang="en-GB" b="0" i="1" smtClean="0">
                              <a:solidFill>
                                <a:schemeClr val="tx1"/>
                              </a:solidFill>
                              <a:latin typeface="Cambria Math" panose="02040503050406030204" pitchFamily="18" charset="0"/>
                            </a:rPr>
                            <m:t>𝐼𝑁</m:t>
                          </m:r>
                        </m:sub>
                      </m:sSub>
                      <m:r>
                        <a:rPr lang="en-GB" b="0" i="0" smtClean="0">
                          <a:solidFill>
                            <a:schemeClr val="tx1"/>
                          </a:solidFill>
                          <a:latin typeface="Cambria Math" panose="02040503050406030204" pitchFamily="18" charset="0"/>
                        </a:rPr>
                        <m:t>=</m:t>
                      </m:r>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𝑃</m:t>
                          </m:r>
                        </m:e>
                        <m:sub>
                          <m:r>
                            <a:rPr lang="en-GB" b="0" i="1" smtClean="0">
                              <a:solidFill>
                                <a:schemeClr val="tx1"/>
                              </a:solidFill>
                              <a:latin typeface="Cambria Math" panose="02040503050406030204" pitchFamily="18" charset="0"/>
                            </a:rPr>
                            <m:t>𝑂𝑈𝑇</m:t>
                          </m:r>
                          <m:r>
                            <a:rPr lang="en-GB" b="0" i="1" smtClean="0">
                              <a:solidFill>
                                <a:schemeClr val="tx1"/>
                              </a:solidFill>
                              <a:latin typeface="Cambria Math" panose="02040503050406030204" pitchFamily="18" charset="0"/>
                            </a:rPr>
                            <m:t>  </m:t>
                          </m:r>
                        </m:sub>
                      </m:sSub>
                    </m:oMath>
                  </m:oMathPara>
                </a14:m>
                <a:endParaRPr lang="en-GB" dirty="0"/>
              </a:p>
            </p:txBody>
          </p:sp>
        </mc:Choice>
        <mc:Fallback xmlns="">
          <p:sp>
            <p:nvSpPr>
              <p:cNvPr id="2" name="TextBox 1">
                <a:extLst>
                  <a:ext uri="{FF2B5EF4-FFF2-40B4-BE49-F238E27FC236}">
                    <a16:creationId xmlns:a16="http://schemas.microsoft.com/office/drawing/2014/main" id="{61488935-143A-B51E-81FD-10533719E831}"/>
                  </a:ext>
                </a:extLst>
              </p:cNvPr>
              <p:cNvSpPr txBox="1">
                <a:spLocks noRot="1" noChangeAspect="1" noMove="1" noResize="1" noEditPoints="1" noAdjustHandles="1" noChangeArrowheads="1" noChangeShapeType="1" noTextEdit="1"/>
              </p:cNvSpPr>
              <p:nvPr/>
            </p:nvSpPr>
            <p:spPr>
              <a:xfrm>
                <a:off x="75438" y="924819"/>
                <a:ext cx="2210562" cy="369332"/>
              </a:xfrm>
              <a:prstGeom prst="rect">
                <a:avLst/>
              </a:prstGeom>
              <a:blipFill>
                <a:blip r:embed="rId5"/>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25F2E214-06D0-89BD-87D6-B48C4DE269C5}"/>
              </a:ext>
            </a:extLst>
          </p:cNvPr>
          <p:cNvSpPr txBox="1"/>
          <p:nvPr/>
        </p:nvSpPr>
        <p:spPr>
          <a:xfrm>
            <a:off x="182880" y="524713"/>
            <a:ext cx="2544158" cy="369332"/>
          </a:xfrm>
          <a:prstGeom prst="rect">
            <a:avLst/>
          </a:prstGeom>
          <a:noFill/>
        </p:spPr>
        <p:txBody>
          <a:bodyPr wrap="none" rtlCol="0">
            <a:spAutoFit/>
          </a:bodyPr>
          <a:lstStyle/>
          <a:p>
            <a:r>
              <a:rPr lang="en-GB" dirty="0"/>
              <a:t>Assuming lossless system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04312F-B4FC-0B3E-2A3B-C95AB5793669}"/>
                  </a:ext>
                </a:extLst>
              </p:cNvPr>
              <p:cNvSpPr txBox="1"/>
              <p:nvPr/>
            </p:nvSpPr>
            <p:spPr>
              <a:xfrm>
                <a:off x="246888" y="1452407"/>
                <a:ext cx="3279398" cy="663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p>
                            <m:sSupPr>
                              <m:ctrlPr>
                                <a:rPr lang="en-GB" i="1" smtClean="0">
                                  <a:solidFill>
                                    <a:srgbClr val="836967"/>
                                  </a:solidFill>
                                  <a:latin typeface="Cambria Math" panose="02040503050406030204" pitchFamily="18" charset="0"/>
                                </a:rPr>
                              </m:ctrlPr>
                            </m:sSupPr>
                            <m:e>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e>
                            <m:sup>
                              <m:r>
                                <a:rPr lang="en-GB" b="0" i="1" smtClean="0">
                                  <a:solidFill>
                                    <a:srgbClr val="836967"/>
                                  </a:solidFill>
                                  <a:latin typeface="Cambria Math" panose="02040503050406030204" pitchFamily="18" charset="0"/>
                                </a:rPr>
                                <m:t>2</m:t>
                              </m:r>
                            </m:sup>
                          </m:sSup>
                        </m:num>
                        <m:den>
                          <m:r>
                            <m:rPr>
                              <m:sty m:val="p"/>
                            </m:rPr>
                            <a:rPr lang="en-GB">
                              <a:latin typeface="Cambria Math" panose="02040503050406030204" pitchFamily="18" charset="0"/>
                            </a:rPr>
                            <m:t>R</m:t>
                          </m:r>
                        </m:den>
                      </m:f>
                    </m:oMath>
                  </m:oMathPara>
                </a14:m>
                <a:endParaRPr lang="en-GB" dirty="0"/>
              </a:p>
            </p:txBody>
          </p:sp>
        </mc:Choice>
        <mc:Fallback xmlns="">
          <p:sp>
            <p:nvSpPr>
              <p:cNvPr id="6" name="TextBox 5">
                <a:extLst>
                  <a:ext uri="{FF2B5EF4-FFF2-40B4-BE49-F238E27FC236}">
                    <a16:creationId xmlns:a16="http://schemas.microsoft.com/office/drawing/2014/main" id="{A904312F-B4FC-0B3E-2A3B-C95AB5793669}"/>
                  </a:ext>
                </a:extLst>
              </p:cNvPr>
              <p:cNvSpPr txBox="1">
                <a:spLocks noRot="1" noChangeAspect="1" noMove="1" noResize="1" noEditPoints="1" noAdjustHandles="1" noChangeArrowheads="1" noChangeShapeType="1" noTextEdit="1"/>
              </p:cNvSpPr>
              <p:nvPr/>
            </p:nvSpPr>
            <p:spPr>
              <a:xfrm>
                <a:off x="246888" y="1452407"/>
                <a:ext cx="3279398" cy="663771"/>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C1285A5-691C-2315-29CA-70A5AEE5A655}"/>
                  </a:ext>
                </a:extLst>
              </p:cNvPr>
              <p:cNvSpPr txBox="1"/>
              <p:nvPr/>
            </p:nvSpPr>
            <p:spPr>
              <a:xfrm>
                <a:off x="2267712" y="856350"/>
                <a:ext cx="3279398" cy="391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             </m:t>
                          </m:r>
                          <m:r>
                            <a:rPr lang="en-GB" b="0" i="1" smtClean="0">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𝑉</m:t>
                          </m:r>
                        </m:e>
                        <m:sub>
                          <m:r>
                            <a:rPr lang="en-GB" i="1">
                              <a:latin typeface="Cambria Math" panose="02040503050406030204" pitchFamily="18" charset="0"/>
                            </a:rPr>
                            <m:t>𝑂𝑈</m:t>
                          </m:r>
                          <m:r>
                            <a:rPr lang="en-GB" b="0" i="1" smtClean="0">
                              <a:latin typeface="Cambria Math" panose="02040503050406030204" pitchFamily="18" charset="0"/>
                            </a:rPr>
                            <m:t>𝑇</m:t>
                          </m:r>
                        </m:sub>
                      </m:sSub>
                      <m:sSub>
                        <m:sSubPr>
                          <m:ctrlPr>
                            <a:rPr lang="en-GB"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𝑂𝑈𝑇</m:t>
                          </m:r>
                          <m:r>
                            <a:rPr lang="en-GB" b="0" i="1" smtClean="0">
                              <a:latin typeface="Cambria Math" panose="02040503050406030204" pitchFamily="18" charset="0"/>
                            </a:rPr>
                            <m:t> </m:t>
                          </m:r>
                        </m:sub>
                      </m:sSub>
                    </m:oMath>
                  </m:oMathPara>
                </a14:m>
                <a:endParaRPr lang="en-GB" dirty="0"/>
              </a:p>
            </p:txBody>
          </p:sp>
        </mc:Choice>
        <mc:Fallback xmlns="">
          <p:sp>
            <p:nvSpPr>
              <p:cNvPr id="12" name="TextBox 11">
                <a:extLst>
                  <a:ext uri="{FF2B5EF4-FFF2-40B4-BE49-F238E27FC236}">
                    <a16:creationId xmlns:a16="http://schemas.microsoft.com/office/drawing/2014/main" id="{4C1285A5-691C-2315-29CA-70A5AEE5A655}"/>
                  </a:ext>
                </a:extLst>
              </p:cNvPr>
              <p:cNvSpPr txBox="1">
                <a:spLocks noRot="1" noChangeAspect="1" noMove="1" noResize="1" noEditPoints="1" noAdjustHandles="1" noChangeArrowheads="1" noChangeShapeType="1" noTextEdit="1"/>
              </p:cNvSpPr>
              <p:nvPr/>
            </p:nvSpPr>
            <p:spPr>
              <a:xfrm>
                <a:off x="2267712" y="856350"/>
                <a:ext cx="3279398" cy="391902"/>
              </a:xfrm>
              <a:prstGeom prst="rect">
                <a:avLst/>
              </a:prstGeom>
              <a:blipFill>
                <a:blip r:embed="rId7"/>
                <a:stretch>
                  <a:fillRect b="-46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F583CAE-EDF5-6B1E-25C9-B217213652B5}"/>
                  </a:ext>
                </a:extLst>
              </p:cNvPr>
              <p:cNvSpPr txBox="1"/>
              <p:nvPr/>
            </p:nvSpPr>
            <p:spPr>
              <a:xfrm>
                <a:off x="5622623" y="714404"/>
                <a:ext cx="3400219"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 </m:t>
                          </m:r>
                          <m:r>
                            <a:rPr lang="en-GB" b="0" i="1" smtClean="0">
                              <a:latin typeface="Cambria Math" panose="02040503050406030204" pitchFamily="18" charset="0"/>
                            </a:rPr>
                            <m:t>𝑎𝑣𝑔</m:t>
                          </m:r>
                        </m:sub>
                      </m:sSub>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num>
                        <m:den>
                          <m:r>
                            <m:rPr>
                              <m:sty m:val="p"/>
                            </m:rPr>
                            <a:rPr lang="en-GB">
                              <a:latin typeface="Cambria Math" panose="02040503050406030204" pitchFamily="18" charset="0"/>
                            </a:rPr>
                            <m:t>R</m:t>
                          </m:r>
                        </m:den>
                      </m:f>
                    </m:oMath>
                  </m:oMathPara>
                </a14:m>
                <a:endParaRPr lang="en-GB" dirty="0"/>
              </a:p>
            </p:txBody>
          </p:sp>
        </mc:Choice>
        <mc:Fallback xmlns="">
          <p:sp>
            <p:nvSpPr>
              <p:cNvPr id="15" name="TextBox 14">
                <a:extLst>
                  <a:ext uri="{FF2B5EF4-FFF2-40B4-BE49-F238E27FC236}">
                    <a16:creationId xmlns:a16="http://schemas.microsoft.com/office/drawing/2014/main" id="{9F583CAE-EDF5-6B1E-25C9-B217213652B5}"/>
                  </a:ext>
                </a:extLst>
              </p:cNvPr>
              <p:cNvSpPr txBox="1">
                <a:spLocks noRot="1" noChangeAspect="1" noMove="1" noResize="1" noEditPoints="1" noAdjustHandles="1" noChangeArrowheads="1" noChangeShapeType="1" noTextEdit="1"/>
              </p:cNvSpPr>
              <p:nvPr/>
            </p:nvSpPr>
            <p:spPr>
              <a:xfrm>
                <a:off x="5622623" y="714404"/>
                <a:ext cx="3400219" cy="60907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E23B055-B35A-122B-45FC-D645DF37D342}"/>
                  </a:ext>
                </a:extLst>
              </p:cNvPr>
              <p:cNvSpPr txBox="1"/>
              <p:nvPr/>
            </p:nvSpPr>
            <p:spPr>
              <a:xfrm>
                <a:off x="3688330" y="1526227"/>
                <a:ext cx="4312670"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  </m:t>
                          </m:r>
                          <m:r>
                            <a:rPr lang="en-GB" b="0" i="1" smtClean="0">
                              <a:latin typeface="Cambria Math" panose="02040503050406030204" pitchFamily="18" charset="0"/>
                            </a:rPr>
                            <m:t>⇒</m:t>
                          </m:r>
                          <m:r>
                            <a:rPr lang="en-GB" i="1">
                              <a:latin typeface="Cambria Math" panose="02040503050406030204" pitchFamily="18" charset="0"/>
                            </a:rPr>
                            <m:t>          </m:t>
                          </m:r>
                          <m:r>
                            <a:rPr lang="en-GB" i="1">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r>
                        <a:rPr lang="en-GB" b="0" i="0" smtClean="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num>
                        <m:den>
                          <m:r>
                            <a:rPr lang="en-GB" b="0" i="1" smtClean="0">
                              <a:latin typeface="Cambria Math" panose="02040503050406030204" pitchFamily="18" charset="0"/>
                            </a:rPr>
                            <m:t>1−</m:t>
                          </m:r>
                          <m:r>
                            <a:rPr lang="en-GB" b="0" i="1" smtClean="0">
                              <a:latin typeface="Cambria Math" panose="02040503050406030204" pitchFamily="18" charset="0"/>
                            </a:rPr>
                            <m:t>𝐷</m:t>
                          </m:r>
                        </m:den>
                      </m:f>
                      <m:sSup>
                        <m:sSupPr>
                          <m:ctrlPr>
                            <a:rPr lang="en-GB"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r>
                        <a:rPr lang="en-GB" i="1" smtClean="0">
                          <a:latin typeface="Cambria Math" panose="02040503050406030204" pitchFamily="18" charset="0"/>
                          <a:ea typeface="Cambria Math" panose="02040503050406030204" pitchFamily="18" charset="0"/>
                        </a:rPr>
                        <m:t>×</m:t>
                      </m:r>
                      <m:f>
                        <m:fPr>
                          <m:ctrlPr>
                            <a:rPr lang="en-GB" i="1">
                              <a:solidFill>
                                <a:srgbClr val="836967"/>
                              </a:solidFill>
                              <a:latin typeface="Cambria Math" panose="02040503050406030204" pitchFamily="18" charset="0"/>
                            </a:rPr>
                          </m:ctrlPr>
                        </m:fPr>
                        <m:num>
                          <m:r>
                            <a:rPr lang="en-GB" b="0" i="1" smtClean="0">
                              <a:solidFill>
                                <a:srgbClr val="836967"/>
                              </a:solidFill>
                              <a:latin typeface="Cambria Math" panose="02040503050406030204" pitchFamily="18" charset="0"/>
                            </a:rPr>
                            <m:t>1</m:t>
                          </m:r>
                        </m:num>
                        <m:den>
                          <m:r>
                            <m:rPr>
                              <m:sty m:val="p"/>
                            </m:rPr>
                            <a:rPr lang="en-GB">
                              <a:latin typeface="Cambria Math" panose="02040503050406030204" pitchFamily="18" charset="0"/>
                            </a:rPr>
                            <m:t>R</m:t>
                          </m:r>
                        </m:den>
                      </m:f>
                    </m:oMath>
                  </m:oMathPara>
                </a14:m>
                <a:endParaRPr lang="en-GB" dirty="0"/>
              </a:p>
            </p:txBody>
          </p:sp>
        </mc:Choice>
        <mc:Fallback xmlns="">
          <p:sp>
            <p:nvSpPr>
              <p:cNvPr id="16" name="TextBox 15">
                <a:extLst>
                  <a:ext uri="{FF2B5EF4-FFF2-40B4-BE49-F238E27FC236}">
                    <a16:creationId xmlns:a16="http://schemas.microsoft.com/office/drawing/2014/main" id="{FE23B055-B35A-122B-45FC-D645DF37D342}"/>
                  </a:ext>
                </a:extLst>
              </p:cNvPr>
              <p:cNvSpPr txBox="1">
                <a:spLocks noRot="1" noChangeAspect="1" noMove="1" noResize="1" noEditPoints="1" noAdjustHandles="1" noChangeArrowheads="1" noChangeShapeType="1" noTextEdit="1"/>
              </p:cNvSpPr>
              <p:nvPr/>
            </p:nvSpPr>
            <p:spPr>
              <a:xfrm>
                <a:off x="3688330" y="1526227"/>
                <a:ext cx="4312670" cy="60907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90DF07-D63F-D70F-6480-9EB42C1AE1E0}"/>
                  </a:ext>
                </a:extLst>
              </p:cNvPr>
              <p:cNvSpPr txBox="1"/>
              <p:nvPr/>
            </p:nvSpPr>
            <p:spPr>
              <a:xfrm>
                <a:off x="1966210" y="2390966"/>
                <a:ext cx="4312670" cy="6787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num>
                        <m:den>
                          <m:r>
                            <a:rPr lang="en-GB" b="0" i="1" smtClean="0">
                              <a:latin typeface="Cambria Math" panose="02040503050406030204" pitchFamily="18" charset="0"/>
                            </a:rPr>
                            <m:t>(1−</m:t>
                          </m:r>
                          <m:r>
                            <a:rPr lang="en-GB" b="0" i="1" smtClean="0">
                              <a:latin typeface="Cambria Math" panose="02040503050406030204" pitchFamily="18" charset="0"/>
                            </a:rPr>
                            <m:t>𝐷</m:t>
                          </m:r>
                          <m:sSup>
                            <m:sSupPr>
                              <m:ctrlPr>
                                <a:rPr lang="en-GB" b="0"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r>
                            <a:rPr lang="en-GB" b="0" i="1" smtClean="0">
                              <a:latin typeface="Cambria Math" panose="02040503050406030204" pitchFamily="18" charset="0"/>
                            </a:rPr>
                            <m:t>𝑅</m:t>
                          </m:r>
                        </m:den>
                      </m:f>
                    </m:oMath>
                  </m:oMathPara>
                </a14:m>
                <a:endParaRPr lang="en-GB" dirty="0"/>
              </a:p>
            </p:txBody>
          </p:sp>
        </mc:Choice>
        <mc:Fallback xmlns="">
          <p:sp>
            <p:nvSpPr>
              <p:cNvPr id="17" name="TextBox 16">
                <a:extLst>
                  <a:ext uri="{FF2B5EF4-FFF2-40B4-BE49-F238E27FC236}">
                    <a16:creationId xmlns:a16="http://schemas.microsoft.com/office/drawing/2014/main" id="{3090DF07-D63F-D70F-6480-9EB42C1AE1E0}"/>
                  </a:ext>
                </a:extLst>
              </p:cNvPr>
              <p:cNvSpPr txBox="1">
                <a:spLocks noRot="1" noChangeAspect="1" noMove="1" noResize="1" noEditPoints="1" noAdjustHandles="1" noChangeArrowheads="1" noChangeShapeType="1" noTextEdit="1"/>
              </p:cNvSpPr>
              <p:nvPr/>
            </p:nvSpPr>
            <p:spPr>
              <a:xfrm>
                <a:off x="1966210" y="2390966"/>
                <a:ext cx="4312670" cy="678776"/>
              </a:xfrm>
              <a:prstGeom prst="rect">
                <a:avLst/>
              </a:prstGeom>
              <a:blipFill>
                <a:blip r:embed="rId1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1793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2" grpId="0"/>
      <p:bldP spid="6" grpId="0"/>
      <p:bldP spid="12" grpId="0"/>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2">
            <a:extLst>
              <a:ext uri="{FF2B5EF4-FFF2-40B4-BE49-F238E27FC236}">
                <a16:creationId xmlns:a16="http://schemas.microsoft.com/office/drawing/2014/main" id="{8B1D535C-7AD7-4B9F-018D-48BAEA6CDDFB}"/>
              </a:ext>
            </a:extLst>
          </p:cNvPr>
          <p:cNvSpPr txBox="1">
            <a:spLocks noChangeArrowheads="1"/>
          </p:cNvSpPr>
          <p:nvPr/>
        </p:nvSpPr>
        <p:spPr bwMode="auto">
          <a:xfrm>
            <a:off x="107950" y="115888"/>
            <a:ext cx="45533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Boost converter Output Voltage Ripples</a:t>
            </a:r>
            <a:endParaRPr lang="en-US" altLang="en-US" sz="1800" b="1" u="sng" dirty="0"/>
          </a:p>
        </p:txBody>
      </p:sp>
      <p:sp>
        <p:nvSpPr>
          <p:cNvPr id="4" name="TextBox 3">
            <a:extLst>
              <a:ext uri="{FF2B5EF4-FFF2-40B4-BE49-F238E27FC236}">
                <a16:creationId xmlns:a16="http://schemas.microsoft.com/office/drawing/2014/main" id="{043E728C-7403-68D5-E381-03526F644FF5}"/>
              </a:ext>
            </a:extLst>
          </p:cNvPr>
          <p:cNvSpPr txBox="1"/>
          <p:nvPr/>
        </p:nvSpPr>
        <p:spPr>
          <a:xfrm>
            <a:off x="118473" y="498723"/>
            <a:ext cx="8917577" cy="646331"/>
          </a:xfrm>
          <a:prstGeom prst="rect">
            <a:avLst/>
          </a:prstGeom>
          <a:noFill/>
        </p:spPr>
        <p:txBody>
          <a:bodyPr wrap="square">
            <a:spAutoFit/>
          </a:bodyPr>
          <a:lstStyle/>
          <a:p>
            <a:pPr marL="285750" indent="-285750">
              <a:buFont typeface="Arial" panose="020B0604020202020204" pitchFamily="34" charset="0"/>
              <a:buChar char="•"/>
            </a:pPr>
            <a:r>
              <a:rPr lang="en-GB" dirty="0"/>
              <a:t>Assuming that all the ripple current component of the diode current flows through the capacitor and its average value flows through the load resistor.</a:t>
            </a:r>
          </a:p>
        </p:txBody>
      </p:sp>
      <p:pic>
        <p:nvPicPr>
          <p:cNvPr id="7" name="Picture 6">
            <a:extLst>
              <a:ext uri="{FF2B5EF4-FFF2-40B4-BE49-F238E27FC236}">
                <a16:creationId xmlns:a16="http://schemas.microsoft.com/office/drawing/2014/main" id="{373CCB16-7285-2C6C-BFCE-7800BA12A650}"/>
              </a:ext>
            </a:extLst>
          </p:cNvPr>
          <p:cNvPicPr>
            <a:picLocks noChangeAspect="1"/>
          </p:cNvPicPr>
          <p:nvPr/>
        </p:nvPicPr>
        <p:blipFill>
          <a:blip r:embed="rId2"/>
          <a:stretch>
            <a:fillRect/>
          </a:stretch>
        </p:blipFill>
        <p:spPr>
          <a:xfrm>
            <a:off x="1459134" y="1774965"/>
            <a:ext cx="1555446" cy="481775"/>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16C181B-DBB8-7F1C-83A6-E9BC4CC89D3A}"/>
                  </a:ext>
                </a:extLst>
              </p:cNvPr>
              <p:cNvSpPr txBox="1"/>
              <p:nvPr/>
            </p:nvSpPr>
            <p:spPr>
              <a:xfrm>
                <a:off x="171649" y="2273882"/>
                <a:ext cx="2065208" cy="4001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r>
                        <m:rPr>
                          <m:sty m:val="p"/>
                        </m:rPr>
                        <a:rPr lang="en-GB" sz="2000" b="0" i="0" smtClean="0">
                          <a:latin typeface="Cambria Math" panose="02040503050406030204" pitchFamily="18" charset="0"/>
                        </a:rPr>
                        <m:t>Q</m:t>
                      </m:r>
                      <m:r>
                        <a:rPr lang="en-GB" sz="2000" b="0" i="0" smtClean="0">
                          <a:latin typeface="Cambria Math" panose="02040503050406030204" pitchFamily="18" charset="0"/>
                        </a:rPr>
                        <m:t>=  </m:t>
                      </m:r>
                      <m:r>
                        <m:rPr>
                          <m:sty m:val="p"/>
                        </m:rPr>
                        <a:rPr lang="en-GB" sz="2000" b="0" i="0" smtClean="0">
                          <a:latin typeface="Cambria Math" panose="02040503050406030204" pitchFamily="18" charset="0"/>
                        </a:rPr>
                        <m:t>C</m:t>
                      </m:r>
                      <m:r>
                        <a:rPr lang="en-GB" sz="2000" b="0" i="0" smtClean="0">
                          <a:latin typeface="Cambria Math" panose="02040503050406030204" pitchFamily="18" charset="0"/>
                        </a:rPr>
                        <m:t> ∆</m:t>
                      </m:r>
                      <m:sSub>
                        <m:sSubPr>
                          <m:ctrlPr>
                            <a:rPr lang="en-US" sz="2000" i="1">
                              <a:solidFill>
                                <a:srgbClr val="836967"/>
                              </a:solidFill>
                              <a:latin typeface="Cambria Math" panose="02040503050406030204" pitchFamily="18" charset="0"/>
                            </a:rPr>
                          </m:ctrlPr>
                        </m:sSubPr>
                        <m:e>
                          <m:r>
                            <a:rPr lang="en-GB" sz="2000" b="0" i="1" smtClean="0">
                              <a:latin typeface="Cambria Math" panose="02040503050406030204" pitchFamily="18" charset="0"/>
                            </a:rPr>
                            <m:t>𝑉</m:t>
                          </m:r>
                        </m:e>
                        <m:sub>
                          <m:r>
                            <a:rPr lang="en-GB" sz="2000" b="0" i="1" smtClean="0">
                              <a:latin typeface="Cambria Math" panose="02040503050406030204" pitchFamily="18" charset="0"/>
                            </a:rPr>
                            <m:t>𝑂𝑈𝑇</m:t>
                          </m:r>
                        </m:sub>
                      </m:sSub>
                    </m:oMath>
                  </m:oMathPara>
                </a14:m>
                <a:endParaRPr lang="en-GB" sz="2000" dirty="0"/>
              </a:p>
            </p:txBody>
          </p:sp>
        </mc:Choice>
        <mc:Fallback xmlns="">
          <p:sp>
            <p:nvSpPr>
              <p:cNvPr id="20" name="TextBox 19">
                <a:extLst>
                  <a:ext uri="{FF2B5EF4-FFF2-40B4-BE49-F238E27FC236}">
                    <a16:creationId xmlns:a16="http://schemas.microsoft.com/office/drawing/2014/main" id="{B16C181B-DBB8-7F1C-83A6-E9BC4CC89D3A}"/>
                  </a:ext>
                </a:extLst>
              </p:cNvPr>
              <p:cNvSpPr txBox="1">
                <a:spLocks noRot="1" noChangeAspect="1" noMove="1" noResize="1" noEditPoints="1" noAdjustHandles="1" noChangeArrowheads="1" noChangeShapeType="1" noTextEdit="1"/>
              </p:cNvSpPr>
              <p:nvPr/>
            </p:nvSpPr>
            <p:spPr>
              <a:xfrm>
                <a:off x="171649" y="2273882"/>
                <a:ext cx="2065208" cy="400110"/>
              </a:xfrm>
              <a:prstGeom prst="rect">
                <a:avLst/>
              </a:prstGeom>
              <a:blipFill>
                <a:blip r:embed="rId3"/>
                <a:stretch>
                  <a:fillRect b="-8824"/>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66C624C-1F99-8561-33A4-FFB63EE9D766}"/>
                  </a:ext>
                </a:extLst>
              </p:cNvPr>
              <p:cNvSpPr txBox="1"/>
              <p:nvPr/>
            </p:nvSpPr>
            <p:spPr>
              <a:xfrm>
                <a:off x="307734" y="2956019"/>
                <a:ext cx="3403453" cy="668581"/>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sub>
                      </m:sSub>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𝐼</m:t>
                              </m:r>
                            </m:e>
                            <m:sub>
                              <m:r>
                                <a:rPr lang="en-GB" sz="2000" b="0" i="1" smtClean="0">
                                  <a:solidFill>
                                    <a:srgbClr val="00B050"/>
                                  </a:solidFill>
                                  <a:latin typeface="Cambria Math" panose="02040503050406030204" pitchFamily="18" charset="0"/>
                                </a:rPr>
                                <m:t>𝑜</m:t>
                              </m:r>
                            </m:sub>
                          </m:sSub>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𝑡</m:t>
                              </m:r>
                            </m:e>
                            <m:sub>
                              <m:r>
                                <a:rPr lang="en-GB" sz="2000" b="0" i="1" smtClean="0">
                                  <a:solidFill>
                                    <a:srgbClr val="00B050"/>
                                  </a:solidFill>
                                  <a:latin typeface="Cambria Math" panose="02040503050406030204" pitchFamily="18" charset="0"/>
                                </a:rPr>
                                <m:t>𝑜𝑛</m:t>
                              </m:r>
                            </m:sub>
                          </m:sSub>
                        </m:num>
                        <m:den>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21" name="TextBox 20">
                <a:extLst>
                  <a:ext uri="{FF2B5EF4-FFF2-40B4-BE49-F238E27FC236}">
                    <a16:creationId xmlns:a16="http://schemas.microsoft.com/office/drawing/2014/main" id="{666C624C-1F99-8561-33A4-FFB63EE9D766}"/>
                  </a:ext>
                </a:extLst>
              </p:cNvPr>
              <p:cNvSpPr txBox="1">
                <a:spLocks noRot="1" noChangeAspect="1" noMove="1" noResize="1" noEditPoints="1" noAdjustHandles="1" noChangeArrowheads="1" noChangeShapeType="1" noTextEdit="1"/>
              </p:cNvSpPr>
              <p:nvPr/>
            </p:nvSpPr>
            <p:spPr>
              <a:xfrm>
                <a:off x="307734" y="2956019"/>
                <a:ext cx="3403453" cy="668581"/>
              </a:xfrm>
              <a:prstGeom prst="rect">
                <a:avLst/>
              </a:prstGeom>
              <a:blipFill>
                <a:blip r:embed="rId4"/>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B37E336-F700-E3A3-2735-4BF2ABB3ABC0}"/>
                  </a:ext>
                </a:extLst>
              </p:cNvPr>
              <p:cNvSpPr txBox="1"/>
              <p:nvPr/>
            </p:nvSpPr>
            <p:spPr>
              <a:xfrm>
                <a:off x="2175943" y="2139549"/>
                <a:ext cx="2134466" cy="66652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sub>
                      </m:sSub>
                      <m:r>
                        <a:rPr lang="en-GB" sz="2000" b="0" i="0" smtClean="0">
                          <a:latin typeface="Cambria Math" panose="02040503050406030204" pitchFamily="18" charset="0"/>
                        </a:rPr>
                        <m:t>=</m:t>
                      </m:r>
                      <m:f>
                        <m:fPr>
                          <m:ctrlPr>
                            <a:rPr lang="en-US" sz="2000" i="1">
                              <a:latin typeface="Cambria Math" panose="02040503050406030204" pitchFamily="18" charset="0"/>
                            </a:rPr>
                          </m:ctrlPr>
                        </m:fPr>
                        <m:num>
                          <m:r>
                            <a:rPr lang="en-US" sz="2000" smtClean="0">
                              <a:solidFill>
                                <a:srgbClr val="00B050"/>
                              </a:solidFill>
                              <a:latin typeface="Cambria Math" panose="02040503050406030204" pitchFamily="18" charset="0"/>
                            </a:rPr>
                            <m:t>∆</m:t>
                          </m:r>
                          <m:r>
                            <m:rPr>
                              <m:sty m:val="p"/>
                            </m:rPr>
                            <a:rPr lang="en-GB" sz="2000">
                              <a:solidFill>
                                <a:srgbClr val="00B050"/>
                              </a:solidFill>
                              <a:latin typeface="Cambria Math" panose="02040503050406030204" pitchFamily="18" charset="0"/>
                            </a:rPr>
                            <m:t>Q</m:t>
                          </m:r>
                        </m:num>
                        <m:den>
                          <m:r>
                            <m:rPr>
                              <m:sty m:val="p"/>
                            </m:rPr>
                            <a:rPr lang="en-GB" sz="2000" smtClean="0">
                              <a:solidFill>
                                <a:srgbClr val="4D2CFA"/>
                              </a:solidFill>
                              <a:latin typeface="Cambria Math" panose="02040503050406030204" pitchFamily="18" charset="0"/>
                            </a:rPr>
                            <m:t>C</m:t>
                          </m:r>
                        </m:den>
                      </m:f>
                    </m:oMath>
                  </m:oMathPara>
                </a14:m>
                <a:endParaRPr lang="en-GB" sz="2000" dirty="0"/>
              </a:p>
            </p:txBody>
          </p:sp>
        </mc:Choice>
        <mc:Fallback xmlns="">
          <p:sp>
            <p:nvSpPr>
              <p:cNvPr id="22" name="TextBox 21">
                <a:extLst>
                  <a:ext uri="{FF2B5EF4-FFF2-40B4-BE49-F238E27FC236}">
                    <a16:creationId xmlns:a16="http://schemas.microsoft.com/office/drawing/2014/main" id="{7B37E336-F700-E3A3-2735-4BF2ABB3ABC0}"/>
                  </a:ext>
                </a:extLst>
              </p:cNvPr>
              <p:cNvSpPr txBox="1">
                <a:spLocks noRot="1" noChangeAspect="1" noMove="1" noResize="1" noEditPoints="1" noAdjustHandles="1" noChangeArrowheads="1" noChangeShapeType="1" noTextEdit="1"/>
              </p:cNvSpPr>
              <p:nvPr/>
            </p:nvSpPr>
            <p:spPr>
              <a:xfrm>
                <a:off x="2175943" y="2139549"/>
                <a:ext cx="2134466" cy="666529"/>
              </a:xfrm>
              <a:prstGeom prst="rect">
                <a:avLst/>
              </a:prstGeom>
              <a:blipFill>
                <a:blip r:embed="rId5"/>
                <a:stretch>
                  <a:fillRect/>
                </a:stretch>
              </a:blipFill>
              <a:ln>
                <a:solidFill>
                  <a:schemeClr val="bg1"/>
                </a:solidFill>
              </a:ln>
            </p:spPr>
            <p:txBody>
              <a:bodyPr/>
              <a:lstStyle/>
              <a:p>
                <a:r>
                  <a:rPr lang="en-GB">
                    <a:noFill/>
                  </a:rPr>
                  <a:t> </a:t>
                </a:r>
              </a:p>
            </p:txBody>
          </p:sp>
        </mc:Fallback>
      </mc:AlternateContent>
      <p:pic>
        <p:nvPicPr>
          <p:cNvPr id="6" name="Picture 5">
            <a:extLst>
              <a:ext uri="{FF2B5EF4-FFF2-40B4-BE49-F238E27FC236}">
                <a16:creationId xmlns:a16="http://schemas.microsoft.com/office/drawing/2014/main" id="{618A8BF9-A5FC-03FF-D0A1-1AE6DB73558C}"/>
              </a:ext>
            </a:extLst>
          </p:cNvPr>
          <p:cNvPicPr>
            <a:picLocks noChangeAspect="1"/>
          </p:cNvPicPr>
          <p:nvPr/>
        </p:nvPicPr>
        <p:blipFill>
          <a:blip r:embed="rId6"/>
          <a:stretch>
            <a:fillRect/>
          </a:stretch>
        </p:blipFill>
        <p:spPr>
          <a:xfrm>
            <a:off x="4310409" y="3429000"/>
            <a:ext cx="4754483" cy="313169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3C118F1-7355-1D2F-3E6E-0079E50B1346}"/>
                  </a:ext>
                </a:extLst>
              </p:cNvPr>
              <p:cNvSpPr txBox="1"/>
              <p:nvPr/>
            </p:nvSpPr>
            <p:spPr>
              <a:xfrm>
                <a:off x="368798" y="3906627"/>
                <a:ext cx="3403453" cy="668581"/>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r>
                            <a:rPr lang="en-GB" sz="2000" b="0" i="1" smtClean="0">
                              <a:latin typeface="Cambria Math" panose="02040503050406030204" pitchFamily="18" charset="0"/>
                            </a:rPr>
                            <m:t> </m:t>
                          </m:r>
                        </m:sub>
                      </m:sSub>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𝑉</m:t>
                              </m:r>
                            </m:e>
                            <m:sub>
                              <m:r>
                                <a:rPr lang="en-GB" sz="2000" b="0" i="1" smtClean="0">
                                  <a:solidFill>
                                    <a:srgbClr val="00B050"/>
                                  </a:solidFill>
                                  <a:latin typeface="Cambria Math" panose="02040503050406030204" pitchFamily="18" charset="0"/>
                                </a:rPr>
                                <m:t>𝑂𝑈𝑇</m:t>
                              </m:r>
                            </m:sub>
                          </m:sSub>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𝑡</m:t>
                              </m:r>
                            </m:e>
                            <m:sub>
                              <m:r>
                                <a:rPr lang="en-GB" sz="2000" b="0" i="1" smtClean="0">
                                  <a:solidFill>
                                    <a:srgbClr val="00B050"/>
                                  </a:solidFill>
                                  <a:latin typeface="Cambria Math" panose="02040503050406030204" pitchFamily="18" charset="0"/>
                                </a:rPr>
                                <m:t>𝑜𝑛</m:t>
                              </m:r>
                            </m:sub>
                          </m:sSub>
                        </m:num>
                        <m:den>
                          <m:r>
                            <a:rPr lang="en-GB" sz="2000" b="0" i="1" smtClean="0">
                              <a:solidFill>
                                <a:srgbClr val="00B050"/>
                              </a:solidFill>
                              <a:latin typeface="Cambria Math" panose="02040503050406030204" pitchFamily="18" charset="0"/>
                            </a:rPr>
                            <m:t>𝑅</m:t>
                          </m:r>
                          <m:r>
                            <a:rPr lang="en-GB" sz="2000" b="0" i="1" smtClean="0">
                              <a:solidFill>
                                <a:srgbClr val="4D2CFA"/>
                              </a:solidFill>
                              <a:latin typeface="Cambria Math" panose="02040503050406030204" pitchFamily="18" charset="0"/>
                            </a:rPr>
                            <m:t> </m:t>
                          </m:r>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8" name="TextBox 7">
                <a:extLst>
                  <a:ext uri="{FF2B5EF4-FFF2-40B4-BE49-F238E27FC236}">
                    <a16:creationId xmlns:a16="http://schemas.microsoft.com/office/drawing/2014/main" id="{F3C118F1-7355-1D2F-3E6E-0079E50B1346}"/>
                  </a:ext>
                </a:extLst>
              </p:cNvPr>
              <p:cNvSpPr txBox="1">
                <a:spLocks noRot="1" noChangeAspect="1" noMove="1" noResize="1" noEditPoints="1" noAdjustHandles="1" noChangeArrowheads="1" noChangeShapeType="1" noTextEdit="1"/>
              </p:cNvSpPr>
              <p:nvPr/>
            </p:nvSpPr>
            <p:spPr>
              <a:xfrm>
                <a:off x="368798" y="3906627"/>
                <a:ext cx="3403453" cy="668581"/>
              </a:xfrm>
              <a:prstGeom prst="rect">
                <a:avLst/>
              </a:prstGeom>
              <a:blipFill>
                <a:blip r:embed="rId7"/>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136C43-0F0E-C6CF-5922-EAA955777DA8}"/>
                  </a:ext>
                </a:extLst>
              </p:cNvPr>
              <p:cNvSpPr txBox="1"/>
              <p:nvPr/>
            </p:nvSpPr>
            <p:spPr>
              <a:xfrm>
                <a:off x="171649" y="4814168"/>
                <a:ext cx="3403453"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000" i="1" smtClean="0">
                              <a:latin typeface="Cambria Math" panose="02040503050406030204" pitchFamily="18" charset="0"/>
                            </a:rPr>
                          </m:ctrlPr>
                        </m:fPr>
                        <m:num>
                          <m:r>
                            <a:rPr lang="en-US" sz="200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r>
                                <a:rPr lang="en-GB" sz="2000" i="1">
                                  <a:latin typeface="Cambria Math" panose="02040503050406030204" pitchFamily="18" charset="0"/>
                                </a:rPr>
                                <m:t> </m:t>
                              </m:r>
                            </m:sub>
                          </m:sSub>
                        </m:num>
                        <m:den>
                          <m:sSub>
                            <m:sSubPr>
                              <m:ctrlPr>
                                <a:rPr lang="en-US" sz="2000" i="1" smtClean="0">
                                  <a:solidFill>
                                    <a:schemeClr val="tx1"/>
                                  </a:solidFill>
                                  <a:latin typeface="Cambria Math" panose="02040503050406030204" pitchFamily="18" charset="0"/>
                                </a:rPr>
                              </m:ctrlPr>
                            </m:sSubPr>
                            <m:e>
                              <m:r>
                                <a:rPr lang="en-GB" sz="2000" i="1">
                                  <a:solidFill>
                                    <a:schemeClr val="tx1"/>
                                  </a:solidFill>
                                  <a:latin typeface="Cambria Math" panose="02040503050406030204" pitchFamily="18" charset="0"/>
                                </a:rPr>
                                <m:t>𝑉</m:t>
                              </m:r>
                            </m:e>
                            <m:sub>
                              <m:r>
                                <a:rPr lang="en-GB" sz="2000" i="1">
                                  <a:solidFill>
                                    <a:schemeClr val="tx1"/>
                                  </a:solidFill>
                                  <a:latin typeface="Cambria Math" panose="02040503050406030204" pitchFamily="18" charset="0"/>
                                </a:rPr>
                                <m:t>𝑂𝑈𝑇</m:t>
                              </m:r>
                            </m:sub>
                          </m:sSub>
                        </m:den>
                      </m:f>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𝑡</m:t>
                              </m:r>
                            </m:e>
                            <m:sub>
                              <m:r>
                                <a:rPr lang="en-GB" sz="2000" b="0" i="1" smtClean="0">
                                  <a:solidFill>
                                    <a:srgbClr val="00B050"/>
                                  </a:solidFill>
                                  <a:latin typeface="Cambria Math" panose="02040503050406030204" pitchFamily="18" charset="0"/>
                                </a:rPr>
                                <m:t>𝑜𝑛</m:t>
                              </m:r>
                            </m:sub>
                          </m:sSub>
                        </m:num>
                        <m:den>
                          <m:r>
                            <a:rPr lang="en-GB" sz="2000" b="0" i="1" smtClean="0">
                              <a:solidFill>
                                <a:srgbClr val="00B050"/>
                              </a:solidFill>
                              <a:latin typeface="Cambria Math" panose="02040503050406030204" pitchFamily="18" charset="0"/>
                            </a:rPr>
                            <m:t>𝑅</m:t>
                          </m:r>
                          <m:r>
                            <a:rPr lang="en-GB" sz="2000" b="0" i="1" smtClean="0">
                              <a:solidFill>
                                <a:srgbClr val="4D2CFA"/>
                              </a:solidFill>
                              <a:latin typeface="Cambria Math" panose="02040503050406030204" pitchFamily="18" charset="0"/>
                            </a:rPr>
                            <m:t> </m:t>
                          </m:r>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10" name="TextBox 9">
                <a:extLst>
                  <a:ext uri="{FF2B5EF4-FFF2-40B4-BE49-F238E27FC236}">
                    <a16:creationId xmlns:a16="http://schemas.microsoft.com/office/drawing/2014/main" id="{02136C43-0F0E-C6CF-5922-EAA955777DA8}"/>
                  </a:ext>
                </a:extLst>
              </p:cNvPr>
              <p:cNvSpPr txBox="1">
                <a:spLocks noRot="1" noChangeAspect="1" noMove="1" noResize="1" noEditPoints="1" noAdjustHandles="1" noChangeArrowheads="1" noChangeShapeType="1" noTextEdit="1"/>
              </p:cNvSpPr>
              <p:nvPr/>
            </p:nvSpPr>
            <p:spPr>
              <a:xfrm>
                <a:off x="171649" y="4814168"/>
                <a:ext cx="3403453" cy="722890"/>
              </a:xfrm>
              <a:prstGeom prst="rect">
                <a:avLst/>
              </a:prstGeom>
              <a:blipFill>
                <a:blip r:embed="rId8"/>
                <a:stretch>
                  <a:fillRect/>
                </a:stretch>
              </a:blipFill>
              <a:ln>
                <a:solidFill>
                  <a:schemeClr val="bg1"/>
                </a:solidFill>
              </a:ln>
            </p:spPr>
            <p:txBody>
              <a:bodyPr/>
              <a:lstStyle/>
              <a:p>
                <a:r>
                  <a:rPr lang="en-GB">
                    <a:noFill/>
                  </a:rPr>
                  <a:t> </a:t>
                </a:r>
              </a:p>
            </p:txBody>
          </p:sp>
        </mc:Fallback>
      </mc:AlternateContent>
      <p:pic>
        <p:nvPicPr>
          <p:cNvPr id="13" name="Picture 12">
            <a:extLst>
              <a:ext uri="{FF2B5EF4-FFF2-40B4-BE49-F238E27FC236}">
                <a16:creationId xmlns:a16="http://schemas.microsoft.com/office/drawing/2014/main" id="{103A877C-C257-4528-89A1-592BEE6C942E}"/>
              </a:ext>
            </a:extLst>
          </p:cNvPr>
          <p:cNvPicPr>
            <a:picLocks noChangeAspect="1"/>
          </p:cNvPicPr>
          <p:nvPr/>
        </p:nvPicPr>
        <p:blipFill>
          <a:blip r:embed="rId9"/>
          <a:stretch>
            <a:fillRect/>
          </a:stretch>
        </p:blipFill>
        <p:spPr>
          <a:xfrm>
            <a:off x="4890310" y="1435556"/>
            <a:ext cx="4192668" cy="1326794"/>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5311E97-1B62-7D9D-90B7-899D966F4AC3}"/>
                  </a:ext>
                </a:extLst>
              </p:cNvPr>
              <p:cNvSpPr txBox="1"/>
              <p:nvPr/>
            </p:nvSpPr>
            <p:spPr>
              <a:xfrm>
                <a:off x="237744" y="5675757"/>
                <a:ext cx="3403453"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000" i="1" smtClean="0">
                              <a:latin typeface="Cambria Math" panose="02040503050406030204" pitchFamily="18" charset="0"/>
                            </a:rPr>
                          </m:ctrlPr>
                        </m:fPr>
                        <m:num>
                          <m:r>
                            <a:rPr lang="en-US" sz="200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r>
                                <a:rPr lang="en-GB" sz="2000" i="1">
                                  <a:latin typeface="Cambria Math" panose="02040503050406030204" pitchFamily="18" charset="0"/>
                                </a:rPr>
                                <m:t> </m:t>
                              </m:r>
                            </m:sub>
                          </m:sSub>
                        </m:num>
                        <m:den>
                          <m:sSub>
                            <m:sSubPr>
                              <m:ctrlPr>
                                <a:rPr lang="en-US" sz="2000" i="1" smtClean="0">
                                  <a:solidFill>
                                    <a:schemeClr val="tx1"/>
                                  </a:solidFill>
                                  <a:latin typeface="Cambria Math" panose="02040503050406030204" pitchFamily="18" charset="0"/>
                                </a:rPr>
                              </m:ctrlPr>
                            </m:sSubPr>
                            <m:e>
                              <m:r>
                                <a:rPr lang="en-GB" sz="2000" i="1">
                                  <a:solidFill>
                                    <a:schemeClr val="tx1"/>
                                  </a:solidFill>
                                  <a:latin typeface="Cambria Math" panose="02040503050406030204" pitchFamily="18" charset="0"/>
                                </a:rPr>
                                <m:t>𝑉</m:t>
                              </m:r>
                            </m:e>
                            <m:sub>
                              <m:r>
                                <a:rPr lang="en-GB" sz="2000" i="1">
                                  <a:solidFill>
                                    <a:schemeClr val="tx1"/>
                                  </a:solidFill>
                                  <a:latin typeface="Cambria Math" panose="02040503050406030204" pitchFamily="18" charset="0"/>
                                </a:rPr>
                                <m:t>𝑂𝑈𝑇</m:t>
                              </m:r>
                            </m:sub>
                          </m:sSub>
                        </m:den>
                      </m:f>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r>
                            <a:rPr lang="en-GB" sz="2000" i="1" smtClean="0">
                              <a:solidFill>
                                <a:srgbClr val="00B050"/>
                              </a:solidFill>
                              <a:latin typeface="Cambria Math" panose="02040503050406030204" pitchFamily="18" charset="0"/>
                            </a:rPr>
                            <m:t>𝐷</m:t>
                          </m:r>
                          <m:r>
                            <a:rPr lang="en-GB" sz="2000" b="0" i="1" smtClean="0">
                              <a:solidFill>
                                <a:srgbClr val="00B050"/>
                              </a:solidFill>
                              <a:latin typeface="Cambria Math" panose="02040503050406030204" pitchFamily="18" charset="0"/>
                            </a:rPr>
                            <m:t>𝑇</m:t>
                          </m:r>
                        </m:num>
                        <m:den>
                          <m:r>
                            <a:rPr lang="en-GB" sz="2000" b="0" i="1" smtClean="0">
                              <a:solidFill>
                                <a:srgbClr val="00B050"/>
                              </a:solidFill>
                              <a:latin typeface="Cambria Math" panose="02040503050406030204" pitchFamily="18" charset="0"/>
                            </a:rPr>
                            <m:t>𝑅</m:t>
                          </m:r>
                          <m:r>
                            <a:rPr lang="en-GB" sz="2000" b="0" i="1" smtClean="0">
                              <a:solidFill>
                                <a:srgbClr val="4D2CFA"/>
                              </a:solidFill>
                              <a:latin typeface="Cambria Math" panose="02040503050406030204" pitchFamily="18" charset="0"/>
                            </a:rPr>
                            <m:t> </m:t>
                          </m:r>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14" name="TextBox 13">
                <a:extLst>
                  <a:ext uri="{FF2B5EF4-FFF2-40B4-BE49-F238E27FC236}">
                    <a16:creationId xmlns:a16="http://schemas.microsoft.com/office/drawing/2014/main" id="{75311E97-1B62-7D9D-90B7-899D966F4AC3}"/>
                  </a:ext>
                </a:extLst>
              </p:cNvPr>
              <p:cNvSpPr txBox="1">
                <a:spLocks noRot="1" noChangeAspect="1" noMove="1" noResize="1" noEditPoints="1" noAdjustHandles="1" noChangeArrowheads="1" noChangeShapeType="1" noTextEdit="1"/>
              </p:cNvSpPr>
              <p:nvPr/>
            </p:nvSpPr>
            <p:spPr>
              <a:xfrm>
                <a:off x="237744" y="5675757"/>
                <a:ext cx="3403453" cy="722890"/>
              </a:xfrm>
              <a:prstGeom prst="rect">
                <a:avLst/>
              </a:prstGeom>
              <a:blipFill>
                <a:blip r:embed="rId10"/>
                <a:stretch>
                  <a:fillRect/>
                </a:stretch>
              </a:blipFill>
              <a:ln>
                <a:solidFill>
                  <a:schemeClr val="bg1"/>
                </a:solidFill>
              </a:ln>
            </p:spPr>
            <p:txBody>
              <a:bodyPr/>
              <a:lstStyle/>
              <a:p>
                <a:r>
                  <a:rPr lang="en-GB">
                    <a:noFill/>
                  </a:rPr>
                  <a:t> </a:t>
                </a:r>
              </a:p>
            </p:txBody>
          </p:sp>
        </mc:Fallback>
      </mc:AlternateContent>
    </p:spTree>
    <p:extLst>
      <p:ext uri="{BB962C8B-B14F-4D97-AF65-F5344CB8AC3E}">
        <p14:creationId xmlns:p14="http://schemas.microsoft.com/office/powerpoint/2010/main" val="396711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8" grpId="0" animBg="1"/>
      <p:bldP spid="10"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1458F2E6-77F7-4147-B0DD-A7597ED4AF59}"/>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FB4436D-F7B7-2546-85EA-E963E9309D9C}" type="slidenum">
              <a:rPr lang="en-US" altLang="en-US" sz="1400"/>
              <a:pPr>
                <a:spcBef>
                  <a:spcPct val="0"/>
                </a:spcBef>
                <a:buFontTx/>
                <a:buNone/>
              </a:pPr>
              <a:t>12</a:t>
            </a:fld>
            <a:endParaRPr lang="en-US" altLang="en-US" sz="1400" dirty="0"/>
          </a:p>
        </p:txBody>
      </p:sp>
      <p:sp>
        <p:nvSpPr>
          <p:cNvPr id="3" name="Text Box 4">
            <a:extLst>
              <a:ext uri="{FF2B5EF4-FFF2-40B4-BE49-F238E27FC236}">
                <a16:creationId xmlns:a16="http://schemas.microsoft.com/office/drawing/2014/main" id="{1806F7A7-6492-205B-651A-DAF0EA63E3D2}"/>
              </a:ext>
            </a:extLst>
          </p:cNvPr>
          <p:cNvSpPr txBox="1">
            <a:spLocks noChangeArrowheads="1"/>
          </p:cNvSpPr>
          <p:nvPr/>
        </p:nvSpPr>
        <p:spPr bwMode="auto">
          <a:xfrm>
            <a:off x="89693" y="125420"/>
            <a:ext cx="8964613"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Boost tutorial.</a:t>
            </a:r>
          </a:p>
          <a:p>
            <a:pPr eaLnBrk="1" hangingPunct="1">
              <a:spcBef>
                <a:spcPct val="50000"/>
              </a:spcBef>
              <a:buFontTx/>
              <a:buNone/>
            </a:pPr>
            <a:r>
              <a:rPr lang="en-GB" altLang="en-US" sz="1800" dirty="0"/>
              <a:t>A boost converter has following parameters. Determine duty cycle, average, minimum and maximum inductor current and output voltage ripple.</a:t>
            </a:r>
            <a:endParaRPr lang="en-US" altLang="en-US" sz="18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0D5716-3A48-82EC-4989-DBC9F989DFC8}"/>
                  </a:ext>
                </a:extLst>
              </p:cNvPr>
              <p:cNvSpPr txBox="1"/>
              <p:nvPr/>
            </p:nvSpPr>
            <p:spPr>
              <a:xfrm>
                <a:off x="694944" y="1333238"/>
                <a:ext cx="3648456" cy="175432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b="0" i="0" smtClean="0">
                          <a:latin typeface="Cambria Math" panose="02040503050406030204" pitchFamily="18" charset="0"/>
                        </a:rPr>
                        <m:t>=12 </m:t>
                      </m:r>
                      <m:r>
                        <m:rPr>
                          <m:sty m:val="p"/>
                        </m:rPr>
                        <a:rPr lang="en-GB" b="0" i="0" smtClean="0">
                          <a:latin typeface="Cambria Math" panose="02040503050406030204" pitchFamily="18" charset="0"/>
                        </a:rPr>
                        <m:t>V</m:t>
                      </m:r>
                    </m:oMath>
                  </m:oMathPara>
                </a14:m>
                <a:endParaRPr lang="en-GB" b="0" i="0" dirty="0">
                  <a:latin typeface="Cambria Math" panose="02040503050406030204" pitchFamily="18" charset="0"/>
                </a:endParaRPr>
              </a:p>
              <a:p>
                <a:r>
                  <a:rPr lang="en-GB" b="0"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b="0" i="1" smtClean="0">
                            <a:latin typeface="Cambria Math" panose="02040503050406030204" pitchFamily="18" charset="0"/>
                          </a:rPr>
                          <m:t>𝑂𝑈𝑇</m:t>
                        </m:r>
                      </m:sub>
                    </m:sSub>
                    <m:r>
                      <a:rPr lang="en-GB">
                        <a:latin typeface="Cambria Math" panose="02040503050406030204" pitchFamily="18" charset="0"/>
                      </a:rPr>
                      <m:t>=</m:t>
                    </m:r>
                    <m:r>
                      <a:rPr lang="en-GB" b="0" i="0" smtClean="0">
                        <a:latin typeface="Cambria Math" panose="02040503050406030204" pitchFamily="18" charset="0"/>
                      </a:rPr>
                      <m:t>30 </m:t>
                    </m:r>
                    <m:r>
                      <m:rPr>
                        <m:sty m:val="p"/>
                      </m:rPr>
                      <a:rPr lang="en-GB">
                        <a:latin typeface="Cambria Math" panose="02040503050406030204" pitchFamily="18" charset="0"/>
                      </a:rPr>
                      <m:t>V</m:t>
                    </m:r>
                  </m:oMath>
                </a14:m>
                <a:endParaRPr lang="en-GB" dirty="0"/>
              </a:p>
              <a:p>
                <a:r>
                  <a:rPr lang="en-GB" dirty="0"/>
                  <a:t> </a:t>
                </a:r>
                <a14:m>
                  <m:oMath xmlns:m="http://schemas.openxmlformats.org/officeDocument/2006/math">
                    <m:r>
                      <a:rPr lang="en-GB" b="0" i="1" smtClean="0">
                        <a:latin typeface="Cambria Math" panose="02040503050406030204" pitchFamily="18" charset="0"/>
                      </a:rPr>
                      <m:t>𝐿</m:t>
                    </m:r>
                    <m:r>
                      <a:rPr lang="en-GB" b="0" i="0" smtClean="0">
                        <a:latin typeface="Cambria Math" panose="02040503050406030204" pitchFamily="18" charset="0"/>
                      </a:rPr>
                      <m:t>=120 </m:t>
                    </m:r>
                    <m:r>
                      <m:rPr>
                        <m:sty m:val="p"/>
                      </m:rPr>
                      <a:rPr lang="el-GR" b="0" i="1" smtClean="0">
                        <a:latin typeface="Cambria Math" panose="02040503050406030204" pitchFamily="18" charset="0"/>
                        <a:ea typeface="Cambria Math" panose="02040503050406030204" pitchFamily="18" charset="0"/>
                      </a:rPr>
                      <m:t>μ</m:t>
                    </m:r>
                    <m:r>
                      <m:rPr>
                        <m:sty m:val="p"/>
                      </m:rPr>
                      <a:rPr lang="en-GB" b="0" i="0" smtClean="0">
                        <a:latin typeface="Cambria Math" panose="02040503050406030204" pitchFamily="18" charset="0"/>
                      </a:rPr>
                      <m:t>H</m:t>
                    </m:r>
                  </m:oMath>
                </a14:m>
                <a:endParaRPr lang="en-GB" dirty="0"/>
              </a:p>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𝐶</m:t>
                      </m:r>
                      <m:r>
                        <a:rPr lang="en-GB" b="0" i="0" smtClean="0">
                          <a:latin typeface="Cambria Math" panose="02040503050406030204" pitchFamily="18" charset="0"/>
                        </a:rPr>
                        <m:t>=48 </m:t>
                      </m:r>
                      <m:r>
                        <m:rPr>
                          <m:sty m:val="p"/>
                        </m:rPr>
                        <a:rPr lang="el-GR" b="0" i="1" smtClean="0">
                          <a:latin typeface="Cambria Math" panose="02040503050406030204" pitchFamily="18" charset="0"/>
                          <a:ea typeface="Cambria Math" panose="02040503050406030204" pitchFamily="18" charset="0"/>
                        </a:rPr>
                        <m:t>μ</m:t>
                      </m:r>
                      <m:r>
                        <a:rPr lang="en-GB" b="0" i="1" smtClean="0">
                          <a:latin typeface="Cambria Math" panose="02040503050406030204" pitchFamily="18" charset="0"/>
                          <a:ea typeface="Cambria Math" panose="02040503050406030204" pitchFamily="18" charset="0"/>
                        </a:rPr>
                        <m:t>𝐹</m:t>
                      </m:r>
                    </m:oMath>
                  </m:oMathPara>
                </a14:m>
                <a:endParaRPr lang="en-GB" dirty="0"/>
              </a:p>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𝑅</m:t>
                      </m:r>
                      <m:r>
                        <a:rPr lang="en-GB" b="0" i="0" smtClean="0">
                          <a:latin typeface="Cambria Math" panose="02040503050406030204" pitchFamily="18" charset="0"/>
                        </a:rPr>
                        <m:t>=50</m:t>
                      </m:r>
                      <m:r>
                        <a:rPr lang="en-GB" b="0" i="1" smtClean="0">
                          <a:latin typeface="Cambria Math" panose="02040503050406030204" pitchFamily="18" charset="0"/>
                        </a:rPr>
                        <m:t> </m:t>
                      </m:r>
                      <m:r>
                        <a:rPr lang="en-GB" b="0" i="1" smtClean="0">
                          <a:latin typeface="Cambria Math" panose="02040503050406030204" pitchFamily="18" charset="0"/>
                        </a:rPr>
                        <m:t>𝑜h𝑚</m:t>
                      </m:r>
                    </m:oMath>
                  </m:oMathPara>
                </a14:m>
                <a:endParaRPr lang="en-GB" dirty="0"/>
              </a:p>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𝑓</m:t>
                      </m:r>
                      <m:r>
                        <a:rPr lang="en-GB" b="0" i="0" smtClean="0">
                          <a:latin typeface="Cambria Math" panose="02040503050406030204" pitchFamily="18" charset="0"/>
                        </a:rPr>
                        <m:t>=50 </m:t>
                      </m:r>
                      <m:r>
                        <m:rPr>
                          <m:sty m:val="p"/>
                        </m:rPr>
                        <a:rPr lang="en-GB" b="0" i="0" smtClean="0">
                          <a:latin typeface="Cambria Math" panose="02040503050406030204" pitchFamily="18" charset="0"/>
                        </a:rPr>
                        <m:t>KHz</m:t>
                      </m:r>
                    </m:oMath>
                  </m:oMathPara>
                </a14:m>
                <a:endParaRPr lang="en-GB" dirty="0"/>
              </a:p>
            </p:txBody>
          </p:sp>
        </mc:Choice>
        <mc:Fallback xmlns="">
          <p:sp>
            <p:nvSpPr>
              <p:cNvPr id="7" name="TextBox 6">
                <a:extLst>
                  <a:ext uri="{FF2B5EF4-FFF2-40B4-BE49-F238E27FC236}">
                    <a16:creationId xmlns:a16="http://schemas.microsoft.com/office/drawing/2014/main" id="{500D5716-3A48-82EC-4989-DBC9F989DFC8}"/>
                  </a:ext>
                </a:extLst>
              </p:cNvPr>
              <p:cNvSpPr txBox="1">
                <a:spLocks noRot="1" noChangeAspect="1" noMove="1" noResize="1" noEditPoints="1" noAdjustHandles="1" noChangeArrowheads="1" noChangeShapeType="1" noTextEdit="1"/>
              </p:cNvSpPr>
              <p:nvPr/>
            </p:nvSpPr>
            <p:spPr>
              <a:xfrm>
                <a:off x="694944" y="1333238"/>
                <a:ext cx="3648456" cy="1754326"/>
              </a:xfrm>
              <a:prstGeom prst="rect">
                <a:avLst/>
              </a:prstGeom>
              <a:blipFill>
                <a:blip r:embed="rId2"/>
                <a:stretch>
                  <a:fillRect l="-501" b="-20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930ED97-CEC9-7A22-831C-866E8130E6CA}"/>
                  </a:ext>
                </a:extLst>
              </p:cNvPr>
              <p:cNvSpPr txBox="1"/>
              <p:nvPr/>
            </p:nvSpPr>
            <p:spPr>
              <a:xfrm>
                <a:off x="2519171" y="3762116"/>
                <a:ext cx="2331720"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r>
                        <a:rPr lang="en-GB" b="1" i="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f>
                        <m:fPr>
                          <m:ctrlP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num>
                        <m:den>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𝟏</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𝑫</m:t>
                          </m:r>
                        </m:den>
                      </m:f>
                    </m:oMath>
                  </m:oMathPara>
                </a14:m>
                <a:endParaRPr lang="en-GB" dirty="0"/>
              </a:p>
            </p:txBody>
          </p:sp>
        </mc:Choice>
        <mc:Fallback xmlns="">
          <p:sp>
            <p:nvSpPr>
              <p:cNvPr id="9" name="TextBox 8">
                <a:extLst>
                  <a:ext uri="{FF2B5EF4-FFF2-40B4-BE49-F238E27FC236}">
                    <a16:creationId xmlns:a16="http://schemas.microsoft.com/office/drawing/2014/main" id="{5930ED97-CEC9-7A22-831C-866E8130E6CA}"/>
                  </a:ext>
                </a:extLst>
              </p:cNvPr>
              <p:cNvSpPr txBox="1">
                <a:spLocks noRot="1" noChangeAspect="1" noMove="1" noResize="1" noEditPoints="1" noAdjustHandles="1" noChangeArrowheads="1" noChangeShapeType="1" noTextEdit="1"/>
              </p:cNvSpPr>
              <p:nvPr/>
            </p:nvSpPr>
            <p:spPr>
              <a:xfrm>
                <a:off x="2519171" y="3762116"/>
                <a:ext cx="2331720" cy="60907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13D6227-5FF8-64F3-1C45-5F972082EAAA}"/>
                  </a:ext>
                </a:extLst>
              </p:cNvPr>
              <p:cNvSpPr txBox="1"/>
              <p:nvPr/>
            </p:nvSpPr>
            <p:spPr>
              <a:xfrm>
                <a:off x="2699005" y="4551531"/>
                <a:ext cx="3569208"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𝟑𝟎</m:t>
                      </m:r>
                      <m:r>
                        <a:rPr lang="en-GB" b="1"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f>
                        <m:fPr>
                          <m:ctrlP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fPr>
                        <m:num>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𝟏𝟐</m:t>
                          </m:r>
                        </m:num>
                        <m:den>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𝟏</m:t>
                          </m:r>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𝑫</m:t>
                          </m:r>
                        </m:den>
                      </m:f>
                      <m:r>
                        <a:rPr lang="en-GB" b="0"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       ⇒       </m:t>
                      </m:r>
                      <m:r>
                        <a:rPr lang="en-GB" b="1"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𝐃</m:t>
                      </m:r>
                      <m:r>
                        <a:rPr lang="en-GB" b="1"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b="1"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𝟎</m:t>
                      </m:r>
                      <m:r>
                        <a:rPr lang="en-GB" b="1"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b="1"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𝟔</m:t>
                      </m:r>
                    </m:oMath>
                  </m:oMathPara>
                </a14:m>
                <a:endParaRPr lang="en-GB" b="1" dirty="0">
                  <a:solidFill>
                    <a:schemeClr val="tx1"/>
                  </a:solidFill>
                </a:endParaRPr>
              </a:p>
            </p:txBody>
          </p:sp>
        </mc:Choice>
        <mc:Fallback xmlns="">
          <p:sp>
            <p:nvSpPr>
              <p:cNvPr id="10" name="TextBox 9">
                <a:extLst>
                  <a:ext uri="{FF2B5EF4-FFF2-40B4-BE49-F238E27FC236}">
                    <a16:creationId xmlns:a16="http://schemas.microsoft.com/office/drawing/2014/main" id="{813D6227-5FF8-64F3-1C45-5F972082EAAA}"/>
                  </a:ext>
                </a:extLst>
              </p:cNvPr>
              <p:cNvSpPr txBox="1">
                <a:spLocks noRot="1" noChangeAspect="1" noMove="1" noResize="1" noEditPoints="1" noAdjustHandles="1" noChangeArrowheads="1" noChangeShapeType="1" noTextEdit="1"/>
              </p:cNvSpPr>
              <p:nvPr/>
            </p:nvSpPr>
            <p:spPr>
              <a:xfrm>
                <a:off x="2699005" y="4551531"/>
                <a:ext cx="3569208" cy="610936"/>
              </a:xfrm>
              <a:prstGeom prst="rect">
                <a:avLst/>
              </a:prstGeom>
              <a:blipFill>
                <a:blip r:embed="rId4"/>
                <a:stretch>
                  <a:fillRect/>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1458F2E6-77F7-4147-B0DD-A7597ED4AF59}"/>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FB4436D-F7B7-2546-85EA-E963E9309D9C}" type="slidenum">
              <a:rPr lang="en-US" altLang="en-US" sz="1400"/>
              <a:pPr>
                <a:spcBef>
                  <a:spcPct val="0"/>
                </a:spcBef>
                <a:buFontTx/>
                <a:buNone/>
              </a:pPr>
              <a:t>13</a:t>
            </a:fld>
            <a:endParaRPr lang="en-US" altLang="en-US" sz="1400" dirty="0"/>
          </a:p>
        </p:txBody>
      </p:sp>
      <p:sp>
        <p:nvSpPr>
          <p:cNvPr id="3" name="Text Box 4">
            <a:extLst>
              <a:ext uri="{FF2B5EF4-FFF2-40B4-BE49-F238E27FC236}">
                <a16:creationId xmlns:a16="http://schemas.microsoft.com/office/drawing/2014/main" id="{1806F7A7-6492-205B-651A-DAF0EA63E3D2}"/>
              </a:ext>
            </a:extLst>
          </p:cNvPr>
          <p:cNvSpPr txBox="1">
            <a:spLocks noChangeArrowheads="1"/>
          </p:cNvSpPr>
          <p:nvPr/>
        </p:nvSpPr>
        <p:spPr bwMode="auto">
          <a:xfrm>
            <a:off x="89693" y="125420"/>
            <a:ext cx="8964613"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Boost tutorial.</a:t>
            </a:r>
          </a:p>
          <a:p>
            <a:pPr eaLnBrk="1" hangingPunct="1">
              <a:spcBef>
                <a:spcPct val="50000"/>
              </a:spcBef>
              <a:buFontTx/>
              <a:buNone/>
            </a:pPr>
            <a:r>
              <a:rPr lang="en-GB" altLang="en-US" sz="1800" dirty="0"/>
              <a:t>A boost converter has following parameters. Determine duty cycle, average, minimum and maximum inductor current and output voltage ripple.</a:t>
            </a:r>
            <a:endParaRPr lang="en-US" altLang="en-US" sz="18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0D5716-3A48-82EC-4989-DBC9F989DFC8}"/>
                  </a:ext>
                </a:extLst>
              </p:cNvPr>
              <p:cNvSpPr txBox="1"/>
              <p:nvPr/>
            </p:nvSpPr>
            <p:spPr>
              <a:xfrm>
                <a:off x="694944" y="1333238"/>
                <a:ext cx="3648456" cy="175432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b="0" i="0" smtClean="0">
                          <a:latin typeface="Cambria Math" panose="02040503050406030204" pitchFamily="18" charset="0"/>
                        </a:rPr>
                        <m:t>=12 </m:t>
                      </m:r>
                      <m:r>
                        <m:rPr>
                          <m:sty m:val="p"/>
                        </m:rPr>
                        <a:rPr lang="en-GB" b="0" i="0" smtClean="0">
                          <a:latin typeface="Cambria Math" panose="02040503050406030204" pitchFamily="18" charset="0"/>
                        </a:rPr>
                        <m:t>V</m:t>
                      </m:r>
                    </m:oMath>
                  </m:oMathPara>
                </a14:m>
                <a:endParaRPr lang="en-GB" b="0" i="0" dirty="0">
                  <a:latin typeface="Cambria Math" panose="02040503050406030204" pitchFamily="18" charset="0"/>
                </a:endParaRPr>
              </a:p>
              <a:p>
                <a:r>
                  <a:rPr lang="en-GB" b="0"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b="0" i="1" smtClean="0">
                            <a:latin typeface="Cambria Math" panose="02040503050406030204" pitchFamily="18" charset="0"/>
                          </a:rPr>
                          <m:t>𝑂𝑈𝑇</m:t>
                        </m:r>
                      </m:sub>
                    </m:sSub>
                    <m:r>
                      <a:rPr lang="en-GB">
                        <a:latin typeface="Cambria Math" panose="02040503050406030204" pitchFamily="18" charset="0"/>
                      </a:rPr>
                      <m:t>=</m:t>
                    </m:r>
                    <m:r>
                      <a:rPr lang="en-GB" b="0" i="0" smtClean="0">
                        <a:latin typeface="Cambria Math" panose="02040503050406030204" pitchFamily="18" charset="0"/>
                      </a:rPr>
                      <m:t>30 </m:t>
                    </m:r>
                    <m:r>
                      <m:rPr>
                        <m:sty m:val="p"/>
                      </m:rPr>
                      <a:rPr lang="en-GB">
                        <a:latin typeface="Cambria Math" panose="02040503050406030204" pitchFamily="18" charset="0"/>
                      </a:rPr>
                      <m:t>V</m:t>
                    </m:r>
                  </m:oMath>
                </a14:m>
                <a:endParaRPr lang="en-GB" dirty="0"/>
              </a:p>
              <a:p>
                <a:r>
                  <a:rPr lang="en-GB" dirty="0"/>
                  <a:t> </a:t>
                </a:r>
                <a14:m>
                  <m:oMath xmlns:m="http://schemas.openxmlformats.org/officeDocument/2006/math">
                    <m:r>
                      <a:rPr lang="en-GB" b="0" i="1" smtClean="0">
                        <a:latin typeface="Cambria Math" panose="02040503050406030204" pitchFamily="18" charset="0"/>
                      </a:rPr>
                      <m:t>𝐿</m:t>
                    </m:r>
                    <m:r>
                      <a:rPr lang="en-GB" b="0" i="0" smtClean="0">
                        <a:latin typeface="Cambria Math" panose="02040503050406030204" pitchFamily="18" charset="0"/>
                      </a:rPr>
                      <m:t>=120 </m:t>
                    </m:r>
                    <m:r>
                      <m:rPr>
                        <m:sty m:val="p"/>
                      </m:rPr>
                      <a:rPr lang="el-GR" b="0" i="1" smtClean="0">
                        <a:latin typeface="Cambria Math" panose="02040503050406030204" pitchFamily="18" charset="0"/>
                        <a:ea typeface="Cambria Math" panose="02040503050406030204" pitchFamily="18" charset="0"/>
                      </a:rPr>
                      <m:t>μ</m:t>
                    </m:r>
                    <m:r>
                      <m:rPr>
                        <m:sty m:val="p"/>
                      </m:rPr>
                      <a:rPr lang="en-GB" b="0" i="0" smtClean="0">
                        <a:latin typeface="Cambria Math" panose="02040503050406030204" pitchFamily="18" charset="0"/>
                      </a:rPr>
                      <m:t>H</m:t>
                    </m:r>
                  </m:oMath>
                </a14:m>
                <a:endParaRPr lang="en-GB" dirty="0"/>
              </a:p>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𝐶</m:t>
                      </m:r>
                      <m:r>
                        <a:rPr lang="en-GB" b="0" i="0" smtClean="0">
                          <a:latin typeface="Cambria Math" panose="02040503050406030204" pitchFamily="18" charset="0"/>
                        </a:rPr>
                        <m:t>=48 </m:t>
                      </m:r>
                      <m:r>
                        <m:rPr>
                          <m:sty m:val="p"/>
                        </m:rPr>
                        <a:rPr lang="el-GR" b="0" i="1" smtClean="0">
                          <a:latin typeface="Cambria Math" panose="02040503050406030204" pitchFamily="18" charset="0"/>
                          <a:ea typeface="Cambria Math" panose="02040503050406030204" pitchFamily="18" charset="0"/>
                        </a:rPr>
                        <m:t>μ</m:t>
                      </m:r>
                      <m:r>
                        <a:rPr lang="en-GB" b="0" i="1" smtClean="0">
                          <a:latin typeface="Cambria Math" panose="02040503050406030204" pitchFamily="18" charset="0"/>
                          <a:ea typeface="Cambria Math" panose="02040503050406030204" pitchFamily="18" charset="0"/>
                        </a:rPr>
                        <m:t>𝐹</m:t>
                      </m:r>
                    </m:oMath>
                  </m:oMathPara>
                </a14:m>
                <a:endParaRPr lang="en-GB" dirty="0"/>
              </a:p>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𝑅</m:t>
                      </m:r>
                      <m:r>
                        <a:rPr lang="en-GB" b="0" i="0" smtClean="0">
                          <a:latin typeface="Cambria Math" panose="02040503050406030204" pitchFamily="18" charset="0"/>
                        </a:rPr>
                        <m:t>=50</m:t>
                      </m:r>
                      <m:r>
                        <a:rPr lang="en-GB" b="0" i="1" smtClean="0">
                          <a:latin typeface="Cambria Math" panose="02040503050406030204" pitchFamily="18" charset="0"/>
                        </a:rPr>
                        <m:t> </m:t>
                      </m:r>
                      <m:r>
                        <a:rPr lang="en-GB" b="0" i="1" smtClean="0">
                          <a:latin typeface="Cambria Math" panose="02040503050406030204" pitchFamily="18" charset="0"/>
                        </a:rPr>
                        <m:t>𝑜h𝑚</m:t>
                      </m:r>
                    </m:oMath>
                  </m:oMathPara>
                </a14:m>
                <a:endParaRPr lang="en-GB" dirty="0"/>
              </a:p>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𝑓</m:t>
                      </m:r>
                      <m:r>
                        <a:rPr lang="en-GB" b="0" i="0" smtClean="0">
                          <a:latin typeface="Cambria Math" panose="02040503050406030204" pitchFamily="18" charset="0"/>
                        </a:rPr>
                        <m:t>=50 </m:t>
                      </m:r>
                      <m:r>
                        <m:rPr>
                          <m:sty m:val="p"/>
                        </m:rPr>
                        <a:rPr lang="en-GB" b="0" i="0" smtClean="0">
                          <a:latin typeface="Cambria Math" panose="02040503050406030204" pitchFamily="18" charset="0"/>
                        </a:rPr>
                        <m:t>KHz</m:t>
                      </m:r>
                    </m:oMath>
                  </m:oMathPara>
                </a14:m>
                <a:endParaRPr lang="en-GB" dirty="0"/>
              </a:p>
            </p:txBody>
          </p:sp>
        </mc:Choice>
        <mc:Fallback xmlns="">
          <p:sp>
            <p:nvSpPr>
              <p:cNvPr id="7" name="TextBox 6">
                <a:extLst>
                  <a:ext uri="{FF2B5EF4-FFF2-40B4-BE49-F238E27FC236}">
                    <a16:creationId xmlns:a16="http://schemas.microsoft.com/office/drawing/2014/main" id="{500D5716-3A48-82EC-4989-DBC9F989DFC8}"/>
                  </a:ext>
                </a:extLst>
              </p:cNvPr>
              <p:cNvSpPr txBox="1">
                <a:spLocks noRot="1" noChangeAspect="1" noMove="1" noResize="1" noEditPoints="1" noAdjustHandles="1" noChangeArrowheads="1" noChangeShapeType="1" noTextEdit="1"/>
              </p:cNvSpPr>
              <p:nvPr/>
            </p:nvSpPr>
            <p:spPr>
              <a:xfrm>
                <a:off x="694944" y="1333238"/>
                <a:ext cx="3648456" cy="1754326"/>
              </a:xfrm>
              <a:prstGeom prst="rect">
                <a:avLst/>
              </a:prstGeom>
              <a:blipFill>
                <a:blip r:embed="rId2"/>
                <a:stretch>
                  <a:fillRect l="-501" b="-20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7C85B23-E0E4-DE76-E6E1-F54DF5C654EB}"/>
                  </a:ext>
                </a:extLst>
              </p:cNvPr>
              <p:cNvSpPr txBox="1"/>
              <p:nvPr/>
            </p:nvSpPr>
            <p:spPr>
              <a:xfrm>
                <a:off x="3843305" y="1351039"/>
                <a:ext cx="3211830" cy="6787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1" i="1" smtClean="0">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𝑰</m:t>
                          </m:r>
                        </m:e>
                        <m:sub>
                          <m:r>
                            <a:rPr lang="en-GB" b="1" i="1">
                              <a:solidFill>
                                <a:srgbClr val="FF0000"/>
                              </a:solidFill>
                              <a:latin typeface="Cambria Math" panose="02040503050406030204" pitchFamily="18" charset="0"/>
                            </a:rPr>
                            <m:t>𝑳</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𝒂𝒗𝒈</m:t>
                          </m:r>
                        </m:sub>
                      </m:sSub>
                      <m:r>
                        <a:rPr lang="en-GB" b="1">
                          <a:solidFill>
                            <a:srgbClr val="FF0000"/>
                          </a:solidFill>
                          <a:latin typeface="Cambria Math" panose="02040503050406030204" pitchFamily="18" charset="0"/>
                        </a:rPr>
                        <m:t>=</m:t>
                      </m:r>
                      <m:f>
                        <m:fPr>
                          <m:ctrlPr>
                            <a:rPr lang="en-GB" b="1" i="1">
                              <a:solidFill>
                                <a:srgbClr val="FF0000"/>
                              </a:solidFill>
                              <a:latin typeface="Cambria Math" panose="02040503050406030204" pitchFamily="18" charset="0"/>
                            </a:rPr>
                          </m:ctrlPr>
                        </m:fPr>
                        <m:num>
                          <m:sSub>
                            <m:sSubPr>
                              <m:ctrlPr>
                                <a:rPr lang="en-GB" b="1" i="1">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𝑽</m:t>
                              </m:r>
                            </m:e>
                            <m:sub>
                              <m:r>
                                <a:rPr lang="en-GB" b="1" i="1">
                                  <a:solidFill>
                                    <a:srgbClr val="FF0000"/>
                                  </a:solidFill>
                                  <a:latin typeface="Cambria Math" panose="02040503050406030204" pitchFamily="18" charset="0"/>
                                </a:rPr>
                                <m:t>𝑰𝑵</m:t>
                              </m:r>
                            </m:sub>
                          </m:sSub>
                        </m:num>
                        <m:den>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𝟏</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𝑫</m:t>
                          </m:r>
                          <m:sSup>
                            <m:sSupPr>
                              <m:ctrlPr>
                                <a:rPr lang="en-GB" b="1" i="1" smtClean="0">
                                  <a:solidFill>
                                    <a:srgbClr val="FF0000"/>
                                  </a:solidFill>
                                  <a:latin typeface="Cambria Math" panose="02040503050406030204" pitchFamily="18" charset="0"/>
                                </a:rPr>
                              </m:ctrlPr>
                            </m:sSupPr>
                            <m:e>
                              <m:r>
                                <a:rPr lang="en-GB" b="1" i="1" smtClean="0">
                                  <a:solidFill>
                                    <a:srgbClr val="FF0000"/>
                                  </a:solidFill>
                                  <a:latin typeface="Cambria Math" panose="02040503050406030204" pitchFamily="18" charset="0"/>
                                </a:rPr>
                                <m:t>)</m:t>
                              </m:r>
                            </m:e>
                            <m:sup>
                              <m:r>
                                <a:rPr lang="en-GB" b="1" i="1" smtClean="0">
                                  <a:solidFill>
                                    <a:srgbClr val="FF0000"/>
                                  </a:solidFill>
                                  <a:latin typeface="Cambria Math" panose="02040503050406030204" pitchFamily="18" charset="0"/>
                                </a:rPr>
                                <m:t>𝟐</m:t>
                              </m:r>
                            </m:sup>
                          </m:sSup>
                          <m:r>
                            <a:rPr lang="en-GB" b="1" i="1" smtClean="0">
                              <a:solidFill>
                                <a:srgbClr val="FF0000"/>
                              </a:solidFill>
                              <a:latin typeface="Cambria Math" panose="02040503050406030204" pitchFamily="18" charset="0"/>
                            </a:rPr>
                            <m:t>𝑹</m:t>
                          </m:r>
                        </m:den>
                      </m:f>
                    </m:oMath>
                  </m:oMathPara>
                </a14:m>
                <a:endParaRPr lang="en-GB" b="1" dirty="0">
                  <a:solidFill>
                    <a:srgbClr val="FF0000"/>
                  </a:solidFill>
                </a:endParaRPr>
              </a:p>
            </p:txBody>
          </p:sp>
        </mc:Choice>
        <mc:Fallback xmlns="">
          <p:sp>
            <p:nvSpPr>
              <p:cNvPr id="11" name="TextBox 10">
                <a:extLst>
                  <a:ext uri="{FF2B5EF4-FFF2-40B4-BE49-F238E27FC236}">
                    <a16:creationId xmlns:a16="http://schemas.microsoft.com/office/drawing/2014/main" id="{97C85B23-E0E4-DE76-E6E1-F54DF5C654EB}"/>
                  </a:ext>
                </a:extLst>
              </p:cNvPr>
              <p:cNvSpPr txBox="1">
                <a:spLocks noRot="1" noChangeAspect="1" noMove="1" noResize="1" noEditPoints="1" noAdjustHandles="1" noChangeArrowheads="1" noChangeShapeType="1" noTextEdit="1"/>
              </p:cNvSpPr>
              <p:nvPr/>
            </p:nvSpPr>
            <p:spPr>
              <a:xfrm>
                <a:off x="3843305" y="1351039"/>
                <a:ext cx="3211830" cy="67877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C93A94D-E470-354D-FE8D-08E754A611F3}"/>
                  </a:ext>
                </a:extLst>
              </p:cNvPr>
              <p:cNvSpPr txBox="1"/>
              <p:nvPr/>
            </p:nvSpPr>
            <p:spPr>
              <a:xfrm>
                <a:off x="3515486" y="2107383"/>
                <a:ext cx="4186427" cy="6787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           </m:t>
                          </m:r>
                          <m:r>
                            <a:rPr lang="en-GB" b="1" i="1">
                              <a:latin typeface="Cambria Math" panose="02040503050406030204" pitchFamily="18" charset="0"/>
                            </a:rPr>
                            <m:t>𝑰</m:t>
                          </m:r>
                        </m:e>
                        <m:sub>
                          <m:r>
                            <a:rPr lang="en-GB" b="1" i="1">
                              <a:latin typeface="Cambria Math" panose="02040503050406030204" pitchFamily="18" charset="0"/>
                            </a:rPr>
                            <m:t>𝑳</m:t>
                          </m:r>
                          <m:r>
                            <a:rPr lang="en-GB" b="1" i="1" smtClean="0">
                              <a:latin typeface="Cambria Math" panose="02040503050406030204" pitchFamily="18" charset="0"/>
                            </a:rPr>
                            <m:t>,</m:t>
                          </m:r>
                          <m:r>
                            <a:rPr lang="en-GB" b="1" i="1" smtClean="0">
                              <a:latin typeface="Cambria Math" panose="02040503050406030204" pitchFamily="18" charset="0"/>
                            </a:rPr>
                            <m:t>𝒂𝒗𝒈</m:t>
                          </m:r>
                        </m:sub>
                      </m:sSub>
                      <m:r>
                        <a:rPr lang="en-GB" b="1">
                          <a:latin typeface="Cambria Math" panose="02040503050406030204" pitchFamily="18" charset="0"/>
                        </a:rPr>
                        <m:t>=</m:t>
                      </m:r>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𝟏𝟐</m:t>
                          </m:r>
                        </m:num>
                        <m:den>
                          <m:r>
                            <a:rPr lang="en-GB" b="1" i="1" smtClean="0">
                              <a:solidFill>
                                <a:schemeClr val="tx1"/>
                              </a:solidFill>
                              <a:latin typeface="Cambria Math" panose="02040503050406030204" pitchFamily="18" charset="0"/>
                            </a:rPr>
                            <m:t>(</m:t>
                          </m:r>
                          <m:r>
                            <a:rPr lang="en-GB" b="1" i="1" smtClean="0">
                              <a:solidFill>
                                <a:schemeClr val="tx1"/>
                              </a:solidFill>
                              <a:latin typeface="Cambria Math" panose="02040503050406030204" pitchFamily="18" charset="0"/>
                            </a:rPr>
                            <m:t>𝟏</m:t>
                          </m:r>
                          <m:r>
                            <a:rPr lang="en-GB" b="1" i="1" smtClean="0">
                              <a:solidFill>
                                <a:schemeClr val="tx1"/>
                              </a:solidFill>
                              <a:latin typeface="Cambria Math" panose="02040503050406030204" pitchFamily="18" charset="0"/>
                            </a:rPr>
                            <m:t>−</m:t>
                          </m:r>
                          <m:r>
                            <a:rPr lang="en-GB" b="1" i="1" smtClean="0">
                              <a:solidFill>
                                <a:schemeClr val="tx1"/>
                              </a:solidFill>
                              <a:latin typeface="Cambria Math" panose="02040503050406030204" pitchFamily="18" charset="0"/>
                            </a:rPr>
                            <m:t>𝟎</m:t>
                          </m:r>
                          <m:r>
                            <a:rPr lang="en-GB" b="1" i="1" smtClean="0">
                              <a:solidFill>
                                <a:schemeClr val="tx1"/>
                              </a:solidFill>
                              <a:latin typeface="Cambria Math" panose="02040503050406030204" pitchFamily="18" charset="0"/>
                            </a:rPr>
                            <m:t>.</m:t>
                          </m:r>
                          <m:r>
                            <a:rPr lang="en-GB" b="1" i="1" smtClean="0">
                              <a:solidFill>
                                <a:schemeClr val="tx1"/>
                              </a:solidFill>
                              <a:latin typeface="Cambria Math" panose="02040503050406030204" pitchFamily="18" charset="0"/>
                            </a:rPr>
                            <m:t>𝟔</m:t>
                          </m:r>
                          <m:sSup>
                            <m:sSupPr>
                              <m:ctrlPr>
                                <a:rPr lang="en-GB" b="1" i="1" smtClean="0">
                                  <a:solidFill>
                                    <a:schemeClr val="tx1"/>
                                  </a:solidFill>
                                  <a:latin typeface="Cambria Math" panose="02040503050406030204" pitchFamily="18" charset="0"/>
                                </a:rPr>
                              </m:ctrlPr>
                            </m:sSupPr>
                            <m:e>
                              <m:r>
                                <a:rPr lang="en-GB" b="1" i="1" smtClean="0">
                                  <a:solidFill>
                                    <a:schemeClr val="tx1"/>
                                  </a:solidFill>
                                  <a:latin typeface="Cambria Math" panose="02040503050406030204" pitchFamily="18" charset="0"/>
                                </a:rPr>
                                <m:t>)</m:t>
                              </m:r>
                            </m:e>
                            <m:sup>
                              <m:r>
                                <a:rPr lang="en-GB" b="1" i="1" smtClean="0">
                                  <a:solidFill>
                                    <a:schemeClr val="tx1"/>
                                  </a:solidFill>
                                  <a:latin typeface="Cambria Math" panose="02040503050406030204" pitchFamily="18" charset="0"/>
                                </a:rPr>
                                <m:t>𝟐</m:t>
                              </m:r>
                            </m:sup>
                          </m:sSup>
                          <m:r>
                            <a:rPr lang="en-GB" b="1" i="1" smtClean="0">
                              <a:solidFill>
                                <a:schemeClr val="tx1"/>
                              </a:solidFill>
                              <a:latin typeface="Cambria Math" panose="02040503050406030204" pitchFamily="18" charset="0"/>
                            </a:rPr>
                            <m:t>𝟓𝟎</m:t>
                          </m:r>
                        </m:den>
                      </m:f>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𝟓</m:t>
                      </m:r>
                      <m:r>
                        <a:rPr lang="en-GB" b="1" i="1" smtClean="0">
                          <a:latin typeface="Cambria Math" panose="02040503050406030204" pitchFamily="18" charset="0"/>
                        </a:rPr>
                        <m:t> </m:t>
                      </m:r>
                    </m:oMath>
                  </m:oMathPara>
                </a14:m>
                <a:endParaRPr lang="en-GB" b="1" dirty="0"/>
              </a:p>
            </p:txBody>
          </p:sp>
        </mc:Choice>
        <mc:Fallback xmlns="">
          <p:sp>
            <p:nvSpPr>
              <p:cNvPr id="12" name="TextBox 11">
                <a:extLst>
                  <a:ext uri="{FF2B5EF4-FFF2-40B4-BE49-F238E27FC236}">
                    <a16:creationId xmlns:a16="http://schemas.microsoft.com/office/drawing/2014/main" id="{EC93A94D-E470-354D-FE8D-08E754A611F3}"/>
                  </a:ext>
                </a:extLst>
              </p:cNvPr>
              <p:cNvSpPr txBox="1">
                <a:spLocks noRot="1" noChangeAspect="1" noMove="1" noResize="1" noEditPoints="1" noAdjustHandles="1" noChangeArrowheads="1" noChangeShapeType="1" noTextEdit="1"/>
              </p:cNvSpPr>
              <p:nvPr/>
            </p:nvSpPr>
            <p:spPr>
              <a:xfrm>
                <a:off x="3515486" y="2107383"/>
                <a:ext cx="4186427" cy="67877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91447B-9A64-6998-1A93-5948E348F5C2}"/>
                  </a:ext>
                </a:extLst>
              </p:cNvPr>
              <p:cNvSpPr txBox="1"/>
              <p:nvPr/>
            </p:nvSpPr>
            <p:spPr>
              <a:xfrm>
                <a:off x="1832561" y="2842160"/>
                <a:ext cx="6457950" cy="6594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𝒊</m:t>
                              </m:r>
                            </m:e>
                            <m: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𝑳</m:t>
                              </m:r>
                            </m:sub>
                          </m:s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𝒔𝒘𝒊𝒕𝒄𝒉</m:t>
                          </m:r>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𝒄𝒍𝒐𝒔𝒆𝒅</m:t>
                          </m:r>
                        </m:sub>
                      </m:s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b="1" i="1">
                              <a:solidFill>
                                <a:srgbClr val="FF0000"/>
                              </a:solidFill>
                              <a:effectLst/>
                              <a:latin typeface="Cambria Math" panose="02040503050406030204" pitchFamily="18" charset="0"/>
                            </a:rPr>
                          </m:ctrlPr>
                        </m:fPr>
                        <m:num>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𝑽</m:t>
                              </m:r>
                            </m:e>
                            <m:sub>
                              <m:r>
                                <a:rPr lang="en-GB" sz="1800" b="1" i="1" smtClean="0">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𝑰𝑵</m:t>
                              </m:r>
                            </m:sub>
                          </m:sSub>
                        </m:num>
                        <m:den>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𝑳</m:t>
                          </m:r>
                        </m:den>
                      </m:f>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b="1" i="1">
                              <a:solidFill>
                                <a:srgbClr val="FF0000"/>
                              </a:solidFill>
                              <a:effectLst/>
                              <a:latin typeface="Cambria Math" panose="02040503050406030204" pitchFamily="18" charset="0"/>
                            </a:rPr>
                          </m:ctrlPr>
                        </m:sSubPr>
                        <m:e>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𝒕</m:t>
                          </m:r>
                        </m:e>
                        <m:sub>
                          <m:r>
                            <a:rPr lang="en-US" sz="1800" b="1" i="1">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𝒐𝒏</m:t>
                          </m:r>
                        </m:sub>
                      </m:sSub>
                      <m:r>
                        <a:rPr lang="en-GB" sz="1800" b="1" i="1" smtClean="0">
                          <a:solidFill>
                            <a:srgbClr val="FF0000"/>
                          </a:solidFill>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b="1" i="1">
                              <a:solidFill>
                                <a:srgbClr val="FF0000"/>
                              </a:solidFill>
                              <a:latin typeface="Cambria Math" panose="02040503050406030204" pitchFamily="18" charset="0"/>
                            </a:rPr>
                          </m:ctrlPr>
                        </m:fPr>
                        <m:num>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num>
                        <m:den>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𝑳</m:t>
                          </m:r>
                        </m:den>
                      </m:f>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b="1" i="1" smtClean="0">
                          <a:solidFill>
                            <a:srgbClr val="FF0000"/>
                          </a:solidFill>
                          <a:latin typeface="Cambria Math" panose="02040503050406030204" pitchFamily="18" charset="0"/>
                        </a:rPr>
                        <m:t>𝑫𝑻</m:t>
                      </m:r>
                      <m:r>
                        <a:rPr lang="en-GB" b="1" i="1" smtClean="0">
                          <a:solidFill>
                            <a:srgbClr val="FF0000"/>
                          </a:solidFill>
                          <a:latin typeface="Cambria Math" panose="02040503050406030204" pitchFamily="18" charset="0"/>
                        </a:rPr>
                        <m:t>    =</m:t>
                      </m:r>
                      <m:f>
                        <m:fPr>
                          <m:ctrlPr>
                            <a:rPr lang="en-US" b="1" i="1">
                              <a:solidFill>
                                <a:srgbClr val="FF0000"/>
                              </a:solidFill>
                              <a:latin typeface="Cambria Math" panose="02040503050406030204" pitchFamily="18" charset="0"/>
                            </a:rPr>
                          </m:ctrlPr>
                        </m:fPr>
                        <m:num>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num>
                        <m:den>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𝑳</m:t>
                          </m:r>
                        </m:den>
                      </m:f>
                      <m: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f>
                        <m:fPr>
                          <m:ctrlPr>
                            <a:rPr lang="en-US" b="1" i="1">
                              <a:solidFill>
                                <a:srgbClr val="FF0000"/>
                              </a:solidFill>
                              <a:latin typeface="Cambria Math" panose="02040503050406030204" pitchFamily="18" charset="0"/>
                            </a:rPr>
                          </m:ctrlPr>
                        </m:fPr>
                        <m:num>
                          <m:r>
                            <a:rPr lang="en-GB" b="1" i="1" smtClean="0">
                              <a:solidFill>
                                <a:srgbClr val="FF0000"/>
                              </a:solidFill>
                              <a:latin typeface="Cambria Math" panose="02040503050406030204" pitchFamily="18" charset="0"/>
                            </a:rPr>
                            <m:t>𝑫</m:t>
                          </m:r>
                        </m:num>
                        <m:den>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𝒇</m:t>
                          </m:r>
                        </m:den>
                      </m:f>
                    </m:oMath>
                  </m:oMathPara>
                </a14:m>
                <a:endParaRPr lang="en-GB" b="1" dirty="0">
                  <a:solidFill>
                    <a:srgbClr val="FF0000"/>
                  </a:solidFill>
                </a:endParaRPr>
              </a:p>
            </p:txBody>
          </p:sp>
        </mc:Choice>
        <mc:Fallback xmlns="">
          <p:sp>
            <p:nvSpPr>
              <p:cNvPr id="14" name="TextBox 13">
                <a:extLst>
                  <a:ext uri="{FF2B5EF4-FFF2-40B4-BE49-F238E27FC236}">
                    <a16:creationId xmlns:a16="http://schemas.microsoft.com/office/drawing/2014/main" id="{D291447B-9A64-6998-1A93-5948E348F5C2}"/>
                  </a:ext>
                </a:extLst>
              </p:cNvPr>
              <p:cNvSpPr txBox="1">
                <a:spLocks noRot="1" noChangeAspect="1" noMove="1" noResize="1" noEditPoints="1" noAdjustHandles="1" noChangeArrowheads="1" noChangeShapeType="1" noTextEdit="1"/>
              </p:cNvSpPr>
              <p:nvPr/>
            </p:nvSpPr>
            <p:spPr>
              <a:xfrm>
                <a:off x="1832561" y="2842160"/>
                <a:ext cx="6457950" cy="65947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3E70A37-38EE-9B20-3988-58ACF7874C18}"/>
                  </a:ext>
                </a:extLst>
              </p:cNvPr>
              <p:cNvSpPr txBox="1"/>
              <p:nvPr/>
            </p:nvSpPr>
            <p:spPr>
              <a:xfrm>
                <a:off x="1785366" y="3366263"/>
                <a:ext cx="5116068" cy="6669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effectLst/>
                              <a:latin typeface="Cambria Math" panose="02040503050406030204" pitchFamily="18" charset="0"/>
                            </a:rPr>
                          </m:ctrlPr>
                        </m:sSubPr>
                        <m:e>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b="1" i="1">
                                  <a:solidFill>
                                    <a:schemeClr val="tx1"/>
                                  </a:solidFill>
                                  <a:effectLst/>
                                  <a:latin typeface="Cambria Math" panose="02040503050406030204" pitchFamily="18" charset="0"/>
                                </a:rPr>
                              </m:ctrlPr>
                            </m:sSubPr>
                            <m:e>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𝒊</m:t>
                              </m:r>
                            </m:e>
                            <m:sub>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𝑳</m:t>
                              </m:r>
                            </m:sub>
                          </m:sSub>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𝒔𝒘𝒊𝒕𝒄𝒉</m:t>
                          </m:r>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 </m:t>
                          </m:r>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𝒄𝒍𝒐𝒔𝒆𝒅</m:t>
                          </m:r>
                        </m:sub>
                      </m:sSub>
                      <m:r>
                        <a:rPr lang="en-US" sz="1800" b="1"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r>
                        <a:rPr lang="en-GB" sz="1800" b="1" i="1" smtClean="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𝟏𝟐</m:t>
                          </m:r>
                        </m:num>
                        <m:den>
                          <m:r>
                            <a:rPr lang="en-GB" b="1" i="0"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𝟏𝟐𝟎</m:t>
                          </m:r>
                          <m:r>
                            <a:rPr lang="en-GB" b="1">
                              <a:latin typeface="Cambria Math" panose="02040503050406030204" pitchFamily="18" charset="0"/>
                            </a:rPr>
                            <m:t> </m:t>
                          </m:r>
                          <m:r>
                            <a:rPr lang="el-GR" b="1" i="1">
                              <a:latin typeface="Cambria Math" panose="02040503050406030204" pitchFamily="18" charset="0"/>
                              <a:ea typeface="Cambria Math" panose="02040503050406030204" pitchFamily="18" charset="0"/>
                            </a:rPr>
                            <m:t>𝝁</m:t>
                          </m:r>
                          <m:r>
                            <a:rPr lang="en-GB" b="1" i="1">
                              <a:latin typeface="Cambria Math" panose="02040503050406030204" pitchFamily="18" charset="0"/>
                            </a:rPr>
                            <m:t>𝐇</m:t>
                          </m:r>
                        </m:den>
                      </m:f>
                      <m:r>
                        <a:rPr lang="en-US" b="1" i="1">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f>
                        <m:fPr>
                          <m:ctrlPr>
                            <a:rPr lang="en-US" b="1" i="1">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𝟎</m:t>
                          </m:r>
                          <m:r>
                            <a:rPr lang="en-GB" b="1" i="1" smtClean="0">
                              <a:solidFill>
                                <a:schemeClr val="tx1"/>
                              </a:solidFill>
                              <a:latin typeface="Cambria Math" panose="02040503050406030204" pitchFamily="18" charset="0"/>
                            </a:rPr>
                            <m:t>.</m:t>
                          </m:r>
                          <m:r>
                            <a:rPr lang="en-GB" b="1" i="1" smtClean="0">
                              <a:solidFill>
                                <a:schemeClr val="tx1"/>
                              </a:solidFill>
                              <a:latin typeface="Cambria Math" panose="02040503050406030204" pitchFamily="18" charset="0"/>
                            </a:rPr>
                            <m:t>𝟔</m:t>
                          </m:r>
                        </m:num>
                        <m:den>
                          <m:r>
                            <a:rPr lang="en-GB" b="1" i="1" smtClean="0">
                              <a:solidFill>
                                <a:schemeClr val="tx1"/>
                              </a:solidFill>
                              <a:latin typeface="Cambria Math" panose="02040503050406030204" pitchFamily="18" charset="0"/>
                            </a:rPr>
                            <m:t>𝟐𝟓𝟎𝟎𝟎</m:t>
                          </m:r>
                        </m:den>
                      </m:f>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𝟐</m:t>
                      </m:r>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𝟒</m:t>
                      </m:r>
                      <m:r>
                        <a:rPr lang="en-GB"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𝑨</m:t>
                      </m:r>
                    </m:oMath>
                  </m:oMathPara>
                </a14:m>
                <a:endParaRPr lang="en-GB" dirty="0">
                  <a:solidFill>
                    <a:schemeClr val="tx1"/>
                  </a:solidFill>
                </a:endParaRPr>
              </a:p>
            </p:txBody>
          </p:sp>
        </mc:Choice>
        <mc:Fallback xmlns="">
          <p:sp>
            <p:nvSpPr>
              <p:cNvPr id="16" name="TextBox 15">
                <a:extLst>
                  <a:ext uri="{FF2B5EF4-FFF2-40B4-BE49-F238E27FC236}">
                    <a16:creationId xmlns:a16="http://schemas.microsoft.com/office/drawing/2014/main" id="{13E70A37-38EE-9B20-3988-58ACF7874C18}"/>
                  </a:ext>
                </a:extLst>
              </p:cNvPr>
              <p:cNvSpPr txBox="1">
                <a:spLocks noRot="1" noChangeAspect="1" noMove="1" noResize="1" noEditPoints="1" noAdjustHandles="1" noChangeArrowheads="1" noChangeShapeType="1" noTextEdit="1"/>
              </p:cNvSpPr>
              <p:nvPr/>
            </p:nvSpPr>
            <p:spPr>
              <a:xfrm>
                <a:off x="1785366" y="3366263"/>
                <a:ext cx="5116068" cy="66691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377DB17-9446-D687-161A-6FF723C7FA13}"/>
                  </a:ext>
                </a:extLst>
              </p:cNvPr>
              <p:cNvSpPr txBox="1"/>
              <p:nvPr/>
            </p:nvSpPr>
            <p:spPr>
              <a:xfrm>
                <a:off x="89693" y="4049559"/>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1" i="1" smtClean="0">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𝑰</m:t>
                          </m:r>
                        </m:e>
                        <m:sub>
                          <m:r>
                            <a:rPr lang="en-GB" b="1" i="1">
                              <a:solidFill>
                                <a:srgbClr val="FF0000"/>
                              </a:solidFill>
                              <a:latin typeface="Cambria Math" panose="02040503050406030204" pitchFamily="18" charset="0"/>
                            </a:rPr>
                            <m:t>𝑳</m:t>
                          </m:r>
                          <m:r>
                            <a:rPr lang="en-GB" b="1" i="0">
                              <a:solidFill>
                                <a:srgbClr val="FF0000"/>
                              </a:solidFill>
                              <a:latin typeface="Cambria Math" panose="02040503050406030204" pitchFamily="18" charset="0"/>
                            </a:rPr>
                            <m:t>,</m:t>
                          </m:r>
                          <m:r>
                            <a:rPr lang="en-GB" b="1" i="1">
                              <a:solidFill>
                                <a:srgbClr val="FF0000"/>
                              </a:solidFill>
                              <a:latin typeface="Cambria Math" panose="02040503050406030204" pitchFamily="18" charset="0"/>
                            </a:rPr>
                            <m:t>𝒎𝒂𝒙</m:t>
                          </m:r>
                        </m:sub>
                      </m:sSub>
                      <m:r>
                        <a:rPr lang="en-GB" b="1" i="0">
                          <a:solidFill>
                            <a:srgbClr val="FF0000"/>
                          </a:solidFill>
                          <a:latin typeface="Cambria Math" panose="02040503050406030204" pitchFamily="18" charset="0"/>
                        </a:rPr>
                        <m:t>= </m:t>
                      </m:r>
                      <m:sSub>
                        <m:sSubPr>
                          <m:ctrlPr>
                            <a:rPr lang="en-GB" b="1" i="1">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𝑰</m:t>
                          </m:r>
                        </m:e>
                        <m:sub>
                          <m:r>
                            <a:rPr lang="en-GB" b="1" i="1">
                              <a:solidFill>
                                <a:srgbClr val="FF0000"/>
                              </a:solidFill>
                              <a:latin typeface="Cambria Math" panose="02040503050406030204" pitchFamily="18" charset="0"/>
                            </a:rPr>
                            <m:t>𝑳</m:t>
                          </m:r>
                          <m:r>
                            <a:rPr lang="en-GB" b="1" i="0">
                              <a:solidFill>
                                <a:srgbClr val="FF0000"/>
                              </a:solidFill>
                              <a:latin typeface="Cambria Math" panose="02040503050406030204" pitchFamily="18" charset="0"/>
                            </a:rPr>
                            <m:t>,</m:t>
                          </m:r>
                          <m:r>
                            <a:rPr lang="en-GB" b="1" i="1">
                              <a:solidFill>
                                <a:srgbClr val="FF0000"/>
                              </a:solidFill>
                              <a:latin typeface="Cambria Math" panose="02040503050406030204" pitchFamily="18" charset="0"/>
                            </a:rPr>
                            <m:t>𝒂𝒗𝒈</m:t>
                          </m:r>
                        </m:sub>
                      </m:sSub>
                      <m:r>
                        <a:rPr lang="en-GB" b="1" i="0">
                          <a:solidFill>
                            <a:srgbClr val="FF0000"/>
                          </a:solidFill>
                          <a:latin typeface="Cambria Math" panose="02040503050406030204" pitchFamily="18" charset="0"/>
                        </a:rPr>
                        <m:t>+</m:t>
                      </m:r>
                      <m:f>
                        <m:fPr>
                          <m:ctrlPr>
                            <a:rPr lang="en-GB" b="1" i="1">
                              <a:solidFill>
                                <a:srgbClr val="FF0000"/>
                              </a:solidFill>
                              <a:latin typeface="Cambria Math" panose="02040503050406030204" pitchFamily="18" charset="0"/>
                            </a:rPr>
                          </m:ctrlPr>
                        </m:fPr>
                        <m:num>
                          <m:sSub>
                            <m:sSubPr>
                              <m:ctrlPr>
                                <a:rPr lang="en-GB" b="1" i="1">
                                  <a:solidFill>
                                    <a:srgbClr val="FF0000"/>
                                  </a:solidFill>
                                  <a:latin typeface="Cambria Math" panose="02040503050406030204" pitchFamily="18" charset="0"/>
                                </a:rPr>
                              </m:ctrlPr>
                            </m:sSubPr>
                            <m:e>
                              <m:d>
                                <m:dPr>
                                  <m:ctrlPr>
                                    <a:rPr lang="en-GB" b="1" i="1">
                                      <a:solidFill>
                                        <a:srgbClr val="FF0000"/>
                                      </a:solidFill>
                                      <a:latin typeface="Cambria Math" panose="02040503050406030204" pitchFamily="18" charset="0"/>
                                    </a:rPr>
                                  </m:ctrlPr>
                                </m:dPr>
                                <m:e>
                                  <m:r>
                                    <a:rPr lang="en-GB" b="1" i="0">
                                      <a:solidFill>
                                        <a:srgbClr val="FF0000"/>
                                      </a:solidFill>
                                      <a:latin typeface="Cambria Math" panose="02040503050406030204" pitchFamily="18" charset="0"/>
                                    </a:rPr>
                                    <m:t>∆</m:t>
                                  </m:r>
                                  <m:sSub>
                                    <m:sSubPr>
                                      <m:ctrlPr>
                                        <a:rPr lang="en-GB" b="1" i="1">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𝒊</m:t>
                                      </m:r>
                                    </m:e>
                                    <m:sub>
                                      <m:r>
                                        <a:rPr lang="en-GB" b="1" i="1">
                                          <a:solidFill>
                                            <a:srgbClr val="FF0000"/>
                                          </a:solidFill>
                                          <a:latin typeface="Cambria Math" panose="02040503050406030204" pitchFamily="18" charset="0"/>
                                        </a:rPr>
                                        <m:t>𝑳</m:t>
                                      </m:r>
                                    </m:sub>
                                  </m:sSub>
                                </m:e>
                              </m:d>
                            </m:e>
                            <m:sub>
                              <m:r>
                                <a:rPr lang="en-GB" b="1" i="1">
                                  <a:solidFill>
                                    <a:srgbClr val="FF0000"/>
                                  </a:solidFill>
                                  <a:latin typeface="Cambria Math" panose="02040503050406030204" pitchFamily="18" charset="0"/>
                                </a:rPr>
                                <m:t>𝒔𝒘𝒊𝒕𝒄𝒉</m:t>
                              </m:r>
                              <m:r>
                                <a:rPr lang="en-GB" b="1" i="0">
                                  <a:solidFill>
                                    <a:srgbClr val="FF0000"/>
                                  </a:solidFill>
                                  <a:latin typeface="Cambria Math" panose="02040503050406030204" pitchFamily="18" charset="0"/>
                                </a:rPr>
                                <m:t> </m:t>
                              </m:r>
                              <m:r>
                                <a:rPr lang="en-GB" b="1" i="1">
                                  <a:solidFill>
                                    <a:srgbClr val="FF0000"/>
                                  </a:solidFill>
                                  <a:latin typeface="Cambria Math" panose="02040503050406030204" pitchFamily="18" charset="0"/>
                                </a:rPr>
                                <m:t>𝒄𝒍𝒐𝒔𝒆𝒅</m:t>
                              </m:r>
                            </m:sub>
                          </m:sSub>
                        </m:num>
                        <m:den>
                          <m:r>
                            <a:rPr lang="en-GB" b="1" i="0">
                              <a:solidFill>
                                <a:srgbClr val="FF0000"/>
                              </a:solidFill>
                              <a:latin typeface="Cambria Math" panose="02040503050406030204" pitchFamily="18" charset="0"/>
                            </a:rPr>
                            <m:t>𝟐</m:t>
                          </m:r>
                        </m:den>
                      </m:f>
                      <m:r>
                        <a:rPr lang="en-GB" b="1" i="0">
                          <a:solidFill>
                            <a:srgbClr val="FF0000"/>
                          </a:solidFill>
                          <a:latin typeface="Cambria Math" panose="02040503050406030204" pitchFamily="18" charset="0"/>
                        </a:rPr>
                        <m:t> </m:t>
                      </m:r>
                    </m:oMath>
                  </m:oMathPara>
                </a14:m>
                <a:endParaRPr lang="en-GB" b="1" dirty="0">
                  <a:solidFill>
                    <a:srgbClr val="FF0000"/>
                  </a:solidFill>
                </a:endParaRPr>
              </a:p>
            </p:txBody>
          </p:sp>
        </mc:Choice>
        <mc:Fallback xmlns="">
          <p:sp>
            <p:nvSpPr>
              <p:cNvPr id="2" name="TextBox 1">
                <a:extLst>
                  <a:ext uri="{FF2B5EF4-FFF2-40B4-BE49-F238E27FC236}">
                    <a16:creationId xmlns:a16="http://schemas.microsoft.com/office/drawing/2014/main" id="{1377DB17-9446-D687-161A-6FF723C7FA13}"/>
                  </a:ext>
                </a:extLst>
              </p:cNvPr>
              <p:cNvSpPr txBox="1">
                <a:spLocks noRot="1" noChangeAspect="1" noMove="1" noResize="1" noEditPoints="1" noAdjustHandles="1" noChangeArrowheads="1" noChangeShapeType="1" noTextEdit="1"/>
              </p:cNvSpPr>
              <p:nvPr/>
            </p:nvSpPr>
            <p:spPr>
              <a:xfrm>
                <a:off x="89693" y="4049559"/>
                <a:ext cx="4572000" cy="62805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9C8F688-9245-E825-F45B-1FC0C1150559}"/>
                  </a:ext>
                </a:extLst>
              </p:cNvPr>
              <p:cNvSpPr txBox="1"/>
              <p:nvPr/>
            </p:nvSpPr>
            <p:spPr>
              <a:xfrm>
                <a:off x="4700888" y="4070839"/>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b="1" i="1" smtClean="0">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𝑰</m:t>
                          </m:r>
                        </m:e>
                        <m:sub>
                          <m:r>
                            <a:rPr lang="en-GB" b="1" i="1">
                              <a:solidFill>
                                <a:srgbClr val="FF0000"/>
                              </a:solidFill>
                              <a:latin typeface="Cambria Math" panose="02040503050406030204" pitchFamily="18" charset="0"/>
                            </a:rPr>
                            <m:t>𝑳</m:t>
                          </m:r>
                          <m:r>
                            <a:rPr lang="en-GB" b="1" i="0">
                              <a:solidFill>
                                <a:srgbClr val="FF0000"/>
                              </a:solidFill>
                              <a:latin typeface="Cambria Math" panose="02040503050406030204" pitchFamily="18" charset="0"/>
                            </a:rPr>
                            <m:t>,</m:t>
                          </m:r>
                          <m:r>
                            <a:rPr lang="en-GB" b="1" i="1">
                              <a:solidFill>
                                <a:srgbClr val="FF0000"/>
                              </a:solidFill>
                              <a:latin typeface="Cambria Math" panose="02040503050406030204" pitchFamily="18" charset="0"/>
                            </a:rPr>
                            <m:t>𝒎𝒊𝒏</m:t>
                          </m:r>
                        </m:sub>
                      </m:sSub>
                      <m:r>
                        <a:rPr lang="en-GB" b="1" i="0">
                          <a:solidFill>
                            <a:srgbClr val="FF0000"/>
                          </a:solidFill>
                          <a:latin typeface="Cambria Math" panose="02040503050406030204" pitchFamily="18" charset="0"/>
                        </a:rPr>
                        <m:t>= </m:t>
                      </m:r>
                      <m:sSub>
                        <m:sSubPr>
                          <m:ctrlPr>
                            <a:rPr lang="en-GB" b="1" i="1">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𝑰</m:t>
                          </m:r>
                        </m:e>
                        <m:sub>
                          <m:r>
                            <a:rPr lang="en-GB" b="1" i="1">
                              <a:solidFill>
                                <a:srgbClr val="FF0000"/>
                              </a:solidFill>
                              <a:latin typeface="Cambria Math" panose="02040503050406030204" pitchFamily="18" charset="0"/>
                            </a:rPr>
                            <m:t>𝑳</m:t>
                          </m:r>
                          <m:r>
                            <a:rPr lang="en-GB" b="1" i="0">
                              <a:solidFill>
                                <a:srgbClr val="FF0000"/>
                              </a:solidFill>
                              <a:latin typeface="Cambria Math" panose="02040503050406030204" pitchFamily="18" charset="0"/>
                            </a:rPr>
                            <m:t>,</m:t>
                          </m:r>
                          <m:r>
                            <a:rPr lang="en-GB" b="1" i="1">
                              <a:solidFill>
                                <a:srgbClr val="FF0000"/>
                              </a:solidFill>
                              <a:latin typeface="Cambria Math" panose="02040503050406030204" pitchFamily="18" charset="0"/>
                            </a:rPr>
                            <m:t>𝒂𝒗𝒈</m:t>
                          </m:r>
                        </m:sub>
                      </m:sSub>
                      <m:r>
                        <a:rPr lang="en-GB" b="1" i="0">
                          <a:solidFill>
                            <a:srgbClr val="FF0000"/>
                          </a:solidFill>
                          <a:latin typeface="Cambria Math" panose="02040503050406030204" pitchFamily="18" charset="0"/>
                        </a:rPr>
                        <m:t>−</m:t>
                      </m:r>
                      <m:f>
                        <m:fPr>
                          <m:ctrlPr>
                            <a:rPr lang="en-GB" b="1" i="1">
                              <a:solidFill>
                                <a:srgbClr val="FF0000"/>
                              </a:solidFill>
                              <a:latin typeface="Cambria Math" panose="02040503050406030204" pitchFamily="18" charset="0"/>
                            </a:rPr>
                          </m:ctrlPr>
                        </m:fPr>
                        <m:num>
                          <m:sSub>
                            <m:sSubPr>
                              <m:ctrlPr>
                                <a:rPr lang="en-GB" b="1" i="1">
                                  <a:solidFill>
                                    <a:srgbClr val="FF0000"/>
                                  </a:solidFill>
                                  <a:latin typeface="Cambria Math" panose="02040503050406030204" pitchFamily="18" charset="0"/>
                                </a:rPr>
                              </m:ctrlPr>
                            </m:sSubPr>
                            <m:e>
                              <m:d>
                                <m:dPr>
                                  <m:ctrlPr>
                                    <a:rPr lang="en-GB" b="1" i="1">
                                      <a:solidFill>
                                        <a:srgbClr val="FF0000"/>
                                      </a:solidFill>
                                      <a:latin typeface="Cambria Math" panose="02040503050406030204" pitchFamily="18" charset="0"/>
                                    </a:rPr>
                                  </m:ctrlPr>
                                </m:dPr>
                                <m:e>
                                  <m:r>
                                    <a:rPr lang="en-GB" b="1" i="0">
                                      <a:solidFill>
                                        <a:srgbClr val="FF0000"/>
                                      </a:solidFill>
                                      <a:latin typeface="Cambria Math" panose="02040503050406030204" pitchFamily="18" charset="0"/>
                                    </a:rPr>
                                    <m:t>∆</m:t>
                                  </m:r>
                                  <m:sSub>
                                    <m:sSubPr>
                                      <m:ctrlPr>
                                        <a:rPr lang="en-GB" b="1" i="1">
                                          <a:solidFill>
                                            <a:srgbClr val="FF0000"/>
                                          </a:solidFill>
                                          <a:latin typeface="Cambria Math" panose="02040503050406030204" pitchFamily="18" charset="0"/>
                                        </a:rPr>
                                      </m:ctrlPr>
                                    </m:sSubPr>
                                    <m:e>
                                      <m:r>
                                        <a:rPr lang="en-GB" b="1" i="1">
                                          <a:solidFill>
                                            <a:srgbClr val="FF0000"/>
                                          </a:solidFill>
                                          <a:latin typeface="Cambria Math" panose="02040503050406030204" pitchFamily="18" charset="0"/>
                                        </a:rPr>
                                        <m:t>𝒊</m:t>
                                      </m:r>
                                    </m:e>
                                    <m:sub>
                                      <m:r>
                                        <a:rPr lang="en-GB" b="1" i="1">
                                          <a:solidFill>
                                            <a:srgbClr val="FF0000"/>
                                          </a:solidFill>
                                          <a:latin typeface="Cambria Math" panose="02040503050406030204" pitchFamily="18" charset="0"/>
                                        </a:rPr>
                                        <m:t>𝑳</m:t>
                                      </m:r>
                                    </m:sub>
                                  </m:sSub>
                                </m:e>
                              </m:d>
                            </m:e>
                            <m:sub>
                              <m:r>
                                <a:rPr lang="en-GB" b="1" i="1">
                                  <a:solidFill>
                                    <a:srgbClr val="FF0000"/>
                                  </a:solidFill>
                                  <a:latin typeface="Cambria Math" panose="02040503050406030204" pitchFamily="18" charset="0"/>
                                </a:rPr>
                                <m:t>𝒔𝒘𝒊𝒕𝒄𝒉</m:t>
                              </m:r>
                              <m:r>
                                <a:rPr lang="en-GB" b="1" i="0">
                                  <a:solidFill>
                                    <a:srgbClr val="FF0000"/>
                                  </a:solidFill>
                                  <a:latin typeface="Cambria Math" panose="02040503050406030204" pitchFamily="18" charset="0"/>
                                </a:rPr>
                                <m:t> </m:t>
                              </m:r>
                              <m:r>
                                <a:rPr lang="en-GB" b="1" i="1">
                                  <a:solidFill>
                                    <a:srgbClr val="FF0000"/>
                                  </a:solidFill>
                                  <a:latin typeface="Cambria Math" panose="02040503050406030204" pitchFamily="18" charset="0"/>
                                </a:rPr>
                                <m:t>𝒄𝒍𝒐𝒔𝒆𝒅</m:t>
                              </m:r>
                            </m:sub>
                          </m:sSub>
                        </m:num>
                        <m:den>
                          <m:r>
                            <a:rPr lang="en-GB" b="1" i="0">
                              <a:solidFill>
                                <a:srgbClr val="FF0000"/>
                              </a:solidFill>
                              <a:latin typeface="Cambria Math" panose="02040503050406030204" pitchFamily="18" charset="0"/>
                            </a:rPr>
                            <m:t>𝟐</m:t>
                          </m:r>
                        </m:den>
                      </m:f>
                    </m:oMath>
                  </m:oMathPara>
                </a14:m>
                <a:endParaRPr lang="en-GB" b="1" dirty="0">
                  <a:solidFill>
                    <a:srgbClr val="FF0000"/>
                  </a:solidFill>
                </a:endParaRPr>
              </a:p>
            </p:txBody>
          </p:sp>
        </mc:Choice>
        <mc:Fallback xmlns="">
          <p:sp>
            <p:nvSpPr>
              <p:cNvPr id="4" name="TextBox 3">
                <a:extLst>
                  <a:ext uri="{FF2B5EF4-FFF2-40B4-BE49-F238E27FC236}">
                    <a16:creationId xmlns:a16="http://schemas.microsoft.com/office/drawing/2014/main" id="{79C8F688-9245-E825-F45B-1FC0C1150559}"/>
                  </a:ext>
                </a:extLst>
              </p:cNvPr>
              <p:cNvSpPr txBox="1">
                <a:spLocks noRot="1" noChangeAspect="1" noMove="1" noResize="1" noEditPoints="1" noAdjustHandles="1" noChangeArrowheads="1" noChangeShapeType="1" noTextEdit="1"/>
              </p:cNvSpPr>
              <p:nvPr/>
            </p:nvSpPr>
            <p:spPr>
              <a:xfrm>
                <a:off x="4700888" y="4070839"/>
                <a:ext cx="4572000" cy="62805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D7DB3C5-76D5-2D2F-BD44-48B58A724855}"/>
                  </a:ext>
                </a:extLst>
              </p:cNvPr>
              <p:cNvSpPr txBox="1"/>
              <p:nvPr/>
            </p:nvSpPr>
            <p:spPr>
              <a:xfrm>
                <a:off x="0" y="4666356"/>
                <a:ext cx="3707892"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𝑚𝑎𝑥</m:t>
                          </m:r>
                        </m:sub>
                      </m:sSub>
                      <m:r>
                        <a:rPr lang="en-GB" i="0">
                          <a:latin typeface="Cambria Math" panose="02040503050406030204" pitchFamily="18" charset="0"/>
                        </a:rPr>
                        <m:t>=</m:t>
                      </m:r>
                      <m:r>
                        <a:rPr lang="en-GB" b="0" i="0" smtClean="0">
                          <a:latin typeface="Cambria Math" panose="02040503050406030204" pitchFamily="18" charset="0"/>
                        </a:rPr>
                        <m:t>1.5+1.2=2.7</m:t>
                      </m:r>
                      <m:r>
                        <m:rPr>
                          <m:sty m:val="p"/>
                        </m:rPr>
                        <a:rPr lang="en-GB" b="0" i="0" smtClean="0">
                          <a:latin typeface="Cambria Math" panose="02040503050406030204" pitchFamily="18" charset="0"/>
                        </a:rPr>
                        <m:t>A</m:t>
                      </m:r>
                      <m:r>
                        <a:rPr lang="en-GB" i="0">
                          <a:latin typeface="Cambria Math" panose="02040503050406030204" pitchFamily="18" charset="0"/>
                        </a:rPr>
                        <m:t> </m:t>
                      </m:r>
                    </m:oMath>
                  </m:oMathPara>
                </a14:m>
                <a:endParaRPr lang="en-GB" dirty="0"/>
              </a:p>
            </p:txBody>
          </p:sp>
        </mc:Choice>
        <mc:Fallback xmlns="">
          <p:sp>
            <p:nvSpPr>
              <p:cNvPr id="6" name="TextBox 5">
                <a:extLst>
                  <a:ext uri="{FF2B5EF4-FFF2-40B4-BE49-F238E27FC236}">
                    <a16:creationId xmlns:a16="http://schemas.microsoft.com/office/drawing/2014/main" id="{8D7DB3C5-76D5-2D2F-BD44-48B58A724855}"/>
                  </a:ext>
                </a:extLst>
              </p:cNvPr>
              <p:cNvSpPr txBox="1">
                <a:spLocks noRot="1" noChangeAspect="1" noMove="1" noResize="1" noEditPoints="1" noAdjustHandles="1" noChangeArrowheads="1" noChangeShapeType="1" noTextEdit="1"/>
              </p:cNvSpPr>
              <p:nvPr/>
            </p:nvSpPr>
            <p:spPr>
              <a:xfrm>
                <a:off x="0" y="4666356"/>
                <a:ext cx="3707892" cy="38151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67EB61-4120-1E83-51D4-D4A23E867E94}"/>
                  </a:ext>
                </a:extLst>
              </p:cNvPr>
              <p:cNvSpPr txBox="1"/>
              <p:nvPr/>
            </p:nvSpPr>
            <p:spPr>
              <a:xfrm>
                <a:off x="4700888" y="4698896"/>
                <a:ext cx="3707892"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m:t>
                          </m:r>
                          <m:r>
                            <a:rPr lang="en-GB" b="0" i="1" smtClean="0">
                              <a:latin typeface="Cambria Math" panose="02040503050406030204" pitchFamily="18" charset="0"/>
                            </a:rPr>
                            <m:t>𝑖𝑛</m:t>
                          </m:r>
                        </m:sub>
                      </m:sSub>
                      <m:r>
                        <a:rPr lang="en-GB" i="0">
                          <a:latin typeface="Cambria Math" panose="02040503050406030204" pitchFamily="18" charset="0"/>
                        </a:rPr>
                        <m:t>=</m:t>
                      </m:r>
                      <m:r>
                        <a:rPr lang="en-GB" b="0" i="0" smtClean="0">
                          <a:latin typeface="Cambria Math" panose="02040503050406030204" pitchFamily="18" charset="0"/>
                        </a:rPr>
                        <m:t>1.5−1.2=0.3</m:t>
                      </m:r>
                      <m:r>
                        <m:rPr>
                          <m:sty m:val="p"/>
                        </m:rPr>
                        <a:rPr lang="en-GB" b="0" i="0" smtClean="0">
                          <a:latin typeface="Cambria Math" panose="02040503050406030204" pitchFamily="18" charset="0"/>
                        </a:rPr>
                        <m:t>A</m:t>
                      </m:r>
                      <m:r>
                        <a:rPr lang="en-GB" i="0">
                          <a:latin typeface="Cambria Math" panose="02040503050406030204" pitchFamily="18" charset="0"/>
                        </a:rPr>
                        <m:t> </m:t>
                      </m:r>
                    </m:oMath>
                  </m:oMathPara>
                </a14:m>
                <a:endParaRPr lang="en-GB" dirty="0"/>
              </a:p>
            </p:txBody>
          </p:sp>
        </mc:Choice>
        <mc:Fallback xmlns="">
          <p:sp>
            <p:nvSpPr>
              <p:cNvPr id="8" name="TextBox 7">
                <a:extLst>
                  <a:ext uri="{FF2B5EF4-FFF2-40B4-BE49-F238E27FC236}">
                    <a16:creationId xmlns:a16="http://schemas.microsoft.com/office/drawing/2014/main" id="{0167EB61-4120-1E83-51D4-D4A23E867E94}"/>
                  </a:ext>
                </a:extLst>
              </p:cNvPr>
              <p:cNvSpPr txBox="1">
                <a:spLocks noRot="1" noChangeAspect="1" noMove="1" noResize="1" noEditPoints="1" noAdjustHandles="1" noChangeArrowheads="1" noChangeShapeType="1" noTextEdit="1"/>
              </p:cNvSpPr>
              <p:nvPr/>
            </p:nvSpPr>
            <p:spPr>
              <a:xfrm>
                <a:off x="4700888" y="4698896"/>
                <a:ext cx="3707892" cy="381515"/>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33EB71A-B7DF-E443-BE9E-F251077E252A}"/>
                  </a:ext>
                </a:extLst>
              </p:cNvPr>
              <p:cNvSpPr txBox="1"/>
              <p:nvPr/>
            </p:nvSpPr>
            <p:spPr>
              <a:xfrm>
                <a:off x="0" y="5163317"/>
                <a:ext cx="2744947"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000" b="1" i="1" smtClean="0">
                              <a:solidFill>
                                <a:srgbClr val="FF0000"/>
                              </a:solidFill>
                              <a:latin typeface="Cambria Math" panose="02040503050406030204" pitchFamily="18" charset="0"/>
                            </a:rPr>
                          </m:ctrlPr>
                        </m:fPr>
                        <m:num>
                          <m:r>
                            <a:rPr lang="en-US" sz="2000" b="1">
                              <a:solidFill>
                                <a:srgbClr val="FF0000"/>
                              </a:solidFill>
                              <a:latin typeface="Cambria Math" panose="02040503050406030204" pitchFamily="18" charset="0"/>
                            </a:rPr>
                            <m:t>∆</m:t>
                          </m:r>
                          <m:sSub>
                            <m:sSubPr>
                              <m:ctrlPr>
                                <a:rPr lang="en-US" sz="2000" b="1" i="1">
                                  <a:solidFill>
                                    <a:srgbClr val="FF0000"/>
                                  </a:solidFill>
                                  <a:latin typeface="Cambria Math" panose="02040503050406030204" pitchFamily="18" charset="0"/>
                                </a:rPr>
                              </m:ctrlPr>
                            </m:sSubPr>
                            <m:e>
                              <m:r>
                                <a:rPr lang="en-GB" sz="2000" b="1" i="1">
                                  <a:solidFill>
                                    <a:srgbClr val="FF0000"/>
                                  </a:solidFill>
                                  <a:latin typeface="Cambria Math" panose="02040503050406030204" pitchFamily="18" charset="0"/>
                                </a:rPr>
                                <m:t>𝑽</m:t>
                              </m:r>
                            </m:e>
                            <m:sub>
                              <m:r>
                                <a:rPr lang="en-GB" sz="2000" b="1" i="1">
                                  <a:solidFill>
                                    <a:srgbClr val="FF0000"/>
                                  </a:solidFill>
                                  <a:latin typeface="Cambria Math" panose="02040503050406030204" pitchFamily="18" charset="0"/>
                                </a:rPr>
                                <m:t>𝑶𝑼𝑻</m:t>
                              </m:r>
                              <m:r>
                                <a:rPr lang="en-GB" sz="2000" b="1" i="1">
                                  <a:solidFill>
                                    <a:srgbClr val="FF0000"/>
                                  </a:solidFill>
                                  <a:latin typeface="Cambria Math" panose="02040503050406030204" pitchFamily="18" charset="0"/>
                                </a:rPr>
                                <m:t> </m:t>
                              </m:r>
                            </m:sub>
                          </m:sSub>
                        </m:num>
                        <m:den>
                          <m:sSub>
                            <m:sSubPr>
                              <m:ctrlPr>
                                <a:rPr lang="en-US" sz="2000" b="1" i="1" smtClean="0">
                                  <a:solidFill>
                                    <a:srgbClr val="FF0000"/>
                                  </a:solidFill>
                                  <a:latin typeface="Cambria Math" panose="02040503050406030204" pitchFamily="18" charset="0"/>
                                </a:rPr>
                              </m:ctrlPr>
                            </m:sSubPr>
                            <m:e>
                              <m:r>
                                <a:rPr lang="en-GB" sz="2000" b="1" i="1">
                                  <a:solidFill>
                                    <a:srgbClr val="FF0000"/>
                                  </a:solidFill>
                                  <a:latin typeface="Cambria Math" panose="02040503050406030204" pitchFamily="18" charset="0"/>
                                </a:rPr>
                                <m:t>𝑽</m:t>
                              </m:r>
                            </m:e>
                            <m:sub>
                              <m:r>
                                <a:rPr lang="en-GB" sz="2000" b="1" i="1">
                                  <a:solidFill>
                                    <a:srgbClr val="FF0000"/>
                                  </a:solidFill>
                                  <a:latin typeface="Cambria Math" panose="02040503050406030204" pitchFamily="18" charset="0"/>
                                </a:rPr>
                                <m:t>𝑶𝑼𝑻</m:t>
                              </m:r>
                            </m:sub>
                          </m:sSub>
                        </m:den>
                      </m:f>
                      <m:r>
                        <a:rPr lang="en-GB" sz="2000" b="1" i="0" smtClean="0">
                          <a:solidFill>
                            <a:srgbClr val="FF0000"/>
                          </a:solidFill>
                          <a:latin typeface="Cambria Math" panose="02040503050406030204" pitchFamily="18" charset="0"/>
                        </a:rPr>
                        <m:t>=</m:t>
                      </m:r>
                      <m:f>
                        <m:fPr>
                          <m:ctrlPr>
                            <a:rPr lang="en-US" sz="2000" b="1" i="1" smtClean="0">
                              <a:solidFill>
                                <a:srgbClr val="FF0000"/>
                              </a:solidFill>
                              <a:latin typeface="Cambria Math" panose="02040503050406030204" pitchFamily="18" charset="0"/>
                            </a:rPr>
                          </m:ctrlPr>
                        </m:fPr>
                        <m:num>
                          <m:r>
                            <a:rPr lang="en-GB" sz="2000" b="1" i="1" smtClean="0">
                              <a:solidFill>
                                <a:srgbClr val="FF0000"/>
                              </a:solidFill>
                              <a:latin typeface="Cambria Math" panose="02040503050406030204" pitchFamily="18" charset="0"/>
                            </a:rPr>
                            <m:t>𝑫𝑻</m:t>
                          </m:r>
                        </m:num>
                        <m:den>
                          <m:r>
                            <a:rPr lang="en-GB" sz="2000" b="1" i="1" smtClean="0">
                              <a:solidFill>
                                <a:srgbClr val="FF0000"/>
                              </a:solidFill>
                              <a:latin typeface="Cambria Math" panose="02040503050406030204" pitchFamily="18" charset="0"/>
                            </a:rPr>
                            <m:t>𝑹</m:t>
                          </m:r>
                          <m:r>
                            <a:rPr lang="en-GB" sz="2000" b="1" i="1" smtClean="0">
                              <a:solidFill>
                                <a:srgbClr val="FF0000"/>
                              </a:solidFill>
                              <a:latin typeface="Cambria Math" panose="02040503050406030204" pitchFamily="18" charset="0"/>
                            </a:rPr>
                            <m:t> </m:t>
                          </m:r>
                          <m:r>
                            <a:rPr lang="en-GB" sz="2000"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𝑪</m:t>
                          </m:r>
                          <m:r>
                            <a:rPr lang="en-GB" sz="2000"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den>
                      </m:f>
                    </m:oMath>
                  </m:oMathPara>
                </a14:m>
                <a:endParaRPr lang="en-GB" sz="2000" b="1" dirty="0"/>
              </a:p>
            </p:txBody>
          </p:sp>
        </mc:Choice>
        <mc:Fallback xmlns="">
          <p:sp>
            <p:nvSpPr>
              <p:cNvPr id="13" name="TextBox 12">
                <a:extLst>
                  <a:ext uri="{FF2B5EF4-FFF2-40B4-BE49-F238E27FC236}">
                    <a16:creationId xmlns:a16="http://schemas.microsoft.com/office/drawing/2014/main" id="{833EB71A-B7DF-E443-BE9E-F251077E252A}"/>
                  </a:ext>
                </a:extLst>
              </p:cNvPr>
              <p:cNvSpPr txBox="1">
                <a:spLocks noRot="1" noChangeAspect="1" noMove="1" noResize="1" noEditPoints="1" noAdjustHandles="1" noChangeArrowheads="1" noChangeShapeType="1" noTextEdit="1"/>
              </p:cNvSpPr>
              <p:nvPr/>
            </p:nvSpPr>
            <p:spPr>
              <a:xfrm>
                <a:off x="0" y="5163317"/>
                <a:ext cx="2744947" cy="722890"/>
              </a:xfrm>
              <a:prstGeom prst="rect">
                <a:avLst/>
              </a:prstGeom>
              <a:blipFill>
                <a:blip r:embed="rId11"/>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493F603-E800-91EB-FAD7-86E0673387AF}"/>
                  </a:ext>
                </a:extLst>
              </p:cNvPr>
              <p:cNvSpPr txBox="1"/>
              <p:nvPr/>
            </p:nvSpPr>
            <p:spPr>
              <a:xfrm>
                <a:off x="2436710" y="5163317"/>
                <a:ext cx="2542364"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GB" sz="2000" b="1" i="1" smtClean="0">
                          <a:solidFill>
                            <a:srgbClr val="FF0000"/>
                          </a:solidFill>
                          <a:latin typeface="Cambria Math" panose="02040503050406030204" pitchFamily="18" charset="0"/>
                        </a:rPr>
                        <m:t>⇒      </m:t>
                      </m:r>
                      <m:f>
                        <m:fPr>
                          <m:ctrlPr>
                            <a:rPr lang="en-GB" sz="2000" b="1" i="1" smtClean="0">
                              <a:solidFill>
                                <a:srgbClr val="FF0000"/>
                              </a:solidFill>
                              <a:latin typeface="Cambria Math" panose="02040503050406030204" pitchFamily="18" charset="0"/>
                            </a:rPr>
                          </m:ctrlPr>
                        </m:fPr>
                        <m:num>
                          <m:r>
                            <a:rPr lang="en-US" sz="2000" b="1">
                              <a:solidFill>
                                <a:srgbClr val="FF0000"/>
                              </a:solidFill>
                              <a:latin typeface="Cambria Math" panose="02040503050406030204" pitchFamily="18" charset="0"/>
                            </a:rPr>
                            <m:t>∆</m:t>
                          </m:r>
                          <m:sSub>
                            <m:sSubPr>
                              <m:ctrlPr>
                                <a:rPr lang="en-US" sz="2000" b="1" i="1">
                                  <a:solidFill>
                                    <a:srgbClr val="FF0000"/>
                                  </a:solidFill>
                                  <a:latin typeface="Cambria Math" panose="02040503050406030204" pitchFamily="18" charset="0"/>
                                </a:rPr>
                              </m:ctrlPr>
                            </m:sSubPr>
                            <m:e>
                              <m:r>
                                <a:rPr lang="en-GB" sz="2000" b="1" i="1">
                                  <a:solidFill>
                                    <a:srgbClr val="FF0000"/>
                                  </a:solidFill>
                                  <a:latin typeface="Cambria Math" panose="02040503050406030204" pitchFamily="18" charset="0"/>
                                </a:rPr>
                                <m:t>𝑽</m:t>
                              </m:r>
                            </m:e>
                            <m:sub>
                              <m:r>
                                <a:rPr lang="en-GB" sz="2000" b="1" i="1">
                                  <a:solidFill>
                                    <a:srgbClr val="FF0000"/>
                                  </a:solidFill>
                                  <a:latin typeface="Cambria Math" panose="02040503050406030204" pitchFamily="18" charset="0"/>
                                </a:rPr>
                                <m:t>𝑶𝑼𝑻</m:t>
                              </m:r>
                              <m:r>
                                <a:rPr lang="en-GB" sz="2000" b="1" i="1">
                                  <a:solidFill>
                                    <a:srgbClr val="FF0000"/>
                                  </a:solidFill>
                                  <a:latin typeface="Cambria Math" panose="02040503050406030204" pitchFamily="18" charset="0"/>
                                </a:rPr>
                                <m:t> </m:t>
                              </m:r>
                            </m:sub>
                          </m:sSub>
                        </m:num>
                        <m:den>
                          <m:sSub>
                            <m:sSubPr>
                              <m:ctrlPr>
                                <a:rPr lang="en-US" sz="2000" b="1" i="1" smtClean="0">
                                  <a:solidFill>
                                    <a:srgbClr val="FF0000"/>
                                  </a:solidFill>
                                  <a:latin typeface="Cambria Math" panose="02040503050406030204" pitchFamily="18" charset="0"/>
                                </a:rPr>
                              </m:ctrlPr>
                            </m:sSubPr>
                            <m:e>
                              <m:r>
                                <a:rPr lang="en-GB" sz="2000" b="1" i="1">
                                  <a:solidFill>
                                    <a:srgbClr val="FF0000"/>
                                  </a:solidFill>
                                  <a:latin typeface="Cambria Math" panose="02040503050406030204" pitchFamily="18" charset="0"/>
                                </a:rPr>
                                <m:t>𝑽</m:t>
                              </m:r>
                            </m:e>
                            <m:sub>
                              <m:r>
                                <a:rPr lang="en-GB" sz="2000" b="1" i="1">
                                  <a:solidFill>
                                    <a:srgbClr val="FF0000"/>
                                  </a:solidFill>
                                  <a:latin typeface="Cambria Math" panose="02040503050406030204" pitchFamily="18" charset="0"/>
                                </a:rPr>
                                <m:t>𝑶𝑼𝑻</m:t>
                              </m:r>
                            </m:sub>
                          </m:sSub>
                        </m:den>
                      </m:f>
                      <m:r>
                        <a:rPr lang="en-GB" sz="2000" b="1" i="0" smtClean="0">
                          <a:solidFill>
                            <a:srgbClr val="FF0000"/>
                          </a:solidFill>
                          <a:latin typeface="Cambria Math" panose="02040503050406030204" pitchFamily="18" charset="0"/>
                        </a:rPr>
                        <m:t>=</m:t>
                      </m:r>
                      <m:f>
                        <m:fPr>
                          <m:ctrlPr>
                            <a:rPr lang="en-US" sz="2000" b="1" i="1" smtClean="0">
                              <a:solidFill>
                                <a:srgbClr val="FF0000"/>
                              </a:solidFill>
                              <a:latin typeface="Cambria Math" panose="02040503050406030204" pitchFamily="18" charset="0"/>
                            </a:rPr>
                          </m:ctrlPr>
                        </m:fPr>
                        <m:num>
                          <m:r>
                            <a:rPr lang="en-GB" sz="2000" b="1" i="1" smtClean="0">
                              <a:solidFill>
                                <a:srgbClr val="FF0000"/>
                              </a:solidFill>
                              <a:latin typeface="Cambria Math" panose="02040503050406030204" pitchFamily="18" charset="0"/>
                            </a:rPr>
                            <m:t>𝑫</m:t>
                          </m:r>
                        </m:num>
                        <m:den>
                          <m:r>
                            <a:rPr lang="en-GB" sz="2000" b="1" i="1" smtClean="0">
                              <a:solidFill>
                                <a:srgbClr val="FF0000"/>
                              </a:solidFill>
                              <a:latin typeface="Cambria Math" panose="02040503050406030204" pitchFamily="18" charset="0"/>
                            </a:rPr>
                            <m:t>𝑹</m:t>
                          </m:r>
                          <m:r>
                            <a:rPr lang="en-GB" sz="2000" b="1" i="1" smtClean="0">
                              <a:solidFill>
                                <a:srgbClr val="FF0000"/>
                              </a:solidFill>
                              <a:latin typeface="Cambria Math" panose="02040503050406030204" pitchFamily="18" charset="0"/>
                            </a:rPr>
                            <m:t> </m:t>
                          </m:r>
                          <m:r>
                            <a:rPr lang="en-GB" sz="2000"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𝑪𝒇</m:t>
                          </m:r>
                          <m:r>
                            <a:rPr lang="en-GB" sz="2000"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den>
                      </m:f>
                      <m:r>
                        <a:rPr lang="en-GB" sz="2000"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oMath>
                  </m:oMathPara>
                </a14:m>
                <a:endParaRPr lang="en-GB" sz="2000" b="1" dirty="0"/>
              </a:p>
            </p:txBody>
          </p:sp>
        </mc:Choice>
        <mc:Fallback xmlns="">
          <p:sp>
            <p:nvSpPr>
              <p:cNvPr id="15" name="TextBox 14">
                <a:extLst>
                  <a:ext uri="{FF2B5EF4-FFF2-40B4-BE49-F238E27FC236}">
                    <a16:creationId xmlns:a16="http://schemas.microsoft.com/office/drawing/2014/main" id="{7493F603-E800-91EB-FAD7-86E0673387AF}"/>
                  </a:ext>
                </a:extLst>
              </p:cNvPr>
              <p:cNvSpPr txBox="1">
                <a:spLocks noRot="1" noChangeAspect="1" noMove="1" noResize="1" noEditPoints="1" noAdjustHandles="1" noChangeArrowheads="1" noChangeShapeType="1" noTextEdit="1"/>
              </p:cNvSpPr>
              <p:nvPr/>
            </p:nvSpPr>
            <p:spPr>
              <a:xfrm>
                <a:off x="2436710" y="5163317"/>
                <a:ext cx="2542364" cy="722890"/>
              </a:xfrm>
              <a:prstGeom prst="rect">
                <a:avLst/>
              </a:prstGeom>
              <a:blipFill>
                <a:blip r:embed="rId12"/>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4FC662A-7FD7-12CD-9163-E5033D0EAEC8}"/>
                  </a:ext>
                </a:extLst>
              </p:cNvPr>
              <p:cNvSpPr txBox="1"/>
              <p:nvPr/>
            </p:nvSpPr>
            <p:spPr>
              <a:xfrm>
                <a:off x="97423" y="5989183"/>
                <a:ext cx="4881651"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000" i="1" smtClean="0">
                              <a:solidFill>
                                <a:schemeClr val="tx1"/>
                              </a:solidFill>
                              <a:latin typeface="Cambria Math" panose="02040503050406030204" pitchFamily="18" charset="0"/>
                            </a:rPr>
                          </m:ctrlPr>
                        </m:fPr>
                        <m:num>
                          <m:r>
                            <a:rPr lang="en-US" sz="2000" b="0">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GB" sz="2000" b="0" i="1">
                                  <a:solidFill>
                                    <a:schemeClr val="tx1"/>
                                  </a:solidFill>
                                  <a:latin typeface="Cambria Math" panose="02040503050406030204" pitchFamily="18" charset="0"/>
                                </a:rPr>
                                <m:t>𝑉</m:t>
                              </m:r>
                            </m:e>
                            <m:sub>
                              <m:r>
                                <a:rPr lang="en-GB" sz="2000" b="0" i="1">
                                  <a:solidFill>
                                    <a:schemeClr val="tx1"/>
                                  </a:solidFill>
                                  <a:latin typeface="Cambria Math" panose="02040503050406030204" pitchFamily="18" charset="0"/>
                                </a:rPr>
                                <m:t>𝑂𝑈𝑇</m:t>
                              </m:r>
                              <m:r>
                                <a:rPr lang="en-GB" sz="2000" b="0" i="1">
                                  <a:solidFill>
                                    <a:schemeClr val="tx1"/>
                                  </a:solidFill>
                                  <a:latin typeface="Cambria Math" panose="02040503050406030204" pitchFamily="18" charset="0"/>
                                </a:rPr>
                                <m:t> </m:t>
                              </m:r>
                            </m:sub>
                          </m:sSub>
                        </m:num>
                        <m:den>
                          <m:sSub>
                            <m:sSubPr>
                              <m:ctrlPr>
                                <a:rPr lang="en-US" sz="2000" i="1" smtClean="0">
                                  <a:solidFill>
                                    <a:schemeClr val="tx1"/>
                                  </a:solidFill>
                                  <a:latin typeface="Cambria Math" panose="02040503050406030204" pitchFamily="18" charset="0"/>
                                </a:rPr>
                              </m:ctrlPr>
                            </m:sSubPr>
                            <m:e>
                              <m:r>
                                <a:rPr lang="en-GB" sz="2000" b="0" i="1">
                                  <a:solidFill>
                                    <a:schemeClr val="tx1"/>
                                  </a:solidFill>
                                  <a:latin typeface="Cambria Math" panose="02040503050406030204" pitchFamily="18" charset="0"/>
                                </a:rPr>
                                <m:t>𝑉</m:t>
                              </m:r>
                            </m:e>
                            <m:sub>
                              <m:r>
                                <a:rPr lang="en-GB" sz="2000" b="0" i="1">
                                  <a:solidFill>
                                    <a:schemeClr val="tx1"/>
                                  </a:solidFill>
                                  <a:latin typeface="Cambria Math" panose="02040503050406030204" pitchFamily="18" charset="0"/>
                                </a:rPr>
                                <m:t>𝑂𝑈𝑇</m:t>
                              </m:r>
                            </m:sub>
                          </m:sSub>
                        </m:den>
                      </m:f>
                      <m:r>
                        <a:rPr lang="en-GB" sz="2000" b="1" i="0" smtClean="0">
                          <a:solidFill>
                            <a:schemeClr val="tx1"/>
                          </a:solidFill>
                          <a:latin typeface="Cambria Math" panose="02040503050406030204" pitchFamily="18" charset="0"/>
                        </a:rPr>
                        <m:t>=</m:t>
                      </m:r>
                      <m:f>
                        <m:fPr>
                          <m:ctrlPr>
                            <a:rPr lang="en-US" sz="200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0.6</m:t>
                          </m:r>
                        </m:num>
                        <m:den>
                          <m:r>
                            <a:rPr lang="en-GB" sz="2000" b="0" i="1" smtClean="0">
                              <a:solidFill>
                                <a:schemeClr val="tx1"/>
                              </a:solidFill>
                              <a:latin typeface="Cambria Math" panose="02040503050406030204" pitchFamily="18" charset="0"/>
                            </a:rPr>
                            <m:t>50</m:t>
                          </m:r>
                          <m:r>
                            <a:rPr lang="en-GB" sz="2000" b="0" i="1" smtClean="0">
                              <a:solidFill>
                                <a:schemeClr val="tx1"/>
                              </a:solidFill>
                              <a:latin typeface="Cambria Math" panose="02040503050406030204" pitchFamily="18" charset="0"/>
                              <a:ea typeface="Cambria Math" panose="02040503050406030204" pitchFamily="18" charset="0"/>
                            </a:rPr>
                            <m:t>×</m:t>
                          </m:r>
                          <m:r>
                            <a:rPr lang="en-GB" sz="2000">
                              <a:solidFill>
                                <a:schemeClr val="tx1"/>
                              </a:solidFill>
                              <a:latin typeface="Cambria Math" panose="02040503050406030204" pitchFamily="18" charset="0"/>
                            </a:rPr>
                            <m:t>48 </m:t>
                          </m:r>
                          <m:r>
                            <m:rPr>
                              <m:sty m:val="p"/>
                            </m:rPr>
                            <a:rPr lang="el-GR" sz="2000" i="1">
                              <a:solidFill>
                                <a:schemeClr val="tx1"/>
                              </a:solidFill>
                              <a:latin typeface="Cambria Math" panose="02040503050406030204" pitchFamily="18" charset="0"/>
                              <a:ea typeface="Cambria Math" panose="02040503050406030204" pitchFamily="18" charset="0"/>
                            </a:rPr>
                            <m:t>μ</m:t>
                          </m:r>
                          <m:r>
                            <a:rPr lang="en-GB" sz="2000" i="1">
                              <a:solidFill>
                                <a:schemeClr val="tx1"/>
                              </a:solidFill>
                              <a:latin typeface="Cambria Math" panose="02040503050406030204" pitchFamily="18" charset="0"/>
                              <a:ea typeface="Cambria Math" panose="02040503050406030204" pitchFamily="18" charset="0"/>
                            </a:rPr>
                            <m:t>𝐹</m:t>
                          </m:r>
                          <m:r>
                            <a:rPr lang="en-GB" sz="2000" b="0" i="1" smtClean="0">
                              <a:solidFill>
                                <a:schemeClr val="tx1"/>
                              </a:solidFill>
                              <a:latin typeface="Cambria Math" panose="02040503050406030204" pitchFamily="18" charset="0"/>
                              <a:ea typeface="Cambria Math" panose="02040503050406030204" pitchFamily="18" charset="0"/>
                            </a:rPr>
                            <m:t> ×25000</m:t>
                          </m:r>
                        </m:den>
                      </m:f>
                      <m:r>
                        <a:rPr lang="en-GB" sz="2000" b="1"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sz="2000"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0.01</m:t>
                      </m:r>
                      <m:r>
                        <a:rPr lang="en-GB" sz="20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oMath>
                  </m:oMathPara>
                </a14:m>
                <a:endParaRPr lang="en-GB" sz="2000" dirty="0"/>
              </a:p>
            </p:txBody>
          </p:sp>
        </mc:Choice>
        <mc:Fallback xmlns="">
          <p:sp>
            <p:nvSpPr>
              <p:cNvPr id="17" name="TextBox 16">
                <a:extLst>
                  <a:ext uri="{FF2B5EF4-FFF2-40B4-BE49-F238E27FC236}">
                    <a16:creationId xmlns:a16="http://schemas.microsoft.com/office/drawing/2014/main" id="{B4FC662A-7FD7-12CD-9163-E5033D0EAEC8}"/>
                  </a:ext>
                </a:extLst>
              </p:cNvPr>
              <p:cNvSpPr txBox="1">
                <a:spLocks noRot="1" noChangeAspect="1" noMove="1" noResize="1" noEditPoints="1" noAdjustHandles="1" noChangeArrowheads="1" noChangeShapeType="1" noTextEdit="1"/>
              </p:cNvSpPr>
              <p:nvPr/>
            </p:nvSpPr>
            <p:spPr>
              <a:xfrm>
                <a:off x="97423" y="5989183"/>
                <a:ext cx="4881651" cy="722890"/>
              </a:xfrm>
              <a:prstGeom prst="rect">
                <a:avLst/>
              </a:prstGeom>
              <a:blipFill>
                <a:blip r:embed="rId13"/>
                <a:stretch>
                  <a:fillRect/>
                </a:stretch>
              </a:blipFill>
              <a:ln>
                <a:solidFill>
                  <a:schemeClr val="bg1"/>
                </a:solidFill>
              </a:ln>
            </p:spPr>
            <p:txBody>
              <a:bodyPr/>
              <a:lstStyle/>
              <a:p>
                <a:r>
                  <a:rPr lang="en-GB">
                    <a:noFill/>
                  </a:rPr>
                  <a:t> </a:t>
                </a:r>
              </a:p>
            </p:txBody>
          </p:sp>
        </mc:Fallback>
      </mc:AlternateContent>
    </p:spTree>
    <p:extLst>
      <p:ext uri="{BB962C8B-B14F-4D97-AF65-F5344CB8AC3E}">
        <p14:creationId xmlns:p14="http://schemas.microsoft.com/office/powerpoint/2010/main" val="211039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6" grpId="0"/>
      <p:bldP spid="2" grpId="0"/>
      <p:bldP spid="4" grpId="0"/>
      <p:bldP spid="6" grpId="0"/>
      <p:bldP spid="8" grpId="0"/>
      <p:bldP spid="13" grpId="0" animBg="1"/>
      <p:bldP spid="15"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1458F2E6-77F7-4147-B0DD-A7597ED4AF59}"/>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FB4436D-F7B7-2546-85EA-E963E9309D9C}" type="slidenum">
              <a:rPr lang="en-US" altLang="en-US" sz="1400"/>
              <a:pPr>
                <a:spcBef>
                  <a:spcPct val="0"/>
                </a:spcBef>
                <a:buFontTx/>
                <a:buNone/>
              </a:pPr>
              <a:t>14</a:t>
            </a:fld>
            <a:endParaRPr lang="en-US" altLang="en-US" sz="1400" dirty="0"/>
          </a:p>
        </p:txBody>
      </p:sp>
      <p:sp>
        <p:nvSpPr>
          <p:cNvPr id="25603" name="Text Box 4">
            <a:extLst>
              <a:ext uri="{FF2B5EF4-FFF2-40B4-BE49-F238E27FC236}">
                <a16:creationId xmlns:a16="http://schemas.microsoft.com/office/drawing/2014/main" id="{032389C0-EAA1-3643-AC0B-20CB9D675C59}"/>
              </a:ext>
            </a:extLst>
          </p:cNvPr>
          <p:cNvSpPr txBox="1">
            <a:spLocks noChangeArrowheads="1"/>
          </p:cNvSpPr>
          <p:nvPr/>
        </p:nvSpPr>
        <p:spPr bwMode="auto">
          <a:xfrm>
            <a:off x="179388" y="260350"/>
            <a:ext cx="8785225" cy="311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Example.</a:t>
            </a:r>
          </a:p>
          <a:p>
            <a:pPr eaLnBrk="1" hangingPunct="1">
              <a:spcBef>
                <a:spcPct val="50000"/>
              </a:spcBef>
              <a:buFontTx/>
              <a:buNone/>
            </a:pPr>
            <a:r>
              <a:rPr lang="en-GB" altLang="en-US" sz="1800" dirty="0"/>
              <a:t>A boost converter is required to provide a constant 24V / 100W output from an input voltage that varies between 9V and 15V. For a switching frequency of 20KHz and assuming 100% efficiency and operation in continuous mode, determine the following:</a:t>
            </a:r>
          </a:p>
          <a:p>
            <a:pPr eaLnBrk="1" hangingPunct="1">
              <a:spcBef>
                <a:spcPct val="50000"/>
              </a:spcBef>
              <a:buFontTx/>
              <a:buNone/>
            </a:pPr>
            <a:r>
              <a:rPr lang="en-GB" altLang="en-US" sz="1800" dirty="0"/>
              <a:t>1. The required PWM duty cycle range to maintain a 24V DC output.</a:t>
            </a:r>
          </a:p>
          <a:p>
            <a:pPr eaLnBrk="1" hangingPunct="1">
              <a:spcBef>
                <a:spcPct val="50000"/>
              </a:spcBef>
              <a:buFontTx/>
              <a:buNone/>
            </a:pPr>
            <a:r>
              <a:rPr lang="en-GB" altLang="en-US" sz="1800" dirty="0"/>
              <a:t>2. The average input current when the input voltage is 15V.</a:t>
            </a:r>
          </a:p>
          <a:p>
            <a:pPr eaLnBrk="1" hangingPunct="1">
              <a:spcBef>
                <a:spcPct val="50000"/>
              </a:spcBef>
              <a:buFontTx/>
              <a:buNone/>
            </a:pPr>
            <a:r>
              <a:rPr lang="en-GB" altLang="en-US" sz="1800" dirty="0"/>
              <a:t>3. The value of the inductor required if the instantaneous current through the inductor at the end of the PWM period is zero. Calculate the value for both 9V and 15V input.</a:t>
            </a:r>
            <a:endParaRPr lang="en-US" altLang="en-US" sz="18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AE0541B-58B7-F515-C4C7-61E29CA97CA8}"/>
                  </a:ext>
                </a:extLst>
              </p:cNvPr>
              <p:cNvSpPr txBox="1"/>
              <p:nvPr/>
            </p:nvSpPr>
            <p:spPr>
              <a:xfrm>
                <a:off x="252548" y="3498806"/>
                <a:ext cx="7837715" cy="1530291"/>
              </a:xfrm>
              <a:prstGeom prst="rect">
                <a:avLst/>
              </a:prstGeom>
              <a:noFill/>
            </p:spPr>
            <p:txBody>
              <a:bodyPr wrap="square" rtlCol="0">
                <a:spAutoFit/>
              </a:bodyPr>
              <a:lstStyle/>
              <a:p>
                <a:r>
                  <a:rPr lang="en-GB" dirty="0"/>
                  <a:t>Solution:</a:t>
                </a:r>
              </a:p>
              <a:p>
                <a:pPr marL="342900" indent="-342900">
                  <a:buAutoNum type="arabicPeriod"/>
                </a:pPr>
                <a:r>
                  <a:rPr lang="en-GB" dirty="0"/>
                  <a:t>For boost converter</a:t>
                </a:r>
              </a:p>
              <a:p>
                <a14:m>
                  <m:oMath xmlns:m="http://schemas.openxmlformats.org/officeDocument/2006/math">
                    <m:sSub>
                      <m:sSubPr>
                        <m:ctrlPr>
                          <a:rPr lang="en-US" sz="1800" b="1" i="1" smtClean="0">
                            <a:solidFill>
                              <a:srgbClr val="FF0000"/>
                            </a:solidFill>
                            <a:latin typeface="Cambria Math" panose="02040503050406030204" pitchFamily="18" charset="0"/>
                          </a:rPr>
                        </m:ctrlPr>
                      </m:sSubPr>
                      <m:e>
                        <m:r>
                          <a:rPr lang="en-GB" sz="1800" b="1" i="1">
                            <a:solidFill>
                              <a:srgbClr val="FF0000"/>
                            </a:solidFill>
                            <a:latin typeface="Cambria Math" panose="02040503050406030204" pitchFamily="18" charset="0"/>
                          </a:rPr>
                          <m:t>𝑽</m:t>
                        </m:r>
                      </m:e>
                      <m:sub>
                        <m:r>
                          <a:rPr lang="en-GB" sz="1800" b="1" i="1">
                            <a:solidFill>
                              <a:srgbClr val="FF0000"/>
                            </a:solidFill>
                            <a:latin typeface="Cambria Math" panose="02040503050406030204" pitchFamily="18" charset="0"/>
                          </a:rPr>
                          <m:t>𝑶𝑼𝑻</m:t>
                        </m:r>
                      </m:sub>
                    </m:sSub>
                    <m:r>
                      <a:rPr lang="en-US" sz="1800" b="1" i="0">
                        <a:solidFill>
                          <a:srgbClr val="FF0000"/>
                        </a:solidFill>
                        <a:latin typeface="Cambria Math" panose="02040503050406030204" pitchFamily="18" charset="0"/>
                      </a:rPr>
                      <m:t>=</m:t>
                    </m:r>
                    <m:f>
                      <m:fPr>
                        <m:ctrlPr>
                          <a:rPr lang="en-US" sz="1800" b="1" i="1">
                            <a:solidFill>
                              <a:srgbClr val="FF0000"/>
                            </a:solidFill>
                            <a:latin typeface="Cambria Math" panose="02040503050406030204" pitchFamily="18" charset="0"/>
                          </a:rPr>
                        </m:ctrlPr>
                      </m:fPr>
                      <m:num>
                        <m:sSub>
                          <m:sSubPr>
                            <m:ctrlPr>
                              <a:rPr lang="en-US" sz="1800" b="1" i="1">
                                <a:solidFill>
                                  <a:srgbClr val="FF0000"/>
                                </a:solidFill>
                                <a:latin typeface="Cambria Math" panose="02040503050406030204" pitchFamily="18" charset="0"/>
                              </a:rPr>
                            </m:ctrlPr>
                          </m:sSubPr>
                          <m:e>
                            <m:r>
                              <a:rPr lang="en-GB" sz="1800" b="1" i="1">
                                <a:solidFill>
                                  <a:srgbClr val="FF0000"/>
                                </a:solidFill>
                                <a:latin typeface="Cambria Math" panose="02040503050406030204" pitchFamily="18" charset="0"/>
                              </a:rPr>
                              <m:t>𝑽</m:t>
                            </m:r>
                          </m:e>
                          <m:sub>
                            <m:r>
                              <a:rPr lang="en-GB" sz="1800" b="1" i="1">
                                <a:solidFill>
                                  <a:srgbClr val="FF0000"/>
                                </a:solidFill>
                                <a:latin typeface="Cambria Math" panose="02040503050406030204" pitchFamily="18" charset="0"/>
                              </a:rPr>
                              <m:t>𝑰𝑵</m:t>
                            </m:r>
                          </m:sub>
                        </m:sSub>
                      </m:num>
                      <m:den>
                        <m:d>
                          <m:dPr>
                            <m:ctrlPr>
                              <a:rPr lang="en-GB" sz="1800" b="1" i="1">
                                <a:solidFill>
                                  <a:srgbClr val="FF0000"/>
                                </a:solidFill>
                                <a:latin typeface="Cambria Math" panose="02040503050406030204" pitchFamily="18" charset="0"/>
                              </a:rPr>
                            </m:ctrlPr>
                          </m:dPr>
                          <m:e>
                            <m:r>
                              <a:rPr lang="en-GB" sz="1800" b="1" i="1">
                                <a:solidFill>
                                  <a:srgbClr val="FF0000"/>
                                </a:solidFill>
                                <a:latin typeface="Cambria Math" panose="02040503050406030204" pitchFamily="18" charset="0"/>
                              </a:rPr>
                              <m:t>𝟏</m:t>
                            </m:r>
                            <m:r>
                              <a:rPr lang="en-GB" sz="1800" b="1" i="1">
                                <a:solidFill>
                                  <a:srgbClr val="FF0000"/>
                                </a:solidFill>
                                <a:latin typeface="Cambria Math" panose="02040503050406030204" pitchFamily="18" charset="0"/>
                              </a:rPr>
                              <m:t>−</m:t>
                            </m:r>
                            <m:r>
                              <a:rPr lang="en-GB" sz="1800" b="1" i="1">
                                <a:solidFill>
                                  <a:srgbClr val="FF0000"/>
                                </a:solidFill>
                                <a:latin typeface="Cambria Math" panose="02040503050406030204" pitchFamily="18" charset="0"/>
                              </a:rPr>
                              <m:t>𝑫</m:t>
                            </m:r>
                          </m:e>
                        </m:d>
                      </m:den>
                    </m:f>
                  </m:oMath>
                </a14:m>
                <a:r>
                  <a:rPr lang="en-GB" dirty="0"/>
                  <a:t>    =&gt; </a:t>
                </a:r>
                <a14:m>
                  <m:oMath xmlns:m="http://schemas.openxmlformats.org/officeDocument/2006/math">
                    <m:r>
                      <a:rPr lang="en-GB" sz="2000" b="1" i="1" smtClean="0">
                        <a:solidFill>
                          <a:srgbClr val="FF0000"/>
                        </a:solidFill>
                        <a:latin typeface="Cambria Math" panose="02040503050406030204" pitchFamily="18" charset="0"/>
                      </a:rPr>
                      <m:t>𝑫</m:t>
                    </m:r>
                    <m:r>
                      <a:rPr lang="en-US" sz="2000" b="1">
                        <a:solidFill>
                          <a:srgbClr val="FF0000"/>
                        </a:solidFill>
                        <a:latin typeface="Cambria Math" panose="02040503050406030204" pitchFamily="18" charset="0"/>
                      </a:rPr>
                      <m:t>=</m:t>
                    </m:r>
                    <m:r>
                      <a:rPr lang="en-GB" sz="2000" b="1" i="1" smtClean="0">
                        <a:solidFill>
                          <a:srgbClr val="FF0000"/>
                        </a:solidFill>
                        <a:latin typeface="Cambria Math" panose="02040503050406030204" pitchFamily="18" charset="0"/>
                      </a:rPr>
                      <m:t>𝟏</m:t>
                    </m:r>
                    <m:r>
                      <a:rPr lang="en-GB" sz="2000" b="1" i="1" smtClean="0">
                        <a:solidFill>
                          <a:srgbClr val="FF0000"/>
                        </a:solidFill>
                        <a:latin typeface="Cambria Math" panose="02040503050406030204" pitchFamily="18" charset="0"/>
                      </a:rPr>
                      <m:t> − </m:t>
                    </m:r>
                    <m:f>
                      <m:fPr>
                        <m:ctrlPr>
                          <a:rPr lang="en-US" sz="2000" b="1" i="1">
                            <a:solidFill>
                              <a:srgbClr val="FF0000"/>
                            </a:solidFill>
                            <a:latin typeface="Cambria Math" panose="02040503050406030204" pitchFamily="18" charset="0"/>
                          </a:rPr>
                        </m:ctrlPr>
                      </m:fPr>
                      <m:num>
                        <m:sSub>
                          <m:sSubPr>
                            <m:ctrlPr>
                              <a:rPr lang="en-US" sz="2000" b="1" i="1">
                                <a:solidFill>
                                  <a:srgbClr val="FF0000"/>
                                </a:solidFill>
                                <a:latin typeface="Cambria Math" panose="02040503050406030204" pitchFamily="18" charset="0"/>
                              </a:rPr>
                            </m:ctrlPr>
                          </m:sSubPr>
                          <m:e>
                            <m:r>
                              <a:rPr lang="en-GB" sz="2000" b="1" i="1">
                                <a:solidFill>
                                  <a:srgbClr val="FF0000"/>
                                </a:solidFill>
                                <a:latin typeface="Cambria Math" panose="02040503050406030204" pitchFamily="18" charset="0"/>
                              </a:rPr>
                              <m:t>𝑽</m:t>
                            </m:r>
                          </m:e>
                          <m:sub>
                            <m:r>
                              <a:rPr lang="en-GB" sz="2000" b="1" i="1">
                                <a:solidFill>
                                  <a:srgbClr val="FF0000"/>
                                </a:solidFill>
                                <a:latin typeface="Cambria Math" panose="02040503050406030204" pitchFamily="18" charset="0"/>
                              </a:rPr>
                              <m:t>𝑰𝑵</m:t>
                            </m:r>
                          </m:sub>
                        </m:sSub>
                      </m:num>
                      <m:den>
                        <m:sSub>
                          <m:sSubPr>
                            <m:ctrlPr>
                              <a:rPr lang="en-US" sz="2000" b="1" i="1">
                                <a:solidFill>
                                  <a:srgbClr val="FF0000"/>
                                </a:solidFill>
                                <a:latin typeface="Cambria Math" panose="02040503050406030204" pitchFamily="18" charset="0"/>
                              </a:rPr>
                            </m:ctrlPr>
                          </m:sSubPr>
                          <m:e>
                            <m:r>
                              <a:rPr lang="en-GB" sz="2000" b="1" i="1">
                                <a:solidFill>
                                  <a:srgbClr val="FF0000"/>
                                </a:solidFill>
                                <a:latin typeface="Cambria Math" panose="02040503050406030204" pitchFamily="18" charset="0"/>
                              </a:rPr>
                              <m:t>𝑽</m:t>
                            </m:r>
                          </m:e>
                          <m:sub>
                            <m:r>
                              <a:rPr lang="en-GB" sz="2000" b="1" i="1">
                                <a:solidFill>
                                  <a:srgbClr val="FF0000"/>
                                </a:solidFill>
                                <a:latin typeface="Cambria Math" panose="02040503050406030204" pitchFamily="18" charset="0"/>
                              </a:rPr>
                              <m:t>𝑶𝑼𝑻</m:t>
                            </m:r>
                          </m:sub>
                        </m:sSub>
                      </m:den>
                    </m:f>
                  </m:oMath>
                </a14:m>
                <a:r>
                  <a:rPr lang="en-GB" dirty="0"/>
                  <a:t>   For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GB" b="0" i="1">
                            <a:solidFill>
                              <a:schemeClr val="tx1"/>
                            </a:solidFill>
                            <a:latin typeface="Cambria Math" panose="02040503050406030204" pitchFamily="18" charset="0"/>
                          </a:rPr>
                          <m:t>𝑉</m:t>
                        </m:r>
                      </m:e>
                      <m:sub>
                        <m:r>
                          <a:rPr lang="en-GB" b="0" i="1">
                            <a:solidFill>
                              <a:schemeClr val="tx1"/>
                            </a:solidFill>
                            <a:latin typeface="Cambria Math" panose="02040503050406030204" pitchFamily="18" charset="0"/>
                          </a:rPr>
                          <m:t>𝐼𝑁</m:t>
                        </m:r>
                      </m:sub>
                    </m:sSub>
                    <m:r>
                      <a:rPr lang="en-GB" b="1" i="1">
                        <a:solidFill>
                          <a:srgbClr val="FF0000"/>
                        </a:solidFill>
                        <a:latin typeface="Cambria Math" panose="02040503050406030204" pitchFamily="18" charset="0"/>
                      </a:rPr>
                      <m:t> </m:t>
                    </m:r>
                  </m:oMath>
                </a14:m>
                <a:r>
                  <a:rPr lang="en-GB" dirty="0"/>
                  <a:t>= 9V </a:t>
                </a:r>
                <a14:m>
                  <m:oMath xmlns:m="http://schemas.openxmlformats.org/officeDocument/2006/math">
                    <m:r>
                      <a:rPr lang="en-GB" b="1" i="1">
                        <a:solidFill>
                          <a:srgbClr val="FF0000"/>
                        </a:solidFill>
                        <a:latin typeface="Cambria Math" panose="02040503050406030204" pitchFamily="18" charset="0"/>
                      </a:rPr>
                      <m:t>𝑫</m:t>
                    </m:r>
                    <m:r>
                      <a:rPr lang="en-US" b="1">
                        <a:solidFill>
                          <a:srgbClr val="FF0000"/>
                        </a:solidFill>
                        <a:latin typeface="Cambria Math" panose="02040503050406030204" pitchFamily="18" charset="0"/>
                      </a:rPr>
                      <m:t>=</m:t>
                    </m:r>
                    <m:r>
                      <a:rPr lang="en-GB" b="1" i="1">
                        <a:solidFill>
                          <a:srgbClr val="FF0000"/>
                        </a:solidFill>
                        <a:latin typeface="Cambria Math" panose="02040503050406030204" pitchFamily="18" charset="0"/>
                      </a:rPr>
                      <m:t>𝟏</m:t>
                    </m:r>
                    <m:r>
                      <a:rPr lang="en-GB" b="1" i="1">
                        <a:solidFill>
                          <a:srgbClr val="FF0000"/>
                        </a:solidFill>
                        <a:latin typeface="Cambria Math" panose="02040503050406030204" pitchFamily="18" charset="0"/>
                      </a:rPr>
                      <m:t> − </m:t>
                    </m:r>
                    <m:f>
                      <m:fPr>
                        <m:ctrlPr>
                          <a:rPr lang="en-US" b="1" i="1">
                            <a:solidFill>
                              <a:srgbClr val="FF0000"/>
                            </a:solidFill>
                            <a:latin typeface="Cambria Math" panose="02040503050406030204" pitchFamily="18" charset="0"/>
                          </a:rPr>
                        </m:ctrlPr>
                      </m:fPr>
                      <m:num>
                        <m:r>
                          <a:rPr lang="en-GB" b="1" i="1" smtClean="0">
                            <a:solidFill>
                              <a:srgbClr val="FF0000"/>
                            </a:solidFill>
                            <a:latin typeface="Cambria Math" panose="02040503050406030204" pitchFamily="18" charset="0"/>
                          </a:rPr>
                          <m:t>𝟗</m:t>
                        </m:r>
                      </m:num>
                      <m:den>
                        <m:r>
                          <a:rPr lang="en-GB" b="1" i="1" smtClean="0">
                            <a:solidFill>
                              <a:srgbClr val="FF0000"/>
                            </a:solidFill>
                            <a:latin typeface="Cambria Math" panose="02040503050406030204" pitchFamily="18" charset="0"/>
                          </a:rPr>
                          <m:t>𝟐𝟒</m:t>
                        </m:r>
                      </m:den>
                    </m:f>
                  </m:oMath>
                </a14:m>
                <a:r>
                  <a:rPr lang="en-GB" dirty="0"/>
                  <a:t>  = 62.5% </a:t>
                </a:r>
              </a:p>
              <a:p>
                <a:r>
                  <a:rPr lang="en-GB" dirty="0"/>
                  <a:t>							     For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GB" b="0" i="1">
                            <a:solidFill>
                              <a:schemeClr val="tx1"/>
                            </a:solidFill>
                            <a:latin typeface="Cambria Math" panose="02040503050406030204" pitchFamily="18" charset="0"/>
                          </a:rPr>
                          <m:t>𝑉</m:t>
                        </m:r>
                      </m:e>
                      <m:sub>
                        <m:r>
                          <a:rPr lang="en-GB" b="0" i="1">
                            <a:solidFill>
                              <a:schemeClr val="tx1"/>
                            </a:solidFill>
                            <a:latin typeface="Cambria Math" panose="02040503050406030204" pitchFamily="18" charset="0"/>
                          </a:rPr>
                          <m:t>𝐼𝑁</m:t>
                        </m:r>
                      </m:sub>
                    </m:sSub>
                    <m:r>
                      <a:rPr lang="en-GB" b="1" i="1">
                        <a:solidFill>
                          <a:srgbClr val="FF0000"/>
                        </a:solidFill>
                        <a:latin typeface="Cambria Math" panose="02040503050406030204" pitchFamily="18" charset="0"/>
                      </a:rPr>
                      <m:t> </m:t>
                    </m:r>
                  </m:oMath>
                </a14:m>
                <a:r>
                  <a:rPr lang="en-GB" dirty="0"/>
                  <a:t>= 15V </a:t>
                </a:r>
                <a14:m>
                  <m:oMath xmlns:m="http://schemas.openxmlformats.org/officeDocument/2006/math">
                    <m:r>
                      <a:rPr lang="en-GB" b="1" i="1">
                        <a:solidFill>
                          <a:srgbClr val="FF0000"/>
                        </a:solidFill>
                        <a:latin typeface="Cambria Math" panose="02040503050406030204" pitchFamily="18" charset="0"/>
                      </a:rPr>
                      <m:t>𝑫</m:t>
                    </m:r>
                    <m:r>
                      <a:rPr lang="en-US" b="1">
                        <a:solidFill>
                          <a:srgbClr val="FF0000"/>
                        </a:solidFill>
                        <a:latin typeface="Cambria Math" panose="02040503050406030204" pitchFamily="18" charset="0"/>
                      </a:rPr>
                      <m:t>=</m:t>
                    </m:r>
                    <m:r>
                      <a:rPr lang="en-GB" b="1" i="1">
                        <a:solidFill>
                          <a:srgbClr val="FF0000"/>
                        </a:solidFill>
                        <a:latin typeface="Cambria Math" panose="02040503050406030204" pitchFamily="18" charset="0"/>
                      </a:rPr>
                      <m:t>𝟏</m:t>
                    </m:r>
                    <m:r>
                      <a:rPr lang="en-GB" b="1" i="1">
                        <a:solidFill>
                          <a:srgbClr val="FF0000"/>
                        </a:solidFill>
                        <a:latin typeface="Cambria Math" panose="02040503050406030204" pitchFamily="18" charset="0"/>
                      </a:rPr>
                      <m:t> − </m:t>
                    </m:r>
                    <m:f>
                      <m:fPr>
                        <m:ctrlPr>
                          <a:rPr lang="en-US" b="1" i="1">
                            <a:solidFill>
                              <a:srgbClr val="FF0000"/>
                            </a:solidFill>
                            <a:latin typeface="Cambria Math" panose="02040503050406030204" pitchFamily="18" charset="0"/>
                          </a:rPr>
                        </m:ctrlPr>
                      </m:fPr>
                      <m:num>
                        <m:r>
                          <a:rPr lang="en-GB" b="1" i="1" smtClean="0">
                            <a:solidFill>
                              <a:srgbClr val="FF0000"/>
                            </a:solidFill>
                            <a:latin typeface="Cambria Math" panose="02040503050406030204" pitchFamily="18" charset="0"/>
                          </a:rPr>
                          <m:t>𝟏𝟓</m:t>
                        </m:r>
                      </m:num>
                      <m:den>
                        <m:r>
                          <a:rPr lang="en-GB" b="1" i="1" smtClean="0">
                            <a:solidFill>
                              <a:srgbClr val="FF0000"/>
                            </a:solidFill>
                            <a:latin typeface="Cambria Math" panose="02040503050406030204" pitchFamily="18" charset="0"/>
                          </a:rPr>
                          <m:t>𝟐𝟒</m:t>
                        </m:r>
                      </m:den>
                    </m:f>
                  </m:oMath>
                </a14:m>
                <a:r>
                  <a:rPr lang="en-GB" dirty="0"/>
                  <a:t>  = 37.5%</a:t>
                </a:r>
              </a:p>
            </p:txBody>
          </p:sp>
        </mc:Choice>
        <mc:Fallback xmlns="">
          <p:sp>
            <p:nvSpPr>
              <p:cNvPr id="2" name="TextBox 1">
                <a:extLst>
                  <a:ext uri="{FF2B5EF4-FFF2-40B4-BE49-F238E27FC236}">
                    <a16:creationId xmlns:a16="http://schemas.microsoft.com/office/drawing/2014/main" id="{DAE0541B-58B7-F515-C4C7-61E29CA97CA8}"/>
                  </a:ext>
                </a:extLst>
              </p:cNvPr>
              <p:cNvSpPr txBox="1">
                <a:spLocks noRot="1" noChangeAspect="1" noMove="1" noResize="1" noEditPoints="1" noAdjustHandles="1" noChangeArrowheads="1" noChangeShapeType="1" noTextEdit="1"/>
              </p:cNvSpPr>
              <p:nvPr/>
            </p:nvSpPr>
            <p:spPr>
              <a:xfrm>
                <a:off x="252548" y="3498806"/>
                <a:ext cx="7837715" cy="1530291"/>
              </a:xfrm>
              <a:prstGeom prst="rect">
                <a:avLst/>
              </a:prstGeom>
              <a:blipFill>
                <a:blip r:embed="rId2"/>
                <a:stretch>
                  <a:fillRect l="-622" t="-2390" b="-1992"/>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0BBCF668-C2ED-006A-1E69-97759F0F132F}"/>
              </a:ext>
            </a:extLst>
          </p:cNvPr>
          <p:cNvSpPr txBox="1"/>
          <p:nvPr/>
        </p:nvSpPr>
        <p:spPr>
          <a:xfrm>
            <a:off x="370114" y="5131803"/>
            <a:ext cx="4572000" cy="369332"/>
          </a:xfrm>
          <a:prstGeom prst="rect">
            <a:avLst/>
          </a:prstGeom>
          <a:noFill/>
        </p:spPr>
        <p:txBody>
          <a:bodyPr wrap="square">
            <a:spAutoFit/>
          </a:bodyPr>
          <a:lstStyle/>
          <a:p>
            <a:pPr eaLnBrk="1" hangingPunct="1">
              <a:spcBef>
                <a:spcPct val="50000"/>
              </a:spcBef>
              <a:buFontTx/>
              <a:buNone/>
            </a:pPr>
            <a:r>
              <a:rPr lang="en-GB" altLang="en-US" sz="1800" dirty="0"/>
              <a:t>2. Assuming 100% efficiency:</a:t>
            </a:r>
            <a:endParaRPr lang="en-US" altLang="en-US" sz="1800" dirty="0"/>
          </a:p>
        </p:txBody>
      </p:sp>
      <p:graphicFrame>
        <p:nvGraphicFramePr>
          <p:cNvPr id="5" name="Object 6">
            <a:extLst>
              <a:ext uri="{FF2B5EF4-FFF2-40B4-BE49-F238E27FC236}">
                <a16:creationId xmlns:a16="http://schemas.microsoft.com/office/drawing/2014/main" id="{F5128416-3561-F593-4AF2-2D7DAA53B57A}"/>
              </a:ext>
            </a:extLst>
          </p:cNvPr>
          <p:cNvGraphicFramePr>
            <a:graphicFrameLocks noChangeAspect="1"/>
          </p:cNvGraphicFramePr>
          <p:nvPr/>
        </p:nvGraphicFramePr>
        <p:xfrm>
          <a:off x="789782" y="5629865"/>
          <a:ext cx="3792537" cy="971550"/>
        </p:xfrm>
        <a:graphic>
          <a:graphicData uri="http://schemas.openxmlformats.org/presentationml/2006/ole">
            <mc:AlternateContent xmlns:mc="http://schemas.openxmlformats.org/markup-compatibility/2006">
              <mc:Choice xmlns:v="urn:schemas-microsoft-com:vml" Requires="v">
                <p:oleObj name="Equation" r:id="rId3" imgW="58216800" imgH="14922500" progId="Equation.3">
                  <p:embed/>
                </p:oleObj>
              </mc:Choice>
              <mc:Fallback>
                <p:oleObj name="Equation" r:id="rId3" imgW="58216800" imgH="14922500" progId="Equation.3">
                  <p:embed/>
                  <p:pic>
                    <p:nvPicPr>
                      <p:cNvPr id="5" name="Object 6">
                        <a:extLst>
                          <a:ext uri="{FF2B5EF4-FFF2-40B4-BE49-F238E27FC236}">
                            <a16:creationId xmlns:a16="http://schemas.microsoft.com/office/drawing/2014/main" id="{F5128416-3561-F593-4AF2-2D7DAA53B5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782" y="5629865"/>
                        <a:ext cx="3792537"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350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4F8CA2B6-0AF7-6545-AA67-5187B8B85F2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85521A3-517F-484E-8240-471742FEE9C6}" type="slidenum">
              <a:rPr lang="en-US" altLang="en-US" sz="1400"/>
              <a:pPr>
                <a:spcBef>
                  <a:spcPct val="0"/>
                </a:spcBef>
                <a:buFontTx/>
                <a:buNone/>
              </a:pPr>
              <a:t>15</a:t>
            </a:fld>
            <a:endParaRPr lang="en-US" altLang="en-US" sz="1400"/>
          </a:p>
        </p:txBody>
      </p:sp>
      <p:sp>
        <p:nvSpPr>
          <p:cNvPr id="27651" name="Text Box 4">
            <a:extLst>
              <a:ext uri="{FF2B5EF4-FFF2-40B4-BE49-F238E27FC236}">
                <a16:creationId xmlns:a16="http://schemas.microsoft.com/office/drawing/2014/main" id="{0FBA56F5-A927-0240-8CF1-2E3575292FCD}"/>
              </a:ext>
            </a:extLst>
          </p:cNvPr>
          <p:cNvSpPr txBox="1">
            <a:spLocks noChangeArrowheads="1"/>
          </p:cNvSpPr>
          <p:nvPr/>
        </p:nvSpPr>
        <p:spPr bwMode="auto">
          <a:xfrm>
            <a:off x="250825" y="260350"/>
            <a:ext cx="86423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3. For a boost converter. the inductor current = input current. At 15V, </a:t>
            </a:r>
            <a:r>
              <a:rPr lang="en-GB" altLang="en-US" sz="1800" i="1" dirty="0">
                <a:cs typeface="Arial" panose="020B0604020202020204" pitchFamily="34" charset="0"/>
              </a:rPr>
              <a:t>D</a:t>
            </a:r>
            <a:r>
              <a:rPr lang="en-GB" altLang="en-US" sz="1800" dirty="0">
                <a:cs typeface="Arial" panose="020B0604020202020204" pitchFamily="34" charset="0"/>
              </a:rPr>
              <a:t>=37.5% and I</a:t>
            </a:r>
            <a:r>
              <a:rPr lang="en-GB" altLang="en-US" sz="1800" baseline="-25000" dirty="0">
                <a:cs typeface="Arial" panose="020B0604020202020204" pitchFamily="34" charset="0"/>
              </a:rPr>
              <a:t>IN(AVE)</a:t>
            </a:r>
            <a:r>
              <a:rPr lang="en-GB" altLang="en-US" sz="1800" dirty="0">
                <a:cs typeface="Arial" panose="020B0604020202020204" pitchFamily="34" charset="0"/>
              </a:rPr>
              <a:t>=6.67A. We know that at the end of the PWM period the inductor current is zero, hence we can construct the current waveform:</a:t>
            </a:r>
            <a:endParaRPr lang="el-GR" altLang="en-US" sz="1800" dirty="0">
              <a:cs typeface="Arial" panose="020B0604020202020204" pitchFamily="34" charset="0"/>
            </a:endParaRPr>
          </a:p>
        </p:txBody>
      </p:sp>
      <p:sp>
        <p:nvSpPr>
          <p:cNvPr id="27652" name="Line 5">
            <a:extLst>
              <a:ext uri="{FF2B5EF4-FFF2-40B4-BE49-F238E27FC236}">
                <a16:creationId xmlns:a16="http://schemas.microsoft.com/office/drawing/2014/main" id="{97021139-0264-2045-A5F6-7BE6308695CD}"/>
              </a:ext>
            </a:extLst>
          </p:cNvPr>
          <p:cNvSpPr>
            <a:spLocks noChangeShapeType="1"/>
          </p:cNvSpPr>
          <p:nvPr/>
        </p:nvSpPr>
        <p:spPr bwMode="auto">
          <a:xfrm flipV="1">
            <a:off x="468313" y="1484313"/>
            <a:ext cx="0" cy="2520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3" name="Freeform 16">
            <a:extLst>
              <a:ext uri="{FF2B5EF4-FFF2-40B4-BE49-F238E27FC236}">
                <a16:creationId xmlns:a16="http://schemas.microsoft.com/office/drawing/2014/main" id="{E05B42C4-23A2-4145-A0D2-2B7089CAF72A}"/>
              </a:ext>
            </a:extLst>
          </p:cNvPr>
          <p:cNvSpPr>
            <a:spLocks/>
          </p:cNvSpPr>
          <p:nvPr/>
        </p:nvSpPr>
        <p:spPr bwMode="auto">
          <a:xfrm>
            <a:off x="468313" y="1700213"/>
            <a:ext cx="5616575" cy="936625"/>
          </a:xfrm>
          <a:custGeom>
            <a:avLst/>
            <a:gdLst>
              <a:gd name="T0" fmla="*/ 0 w 3538"/>
              <a:gd name="T1" fmla="*/ 2147483646 h 590"/>
              <a:gd name="T2" fmla="*/ 2147483646 w 3538"/>
              <a:gd name="T3" fmla="*/ 0 h 590"/>
              <a:gd name="T4" fmla="*/ 2147483646 w 3538"/>
              <a:gd name="T5" fmla="*/ 2147483646 h 590"/>
              <a:gd name="T6" fmla="*/ 2147483646 w 3538"/>
              <a:gd name="T7" fmla="*/ 0 h 590"/>
              <a:gd name="T8" fmla="*/ 2147483646 w 3538"/>
              <a:gd name="T9" fmla="*/ 2147483646 h 590"/>
              <a:gd name="T10" fmla="*/ 2147483646 w 3538"/>
              <a:gd name="T11" fmla="*/ 0 h 590"/>
              <a:gd name="T12" fmla="*/ 2147483646 w 3538"/>
              <a:gd name="T13" fmla="*/ 2147483646 h 5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38" h="590">
                <a:moveTo>
                  <a:pt x="0" y="590"/>
                </a:moveTo>
                <a:lnTo>
                  <a:pt x="408" y="0"/>
                </a:lnTo>
                <a:lnTo>
                  <a:pt x="1179" y="590"/>
                </a:lnTo>
                <a:lnTo>
                  <a:pt x="1587" y="0"/>
                </a:lnTo>
                <a:lnTo>
                  <a:pt x="2314" y="574"/>
                </a:lnTo>
                <a:lnTo>
                  <a:pt x="2766" y="0"/>
                </a:lnTo>
                <a:lnTo>
                  <a:pt x="3538" y="590"/>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4" name="Freeform 17">
            <a:extLst>
              <a:ext uri="{FF2B5EF4-FFF2-40B4-BE49-F238E27FC236}">
                <a16:creationId xmlns:a16="http://schemas.microsoft.com/office/drawing/2014/main" id="{5E043920-138B-B846-AC99-224436CE3707}"/>
              </a:ext>
            </a:extLst>
          </p:cNvPr>
          <p:cNvSpPr>
            <a:spLocks/>
          </p:cNvSpPr>
          <p:nvPr/>
        </p:nvSpPr>
        <p:spPr bwMode="auto">
          <a:xfrm>
            <a:off x="468313" y="2924175"/>
            <a:ext cx="5543550" cy="936625"/>
          </a:xfrm>
          <a:custGeom>
            <a:avLst/>
            <a:gdLst>
              <a:gd name="T0" fmla="*/ 0 w 3492"/>
              <a:gd name="T1" fmla="*/ 0 h 590"/>
              <a:gd name="T2" fmla="*/ 2147483646 w 3492"/>
              <a:gd name="T3" fmla="*/ 0 h 590"/>
              <a:gd name="T4" fmla="*/ 2147483646 w 3492"/>
              <a:gd name="T5" fmla="*/ 2147483646 h 590"/>
              <a:gd name="T6" fmla="*/ 2147483646 w 3492"/>
              <a:gd name="T7" fmla="*/ 2147483646 h 590"/>
              <a:gd name="T8" fmla="*/ 2147483646 w 3492"/>
              <a:gd name="T9" fmla="*/ 0 h 590"/>
              <a:gd name="T10" fmla="*/ 2147483646 w 3492"/>
              <a:gd name="T11" fmla="*/ 0 h 590"/>
              <a:gd name="T12" fmla="*/ 2147483646 w 3492"/>
              <a:gd name="T13" fmla="*/ 2147483646 h 590"/>
              <a:gd name="T14" fmla="*/ 2147483646 w 3492"/>
              <a:gd name="T15" fmla="*/ 2147483646 h 590"/>
              <a:gd name="T16" fmla="*/ 2147483646 w 3492"/>
              <a:gd name="T17" fmla="*/ 0 h 590"/>
              <a:gd name="T18" fmla="*/ 2147483646 w 3492"/>
              <a:gd name="T19" fmla="*/ 0 h 590"/>
              <a:gd name="T20" fmla="*/ 2147483646 w 3492"/>
              <a:gd name="T21" fmla="*/ 2147483646 h 590"/>
              <a:gd name="T22" fmla="*/ 2147483646 w 3492"/>
              <a:gd name="T23" fmla="*/ 2147483646 h 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492" h="590">
                <a:moveTo>
                  <a:pt x="0" y="0"/>
                </a:moveTo>
                <a:lnTo>
                  <a:pt x="408" y="0"/>
                </a:lnTo>
                <a:lnTo>
                  <a:pt x="408" y="590"/>
                </a:lnTo>
                <a:lnTo>
                  <a:pt x="1134" y="590"/>
                </a:lnTo>
                <a:lnTo>
                  <a:pt x="1134" y="0"/>
                </a:lnTo>
                <a:lnTo>
                  <a:pt x="1587" y="0"/>
                </a:lnTo>
                <a:lnTo>
                  <a:pt x="1587" y="590"/>
                </a:lnTo>
                <a:lnTo>
                  <a:pt x="2313" y="590"/>
                </a:lnTo>
                <a:lnTo>
                  <a:pt x="2313" y="0"/>
                </a:lnTo>
                <a:lnTo>
                  <a:pt x="2766" y="0"/>
                </a:lnTo>
                <a:lnTo>
                  <a:pt x="2766" y="590"/>
                </a:lnTo>
                <a:lnTo>
                  <a:pt x="3492" y="590"/>
                </a:lnTo>
              </a:path>
            </a:pathLst>
          </a:custGeom>
          <a:noFill/>
          <a:ln w="25400">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5" name="Line 18">
            <a:extLst>
              <a:ext uri="{FF2B5EF4-FFF2-40B4-BE49-F238E27FC236}">
                <a16:creationId xmlns:a16="http://schemas.microsoft.com/office/drawing/2014/main" id="{B9DBCC4A-04EF-4A46-AAB3-1C0344EACCF0}"/>
              </a:ext>
            </a:extLst>
          </p:cNvPr>
          <p:cNvSpPr>
            <a:spLocks noChangeShapeType="1"/>
          </p:cNvSpPr>
          <p:nvPr/>
        </p:nvSpPr>
        <p:spPr bwMode="auto">
          <a:xfrm>
            <a:off x="4140200" y="2205038"/>
            <a:ext cx="18716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6" name="Text Box 19">
            <a:extLst>
              <a:ext uri="{FF2B5EF4-FFF2-40B4-BE49-F238E27FC236}">
                <a16:creationId xmlns:a16="http://schemas.microsoft.com/office/drawing/2014/main" id="{63CE922B-91C5-1745-B78F-41B208AB6BFA}"/>
              </a:ext>
            </a:extLst>
          </p:cNvPr>
          <p:cNvSpPr txBox="1">
            <a:spLocks noChangeArrowheads="1"/>
          </p:cNvSpPr>
          <p:nvPr/>
        </p:nvSpPr>
        <p:spPr bwMode="auto">
          <a:xfrm>
            <a:off x="5364163" y="1484313"/>
            <a:ext cx="1517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latin typeface="Times New Roman" panose="02020603050405020304" pitchFamily="18" charset="0"/>
              </a:rPr>
              <a:t>I</a:t>
            </a:r>
            <a:r>
              <a:rPr lang="en-GB" altLang="en-US" sz="1800" baseline="-25000">
                <a:latin typeface="Times New Roman" panose="02020603050405020304" pitchFamily="18" charset="0"/>
              </a:rPr>
              <a:t>MAX </a:t>
            </a:r>
            <a:r>
              <a:rPr lang="en-GB" altLang="en-US" sz="1800">
                <a:latin typeface="Times New Roman" panose="02020603050405020304" pitchFamily="18" charset="0"/>
              </a:rPr>
              <a:t>= 13.33A</a:t>
            </a:r>
            <a:endParaRPr lang="en-US" altLang="en-US" sz="1800">
              <a:latin typeface="Times New Roman" panose="02020603050405020304" pitchFamily="18" charset="0"/>
            </a:endParaRPr>
          </a:p>
        </p:txBody>
      </p:sp>
      <p:sp>
        <p:nvSpPr>
          <p:cNvPr id="27657" name="Text Box 20">
            <a:extLst>
              <a:ext uri="{FF2B5EF4-FFF2-40B4-BE49-F238E27FC236}">
                <a16:creationId xmlns:a16="http://schemas.microsoft.com/office/drawing/2014/main" id="{D47450FE-7B9D-4E40-80A9-0592ED0B6F0B}"/>
              </a:ext>
            </a:extLst>
          </p:cNvPr>
          <p:cNvSpPr txBox="1">
            <a:spLocks noChangeArrowheads="1"/>
          </p:cNvSpPr>
          <p:nvPr/>
        </p:nvSpPr>
        <p:spPr bwMode="auto">
          <a:xfrm>
            <a:off x="395288" y="4149725"/>
            <a:ext cx="40427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latin typeface="Times New Roman" panose="02020603050405020304" pitchFamily="18" charset="0"/>
              </a:rPr>
              <a:t>f = 20KHz, </a:t>
            </a:r>
            <a:r>
              <a:rPr lang="en-GB" altLang="en-US" sz="1800" dirty="0">
                <a:latin typeface="Times New Roman" panose="02020603050405020304" pitchFamily="18" charset="0"/>
                <a:cs typeface="Arial" panose="020B0604020202020204" pitchFamily="34" charset="0"/>
              </a:rPr>
              <a:t>D = 37.5% =&gt; T</a:t>
            </a:r>
            <a:r>
              <a:rPr lang="en-GB" altLang="en-US" sz="1800" baseline="-25000" dirty="0">
                <a:latin typeface="Times New Roman" panose="02020603050405020304" pitchFamily="18" charset="0"/>
                <a:cs typeface="Arial" panose="020B0604020202020204" pitchFamily="34" charset="0"/>
              </a:rPr>
              <a:t>ON</a:t>
            </a:r>
            <a:r>
              <a:rPr lang="en-GB" altLang="en-US" sz="1800" dirty="0">
                <a:latin typeface="Times New Roman" panose="02020603050405020304" pitchFamily="18" charset="0"/>
                <a:cs typeface="Arial" panose="020B0604020202020204" pitchFamily="34" charset="0"/>
              </a:rPr>
              <a:t> = 18.75</a:t>
            </a:r>
            <a:r>
              <a:rPr lang="el-GR" altLang="en-US" sz="1800" dirty="0">
                <a:latin typeface="Times New Roman" panose="02020603050405020304" pitchFamily="18" charset="0"/>
                <a:cs typeface="Arial" panose="020B0604020202020204" pitchFamily="34" charset="0"/>
              </a:rPr>
              <a:t>μ</a:t>
            </a:r>
            <a:r>
              <a:rPr lang="en-GB" altLang="en-US" sz="1800" dirty="0">
                <a:latin typeface="Times New Roman" panose="02020603050405020304" pitchFamily="18" charset="0"/>
                <a:cs typeface="Arial" panose="020B0604020202020204" pitchFamily="34" charset="0"/>
              </a:rPr>
              <a:t>S</a:t>
            </a:r>
            <a:endParaRPr lang="el-GR" altLang="en-US" sz="1800" dirty="0">
              <a:latin typeface="Times New Roman" panose="02020603050405020304" pitchFamily="18" charset="0"/>
              <a:cs typeface="Arial" panose="020B0604020202020204" pitchFamily="34" charset="0"/>
            </a:endParaRPr>
          </a:p>
        </p:txBody>
      </p:sp>
      <p:sp>
        <p:nvSpPr>
          <p:cNvPr id="27658" name="Line 21">
            <a:extLst>
              <a:ext uri="{FF2B5EF4-FFF2-40B4-BE49-F238E27FC236}">
                <a16:creationId xmlns:a16="http://schemas.microsoft.com/office/drawing/2014/main" id="{3CF6A439-DA09-8841-BB5E-C4C7B53A72FB}"/>
              </a:ext>
            </a:extLst>
          </p:cNvPr>
          <p:cNvSpPr>
            <a:spLocks noChangeShapeType="1"/>
          </p:cNvSpPr>
          <p:nvPr/>
        </p:nvSpPr>
        <p:spPr bwMode="auto">
          <a:xfrm>
            <a:off x="468313" y="2636838"/>
            <a:ext cx="61198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 name="Line 22">
            <a:extLst>
              <a:ext uri="{FF2B5EF4-FFF2-40B4-BE49-F238E27FC236}">
                <a16:creationId xmlns:a16="http://schemas.microsoft.com/office/drawing/2014/main" id="{8ABF8FF0-7585-F044-84E2-53EC667D2964}"/>
              </a:ext>
            </a:extLst>
          </p:cNvPr>
          <p:cNvSpPr>
            <a:spLocks noChangeShapeType="1"/>
          </p:cNvSpPr>
          <p:nvPr/>
        </p:nvSpPr>
        <p:spPr bwMode="auto">
          <a:xfrm>
            <a:off x="4643438" y="1700213"/>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0" name="Text Box 23">
            <a:extLst>
              <a:ext uri="{FF2B5EF4-FFF2-40B4-BE49-F238E27FC236}">
                <a16:creationId xmlns:a16="http://schemas.microsoft.com/office/drawing/2014/main" id="{99318244-B5F6-CD46-BD8B-DD155E4BC60E}"/>
              </a:ext>
            </a:extLst>
          </p:cNvPr>
          <p:cNvSpPr txBox="1">
            <a:spLocks noChangeArrowheads="1"/>
          </p:cNvSpPr>
          <p:nvPr/>
        </p:nvSpPr>
        <p:spPr bwMode="auto">
          <a:xfrm>
            <a:off x="6084888" y="1989138"/>
            <a:ext cx="1381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latin typeface="Times New Roman" panose="02020603050405020304" pitchFamily="18" charset="0"/>
              </a:rPr>
              <a:t>I</a:t>
            </a:r>
            <a:r>
              <a:rPr lang="en-GB" altLang="en-US" sz="1800" baseline="-25000">
                <a:latin typeface="Times New Roman" panose="02020603050405020304" pitchFamily="18" charset="0"/>
              </a:rPr>
              <a:t>AVE</a:t>
            </a:r>
            <a:r>
              <a:rPr lang="en-GB" altLang="en-US" sz="1800">
                <a:latin typeface="Times New Roman" panose="02020603050405020304" pitchFamily="18" charset="0"/>
              </a:rPr>
              <a:t> = 6.67A</a:t>
            </a:r>
            <a:endParaRPr lang="en-US" altLang="en-US" sz="1800">
              <a:latin typeface="Times New Roman" panose="02020603050405020304" pitchFamily="18" charset="0"/>
            </a:endParaRPr>
          </a:p>
        </p:txBody>
      </p:sp>
      <p:sp>
        <p:nvSpPr>
          <p:cNvPr id="27661" name="Text Box 24">
            <a:extLst>
              <a:ext uri="{FF2B5EF4-FFF2-40B4-BE49-F238E27FC236}">
                <a16:creationId xmlns:a16="http://schemas.microsoft.com/office/drawing/2014/main" id="{8F345DDD-E52F-C04A-BB96-2005FFCBFCD7}"/>
              </a:ext>
            </a:extLst>
          </p:cNvPr>
          <p:cNvSpPr txBox="1">
            <a:spLocks noChangeArrowheads="1"/>
          </p:cNvSpPr>
          <p:nvPr/>
        </p:nvSpPr>
        <p:spPr bwMode="auto">
          <a:xfrm>
            <a:off x="6084888" y="1052513"/>
            <a:ext cx="24923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latin typeface="Times New Roman" panose="02020603050405020304" pitchFamily="18" charset="0"/>
              </a:rPr>
              <a:t>I</a:t>
            </a:r>
            <a:r>
              <a:rPr lang="en-GB" altLang="en-US" sz="1800" baseline="-25000">
                <a:latin typeface="Times New Roman" panose="02020603050405020304" pitchFamily="18" charset="0"/>
              </a:rPr>
              <a:t>MAX </a:t>
            </a:r>
            <a:r>
              <a:rPr lang="en-GB" altLang="en-US" sz="1800">
                <a:latin typeface="Times New Roman" panose="02020603050405020304" pitchFamily="18" charset="0"/>
              </a:rPr>
              <a:t>= 2 x I</a:t>
            </a:r>
            <a:r>
              <a:rPr lang="en-GB" altLang="en-US" sz="1800" baseline="-25000">
                <a:latin typeface="Times New Roman" panose="02020603050405020304" pitchFamily="18" charset="0"/>
              </a:rPr>
              <a:t>AVE</a:t>
            </a:r>
            <a:r>
              <a:rPr lang="en-GB" altLang="en-US" sz="1800">
                <a:latin typeface="Times New Roman" panose="02020603050405020304" pitchFamily="18" charset="0"/>
              </a:rPr>
              <a:t> = 13.33A</a:t>
            </a:r>
            <a:endParaRPr lang="en-US" altLang="en-US" sz="1800">
              <a:latin typeface="Times New Roman" panose="02020603050405020304" pitchFamily="18" charset="0"/>
            </a:endParaRPr>
          </a:p>
        </p:txBody>
      </p:sp>
      <p:sp>
        <p:nvSpPr>
          <p:cNvPr id="27662" name="Text Box 25">
            <a:extLst>
              <a:ext uri="{FF2B5EF4-FFF2-40B4-BE49-F238E27FC236}">
                <a16:creationId xmlns:a16="http://schemas.microsoft.com/office/drawing/2014/main" id="{39C9DADC-5669-CF4F-ABFB-610974288E34}"/>
              </a:ext>
            </a:extLst>
          </p:cNvPr>
          <p:cNvSpPr txBox="1">
            <a:spLocks noChangeArrowheads="1"/>
          </p:cNvSpPr>
          <p:nvPr/>
        </p:nvSpPr>
        <p:spPr bwMode="auto">
          <a:xfrm>
            <a:off x="1116013" y="2855913"/>
            <a:ext cx="406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b="1">
                <a:latin typeface="Times New Roman" panose="02020603050405020304" pitchFamily="18" charset="0"/>
              </a:rPr>
              <a:t>V</a:t>
            </a:r>
            <a:r>
              <a:rPr lang="en-GB" altLang="en-US" sz="1200" b="1" baseline="-25000">
                <a:latin typeface="Times New Roman" panose="02020603050405020304" pitchFamily="18" charset="0"/>
              </a:rPr>
              <a:t>IN</a:t>
            </a:r>
            <a:endParaRPr lang="en-US" altLang="en-US" sz="1200" b="1" baseline="-25000">
              <a:latin typeface="Times New Roman" panose="02020603050405020304" pitchFamily="18" charset="0"/>
            </a:endParaRPr>
          </a:p>
        </p:txBody>
      </p:sp>
      <p:sp>
        <p:nvSpPr>
          <p:cNvPr id="27663" name="Text Box 26">
            <a:extLst>
              <a:ext uri="{FF2B5EF4-FFF2-40B4-BE49-F238E27FC236}">
                <a16:creationId xmlns:a16="http://schemas.microsoft.com/office/drawing/2014/main" id="{A97A4495-45BC-1649-BE30-9EB16FC2D8FC}"/>
              </a:ext>
            </a:extLst>
          </p:cNvPr>
          <p:cNvSpPr txBox="1">
            <a:spLocks noChangeArrowheads="1"/>
          </p:cNvSpPr>
          <p:nvPr/>
        </p:nvSpPr>
        <p:spPr bwMode="auto">
          <a:xfrm>
            <a:off x="1187450" y="3575050"/>
            <a:ext cx="96750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b="1" dirty="0">
                <a:latin typeface="Times New Roman" panose="02020603050405020304" pitchFamily="18" charset="0"/>
              </a:rPr>
              <a:t>(V</a:t>
            </a:r>
            <a:r>
              <a:rPr lang="en-GB" altLang="en-US" sz="1200" b="1" baseline="-25000" dirty="0">
                <a:latin typeface="Times New Roman" panose="02020603050405020304" pitchFamily="18" charset="0"/>
              </a:rPr>
              <a:t>IN</a:t>
            </a:r>
            <a:r>
              <a:rPr lang="en-GB" altLang="en-US" sz="1200" b="1" dirty="0">
                <a:latin typeface="Times New Roman" panose="02020603050405020304" pitchFamily="18" charset="0"/>
              </a:rPr>
              <a:t> - V</a:t>
            </a:r>
            <a:r>
              <a:rPr lang="en-GB" altLang="en-US" sz="1200" b="1" baseline="-25000" dirty="0">
                <a:latin typeface="Times New Roman" panose="02020603050405020304" pitchFamily="18" charset="0"/>
              </a:rPr>
              <a:t>OUT</a:t>
            </a:r>
            <a:r>
              <a:rPr lang="en-GB" altLang="en-US" sz="1200" b="1" dirty="0">
                <a:latin typeface="Times New Roman" panose="02020603050405020304" pitchFamily="18" charset="0"/>
              </a:rPr>
              <a:t>)</a:t>
            </a:r>
            <a:endParaRPr lang="en-US" altLang="en-US" sz="1200" b="1" dirty="0">
              <a:latin typeface="Times New Roman" panose="02020603050405020304" pitchFamily="18" charset="0"/>
            </a:endParaRPr>
          </a:p>
        </p:txBody>
      </p:sp>
      <p:sp>
        <p:nvSpPr>
          <p:cNvPr id="27664" name="Line 27">
            <a:extLst>
              <a:ext uri="{FF2B5EF4-FFF2-40B4-BE49-F238E27FC236}">
                <a16:creationId xmlns:a16="http://schemas.microsoft.com/office/drawing/2014/main" id="{64A1FE73-D90C-6F40-A9AD-1D03F435A7FB}"/>
              </a:ext>
            </a:extLst>
          </p:cNvPr>
          <p:cNvSpPr>
            <a:spLocks noChangeShapeType="1"/>
          </p:cNvSpPr>
          <p:nvPr/>
        </p:nvSpPr>
        <p:spPr bwMode="auto">
          <a:xfrm>
            <a:off x="468313" y="3500438"/>
            <a:ext cx="61198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5" name="Text Box 28">
            <a:extLst>
              <a:ext uri="{FF2B5EF4-FFF2-40B4-BE49-F238E27FC236}">
                <a16:creationId xmlns:a16="http://schemas.microsoft.com/office/drawing/2014/main" id="{D39C5455-226A-2449-8DDF-3F3E43EC75B5}"/>
              </a:ext>
            </a:extLst>
          </p:cNvPr>
          <p:cNvSpPr txBox="1">
            <a:spLocks noChangeArrowheads="1"/>
          </p:cNvSpPr>
          <p:nvPr/>
        </p:nvSpPr>
        <p:spPr bwMode="auto">
          <a:xfrm>
            <a:off x="2290763" y="1484313"/>
            <a:ext cx="6969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b="1">
                <a:latin typeface="Times New Roman" panose="02020603050405020304" pitchFamily="18" charset="0"/>
              </a:rPr>
              <a:t>18.75</a:t>
            </a:r>
            <a:r>
              <a:rPr lang="el-GR" altLang="en-US" sz="1200" b="1">
                <a:latin typeface="Times New Roman" panose="02020603050405020304" pitchFamily="18" charset="0"/>
              </a:rPr>
              <a:t>μ</a:t>
            </a:r>
            <a:r>
              <a:rPr lang="en-GB" altLang="en-US" sz="1200" b="1">
                <a:latin typeface="Times New Roman" panose="02020603050405020304" pitchFamily="18" charset="0"/>
              </a:rPr>
              <a:t>S</a:t>
            </a:r>
            <a:endParaRPr lang="en-US" altLang="en-US" sz="1200" b="1">
              <a:latin typeface="Times New Roman" panose="02020603050405020304" pitchFamily="18" charset="0"/>
            </a:endParaRPr>
          </a:p>
        </p:txBody>
      </p:sp>
      <p:sp>
        <p:nvSpPr>
          <p:cNvPr id="27666" name="Text Box 29">
            <a:extLst>
              <a:ext uri="{FF2B5EF4-FFF2-40B4-BE49-F238E27FC236}">
                <a16:creationId xmlns:a16="http://schemas.microsoft.com/office/drawing/2014/main" id="{AB5623BA-1675-7E48-BF7C-3E0CD60BC2F4}"/>
              </a:ext>
            </a:extLst>
          </p:cNvPr>
          <p:cNvSpPr txBox="1">
            <a:spLocks noChangeArrowheads="1"/>
          </p:cNvSpPr>
          <p:nvPr/>
        </p:nvSpPr>
        <p:spPr bwMode="auto">
          <a:xfrm>
            <a:off x="3276600" y="1484313"/>
            <a:ext cx="696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b="1">
                <a:latin typeface="Times New Roman" panose="02020603050405020304" pitchFamily="18" charset="0"/>
              </a:rPr>
              <a:t>31.25</a:t>
            </a:r>
            <a:r>
              <a:rPr lang="el-GR" altLang="en-US" sz="1200" b="1">
                <a:latin typeface="Times New Roman" panose="02020603050405020304" pitchFamily="18" charset="0"/>
              </a:rPr>
              <a:t>μ</a:t>
            </a:r>
            <a:r>
              <a:rPr lang="en-GB" altLang="en-US" sz="1200" b="1">
                <a:latin typeface="Times New Roman" panose="02020603050405020304" pitchFamily="18" charset="0"/>
              </a:rPr>
              <a:t>S</a:t>
            </a:r>
            <a:endParaRPr lang="en-US" altLang="en-US" sz="1200" b="1">
              <a:latin typeface="Times New Roman" panose="02020603050405020304" pitchFamily="18" charset="0"/>
            </a:endParaRPr>
          </a:p>
        </p:txBody>
      </p:sp>
      <p:sp>
        <p:nvSpPr>
          <p:cNvPr id="27667" name="Line 30">
            <a:extLst>
              <a:ext uri="{FF2B5EF4-FFF2-40B4-BE49-F238E27FC236}">
                <a16:creationId xmlns:a16="http://schemas.microsoft.com/office/drawing/2014/main" id="{7635D113-CAD8-4742-B8A4-5B82EB8CFADA}"/>
              </a:ext>
            </a:extLst>
          </p:cNvPr>
          <p:cNvSpPr>
            <a:spLocks noChangeShapeType="1"/>
          </p:cNvSpPr>
          <p:nvPr/>
        </p:nvSpPr>
        <p:spPr bwMode="auto">
          <a:xfrm flipV="1">
            <a:off x="4140200" y="1557338"/>
            <a:ext cx="0" cy="1079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8" name="Line 31">
            <a:extLst>
              <a:ext uri="{FF2B5EF4-FFF2-40B4-BE49-F238E27FC236}">
                <a16:creationId xmlns:a16="http://schemas.microsoft.com/office/drawing/2014/main" id="{E2120809-D2DC-C042-B33A-77372F254B4B}"/>
              </a:ext>
            </a:extLst>
          </p:cNvPr>
          <p:cNvSpPr>
            <a:spLocks noChangeShapeType="1"/>
          </p:cNvSpPr>
          <p:nvPr/>
        </p:nvSpPr>
        <p:spPr bwMode="auto">
          <a:xfrm flipV="1">
            <a:off x="2339975" y="1557338"/>
            <a:ext cx="0" cy="1079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9" name="Line 32">
            <a:extLst>
              <a:ext uri="{FF2B5EF4-FFF2-40B4-BE49-F238E27FC236}">
                <a16:creationId xmlns:a16="http://schemas.microsoft.com/office/drawing/2014/main" id="{9E3B7A01-27DA-204F-9F08-826182B8122A}"/>
              </a:ext>
            </a:extLst>
          </p:cNvPr>
          <p:cNvSpPr>
            <a:spLocks noChangeShapeType="1"/>
          </p:cNvSpPr>
          <p:nvPr/>
        </p:nvSpPr>
        <p:spPr bwMode="auto">
          <a:xfrm flipV="1">
            <a:off x="2987675" y="1557338"/>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27670" name="Object 33">
            <a:extLst>
              <a:ext uri="{FF2B5EF4-FFF2-40B4-BE49-F238E27FC236}">
                <a16:creationId xmlns:a16="http://schemas.microsoft.com/office/drawing/2014/main" id="{C4428E5D-D96F-DE4B-89D8-BBABE7ACA021}"/>
              </a:ext>
            </a:extLst>
          </p:cNvPr>
          <p:cNvGraphicFramePr>
            <a:graphicFrameLocks noChangeAspect="1"/>
          </p:cNvGraphicFramePr>
          <p:nvPr/>
        </p:nvGraphicFramePr>
        <p:xfrm>
          <a:off x="468313" y="4652963"/>
          <a:ext cx="4210050" cy="1828800"/>
        </p:xfrm>
        <a:graphic>
          <a:graphicData uri="http://schemas.openxmlformats.org/presentationml/2006/ole">
            <mc:AlternateContent xmlns:mc="http://schemas.openxmlformats.org/markup-compatibility/2006">
              <mc:Choice xmlns:v="urn:schemas-microsoft-com:vml" Requires="v">
                <p:oleObj name="Equation" r:id="rId2" imgW="64655700" imgH="28092400" progId="Equation.3">
                  <p:embed/>
                </p:oleObj>
              </mc:Choice>
              <mc:Fallback>
                <p:oleObj name="Equation" r:id="rId2" imgW="64655700" imgH="28092400" progId="Equation.3">
                  <p:embed/>
                  <p:pic>
                    <p:nvPicPr>
                      <p:cNvPr id="27670" name="Object 33">
                        <a:extLst>
                          <a:ext uri="{FF2B5EF4-FFF2-40B4-BE49-F238E27FC236}">
                            <a16:creationId xmlns:a16="http://schemas.microsoft.com/office/drawing/2014/main" id="{C4428E5D-D96F-DE4B-89D8-BBABE7ACA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4652963"/>
                        <a:ext cx="4210050"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71" name="Rectangle 34">
            <a:extLst>
              <a:ext uri="{FF2B5EF4-FFF2-40B4-BE49-F238E27FC236}">
                <a16:creationId xmlns:a16="http://schemas.microsoft.com/office/drawing/2014/main" id="{F2D1714F-597C-D74E-B699-F86146DF3D20}"/>
              </a:ext>
            </a:extLst>
          </p:cNvPr>
          <p:cNvSpPr>
            <a:spLocks noChangeArrowheads="1"/>
          </p:cNvSpPr>
          <p:nvPr/>
        </p:nvSpPr>
        <p:spPr bwMode="auto">
          <a:xfrm>
            <a:off x="3132138" y="5373688"/>
            <a:ext cx="719137" cy="36036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27672" name="Rectangle 35">
            <a:extLst>
              <a:ext uri="{FF2B5EF4-FFF2-40B4-BE49-F238E27FC236}">
                <a16:creationId xmlns:a16="http://schemas.microsoft.com/office/drawing/2014/main" id="{257308D7-B572-5C4F-B176-14D00B301E1E}"/>
              </a:ext>
            </a:extLst>
          </p:cNvPr>
          <p:cNvSpPr>
            <a:spLocks noChangeArrowheads="1"/>
          </p:cNvSpPr>
          <p:nvPr/>
        </p:nvSpPr>
        <p:spPr bwMode="auto">
          <a:xfrm>
            <a:off x="4067175" y="6021388"/>
            <a:ext cx="719138" cy="36036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27673" name="Text Box 36">
            <a:extLst>
              <a:ext uri="{FF2B5EF4-FFF2-40B4-BE49-F238E27FC236}">
                <a16:creationId xmlns:a16="http://schemas.microsoft.com/office/drawing/2014/main" id="{9B636FB8-6AD7-D142-96F0-A0DBC3D63CA4}"/>
              </a:ext>
            </a:extLst>
          </p:cNvPr>
          <p:cNvSpPr txBox="1">
            <a:spLocks noChangeArrowheads="1"/>
          </p:cNvSpPr>
          <p:nvPr/>
        </p:nvSpPr>
        <p:spPr bwMode="auto">
          <a:xfrm>
            <a:off x="2482850" y="3068638"/>
            <a:ext cx="346075" cy="376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A</a:t>
            </a:r>
            <a:endParaRPr lang="en-US" altLang="en-US" sz="1800"/>
          </a:p>
        </p:txBody>
      </p:sp>
      <p:sp>
        <p:nvSpPr>
          <p:cNvPr id="27674" name="Text Box 37">
            <a:extLst>
              <a:ext uri="{FF2B5EF4-FFF2-40B4-BE49-F238E27FC236}">
                <a16:creationId xmlns:a16="http://schemas.microsoft.com/office/drawing/2014/main" id="{3E8669D7-E803-E84F-97A3-94024E0EAAEF}"/>
              </a:ext>
            </a:extLst>
          </p:cNvPr>
          <p:cNvSpPr txBox="1">
            <a:spLocks noChangeArrowheads="1"/>
          </p:cNvSpPr>
          <p:nvPr/>
        </p:nvSpPr>
        <p:spPr bwMode="auto">
          <a:xfrm>
            <a:off x="3348038" y="3068638"/>
            <a:ext cx="346075" cy="376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B</a:t>
            </a:r>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4">
            <a:extLst>
              <a:ext uri="{FF2B5EF4-FFF2-40B4-BE49-F238E27FC236}">
                <a16:creationId xmlns:a16="http://schemas.microsoft.com/office/drawing/2014/main" id="{F59045BE-BB19-F641-BCDF-FE5E8B19C32D}"/>
              </a:ext>
            </a:extLst>
          </p:cNvPr>
          <p:cNvSpPr txBox="1">
            <a:spLocks noChangeArrowheads="1"/>
          </p:cNvSpPr>
          <p:nvPr/>
        </p:nvSpPr>
        <p:spPr bwMode="auto">
          <a:xfrm>
            <a:off x="196805" y="225514"/>
            <a:ext cx="47322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400" b="1" u="sng" dirty="0"/>
              <a:t>The Buck-Boost Converter</a:t>
            </a:r>
            <a:endParaRPr lang="en-US" altLang="en-US" sz="2400" b="1" u="sng" dirty="0"/>
          </a:p>
        </p:txBody>
      </p:sp>
      <p:sp>
        <p:nvSpPr>
          <p:cNvPr id="4" name="TextBox 3">
            <a:extLst>
              <a:ext uri="{FF2B5EF4-FFF2-40B4-BE49-F238E27FC236}">
                <a16:creationId xmlns:a16="http://schemas.microsoft.com/office/drawing/2014/main" id="{59D0B00B-6C3D-BC22-EE1C-09774BE47EF3}"/>
              </a:ext>
            </a:extLst>
          </p:cNvPr>
          <p:cNvSpPr txBox="1"/>
          <p:nvPr/>
        </p:nvSpPr>
        <p:spPr>
          <a:xfrm>
            <a:off x="100149" y="855004"/>
            <a:ext cx="8817428" cy="3046988"/>
          </a:xfrm>
          <a:prstGeom prst="rect">
            <a:avLst/>
          </a:prstGeom>
          <a:noFill/>
        </p:spPr>
        <p:txBody>
          <a:bodyPr wrap="square">
            <a:spAutoFit/>
          </a:bodyPr>
          <a:lstStyle/>
          <a:p>
            <a:pPr marL="1085850" lvl="1" indent="-342900">
              <a:buFontTx/>
              <a:buChar char="-"/>
            </a:pPr>
            <a:r>
              <a:rPr lang="en-GB" altLang="en-US" sz="3200" dirty="0"/>
              <a:t>How it works?</a:t>
            </a:r>
          </a:p>
          <a:p>
            <a:pPr marL="1085850" lvl="1" indent="-342900">
              <a:buFontTx/>
              <a:buChar char="-"/>
            </a:pPr>
            <a:r>
              <a:rPr lang="en-GB" altLang="en-US" sz="3200" dirty="0"/>
              <a:t>Important waveforms</a:t>
            </a:r>
          </a:p>
          <a:p>
            <a:pPr marL="1085850" lvl="1" indent="-342900">
              <a:buFontTx/>
              <a:buChar char="-"/>
            </a:pPr>
            <a:r>
              <a:rPr lang="en-GB" altLang="en-US" sz="3200" dirty="0"/>
              <a:t>Expression for output voltage</a:t>
            </a:r>
          </a:p>
          <a:p>
            <a:pPr marL="1543050" lvl="2" indent="-342900">
              <a:buFontTx/>
              <a:buChar char="-"/>
            </a:pPr>
            <a:r>
              <a:rPr lang="en-GB" altLang="en-US" sz="3200" dirty="0"/>
              <a:t>Based on average voltage of inductor</a:t>
            </a:r>
          </a:p>
          <a:p>
            <a:pPr marL="1543050" lvl="2" indent="-342900">
              <a:buFontTx/>
              <a:buChar char="-"/>
            </a:pPr>
            <a:r>
              <a:rPr lang="en-GB" altLang="en-US" sz="3200" dirty="0"/>
              <a:t>Based on change in current of inductor</a:t>
            </a:r>
          </a:p>
          <a:p>
            <a:pPr marL="1085850" lvl="1" indent="-342900">
              <a:buFontTx/>
              <a:buChar char="-"/>
            </a:pPr>
            <a:r>
              <a:rPr lang="en-GB" altLang="en-US" sz="3200" dirty="0"/>
              <a:t>Numerical Problems</a:t>
            </a:r>
          </a:p>
        </p:txBody>
      </p:sp>
    </p:spTree>
    <p:extLst>
      <p:ext uri="{BB962C8B-B14F-4D97-AF65-F5344CB8AC3E}">
        <p14:creationId xmlns:p14="http://schemas.microsoft.com/office/powerpoint/2010/main" val="3929367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C9BFE4D5-BA85-7141-8AE7-2E2083F80A5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8439E86-6448-C343-A13B-E8A14B50ADE2}" type="slidenum">
              <a:rPr lang="en-US" altLang="en-US" sz="1400"/>
              <a:pPr>
                <a:spcBef>
                  <a:spcPct val="0"/>
                </a:spcBef>
                <a:buFontTx/>
                <a:buNone/>
              </a:pPr>
              <a:t>17</a:t>
            </a:fld>
            <a:endParaRPr lang="en-US" altLang="en-US" sz="1400"/>
          </a:p>
        </p:txBody>
      </p:sp>
      <p:grpSp>
        <p:nvGrpSpPr>
          <p:cNvPr id="2" name="Group 1">
            <a:extLst>
              <a:ext uri="{FF2B5EF4-FFF2-40B4-BE49-F238E27FC236}">
                <a16:creationId xmlns:a16="http://schemas.microsoft.com/office/drawing/2014/main" id="{1C7EBA37-4E48-4E1F-6CF3-F3FED08DF909}"/>
              </a:ext>
            </a:extLst>
          </p:cNvPr>
          <p:cNvGrpSpPr/>
          <p:nvPr/>
        </p:nvGrpSpPr>
        <p:grpSpPr>
          <a:xfrm>
            <a:off x="1221696" y="790611"/>
            <a:ext cx="7058025" cy="2303462"/>
            <a:chOff x="322263" y="1052513"/>
            <a:chExt cx="7058025" cy="2303462"/>
          </a:xfrm>
        </p:grpSpPr>
        <p:sp>
          <p:nvSpPr>
            <p:cNvPr id="35843" name="Rectangle 4">
              <a:extLst>
                <a:ext uri="{FF2B5EF4-FFF2-40B4-BE49-F238E27FC236}">
                  <a16:creationId xmlns:a16="http://schemas.microsoft.com/office/drawing/2014/main" id="{ABB5A55B-13C1-3B4A-A9EC-F6FB53B37D5E}"/>
                </a:ext>
              </a:extLst>
            </p:cNvPr>
            <p:cNvSpPr>
              <a:spLocks noChangeArrowheads="1"/>
            </p:cNvSpPr>
            <p:nvPr/>
          </p:nvSpPr>
          <p:spPr bwMode="auto">
            <a:xfrm>
              <a:off x="322263" y="2420938"/>
              <a:ext cx="433387" cy="71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44" name="Rectangle 5">
              <a:extLst>
                <a:ext uri="{FF2B5EF4-FFF2-40B4-BE49-F238E27FC236}">
                  <a16:creationId xmlns:a16="http://schemas.microsoft.com/office/drawing/2014/main" id="{40544449-9EA9-D14E-8208-18DE010F1056}"/>
                </a:ext>
              </a:extLst>
            </p:cNvPr>
            <p:cNvSpPr>
              <a:spLocks noChangeArrowheads="1"/>
            </p:cNvSpPr>
            <p:nvPr/>
          </p:nvSpPr>
          <p:spPr bwMode="auto">
            <a:xfrm>
              <a:off x="395288" y="2563813"/>
              <a:ext cx="287337"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45" name="Line 6">
              <a:extLst>
                <a:ext uri="{FF2B5EF4-FFF2-40B4-BE49-F238E27FC236}">
                  <a16:creationId xmlns:a16="http://schemas.microsoft.com/office/drawing/2014/main" id="{A4F8EA83-8BF5-D84A-9A1E-51A87CF846D7}"/>
                </a:ext>
              </a:extLst>
            </p:cNvPr>
            <p:cNvSpPr>
              <a:spLocks noChangeShapeType="1"/>
            </p:cNvSpPr>
            <p:nvPr/>
          </p:nvSpPr>
          <p:spPr bwMode="auto">
            <a:xfrm flipV="1">
              <a:off x="539750" y="1627188"/>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6" name="Line 7">
              <a:extLst>
                <a:ext uri="{FF2B5EF4-FFF2-40B4-BE49-F238E27FC236}">
                  <a16:creationId xmlns:a16="http://schemas.microsoft.com/office/drawing/2014/main" id="{66882A07-1405-5948-BBA9-73D342F26484}"/>
                </a:ext>
              </a:extLst>
            </p:cNvPr>
            <p:cNvSpPr>
              <a:spLocks noChangeShapeType="1"/>
            </p:cNvSpPr>
            <p:nvPr/>
          </p:nvSpPr>
          <p:spPr bwMode="auto">
            <a:xfrm flipV="1">
              <a:off x="539750" y="2636838"/>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7" name="Line 8">
              <a:extLst>
                <a:ext uri="{FF2B5EF4-FFF2-40B4-BE49-F238E27FC236}">
                  <a16:creationId xmlns:a16="http://schemas.microsoft.com/office/drawing/2014/main" id="{F10609C6-F3D5-D34D-B05F-5B57D2E8C797}"/>
                </a:ext>
              </a:extLst>
            </p:cNvPr>
            <p:cNvSpPr>
              <a:spLocks noChangeShapeType="1"/>
            </p:cNvSpPr>
            <p:nvPr/>
          </p:nvSpPr>
          <p:spPr bwMode="auto">
            <a:xfrm flipV="1">
              <a:off x="827088" y="227488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48" name="Text Box 9">
              <a:extLst>
                <a:ext uri="{FF2B5EF4-FFF2-40B4-BE49-F238E27FC236}">
                  <a16:creationId xmlns:a16="http://schemas.microsoft.com/office/drawing/2014/main" id="{22BD2272-2D57-DC43-9A46-3D7D592C6743}"/>
                </a:ext>
              </a:extLst>
            </p:cNvPr>
            <p:cNvSpPr txBox="1">
              <a:spLocks noChangeArrowheads="1"/>
            </p:cNvSpPr>
            <p:nvPr/>
          </p:nvSpPr>
          <p:spPr bwMode="auto">
            <a:xfrm>
              <a:off x="755650" y="2274888"/>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IN</a:t>
              </a:r>
              <a:endParaRPr lang="en-US" altLang="en-US" sz="1800" baseline="-25000" dirty="0"/>
            </a:p>
          </p:txBody>
        </p:sp>
        <p:sp>
          <p:nvSpPr>
            <p:cNvPr id="35849" name="Line 10">
              <a:extLst>
                <a:ext uri="{FF2B5EF4-FFF2-40B4-BE49-F238E27FC236}">
                  <a16:creationId xmlns:a16="http://schemas.microsoft.com/office/drawing/2014/main" id="{3272BC99-4419-984F-A93D-2F834EED99FB}"/>
                </a:ext>
              </a:extLst>
            </p:cNvPr>
            <p:cNvSpPr>
              <a:spLocks noChangeShapeType="1"/>
            </p:cNvSpPr>
            <p:nvPr/>
          </p:nvSpPr>
          <p:spPr bwMode="auto">
            <a:xfrm>
              <a:off x="539750" y="1627188"/>
              <a:ext cx="1368425" cy="1587"/>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5850" name="Group 11">
              <a:extLst>
                <a:ext uri="{FF2B5EF4-FFF2-40B4-BE49-F238E27FC236}">
                  <a16:creationId xmlns:a16="http://schemas.microsoft.com/office/drawing/2014/main" id="{E541F23D-A11D-D743-9606-FD9A063E8805}"/>
                </a:ext>
              </a:extLst>
            </p:cNvPr>
            <p:cNvGrpSpPr>
              <a:grpSpLocks/>
            </p:cNvGrpSpPr>
            <p:nvPr/>
          </p:nvGrpSpPr>
          <p:grpSpPr bwMode="auto">
            <a:xfrm>
              <a:off x="3059113" y="1628775"/>
              <a:ext cx="314325" cy="1655763"/>
              <a:chOff x="3211" y="2176"/>
              <a:chExt cx="198" cy="964"/>
            </a:xfrm>
          </p:grpSpPr>
          <p:sp>
            <p:nvSpPr>
              <p:cNvPr id="35889" name="Oval 12">
                <a:extLst>
                  <a:ext uri="{FF2B5EF4-FFF2-40B4-BE49-F238E27FC236}">
                    <a16:creationId xmlns:a16="http://schemas.microsoft.com/office/drawing/2014/main" id="{F372C4F0-62E6-2C45-A642-E3174AE58586}"/>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0" name="Oval 13">
                <a:extLst>
                  <a:ext uri="{FF2B5EF4-FFF2-40B4-BE49-F238E27FC236}">
                    <a16:creationId xmlns:a16="http://schemas.microsoft.com/office/drawing/2014/main" id="{139259AC-5A40-8A4E-A8C5-4A4E94854882}"/>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1" name="Oval 14">
                <a:extLst>
                  <a:ext uri="{FF2B5EF4-FFF2-40B4-BE49-F238E27FC236}">
                    <a16:creationId xmlns:a16="http://schemas.microsoft.com/office/drawing/2014/main" id="{77933FA4-E71D-F045-8CB6-2DC5769E2737}"/>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2" name="Oval 15">
                <a:extLst>
                  <a:ext uri="{FF2B5EF4-FFF2-40B4-BE49-F238E27FC236}">
                    <a16:creationId xmlns:a16="http://schemas.microsoft.com/office/drawing/2014/main" id="{FD74360F-922A-F043-A2DC-935FDDCA70D5}"/>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3" name="Oval 16">
                <a:extLst>
                  <a:ext uri="{FF2B5EF4-FFF2-40B4-BE49-F238E27FC236}">
                    <a16:creationId xmlns:a16="http://schemas.microsoft.com/office/drawing/2014/main" id="{4C13BBB7-03EA-0141-B297-7B4DDA85A65A}"/>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4" name="Oval 17">
                <a:extLst>
                  <a:ext uri="{FF2B5EF4-FFF2-40B4-BE49-F238E27FC236}">
                    <a16:creationId xmlns:a16="http://schemas.microsoft.com/office/drawing/2014/main" id="{9801D6C5-60AB-AB41-96C9-0E0E24FDC672}"/>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5" name="Rectangle 18">
                <a:extLst>
                  <a:ext uri="{FF2B5EF4-FFF2-40B4-BE49-F238E27FC236}">
                    <a16:creationId xmlns:a16="http://schemas.microsoft.com/office/drawing/2014/main" id="{54067FA0-F558-8A4A-987A-6E4405350B97}"/>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96" name="Line 19">
                <a:extLst>
                  <a:ext uri="{FF2B5EF4-FFF2-40B4-BE49-F238E27FC236}">
                    <a16:creationId xmlns:a16="http://schemas.microsoft.com/office/drawing/2014/main" id="{6149C7EA-2E72-3A4B-A2C0-A420CC0ABE8C}"/>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97" name="Line 20">
                <a:extLst>
                  <a:ext uri="{FF2B5EF4-FFF2-40B4-BE49-F238E27FC236}">
                    <a16:creationId xmlns:a16="http://schemas.microsoft.com/office/drawing/2014/main" id="{0DCC3863-7A7D-8C44-8A93-6A96DAB3ABB9}"/>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51" name="Line 21">
              <a:extLst>
                <a:ext uri="{FF2B5EF4-FFF2-40B4-BE49-F238E27FC236}">
                  <a16:creationId xmlns:a16="http://schemas.microsoft.com/office/drawing/2014/main" id="{202AF4B4-8F55-344D-A4E9-868D8E400C08}"/>
                </a:ext>
              </a:extLst>
            </p:cNvPr>
            <p:cNvSpPr>
              <a:spLocks noChangeShapeType="1"/>
            </p:cNvSpPr>
            <p:nvPr/>
          </p:nvSpPr>
          <p:spPr bwMode="auto">
            <a:xfrm flipH="1">
              <a:off x="2268538" y="1627188"/>
              <a:ext cx="2087562" cy="1587"/>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2" name="Line 22">
              <a:extLst>
                <a:ext uri="{FF2B5EF4-FFF2-40B4-BE49-F238E27FC236}">
                  <a16:creationId xmlns:a16="http://schemas.microsoft.com/office/drawing/2014/main" id="{1352D7A7-AF90-C94C-B8CC-88725356B800}"/>
                </a:ext>
              </a:extLst>
            </p:cNvPr>
            <p:cNvSpPr>
              <a:spLocks noChangeShapeType="1"/>
            </p:cNvSpPr>
            <p:nvPr/>
          </p:nvSpPr>
          <p:spPr bwMode="auto">
            <a:xfrm flipV="1">
              <a:off x="1908175" y="1484313"/>
              <a:ext cx="360363"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5853" name="Group 23">
              <a:extLst>
                <a:ext uri="{FF2B5EF4-FFF2-40B4-BE49-F238E27FC236}">
                  <a16:creationId xmlns:a16="http://schemas.microsoft.com/office/drawing/2014/main" id="{82FD49BA-33C8-654F-8FAF-74A0BA292780}"/>
                </a:ext>
              </a:extLst>
            </p:cNvPr>
            <p:cNvGrpSpPr>
              <a:grpSpLocks/>
            </p:cNvGrpSpPr>
            <p:nvPr/>
          </p:nvGrpSpPr>
          <p:grpSpPr bwMode="auto">
            <a:xfrm rot="10800000">
              <a:off x="4356100" y="1484313"/>
              <a:ext cx="215900" cy="287337"/>
              <a:chOff x="1973" y="2160"/>
              <a:chExt cx="136" cy="181"/>
            </a:xfrm>
          </p:grpSpPr>
          <p:sp>
            <p:nvSpPr>
              <p:cNvPr id="35885" name="Line 24">
                <a:extLst>
                  <a:ext uri="{FF2B5EF4-FFF2-40B4-BE49-F238E27FC236}">
                    <a16:creationId xmlns:a16="http://schemas.microsoft.com/office/drawing/2014/main" id="{824E189B-2B7D-7743-9219-C8669964ADCE}"/>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6" name="Line 25">
                <a:extLst>
                  <a:ext uri="{FF2B5EF4-FFF2-40B4-BE49-F238E27FC236}">
                    <a16:creationId xmlns:a16="http://schemas.microsoft.com/office/drawing/2014/main" id="{D354234B-384E-0141-891F-2909557935EA}"/>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7" name="Line 26">
                <a:extLst>
                  <a:ext uri="{FF2B5EF4-FFF2-40B4-BE49-F238E27FC236}">
                    <a16:creationId xmlns:a16="http://schemas.microsoft.com/office/drawing/2014/main" id="{B0EEE99B-E2A6-7140-9D78-1BC554DF579E}"/>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8" name="Line 27">
                <a:extLst>
                  <a:ext uri="{FF2B5EF4-FFF2-40B4-BE49-F238E27FC236}">
                    <a16:creationId xmlns:a16="http://schemas.microsoft.com/office/drawing/2014/main" id="{AE9B6EDC-38C9-8D4D-B180-0F79652B74A5}"/>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54" name="Rectangle 28">
              <a:extLst>
                <a:ext uri="{FF2B5EF4-FFF2-40B4-BE49-F238E27FC236}">
                  <a16:creationId xmlns:a16="http://schemas.microsoft.com/office/drawing/2014/main" id="{E210F805-B131-3F41-B978-8AAAEC2EC41F}"/>
                </a:ext>
              </a:extLst>
            </p:cNvPr>
            <p:cNvSpPr>
              <a:spLocks noChangeArrowheads="1"/>
            </p:cNvSpPr>
            <p:nvPr/>
          </p:nvSpPr>
          <p:spPr bwMode="auto">
            <a:xfrm>
              <a:off x="5219700" y="2203450"/>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55" name="Rectangle 29">
              <a:extLst>
                <a:ext uri="{FF2B5EF4-FFF2-40B4-BE49-F238E27FC236}">
                  <a16:creationId xmlns:a16="http://schemas.microsoft.com/office/drawing/2014/main" id="{1E1526B8-9EB0-B048-8004-308EC8A8992D}"/>
                </a:ext>
              </a:extLst>
            </p:cNvPr>
            <p:cNvSpPr>
              <a:spLocks noChangeArrowheads="1"/>
            </p:cNvSpPr>
            <p:nvPr/>
          </p:nvSpPr>
          <p:spPr bwMode="auto">
            <a:xfrm>
              <a:off x="5219700" y="2347913"/>
              <a:ext cx="431800" cy="7143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56" name="Line 30">
              <a:extLst>
                <a:ext uri="{FF2B5EF4-FFF2-40B4-BE49-F238E27FC236}">
                  <a16:creationId xmlns:a16="http://schemas.microsoft.com/office/drawing/2014/main" id="{E4CBA966-DBBE-334C-8A6D-FA4E02D79FA4}"/>
                </a:ext>
              </a:extLst>
            </p:cNvPr>
            <p:cNvSpPr>
              <a:spLocks noChangeShapeType="1"/>
            </p:cNvSpPr>
            <p:nvPr/>
          </p:nvSpPr>
          <p:spPr bwMode="auto">
            <a:xfrm flipV="1">
              <a:off x="5435600" y="2419350"/>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7" name="Line 31">
              <a:extLst>
                <a:ext uri="{FF2B5EF4-FFF2-40B4-BE49-F238E27FC236}">
                  <a16:creationId xmlns:a16="http://schemas.microsoft.com/office/drawing/2014/main" id="{E5479605-60A4-0F41-84A4-849F89452EDD}"/>
                </a:ext>
              </a:extLst>
            </p:cNvPr>
            <p:cNvSpPr>
              <a:spLocks noChangeShapeType="1"/>
            </p:cNvSpPr>
            <p:nvPr/>
          </p:nvSpPr>
          <p:spPr bwMode="auto">
            <a:xfrm>
              <a:off x="5435600" y="1627188"/>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8" name="Line 32">
              <a:extLst>
                <a:ext uri="{FF2B5EF4-FFF2-40B4-BE49-F238E27FC236}">
                  <a16:creationId xmlns:a16="http://schemas.microsoft.com/office/drawing/2014/main" id="{25885AAD-4C38-374E-8AAB-1D870A9EEE56}"/>
                </a:ext>
              </a:extLst>
            </p:cNvPr>
            <p:cNvSpPr>
              <a:spLocks noChangeShapeType="1"/>
            </p:cNvSpPr>
            <p:nvPr/>
          </p:nvSpPr>
          <p:spPr bwMode="auto">
            <a:xfrm>
              <a:off x="4572000" y="1627188"/>
              <a:ext cx="1439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9" name="Oval 33">
              <a:extLst>
                <a:ext uri="{FF2B5EF4-FFF2-40B4-BE49-F238E27FC236}">
                  <a16:creationId xmlns:a16="http://schemas.microsoft.com/office/drawing/2014/main" id="{B66DAA1E-C149-124D-9399-24EB0EA19C0D}"/>
                </a:ext>
              </a:extLst>
            </p:cNvPr>
            <p:cNvSpPr>
              <a:spLocks noChangeArrowheads="1"/>
            </p:cNvSpPr>
            <p:nvPr/>
          </p:nvSpPr>
          <p:spPr bwMode="auto">
            <a:xfrm>
              <a:off x="6011863" y="3213100"/>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0" name="Oval 34">
              <a:extLst>
                <a:ext uri="{FF2B5EF4-FFF2-40B4-BE49-F238E27FC236}">
                  <a16:creationId xmlns:a16="http://schemas.microsoft.com/office/drawing/2014/main" id="{2B2CA482-CB9C-A249-9D04-BD48BAAD37E4}"/>
                </a:ext>
              </a:extLst>
            </p:cNvPr>
            <p:cNvSpPr>
              <a:spLocks noChangeArrowheads="1"/>
            </p:cNvSpPr>
            <p:nvPr/>
          </p:nvSpPr>
          <p:spPr bwMode="auto">
            <a:xfrm>
              <a:off x="6011863" y="1555750"/>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1" name="Line 35">
              <a:extLst>
                <a:ext uri="{FF2B5EF4-FFF2-40B4-BE49-F238E27FC236}">
                  <a16:creationId xmlns:a16="http://schemas.microsoft.com/office/drawing/2014/main" id="{4E49EC93-44A9-7E4A-94DB-863CD7421909}"/>
                </a:ext>
              </a:extLst>
            </p:cNvPr>
            <p:cNvSpPr>
              <a:spLocks noChangeShapeType="1"/>
            </p:cNvSpPr>
            <p:nvPr/>
          </p:nvSpPr>
          <p:spPr bwMode="auto">
            <a:xfrm>
              <a:off x="539750" y="3282950"/>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2" name="Rectangle 38">
              <a:extLst>
                <a:ext uri="{FF2B5EF4-FFF2-40B4-BE49-F238E27FC236}">
                  <a16:creationId xmlns:a16="http://schemas.microsoft.com/office/drawing/2014/main" id="{4FBB2CFE-130D-384D-B341-2FFDAB8B9FF3}"/>
                </a:ext>
              </a:extLst>
            </p:cNvPr>
            <p:cNvSpPr>
              <a:spLocks noChangeArrowheads="1"/>
            </p:cNvSpPr>
            <p:nvPr/>
          </p:nvSpPr>
          <p:spPr bwMode="auto">
            <a:xfrm>
              <a:off x="1619250" y="1989138"/>
              <a:ext cx="914400" cy="3603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35863" name="Line 39">
              <a:extLst>
                <a:ext uri="{FF2B5EF4-FFF2-40B4-BE49-F238E27FC236}">
                  <a16:creationId xmlns:a16="http://schemas.microsoft.com/office/drawing/2014/main" id="{9DCEE052-7BE9-C64D-B928-458EFF28E9B8}"/>
                </a:ext>
              </a:extLst>
            </p:cNvPr>
            <p:cNvSpPr>
              <a:spLocks noChangeShapeType="1"/>
            </p:cNvSpPr>
            <p:nvPr/>
          </p:nvSpPr>
          <p:spPr bwMode="auto">
            <a:xfrm flipV="1">
              <a:off x="2051050" y="1700213"/>
              <a:ext cx="0"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4" name="Freeform 40">
              <a:extLst>
                <a:ext uri="{FF2B5EF4-FFF2-40B4-BE49-F238E27FC236}">
                  <a16:creationId xmlns:a16="http://schemas.microsoft.com/office/drawing/2014/main" id="{93B6E212-255C-9C43-B2F0-CBD603F341BE}"/>
                </a:ext>
              </a:extLst>
            </p:cNvPr>
            <p:cNvSpPr>
              <a:spLocks/>
            </p:cNvSpPr>
            <p:nvPr/>
          </p:nvSpPr>
          <p:spPr bwMode="auto">
            <a:xfrm>
              <a:off x="6156325" y="1627188"/>
              <a:ext cx="431800" cy="1655762"/>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65" name="Rectangle 41">
              <a:extLst>
                <a:ext uri="{FF2B5EF4-FFF2-40B4-BE49-F238E27FC236}">
                  <a16:creationId xmlns:a16="http://schemas.microsoft.com/office/drawing/2014/main" id="{81B41FEA-9F25-7048-AC7A-A641F25F7A41}"/>
                </a:ext>
              </a:extLst>
            </p:cNvPr>
            <p:cNvSpPr>
              <a:spLocks noChangeArrowheads="1"/>
            </p:cNvSpPr>
            <p:nvPr/>
          </p:nvSpPr>
          <p:spPr bwMode="auto">
            <a:xfrm>
              <a:off x="6515100" y="1987550"/>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5866" name="Text Box 42">
              <a:extLst>
                <a:ext uri="{FF2B5EF4-FFF2-40B4-BE49-F238E27FC236}">
                  <a16:creationId xmlns:a16="http://schemas.microsoft.com/office/drawing/2014/main" id="{93A42D22-BE82-674D-A42D-A6A135C32970}"/>
                </a:ext>
              </a:extLst>
            </p:cNvPr>
            <p:cNvSpPr txBox="1">
              <a:spLocks noChangeArrowheads="1"/>
            </p:cNvSpPr>
            <p:nvPr/>
          </p:nvSpPr>
          <p:spPr bwMode="auto">
            <a:xfrm>
              <a:off x="1619250" y="1052513"/>
              <a:ext cx="857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35867" name="Text Box 43">
              <a:extLst>
                <a:ext uri="{FF2B5EF4-FFF2-40B4-BE49-F238E27FC236}">
                  <a16:creationId xmlns:a16="http://schemas.microsoft.com/office/drawing/2014/main" id="{1CBDA1A1-489B-8B4A-837C-CF3B828F5EBF}"/>
                </a:ext>
              </a:extLst>
            </p:cNvPr>
            <p:cNvSpPr txBox="1">
              <a:spLocks noChangeArrowheads="1"/>
            </p:cNvSpPr>
            <p:nvPr/>
          </p:nvSpPr>
          <p:spPr bwMode="auto">
            <a:xfrm>
              <a:off x="4283075" y="18430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35868" name="Text Box 44">
              <a:extLst>
                <a:ext uri="{FF2B5EF4-FFF2-40B4-BE49-F238E27FC236}">
                  <a16:creationId xmlns:a16="http://schemas.microsoft.com/office/drawing/2014/main" id="{72141638-5E48-F94A-AB45-B004E71EEEFA}"/>
                </a:ext>
              </a:extLst>
            </p:cNvPr>
            <p:cNvSpPr txBox="1">
              <a:spLocks noChangeArrowheads="1"/>
            </p:cNvSpPr>
            <p:nvPr/>
          </p:nvSpPr>
          <p:spPr bwMode="auto">
            <a:xfrm>
              <a:off x="5075238" y="24193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35869" name="Text Box 45">
              <a:extLst>
                <a:ext uri="{FF2B5EF4-FFF2-40B4-BE49-F238E27FC236}">
                  <a16:creationId xmlns:a16="http://schemas.microsoft.com/office/drawing/2014/main" id="{4A0F9B4B-D51B-4A41-B03F-F965216F8AC8}"/>
                </a:ext>
              </a:extLst>
            </p:cNvPr>
            <p:cNvSpPr txBox="1">
              <a:spLocks noChangeArrowheads="1"/>
            </p:cNvSpPr>
            <p:nvPr/>
          </p:nvSpPr>
          <p:spPr bwMode="auto">
            <a:xfrm>
              <a:off x="6083300" y="2203450"/>
              <a:ext cx="4333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35870" name="Text Box 46">
              <a:extLst>
                <a:ext uri="{FF2B5EF4-FFF2-40B4-BE49-F238E27FC236}">
                  <a16:creationId xmlns:a16="http://schemas.microsoft.com/office/drawing/2014/main" id="{A4E83F60-C000-0645-A753-435264C925C4}"/>
                </a:ext>
              </a:extLst>
            </p:cNvPr>
            <p:cNvSpPr txBox="1">
              <a:spLocks noChangeArrowheads="1"/>
            </p:cNvSpPr>
            <p:nvPr/>
          </p:nvSpPr>
          <p:spPr bwMode="auto">
            <a:xfrm>
              <a:off x="6797675" y="2274888"/>
              <a:ext cx="5826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Out</a:t>
              </a:r>
              <a:endParaRPr lang="en-US" altLang="en-US" sz="1800" baseline="-25000"/>
            </a:p>
          </p:txBody>
        </p:sp>
        <p:sp>
          <p:nvSpPr>
            <p:cNvPr id="35871" name="Line 47">
              <a:extLst>
                <a:ext uri="{FF2B5EF4-FFF2-40B4-BE49-F238E27FC236}">
                  <a16:creationId xmlns:a16="http://schemas.microsoft.com/office/drawing/2014/main" id="{B77ADE72-BA53-CA46-89B7-3414E07C1914}"/>
                </a:ext>
              </a:extLst>
            </p:cNvPr>
            <p:cNvSpPr>
              <a:spLocks noChangeShapeType="1"/>
            </p:cNvSpPr>
            <p:nvPr/>
          </p:nvSpPr>
          <p:spPr bwMode="auto">
            <a:xfrm>
              <a:off x="6791324" y="1627187"/>
              <a:ext cx="23813" cy="165576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5872" name="Text Box 48">
            <a:extLst>
              <a:ext uri="{FF2B5EF4-FFF2-40B4-BE49-F238E27FC236}">
                <a16:creationId xmlns:a16="http://schemas.microsoft.com/office/drawing/2014/main" id="{078A092D-6A42-0748-8094-1383D7617532}"/>
              </a:ext>
            </a:extLst>
          </p:cNvPr>
          <p:cNvSpPr txBox="1">
            <a:spLocks noChangeArrowheads="1"/>
          </p:cNvSpPr>
          <p:nvPr/>
        </p:nvSpPr>
        <p:spPr bwMode="auto">
          <a:xfrm>
            <a:off x="179388" y="115888"/>
            <a:ext cx="46265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The buck-boost converter (V</a:t>
            </a:r>
            <a:r>
              <a:rPr lang="en-GB" altLang="en-US" sz="1800" b="1" u="sng" baseline="-25000" dirty="0"/>
              <a:t>OUT</a:t>
            </a:r>
            <a:r>
              <a:rPr lang="en-GB" altLang="en-US" sz="1800" b="1" u="sng" dirty="0"/>
              <a:t> &lt;&gt; V</a:t>
            </a:r>
            <a:r>
              <a:rPr lang="en-GB" altLang="en-US" sz="1800" b="1" u="sng" baseline="-25000" dirty="0"/>
              <a:t>IN</a:t>
            </a:r>
            <a:r>
              <a:rPr lang="en-GB" altLang="en-US" sz="1800" b="1" u="sng" dirty="0"/>
              <a:t>).</a:t>
            </a:r>
            <a:endParaRPr lang="en-US" altLang="en-US" sz="1800" b="1" u="sng" dirty="0"/>
          </a:p>
        </p:txBody>
      </p:sp>
      <p:sp>
        <p:nvSpPr>
          <p:cNvPr id="35874" name="Text Box 50">
            <a:extLst>
              <a:ext uri="{FF2B5EF4-FFF2-40B4-BE49-F238E27FC236}">
                <a16:creationId xmlns:a16="http://schemas.microsoft.com/office/drawing/2014/main" id="{F66B82B1-8CA2-F346-8AF7-937FCD753308}"/>
              </a:ext>
            </a:extLst>
          </p:cNvPr>
          <p:cNvSpPr txBox="1">
            <a:spLocks noChangeArrowheads="1"/>
          </p:cNvSpPr>
          <p:nvPr/>
        </p:nvSpPr>
        <p:spPr bwMode="auto">
          <a:xfrm>
            <a:off x="240348" y="3379822"/>
            <a:ext cx="878522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The Buck-Boost converter is able to produce output voltages that are higher or lower than the input voltage. Once again, we will consider the continuous mode system. Note that the output is negative with respect to the 0V side of the input voltage.</a:t>
            </a:r>
            <a:endParaRPr lang="en-US" altLang="en-US" sz="1800" dirty="0"/>
          </a:p>
        </p:txBody>
      </p:sp>
      <p:grpSp>
        <p:nvGrpSpPr>
          <p:cNvPr id="3" name="Group 2">
            <a:extLst>
              <a:ext uri="{FF2B5EF4-FFF2-40B4-BE49-F238E27FC236}">
                <a16:creationId xmlns:a16="http://schemas.microsoft.com/office/drawing/2014/main" id="{AB7B421B-FEE3-0171-E8BB-FAC8CB0EF85C}"/>
              </a:ext>
            </a:extLst>
          </p:cNvPr>
          <p:cNvGrpSpPr/>
          <p:nvPr/>
        </p:nvGrpSpPr>
        <p:grpSpPr>
          <a:xfrm>
            <a:off x="2124075" y="5013325"/>
            <a:ext cx="4248150" cy="1295400"/>
            <a:chOff x="2124075" y="5013325"/>
            <a:chExt cx="4248150" cy="1295400"/>
          </a:xfrm>
        </p:grpSpPr>
        <p:sp>
          <p:nvSpPr>
            <p:cNvPr id="35875" name="Rectangle 51">
              <a:extLst>
                <a:ext uri="{FF2B5EF4-FFF2-40B4-BE49-F238E27FC236}">
                  <a16:creationId xmlns:a16="http://schemas.microsoft.com/office/drawing/2014/main" id="{AE9CB555-ED13-E543-82E9-06647F9EEA86}"/>
                </a:ext>
              </a:extLst>
            </p:cNvPr>
            <p:cNvSpPr>
              <a:spLocks noChangeArrowheads="1"/>
            </p:cNvSpPr>
            <p:nvPr/>
          </p:nvSpPr>
          <p:spPr bwMode="auto">
            <a:xfrm>
              <a:off x="2987675" y="5157788"/>
              <a:ext cx="2520950" cy="11509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Buck-boost</a:t>
              </a:r>
              <a:endParaRPr lang="en-US" altLang="en-US" sz="1800"/>
            </a:p>
          </p:txBody>
        </p:sp>
        <p:sp>
          <p:nvSpPr>
            <p:cNvPr id="35876" name="Line 52">
              <a:extLst>
                <a:ext uri="{FF2B5EF4-FFF2-40B4-BE49-F238E27FC236}">
                  <a16:creationId xmlns:a16="http://schemas.microsoft.com/office/drawing/2014/main" id="{4B76D343-797D-7541-B106-3DA3FF5E334E}"/>
                </a:ext>
              </a:extLst>
            </p:cNvPr>
            <p:cNvSpPr>
              <a:spLocks noChangeShapeType="1"/>
            </p:cNvSpPr>
            <p:nvPr/>
          </p:nvSpPr>
          <p:spPr bwMode="auto">
            <a:xfrm flipV="1">
              <a:off x="2987675" y="5157788"/>
              <a:ext cx="2520950" cy="115093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7" name="Line 53">
              <a:extLst>
                <a:ext uri="{FF2B5EF4-FFF2-40B4-BE49-F238E27FC236}">
                  <a16:creationId xmlns:a16="http://schemas.microsoft.com/office/drawing/2014/main" id="{6085703A-7009-5E4E-81C8-1C65E2FACE0A}"/>
                </a:ext>
              </a:extLst>
            </p:cNvPr>
            <p:cNvSpPr>
              <a:spLocks noChangeShapeType="1"/>
            </p:cNvSpPr>
            <p:nvPr/>
          </p:nvSpPr>
          <p:spPr bwMode="auto">
            <a:xfrm>
              <a:off x="2124075" y="5373688"/>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8" name="Line 54">
              <a:extLst>
                <a:ext uri="{FF2B5EF4-FFF2-40B4-BE49-F238E27FC236}">
                  <a16:creationId xmlns:a16="http://schemas.microsoft.com/office/drawing/2014/main" id="{38FB4478-608F-114D-AD37-A2022C01849D}"/>
                </a:ext>
              </a:extLst>
            </p:cNvPr>
            <p:cNvSpPr>
              <a:spLocks noChangeShapeType="1"/>
            </p:cNvSpPr>
            <p:nvPr/>
          </p:nvSpPr>
          <p:spPr bwMode="auto">
            <a:xfrm>
              <a:off x="2124075" y="6092825"/>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79" name="Line 55">
              <a:extLst>
                <a:ext uri="{FF2B5EF4-FFF2-40B4-BE49-F238E27FC236}">
                  <a16:creationId xmlns:a16="http://schemas.microsoft.com/office/drawing/2014/main" id="{85FAE720-3B4D-2C40-9260-D4304E9E9131}"/>
                </a:ext>
              </a:extLst>
            </p:cNvPr>
            <p:cNvSpPr>
              <a:spLocks noChangeShapeType="1"/>
            </p:cNvSpPr>
            <p:nvPr/>
          </p:nvSpPr>
          <p:spPr bwMode="auto">
            <a:xfrm>
              <a:off x="5508625" y="5373688"/>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0" name="Line 56">
              <a:extLst>
                <a:ext uri="{FF2B5EF4-FFF2-40B4-BE49-F238E27FC236}">
                  <a16:creationId xmlns:a16="http://schemas.microsoft.com/office/drawing/2014/main" id="{2D37E06A-81D3-3542-A154-D7177B035651}"/>
                </a:ext>
              </a:extLst>
            </p:cNvPr>
            <p:cNvSpPr>
              <a:spLocks noChangeShapeType="1"/>
            </p:cNvSpPr>
            <p:nvPr/>
          </p:nvSpPr>
          <p:spPr bwMode="auto">
            <a:xfrm>
              <a:off x="5508625" y="6092825"/>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81" name="Text Box 57">
              <a:extLst>
                <a:ext uri="{FF2B5EF4-FFF2-40B4-BE49-F238E27FC236}">
                  <a16:creationId xmlns:a16="http://schemas.microsoft.com/office/drawing/2014/main" id="{164E44A0-E2E9-AB41-B41D-8374F39A0258}"/>
                </a:ext>
              </a:extLst>
            </p:cNvPr>
            <p:cNvSpPr txBox="1">
              <a:spLocks noChangeArrowheads="1"/>
            </p:cNvSpPr>
            <p:nvPr/>
          </p:nvSpPr>
          <p:spPr bwMode="auto">
            <a:xfrm>
              <a:off x="2124075" y="5013325"/>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35882" name="Text Box 58">
              <a:extLst>
                <a:ext uri="{FF2B5EF4-FFF2-40B4-BE49-F238E27FC236}">
                  <a16:creationId xmlns:a16="http://schemas.microsoft.com/office/drawing/2014/main" id="{485EE9BB-E0B1-434E-92F3-4BC22A3DAC3E}"/>
                </a:ext>
              </a:extLst>
            </p:cNvPr>
            <p:cNvSpPr txBox="1">
              <a:spLocks noChangeArrowheads="1"/>
            </p:cNvSpPr>
            <p:nvPr/>
          </p:nvSpPr>
          <p:spPr bwMode="auto">
            <a:xfrm>
              <a:off x="5548313" y="5787434"/>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0V</a:t>
              </a:r>
              <a:endParaRPr lang="en-US" altLang="en-US" sz="1800" dirty="0"/>
            </a:p>
          </p:txBody>
        </p:sp>
        <p:sp>
          <p:nvSpPr>
            <p:cNvPr id="35883" name="Text Box 59">
              <a:extLst>
                <a:ext uri="{FF2B5EF4-FFF2-40B4-BE49-F238E27FC236}">
                  <a16:creationId xmlns:a16="http://schemas.microsoft.com/office/drawing/2014/main" id="{461096C2-F568-374B-B1A9-5BFF816B7ABC}"/>
                </a:ext>
              </a:extLst>
            </p:cNvPr>
            <p:cNvSpPr txBox="1">
              <a:spLocks noChangeArrowheads="1"/>
            </p:cNvSpPr>
            <p:nvPr/>
          </p:nvSpPr>
          <p:spPr bwMode="auto">
            <a:xfrm>
              <a:off x="2124075" y="5734050"/>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0V</a:t>
              </a:r>
              <a:endParaRPr lang="en-US" altLang="en-US" sz="1800"/>
            </a:p>
          </p:txBody>
        </p:sp>
        <p:sp>
          <p:nvSpPr>
            <p:cNvPr id="35884" name="Text Box 60">
              <a:extLst>
                <a:ext uri="{FF2B5EF4-FFF2-40B4-BE49-F238E27FC236}">
                  <a16:creationId xmlns:a16="http://schemas.microsoft.com/office/drawing/2014/main" id="{28C0CCAE-D326-E242-BD50-598F261CECA2}"/>
                </a:ext>
              </a:extLst>
            </p:cNvPr>
            <p:cNvSpPr txBox="1">
              <a:spLocks noChangeArrowheads="1"/>
            </p:cNvSpPr>
            <p:nvPr/>
          </p:nvSpPr>
          <p:spPr bwMode="auto">
            <a:xfrm>
              <a:off x="5551293" y="5023920"/>
              <a:ext cx="663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OUT</a:t>
              </a:r>
              <a:endParaRPr lang="en-US" altLang="en-US" sz="1800" baseline="-25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7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A8B5787B-B6D3-5D45-98AB-C1C4510BBAF6}"/>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E51C736-EAC9-D94A-8A46-F461B5A9DD6F}" type="slidenum">
              <a:rPr lang="en-US" altLang="en-US" sz="1400"/>
              <a:pPr>
                <a:spcBef>
                  <a:spcPct val="0"/>
                </a:spcBef>
                <a:buFontTx/>
                <a:buNone/>
              </a:pPr>
              <a:t>18</a:t>
            </a:fld>
            <a:endParaRPr lang="en-US" altLang="en-US" sz="1400"/>
          </a:p>
        </p:txBody>
      </p:sp>
      <p:sp>
        <p:nvSpPr>
          <p:cNvPr id="37923" name="Text Box 61">
            <a:extLst>
              <a:ext uri="{FF2B5EF4-FFF2-40B4-BE49-F238E27FC236}">
                <a16:creationId xmlns:a16="http://schemas.microsoft.com/office/drawing/2014/main" id="{68D3F50E-2925-BF42-9F99-69474FF92251}"/>
              </a:ext>
            </a:extLst>
          </p:cNvPr>
          <p:cNvSpPr txBox="1">
            <a:spLocks noChangeArrowheads="1"/>
          </p:cNvSpPr>
          <p:nvPr/>
        </p:nvSpPr>
        <p:spPr bwMode="auto">
          <a:xfrm>
            <a:off x="250825" y="2997200"/>
            <a:ext cx="8713788"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Before starting …</a:t>
            </a:r>
          </a:p>
          <a:p>
            <a:pPr eaLnBrk="1" hangingPunct="1">
              <a:spcBef>
                <a:spcPct val="0"/>
              </a:spcBef>
              <a:buFontTx/>
              <a:buNone/>
            </a:pPr>
            <a:r>
              <a:rPr lang="en-GB" altLang="en-US" sz="1800" dirty="0"/>
              <a:t>… Notice that when the switch is open there is no connection between the input to the supply and its output. Hence, we can conclude that the supply is capable of delivering 0V output regardless of the input voltage for a 0% duty cycle on the switch.</a:t>
            </a:r>
          </a:p>
          <a:p>
            <a:pPr eaLnBrk="1" hangingPunct="1">
              <a:spcBef>
                <a:spcPct val="50000"/>
              </a:spcBef>
              <a:buFontTx/>
              <a:buNone/>
            </a:pPr>
            <a:r>
              <a:rPr lang="en-GB" altLang="en-US" sz="1800" dirty="0"/>
              <a:t>With the switch closed, the input voltage is imposed across the inductor and the current through the inductor starts to rise. The diode is “off” since the cathode is more positive than the anode.</a:t>
            </a:r>
          </a:p>
          <a:p>
            <a:pPr eaLnBrk="1" hangingPunct="1">
              <a:spcBef>
                <a:spcPct val="50000"/>
              </a:spcBef>
              <a:buFontTx/>
              <a:buNone/>
            </a:pPr>
            <a:r>
              <a:rPr lang="en-GB" altLang="en-US" sz="1800" dirty="0"/>
              <a:t>Hence for the “on” period, V</a:t>
            </a:r>
            <a:r>
              <a:rPr lang="en-GB" altLang="en-US" sz="1800" baseline="-25000" dirty="0"/>
              <a:t>L</a:t>
            </a:r>
            <a:r>
              <a:rPr lang="en-GB" altLang="en-US" sz="1800" dirty="0"/>
              <a:t> = V</a:t>
            </a:r>
            <a:r>
              <a:rPr lang="en-GB" altLang="en-US" sz="1800" baseline="-25000" dirty="0"/>
              <a:t>IN</a:t>
            </a:r>
            <a:r>
              <a:rPr lang="en-GB" altLang="en-US" sz="1800" dirty="0"/>
              <a:t>.</a:t>
            </a:r>
          </a:p>
          <a:p>
            <a:pPr eaLnBrk="1" hangingPunct="1">
              <a:spcBef>
                <a:spcPct val="50000"/>
              </a:spcBef>
              <a:buFontTx/>
              <a:buNone/>
            </a:pPr>
            <a:r>
              <a:rPr lang="en-GB" altLang="en-US" sz="1800" i="1" dirty="0">
                <a:solidFill>
                  <a:srgbClr val="FF0000"/>
                </a:solidFill>
                <a:latin typeface="Times New Roman" panose="02020603050405020304" pitchFamily="18" charset="0"/>
              </a:rPr>
              <a:t>Note that with the diode reverse biased, the only route for the current to take that completes the circuit is back through the supply to the converter.</a:t>
            </a:r>
            <a:endParaRPr lang="en-US" altLang="en-US" sz="1800" i="1" dirty="0">
              <a:solidFill>
                <a:srgbClr val="FF0000"/>
              </a:solidFill>
              <a:latin typeface="Times New Roman" panose="02020603050405020304" pitchFamily="18" charset="0"/>
            </a:endParaRPr>
          </a:p>
        </p:txBody>
      </p:sp>
      <p:grpSp>
        <p:nvGrpSpPr>
          <p:cNvPr id="2" name="Group 1">
            <a:extLst>
              <a:ext uri="{FF2B5EF4-FFF2-40B4-BE49-F238E27FC236}">
                <a16:creationId xmlns:a16="http://schemas.microsoft.com/office/drawing/2014/main" id="{9797D8D6-3C0C-0BCA-F63E-6CE22396A804}"/>
              </a:ext>
            </a:extLst>
          </p:cNvPr>
          <p:cNvGrpSpPr/>
          <p:nvPr/>
        </p:nvGrpSpPr>
        <p:grpSpPr>
          <a:xfrm>
            <a:off x="322263" y="260350"/>
            <a:ext cx="7139376" cy="2303463"/>
            <a:chOff x="322263" y="260350"/>
            <a:chExt cx="7139376" cy="2303463"/>
          </a:xfrm>
        </p:grpSpPr>
        <p:sp>
          <p:nvSpPr>
            <p:cNvPr id="37891" name="Rectangle 4">
              <a:extLst>
                <a:ext uri="{FF2B5EF4-FFF2-40B4-BE49-F238E27FC236}">
                  <a16:creationId xmlns:a16="http://schemas.microsoft.com/office/drawing/2014/main" id="{14912DF4-5E95-6945-9706-8C7CB9747EE5}"/>
                </a:ext>
              </a:extLst>
            </p:cNvPr>
            <p:cNvSpPr>
              <a:spLocks noChangeArrowheads="1"/>
            </p:cNvSpPr>
            <p:nvPr/>
          </p:nvSpPr>
          <p:spPr bwMode="auto">
            <a:xfrm>
              <a:off x="322263" y="1628775"/>
              <a:ext cx="433387" cy="71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892" name="Rectangle 5">
              <a:extLst>
                <a:ext uri="{FF2B5EF4-FFF2-40B4-BE49-F238E27FC236}">
                  <a16:creationId xmlns:a16="http://schemas.microsoft.com/office/drawing/2014/main" id="{9F04A2D1-2435-CC4C-B17F-D749D79D6C4F}"/>
                </a:ext>
              </a:extLst>
            </p:cNvPr>
            <p:cNvSpPr>
              <a:spLocks noChangeArrowheads="1"/>
            </p:cNvSpPr>
            <p:nvPr/>
          </p:nvSpPr>
          <p:spPr bwMode="auto">
            <a:xfrm>
              <a:off x="395288" y="1771650"/>
              <a:ext cx="287337"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893" name="Line 6">
              <a:extLst>
                <a:ext uri="{FF2B5EF4-FFF2-40B4-BE49-F238E27FC236}">
                  <a16:creationId xmlns:a16="http://schemas.microsoft.com/office/drawing/2014/main" id="{24A80D18-5272-8142-BA52-9150FA766E5D}"/>
                </a:ext>
              </a:extLst>
            </p:cNvPr>
            <p:cNvSpPr>
              <a:spLocks noChangeShapeType="1"/>
            </p:cNvSpPr>
            <p:nvPr/>
          </p:nvSpPr>
          <p:spPr bwMode="auto">
            <a:xfrm flipV="1">
              <a:off x="539750" y="835025"/>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4" name="Line 7">
              <a:extLst>
                <a:ext uri="{FF2B5EF4-FFF2-40B4-BE49-F238E27FC236}">
                  <a16:creationId xmlns:a16="http://schemas.microsoft.com/office/drawing/2014/main" id="{2E30C7AF-961F-7044-88D1-70069E7DE76D}"/>
                </a:ext>
              </a:extLst>
            </p:cNvPr>
            <p:cNvSpPr>
              <a:spLocks noChangeShapeType="1"/>
            </p:cNvSpPr>
            <p:nvPr/>
          </p:nvSpPr>
          <p:spPr bwMode="auto">
            <a:xfrm flipV="1">
              <a:off x="539750" y="1844675"/>
              <a:ext cx="0" cy="646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5" name="Line 8">
              <a:extLst>
                <a:ext uri="{FF2B5EF4-FFF2-40B4-BE49-F238E27FC236}">
                  <a16:creationId xmlns:a16="http://schemas.microsoft.com/office/drawing/2014/main" id="{2543928F-4610-014D-911F-E4EAF2844E48}"/>
                </a:ext>
              </a:extLst>
            </p:cNvPr>
            <p:cNvSpPr>
              <a:spLocks noChangeShapeType="1"/>
            </p:cNvSpPr>
            <p:nvPr/>
          </p:nvSpPr>
          <p:spPr bwMode="auto">
            <a:xfrm flipV="1">
              <a:off x="827088" y="148272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6" name="Text Box 9">
              <a:extLst>
                <a:ext uri="{FF2B5EF4-FFF2-40B4-BE49-F238E27FC236}">
                  <a16:creationId xmlns:a16="http://schemas.microsoft.com/office/drawing/2014/main" id="{49E4E7FB-3D1E-054A-8DB2-267C893A397A}"/>
                </a:ext>
              </a:extLst>
            </p:cNvPr>
            <p:cNvSpPr txBox="1">
              <a:spLocks noChangeArrowheads="1"/>
            </p:cNvSpPr>
            <p:nvPr/>
          </p:nvSpPr>
          <p:spPr bwMode="auto">
            <a:xfrm>
              <a:off x="755650" y="1482725"/>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37897" name="Line 10">
              <a:extLst>
                <a:ext uri="{FF2B5EF4-FFF2-40B4-BE49-F238E27FC236}">
                  <a16:creationId xmlns:a16="http://schemas.microsoft.com/office/drawing/2014/main" id="{EC18685D-F83F-2E40-BA63-1B7A0F2D42ED}"/>
                </a:ext>
              </a:extLst>
            </p:cNvPr>
            <p:cNvSpPr>
              <a:spLocks noChangeShapeType="1"/>
            </p:cNvSpPr>
            <p:nvPr/>
          </p:nvSpPr>
          <p:spPr bwMode="auto">
            <a:xfrm>
              <a:off x="539750" y="835025"/>
              <a:ext cx="1368425" cy="1588"/>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7898" name="Group 11">
              <a:extLst>
                <a:ext uri="{FF2B5EF4-FFF2-40B4-BE49-F238E27FC236}">
                  <a16:creationId xmlns:a16="http://schemas.microsoft.com/office/drawing/2014/main" id="{388020AD-DF27-6542-9C74-714C1A5FD28E}"/>
                </a:ext>
              </a:extLst>
            </p:cNvPr>
            <p:cNvGrpSpPr>
              <a:grpSpLocks/>
            </p:cNvGrpSpPr>
            <p:nvPr/>
          </p:nvGrpSpPr>
          <p:grpSpPr bwMode="auto">
            <a:xfrm>
              <a:off x="3059113" y="836613"/>
              <a:ext cx="314325" cy="1655762"/>
              <a:chOff x="3211" y="2176"/>
              <a:chExt cx="198" cy="964"/>
            </a:xfrm>
          </p:grpSpPr>
          <p:sp>
            <p:nvSpPr>
              <p:cNvPr id="37930" name="Oval 12">
                <a:extLst>
                  <a:ext uri="{FF2B5EF4-FFF2-40B4-BE49-F238E27FC236}">
                    <a16:creationId xmlns:a16="http://schemas.microsoft.com/office/drawing/2014/main" id="{3027DCC1-460B-7740-AC83-B21E8E1CCBD2}"/>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1" name="Oval 13">
                <a:extLst>
                  <a:ext uri="{FF2B5EF4-FFF2-40B4-BE49-F238E27FC236}">
                    <a16:creationId xmlns:a16="http://schemas.microsoft.com/office/drawing/2014/main" id="{00309AE0-4567-1342-881F-A791191236EE}"/>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2" name="Oval 14">
                <a:extLst>
                  <a:ext uri="{FF2B5EF4-FFF2-40B4-BE49-F238E27FC236}">
                    <a16:creationId xmlns:a16="http://schemas.microsoft.com/office/drawing/2014/main" id="{BAE61FFD-3BC2-9A43-880C-AABA37758179}"/>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3" name="Oval 15">
                <a:extLst>
                  <a:ext uri="{FF2B5EF4-FFF2-40B4-BE49-F238E27FC236}">
                    <a16:creationId xmlns:a16="http://schemas.microsoft.com/office/drawing/2014/main" id="{01D43D82-3E87-2B45-897D-46D07AC1D5C9}"/>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4" name="Oval 16">
                <a:extLst>
                  <a:ext uri="{FF2B5EF4-FFF2-40B4-BE49-F238E27FC236}">
                    <a16:creationId xmlns:a16="http://schemas.microsoft.com/office/drawing/2014/main" id="{C20BF138-E827-214A-AA44-1D560834B54F}"/>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5" name="Oval 17">
                <a:extLst>
                  <a:ext uri="{FF2B5EF4-FFF2-40B4-BE49-F238E27FC236}">
                    <a16:creationId xmlns:a16="http://schemas.microsoft.com/office/drawing/2014/main" id="{15472D1B-D125-CD4E-BCA7-63093817E0FE}"/>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6" name="Rectangle 18">
                <a:extLst>
                  <a:ext uri="{FF2B5EF4-FFF2-40B4-BE49-F238E27FC236}">
                    <a16:creationId xmlns:a16="http://schemas.microsoft.com/office/drawing/2014/main" id="{29F12615-26DD-9542-8769-77DBCF1E7D94}"/>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37" name="Line 19">
                <a:extLst>
                  <a:ext uri="{FF2B5EF4-FFF2-40B4-BE49-F238E27FC236}">
                    <a16:creationId xmlns:a16="http://schemas.microsoft.com/office/drawing/2014/main" id="{19E9980C-2B1D-2741-BCCA-FC33C1C68107}"/>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38" name="Line 20">
                <a:extLst>
                  <a:ext uri="{FF2B5EF4-FFF2-40B4-BE49-F238E27FC236}">
                    <a16:creationId xmlns:a16="http://schemas.microsoft.com/office/drawing/2014/main" id="{8A6E6B12-379C-304C-AEDF-8FC76B2BC9B5}"/>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899" name="Line 21">
              <a:extLst>
                <a:ext uri="{FF2B5EF4-FFF2-40B4-BE49-F238E27FC236}">
                  <a16:creationId xmlns:a16="http://schemas.microsoft.com/office/drawing/2014/main" id="{134082C3-4657-2B4F-AE3E-5BD1AD37B7F4}"/>
                </a:ext>
              </a:extLst>
            </p:cNvPr>
            <p:cNvSpPr>
              <a:spLocks noChangeShapeType="1"/>
            </p:cNvSpPr>
            <p:nvPr/>
          </p:nvSpPr>
          <p:spPr bwMode="auto">
            <a:xfrm flipH="1">
              <a:off x="2268538" y="835025"/>
              <a:ext cx="2087562" cy="1588"/>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0" name="Line 22">
              <a:extLst>
                <a:ext uri="{FF2B5EF4-FFF2-40B4-BE49-F238E27FC236}">
                  <a16:creationId xmlns:a16="http://schemas.microsoft.com/office/drawing/2014/main" id="{495CB39B-B531-034C-8EBC-ACFD3257CE99}"/>
                </a:ext>
              </a:extLst>
            </p:cNvPr>
            <p:cNvSpPr>
              <a:spLocks noChangeShapeType="1"/>
            </p:cNvSpPr>
            <p:nvPr/>
          </p:nvSpPr>
          <p:spPr bwMode="auto">
            <a:xfrm flipV="1">
              <a:off x="1908175" y="836613"/>
              <a:ext cx="360363"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7901" name="Group 23">
              <a:extLst>
                <a:ext uri="{FF2B5EF4-FFF2-40B4-BE49-F238E27FC236}">
                  <a16:creationId xmlns:a16="http://schemas.microsoft.com/office/drawing/2014/main" id="{F5DB25B7-68CE-EA49-82AF-A4B41F2DAC9D}"/>
                </a:ext>
              </a:extLst>
            </p:cNvPr>
            <p:cNvGrpSpPr>
              <a:grpSpLocks/>
            </p:cNvGrpSpPr>
            <p:nvPr/>
          </p:nvGrpSpPr>
          <p:grpSpPr bwMode="auto">
            <a:xfrm rot="10800000">
              <a:off x="4356100" y="692150"/>
              <a:ext cx="215900" cy="287338"/>
              <a:chOff x="1973" y="2160"/>
              <a:chExt cx="136" cy="181"/>
            </a:xfrm>
          </p:grpSpPr>
          <p:sp>
            <p:nvSpPr>
              <p:cNvPr id="37926" name="Line 24">
                <a:extLst>
                  <a:ext uri="{FF2B5EF4-FFF2-40B4-BE49-F238E27FC236}">
                    <a16:creationId xmlns:a16="http://schemas.microsoft.com/office/drawing/2014/main" id="{E134D4F6-F305-A944-8C6C-18BCE25CE834}"/>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7" name="Line 25">
                <a:extLst>
                  <a:ext uri="{FF2B5EF4-FFF2-40B4-BE49-F238E27FC236}">
                    <a16:creationId xmlns:a16="http://schemas.microsoft.com/office/drawing/2014/main" id="{6C5D3ABA-E599-864B-864B-DC60CCA03D48}"/>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8" name="Line 26">
                <a:extLst>
                  <a:ext uri="{FF2B5EF4-FFF2-40B4-BE49-F238E27FC236}">
                    <a16:creationId xmlns:a16="http://schemas.microsoft.com/office/drawing/2014/main" id="{3C231C9D-49DF-5140-BD5E-999923A56D8E}"/>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9" name="Line 27">
                <a:extLst>
                  <a:ext uri="{FF2B5EF4-FFF2-40B4-BE49-F238E27FC236}">
                    <a16:creationId xmlns:a16="http://schemas.microsoft.com/office/drawing/2014/main" id="{9B7F114E-00A8-0A49-9634-F96F3F072709}"/>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02" name="Rectangle 28">
              <a:extLst>
                <a:ext uri="{FF2B5EF4-FFF2-40B4-BE49-F238E27FC236}">
                  <a16:creationId xmlns:a16="http://schemas.microsoft.com/office/drawing/2014/main" id="{FEF5DD0A-1850-984C-A191-F96D7D7119B4}"/>
                </a:ext>
              </a:extLst>
            </p:cNvPr>
            <p:cNvSpPr>
              <a:spLocks noChangeArrowheads="1"/>
            </p:cNvSpPr>
            <p:nvPr/>
          </p:nvSpPr>
          <p:spPr bwMode="auto">
            <a:xfrm>
              <a:off x="5219700" y="1411288"/>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03" name="Rectangle 29">
              <a:extLst>
                <a:ext uri="{FF2B5EF4-FFF2-40B4-BE49-F238E27FC236}">
                  <a16:creationId xmlns:a16="http://schemas.microsoft.com/office/drawing/2014/main" id="{35783F6C-3DF4-A843-8744-44F395F2E923}"/>
                </a:ext>
              </a:extLst>
            </p:cNvPr>
            <p:cNvSpPr>
              <a:spLocks noChangeArrowheads="1"/>
            </p:cNvSpPr>
            <p:nvPr/>
          </p:nvSpPr>
          <p:spPr bwMode="auto">
            <a:xfrm>
              <a:off x="5219700" y="1555750"/>
              <a:ext cx="431800" cy="714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04" name="Line 30">
              <a:extLst>
                <a:ext uri="{FF2B5EF4-FFF2-40B4-BE49-F238E27FC236}">
                  <a16:creationId xmlns:a16="http://schemas.microsoft.com/office/drawing/2014/main" id="{0E43697F-8E1F-8240-A3C4-E7646EA0D141}"/>
                </a:ext>
              </a:extLst>
            </p:cNvPr>
            <p:cNvSpPr>
              <a:spLocks noChangeShapeType="1"/>
            </p:cNvSpPr>
            <p:nvPr/>
          </p:nvSpPr>
          <p:spPr bwMode="auto">
            <a:xfrm flipV="1">
              <a:off x="5435600" y="1627188"/>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5" name="Line 31">
              <a:extLst>
                <a:ext uri="{FF2B5EF4-FFF2-40B4-BE49-F238E27FC236}">
                  <a16:creationId xmlns:a16="http://schemas.microsoft.com/office/drawing/2014/main" id="{ED5D0534-F96A-B343-B213-C6AFC1E7AD11}"/>
                </a:ext>
              </a:extLst>
            </p:cNvPr>
            <p:cNvSpPr>
              <a:spLocks noChangeShapeType="1"/>
            </p:cNvSpPr>
            <p:nvPr/>
          </p:nvSpPr>
          <p:spPr bwMode="auto">
            <a:xfrm>
              <a:off x="5435600" y="83502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6" name="Line 32">
              <a:extLst>
                <a:ext uri="{FF2B5EF4-FFF2-40B4-BE49-F238E27FC236}">
                  <a16:creationId xmlns:a16="http://schemas.microsoft.com/office/drawing/2014/main" id="{B7474046-259D-5943-9E1E-50664503E2A8}"/>
                </a:ext>
              </a:extLst>
            </p:cNvPr>
            <p:cNvSpPr>
              <a:spLocks noChangeShapeType="1"/>
            </p:cNvSpPr>
            <p:nvPr/>
          </p:nvSpPr>
          <p:spPr bwMode="auto">
            <a:xfrm>
              <a:off x="4572000" y="835025"/>
              <a:ext cx="1439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7" name="Oval 33">
              <a:extLst>
                <a:ext uri="{FF2B5EF4-FFF2-40B4-BE49-F238E27FC236}">
                  <a16:creationId xmlns:a16="http://schemas.microsoft.com/office/drawing/2014/main" id="{DA29734B-6CE3-7D4B-8254-300652EABC61}"/>
                </a:ext>
              </a:extLst>
            </p:cNvPr>
            <p:cNvSpPr>
              <a:spLocks noChangeArrowheads="1"/>
            </p:cNvSpPr>
            <p:nvPr/>
          </p:nvSpPr>
          <p:spPr bwMode="auto">
            <a:xfrm>
              <a:off x="6011863" y="2420938"/>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08" name="Oval 34">
              <a:extLst>
                <a:ext uri="{FF2B5EF4-FFF2-40B4-BE49-F238E27FC236}">
                  <a16:creationId xmlns:a16="http://schemas.microsoft.com/office/drawing/2014/main" id="{75D05175-FDD9-AA47-9220-49BCC86439FF}"/>
                </a:ext>
              </a:extLst>
            </p:cNvPr>
            <p:cNvSpPr>
              <a:spLocks noChangeArrowheads="1"/>
            </p:cNvSpPr>
            <p:nvPr/>
          </p:nvSpPr>
          <p:spPr bwMode="auto">
            <a:xfrm>
              <a:off x="6011863" y="763588"/>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09" name="Line 35">
              <a:extLst>
                <a:ext uri="{FF2B5EF4-FFF2-40B4-BE49-F238E27FC236}">
                  <a16:creationId xmlns:a16="http://schemas.microsoft.com/office/drawing/2014/main" id="{B87D1B23-19F3-4045-8B9B-CCDB9EA81684}"/>
                </a:ext>
              </a:extLst>
            </p:cNvPr>
            <p:cNvSpPr>
              <a:spLocks noChangeShapeType="1"/>
            </p:cNvSpPr>
            <p:nvPr/>
          </p:nvSpPr>
          <p:spPr bwMode="auto">
            <a:xfrm>
              <a:off x="539750" y="2490788"/>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0" name="Rectangle 36">
              <a:extLst>
                <a:ext uri="{FF2B5EF4-FFF2-40B4-BE49-F238E27FC236}">
                  <a16:creationId xmlns:a16="http://schemas.microsoft.com/office/drawing/2014/main" id="{BFC03F97-AC37-1443-9508-D1B642949A75}"/>
                </a:ext>
              </a:extLst>
            </p:cNvPr>
            <p:cNvSpPr>
              <a:spLocks noChangeArrowheads="1"/>
            </p:cNvSpPr>
            <p:nvPr/>
          </p:nvSpPr>
          <p:spPr bwMode="auto">
            <a:xfrm>
              <a:off x="1619250" y="1196975"/>
              <a:ext cx="914400" cy="3603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37911" name="Line 37">
              <a:extLst>
                <a:ext uri="{FF2B5EF4-FFF2-40B4-BE49-F238E27FC236}">
                  <a16:creationId xmlns:a16="http://schemas.microsoft.com/office/drawing/2014/main" id="{2CC41C37-97F7-3743-AAE0-27C4F036925D}"/>
                </a:ext>
              </a:extLst>
            </p:cNvPr>
            <p:cNvSpPr>
              <a:spLocks noChangeShapeType="1"/>
            </p:cNvSpPr>
            <p:nvPr/>
          </p:nvSpPr>
          <p:spPr bwMode="auto">
            <a:xfrm flipV="1">
              <a:off x="2051050" y="908050"/>
              <a:ext cx="0"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2" name="Freeform 38">
              <a:extLst>
                <a:ext uri="{FF2B5EF4-FFF2-40B4-BE49-F238E27FC236}">
                  <a16:creationId xmlns:a16="http://schemas.microsoft.com/office/drawing/2014/main" id="{A3A4203D-E55C-EB4C-BCB4-CC18DCC138ED}"/>
                </a:ext>
              </a:extLst>
            </p:cNvPr>
            <p:cNvSpPr>
              <a:spLocks/>
            </p:cNvSpPr>
            <p:nvPr/>
          </p:nvSpPr>
          <p:spPr bwMode="auto">
            <a:xfrm>
              <a:off x="6156325" y="835025"/>
              <a:ext cx="431800" cy="1655763"/>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3" name="Rectangle 39">
              <a:extLst>
                <a:ext uri="{FF2B5EF4-FFF2-40B4-BE49-F238E27FC236}">
                  <a16:creationId xmlns:a16="http://schemas.microsoft.com/office/drawing/2014/main" id="{637AE586-2168-B24A-A1CC-3E4730DC01A9}"/>
                </a:ext>
              </a:extLst>
            </p:cNvPr>
            <p:cNvSpPr>
              <a:spLocks noChangeArrowheads="1"/>
            </p:cNvSpPr>
            <p:nvPr/>
          </p:nvSpPr>
          <p:spPr bwMode="auto">
            <a:xfrm>
              <a:off x="6515100" y="1195388"/>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7914" name="Text Box 40">
              <a:extLst>
                <a:ext uri="{FF2B5EF4-FFF2-40B4-BE49-F238E27FC236}">
                  <a16:creationId xmlns:a16="http://schemas.microsoft.com/office/drawing/2014/main" id="{71E3DD6F-9EE5-2F44-A9D9-C5515D337BF8}"/>
                </a:ext>
              </a:extLst>
            </p:cNvPr>
            <p:cNvSpPr txBox="1">
              <a:spLocks noChangeArrowheads="1"/>
            </p:cNvSpPr>
            <p:nvPr/>
          </p:nvSpPr>
          <p:spPr bwMode="auto">
            <a:xfrm>
              <a:off x="1619250" y="260350"/>
              <a:ext cx="85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37915" name="Text Box 41">
              <a:extLst>
                <a:ext uri="{FF2B5EF4-FFF2-40B4-BE49-F238E27FC236}">
                  <a16:creationId xmlns:a16="http://schemas.microsoft.com/office/drawing/2014/main" id="{67828ACB-7F01-1A46-80C5-88A2F6A00A0A}"/>
                </a:ext>
              </a:extLst>
            </p:cNvPr>
            <p:cNvSpPr txBox="1">
              <a:spLocks noChangeArrowheads="1"/>
            </p:cNvSpPr>
            <p:nvPr/>
          </p:nvSpPr>
          <p:spPr bwMode="auto">
            <a:xfrm>
              <a:off x="4283075" y="1050925"/>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37916" name="Text Box 42">
              <a:extLst>
                <a:ext uri="{FF2B5EF4-FFF2-40B4-BE49-F238E27FC236}">
                  <a16:creationId xmlns:a16="http://schemas.microsoft.com/office/drawing/2014/main" id="{304DD716-99AC-B340-BCD2-40FAAA43D359}"/>
                </a:ext>
              </a:extLst>
            </p:cNvPr>
            <p:cNvSpPr txBox="1">
              <a:spLocks noChangeArrowheads="1"/>
            </p:cNvSpPr>
            <p:nvPr/>
          </p:nvSpPr>
          <p:spPr bwMode="auto">
            <a:xfrm>
              <a:off x="5075238" y="16271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37917" name="Text Box 43">
              <a:extLst>
                <a:ext uri="{FF2B5EF4-FFF2-40B4-BE49-F238E27FC236}">
                  <a16:creationId xmlns:a16="http://schemas.microsoft.com/office/drawing/2014/main" id="{A67BBE64-8617-CE40-80C3-5D6D7195A3DE}"/>
                </a:ext>
              </a:extLst>
            </p:cNvPr>
            <p:cNvSpPr txBox="1">
              <a:spLocks noChangeArrowheads="1"/>
            </p:cNvSpPr>
            <p:nvPr/>
          </p:nvSpPr>
          <p:spPr bwMode="auto">
            <a:xfrm>
              <a:off x="6083300" y="1411288"/>
              <a:ext cx="433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37918" name="Text Box 44">
              <a:extLst>
                <a:ext uri="{FF2B5EF4-FFF2-40B4-BE49-F238E27FC236}">
                  <a16:creationId xmlns:a16="http://schemas.microsoft.com/office/drawing/2014/main" id="{E01A5722-FAFD-0B40-8C37-84ED9DC70233}"/>
                </a:ext>
              </a:extLst>
            </p:cNvPr>
            <p:cNvSpPr txBox="1">
              <a:spLocks noChangeArrowheads="1"/>
            </p:cNvSpPr>
            <p:nvPr/>
          </p:nvSpPr>
          <p:spPr bwMode="auto">
            <a:xfrm>
              <a:off x="6797675" y="1482725"/>
              <a:ext cx="663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OUT</a:t>
              </a:r>
              <a:endParaRPr lang="en-US" altLang="en-US" sz="1800" baseline="-25000" dirty="0"/>
            </a:p>
          </p:txBody>
        </p:sp>
        <p:sp>
          <p:nvSpPr>
            <p:cNvPr id="37919" name="Line 45">
              <a:extLst>
                <a:ext uri="{FF2B5EF4-FFF2-40B4-BE49-F238E27FC236}">
                  <a16:creationId xmlns:a16="http://schemas.microsoft.com/office/drawing/2014/main" id="{F03F03CD-0A3A-5544-9FF6-475C7E917857}"/>
                </a:ext>
              </a:extLst>
            </p:cNvPr>
            <p:cNvSpPr>
              <a:spLocks noChangeShapeType="1"/>
            </p:cNvSpPr>
            <p:nvPr/>
          </p:nvSpPr>
          <p:spPr bwMode="auto">
            <a:xfrm>
              <a:off x="6804025" y="816071"/>
              <a:ext cx="9524" cy="1533429"/>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0" name="Line 57">
              <a:extLst>
                <a:ext uri="{FF2B5EF4-FFF2-40B4-BE49-F238E27FC236}">
                  <a16:creationId xmlns:a16="http://schemas.microsoft.com/office/drawing/2014/main" id="{56D505FF-D213-F14E-8F1A-8F7CF0D7B813}"/>
                </a:ext>
              </a:extLst>
            </p:cNvPr>
            <p:cNvSpPr>
              <a:spLocks noChangeShapeType="1"/>
            </p:cNvSpPr>
            <p:nvPr/>
          </p:nvSpPr>
          <p:spPr bwMode="auto">
            <a:xfrm>
              <a:off x="3492500" y="1116394"/>
              <a:ext cx="0" cy="1008062"/>
            </a:xfrm>
            <a:prstGeom prst="line">
              <a:avLst/>
            </a:prstGeom>
            <a:noFill/>
            <a:ln w="25400">
              <a:solidFill>
                <a:srgbClr val="3366FF"/>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21" name="Text Box 58">
              <a:extLst>
                <a:ext uri="{FF2B5EF4-FFF2-40B4-BE49-F238E27FC236}">
                  <a16:creationId xmlns:a16="http://schemas.microsoft.com/office/drawing/2014/main" id="{27D01BF9-77CA-1346-B253-CFE15B71C1C1}"/>
                </a:ext>
              </a:extLst>
            </p:cNvPr>
            <p:cNvSpPr txBox="1">
              <a:spLocks noChangeArrowheads="1"/>
            </p:cNvSpPr>
            <p:nvPr/>
          </p:nvSpPr>
          <p:spPr bwMode="auto">
            <a:xfrm>
              <a:off x="3563938" y="1412875"/>
              <a:ext cx="4206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37922" name="Text Box 60">
              <a:extLst>
                <a:ext uri="{FF2B5EF4-FFF2-40B4-BE49-F238E27FC236}">
                  <a16:creationId xmlns:a16="http://schemas.microsoft.com/office/drawing/2014/main" id="{CBABD7BA-D2AE-A94F-84F9-E54B72A8CAE4}"/>
                </a:ext>
              </a:extLst>
            </p:cNvPr>
            <p:cNvSpPr txBox="1">
              <a:spLocks noChangeArrowheads="1"/>
            </p:cNvSpPr>
            <p:nvPr/>
          </p:nvSpPr>
          <p:spPr bwMode="auto">
            <a:xfrm>
              <a:off x="2051050" y="1844675"/>
              <a:ext cx="946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0000"/>
                  </a:solidFill>
                </a:rPr>
                <a:t>Current</a:t>
              </a:r>
              <a:endParaRPr lang="en-US" altLang="en-US" sz="1800">
                <a:solidFill>
                  <a:srgbClr val="FF0000"/>
                </a:solidFill>
              </a:endParaRPr>
            </a:p>
          </p:txBody>
        </p:sp>
        <p:sp>
          <p:nvSpPr>
            <p:cNvPr id="37924" name="Freeform 62">
              <a:extLst>
                <a:ext uri="{FF2B5EF4-FFF2-40B4-BE49-F238E27FC236}">
                  <a16:creationId xmlns:a16="http://schemas.microsoft.com/office/drawing/2014/main" id="{3A9DFF99-A9ED-B546-83E4-ACF72A74264E}"/>
                </a:ext>
              </a:extLst>
            </p:cNvPr>
            <p:cNvSpPr>
              <a:spLocks/>
            </p:cNvSpPr>
            <p:nvPr/>
          </p:nvSpPr>
          <p:spPr bwMode="auto">
            <a:xfrm>
              <a:off x="611188" y="1125538"/>
              <a:ext cx="2520950" cy="1223962"/>
            </a:xfrm>
            <a:custGeom>
              <a:avLst/>
              <a:gdLst>
                <a:gd name="T0" fmla="*/ 2147483646 w 1588"/>
                <a:gd name="T1" fmla="*/ 0 h 771"/>
                <a:gd name="T2" fmla="*/ 2147483646 w 1588"/>
                <a:gd name="T3" fmla="*/ 2147483646 h 771"/>
                <a:gd name="T4" fmla="*/ 0 w 1588"/>
                <a:gd name="T5" fmla="*/ 2147483646 h 771"/>
                <a:gd name="T6" fmla="*/ 0 60000 65536"/>
                <a:gd name="T7" fmla="*/ 0 60000 65536"/>
                <a:gd name="T8" fmla="*/ 0 60000 65536"/>
              </a:gdLst>
              <a:ahLst/>
              <a:cxnLst>
                <a:cxn ang="T6">
                  <a:pos x="T0" y="T1"/>
                </a:cxn>
                <a:cxn ang="T7">
                  <a:pos x="T2" y="T3"/>
                </a:cxn>
                <a:cxn ang="T8">
                  <a:pos x="T4" y="T5"/>
                </a:cxn>
              </a:cxnLst>
              <a:rect l="0" t="0" r="r" b="b"/>
              <a:pathLst>
                <a:path w="1588" h="771">
                  <a:moveTo>
                    <a:pt x="1588" y="0"/>
                  </a:moveTo>
                  <a:lnTo>
                    <a:pt x="1588" y="771"/>
                  </a:lnTo>
                  <a:lnTo>
                    <a:pt x="0" y="771"/>
                  </a:lnTo>
                </a:path>
              </a:pathLst>
            </a:custGeom>
            <a:noFill/>
            <a:ln w="25400">
              <a:solidFill>
                <a:srgbClr val="FF0000"/>
              </a:solidFill>
              <a:round/>
              <a:headEn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25" name="TextBox 1">
            <a:extLst>
              <a:ext uri="{FF2B5EF4-FFF2-40B4-BE49-F238E27FC236}">
                <a16:creationId xmlns:a16="http://schemas.microsoft.com/office/drawing/2014/main" id="{A19732BE-6107-8543-852E-C352B487826D}"/>
              </a:ext>
            </a:extLst>
          </p:cNvPr>
          <p:cNvSpPr txBox="1">
            <a:spLocks noChangeArrowheads="1"/>
          </p:cNvSpPr>
          <p:nvPr/>
        </p:nvSpPr>
        <p:spPr bwMode="auto">
          <a:xfrm>
            <a:off x="7088188" y="835025"/>
            <a:ext cx="177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2800" b="1">
                <a:solidFill>
                  <a:srgbClr val="0000FF"/>
                </a:solidFill>
              </a:rPr>
              <a:t>Charging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36484087-4C54-844B-90DF-F9D4942EB58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918FFC9-D499-1C4B-AC89-3D69DE75C0D0}" type="slidenum">
              <a:rPr lang="en-US" altLang="en-US" sz="1400"/>
              <a:pPr>
                <a:spcBef>
                  <a:spcPct val="0"/>
                </a:spcBef>
                <a:buFontTx/>
                <a:buNone/>
              </a:pPr>
              <a:t>19</a:t>
            </a:fld>
            <a:endParaRPr lang="en-US" altLang="en-US" sz="1400"/>
          </a:p>
        </p:txBody>
      </p:sp>
      <p:sp>
        <p:nvSpPr>
          <p:cNvPr id="38915" name="Text Box 50">
            <a:extLst>
              <a:ext uri="{FF2B5EF4-FFF2-40B4-BE49-F238E27FC236}">
                <a16:creationId xmlns:a16="http://schemas.microsoft.com/office/drawing/2014/main" id="{B0693F96-4483-1C48-8336-992111D716C6}"/>
              </a:ext>
            </a:extLst>
          </p:cNvPr>
          <p:cNvSpPr txBox="1">
            <a:spLocks noChangeArrowheads="1"/>
          </p:cNvSpPr>
          <p:nvPr/>
        </p:nvSpPr>
        <p:spPr bwMode="auto">
          <a:xfrm>
            <a:off x="323850" y="3068638"/>
            <a:ext cx="82089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When the switch is opened the voltage on the inductor reverses polarity, the diode starts to conduct and hence the inductor current flows into the capacitor.</a:t>
            </a:r>
          </a:p>
        </p:txBody>
      </p:sp>
      <p:grpSp>
        <p:nvGrpSpPr>
          <p:cNvPr id="38916" name="Group 1">
            <a:extLst>
              <a:ext uri="{FF2B5EF4-FFF2-40B4-BE49-F238E27FC236}">
                <a16:creationId xmlns:a16="http://schemas.microsoft.com/office/drawing/2014/main" id="{0662BB03-96C2-9042-B304-88CCEF2FA553}"/>
              </a:ext>
            </a:extLst>
          </p:cNvPr>
          <p:cNvGrpSpPr>
            <a:grpSpLocks/>
          </p:cNvGrpSpPr>
          <p:nvPr/>
        </p:nvGrpSpPr>
        <p:grpSpPr bwMode="auto">
          <a:xfrm>
            <a:off x="201613" y="262029"/>
            <a:ext cx="7139376" cy="2303462"/>
            <a:chOff x="322263" y="260350"/>
            <a:chExt cx="7139376" cy="2303463"/>
          </a:xfrm>
        </p:grpSpPr>
        <p:sp>
          <p:nvSpPr>
            <p:cNvPr id="38918" name="Rectangle 4">
              <a:extLst>
                <a:ext uri="{FF2B5EF4-FFF2-40B4-BE49-F238E27FC236}">
                  <a16:creationId xmlns:a16="http://schemas.microsoft.com/office/drawing/2014/main" id="{6C045468-8D56-534C-BF95-959ABB8FBF56}"/>
                </a:ext>
              </a:extLst>
            </p:cNvPr>
            <p:cNvSpPr>
              <a:spLocks noChangeArrowheads="1"/>
            </p:cNvSpPr>
            <p:nvPr/>
          </p:nvSpPr>
          <p:spPr bwMode="auto">
            <a:xfrm>
              <a:off x="322263" y="1628775"/>
              <a:ext cx="433387" cy="71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19" name="Rectangle 5">
              <a:extLst>
                <a:ext uri="{FF2B5EF4-FFF2-40B4-BE49-F238E27FC236}">
                  <a16:creationId xmlns:a16="http://schemas.microsoft.com/office/drawing/2014/main" id="{1C09400A-7C96-1A4D-B17A-85BDA2F87E9C}"/>
                </a:ext>
              </a:extLst>
            </p:cNvPr>
            <p:cNvSpPr>
              <a:spLocks noChangeArrowheads="1"/>
            </p:cNvSpPr>
            <p:nvPr/>
          </p:nvSpPr>
          <p:spPr bwMode="auto">
            <a:xfrm>
              <a:off x="395288" y="1771650"/>
              <a:ext cx="287337" cy="73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20" name="Line 6">
              <a:extLst>
                <a:ext uri="{FF2B5EF4-FFF2-40B4-BE49-F238E27FC236}">
                  <a16:creationId xmlns:a16="http://schemas.microsoft.com/office/drawing/2014/main" id="{C22819FD-11A3-634A-868D-72FCD85D8840}"/>
                </a:ext>
              </a:extLst>
            </p:cNvPr>
            <p:cNvSpPr>
              <a:spLocks noChangeShapeType="1"/>
            </p:cNvSpPr>
            <p:nvPr/>
          </p:nvSpPr>
          <p:spPr bwMode="auto">
            <a:xfrm flipV="1">
              <a:off x="539750" y="835025"/>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1" name="Line 7">
              <a:extLst>
                <a:ext uri="{FF2B5EF4-FFF2-40B4-BE49-F238E27FC236}">
                  <a16:creationId xmlns:a16="http://schemas.microsoft.com/office/drawing/2014/main" id="{E94850EA-8C1A-9940-90F8-06EA61E20919}"/>
                </a:ext>
              </a:extLst>
            </p:cNvPr>
            <p:cNvSpPr>
              <a:spLocks noChangeShapeType="1"/>
            </p:cNvSpPr>
            <p:nvPr/>
          </p:nvSpPr>
          <p:spPr bwMode="auto">
            <a:xfrm flipV="1">
              <a:off x="539750" y="1844675"/>
              <a:ext cx="0" cy="646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2" name="Line 8">
              <a:extLst>
                <a:ext uri="{FF2B5EF4-FFF2-40B4-BE49-F238E27FC236}">
                  <a16:creationId xmlns:a16="http://schemas.microsoft.com/office/drawing/2014/main" id="{71A9B755-D710-D342-9D68-8D0683218636}"/>
                </a:ext>
              </a:extLst>
            </p:cNvPr>
            <p:cNvSpPr>
              <a:spLocks noChangeShapeType="1"/>
            </p:cNvSpPr>
            <p:nvPr/>
          </p:nvSpPr>
          <p:spPr bwMode="auto">
            <a:xfrm flipV="1">
              <a:off x="827088" y="148272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3" name="Text Box 9">
              <a:extLst>
                <a:ext uri="{FF2B5EF4-FFF2-40B4-BE49-F238E27FC236}">
                  <a16:creationId xmlns:a16="http://schemas.microsoft.com/office/drawing/2014/main" id="{3BF3ECCD-0050-4B47-97B3-326CC5E9DDA2}"/>
                </a:ext>
              </a:extLst>
            </p:cNvPr>
            <p:cNvSpPr txBox="1">
              <a:spLocks noChangeArrowheads="1"/>
            </p:cNvSpPr>
            <p:nvPr/>
          </p:nvSpPr>
          <p:spPr bwMode="auto">
            <a:xfrm>
              <a:off x="755650" y="1482725"/>
              <a:ext cx="48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V</a:t>
              </a:r>
              <a:r>
                <a:rPr lang="en-GB" altLang="en-US" sz="1800" baseline="-25000"/>
                <a:t>IN</a:t>
              </a:r>
              <a:endParaRPr lang="en-US" altLang="en-US" sz="1800" baseline="-25000"/>
            </a:p>
          </p:txBody>
        </p:sp>
        <p:sp>
          <p:nvSpPr>
            <p:cNvPr id="38924" name="Line 10">
              <a:extLst>
                <a:ext uri="{FF2B5EF4-FFF2-40B4-BE49-F238E27FC236}">
                  <a16:creationId xmlns:a16="http://schemas.microsoft.com/office/drawing/2014/main" id="{A126FA51-5814-FA46-94ED-59179233CA2A}"/>
                </a:ext>
              </a:extLst>
            </p:cNvPr>
            <p:cNvSpPr>
              <a:spLocks noChangeShapeType="1"/>
            </p:cNvSpPr>
            <p:nvPr/>
          </p:nvSpPr>
          <p:spPr bwMode="auto">
            <a:xfrm>
              <a:off x="539750" y="835025"/>
              <a:ext cx="1368425" cy="1588"/>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8925" name="Group 11">
              <a:extLst>
                <a:ext uri="{FF2B5EF4-FFF2-40B4-BE49-F238E27FC236}">
                  <a16:creationId xmlns:a16="http://schemas.microsoft.com/office/drawing/2014/main" id="{09409F82-7B7E-AA43-89CD-970D195E576A}"/>
                </a:ext>
              </a:extLst>
            </p:cNvPr>
            <p:cNvGrpSpPr>
              <a:grpSpLocks/>
            </p:cNvGrpSpPr>
            <p:nvPr/>
          </p:nvGrpSpPr>
          <p:grpSpPr bwMode="auto">
            <a:xfrm>
              <a:off x="3059113" y="836613"/>
              <a:ext cx="314325" cy="1655762"/>
              <a:chOff x="3211" y="2176"/>
              <a:chExt cx="198" cy="964"/>
            </a:xfrm>
          </p:grpSpPr>
          <p:sp>
            <p:nvSpPr>
              <p:cNvPr id="38955" name="Oval 12">
                <a:extLst>
                  <a:ext uri="{FF2B5EF4-FFF2-40B4-BE49-F238E27FC236}">
                    <a16:creationId xmlns:a16="http://schemas.microsoft.com/office/drawing/2014/main" id="{7B08DA8C-BCE4-8744-86F8-32F759B35D5A}"/>
                  </a:ext>
                </a:extLst>
              </p:cNvPr>
              <p:cNvSpPr>
                <a:spLocks noChangeArrowheads="1"/>
              </p:cNvSpPr>
              <p:nvPr/>
            </p:nvSpPr>
            <p:spPr bwMode="auto">
              <a:xfrm>
                <a:off x="3268" y="2347"/>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56" name="Oval 13">
                <a:extLst>
                  <a:ext uri="{FF2B5EF4-FFF2-40B4-BE49-F238E27FC236}">
                    <a16:creationId xmlns:a16="http://schemas.microsoft.com/office/drawing/2014/main" id="{FBA6807B-5512-E148-8E4C-FB3CA09058F2}"/>
                  </a:ext>
                </a:extLst>
              </p:cNvPr>
              <p:cNvSpPr>
                <a:spLocks noChangeArrowheads="1"/>
              </p:cNvSpPr>
              <p:nvPr/>
            </p:nvSpPr>
            <p:spPr bwMode="auto">
              <a:xfrm>
                <a:off x="3268" y="24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57" name="Oval 14">
                <a:extLst>
                  <a:ext uri="{FF2B5EF4-FFF2-40B4-BE49-F238E27FC236}">
                    <a16:creationId xmlns:a16="http://schemas.microsoft.com/office/drawing/2014/main" id="{EBD78814-285B-3348-9300-7A829D2AD733}"/>
                  </a:ext>
                </a:extLst>
              </p:cNvPr>
              <p:cNvSpPr>
                <a:spLocks noChangeArrowheads="1"/>
              </p:cNvSpPr>
              <p:nvPr/>
            </p:nvSpPr>
            <p:spPr bwMode="auto">
              <a:xfrm>
                <a:off x="3268" y="2545"/>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58" name="Oval 15">
                <a:extLst>
                  <a:ext uri="{FF2B5EF4-FFF2-40B4-BE49-F238E27FC236}">
                    <a16:creationId xmlns:a16="http://schemas.microsoft.com/office/drawing/2014/main" id="{9AD667F5-8BC8-6B40-9351-06F4459B7EF0}"/>
                  </a:ext>
                </a:extLst>
              </p:cNvPr>
              <p:cNvSpPr>
                <a:spLocks noChangeArrowheads="1"/>
              </p:cNvSpPr>
              <p:nvPr/>
            </p:nvSpPr>
            <p:spPr bwMode="auto">
              <a:xfrm>
                <a:off x="3268" y="2642"/>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59" name="Oval 16">
                <a:extLst>
                  <a:ext uri="{FF2B5EF4-FFF2-40B4-BE49-F238E27FC236}">
                    <a16:creationId xmlns:a16="http://schemas.microsoft.com/office/drawing/2014/main" id="{E9E0AC44-A7CA-3A4B-943C-43F0ED99E30D}"/>
                  </a:ext>
                </a:extLst>
              </p:cNvPr>
              <p:cNvSpPr>
                <a:spLocks noChangeArrowheads="1"/>
              </p:cNvSpPr>
              <p:nvPr/>
            </p:nvSpPr>
            <p:spPr bwMode="auto">
              <a:xfrm>
                <a:off x="3268" y="2744"/>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60" name="Oval 17">
                <a:extLst>
                  <a:ext uri="{FF2B5EF4-FFF2-40B4-BE49-F238E27FC236}">
                    <a16:creationId xmlns:a16="http://schemas.microsoft.com/office/drawing/2014/main" id="{F4B0EFB6-EF9A-5744-95E1-E0B857782ADE}"/>
                  </a:ext>
                </a:extLst>
              </p:cNvPr>
              <p:cNvSpPr>
                <a:spLocks noChangeArrowheads="1"/>
              </p:cNvSpPr>
              <p:nvPr/>
            </p:nvSpPr>
            <p:spPr bwMode="auto">
              <a:xfrm>
                <a:off x="3268" y="2841"/>
                <a:ext cx="141" cy="9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61" name="Rectangle 18">
                <a:extLst>
                  <a:ext uri="{FF2B5EF4-FFF2-40B4-BE49-F238E27FC236}">
                    <a16:creationId xmlns:a16="http://schemas.microsoft.com/office/drawing/2014/main" id="{AD09B54E-24F7-0F48-B013-7B7E966C95E9}"/>
                  </a:ext>
                </a:extLst>
              </p:cNvPr>
              <p:cNvSpPr>
                <a:spLocks noChangeArrowheads="1"/>
              </p:cNvSpPr>
              <p:nvPr/>
            </p:nvSpPr>
            <p:spPr bwMode="auto">
              <a:xfrm>
                <a:off x="3211" y="2274"/>
                <a:ext cx="113" cy="82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62" name="Line 19">
                <a:extLst>
                  <a:ext uri="{FF2B5EF4-FFF2-40B4-BE49-F238E27FC236}">
                    <a16:creationId xmlns:a16="http://schemas.microsoft.com/office/drawing/2014/main" id="{B36D9349-9F12-4743-9A79-762A0F7369D3}"/>
                  </a:ext>
                </a:extLst>
              </p:cNvPr>
              <p:cNvSpPr>
                <a:spLocks noChangeShapeType="1"/>
              </p:cNvSpPr>
              <p:nvPr/>
            </p:nvSpPr>
            <p:spPr bwMode="auto">
              <a:xfrm>
                <a:off x="3324" y="2938"/>
                <a:ext cx="0" cy="2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63" name="Line 20">
                <a:extLst>
                  <a:ext uri="{FF2B5EF4-FFF2-40B4-BE49-F238E27FC236}">
                    <a16:creationId xmlns:a16="http://schemas.microsoft.com/office/drawing/2014/main" id="{FB196E19-BF43-884A-946B-70727E6C7EEE}"/>
                  </a:ext>
                </a:extLst>
              </p:cNvPr>
              <p:cNvSpPr>
                <a:spLocks noChangeShapeType="1"/>
              </p:cNvSpPr>
              <p:nvPr/>
            </p:nvSpPr>
            <p:spPr bwMode="auto">
              <a:xfrm flipV="1">
                <a:off x="3324" y="217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8926" name="Line 21">
              <a:extLst>
                <a:ext uri="{FF2B5EF4-FFF2-40B4-BE49-F238E27FC236}">
                  <a16:creationId xmlns:a16="http://schemas.microsoft.com/office/drawing/2014/main" id="{146DE4FF-1570-F74A-BC36-749C1299EC10}"/>
                </a:ext>
              </a:extLst>
            </p:cNvPr>
            <p:cNvSpPr>
              <a:spLocks noChangeShapeType="1"/>
            </p:cNvSpPr>
            <p:nvPr/>
          </p:nvSpPr>
          <p:spPr bwMode="auto">
            <a:xfrm flipH="1">
              <a:off x="2268538" y="835025"/>
              <a:ext cx="2087562" cy="1588"/>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7" name="Line 22">
              <a:extLst>
                <a:ext uri="{FF2B5EF4-FFF2-40B4-BE49-F238E27FC236}">
                  <a16:creationId xmlns:a16="http://schemas.microsoft.com/office/drawing/2014/main" id="{7EF76F78-F5D7-584E-85BB-2BB64DEAC8BD}"/>
                </a:ext>
              </a:extLst>
            </p:cNvPr>
            <p:cNvSpPr>
              <a:spLocks noChangeShapeType="1"/>
            </p:cNvSpPr>
            <p:nvPr/>
          </p:nvSpPr>
          <p:spPr bwMode="auto">
            <a:xfrm flipV="1">
              <a:off x="1908175" y="692150"/>
              <a:ext cx="360363" cy="144463"/>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8928" name="Group 23">
              <a:extLst>
                <a:ext uri="{FF2B5EF4-FFF2-40B4-BE49-F238E27FC236}">
                  <a16:creationId xmlns:a16="http://schemas.microsoft.com/office/drawing/2014/main" id="{7E4EE633-BFE1-3D49-A18E-3738D24DE5FD}"/>
                </a:ext>
              </a:extLst>
            </p:cNvPr>
            <p:cNvGrpSpPr>
              <a:grpSpLocks/>
            </p:cNvGrpSpPr>
            <p:nvPr/>
          </p:nvGrpSpPr>
          <p:grpSpPr bwMode="auto">
            <a:xfrm rot="10800000">
              <a:off x="4356100" y="692150"/>
              <a:ext cx="215900" cy="287338"/>
              <a:chOff x="1973" y="2160"/>
              <a:chExt cx="136" cy="181"/>
            </a:xfrm>
          </p:grpSpPr>
          <p:sp>
            <p:nvSpPr>
              <p:cNvPr id="38951" name="Line 24">
                <a:extLst>
                  <a:ext uri="{FF2B5EF4-FFF2-40B4-BE49-F238E27FC236}">
                    <a16:creationId xmlns:a16="http://schemas.microsoft.com/office/drawing/2014/main" id="{46DD685E-C0BD-1A48-A4E4-9387F4D1B9EE}"/>
                  </a:ext>
                </a:extLst>
              </p:cNvPr>
              <p:cNvSpPr>
                <a:spLocks noChangeShapeType="1"/>
              </p:cNvSpPr>
              <p:nvPr/>
            </p:nvSpPr>
            <p:spPr bwMode="auto">
              <a:xfrm>
                <a:off x="197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52" name="Line 25">
                <a:extLst>
                  <a:ext uri="{FF2B5EF4-FFF2-40B4-BE49-F238E27FC236}">
                    <a16:creationId xmlns:a16="http://schemas.microsoft.com/office/drawing/2014/main" id="{2CA8020F-9F1E-1D49-B94E-EF370BF1B47F}"/>
                  </a:ext>
                </a:extLst>
              </p:cNvPr>
              <p:cNvSpPr>
                <a:spLocks noChangeShapeType="1"/>
              </p:cNvSpPr>
              <p:nvPr/>
            </p:nvSpPr>
            <p:spPr bwMode="auto">
              <a:xfrm flipV="1">
                <a:off x="1973" y="2251"/>
                <a:ext cx="136"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53" name="Line 26">
                <a:extLst>
                  <a:ext uri="{FF2B5EF4-FFF2-40B4-BE49-F238E27FC236}">
                    <a16:creationId xmlns:a16="http://schemas.microsoft.com/office/drawing/2014/main" id="{8777478A-AD3F-A34D-AC05-52398DD0ECBA}"/>
                  </a:ext>
                </a:extLst>
              </p:cNvPr>
              <p:cNvSpPr>
                <a:spLocks noChangeShapeType="1"/>
              </p:cNvSpPr>
              <p:nvPr/>
            </p:nvSpPr>
            <p:spPr bwMode="auto">
              <a:xfrm>
                <a:off x="1973" y="2160"/>
                <a:ext cx="13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54" name="Line 27">
                <a:extLst>
                  <a:ext uri="{FF2B5EF4-FFF2-40B4-BE49-F238E27FC236}">
                    <a16:creationId xmlns:a16="http://schemas.microsoft.com/office/drawing/2014/main" id="{2213DCD5-6EC0-7345-AD3A-C4531CB75575}"/>
                  </a:ext>
                </a:extLst>
              </p:cNvPr>
              <p:cNvSpPr>
                <a:spLocks noChangeShapeType="1"/>
              </p:cNvSpPr>
              <p:nvPr/>
            </p:nvSpPr>
            <p:spPr bwMode="auto">
              <a:xfrm>
                <a:off x="2109"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8929" name="Rectangle 28">
              <a:extLst>
                <a:ext uri="{FF2B5EF4-FFF2-40B4-BE49-F238E27FC236}">
                  <a16:creationId xmlns:a16="http://schemas.microsoft.com/office/drawing/2014/main" id="{F2DACBC3-6164-F34C-B28E-29954F340BBC}"/>
                </a:ext>
              </a:extLst>
            </p:cNvPr>
            <p:cNvSpPr>
              <a:spLocks noChangeArrowheads="1"/>
            </p:cNvSpPr>
            <p:nvPr/>
          </p:nvSpPr>
          <p:spPr bwMode="auto">
            <a:xfrm>
              <a:off x="5219700" y="1411288"/>
              <a:ext cx="431800" cy="6985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30" name="Rectangle 29">
              <a:extLst>
                <a:ext uri="{FF2B5EF4-FFF2-40B4-BE49-F238E27FC236}">
                  <a16:creationId xmlns:a16="http://schemas.microsoft.com/office/drawing/2014/main" id="{0EABC6CE-A922-AA4D-AC1F-E7F771DB2AC2}"/>
                </a:ext>
              </a:extLst>
            </p:cNvPr>
            <p:cNvSpPr>
              <a:spLocks noChangeArrowheads="1"/>
            </p:cNvSpPr>
            <p:nvPr/>
          </p:nvSpPr>
          <p:spPr bwMode="auto">
            <a:xfrm>
              <a:off x="5219700" y="1555750"/>
              <a:ext cx="431800" cy="714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31" name="Line 30">
              <a:extLst>
                <a:ext uri="{FF2B5EF4-FFF2-40B4-BE49-F238E27FC236}">
                  <a16:creationId xmlns:a16="http://schemas.microsoft.com/office/drawing/2014/main" id="{03FB997B-9899-B142-8BAC-B825003CD470}"/>
                </a:ext>
              </a:extLst>
            </p:cNvPr>
            <p:cNvSpPr>
              <a:spLocks noChangeShapeType="1"/>
            </p:cNvSpPr>
            <p:nvPr/>
          </p:nvSpPr>
          <p:spPr bwMode="auto">
            <a:xfrm flipV="1">
              <a:off x="5435600" y="1627188"/>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32" name="Line 31">
              <a:extLst>
                <a:ext uri="{FF2B5EF4-FFF2-40B4-BE49-F238E27FC236}">
                  <a16:creationId xmlns:a16="http://schemas.microsoft.com/office/drawing/2014/main" id="{C5CDAC5F-86AA-BA41-986B-C451A0431E72}"/>
                </a:ext>
              </a:extLst>
            </p:cNvPr>
            <p:cNvSpPr>
              <a:spLocks noChangeShapeType="1"/>
            </p:cNvSpPr>
            <p:nvPr/>
          </p:nvSpPr>
          <p:spPr bwMode="auto">
            <a:xfrm>
              <a:off x="5435600" y="83502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33" name="Line 32">
              <a:extLst>
                <a:ext uri="{FF2B5EF4-FFF2-40B4-BE49-F238E27FC236}">
                  <a16:creationId xmlns:a16="http://schemas.microsoft.com/office/drawing/2014/main" id="{7DAB5AB2-3837-0B4D-9730-CB9DE1AAA7E1}"/>
                </a:ext>
              </a:extLst>
            </p:cNvPr>
            <p:cNvSpPr>
              <a:spLocks noChangeShapeType="1"/>
            </p:cNvSpPr>
            <p:nvPr/>
          </p:nvSpPr>
          <p:spPr bwMode="auto">
            <a:xfrm>
              <a:off x="4572000" y="835025"/>
              <a:ext cx="1439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34" name="Oval 33">
              <a:extLst>
                <a:ext uri="{FF2B5EF4-FFF2-40B4-BE49-F238E27FC236}">
                  <a16:creationId xmlns:a16="http://schemas.microsoft.com/office/drawing/2014/main" id="{F355930D-865A-BF47-A3F4-CA3D91015103}"/>
                </a:ext>
              </a:extLst>
            </p:cNvPr>
            <p:cNvSpPr>
              <a:spLocks noChangeArrowheads="1"/>
            </p:cNvSpPr>
            <p:nvPr/>
          </p:nvSpPr>
          <p:spPr bwMode="auto">
            <a:xfrm>
              <a:off x="6011863" y="2420938"/>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35" name="Oval 34">
              <a:extLst>
                <a:ext uri="{FF2B5EF4-FFF2-40B4-BE49-F238E27FC236}">
                  <a16:creationId xmlns:a16="http://schemas.microsoft.com/office/drawing/2014/main" id="{E35ADEEE-BFA4-834F-9DF6-28FE0246DF9C}"/>
                </a:ext>
              </a:extLst>
            </p:cNvPr>
            <p:cNvSpPr>
              <a:spLocks noChangeArrowheads="1"/>
            </p:cNvSpPr>
            <p:nvPr/>
          </p:nvSpPr>
          <p:spPr bwMode="auto">
            <a:xfrm>
              <a:off x="6011863" y="763588"/>
              <a:ext cx="142875" cy="1428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36" name="Line 35">
              <a:extLst>
                <a:ext uri="{FF2B5EF4-FFF2-40B4-BE49-F238E27FC236}">
                  <a16:creationId xmlns:a16="http://schemas.microsoft.com/office/drawing/2014/main" id="{DE4C7225-BD6C-FC4B-9D12-9906DC11DC9C}"/>
                </a:ext>
              </a:extLst>
            </p:cNvPr>
            <p:cNvSpPr>
              <a:spLocks noChangeShapeType="1"/>
            </p:cNvSpPr>
            <p:nvPr/>
          </p:nvSpPr>
          <p:spPr bwMode="auto">
            <a:xfrm>
              <a:off x="539750" y="2490788"/>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37" name="Rectangle 36">
              <a:extLst>
                <a:ext uri="{FF2B5EF4-FFF2-40B4-BE49-F238E27FC236}">
                  <a16:creationId xmlns:a16="http://schemas.microsoft.com/office/drawing/2014/main" id="{F92AF557-6A01-D445-A8F1-506B2CF3F0C6}"/>
                </a:ext>
              </a:extLst>
            </p:cNvPr>
            <p:cNvSpPr>
              <a:spLocks noChangeArrowheads="1"/>
            </p:cNvSpPr>
            <p:nvPr/>
          </p:nvSpPr>
          <p:spPr bwMode="auto">
            <a:xfrm>
              <a:off x="1619250" y="1196975"/>
              <a:ext cx="914400" cy="3603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1800"/>
                <a:t>Control</a:t>
              </a:r>
              <a:endParaRPr lang="en-US" altLang="en-US" sz="1800"/>
            </a:p>
          </p:txBody>
        </p:sp>
        <p:sp>
          <p:nvSpPr>
            <p:cNvPr id="38938" name="Line 37">
              <a:extLst>
                <a:ext uri="{FF2B5EF4-FFF2-40B4-BE49-F238E27FC236}">
                  <a16:creationId xmlns:a16="http://schemas.microsoft.com/office/drawing/2014/main" id="{7C0B395A-F6A9-8249-B81F-3167144FA450}"/>
                </a:ext>
              </a:extLst>
            </p:cNvPr>
            <p:cNvSpPr>
              <a:spLocks noChangeShapeType="1"/>
            </p:cNvSpPr>
            <p:nvPr/>
          </p:nvSpPr>
          <p:spPr bwMode="auto">
            <a:xfrm flipV="1">
              <a:off x="2051050" y="908050"/>
              <a:ext cx="0"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39" name="Freeform 38">
              <a:extLst>
                <a:ext uri="{FF2B5EF4-FFF2-40B4-BE49-F238E27FC236}">
                  <a16:creationId xmlns:a16="http://schemas.microsoft.com/office/drawing/2014/main" id="{DF02C1EC-46D4-5340-80C5-EF028761C684}"/>
                </a:ext>
              </a:extLst>
            </p:cNvPr>
            <p:cNvSpPr>
              <a:spLocks/>
            </p:cNvSpPr>
            <p:nvPr/>
          </p:nvSpPr>
          <p:spPr bwMode="auto">
            <a:xfrm>
              <a:off x="6156325" y="835025"/>
              <a:ext cx="431800" cy="1655763"/>
            </a:xfrm>
            <a:custGeom>
              <a:avLst/>
              <a:gdLst>
                <a:gd name="T0" fmla="*/ 0 w 272"/>
                <a:gd name="T1" fmla="*/ 0 h 1043"/>
                <a:gd name="T2" fmla="*/ 2147483646 w 272"/>
                <a:gd name="T3" fmla="*/ 0 h 1043"/>
                <a:gd name="T4" fmla="*/ 2147483646 w 272"/>
                <a:gd name="T5" fmla="*/ 2147483646 h 1043"/>
                <a:gd name="T6" fmla="*/ 0 w 272"/>
                <a:gd name="T7" fmla="*/ 2147483646 h 10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1043">
                  <a:moveTo>
                    <a:pt x="0" y="0"/>
                  </a:moveTo>
                  <a:lnTo>
                    <a:pt x="272" y="0"/>
                  </a:lnTo>
                  <a:lnTo>
                    <a:pt x="272" y="1043"/>
                  </a:lnTo>
                  <a:lnTo>
                    <a:pt x="0" y="1043"/>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40" name="Rectangle 39">
              <a:extLst>
                <a:ext uri="{FF2B5EF4-FFF2-40B4-BE49-F238E27FC236}">
                  <a16:creationId xmlns:a16="http://schemas.microsoft.com/office/drawing/2014/main" id="{42866B08-A23A-D943-8390-C89B44D5C885}"/>
                </a:ext>
              </a:extLst>
            </p:cNvPr>
            <p:cNvSpPr>
              <a:spLocks noChangeArrowheads="1"/>
            </p:cNvSpPr>
            <p:nvPr/>
          </p:nvSpPr>
          <p:spPr bwMode="auto">
            <a:xfrm>
              <a:off x="6515100" y="1195388"/>
              <a:ext cx="19367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8941" name="Text Box 40">
              <a:extLst>
                <a:ext uri="{FF2B5EF4-FFF2-40B4-BE49-F238E27FC236}">
                  <a16:creationId xmlns:a16="http://schemas.microsoft.com/office/drawing/2014/main" id="{26F622E2-7500-894C-B247-BD38102DA762}"/>
                </a:ext>
              </a:extLst>
            </p:cNvPr>
            <p:cNvSpPr txBox="1">
              <a:spLocks noChangeArrowheads="1"/>
            </p:cNvSpPr>
            <p:nvPr/>
          </p:nvSpPr>
          <p:spPr bwMode="auto">
            <a:xfrm>
              <a:off x="1619250" y="260350"/>
              <a:ext cx="85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Switch</a:t>
              </a:r>
              <a:endParaRPr lang="en-US" altLang="en-US" sz="1800"/>
            </a:p>
          </p:txBody>
        </p:sp>
        <p:sp>
          <p:nvSpPr>
            <p:cNvPr id="38942" name="Text Box 41">
              <a:extLst>
                <a:ext uri="{FF2B5EF4-FFF2-40B4-BE49-F238E27FC236}">
                  <a16:creationId xmlns:a16="http://schemas.microsoft.com/office/drawing/2014/main" id="{BB916574-AD31-D24D-9C4E-C70615A532F5}"/>
                </a:ext>
              </a:extLst>
            </p:cNvPr>
            <p:cNvSpPr txBox="1">
              <a:spLocks noChangeArrowheads="1"/>
            </p:cNvSpPr>
            <p:nvPr/>
          </p:nvSpPr>
          <p:spPr bwMode="auto">
            <a:xfrm>
              <a:off x="4283075" y="1050925"/>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D</a:t>
              </a:r>
              <a:endParaRPr lang="en-US" altLang="en-US" sz="1800"/>
            </a:p>
          </p:txBody>
        </p:sp>
        <p:sp>
          <p:nvSpPr>
            <p:cNvPr id="38943" name="Text Box 42">
              <a:extLst>
                <a:ext uri="{FF2B5EF4-FFF2-40B4-BE49-F238E27FC236}">
                  <a16:creationId xmlns:a16="http://schemas.microsoft.com/office/drawing/2014/main" id="{EDF62E07-8DAA-7047-BA47-4FB647EF900D}"/>
                </a:ext>
              </a:extLst>
            </p:cNvPr>
            <p:cNvSpPr txBox="1">
              <a:spLocks noChangeArrowheads="1"/>
            </p:cNvSpPr>
            <p:nvPr/>
          </p:nvSpPr>
          <p:spPr bwMode="auto">
            <a:xfrm>
              <a:off x="5075238" y="16271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C</a:t>
              </a:r>
              <a:endParaRPr lang="en-US" altLang="en-US" sz="1800"/>
            </a:p>
          </p:txBody>
        </p:sp>
        <p:sp>
          <p:nvSpPr>
            <p:cNvPr id="38944" name="Text Box 43">
              <a:extLst>
                <a:ext uri="{FF2B5EF4-FFF2-40B4-BE49-F238E27FC236}">
                  <a16:creationId xmlns:a16="http://schemas.microsoft.com/office/drawing/2014/main" id="{8F9F0A3B-259D-2445-B0B4-BFA12E93105E}"/>
                </a:ext>
              </a:extLst>
            </p:cNvPr>
            <p:cNvSpPr txBox="1">
              <a:spLocks noChangeArrowheads="1"/>
            </p:cNvSpPr>
            <p:nvPr/>
          </p:nvSpPr>
          <p:spPr bwMode="auto">
            <a:xfrm>
              <a:off x="6083300" y="1411288"/>
              <a:ext cx="433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a:t>
              </a:r>
              <a:r>
                <a:rPr lang="en-GB" altLang="en-US" sz="1800" baseline="-25000"/>
                <a:t>L</a:t>
              </a:r>
              <a:endParaRPr lang="en-US" altLang="en-US" sz="1800" baseline="-25000"/>
            </a:p>
          </p:txBody>
        </p:sp>
        <p:sp>
          <p:nvSpPr>
            <p:cNvPr id="38945" name="Text Box 44">
              <a:extLst>
                <a:ext uri="{FF2B5EF4-FFF2-40B4-BE49-F238E27FC236}">
                  <a16:creationId xmlns:a16="http://schemas.microsoft.com/office/drawing/2014/main" id="{861484E6-8BAE-DE47-8D9F-1913B24BB8D3}"/>
                </a:ext>
              </a:extLst>
            </p:cNvPr>
            <p:cNvSpPr txBox="1">
              <a:spLocks noChangeArrowheads="1"/>
            </p:cNvSpPr>
            <p:nvPr/>
          </p:nvSpPr>
          <p:spPr bwMode="auto">
            <a:xfrm>
              <a:off x="6797675" y="1482725"/>
              <a:ext cx="663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dirty="0"/>
                <a:t>V</a:t>
              </a:r>
              <a:r>
                <a:rPr lang="en-GB" altLang="en-US" sz="1800" baseline="-25000" dirty="0"/>
                <a:t>OUT</a:t>
              </a:r>
              <a:endParaRPr lang="en-US" altLang="en-US" sz="1800" baseline="-25000" dirty="0"/>
            </a:p>
          </p:txBody>
        </p:sp>
        <p:sp>
          <p:nvSpPr>
            <p:cNvPr id="38946" name="Line 45">
              <a:extLst>
                <a:ext uri="{FF2B5EF4-FFF2-40B4-BE49-F238E27FC236}">
                  <a16:creationId xmlns:a16="http://schemas.microsoft.com/office/drawing/2014/main" id="{98873292-BD00-324C-9F8B-1FF9789165E1}"/>
                </a:ext>
              </a:extLst>
            </p:cNvPr>
            <p:cNvSpPr>
              <a:spLocks noChangeShapeType="1"/>
            </p:cNvSpPr>
            <p:nvPr/>
          </p:nvSpPr>
          <p:spPr bwMode="auto">
            <a:xfrm>
              <a:off x="6804024" y="830260"/>
              <a:ext cx="11113" cy="1586541"/>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47" name="Line 46">
              <a:extLst>
                <a:ext uri="{FF2B5EF4-FFF2-40B4-BE49-F238E27FC236}">
                  <a16:creationId xmlns:a16="http://schemas.microsoft.com/office/drawing/2014/main" id="{1FCB6F34-8E4A-6944-B17A-42046939DE85}"/>
                </a:ext>
              </a:extLst>
            </p:cNvPr>
            <p:cNvSpPr>
              <a:spLocks noChangeShapeType="1"/>
            </p:cNvSpPr>
            <p:nvPr/>
          </p:nvSpPr>
          <p:spPr bwMode="auto">
            <a:xfrm>
              <a:off x="3492500" y="1125538"/>
              <a:ext cx="0" cy="1008062"/>
            </a:xfrm>
            <a:prstGeom prst="line">
              <a:avLst/>
            </a:prstGeom>
            <a:noFill/>
            <a:ln w="25400">
              <a:solidFill>
                <a:srgbClr val="3366FF"/>
              </a:solidFill>
              <a:round/>
              <a:headEnd type="non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48" name="Text Box 47">
              <a:extLst>
                <a:ext uri="{FF2B5EF4-FFF2-40B4-BE49-F238E27FC236}">
                  <a16:creationId xmlns:a16="http://schemas.microsoft.com/office/drawing/2014/main" id="{0981E352-2472-204F-94B3-2D15E779E038}"/>
                </a:ext>
              </a:extLst>
            </p:cNvPr>
            <p:cNvSpPr txBox="1">
              <a:spLocks noChangeArrowheads="1"/>
            </p:cNvSpPr>
            <p:nvPr/>
          </p:nvSpPr>
          <p:spPr bwMode="auto">
            <a:xfrm>
              <a:off x="3563938" y="1412875"/>
              <a:ext cx="4206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0066FF"/>
                  </a:solidFill>
                </a:rPr>
                <a:t>V</a:t>
              </a:r>
              <a:r>
                <a:rPr lang="en-GB" altLang="en-US" sz="1800" baseline="-25000">
                  <a:solidFill>
                    <a:srgbClr val="0066FF"/>
                  </a:solidFill>
                </a:rPr>
                <a:t>L</a:t>
              </a:r>
              <a:endParaRPr lang="en-US" altLang="en-US" sz="1800" baseline="-25000">
                <a:solidFill>
                  <a:srgbClr val="0066FF"/>
                </a:solidFill>
              </a:endParaRPr>
            </a:p>
          </p:txBody>
        </p:sp>
        <p:sp>
          <p:nvSpPr>
            <p:cNvPr id="38949" name="Text Box 49">
              <a:extLst>
                <a:ext uri="{FF2B5EF4-FFF2-40B4-BE49-F238E27FC236}">
                  <a16:creationId xmlns:a16="http://schemas.microsoft.com/office/drawing/2014/main" id="{0E37845C-46BF-3A42-B68A-3FF6458A33A1}"/>
                </a:ext>
              </a:extLst>
            </p:cNvPr>
            <p:cNvSpPr txBox="1">
              <a:spLocks noChangeArrowheads="1"/>
            </p:cNvSpPr>
            <p:nvPr/>
          </p:nvSpPr>
          <p:spPr bwMode="auto">
            <a:xfrm>
              <a:off x="2051050" y="1844675"/>
              <a:ext cx="946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0000"/>
                  </a:solidFill>
                </a:rPr>
                <a:t>Current</a:t>
              </a:r>
              <a:endParaRPr lang="en-US" altLang="en-US" sz="1800">
                <a:solidFill>
                  <a:srgbClr val="FF0000"/>
                </a:solidFill>
              </a:endParaRPr>
            </a:p>
          </p:txBody>
        </p:sp>
        <p:sp>
          <p:nvSpPr>
            <p:cNvPr id="38950" name="Freeform 51">
              <a:extLst>
                <a:ext uri="{FF2B5EF4-FFF2-40B4-BE49-F238E27FC236}">
                  <a16:creationId xmlns:a16="http://schemas.microsoft.com/office/drawing/2014/main" id="{2BBA4D2E-9963-624E-B4B5-549B59490BDC}"/>
                </a:ext>
              </a:extLst>
            </p:cNvPr>
            <p:cNvSpPr>
              <a:spLocks/>
            </p:cNvSpPr>
            <p:nvPr/>
          </p:nvSpPr>
          <p:spPr bwMode="auto">
            <a:xfrm>
              <a:off x="3132138" y="1125538"/>
              <a:ext cx="2232025" cy="1223962"/>
            </a:xfrm>
            <a:custGeom>
              <a:avLst/>
              <a:gdLst>
                <a:gd name="T0" fmla="*/ 0 w 1406"/>
                <a:gd name="T1" fmla="*/ 0 h 771"/>
                <a:gd name="T2" fmla="*/ 0 w 1406"/>
                <a:gd name="T3" fmla="*/ 2147483646 h 771"/>
                <a:gd name="T4" fmla="*/ 2147483646 w 1406"/>
                <a:gd name="T5" fmla="*/ 2147483646 h 771"/>
                <a:gd name="T6" fmla="*/ 0 60000 65536"/>
                <a:gd name="T7" fmla="*/ 0 60000 65536"/>
                <a:gd name="T8" fmla="*/ 0 60000 65536"/>
              </a:gdLst>
              <a:ahLst/>
              <a:cxnLst>
                <a:cxn ang="T6">
                  <a:pos x="T0" y="T1"/>
                </a:cxn>
                <a:cxn ang="T7">
                  <a:pos x="T2" y="T3"/>
                </a:cxn>
                <a:cxn ang="T8">
                  <a:pos x="T4" y="T5"/>
                </a:cxn>
              </a:cxnLst>
              <a:rect l="0" t="0" r="r" b="b"/>
              <a:pathLst>
                <a:path w="1406" h="771">
                  <a:moveTo>
                    <a:pt x="0" y="0"/>
                  </a:moveTo>
                  <a:lnTo>
                    <a:pt x="0" y="771"/>
                  </a:lnTo>
                  <a:lnTo>
                    <a:pt x="1406" y="771"/>
                  </a:lnTo>
                </a:path>
              </a:pathLst>
            </a:custGeom>
            <a:noFill/>
            <a:ln w="25400">
              <a:solidFill>
                <a:srgbClr val="FF0000"/>
              </a:solidFill>
              <a:round/>
              <a:headEn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8917" name="TextBox 49">
            <a:extLst>
              <a:ext uri="{FF2B5EF4-FFF2-40B4-BE49-F238E27FC236}">
                <a16:creationId xmlns:a16="http://schemas.microsoft.com/office/drawing/2014/main" id="{07C9E72D-4BB5-C64D-84CB-BB452B49EFA9}"/>
              </a:ext>
            </a:extLst>
          </p:cNvPr>
          <p:cNvSpPr txBox="1">
            <a:spLocks noChangeArrowheads="1"/>
          </p:cNvSpPr>
          <p:nvPr/>
        </p:nvSpPr>
        <p:spPr bwMode="auto">
          <a:xfrm>
            <a:off x="6677025" y="825500"/>
            <a:ext cx="2405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2800" b="1">
                <a:solidFill>
                  <a:srgbClr val="0000FF"/>
                </a:solidFill>
              </a:rPr>
              <a:t>Discharging</a:t>
            </a:r>
          </a:p>
        </p:txBody>
      </p:sp>
      <p:sp>
        <p:nvSpPr>
          <p:cNvPr id="2" name="Text Box 50">
            <a:extLst>
              <a:ext uri="{FF2B5EF4-FFF2-40B4-BE49-F238E27FC236}">
                <a16:creationId xmlns:a16="http://schemas.microsoft.com/office/drawing/2014/main" id="{97B1F363-37C8-EEA3-319D-4A60A40DD9B9}"/>
              </a:ext>
            </a:extLst>
          </p:cNvPr>
          <p:cNvSpPr txBox="1">
            <a:spLocks noChangeArrowheads="1"/>
          </p:cNvSpPr>
          <p:nvPr/>
        </p:nvSpPr>
        <p:spPr bwMode="auto">
          <a:xfrm>
            <a:off x="274638" y="4481260"/>
            <a:ext cx="8208963"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i="1" dirty="0">
                <a:solidFill>
                  <a:srgbClr val="FF0000"/>
                </a:solidFill>
                <a:latin typeface="Times New Roman" panose="02020603050405020304" pitchFamily="18" charset="0"/>
              </a:rPr>
              <a:t>Note that with the switch opened there is no return path for current through the input to the converter and hence the only route the inductor current can follow is into the capacitor and load.</a:t>
            </a:r>
          </a:p>
          <a:p>
            <a:pPr eaLnBrk="1" hangingPunct="1">
              <a:spcBef>
                <a:spcPct val="50000"/>
              </a:spcBef>
              <a:buFontTx/>
              <a:buNone/>
            </a:pPr>
            <a:r>
              <a:rPr lang="en-GB" altLang="en-US" sz="1800" i="1" u="sng" dirty="0">
                <a:solidFill>
                  <a:srgbClr val="FF0000"/>
                </a:solidFill>
                <a:latin typeface="Times New Roman" panose="02020603050405020304" pitchFamily="18" charset="0"/>
              </a:rPr>
              <a:t>Also note that the capacitor will supply current to the load when there is no current contribution from the inductor.</a:t>
            </a:r>
            <a:endParaRPr lang="en-US" altLang="en-US" sz="1800" i="1" u="sng" dirty="0">
              <a:solidFill>
                <a:srgbClr val="FF0000"/>
              </a:solidFill>
              <a:latin typeface="Times New Roman" panose="02020603050405020304" pitchFamily="18" charset="0"/>
            </a:endParaRPr>
          </a:p>
        </p:txBody>
      </p:sp>
      <p:sp>
        <p:nvSpPr>
          <p:cNvPr id="3" name="Text Box 50">
            <a:extLst>
              <a:ext uri="{FF2B5EF4-FFF2-40B4-BE49-F238E27FC236}">
                <a16:creationId xmlns:a16="http://schemas.microsoft.com/office/drawing/2014/main" id="{F01EF95E-8FC3-60E9-6438-BF3AB3A3C974}"/>
              </a:ext>
            </a:extLst>
          </p:cNvPr>
          <p:cNvSpPr txBox="1">
            <a:spLocks noChangeArrowheads="1"/>
          </p:cNvSpPr>
          <p:nvPr/>
        </p:nvSpPr>
        <p:spPr bwMode="auto">
          <a:xfrm>
            <a:off x="346868" y="3721226"/>
            <a:ext cx="82089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dirty="0"/>
              <a:t>During this “off” period, V</a:t>
            </a:r>
            <a:r>
              <a:rPr lang="en-GB" altLang="en-US" sz="1800" baseline="-25000" dirty="0"/>
              <a:t>L</a:t>
            </a:r>
            <a:r>
              <a:rPr lang="en-GB" altLang="en-US" sz="1800" dirty="0"/>
              <a:t> = V</a:t>
            </a:r>
            <a:r>
              <a:rPr lang="en-GB" altLang="en-US" sz="1800" baseline="-25000" dirty="0"/>
              <a:t>OUT</a:t>
            </a:r>
            <a:r>
              <a:rPr lang="en-GB" altLang="en-US" sz="1800" dirty="0"/>
              <a:t> and this is maintained as the current in the inductor falls to its value at the end of the PWM period.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a:extLst>
              <a:ext uri="{FF2B5EF4-FFF2-40B4-BE49-F238E27FC236}">
                <a16:creationId xmlns:a16="http://schemas.microsoft.com/office/drawing/2014/main" id="{9E55F7E4-23D0-EB4E-9ECE-FA12647F0E13}"/>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0A4574-9213-6046-A85B-38BEE0FDFB35}" type="slidenum">
              <a:rPr lang="en-US" altLang="en-US" sz="1400"/>
              <a:pPr>
                <a:spcBef>
                  <a:spcPct val="0"/>
                </a:spcBef>
                <a:buFontTx/>
                <a:buNone/>
              </a:pPr>
              <a:t>20</a:t>
            </a:fld>
            <a:endParaRPr lang="en-US" altLang="en-US" sz="1400"/>
          </a:p>
        </p:txBody>
      </p:sp>
      <p:sp>
        <p:nvSpPr>
          <p:cNvPr id="39939" name="Text Box 4">
            <a:extLst>
              <a:ext uri="{FF2B5EF4-FFF2-40B4-BE49-F238E27FC236}">
                <a16:creationId xmlns:a16="http://schemas.microsoft.com/office/drawing/2014/main" id="{45784A2C-1F04-EF43-8D2A-8C49DFADC7D5}"/>
              </a:ext>
            </a:extLst>
          </p:cNvPr>
          <p:cNvSpPr txBox="1">
            <a:spLocks noChangeArrowheads="1"/>
          </p:cNvSpPr>
          <p:nvPr/>
        </p:nvSpPr>
        <p:spPr bwMode="auto">
          <a:xfrm>
            <a:off x="158750" y="65088"/>
            <a:ext cx="46901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Waveforms for the buck-boost converter</a:t>
            </a:r>
            <a:endParaRPr lang="en-US" altLang="en-US" sz="1800" dirty="0"/>
          </a:p>
        </p:txBody>
      </p:sp>
      <p:sp>
        <p:nvSpPr>
          <p:cNvPr id="39940" name="Line 5">
            <a:extLst>
              <a:ext uri="{FF2B5EF4-FFF2-40B4-BE49-F238E27FC236}">
                <a16:creationId xmlns:a16="http://schemas.microsoft.com/office/drawing/2014/main" id="{57AF2B09-3EA9-164F-9582-BD7070AAD4B6}"/>
              </a:ext>
            </a:extLst>
          </p:cNvPr>
          <p:cNvSpPr>
            <a:spLocks noChangeShapeType="1"/>
          </p:cNvSpPr>
          <p:nvPr/>
        </p:nvSpPr>
        <p:spPr bwMode="auto">
          <a:xfrm flipV="1">
            <a:off x="468313" y="692150"/>
            <a:ext cx="0" cy="45370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1" name="Freeform 33">
            <a:extLst>
              <a:ext uri="{FF2B5EF4-FFF2-40B4-BE49-F238E27FC236}">
                <a16:creationId xmlns:a16="http://schemas.microsoft.com/office/drawing/2014/main" id="{2F1171C8-7EF1-674A-9294-6636261ACC41}"/>
              </a:ext>
            </a:extLst>
          </p:cNvPr>
          <p:cNvSpPr>
            <a:spLocks/>
          </p:cNvSpPr>
          <p:nvPr/>
        </p:nvSpPr>
        <p:spPr bwMode="auto">
          <a:xfrm>
            <a:off x="468313" y="908050"/>
            <a:ext cx="5543550" cy="504825"/>
          </a:xfrm>
          <a:custGeom>
            <a:avLst/>
            <a:gdLst>
              <a:gd name="T0" fmla="*/ 0 w 3492"/>
              <a:gd name="T1" fmla="*/ 0 h 318"/>
              <a:gd name="T2" fmla="*/ 2147483646 w 3492"/>
              <a:gd name="T3" fmla="*/ 0 h 318"/>
              <a:gd name="T4" fmla="*/ 2147483646 w 3492"/>
              <a:gd name="T5" fmla="*/ 2147483646 h 318"/>
              <a:gd name="T6" fmla="*/ 2147483646 w 3492"/>
              <a:gd name="T7" fmla="*/ 2147483646 h 318"/>
              <a:gd name="T8" fmla="*/ 2147483646 w 3492"/>
              <a:gd name="T9" fmla="*/ 0 h 318"/>
              <a:gd name="T10" fmla="*/ 2147483646 w 3492"/>
              <a:gd name="T11" fmla="*/ 0 h 318"/>
              <a:gd name="T12" fmla="*/ 2147483646 w 3492"/>
              <a:gd name="T13" fmla="*/ 2147483646 h 318"/>
              <a:gd name="T14" fmla="*/ 2147483646 w 3492"/>
              <a:gd name="T15" fmla="*/ 2147483646 h 318"/>
              <a:gd name="T16" fmla="*/ 2147483646 w 3492"/>
              <a:gd name="T17" fmla="*/ 0 h 318"/>
              <a:gd name="T18" fmla="*/ 2147483646 w 3492"/>
              <a:gd name="T19" fmla="*/ 0 h 318"/>
              <a:gd name="T20" fmla="*/ 2147483646 w 3492"/>
              <a:gd name="T21" fmla="*/ 2147483646 h 318"/>
              <a:gd name="T22" fmla="*/ 2147483646 w 3492"/>
              <a:gd name="T23" fmla="*/ 2147483646 h 318"/>
              <a:gd name="T24" fmla="*/ 2147483646 w 3492"/>
              <a:gd name="T25" fmla="*/ 0 h 318"/>
              <a:gd name="T26" fmla="*/ 2147483646 w 3492"/>
              <a:gd name="T27" fmla="*/ 0 h 3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92" h="318">
                <a:moveTo>
                  <a:pt x="0" y="0"/>
                </a:moveTo>
                <a:lnTo>
                  <a:pt x="453" y="0"/>
                </a:lnTo>
                <a:lnTo>
                  <a:pt x="453" y="318"/>
                </a:lnTo>
                <a:lnTo>
                  <a:pt x="1088" y="318"/>
                </a:lnTo>
                <a:lnTo>
                  <a:pt x="1088" y="0"/>
                </a:lnTo>
                <a:lnTo>
                  <a:pt x="1542" y="0"/>
                </a:lnTo>
                <a:lnTo>
                  <a:pt x="1542" y="318"/>
                </a:lnTo>
                <a:lnTo>
                  <a:pt x="2177" y="318"/>
                </a:lnTo>
                <a:lnTo>
                  <a:pt x="2177" y="0"/>
                </a:lnTo>
                <a:lnTo>
                  <a:pt x="2630" y="0"/>
                </a:lnTo>
                <a:lnTo>
                  <a:pt x="2630" y="318"/>
                </a:lnTo>
                <a:lnTo>
                  <a:pt x="3265" y="318"/>
                </a:lnTo>
                <a:lnTo>
                  <a:pt x="3265" y="0"/>
                </a:lnTo>
                <a:lnTo>
                  <a:pt x="3492" y="0"/>
                </a:lnTo>
              </a:path>
            </a:pathLst>
          </a:custGeom>
          <a:noFill/>
          <a:ln w="2540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2" name="Freeform 34">
            <a:extLst>
              <a:ext uri="{FF2B5EF4-FFF2-40B4-BE49-F238E27FC236}">
                <a16:creationId xmlns:a16="http://schemas.microsoft.com/office/drawing/2014/main" id="{59ABD3F2-030D-6946-B37D-CE4869098084}"/>
              </a:ext>
            </a:extLst>
          </p:cNvPr>
          <p:cNvSpPr>
            <a:spLocks/>
          </p:cNvSpPr>
          <p:nvPr/>
        </p:nvSpPr>
        <p:spPr bwMode="auto">
          <a:xfrm>
            <a:off x="468313" y="1844675"/>
            <a:ext cx="5543550" cy="720725"/>
          </a:xfrm>
          <a:custGeom>
            <a:avLst/>
            <a:gdLst>
              <a:gd name="T0" fmla="*/ 0 w 3492"/>
              <a:gd name="T1" fmla="*/ 0 h 318"/>
              <a:gd name="T2" fmla="*/ 2147483646 w 3492"/>
              <a:gd name="T3" fmla="*/ 0 h 318"/>
              <a:gd name="T4" fmla="*/ 2147483646 w 3492"/>
              <a:gd name="T5" fmla="*/ 2147483646 h 318"/>
              <a:gd name="T6" fmla="*/ 2147483646 w 3492"/>
              <a:gd name="T7" fmla="*/ 2147483646 h 318"/>
              <a:gd name="T8" fmla="*/ 2147483646 w 3492"/>
              <a:gd name="T9" fmla="*/ 0 h 318"/>
              <a:gd name="T10" fmla="*/ 2147483646 w 3492"/>
              <a:gd name="T11" fmla="*/ 0 h 318"/>
              <a:gd name="T12" fmla="*/ 2147483646 w 3492"/>
              <a:gd name="T13" fmla="*/ 2147483646 h 318"/>
              <a:gd name="T14" fmla="*/ 2147483646 w 3492"/>
              <a:gd name="T15" fmla="*/ 2147483646 h 318"/>
              <a:gd name="T16" fmla="*/ 2147483646 w 3492"/>
              <a:gd name="T17" fmla="*/ 0 h 318"/>
              <a:gd name="T18" fmla="*/ 2147483646 w 3492"/>
              <a:gd name="T19" fmla="*/ 0 h 318"/>
              <a:gd name="T20" fmla="*/ 2147483646 w 3492"/>
              <a:gd name="T21" fmla="*/ 2147483646 h 318"/>
              <a:gd name="T22" fmla="*/ 2147483646 w 3492"/>
              <a:gd name="T23" fmla="*/ 2147483646 h 318"/>
              <a:gd name="T24" fmla="*/ 2147483646 w 3492"/>
              <a:gd name="T25" fmla="*/ 0 h 318"/>
              <a:gd name="T26" fmla="*/ 2147483646 w 3492"/>
              <a:gd name="T27" fmla="*/ 0 h 3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92" h="318">
                <a:moveTo>
                  <a:pt x="0" y="0"/>
                </a:moveTo>
                <a:lnTo>
                  <a:pt x="453" y="0"/>
                </a:lnTo>
                <a:lnTo>
                  <a:pt x="453" y="318"/>
                </a:lnTo>
                <a:lnTo>
                  <a:pt x="1088" y="318"/>
                </a:lnTo>
                <a:lnTo>
                  <a:pt x="1088" y="0"/>
                </a:lnTo>
                <a:lnTo>
                  <a:pt x="1542" y="0"/>
                </a:lnTo>
                <a:lnTo>
                  <a:pt x="1542" y="318"/>
                </a:lnTo>
                <a:lnTo>
                  <a:pt x="2177" y="318"/>
                </a:lnTo>
                <a:lnTo>
                  <a:pt x="2177" y="0"/>
                </a:lnTo>
                <a:lnTo>
                  <a:pt x="2630" y="0"/>
                </a:lnTo>
                <a:lnTo>
                  <a:pt x="2630" y="318"/>
                </a:lnTo>
                <a:lnTo>
                  <a:pt x="3265" y="318"/>
                </a:lnTo>
                <a:lnTo>
                  <a:pt x="3265" y="0"/>
                </a:lnTo>
                <a:lnTo>
                  <a:pt x="3492" y="0"/>
                </a:lnTo>
              </a:path>
            </a:pathLst>
          </a:custGeom>
          <a:noFill/>
          <a:ln w="25400">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3" name="Freeform 36">
            <a:extLst>
              <a:ext uri="{FF2B5EF4-FFF2-40B4-BE49-F238E27FC236}">
                <a16:creationId xmlns:a16="http://schemas.microsoft.com/office/drawing/2014/main" id="{B4B18C91-D297-9342-9381-61946736E414}"/>
              </a:ext>
            </a:extLst>
          </p:cNvPr>
          <p:cNvSpPr>
            <a:spLocks/>
          </p:cNvSpPr>
          <p:nvPr/>
        </p:nvSpPr>
        <p:spPr bwMode="auto">
          <a:xfrm>
            <a:off x="468313" y="2924175"/>
            <a:ext cx="5616575" cy="504825"/>
          </a:xfrm>
          <a:custGeom>
            <a:avLst/>
            <a:gdLst>
              <a:gd name="T0" fmla="*/ 0 w 3538"/>
              <a:gd name="T1" fmla="*/ 2147483646 h 318"/>
              <a:gd name="T2" fmla="*/ 2147483646 w 3538"/>
              <a:gd name="T3" fmla="*/ 0 h 318"/>
              <a:gd name="T4" fmla="*/ 2147483646 w 3538"/>
              <a:gd name="T5" fmla="*/ 2147483646 h 318"/>
              <a:gd name="T6" fmla="*/ 2147483646 w 3538"/>
              <a:gd name="T7" fmla="*/ 0 h 318"/>
              <a:gd name="T8" fmla="*/ 2147483646 w 3538"/>
              <a:gd name="T9" fmla="*/ 2147483646 h 318"/>
              <a:gd name="T10" fmla="*/ 2147483646 w 3538"/>
              <a:gd name="T11" fmla="*/ 0 h 318"/>
              <a:gd name="T12" fmla="*/ 2147483646 w 3538"/>
              <a:gd name="T13" fmla="*/ 2147483646 h 318"/>
              <a:gd name="T14" fmla="*/ 2147483646 w 3538"/>
              <a:gd name="T15" fmla="*/ 2147483646 h 3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38" h="318">
                <a:moveTo>
                  <a:pt x="0" y="318"/>
                </a:moveTo>
                <a:lnTo>
                  <a:pt x="453" y="0"/>
                </a:lnTo>
                <a:lnTo>
                  <a:pt x="1088" y="318"/>
                </a:lnTo>
                <a:lnTo>
                  <a:pt x="1542" y="0"/>
                </a:lnTo>
                <a:lnTo>
                  <a:pt x="2177" y="318"/>
                </a:lnTo>
                <a:lnTo>
                  <a:pt x="2630" y="0"/>
                </a:lnTo>
                <a:lnTo>
                  <a:pt x="3265" y="318"/>
                </a:lnTo>
                <a:lnTo>
                  <a:pt x="3538" y="137"/>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4" name="Freeform 38">
            <a:extLst>
              <a:ext uri="{FF2B5EF4-FFF2-40B4-BE49-F238E27FC236}">
                <a16:creationId xmlns:a16="http://schemas.microsoft.com/office/drawing/2014/main" id="{78B60846-C54E-7741-A4F0-DF54AE02B9FF}"/>
              </a:ext>
            </a:extLst>
          </p:cNvPr>
          <p:cNvSpPr>
            <a:spLocks/>
          </p:cNvSpPr>
          <p:nvPr/>
        </p:nvSpPr>
        <p:spPr bwMode="auto">
          <a:xfrm>
            <a:off x="468313" y="3716338"/>
            <a:ext cx="5543550" cy="504825"/>
          </a:xfrm>
          <a:custGeom>
            <a:avLst/>
            <a:gdLst>
              <a:gd name="T0" fmla="*/ 0 w 3492"/>
              <a:gd name="T1" fmla="*/ 2147483646 h 318"/>
              <a:gd name="T2" fmla="*/ 0 w 3492"/>
              <a:gd name="T3" fmla="*/ 2147483646 h 318"/>
              <a:gd name="T4" fmla="*/ 2147483646 w 3492"/>
              <a:gd name="T5" fmla="*/ 0 h 318"/>
              <a:gd name="T6" fmla="*/ 2147483646 w 3492"/>
              <a:gd name="T7" fmla="*/ 2147483646 h 318"/>
              <a:gd name="T8" fmla="*/ 2147483646 w 3492"/>
              <a:gd name="T9" fmla="*/ 2147483646 h 318"/>
              <a:gd name="T10" fmla="*/ 2147483646 w 3492"/>
              <a:gd name="T11" fmla="*/ 2147483646 h 318"/>
              <a:gd name="T12" fmla="*/ 2147483646 w 3492"/>
              <a:gd name="T13" fmla="*/ 0 h 318"/>
              <a:gd name="T14" fmla="*/ 2147483646 w 3492"/>
              <a:gd name="T15" fmla="*/ 2147483646 h 318"/>
              <a:gd name="T16" fmla="*/ 2147483646 w 3492"/>
              <a:gd name="T17" fmla="*/ 2147483646 h 318"/>
              <a:gd name="T18" fmla="*/ 2147483646 w 3492"/>
              <a:gd name="T19" fmla="*/ 2147483646 h 318"/>
              <a:gd name="T20" fmla="*/ 2147483646 w 3492"/>
              <a:gd name="T21" fmla="*/ 0 h 318"/>
              <a:gd name="T22" fmla="*/ 2147483646 w 3492"/>
              <a:gd name="T23" fmla="*/ 2147483646 h 318"/>
              <a:gd name="T24" fmla="*/ 2147483646 w 3492"/>
              <a:gd name="T25" fmla="*/ 2147483646 h 318"/>
              <a:gd name="T26" fmla="*/ 2147483646 w 3492"/>
              <a:gd name="T27" fmla="*/ 2147483646 h 318"/>
              <a:gd name="T28" fmla="*/ 2147483646 w 3492"/>
              <a:gd name="T29" fmla="*/ 2147483646 h 3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92" h="318">
                <a:moveTo>
                  <a:pt x="0" y="318"/>
                </a:moveTo>
                <a:lnTo>
                  <a:pt x="0" y="137"/>
                </a:lnTo>
                <a:lnTo>
                  <a:pt x="453" y="0"/>
                </a:lnTo>
                <a:lnTo>
                  <a:pt x="453" y="318"/>
                </a:lnTo>
                <a:lnTo>
                  <a:pt x="1088" y="318"/>
                </a:lnTo>
                <a:lnTo>
                  <a:pt x="1088" y="137"/>
                </a:lnTo>
                <a:lnTo>
                  <a:pt x="1542" y="0"/>
                </a:lnTo>
                <a:lnTo>
                  <a:pt x="1542" y="318"/>
                </a:lnTo>
                <a:lnTo>
                  <a:pt x="2177" y="318"/>
                </a:lnTo>
                <a:lnTo>
                  <a:pt x="2177" y="137"/>
                </a:lnTo>
                <a:lnTo>
                  <a:pt x="2630" y="0"/>
                </a:lnTo>
                <a:lnTo>
                  <a:pt x="2630" y="318"/>
                </a:lnTo>
                <a:lnTo>
                  <a:pt x="3265" y="318"/>
                </a:lnTo>
                <a:lnTo>
                  <a:pt x="3265" y="137"/>
                </a:lnTo>
                <a:lnTo>
                  <a:pt x="3492" y="46"/>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5" name="Freeform 40">
            <a:extLst>
              <a:ext uri="{FF2B5EF4-FFF2-40B4-BE49-F238E27FC236}">
                <a16:creationId xmlns:a16="http://schemas.microsoft.com/office/drawing/2014/main" id="{DF9F5447-50BE-1548-AAE2-2DC21FFB23B8}"/>
              </a:ext>
            </a:extLst>
          </p:cNvPr>
          <p:cNvSpPr>
            <a:spLocks/>
          </p:cNvSpPr>
          <p:nvPr/>
        </p:nvSpPr>
        <p:spPr bwMode="auto">
          <a:xfrm>
            <a:off x="468313" y="4724400"/>
            <a:ext cx="5543550" cy="504825"/>
          </a:xfrm>
          <a:custGeom>
            <a:avLst/>
            <a:gdLst>
              <a:gd name="T0" fmla="*/ 0 w 3492"/>
              <a:gd name="T1" fmla="*/ 2147483646 h 318"/>
              <a:gd name="T2" fmla="*/ 2147483646 w 3492"/>
              <a:gd name="T3" fmla="*/ 2147483646 h 318"/>
              <a:gd name="T4" fmla="*/ 2147483646 w 3492"/>
              <a:gd name="T5" fmla="*/ 0 h 318"/>
              <a:gd name="T6" fmla="*/ 2147483646 w 3492"/>
              <a:gd name="T7" fmla="*/ 2147483646 h 318"/>
              <a:gd name="T8" fmla="*/ 2147483646 w 3492"/>
              <a:gd name="T9" fmla="*/ 2147483646 h 318"/>
              <a:gd name="T10" fmla="*/ 2147483646 w 3492"/>
              <a:gd name="T11" fmla="*/ 2147483646 h 318"/>
              <a:gd name="T12" fmla="*/ 2147483646 w 3492"/>
              <a:gd name="T13" fmla="*/ 0 h 318"/>
              <a:gd name="T14" fmla="*/ 2147483646 w 3492"/>
              <a:gd name="T15" fmla="*/ 2147483646 h 318"/>
              <a:gd name="T16" fmla="*/ 2147483646 w 3492"/>
              <a:gd name="T17" fmla="*/ 2147483646 h 318"/>
              <a:gd name="T18" fmla="*/ 2147483646 w 3492"/>
              <a:gd name="T19" fmla="*/ 2147483646 h 318"/>
              <a:gd name="T20" fmla="*/ 2147483646 w 3492"/>
              <a:gd name="T21" fmla="*/ 0 h 318"/>
              <a:gd name="T22" fmla="*/ 2147483646 w 3492"/>
              <a:gd name="T23" fmla="*/ 2147483646 h 318"/>
              <a:gd name="T24" fmla="*/ 2147483646 w 3492"/>
              <a:gd name="T25" fmla="*/ 2147483646 h 318"/>
              <a:gd name="T26" fmla="*/ 2147483646 w 3492"/>
              <a:gd name="T27" fmla="*/ 2147483646 h 3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92" h="318">
                <a:moveTo>
                  <a:pt x="0" y="318"/>
                </a:moveTo>
                <a:lnTo>
                  <a:pt x="453" y="318"/>
                </a:lnTo>
                <a:lnTo>
                  <a:pt x="453" y="0"/>
                </a:lnTo>
                <a:lnTo>
                  <a:pt x="1088" y="137"/>
                </a:lnTo>
                <a:lnTo>
                  <a:pt x="1088" y="318"/>
                </a:lnTo>
                <a:lnTo>
                  <a:pt x="1542" y="318"/>
                </a:lnTo>
                <a:lnTo>
                  <a:pt x="1542" y="0"/>
                </a:lnTo>
                <a:lnTo>
                  <a:pt x="2177" y="137"/>
                </a:lnTo>
                <a:lnTo>
                  <a:pt x="2177" y="318"/>
                </a:lnTo>
                <a:lnTo>
                  <a:pt x="2630" y="318"/>
                </a:lnTo>
                <a:lnTo>
                  <a:pt x="2630" y="0"/>
                </a:lnTo>
                <a:lnTo>
                  <a:pt x="3265" y="137"/>
                </a:lnTo>
                <a:lnTo>
                  <a:pt x="3265" y="318"/>
                </a:lnTo>
                <a:lnTo>
                  <a:pt x="3492" y="318"/>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 name="Line 41">
            <a:extLst>
              <a:ext uri="{FF2B5EF4-FFF2-40B4-BE49-F238E27FC236}">
                <a16:creationId xmlns:a16="http://schemas.microsoft.com/office/drawing/2014/main" id="{F9C7267A-8DC4-6A48-A624-FAB7D9F71FC0}"/>
              </a:ext>
            </a:extLst>
          </p:cNvPr>
          <p:cNvSpPr>
            <a:spLocks noChangeShapeType="1"/>
          </p:cNvSpPr>
          <p:nvPr/>
        </p:nvSpPr>
        <p:spPr bwMode="auto">
          <a:xfrm>
            <a:off x="468313" y="1412875"/>
            <a:ext cx="5688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 name="Line 42">
            <a:extLst>
              <a:ext uri="{FF2B5EF4-FFF2-40B4-BE49-F238E27FC236}">
                <a16:creationId xmlns:a16="http://schemas.microsoft.com/office/drawing/2014/main" id="{A68DA9EB-AB47-4649-B1EC-AC6993CE0464}"/>
              </a:ext>
            </a:extLst>
          </p:cNvPr>
          <p:cNvSpPr>
            <a:spLocks noChangeShapeType="1"/>
          </p:cNvSpPr>
          <p:nvPr/>
        </p:nvSpPr>
        <p:spPr bwMode="auto">
          <a:xfrm>
            <a:off x="468313" y="2276475"/>
            <a:ext cx="5688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8" name="Line 43">
            <a:extLst>
              <a:ext uri="{FF2B5EF4-FFF2-40B4-BE49-F238E27FC236}">
                <a16:creationId xmlns:a16="http://schemas.microsoft.com/office/drawing/2014/main" id="{C61926CE-A963-784B-AAC9-85E39D91E5D1}"/>
              </a:ext>
            </a:extLst>
          </p:cNvPr>
          <p:cNvSpPr>
            <a:spLocks noChangeShapeType="1"/>
          </p:cNvSpPr>
          <p:nvPr/>
        </p:nvSpPr>
        <p:spPr bwMode="auto">
          <a:xfrm>
            <a:off x="468313" y="5229225"/>
            <a:ext cx="5688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9" name="Line 44">
            <a:extLst>
              <a:ext uri="{FF2B5EF4-FFF2-40B4-BE49-F238E27FC236}">
                <a16:creationId xmlns:a16="http://schemas.microsoft.com/office/drawing/2014/main" id="{6D6CF482-263B-1D46-8FE6-310CC6DEEBE2}"/>
              </a:ext>
            </a:extLst>
          </p:cNvPr>
          <p:cNvSpPr>
            <a:spLocks noChangeShapeType="1"/>
          </p:cNvSpPr>
          <p:nvPr/>
        </p:nvSpPr>
        <p:spPr bwMode="auto">
          <a:xfrm>
            <a:off x="468313" y="3573463"/>
            <a:ext cx="5688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0" name="Line 45">
            <a:extLst>
              <a:ext uri="{FF2B5EF4-FFF2-40B4-BE49-F238E27FC236}">
                <a16:creationId xmlns:a16="http://schemas.microsoft.com/office/drawing/2014/main" id="{0A610907-B131-D548-BBB5-9BD9C8E6AF15}"/>
              </a:ext>
            </a:extLst>
          </p:cNvPr>
          <p:cNvSpPr>
            <a:spLocks noChangeShapeType="1"/>
          </p:cNvSpPr>
          <p:nvPr/>
        </p:nvSpPr>
        <p:spPr bwMode="auto">
          <a:xfrm>
            <a:off x="468313" y="4221163"/>
            <a:ext cx="5688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1" name="Text Box 46">
            <a:extLst>
              <a:ext uri="{FF2B5EF4-FFF2-40B4-BE49-F238E27FC236}">
                <a16:creationId xmlns:a16="http://schemas.microsoft.com/office/drawing/2014/main" id="{8AD5318C-05FF-0F49-A667-5BA7B1486F50}"/>
              </a:ext>
            </a:extLst>
          </p:cNvPr>
          <p:cNvSpPr txBox="1">
            <a:spLocks noChangeArrowheads="1"/>
          </p:cNvSpPr>
          <p:nvPr/>
        </p:nvSpPr>
        <p:spPr bwMode="auto">
          <a:xfrm>
            <a:off x="4859338" y="1125538"/>
            <a:ext cx="5381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OFF</a:t>
            </a:r>
            <a:endParaRPr lang="en-US" altLang="en-US" sz="1400" b="1"/>
          </a:p>
        </p:txBody>
      </p:sp>
      <p:sp>
        <p:nvSpPr>
          <p:cNvPr id="39952" name="Text Box 47">
            <a:extLst>
              <a:ext uri="{FF2B5EF4-FFF2-40B4-BE49-F238E27FC236}">
                <a16:creationId xmlns:a16="http://schemas.microsoft.com/office/drawing/2014/main" id="{420BB162-EEB6-974C-B9B4-B63F22F4091F}"/>
              </a:ext>
            </a:extLst>
          </p:cNvPr>
          <p:cNvSpPr txBox="1">
            <a:spLocks noChangeArrowheads="1"/>
          </p:cNvSpPr>
          <p:nvPr/>
        </p:nvSpPr>
        <p:spPr bwMode="auto">
          <a:xfrm>
            <a:off x="3995738" y="620713"/>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ON</a:t>
            </a:r>
            <a:endParaRPr lang="en-US" altLang="en-US" sz="1400" b="1"/>
          </a:p>
        </p:txBody>
      </p:sp>
      <p:sp>
        <p:nvSpPr>
          <p:cNvPr id="39953" name="Text Box 48">
            <a:extLst>
              <a:ext uri="{FF2B5EF4-FFF2-40B4-BE49-F238E27FC236}">
                <a16:creationId xmlns:a16="http://schemas.microsoft.com/office/drawing/2014/main" id="{7DEE876C-D180-1A4F-BB65-F64F05AA43F4}"/>
              </a:ext>
            </a:extLst>
          </p:cNvPr>
          <p:cNvSpPr txBox="1">
            <a:spLocks noChangeArrowheads="1"/>
          </p:cNvSpPr>
          <p:nvPr/>
        </p:nvSpPr>
        <p:spPr bwMode="auto">
          <a:xfrm>
            <a:off x="3995738" y="1557338"/>
            <a:ext cx="42511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dirty="0"/>
              <a:t>V</a:t>
            </a:r>
            <a:r>
              <a:rPr lang="en-GB" altLang="en-US" sz="1400" b="1" baseline="-25000" dirty="0"/>
              <a:t>IN</a:t>
            </a:r>
            <a:endParaRPr lang="en-US" altLang="en-US" sz="1400" b="1" baseline="-25000" dirty="0"/>
          </a:p>
        </p:txBody>
      </p:sp>
      <p:sp>
        <p:nvSpPr>
          <p:cNvPr id="39954" name="Text Box 49">
            <a:extLst>
              <a:ext uri="{FF2B5EF4-FFF2-40B4-BE49-F238E27FC236}">
                <a16:creationId xmlns:a16="http://schemas.microsoft.com/office/drawing/2014/main" id="{51893AC1-8CE6-D348-9704-962E2CEABC13}"/>
              </a:ext>
            </a:extLst>
          </p:cNvPr>
          <p:cNvSpPr txBox="1">
            <a:spLocks noChangeArrowheads="1"/>
          </p:cNvSpPr>
          <p:nvPr/>
        </p:nvSpPr>
        <p:spPr bwMode="auto">
          <a:xfrm>
            <a:off x="4787900" y="2276475"/>
            <a:ext cx="5581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dirty="0"/>
              <a:t>V</a:t>
            </a:r>
            <a:r>
              <a:rPr lang="en-GB" altLang="en-US" sz="1400" b="1" baseline="-25000" dirty="0"/>
              <a:t>OUT</a:t>
            </a:r>
            <a:endParaRPr lang="en-US" altLang="en-US" sz="1400" b="1" baseline="-25000" dirty="0"/>
          </a:p>
        </p:txBody>
      </p:sp>
      <p:sp>
        <p:nvSpPr>
          <p:cNvPr id="39955" name="Text Box 50">
            <a:extLst>
              <a:ext uri="{FF2B5EF4-FFF2-40B4-BE49-F238E27FC236}">
                <a16:creationId xmlns:a16="http://schemas.microsoft.com/office/drawing/2014/main" id="{9E7B6C3C-0DAE-7C45-80D6-9DE8AD167F05}"/>
              </a:ext>
            </a:extLst>
          </p:cNvPr>
          <p:cNvSpPr txBox="1">
            <a:spLocks noChangeArrowheads="1"/>
          </p:cNvSpPr>
          <p:nvPr/>
        </p:nvSpPr>
        <p:spPr bwMode="auto">
          <a:xfrm>
            <a:off x="6156325" y="1268413"/>
            <a:ext cx="16335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Switch waveform</a:t>
            </a:r>
            <a:endParaRPr lang="en-US" altLang="en-US" sz="1400" b="1"/>
          </a:p>
        </p:txBody>
      </p:sp>
      <p:sp>
        <p:nvSpPr>
          <p:cNvPr id="39956" name="Text Box 51">
            <a:extLst>
              <a:ext uri="{FF2B5EF4-FFF2-40B4-BE49-F238E27FC236}">
                <a16:creationId xmlns:a16="http://schemas.microsoft.com/office/drawing/2014/main" id="{CDAD1E44-4B85-274E-8A19-E647F5764F2E}"/>
              </a:ext>
            </a:extLst>
          </p:cNvPr>
          <p:cNvSpPr txBox="1">
            <a:spLocks noChangeArrowheads="1"/>
          </p:cNvSpPr>
          <p:nvPr/>
        </p:nvSpPr>
        <p:spPr bwMode="auto">
          <a:xfrm>
            <a:off x="6156325" y="2133600"/>
            <a:ext cx="15605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Inductor voltage</a:t>
            </a:r>
            <a:endParaRPr lang="en-US" altLang="en-US" sz="1400" b="1"/>
          </a:p>
        </p:txBody>
      </p:sp>
      <p:sp>
        <p:nvSpPr>
          <p:cNvPr id="39957" name="Text Box 52">
            <a:extLst>
              <a:ext uri="{FF2B5EF4-FFF2-40B4-BE49-F238E27FC236}">
                <a16:creationId xmlns:a16="http://schemas.microsoft.com/office/drawing/2014/main" id="{0562F4CC-3184-7241-8E8B-41AD6611CF27}"/>
              </a:ext>
            </a:extLst>
          </p:cNvPr>
          <p:cNvSpPr txBox="1">
            <a:spLocks noChangeArrowheads="1"/>
          </p:cNvSpPr>
          <p:nvPr/>
        </p:nvSpPr>
        <p:spPr bwMode="auto">
          <a:xfrm>
            <a:off x="6156325" y="3429000"/>
            <a:ext cx="155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Inductor current</a:t>
            </a:r>
            <a:endParaRPr lang="en-US" altLang="en-US" sz="1400" b="1"/>
          </a:p>
        </p:txBody>
      </p:sp>
      <p:sp>
        <p:nvSpPr>
          <p:cNvPr id="39958" name="Text Box 53">
            <a:extLst>
              <a:ext uri="{FF2B5EF4-FFF2-40B4-BE49-F238E27FC236}">
                <a16:creationId xmlns:a16="http://schemas.microsoft.com/office/drawing/2014/main" id="{D438EF12-0C91-184A-BD53-0C5A19F7AB22}"/>
              </a:ext>
            </a:extLst>
          </p:cNvPr>
          <p:cNvSpPr txBox="1">
            <a:spLocks noChangeArrowheads="1"/>
          </p:cNvSpPr>
          <p:nvPr/>
        </p:nvSpPr>
        <p:spPr bwMode="auto">
          <a:xfrm>
            <a:off x="6156325" y="4076700"/>
            <a:ext cx="1416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Switch current</a:t>
            </a:r>
            <a:endParaRPr lang="en-US" altLang="en-US" sz="1400" b="1"/>
          </a:p>
        </p:txBody>
      </p:sp>
      <p:sp>
        <p:nvSpPr>
          <p:cNvPr id="39959" name="Text Box 54">
            <a:extLst>
              <a:ext uri="{FF2B5EF4-FFF2-40B4-BE49-F238E27FC236}">
                <a16:creationId xmlns:a16="http://schemas.microsoft.com/office/drawing/2014/main" id="{8FF03C25-EF06-B642-AB3E-A115A3B2F369}"/>
              </a:ext>
            </a:extLst>
          </p:cNvPr>
          <p:cNvSpPr txBox="1">
            <a:spLocks noChangeArrowheads="1"/>
          </p:cNvSpPr>
          <p:nvPr/>
        </p:nvSpPr>
        <p:spPr bwMode="auto">
          <a:xfrm>
            <a:off x="6156325" y="5084763"/>
            <a:ext cx="2135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Current INTO capacitor</a:t>
            </a:r>
            <a:endParaRPr lang="en-US" altLang="en-US" sz="1400" b="1"/>
          </a:p>
        </p:txBody>
      </p:sp>
      <p:sp>
        <p:nvSpPr>
          <p:cNvPr id="39968" name="Text Box 63">
            <a:extLst>
              <a:ext uri="{FF2B5EF4-FFF2-40B4-BE49-F238E27FC236}">
                <a16:creationId xmlns:a16="http://schemas.microsoft.com/office/drawing/2014/main" id="{72F18B07-560D-2546-8AED-6041CCB99EAA}"/>
              </a:ext>
            </a:extLst>
          </p:cNvPr>
          <p:cNvSpPr txBox="1">
            <a:spLocks noChangeArrowheads="1"/>
          </p:cNvSpPr>
          <p:nvPr/>
        </p:nvSpPr>
        <p:spPr bwMode="auto">
          <a:xfrm>
            <a:off x="4729163" y="3619500"/>
            <a:ext cx="646112" cy="3143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latin typeface="Times New Roman" panose="02020603050405020304" pitchFamily="18" charset="0"/>
              </a:rPr>
              <a:t>I</a:t>
            </a:r>
            <a:r>
              <a:rPr lang="en-GB" altLang="en-US" sz="1400" baseline="-25000">
                <a:latin typeface="Times New Roman" panose="02020603050405020304" pitchFamily="18" charset="0"/>
              </a:rPr>
              <a:t>ON</a:t>
            </a:r>
            <a:r>
              <a:rPr lang="en-GB" altLang="en-US" sz="1400">
                <a:latin typeface="Times New Roman" panose="02020603050405020304" pitchFamily="18" charset="0"/>
              </a:rPr>
              <a:t>=I</a:t>
            </a:r>
            <a:r>
              <a:rPr lang="en-GB" altLang="en-US" sz="1400" baseline="-25000">
                <a:latin typeface="Times New Roman" panose="02020603050405020304" pitchFamily="18" charset="0"/>
              </a:rPr>
              <a:t>L</a:t>
            </a:r>
            <a:endParaRPr lang="en-US" altLang="en-US" sz="1400" baseline="-25000">
              <a:latin typeface="Times New Roman" panose="02020603050405020304" pitchFamily="18" charset="0"/>
            </a:endParaRPr>
          </a:p>
        </p:txBody>
      </p:sp>
      <p:sp>
        <p:nvSpPr>
          <p:cNvPr id="39969" name="Oval 64">
            <a:extLst>
              <a:ext uri="{FF2B5EF4-FFF2-40B4-BE49-F238E27FC236}">
                <a16:creationId xmlns:a16="http://schemas.microsoft.com/office/drawing/2014/main" id="{8DC6C053-3D82-284E-B0DB-6E2DF32BF032}"/>
              </a:ext>
            </a:extLst>
          </p:cNvPr>
          <p:cNvSpPr>
            <a:spLocks noChangeArrowheads="1"/>
          </p:cNvSpPr>
          <p:nvPr/>
        </p:nvSpPr>
        <p:spPr bwMode="auto">
          <a:xfrm>
            <a:off x="5592763" y="3259138"/>
            <a:ext cx="144462" cy="287337"/>
          </a:xfrm>
          <a:prstGeom prst="ellipse">
            <a:avLst/>
          </a:prstGeom>
          <a:noFill/>
          <a:ln w="952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9970" name="Oval 65">
            <a:extLst>
              <a:ext uri="{FF2B5EF4-FFF2-40B4-BE49-F238E27FC236}">
                <a16:creationId xmlns:a16="http://schemas.microsoft.com/office/drawing/2014/main" id="{0B28D39A-A802-7C43-A932-A80DB121484A}"/>
              </a:ext>
            </a:extLst>
          </p:cNvPr>
          <p:cNvSpPr>
            <a:spLocks noChangeArrowheads="1"/>
          </p:cNvSpPr>
          <p:nvPr/>
        </p:nvSpPr>
        <p:spPr bwMode="auto">
          <a:xfrm>
            <a:off x="5592763" y="3808413"/>
            <a:ext cx="176212" cy="530225"/>
          </a:xfrm>
          <a:prstGeom prst="ellipse">
            <a:avLst/>
          </a:prstGeom>
          <a:noFill/>
          <a:ln w="952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9971" name="Line 66">
            <a:extLst>
              <a:ext uri="{FF2B5EF4-FFF2-40B4-BE49-F238E27FC236}">
                <a16:creationId xmlns:a16="http://schemas.microsoft.com/office/drawing/2014/main" id="{98600FB9-66A6-1048-A5D0-E5635FF4C4C5}"/>
              </a:ext>
            </a:extLst>
          </p:cNvPr>
          <p:cNvSpPr>
            <a:spLocks noChangeShapeType="1"/>
          </p:cNvSpPr>
          <p:nvPr/>
        </p:nvSpPr>
        <p:spPr bwMode="auto">
          <a:xfrm flipV="1">
            <a:off x="5305425" y="3475038"/>
            <a:ext cx="287338"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72" name="Line 67">
            <a:extLst>
              <a:ext uri="{FF2B5EF4-FFF2-40B4-BE49-F238E27FC236}">
                <a16:creationId xmlns:a16="http://schemas.microsoft.com/office/drawing/2014/main" id="{8A5DB6B2-DA0B-D245-B513-807CBC7450C7}"/>
              </a:ext>
            </a:extLst>
          </p:cNvPr>
          <p:cNvSpPr>
            <a:spLocks noChangeShapeType="1"/>
          </p:cNvSpPr>
          <p:nvPr/>
        </p:nvSpPr>
        <p:spPr bwMode="auto">
          <a:xfrm>
            <a:off x="5305425" y="3763963"/>
            <a:ext cx="287338"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73" name="Text Box 68">
            <a:extLst>
              <a:ext uri="{FF2B5EF4-FFF2-40B4-BE49-F238E27FC236}">
                <a16:creationId xmlns:a16="http://schemas.microsoft.com/office/drawing/2014/main" id="{CD1F54C4-7C20-104D-BF94-5744B5656318}"/>
              </a:ext>
            </a:extLst>
          </p:cNvPr>
          <p:cNvSpPr txBox="1">
            <a:spLocks noChangeArrowheads="1"/>
          </p:cNvSpPr>
          <p:nvPr/>
        </p:nvSpPr>
        <p:spPr bwMode="auto">
          <a:xfrm>
            <a:off x="3497263" y="4005263"/>
            <a:ext cx="842962" cy="3143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a:latin typeface="Times New Roman" panose="02020603050405020304" pitchFamily="18" charset="0"/>
              </a:rPr>
              <a:t>I</a:t>
            </a:r>
            <a:r>
              <a:rPr lang="en-GB" altLang="en-US" sz="1400" baseline="-25000">
                <a:latin typeface="Times New Roman" panose="02020603050405020304" pitchFamily="18" charset="0"/>
              </a:rPr>
              <a:t>OFF</a:t>
            </a:r>
            <a:r>
              <a:rPr lang="en-GB" altLang="en-US" sz="1400">
                <a:latin typeface="Times New Roman" panose="02020603050405020304" pitchFamily="18" charset="0"/>
              </a:rPr>
              <a:t>=I</a:t>
            </a:r>
            <a:r>
              <a:rPr lang="en-GB" altLang="en-US" sz="1400" baseline="-25000">
                <a:latin typeface="Times New Roman" panose="02020603050405020304" pitchFamily="18" charset="0"/>
              </a:rPr>
              <a:t>CAP</a:t>
            </a:r>
            <a:endParaRPr lang="en-US" altLang="en-US" sz="1400" baseline="-25000">
              <a:latin typeface="Times New Roman" panose="02020603050405020304" pitchFamily="18" charset="0"/>
            </a:endParaRPr>
          </a:p>
        </p:txBody>
      </p:sp>
      <p:sp>
        <p:nvSpPr>
          <p:cNvPr id="39974" name="Oval 69">
            <a:extLst>
              <a:ext uri="{FF2B5EF4-FFF2-40B4-BE49-F238E27FC236}">
                <a16:creationId xmlns:a16="http://schemas.microsoft.com/office/drawing/2014/main" id="{511F54BB-5D19-744D-A8C3-106B46D55E83}"/>
              </a:ext>
            </a:extLst>
          </p:cNvPr>
          <p:cNvSpPr>
            <a:spLocks noChangeArrowheads="1"/>
          </p:cNvSpPr>
          <p:nvPr/>
        </p:nvSpPr>
        <p:spPr bwMode="auto">
          <a:xfrm>
            <a:off x="4557713" y="3644900"/>
            <a:ext cx="144462" cy="287338"/>
          </a:xfrm>
          <a:prstGeom prst="ellipse">
            <a:avLst/>
          </a:prstGeom>
          <a:noFill/>
          <a:ln w="952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9975" name="Oval 70">
            <a:extLst>
              <a:ext uri="{FF2B5EF4-FFF2-40B4-BE49-F238E27FC236}">
                <a16:creationId xmlns:a16="http://schemas.microsoft.com/office/drawing/2014/main" id="{F2C92C00-6DA6-ED44-8AD9-5B9F4D235629}"/>
              </a:ext>
            </a:extLst>
          </p:cNvPr>
          <p:cNvSpPr>
            <a:spLocks noChangeArrowheads="1"/>
          </p:cNvSpPr>
          <p:nvPr/>
        </p:nvSpPr>
        <p:spPr bwMode="auto">
          <a:xfrm>
            <a:off x="4557713" y="4548188"/>
            <a:ext cx="144462" cy="287337"/>
          </a:xfrm>
          <a:prstGeom prst="ellipse">
            <a:avLst/>
          </a:prstGeom>
          <a:noFill/>
          <a:ln w="9525">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sp>
        <p:nvSpPr>
          <p:cNvPr id="39976" name="Line 71">
            <a:extLst>
              <a:ext uri="{FF2B5EF4-FFF2-40B4-BE49-F238E27FC236}">
                <a16:creationId xmlns:a16="http://schemas.microsoft.com/office/drawing/2014/main" id="{5D2715E7-4467-C647-AEC6-F19FDED3EF20}"/>
              </a:ext>
            </a:extLst>
          </p:cNvPr>
          <p:cNvSpPr>
            <a:spLocks noChangeShapeType="1"/>
          </p:cNvSpPr>
          <p:nvPr/>
        </p:nvSpPr>
        <p:spPr bwMode="auto">
          <a:xfrm flipV="1">
            <a:off x="4270375" y="3860800"/>
            <a:ext cx="287338"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77" name="Line 72">
            <a:extLst>
              <a:ext uri="{FF2B5EF4-FFF2-40B4-BE49-F238E27FC236}">
                <a16:creationId xmlns:a16="http://schemas.microsoft.com/office/drawing/2014/main" id="{76BC44DD-1454-2343-8864-C6544131289F}"/>
              </a:ext>
            </a:extLst>
          </p:cNvPr>
          <p:cNvSpPr>
            <a:spLocks noChangeShapeType="1"/>
          </p:cNvSpPr>
          <p:nvPr/>
        </p:nvSpPr>
        <p:spPr bwMode="auto">
          <a:xfrm>
            <a:off x="4270375" y="4149725"/>
            <a:ext cx="298450" cy="419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F2E0FCA3-0B72-6A90-7CEE-D7AAC26AD355}"/>
                  </a:ext>
                </a:extLst>
              </p:cNvPr>
              <p:cNvGraphicFramePr>
                <a:graphicFrameLocks noChangeAspect="1"/>
              </p:cNvGraphicFramePr>
              <p:nvPr>
                <p:extLst>
                  <p:ext uri="{D42A27DB-BD31-4B8C-83A1-F6EECF244321}">
                    <p14:modId xmlns:p14="http://schemas.microsoft.com/office/powerpoint/2010/main" val="794135277"/>
                  </p:ext>
                </p:extLst>
              </p:nvPr>
            </p:nvGraphicFramePr>
            <p:xfrm>
              <a:off x="-4398264" y="3623310"/>
              <a:ext cx="2286000" cy="1714500"/>
            </p:xfrm>
            <a:graphic>
              <a:graphicData uri="http://schemas.microsoft.com/office/powerpoint/2016/slidezoom">
                <pslz:sldZm>
                  <pslz:sldZmObj sldId="289" cId="0">
                    <pslz:zmPr id="{96F3CDB6-AE49-4ED7-8B73-FD59BAB469DF}" returnToParent="0" transitionDur="1000">
                      <p166:blipFill xmlns:p166="http://schemas.microsoft.com/office/powerpoint/2016/6/main">
                        <a:blip r:embed="rId3"/>
                        <a:stretch>
                          <a:fillRect/>
                        </a:stretch>
                      </p166:blipFill>
                      <p166:spPr xmlns:p166="http://schemas.microsoft.com/office/powerpoint/2016/6/main">
                        <a:xfrm>
                          <a:off x="0" y="0"/>
                          <a:ext cx="2286000" cy="1714500"/>
                        </a:xfrm>
                        <a:prstGeom prst="rect">
                          <a:avLst/>
                        </a:prstGeom>
                        <a:ln w="3175">
                          <a:solidFill>
                            <a:prstClr val="ltGray"/>
                          </a:solidFill>
                        </a:ln>
                      </p166:spPr>
                    </pslz:zmPr>
                  </pslz:sldZmObj>
                </pslz:sldZm>
              </a:graphicData>
            </a:graphic>
          </p:graphicFrame>
        </mc:Choice>
        <mc:Fallback xmlns="">
          <p:pic>
            <p:nvPicPr>
              <p:cNvPr id="3" name="Slide Zoom 2">
                <a:hlinkClick r:id="rId4" action="ppaction://hlinksldjump"/>
                <a:extLst>
                  <a:ext uri="{FF2B5EF4-FFF2-40B4-BE49-F238E27FC236}">
                    <a16:creationId xmlns:a16="http://schemas.microsoft.com/office/drawing/2014/main" id="{F2E0FCA3-0B72-6A90-7CEE-D7AAC26AD355}"/>
                  </a:ext>
                </a:extLst>
              </p:cNvPr>
              <p:cNvPicPr>
                <a:picLocks noGrp="1" noRot="1" noChangeAspect="1" noMove="1" noResize="1" noEditPoints="1" noAdjustHandles="1" noChangeArrowheads="1" noChangeShapeType="1"/>
              </p:cNvPicPr>
              <p:nvPr/>
            </p:nvPicPr>
            <p:blipFill>
              <a:blip r:embed="rId5"/>
              <a:stretch>
                <a:fillRect/>
              </a:stretch>
            </p:blipFill>
            <p:spPr>
              <a:xfrm>
                <a:off x="-4398264" y="3623310"/>
                <a:ext cx="2286000" cy="1714500"/>
              </a:xfrm>
              <a:prstGeom prst="rect">
                <a:avLst/>
              </a:prstGeom>
              <a:ln w="3175">
                <a:solidFill>
                  <a:prstClr val="ltGray"/>
                </a:solidFill>
              </a:ln>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096FFE68-071F-D85D-DD66-54A1720A2081}"/>
              </a:ext>
            </a:extLst>
          </p:cNvPr>
          <p:cNvSpPr txBox="1">
            <a:spLocks noChangeArrowheads="1"/>
          </p:cNvSpPr>
          <p:nvPr/>
        </p:nvSpPr>
        <p:spPr bwMode="auto">
          <a:xfrm>
            <a:off x="158750" y="65088"/>
            <a:ext cx="58742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Buck-boost converter Input/Output Voltage Relation</a:t>
            </a:r>
            <a:endParaRPr lang="en-US" altLang="en-US" sz="1800" dirty="0"/>
          </a:p>
        </p:txBody>
      </p:sp>
      <p:sp>
        <p:nvSpPr>
          <p:cNvPr id="25" name="TextBox 24">
            <a:extLst>
              <a:ext uri="{FF2B5EF4-FFF2-40B4-BE49-F238E27FC236}">
                <a16:creationId xmlns:a16="http://schemas.microsoft.com/office/drawing/2014/main" id="{CA1007F2-3419-B359-46E5-4FCFABEC90D5}"/>
              </a:ext>
            </a:extLst>
          </p:cNvPr>
          <p:cNvSpPr txBox="1"/>
          <p:nvPr/>
        </p:nvSpPr>
        <p:spPr>
          <a:xfrm>
            <a:off x="158749" y="5496684"/>
            <a:ext cx="4900865" cy="369332"/>
          </a:xfrm>
          <a:prstGeom prst="rect">
            <a:avLst/>
          </a:prstGeom>
          <a:noFill/>
        </p:spPr>
        <p:txBody>
          <a:bodyPr wrap="square" rtlCol="0">
            <a:spAutoFit/>
          </a:bodyPr>
          <a:lstStyle/>
          <a:p>
            <a:r>
              <a:rPr lang="en-GB" dirty="0">
                <a:solidFill>
                  <a:srgbClr val="FF0000"/>
                </a:solidFill>
              </a:rPr>
              <a:t>Polarity is opposite than the input</a:t>
            </a:r>
          </a:p>
        </p:txBody>
      </p:sp>
      <p:sp>
        <p:nvSpPr>
          <p:cNvPr id="2" name="Rectangle 1">
            <a:extLst>
              <a:ext uri="{FF2B5EF4-FFF2-40B4-BE49-F238E27FC236}">
                <a16:creationId xmlns:a16="http://schemas.microsoft.com/office/drawing/2014/main" id="{9AB236A5-09FF-B3C3-60F5-2A1FFD1C1063}"/>
              </a:ext>
            </a:extLst>
          </p:cNvPr>
          <p:cNvSpPr/>
          <p:nvPr/>
        </p:nvSpPr>
        <p:spPr>
          <a:xfrm>
            <a:off x="2113582" y="2318563"/>
            <a:ext cx="104503" cy="1132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648B14A-42DD-4509-3B13-C29D5576EE3D}"/>
                  </a:ext>
                </a:extLst>
              </p:cNvPr>
              <p:cNvSpPr txBox="1"/>
              <p:nvPr/>
            </p:nvSpPr>
            <p:spPr>
              <a:xfrm>
                <a:off x="0" y="831083"/>
                <a:ext cx="2459736" cy="425758"/>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pPr marL="0" marR="0" indent="0" algn="ctr">
                  <a:lnSpc>
                    <a:spcPts val="1300"/>
                  </a:lnSpc>
                  <a:spcBef>
                    <a:spcPts val="1200"/>
                  </a:spcBef>
                  <a:spcAft>
                    <a:spcPts val="0"/>
                  </a:spcAft>
                  <a:tabLst>
                    <a:tab pos="5715000" algn="r"/>
                  </a:tabLst>
                </a:pPr>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𝐿</m:t>
                              </m:r>
                            </m:sub>
                          </m:sSub>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US" sz="1800" dirty="0">
                  <a:effectLst/>
                  <a:latin typeface="Times"/>
                  <a:ea typeface="SimSu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D648B14A-42DD-4509-3B13-C29D5576EE3D}"/>
                  </a:ext>
                </a:extLst>
              </p:cNvPr>
              <p:cNvSpPr txBox="1">
                <a:spLocks noRot="1" noChangeAspect="1" noMove="1" noResize="1" noEditPoints="1" noAdjustHandles="1" noChangeArrowheads="1" noChangeShapeType="1" noTextEdit="1"/>
              </p:cNvSpPr>
              <p:nvPr/>
            </p:nvSpPr>
            <p:spPr>
              <a:xfrm>
                <a:off x="0" y="831083"/>
                <a:ext cx="2459736" cy="425758"/>
              </a:xfrm>
              <a:prstGeom prst="rect">
                <a:avLst/>
              </a:prstGeom>
              <a:blipFill>
                <a:blip r:embed="rId2"/>
                <a:stretch>
                  <a:fillRect l="-15099" t="-304286" b="-4171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CB94959-7E92-531B-A9CD-C140D8624D2A}"/>
                  </a:ext>
                </a:extLst>
              </p:cNvPr>
              <p:cNvSpPr txBox="1"/>
              <p:nvPr/>
            </p:nvSpPr>
            <p:spPr>
              <a:xfrm>
                <a:off x="426350" y="1419855"/>
                <a:ext cx="3139449" cy="7492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naryPr>
                        <m:sub>
                          <m:r>
                            <m:rPr>
                              <m:brk m:alnAt="23"/>
                            </m:r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sub>
                        <m:sup>
                          <m:sSub>
                            <m:sSubPr>
                              <m:ctrlP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𝑡</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𝑜𝑛</m:t>
                              </m:r>
                            </m:sub>
                          </m:sSub>
                        </m:sup>
                        <m:e>
                          <m:sSub>
                            <m:sSubPr>
                              <m:ctrlPr>
                                <a:rPr lang="en-US" sz="1800" i="1"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e>
                      </m:nary>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𝑑𝑡</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m:t>
                      </m:r>
                      <m:nary>
                        <m:naryPr>
                          <m:ctrlPr>
                            <a:rPr lang="en-US" i="1">
                              <a:latin typeface="Cambria Math" panose="02040503050406030204" pitchFamily="18" charset="0"/>
                              <a:ea typeface="SimSun" panose="02010600030101010101" pitchFamily="2" charset="-122"/>
                              <a:cs typeface="Times New Roman" panose="02020603050405020304" pitchFamily="18" charset="0"/>
                            </a:rPr>
                          </m:ctrlPr>
                        </m:naryPr>
                        <m: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sub>
                        <m:sup>
                          <m:r>
                            <a:rPr lang="en-GB" i="1">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e>
                      </m:nary>
                      <m:r>
                        <a:rPr lang="en-GB" b="0" i="1" smtClean="0">
                          <a:latin typeface="Cambria Math" panose="02040503050406030204" pitchFamily="18" charset="0"/>
                          <a:ea typeface="SimSun" panose="02010600030101010101" pitchFamily="2" charset="-122"/>
                          <a:cs typeface="Times New Roman" panose="02020603050405020304" pitchFamily="18" charset="0"/>
                        </a:rPr>
                        <m:t> </m:t>
                      </m:r>
                      <m:r>
                        <a:rPr lang="en-GB" i="1">
                          <a:latin typeface="Cambria Math" panose="02040503050406030204" pitchFamily="18" charset="0"/>
                          <a:ea typeface="SimSun" panose="02010600030101010101" pitchFamily="2" charset="-122"/>
                          <a:cs typeface="Times New Roman" panose="02020603050405020304" pitchFamily="18" charset="0"/>
                        </a:rPr>
                        <m:t>𝑑𝑡</m:t>
                      </m:r>
                      <m:r>
                        <a:rPr lang="en-US" i="1">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GB" dirty="0"/>
              </a:p>
            </p:txBody>
          </p:sp>
        </mc:Choice>
        <mc:Fallback xmlns="">
          <p:sp>
            <p:nvSpPr>
              <p:cNvPr id="5" name="TextBox 4">
                <a:extLst>
                  <a:ext uri="{FF2B5EF4-FFF2-40B4-BE49-F238E27FC236}">
                    <a16:creationId xmlns:a16="http://schemas.microsoft.com/office/drawing/2014/main" id="{7CB94959-7E92-531B-A9CD-C140D8624D2A}"/>
                  </a:ext>
                </a:extLst>
              </p:cNvPr>
              <p:cNvSpPr txBox="1">
                <a:spLocks noRot="1" noChangeAspect="1" noMove="1" noResize="1" noEditPoints="1" noAdjustHandles="1" noChangeArrowheads="1" noChangeShapeType="1" noTextEdit="1"/>
              </p:cNvSpPr>
              <p:nvPr/>
            </p:nvSpPr>
            <p:spPr>
              <a:xfrm>
                <a:off x="426350" y="1419855"/>
                <a:ext cx="3139449" cy="74924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3355F16-F139-0030-8C4E-C914378C85E5}"/>
                  </a:ext>
                </a:extLst>
              </p:cNvPr>
              <p:cNvSpPr txBox="1"/>
              <p:nvPr/>
            </p:nvSpPr>
            <p:spPr>
              <a:xfrm>
                <a:off x="362833" y="2247109"/>
                <a:ext cx="32411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𝐼𝑁</m:t>
                          </m:r>
                        </m:sub>
                      </m:sSub>
                      <m:sSub>
                        <m:sSubPr>
                          <m:ctrlP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sub>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0</m:t>
                      </m:r>
                    </m:oMath>
                  </m:oMathPara>
                </a14:m>
                <a:endParaRPr lang="en-GB" dirty="0"/>
              </a:p>
            </p:txBody>
          </p:sp>
        </mc:Choice>
        <mc:Fallback xmlns="">
          <p:sp>
            <p:nvSpPr>
              <p:cNvPr id="6" name="TextBox 5">
                <a:extLst>
                  <a:ext uri="{FF2B5EF4-FFF2-40B4-BE49-F238E27FC236}">
                    <a16:creationId xmlns:a16="http://schemas.microsoft.com/office/drawing/2014/main" id="{33355F16-F139-0030-8C4E-C914378C85E5}"/>
                  </a:ext>
                </a:extLst>
              </p:cNvPr>
              <p:cNvSpPr txBox="1">
                <a:spLocks noRot="1" noChangeAspect="1" noMove="1" noResize="1" noEditPoints="1" noAdjustHandles="1" noChangeArrowheads="1" noChangeShapeType="1" noTextEdit="1"/>
              </p:cNvSpPr>
              <p:nvPr/>
            </p:nvSpPr>
            <p:spPr>
              <a:xfrm>
                <a:off x="362833" y="2247109"/>
                <a:ext cx="3241144"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B514C60-5BF3-69CE-A890-9377A0673D53}"/>
                  </a:ext>
                </a:extLst>
              </p:cNvPr>
              <p:cNvSpPr txBox="1"/>
              <p:nvPr/>
            </p:nvSpPr>
            <p:spPr>
              <a:xfrm>
                <a:off x="380050" y="2813900"/>
                <a:ext cx="30984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𝐼𝑁</m:t>
                          </m:r>
                        </m:sub>
                      </m:sSub>
                      <m:sSub>
                        <m:sSubPr>
                          <m:ctrlP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sub>
                          <m:r>
                            <a:rPr lang="en-GB"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𝑜𝑛</m:t>
                          </m:r>
                        </m:sub>
                      </m:sSub>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sSub>
                        <m:sSubPr>
                          <m:ctrlPr>
                            <a:rPr lang="en-GB" i="1">
                              <a:latin typeface="Cambria Math" panose="02040503050406030204" pitchFamily="18" charset="0"/>
                              <a:ea typeface="SimSun" panose="02010600030101010101" pitchFamily="2" charset="-122"/>
                              <a:cs typeface="Times New Roman" panose="02020603050405020304" pitchFamily="18" charset="0"/>
                            </a:rPr>
                          </m:ctrlPr>
                        </m:sSubPr>
                        <m:e>
                          <m:sSub>
                            <m:sSubPr>
                              <m:ctrlPr>
                                <a:rPr lang="en-US" i="1" smtClean="0">
                                  <a:latin typeface="Cambria Math" panose="02040503050406030204" pitchFamily="18" charset="0"/>
                                  <a:ea typeface="SimSun" panose="02010600030101010101" pitchFamily="2" charset="-122"/>
                                  <a:cs typeface="Times New Roman" panose="02020603050405020304" pitchFamily="18" charset="0"/>
                                </a:rPr>
                              </m:ctrlPr>
                            </m:sSubPr>
                            <m:e>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b="0" i="1" smtClean="0">
                                  <a:latin typeface="Cambria Math" panose="02040503050406030204" pitchFamily="18" charset="0"/>
                                  <a:ea typeface="SimSun" panose="02010600030101010101" pitchFamily="2" charset="-122"/>
                                  <a:cs typeface="Times New Roman" panose="02020603050405020304" pitchFamily="18" charset="0"/>
                                </a:rPr>
                                <m:t>𝑂𝑈𝑇</m:t>
                              </m:r>
                              <m:r>
                                <a:rPr lang="en-GB" b="0" i="1" smtClean="0">
                                  <a:latin typeface="Cambria Math" panose="02040503050406030204" pitchFamily="18" charset="0"/>
                                  <a:ea typeface="SimSun" panose="02010600030101010101" pitchFamily="2" charset="-122"/>
                                  <a:cs typeface="Times New Roman" panose="02020603050405020304" pitchFamily="18" charset="0"/>
                                </a:rPr>
                                <m:t> </m:t>
                              </m:r>
                            </m:sub>
                          </m:sSub>
                          <m:r>
                            <a:rPr lang="en-GB" i="1">
                              <a:latin typeface="Cambria Math" panose="02040503050406030204" pitchFamily="18" charset="0"/>
                              <a:ea typeface="SimSun" panose="02010600030101010101" pitchFamily="2" charset="-122"/>
                              <a:cs typeface="Times New Roman" panose="02020603050405020304" pitchFamily="18" charset="0"/>
                            </a:rPr>
                            <m:t>𝑡</m:t>
                          </m:r>
                        </m:e>
                        <m:sub>
                          <m:r>
                            <a:rPr lang="en-GB" i="1">
                              <a:latin typeface="Cambria Math" panose="02040503050406030204" pitchFamily="18" charset="0"/>
                              <a:ea typeface="SimSun" panose="02010600030101010101" pitchFamily="2" charset="-122"/>
                              <a:cs typeface="Times New Roman" panose="02020603050405020304" pitchFamily="18" charset="0"/>
                            </a:rPr>
                            <m:t>𝑜𝑛</m:t>
                          </m:r>
                        </m:sub>
                      </m:sSub>
                    </m:oMath>
                  </m:oMathPara>
                </a14:m>
                <a:endParaRPr lang="en-GB" dirty="0"/>
              </a:p>
            </p:txBody>
          </p:sp>
        </mc:Choice>
        <mc:Fallback xmlns="">
          <p:sp>
            <p:nvSpPr>
              <p:cNvPr id="7" name="TextBox 6">
                <a:extLst>
                  <a:ext uri="{FF2B5EF4-FFF2-40B4-BE49-F238E27FC236}">
                    <a16:creationId xmlns:a16="http://schemas.microsoft.com/office/drawing/2014/main" id="{FB514C60-5BF3-69CE-A890-9377A0673D53}"/>
                  </a:ext>
                </a:extLst>
              </p:cNvPr>
              <p:cNvSpPr txBox="1">
                <a:spLocks noRot="1" noChangeAspect="1" noMove="1" noResize="1" noEditPoints="1" noAdjustHandles="1" noChangeArrowheads="1" noChangeShapeType="1" noTextEdit="1"/>
              </p:cNvSpPr>
              <p:nvPr/>
            </p:nvSpPr>
            <p:spPr>
              <a:xfrm>
                <a:off x="380050" y="2813900"/>
                <a:ext cx="3098476"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41E7F3A-3107-5567-03C5-34B93E4BCEC8}"/>
                  </a:ext>
                </a:extLst>
              </p:cNvPr>
              <p:cNvSpPr txBox="1"/>
              <p:nvPr/>
            </p:nvSpPr>
            <p:spPr>
              <a:xfrm>
                <a:off x="324553" y="3266689"/>
                <a:ext cx="29991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𝐷𝑇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i="1">
                          <a:latin typeface="Cambria Math" panose="02040503050406030204" pitchFamily="18" charset="0"/>
                          <a:ea typeface="SimSun" panose="02010600030101010101" pitchFamily="2" charset="-122"/>
                          <a:cs typeface="Times New Roman" panose="02020603050405020304" pitchFamily="18" charset="0"/>
                        </a:rPr>
                        <m:t>𝑇</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i="1">
                          <a:latin typeface="Cambria Math" panose="02040503050406030204" pitchFamily="18" charset="0"/>
                          <a:ea typeface="SimSun" panose="02010600030101010101" pitchFamily="2" charset="-122"/>
                          <a:cs typeface="Times New Roman" panose="02020603050405020304" pitchFamily="18" charset="0"/>
                        </a:rPr>
                        <m:t>𝐷𝑇</m:t>
                      </m:r>
                    </m:oMath>
                  </m:oMathPara>
                </a14:m>
                <a:endParaRPr lang="en-GB" dirty="0"/>
              </a:p>
            </p:txBody>
          </p:sp>
        </mc:Choice>
        <mc:Fallback xmlns="">
          <p:sp>
            <p:nvSpPr>
              <p:cNvPr id="8" name="TextBox 7">
                <a:extLst>
                  <a:ext uri="{FF2B5EF4-FFF2-40B4-BE49-F238E27FC236}">
                    <a16:creationId xmlns:a16="http://schemas.microsoft.com/office/drawing/2014/main" id="{741E7F3A-3107-5567-03C5-34B93E4BCEC8}"/>
                  </a:ext>
                </a:extLst>
              </p:cNvPr>
              <p:cNvSpPr txBox="1">
                <a:spLocks noRot="1" noChangeAspect="1" noMove="1" noResize="1" noEditPoints="1" noAdjustHandles="1" noChangeArrowheads="1" noChangeShapeType="1" noTextEdit="1"/>
              </p:cNvSpPr>
              <p:nvPr/>
            </p:nvSpPr>
            <p:spPr>
              <a:xfrm>
                <a:off x="324553" y="3266689"/>
                <a:ext cx="2999154"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0A142A-D341-B2D5-9CFE-B86C9D2FD8C7}"/>
                  </a:ext>
                </a:extLst>
              </p:cNvPr>
              <p:cNvSpPr txBox="1"/>
              <p:nvPr/>
            </p:nvSpPr>
            <p:spPr>
              <a:xfrm>
                <a:off x="324553" y="3784708"/>
                <a:ext cx="24331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𝐼𝑁</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𝐷</m:t>
                      </m:r>
                      <m:r>
                        <a:rPr lang="en-GB" b="0" i="1" smtClean="0">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latin typeface="Cambria Math" panose="02040503050406030204" pitchFamily="18" charset="0"/>
                              <a:ea typeface="SimSun" panose="02010600030101010101" pitchFamily="2" charset="-122"/>
                              <a:cs typeface="Times New Roman" panose="02020603050405020304" pitchFamily="18" charset="0"/>
                            </a:rPr>
                          </m:ctrlPr>
                        </m:sSubPr>
                        <m:e>
                          <m:r>
                            <a:rPr lang="en-GB" i="1">
                              <a:latin typeface="Cambria Math" panose="02040503050406030204" pitchFamily="18" charset="0"/>
                              <a:ea typeface="SimSun" panose="02010600030101010101" pitchFamily="2" charset="-122"/>
                              <a:cs typeface="Times New Roman" panose="02020603050405020304" pitchFamily="18" charset="0"/>
                            </a:rPr>
                            <m:t>𝑉</m:t>
                          </m:r>
                        </m:e>
                        <m:sub>
                          <m:r>
                            <a:rPr lang="en-GB" i="1">
                              <a:latin typeface="Cambria Math" panose="02040503050406030204" pitchFamily="18" charset="0"/>
                              <a:ea typeface="SimSun" panose="02010600030101010101" pitchFamily="2" charset="-122"/>
                              <a:cs typeface="Times New Roman" panose="02020603050405020304" pitchFamily="18" charset="0"/>
                            </a:rPr>
                            <m:t>𝑂𝑈𝑇</m:t>
                          </m:r>
                        </m:sub>
                      </m:sSub>
                      <m:r>
                        <a:rPr lang="en-GB" b="0" i="1" smtClean="0">
                          <a:latin typeface="Cambria Math" panose="02040503050406030204" pitchFamily="18" charset="0"/>
                          <a:ea typeface="SimSun" panose="02010600030101010101" pitchFamily="2" charset="-122"/>
                          <a:cs typeface="Times New Roman" panose="02020603050405020304" pitchFamily="18" charset="0"/>
                        </a:rPr>
                        <m:t>(1−</m:t>
                      </m:r>
                      <m:r>
                        <a:rPr lang="en-GB" i="1" smtClean="0">
                          <a:latin typeface="Cambria Math" panose="02040503050406030204" pitchFamily="18" charset="0"/>
                          <a:ea typeface="SimSun" panose="02010600030101010101" pitchFamily="2" charset="-122"/>
                          <a:cs typeface="Times New Roman" panose="02020603050405020304" pitchFamily="18" charset="0"/>
                        </a:rPr>
                        <m:t>𝐷</m:t>
                      </m:r>
                      <m:r>
                        <a:rPr lang="en-GB" b="0" i="1" smtClean="0">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GB" dirty="0"/>
              </a:p>
            </p:txBody>
          </p:sp>
        </mc:Choice>
        <mc:Fallback xmlns="">
          <p:sp>
            <p:nvSpPr>
              <p:cNvPr id="9" name="TextBox 8">
                <a:extLst>
                  <a:ext uri="{FF2B5EF4-FFF2-40B4-BE49-F238E27FC236}">
                    <a16:creationId xmlns:a16="http://schemas.microsoft.com/office/drawing/2014/main" id="{620A142A-D341-B2D5-9CFE-B86C9D2FD8C7}"/>
                  </a:ext>
                </a:extLst>
              </p:cNvPr>
              <p:cNvSpPr txBox="1">
                <a:spLocks noRot="1" noChangeAspect="1" noMove="1" noResize="1" noEditPoints="1" noAdjustHandles="1" noChangeArrowheads="1" noChangeShapeType="1" noTextEdit="1"/>
              </p:cNvSpPr>
              <p:nvPr/>
            </p:nvSpPr>
            <p:spPr>
              <a:xfrm>
                <a:off x="324553" y="3784708"/>
                <a:ext cx="2433167" cy="369332"/>
              </a:xfrm>
              <a:prstGeom prst="rect">
                <a:avLst/>
              </a:prstGeom>
              <a:blipFill>
                <a:blip r:embed="rId7"/>
                <a:stretch>
                  <a:fillRect b="-1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51CB0A6-7A72-D89C-21F1-DB3FB730636F}"/>
                  </a:ext>
                </a:extLst>
              </p:cNvPr>
              <p:cNvSpPr txBox="1"/>
              <p:nvPr/>
            </p:nvSpPr>
            <p:spPr>
              <a:xfrm>
                <a:off x="0" y="4321750"/>
                <a:ext cx="2999154"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𝑶𝑼𝑻</m:t>
                          </m:r>
                        </m:sub>
                      </m:sSub>
                      <m:r>
                        <a:rPr lang="en-GB" b="1" i="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 </m:t>
                      </m:r>
                      <m:f>
                        <m:fPr>
                          <m:ctrlP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fPr>
                        <m:num>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US"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𝑽</m:t>
                              </m:r>
                            </m:e>
                            <m:sub>
                              <m:r>
                                <a:rPr lang="en-GB" b="1" i="1">
                                  <a:solidFill>
                                    <a:srgbClr val="FF0000"/>
                                  </a:solidFill>
                                  <a:latin typeface="Cambria Math" panose="02040503050406030204" pitchFamily="18" charset="0"/>
                                  <a:ea typeface="SimSun" panose="02010600030101010101" pitchFamily="2" charset="-122"/>
                                  <a:cs typeface="Times New Roman" panose="02020603050405020304" pitchFamily="18" charset="0"/>
                                </a:rPr>
                                <m:t>𝑰𝑵</m:t>
                              </m:r>
                            </m:sub>
                          </m:sSub>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𝑫</m:t>
                          </m:r>
                        </m:num>
                        <m:den>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𝟏</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GB" b="1"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𝑫</m:t>
                          </m:r>
                        </m:den>
                      </m:f>
                    </m:oMath>
                  </m:oMathPara>
                </a14:m>
                <a:endParaRPr lang="en-GB" b="1" dirty="0">
                  <a:solidFill>
                    <a:srgbClr val="FF0000"/>
                  </a:solidFill>
                </a:endParaRPr>
              </a:p>
            </p:txBody>
          </p:sp>
        </mc:Choice>
        <mc:Fallback xmlns="">
          <p:sp>
            <p:nvSpPr>
              <p:cNvPr id="12" name="TextBox 11">
                <a:extLst>
                  <a:ext uri="{FF2B5EF4-FFF2-40B4-BE49-F238E27FC236}">
                    <a16:creationId xmlns:a16="http://schemas.microsoft.com/office/drawing/2014/main" id="{351CB0A6-7A72-D89C-21F1-DB3FB730636F}"/>
                  </a:ext>
                </a:extLst>
              </p:cNvPr>
              <p:cNvSpPr txBox="1">
                <a:spLocks noRot="1" noChangeAspect="1" noMove="1" noResize="1" noEditPoints="1" noAdjustHandles="1" noChangeArrowheads="1" noChangeShapeType="1" noTextEdit="1"/>
              </p:cNvSpPr>
              <p:nvPr/>
            </p:nvSpPr>
            <p:spPr>
              <a:xfrm>
                <a:off x="0" y="4321750"/>
                <a:ext cx="2999154" cy="609077"/>
              </a:xfrm>
              <a:prstGeom prst="rect">
                <a:avLst/>
              </a:prstGeom>
              <a:blipFill>
                <a:blip r:embed="rId8"/>
                <a:stretch>
                  <a:fillRect/>
                </a:stretch>
              </a:blipFill>
            </p:spPr>
            <p:txBody>
              <a:bodyPr/>
              <a:lstStyle/>
              <a:p>
                <a:r>
                  <a:rPr lang="en-GB">
                    <a:noFill/>
                  </a:rPr>
                  <a:t> </a:t>
                </a:r>
              </a:p>
            </p:txBody>
          </p:sp>
        </mc:Fallback>
      </mc:AlternateContent>
      <p:pic>
        <p:nvPicPr>
          <p:cNvPr id="59" name="Picture 58">
            <a:extLst>
              <a:ext uri="{FF2B5EF4-FFF2-40B4-BE49-F238E27FC236}">
                <a16:creationId xmlns:a16="http://schemas.microsoft.com/office/drawing/2014/main" id="{0D5A1CDB-7BDB-BF56-4233-61CA84B7DD85}"/>
              </a:ext>
            </a:extLst>
          </p:cNvPr>
          <p:cNvPicPr>
            <a:picLocks noChangeAspect="1"/>
          </p:cNvPicPr>
          <p:nvPr/>
        </p:nvPicPr>
        <p:blipFill>
          <a:blip r:embed="rId9"/>
          <a:stretch>
            <a:fillRect/>
          </a:stretch>
        </p:blipFill>
        <p:spPr>
          <a:xfrm>
            <a:off x="4287157" y="709727"/>
            <a:ext cx="4843221" cy="1608835"/>
          </a:xfrm>
          <a:prstGeom prst="rect">
            <a:avLst/>
          </a:prstGeom>
        </p:spPr>
      </p:pic>
    </p:spTree>
    <p:extLst>
      <p:ext uri="{BB962C8B-B14F-4D97-AF65-F5344CB8AC3E}">
        <p14:creationId xmlns:p14="http://schemas.microsoft.com/office/powerpoint/2010/main" val="337714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 grpId="0"/>
      <p:bldP spid="5" grpId="0"/>
      <p:bldP spid="6" grpId="0"/>
      <p:bldP spid="7" grpId="0"/>
      <p:bldP spid="8" grpId="0"/>
      <p:bldP spid="9"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36">
            <a:extLst>
              <a:ext uri="{FF2B5EF4-FFF2-40B4-BE49-F238E27FC236}">
                <a16:creationId xmlns:a16="http://schemas.microsoft.com/office/drawing/2014/main" id="{3700F90D-5413-F281-4444-7B32F100633E}"/>
              </a:ext>
            </a:extLst>
          </p:cNvPr>
          <p:cNvSpPr>
            <a:spLocks/>
          </p:cNvSpPr>
          <p:nvPr/>
        </p:nvSpPr>
        <p:spPr bwMode="auto">
          <a:xfrm>
            <a:off x="975089" y="695603"/>
            <a:ext cx="5616575" cy="504825"/>
          </a:xfrm>
          <a:custGeom>
            <a:avLst/>
            <a:gdLst>
              <a:gd name="T0" fmla="*/ 0 w 3538"/>
              <a:gd name="T1" fmla="*/ 2147483646 h 318"/>
              <a:gd name="T2" fmla="*/ 2147483646 w 3538"/>
              <a:gd name="T3" fmla="*/ 0 h 318"/>
              <a:gd name="T4" fmla="*/ 2147483646 w 3538"/>
              <a:gd name="T5" fmla="*/ 2147483646 h 318"/>
              <a:gd name="T6" fmla="*/ 2147483646 w 3538"/>
              <a:gd name="T7" fmla="*/ 0 h 318"/>
              <a:gd name="T8" fmla="*/ 2147483646 w 3538"/>
              <a:gd name="T9" fmla="*/ 2147483646 h 318"/>
              <a:gd name="T10" fmla="*/ 2147483646 w 3538"/>
              <a:gd name="T11" fmla="*/ 0 h 318"/>
              <a:gd name="T12" fmla="*/ 2147483646 w 3538"/>
              <a:gd name="T13" fmla="*/ 2147483646 h 318"/>
              <a:gd name="T14" fmla="*/ 2147483646 w 3538"/>
              <a:gd name="T15" fmla="*/ 2147483646 h 3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38" h="318">
                <a:moveTo>
                  <a:pt x="0" y="318"/>
                </a:moveTo>
                <a:lnTo>
                  <a:pt x="453" y="0"/>
                </a:lnTo>
                <a:lnTo>
                  <a:pt x="1088" y="318"/>
                </a:lnTo>
                <a:lnTo>
                  <a:pt x="1542" y="0"/>
                </a:lnTo>
                <a:lnTo>
                  <a:pt x="2177" y="318"/>
                </a:lnTo>
                <a:lnTo>
                  <a:pt x="2630" y="0"/>
                </a:lnTo>
                <a:lnTo>
                  <a:pt x="3265" y="318"/>
                </a:lnTo>
                <a:lnTo>
                  <a:pt x="3538" y="137"/>
                </a:lnTo>
              </a:path>
            </a:pathLst>
          </a:cu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44">
            <a:extLst>
              <a:ext uri="{FF2B5EF4-FFF2-40B4-BE49-F238E27FC236}">
                <a16:creationId xmlns:a16="http://schemas.microsoft.com/office/drawing/2014/main" id="{3F6A7168-2F6E-871E-B5C1-F0DFBB5725C2}"/>
              </a:ext>
            </a:extLst>
          </p:cNvPr>
          <p:cNvSpPr>
            <a:spLocks noChangeShapeType="1"/>
          </p:cNvSpPr>
          <p:nvPr/>
        </p:nvSpPr>
        <p:spPr bwMode="auto">
          <a:xfrm>
            <a:off x="975089" y="1344891"/>
            <a:ext cx="5688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Text Box 52">
            <a:extLst>
              <a:ext uri="{FF2B5EF4-FFF2-40B4-BE49-F238E27FC236}">
                <a16:creationId xmlns:a16="http://schemas.microsoft.com/office/drawing/2014/main" id="{E6ECBF2A-0B24-356C-D498-A5AB17637E48}"/>
              </a:ext>
            </a:extLst>
          </p:cNvPr>
          <p:cNvSpPr txBox="1">
            <a:spLocks noChangeArrowheads="1"/>
          </p:cNvSpPr>
          <p:nvPr/>
        </p:nvSpPr>
        <p:spPr bwMode="auto">
          <a:xfrm>
            <a:off x="6663101" y="1200428"/>
            <a:ext cx="155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400" b="1"/>
              <a:t>Inductor current</a:t>
            </a:r>
            <a:endParaRPr lang="en-US" altLang="en-US" sz="1400" b="1"/>
          </a:p>
        </p:txBody>
      </p:sp>
      <p:cxnSp>
        <p:nvCxnSpPr>
          <p:cNvPr id="29" name="Straight Arrow Connector 28">
            <a:extLst>
              <a:ext uri="{FF2B5EF4-FFF2-40B4-BE49-F238E27FC236}">
                <a16:creationId xmlns:a16="http://schemas.microsoft.com/office/drawing/2014/main" id="{E09FD076-CFFA-3881-50C1-0C5D769EF791}"/>
              </a:ext>
            </a:extLst>
          </p:cNvPr>
          <p:cNvCxnSpPr>
            <a:stCxn id="11" idx="0"/>
          </p:cNvCxnSpPr>
          <p:nvPr/>
        </p:nvCxnSpPr>
        <p:spPr>
          <a:xfrm flipV="1">
            <a:off x="975089" y="415479"/>
            <a:ext cx="0" cy="9294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2A0D876-00D7-A410-4F7C-CD04597B9DB4}"/>
                  </a:ext>
                </a:extLst>
              </p:cNvPr>
              <p:cNvSpPr txBox="1"/>
              <p:nvPr/>
            </p:nvSpPr>
            <p:spPr>
              <a:xfrm>
                <a:off x="253393" y="1708896"/>
                <a:ext cx="7557660" cy="959302"/>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Computing the change in current using following expression:</a:t>
                </a:r>
              </a:p>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pPr marL="0" marR="0" indent="0" algn="ctr">
                  <a:lnSpc>
                    <a:spcPts val="1300"/>
                  </a:lnSpc>
                  <a:spcBef>
                    <a:spcPts val="1200"/>
                  </a:spcBef>
                  <a:spcAft>
                    <a:spcPts val="0"/>
                  </a:spcAft>
                  <a:tabLst>
                    <a:tab pos="5715000" algn="r"/>
                  </a:tabLst>
                </a:pPr>
                <a14:m>
                  <m:oMath xmlns:m="http://schemas.openxmlformats.org/officeDocument/2006/math">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𝑣</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=&gt;  </a:t>
                </a:r>
                <a14:m>
                  <m:oMath xmlns:m="http://schemas.openxmlformats.org/officeDocument/2006/math">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1800" i="1">
                            <a:effectLst/>
                            <a:latin typeface="Cambria Math" panose="02040503050406030204" pitchFamily="18" charset="0"/>
                            <a:ea typeface="SimSun" panose="02010600030101010101" pitchFamily="2" charset="-122"/>
                            <a:cs typeface="Times New Roman" panose="02020603050405020304" pitchFamily="18" charset="0"/>
                          </a:rPr>
                          <m:t>𝑑</m:t>
                        </m:r>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𝑑𝑡</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𝑣</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800" dirty="0">
                  <a:effectLst/>
                  <a:latin typeface="Times"/>
                  <a:ea typeface="SimSun" panose="02010600030101010101" pitchFamily="2" charset="-122"/>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42A0D876-00D7-A410-4F7C-CD04597B9DB4}"/>
                  </a:ext>
                </a:extLst>
              </p:cNvPr>
              <p:cNvSpPr txBox="1">
                <a:spLocks noRot="1" noChangeAspect="1" noMove="1" noResize="1" noEditPoints="1" noAdjustHandles="1" noChangeArrowheads="1" noChangeShapeType="1" noTextEdit="1"/>
              </p:cNvSpPr>
              <p:nvPr/>
            </p:nvSpPr>
            <p:spPr>
              <a:xfrm>
                <a:off x="253393" y="1708896"/>
                <a:ext cx="7557660" cy="959302"/>
              </a:xfrm>
              <a:prstGeom prst="rect">
                <a:avLst/>
              </a:prstGeom>
              <a:blipFill>
                <a:blip r:embed="rId2"/>
                <a:stretch>
                  <a:fillRect t="-13291" b="-253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35C3A2F-CB2F-A11D-ACEB-44E355EFF118}"/>
                  </a:ext>
                </a:extLst>
              </p:cNvPr>
              <p:cNvSpPr txBox="1"/>
              <p:nvPr/>
            </p:nvSpPr>
            <p:spPr>
              <a:xfrm>
                <a:off x="253393" y="2999587"/>
                <a:ext cx="6136390" cy="1019382"/>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closed:</a:t>
                </a:r>
              </a:p>
              <a:p>
                <a:pPr marL="685800" marR="0" indent="0" algn="l">
                  <a:lnSpc>
                    <a:spcPts val="1300"/>
                  </a:lnSpc>
                  <a:spcBef>
                    <a:spcPts val="1200"/>
                  </a:spcBef>
                  <a:spcAft>
                    <a:spcPts val="0"/>
                  </a:spcAft>
                  <a:tabLst>
                    <a:tab pos="5715000" algn="r"/>
                  </a:tabLst>
                </a:pPr>
                <a:endParaRPr lang="en-US" sz="1800" dirty="0">
                  <a:effectLst/>
                  <a:latin typeface="Times"/>
                  <a:ea typeface="SimSun" panose="02010600030101010101" pitchFamily="2" charset="-122"/>
                  <a:cs typeface="Times New Roman" panose="02020603050405020304" pitchFamily="18" charset="0"/>
                </a:endParaRPr>
              </a:p>
              <a:p>
                <a14:m>
                  <m:oMath xmlns:m="http://schemas.openxmlformats.org/officeDocument/2006/math">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rPr>
                  <a:t>        =&gt;     </a:t>
                </a:r>
                <a14:m>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𝑐𝑙𝑜𝑠𝑒𝑑</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𝐼𝑁</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oMath>
                </a14:m>
                <a:r>
                  <a:rPr lang="en-US" sz="1800" dirty="0">
                    <a:effectLst/>
                    <a:latin typeface="Times New Roman" panose="02020603050405020304" pitchFamily="18" charset="0"/>
                    <a:ea typeface="SimSun" panose="02010600030101010101" pitchFamily="2" charset="-122"/>
                  </a:rPr>
                  <a:t>	</a:t>
                </a:r>
                <a:r>
                  <a:rPr lang="en-US" dirty="0">
                    <a:effectLst/>
                  </a:rPr>
                  <a:t> </a:t>
                </a:r>
                <a:endParaRPr lang="en-US" dirty="0"/>
              </a:p>
            </p:txBody>
          </p:sp>
        </mc:Choice>
        <mc:Fallback xmlns="">
          <p:sp>
            <p:nvSpPr>
              <p:cNvPr id="33" name="TextBox 32">
                <a:extLst>
                  <a:ext uri="{FF2B5EF4-FFF2-40B4-BE49-F238E27FC236}">
                    <a16:creationId xmlns:a16="http://schemas.microsoft.com/office/drawing/2014/main" id="{135C3A2F-CB2F-A11D-ACEB-44E355EFF118}"/>
                  </a:ext>
                </a:extLst>
              </p:cNvPr>
              <p:cNvSpPr txBox="1">
                <a:spLocks noRot="1" noChangeAspect="1" noMove="1" noResize="1" noEditPoints="1" noAdjustHandles="1" noChangeArrowheads="1" noChangeShapeType="1" noTextEdit="1"/>
              </p:cNvSpPr>
              <p:nvPr/>
            </p:nvSpPr>
            <p:spPr>
              <a:xfrm>
                <a:off x="253393" y="2999587"/>
                <a:ext cx="6136390" cy="1019382"/>
              </a:xfrm>
              <a:prstGeom prst="rect">
                <a:avLst/>
              </a:prstGeom>
              <a:blipFill>
                <a:blip r:embed="rId3"/>
                <a:stretch>
                  <a:fillRect t="-125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4262A03-CE96-9B49-D4B5-F23CD11BB94C}"/>
                  </a:ext>
                </a:extLst>
              </p:cNvPr>
              <p:cNvSpPr txBox="1"/>
              <p:nvPr/>
            </p:nvSpPr>
            <p:spPr>
              <a:xfrm>
                <a:off x="79834" y="4953060"/>
                <a:ext cx="7731219" cy="716991"/>
              </a:xfrm>
              <a:prstGeom prst="rect">
                <a:avLst/>
              </a:prstGeom>
              <a:noFill/>
            </p:spPr>
            <p:txBody>
              <a:bodyPr wrap="square">
                <a:spAutoFit/>
              </a:bodyPr>
              <a:lstStyle/>
              <a:p>
                <a:pPr marL="685800" marR="0" indent="0" algn="l">
                  <a:lnSpc>
                    <a:spcPts val="1300"/>
                  </a:lnSpc>
                  <a:spcBef>
                    <a:spcPts val="1200"/>
                  </a:spcBef>
                  <a:spcAft>
                    <a:spcPts val="0"/>
                  </a:spcAft>
                  <a:tabLst>
                    <a:tab pos="5715000" algn="r"/>
                  </a:tabLs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When switch is open:</a:t>
                </a:r>
                <a:endParaRPr lang="en-US" sz="1800" dirty="0">
                  <a:effectLst/>
                  <a:latin typeface="Times"/>
                  <a:ea typeface="SimSun" panose="02010600030101010101" pitchFamily="2" charset="-122"/>
                  <a:cs typeface="Times New Roman" panose="02020603050405020304" pitchFamily="18" charset="0"/>
                </a:endParaRPr>
              </a:p>
              <a:p>
                <a14:m>
                  <m:oMath xmlns:m="http://schemas.openxmlformats.org/officeDocument/2006/math">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oMath>
                </a14:m>
                <a:r>
                  <a:rPr lang="en-US" sz="1800" dirty="0">
                    <a:effectLst/>
                    <a:latin typeface="Times New Roman" panose="02020603050405020304" pitchFamily="18" charset="0"/>
                    <a:ea typeface="SimSun" panose="02010600030101010101" pitchFamily="2" charset="-122"/>
                  </a:rPr>
                  <a:t>               =&gt;        </a:t>
                </a:r>
                <a14:m>
                  <m:oMath xmlns:m="http://schemas.openxmlformats.org/officeDocument/2006/math">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𝑠𝑤𝑖𝑡𝑐h</m:t>
                        </m:r>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𝑜𝑝𝑒𝑛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GB" sz="1800" b="0" i="1" smtClean="0">
                                <a:effectLst/>
                                <a:latin typeface="Cambria Math" panose="02040503050406030204" pitchFamily="18" charset="0"/>
                                <a:ea typeface="SimSun" panose="02010600030101010101" pitchFamily="2" charset="-122"/>
                                <a:cs typeface="Times New Roman" panose="02020603050405020304" pitchFamily="18" charset="0"/>
                              </a:rPr>
                              <m:t>𝑂𝑈𝑇</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𝐿</m:t>
                        </m:r>
                      </m:den>
                    </m:f>
                    <m:r>
                      <a:rPr lang="en-US" sz="1800" i="1">
                        <a:effectLst/>
                        <a:latin typeface="Cambria Math" panose="02040503050406030204" pitchFamily="18" charset="0"/>
                        <a:ea typeface="SimSun" panose="02010600030101010101" pitchFamily="2" charset="-122"/>
                        <a:cs typeface="Times New Roman" panose="02020603050405020304" pitchFamily="18" charset="0"/>
                      </a:rPr>
                      <m:t> × </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𝑡</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𝑜𝑛</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dirty="0">
                    <a:effectLst/>
                  </a:rPr>
                  <a:t> </a:t>
                </a:r>
                <a:endParaRPr lang="en-US" dirty="0"/>
              </a:p>
            </p:txBody>
          </p:sp>
        </mc:Choice>
        <mc:Fallback xmlns="">
          <p:sp>
            <p:nvSpPr>
              <p:cNvPr id="84" name="TextBox 83">
                <a:extLst>
                  <a:ext uri="{FF2B5EF4-FFF2-40B4-BE49-F238E27FC236}">
                    <a16:creationId xmlns:a16="http://schemas.microsoft.com/office/drawing/2014/main" id="{74262A03-CE96-9B49-D4B5-F23CD11BB94C}"/>
                  </a:ext>
                </a:extLst>
              </p:cNvPr>
              <p:cNvSpPr txBox="1">
                <a:spLocks noRot="1" noChangeAspect="1" noMove="1" noResize="1" noEditPoints="1" noAdjustHandles="1" noChangeArrowheads="1" noChangeShapeType="1" noTextEdit="1"/>
              </p:cNvSpPr>
              <p:nvPr/>
            </p:nvSpPr>
            <p:spPr>
              <a:xfrm>
                <a:off x="79834" y="4953060"/>
                <a:ext cx="7731219" cy="716991"/>
              </a:xfrm>
              <a:prstGeom prst="rect">
                <a:avLst/>
              </a:prstGeom>
              <a:blipFill>
                <a:blip r:embed="rId4"/>
                <a:stretch>
                  <a:fillRect t="-18803"/>
                </a:stretch>
              </a:blipFill>
            </p:spPr>
            <p:txBody>
              <a:bodyPr/>
              <a:lstStyle/>
              <a:p>
                <a:r>
                  <a:rPr lang="en-GB">
                    <a:noFill/>
                  </a:rPr>
                  <a:t> </a:t>
                </a:r>
              </a:p>
            </p:txBody>
          </p:sp>
        </mc:Fallback>
      </mc:AlternateContent>
      <p:sp>
        <p:nvSpPr>
          <p:cNvPr id="133" name="Text Box 4">
            <a:extLst>
              <a:ext uri="{FF2B5EF4-FFF2-40B4-BE49-F238E27FC236}">
                <a16:creationId xmlns:a16="http://schemas.microsoft.com/office/drawing/2014/main" id="{A662ADEC-E548-AC64-788D-3682A3D1F081}"/>
              </a:ext>
            </a:extLst>
          </p:cNvPr>
          <p:cNvSpPr txBox="1">
            <a:spLocks noChangeArrowheads="1"/>
          </p:cNvSpPr>
          <p:nvPr/>
        </p:nvSpPr>
        <p:spPr bwMode="auto">
          <a:xfrm>
            <a:off x="158750" y="65088"/>
            <a:ext cx="55579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dirty="0"/>
              <a:t>Buck-boost converter change in inductor current</a:t>
            </a:r>
            <a:endParaRPr lang="en-US" altLang="en-US" sz="1800" dirty="0"/>
          </a:p>
        </p:txBody>
      </p:sp>
    </p:spTree>
    <p:extLst>
      <p:ext uri="{BB962C8B-B14F-4D97-AF65-F5344CB8AC3E}">
        <p14:creationId xmlns:p14="http://schemas.microsoft.com/office/powerpoint/2010/main" val="338130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8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2">
            <a:extLst>
              <a:ext uri="{FF2B5EF4-FFF2-40B4-BE49-F238E27FC236}">
                <a16:creationId xmlns:a16="http://schemas.microsoft.com/office/drawing/2014/main" id="{3DF5A5DE-CCB4-D62A-5565-41C63A1F3F6A}"/>
              </a:ext>
            </a:extLst>
          </p:cNvPr>
          <p:cNvSpPr txBox="1">
            <a:spLocks noChangeArrowheads="1"/>
          </p:cNvSpPr>
          <p:nvPr/>
        </p:nvSpPr>
        <p:spPr bwMode="auto">
          <a:xfrm>
            <a:off x="418907" y="107562"/>
            <a:ext cx="4685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Minimum and Maximum Inductor Current</a:t>
            </a:r>
            <a:endParaRPr lang="en-US" altLang="en-US" sz="1800" b="1" u="sng"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1A84408-D5D6-40F9-A6AA-4EBBF4B0ABD0}"/>
                  </a:ext>
                </a:extLst>
              </p:cNvPr>
              <p:cNvSpPr txBox="1"/>
              <p:nvPr/>
            </p:nvSpPr>
            <p:spPr>
              <a:xfrm>
                <a:off x="75438" y="4446721"/>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𝑚𝑎𝑥</m:t>
                          </m:r>
                        </m:sub>
                      </m:sSub>
                      <m:r>
                        <a:rPr lang="en-GB" i="0">
                          <a:latin typeface="Cambria Math" panose="02040503050406030204" pitchFamily="18" charset="0"/>
                        </a:rPr>
                        <m:t>= </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𝑎𝑣𝑔</m:t>
                          </m:r>
                        </m:sub>
                      </m:sSub>
                      <m:r>
                        <a:rPr lang="en-GB" i="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r>
                        <a:rPr lang="en-GB" i="0">
                          <a:latin typeface="Cambria Math" panose="02040503050406030204" pitchFamily="18" charset="0"/>
                        </a:rPr>
                        <m:t> </m:t>
                      </m:r>
                    </m:oMath>
                  </m:oMathPara>
                </a14:m>
                <a:endParaRPr lang="en-GB" dirty="0"/>
              </a:p>
            </p:txBody>
          </p:sp>
        </mc:Choice>
        <mc:Fallback xmlns="">
          <p:sp>
            <p:nvSpPr>
              <p:cNvPr id="8" name="TextBox 7">
                <a:extLst>
                  <a:ext uri="{FF2B5EF4-FFF2-40B4-BE49-F238E27FC236}">
                    <a16:creationId xmlns:a16="http://schemas.microsoft.com/office/drawing/2014/main" id="{41A84408-D5D6-40F9-A6AA-4EBBF4B0ABD0}"/>
                  </a:ext>
                </a:extLst>
              </p:cNvPr>
              <p:cNvSpPr txBox="1">
                <a:spLocks noRot="1" noChangeAspect="1" noMove="1" noResize="1" noEditPoints="1" noAdjustHandles="1" noChangeArrowheads="1" noChangeShapeType="1" noTextEdit="1"/>
              </p:cNvSpPr>
              <p:nvPr/>
            </p:nvSpPr>
            <p:spPr>
              <a:xfrm>
                <a:off x="75438" y="4446721"/>
                <a:ext cx="4572000" cy="628057"/>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2A2B9B-3FC8-10D3-9A37-43C57C0AB2BE}"/>
                  </a:ext>
                </a:extLst>
              </p:cNvPr>
              <p:cNvSpPr txBox="1"/>
              <p:nvPr/>
            </p:nvSpPr>
            <p:spPr>
              <a:xfrm>
                <a:off x="4729734" y="4376050"/>
                <a:ext cx="4572000" cy="628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𝑚𝑖𝑛</m:t>
                          </m:r>
                        </m:sub>
                      </m:sSub>
                      <m:r>
                        <a:rPr lang="en-GB" i="0">
                          <a:latin typeface="Cambria Math" panose="02040503050406030204" pitchFamily="18" charset="0"/>
                        </a:rPr>
                        <m:t>= </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i="0">
                              <a:latin typeface="Cambria Math" panose="02040503050406030204" pitchFamily="18" charset="0"/>
                            </a:rPr>
                            <m:t>,</m:t>
                          </m:r>
                          <m:r>
                            <a:rPr lang="en-GB" i="1">
                              <a:latin typeface="Cambria Math" panose="02040503050406030204" pitchFamily="18" charset="0"/>
                            </a:rPr>
                            <m:t>𝑎𝑣𝑔</m:t>
                          </m:r>
                        </m:sub>
                      </m:sSub>
                      <m:r>
                        <a:rPr lang="en-GB" i="0">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d>
                                <m:dPr>
                                  <m:ctrlPr>
                                    <a:rPr lang="en-GB" i="1">
                                      <a:latin typeface="Cambria Math" panose="02040503050406030204" pitchFamily="18" charset="0"/>
                                    </a:rPr>
                                  </m:ctrlPr>
                                </m:dPr>
                                <m:e>
                                  <m:r>
                                    <a:rPr lang="en-GB" i="0">
                                      <a:latin typeface="Cambria Math" panose="02040503050406030204" pitchFamily="18" charset="0"/>
                                    </a:rPr>
                                    <m:t>∆</m:t>
                                  </m:r>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𝑖</m:t>
                                      </m:r>
                                    </m:e>
                                    <m:sub>
                                      <m:r>
                                        <a:rPr lang="en-GB" i="1">
                                          <a:latin typeface="Cambria Math" panose="02040503050406030204" pitchFamily="18" charset="0"/>
                                        </a:rPr>
                                        <m:t>𝐿</m:t>
                                      </m:r>
                                    </m:sub>
                                  </m:sSub>
                                </m:e>
                              </m:d>
                            </m:e>
                            <m:sub>
                              <m:r>
                                <a:rPr lang="en-GB" i="1">
                                  <a:latin typeface="Cambria Math" panose="02040503050406030204" pitchFamily="18" charset="0"/>
                                </a:rPr>
                                <m:t>𝑠𝑤𝑖𝑡𝑐h</m:t>
                              </m:r>
                              <m:r>
                                <a:rPr lang="en-GB" i="0">
                                  <a:latin typeface="Cambria Math" panose="02040503050406030204" pitchFamily="18" charset="0"/>
                                </a:rPr>
                                <m:t> </m:t>
                              </m:r>
                              <m:r>
                                <a:rPr lang="en-GB" i="1">
                                  <a:latin typeface="Cambria Math" panose="02040503050406030204" pitchFamily="18" charset="0"/>
                                </a:rPr>
                                <m:t>𝑐𝑙𝑜𝑠𝑒𝑑</m:t>
                              </m:r>
                            </m:sub>
                          </m:sSub>
                        </m:num>
                        <m:den>
                          <m:r>
                            <a:rPr lang="en-GB" i="0">
                              <a:latin typeface="Cambria Math" panose="02040503050406030204" pitchFamily="18" charset="0"/>
                            </a:rPr>
                            <m:t>2</m:t>
                          </m:r>
                        </m:den>
                      </m:f>
                    </m:oMath>
                  </m:oMathPara>
                </a14:m>
                <a:endParaRPr lang="en-GB" dirty="0"/>
              </a:p>
            </p:txBody>
          </p:sp>
        </mc:Choice>
        <mc:Fallback xmlns="">
          <p:sp>
            <p:nvSpPr>
              <p:cNvPr id="10" name="TextBox 9">
                <a:extLst>
                  <a:ext uri="{FF2B5EF4-FFF2-40B4-BE49-F238E27FC236}">
                    <a16:creationId xmlns:a16="http://schemas.microsoft.com/office/drawing/2014/main" id="{822A2B9B-3FC8-10D3-9A37-43C57C0AB2BE}"/>
                  </a:ext>
                </a:extLst>
              </p:cNvPr>
              <p:cNvSpPr txBox="1">
                <a:spLocks noRot="1" noChangeAspect="1" noMove="1" noResize="1" noEditPoints="1" noAdjustHandles="1" noChangeArrowheads="1" noChangeShapeType="1" noTextEdit="1"/>
              </p:cNvSpPr>
              <p:nvPr/>
            </p:nvSpPr>
            <p:spPr>
              <a:xfrm>
                <a:off x="4729734" y="4376050"/>
                <a:ext cx="4572000" cy="62805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85EA3EE-9D99-17D7-EDB0-DBBC45F511B3}"/>
                  </a:ext>
                </a:extLst>
              </p:cNvPr>
              <p:cNvSpPr txBox="1"/>
              <p:nvPr/>
            </p:nvSpPr>
            <p:spPr>
              <a:xfrm>
                <a:off x="322326" y="5460808"/>
                <a:ext cx="8513063" cy="944746"/>
              </a:xfrm>
              <a:prstGeom prst="rect">
                <a:avLst/>
              </a:prstGeom>
              <a:noFill/>
            </p:spPr>
            <p:txBody>
              <a:bodyPr wrap="square" rtlCol="0">
                <a:spAutoFit/>
              </a:bodyPr>
              <a:lstStyle/>
              <a:p>
                <a:pPr algn="just"/>
                <a:r>
                  <a:rPr lang="en-GB" dirty="0">
                    <a:solidFill>
                      <a:srgbClr val="FF0000"/>
                    </a:solidFill>
                  </a:rPr>
                  <a:t>Note: Since change in inductor current is zero, you can take </a:t>
                </a:r>
                <a14:m>
                  <m:oMath xmlns:m="http://schemas.openxmlformats.org/officeDocument/2006/math">
                    <m:sSub>
                      <m:sSubPr>
                        <m:ctrlPr>
                          <a:rPr lang="en-GB" i="1" smtClean="0">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i="0">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i="0">
                            <a:solidFill>
                              <a:srgbClr val="FF0000"/>
                            </a:solidFill>
                            <a:latin typeface="Cambria Math" panose="02040503050406030204" pitchFamily="18" charset="0"/>
                          </a:rPr>
                          <m:t> </m:t>
                        </m:r>
                        <m:r>
                          <a:rPr lang="en-GB" i="1">
                            <a:solidFill>
                              <a:srgbClr val="FF0000"/>
                            </a:solidFill>
                            <a:latin typeface="Cambria Math" panose="02040503050406030204" pitchFamily="18" charset="0"/>
                          </a:rPr>
                          <m:t>𝑐𝑙𝑜𝑠𝑒𝑑</m:t>
                        </m:r>
                      </m:sub>
                    </m:sSub>
                  </m:oMath>
                </a14:m>
                <a:r>
                  <a:rPr lang="en-GB" dirty="0">
                    <a:solidFill>
                      <a:srgbClr val="FF0000"/>
                    </a:solidFill>
                  </a:rPr>
                  <a:t> or </a:t>
                </a:r>
                <a14:m>
                  <m:oMath xmlns:m="http://schemas.openxmlformats.org/officeDocument/2006/math">
                    <m:sSub>
                      <m:sSubPr>
                        <m:ctrlPr>
                          <a:rPr lang="en-GB" i="1">
                            <a:solidFill>
                              <a:srgbClr val="FF0000"/>
                            </a:solidFill>
                            <a:latin typeface="Cambria Math" panose="02040503050406030204" pitchFamily="18" charset="0"/>
                          </a:rPr>
                        </m:ctrlPr>
                      </m:sSubPr>
                      <m:e>
                        <m:d>
                          <m:dPr>
                            <m:ctrlPr>
                              <a:rPr lang="en-GB" i="1">
                                <a:solidFill>
                                  <a:srgbClr val="FF0000"/>
                                </a:solidFill>
                                <a:latin typeface="Cambria Math" panose="02040503050406030204" pitchFamily="18" charset="0"/>
                              </a:rPr>
                            </m:ctrlPr>
                          </m:dPr>
                          <m:e>
                            <m:r>
                              <a:rPr lang="en-GB">
                                <a:solidFill>
                                  <a:srgbClr val="FF0000"/>
                                </a:solidFill>
                                <a:latin typeface="Cambria Math" panose="02040503050406030204" pitchFamily="18" charset="0"/>
                              </a:rPr>
                              <m:t>∆</m:t>
                            </m:r>
                            <m:sSub>
                              <m:sSubPr>
                                <m:ctrlPr>
                                  <a:rPr lang="en-GB" i="1">
                                    <a:solidFill>
                                      <a:srgbClr val="FF0000"/>
                                    </a:solidFill>
                                    <a:latin typeface="Cambria Math" panose="02040503050406030204" pitchFamily="18" charset="0"/>
                                  </a:rPr>
                                </m:ctrlPr>
                              </m:sSubPr>
                              <m:e>
                                <m:r>
                                  <a:rPr lang="en-GB" i="1">
                                    <a:solidFill>
                                      <a:srgbClr val="FF0000"/>
                                    </a:solidFill>
                                    <a:latin typeface="Cambria Math" panose="02040503050406030204" pitchFamily="18" charset="0"/>
                                  </a:rPr>
                                  <m:t>𝑖</m:t>
                                </m:r>
                              </m:e>
                              <m:sub>
                                <m:r>
                                  <a:rPr lang="en-GB" i="1">
                                    <a:solidFill>
                                      <a:srgbClr val="FF0000"/>
                                    </a:solidFill>
                                    <a:latin typeface="Cambria Math" panose="02040503050406030204" pitchFamily="18" charset="0"/>
                                  </a:rPr>
                                  <m:t>𝐿</m:t>
                                </m:r>
                              </m:sub>
                            </m:sSub>
                          </m:e>
                        </m:d>
                      </m:e>
                      <m:sub>
                        <m:r>
                          <a:rPr lang="en-GB" i="1">
                            <a:solidFill>
                              <a:srgbClr val="FF0000"/>
                            </a:solidFill>
                            <a:latin typeface="Cambria Math" panose="02040503050406030204" pitchFamily="18" charset="0"/>
                          </a:rPr>
                          <m:t>𝑠𝑤𝑖𝑡𝑐h</m:t>
                        </m:r>
                        <m:r>
                          <a:rPr lang="en-GB">
                            <a:solidFill>
                              <a:srgbClr val="FF0000"/>
                            </a:solidFill>
                            <a:latin typeface="Cambria Math" panose="02040503050406030204" pitchFamily="18" charset="0"/>
                          </a:rPr>
                          <m:t> </m:t>
                        </m:r>
                        <m:r>
                          <a:rPr lang="en-GB" b="0" i="1" smtClean="0">
                            <a:solidFill>
                              <a:srgbClr val="FF0000"/>
                            </a:solidFill>
                            <a:latin typeface="Cambria Math" panose="02040503050406030204" pitchFamily="18" charset="0"/>
                          </a:rPr>
                          <m:t>𝑜𝑝𝑒𝑛</m:t>
                        </m:r>
                      </m:sub>
                    </m:sSub>
                  </m:oMath>
                </a14:m>
                <a:r>
                  <a:rPr lang="en-GB" dirty="0">
                    <a:solidFill>
                      <a:srgbClr val="FF0000"/>
                    </a:solidFill>
                  </a:rPr>
                  <a:t>  to calculate max and min current. You need to consider the sign of the current.</a:t>
                </a:r>
              </a:p>
            </p:txBody>
          </p:sp>
        </mc:Choice>
        <mc:Fallback xmlns="">
          <p:sp>
            <p:nvSpPr>
              <p:cNvPr id="11" name="TextBox 10">
                <a:extLst>
                  <a:ext uri="{FF2B5EF4-FFF2-40B4-BE49-F238E27FC236}">
                    <a16:creationId xmlns:a16="http://schemas.microsoft.com/office/drawing/2014/main" id="{785EA3EE-9D99-17D7-EDB0-DBBC45F511B3}"/>
                  </a:ext>
                </a:extLst>
              </p:cNvPr>
              <p:cNvSpPr txBox="1">
                <a:spLocks noRot="1" noChangeAspect="1" noMove="1" noResize="1" noEditPoints="1" noAdjustHandles="1" noChangeArrowheads="1" noChangeShapeType="1" noTextEdit="1"/>
              </p:cNvSpPr>
              <p:nvPr/>
            </p:nvSpPr>
            <p:spPr>
              <a:xfrm>
                <a:off x="322326" y="5460808"/>
                <a:ext cx="8513063" cy="944746"/>
              </a:xfrm>
              <a:prstGeom prst="rect">
                <a:avLst/>
              </a:prstGeom>
              <a:blipFill>
                <a:blip r:embed="rId4"/>
                <a:stretch>
                  <a:fillRect l="-645" t="-3871" r="-573" b="-96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1488935-143A-B51E-81FD-10533719E831}"/>
                  </a:ext>
                </a:extLst>
              </p:cNvPr>
              <p:cNvSpPr txBox="1"/>
              <p:nvPr/>
            </p:nvSpPr>
            <p:spPr>
              <a:xfrm>
                <a:off x="75438" y="924819"/>
                <a:ext cx="22105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𝑃</m:t>
                          </m:r>
                        </m:e>
                        <m:sub>
                          <m:r>
                            <a:rPr lang="en-GB" b="0" i="1" smtClean="0">
                              <a:solidFill>
                                <a:schemeClr val="tx1"/>
                              </a:solidFill>
                              <a:latin typeface="Cambria Math" panose="02040503050406030204" pitchFamily="18" charset="0"/>
                            </a:rPr>
                            <m:t>𝐼𝑁</m:t>
                          </m:r>
                        </m:sub>
                      </m:sSub>
                      <m:r>
                        <a:rPr lang="en-GB" b="0" i="0" smtClean="0">
                          <a:solidFill>
                            <a:schemeClr val="tx1"/>
                          </a:solidFill>
                          <a:latin typeface="Cambria Math" panose="02040503050406030204" pitchFamily="18" charset="0"/>
                        </a:rPr>
                        <m:t>=</m:t>
                      </m:r>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𝑃</m:t>
                          </m:r>
                        </m:e>
                        <m:sub>
                          <m:r>
                            <a:rPr lang="en-GB" b="0" i="1" smtClean="0">
                              <a:solidFill>
                                <a:schemeClr val="tx1"/>
                              </a:solidFill>
                              <a:latin typeface="Cambria Math" panose="02040503050406030204" pitchFamily="18" charset="0"/>
                            </a:rPr>
                            <m:t>𝑂𝑈𝑇</m:t>
                          </m:r>
                          <m:r>
                            <a:rPr lang="en-GB" b="0" i="1" smtClean="0">
                              <a:solidFill>
                                <a:schemeClr val="tx1"/>
                              </a:solidFill>
                              <a:latin typeface="Cambria Math" panose="02040503050406030204" pitchFamily="18" charset="0"/>
                            </a:rPr>
                            <m:t>  </m:t>
                          </m:r>
                        </m:sub>
                      </m:sSub>
                    </m:oMath>
                  </m:oMathPara>
                </a14:m>
                <a:endParaRPr lang="en-GB" dirty="0"/>
              </a:p>
            </p:txBody>
          </p:sp>
        </mc:Choice>
        <mc:Fallback xmlns="">
          <p:sp>
            <p:nvSpPr>
              <p:cNvPr id="2" name="TextBox 1">
                <a:extLst>
                  <a:ext uri="{FF2B5EF4-FFF2-40B4-BE49-F238E27FC236}">
                    <a16:creationId xmlns:a16="http://schemas.microsoft.com/office/drawing/2014/main" id="{61488935-143A-B51E-81FD-10533719E831}"/>
                  </a:ext>
                </a:extLst>
              </p:cNvPr>
              <p:cNvSpPr txBox="1">
                <a:spLocks noRot="1" noChangeAspect="1" noMove="1" noResize="1" noEditPoints="1" noAdjustHandles="1" noChangeArrowheads="1" noChangeShapeType="1" noTextEdit="1"/>
              </p:cNvSpPr>
              <p:nvPr/>
            </p:nvSpPr>
            <p:spPr>
              <a:xfrm>
                <a:off x="75438" y="924819"/>
                <a:ext cx="2210562" cy="369332"/>
              </a:xfrm>
              <a:prstGeom prst="rect">
                <a:avLst/>
              </a:prstGeom>
              <a:blipFill>
                <a:blip r:embed="rId5"/>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25F2E214-06D0-89BD-87D6-B48C4DE269C5}"/>
              </a:ext>
            </a:extLst>
          </p:cNvPr>
          <p:cNvSpPr txBox="1"/>
          <p:nvPr/>
        </p:nvSpPr>
        <p:spPr>
          <a:xfrm>
            <a:off x="182880" y="524713"/>
            <a:ext cx="2544158" cy="369332"/>
          </a:xfrm>
          <a:prstGeom prst="rect">
            <a:avLst/>
          </a:prstGeom>
          <a:noFill/>
        </p:spPr>
        <p:txBody>
          <a:bodyPr wrap="none" rtlCol="0">
            <a:spAutoFit/>
          </a:bodyPr>
          <a:lstStyle/>
          <a:p>
            <a:r>
              <a:rPr lang="en-GB" dirty="0"/>
              <a:t>Assuming lossless system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04312F-B4FC-0B3E-2A3B-C95AB5793669}"/>
                  </a:ext>
                </a:extLst>
              </p:cNvPr>
              <p:cNvSpPr txBox="1"/>
              <p:nvPr/>
            </p:nvSpPr>
            <p:spPr>
              <a:xfrm>
                <a:off x="246888" y="1452407"/>
                <a:ext cx="3279398" cy="663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b="0" i="1" smtClean="0">
                          <a:latin typeface="Cambria Math" panose="02040503050406030204" pitchFamily="18" charset="0"/>
                        </a:rPr>
                        <m:t>𝐷</m:t>
                      </m:r>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p>
                            <m:sSupPr>
                              <m:ctrlPr>
                                <a:rPr lang="en-GB" i="1" smtClean="0">
                                  <a:solidFill>
                                    <a:srgbClr val="836967"/>
                                  </a:solidFill>
                                  <a:latin typeface="Cambria Math" panose="02040503050406030204" pitchFamily="18" charset="0"/>
                                </a:rPr>
                              </m:ctrlPr>
                            </m:sSupPr>
                            <m:e>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e>
                            <m:sup>
                              <m:r>
                                <a:rPr lang="en-GB" b="0" i="1" smtClean="0">
                                  <a:solidFill>
                                    <a:srgbClr val="836967"/>
                                  </a:solidFill>
                                  <a:latin typeface="Cambria Math" panose="02040503050406030204" pitchFamily="18" charset="0"/>
                                </a:rPr>
                                <m:t>2</m:t>
                              </m:r>
                            </m:sup>
                          </m:sSup>
                        </m:num>
                        <m:den>
                          <m:r>
                            <m:rPr>
                              <m:sty m:val="p"/>
                            </m:rPr>
                            <a:rPr lang="en-GB">
                              <a:latin typeface="Cambria Math" panose="02040503050406030204" pitchFamily="18" charset="0"/>
                            </a:rPr>
                            <m:t>R</m:t>
                          </m:r>
                        </m:den>
                      </m:f>
                    </m:oMath>
                  </m:oMathPara>
                </a14:m>
                <a:endParaRPr lang="en-GB" dirty="0"/>
              </a:p>
            </p:txBody>
          </p:sp>
        </mc:Choice>
        <mc:Fallback xmlns="">
          <p:sp>
            <p:nvSpPr>
              <p:cNvPr id="6" name="TextBox 5">
                <a:extLst>
                  <a:ext uri="{FF2B5EF4-FFF2-40B4-BE49-F238E27FC236}">
                    <a16:creationId xmlns:a16="http://schemas.microsoft.com/office/drawing/2014/main" id="{A904312F-B4FC-0B3E-2A3B-C95AB5793669}"/>
                  </a:ext>
                </a:extLst>
              </p:cNvPr>
              <p:cNvSpPr txBox="1">
                <a:spLocks noRot="1" noChangeAspect="1" noMove="1" noResize="1" noEditPoints="1" noAdjustHandles="1" noChangeArrowheads="1" noChangeShapeType="1" noTextEdit="1"/>
              </p:cNvSpPr>
              <p:nvPr/>
            </p:nvSpPr>
            <p:spPr>
              <a:xfrm>
                <a:off x="246888" y="1452407"/>
                <a:ext cx="3279398" cy="663771"/>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C1285A5-691C-2315-29CA-70A5AEE5A655}"/>
                  </a:ext>
                </a:extLst>
              </p:cNvPr>
              <p:cNvSpPr txBox="1"/>
              <p:nvPr/>
            </p:nvSpPr>
            <p:spPr>
              <a:xfrm>
                <a:off x="2267712" y="856350"/>
                <a:ext cx="32793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             </m:t>
                          </m:r>
                          <m:r>
                            <a:rPr lang="en-GB" b="0" i="1" smtClean="0">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𝐼𝑁</m:t>
                          </m:r>
                        </m:sub>
                      </m:sSub>
                      <m:r>
                        <a:rPr lang="en-GB">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𝑉</m:t>
                          </m:r>
                        </m:e>
                        <m:sub>
                          <m:r>
                            <a:rPr lang="en-GB" i="1">
                              <a:latin typeface="Cambria Math" panose="02040503050406030204" pitchFamily="18" charset="0"/>
                            </a:rPr>
                            <m:t>𝑂𝑈</m:t>
                          </m:r>
                          <m:r>
                            <a:rPr lang="en-GB" b="0" i="1" smtClean="0">
                              <a:latin typeface="Cambria Math" panose="02040503050406030204" pitchFamily="18" charset="0"/>
                            </a:rPr>
                            <m:t>𝑇</m:t>
                          </m:r>
                        </m:sub>
                      </m:sSub>
                      <m:sSub>
                        <m:sSubPr>
                          <m:ctrlPr>
                            <a:rPr lang="en-GB"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𝑂𝑈𝑇</m:t>
                          </m:r>
                          <m:r>
                            <a:rPr lang="en-GB" b="0" i="1" smtClean="0">
                              <a:latin typeface="Cambria Math" panose="02040503050406030204" pitchFamily="18" charset="0"/>
                            </a:rPr>
                            <m:t> </m:t>
                          </m:r>
                        </m:sub>
                      </m:sSub>
                    </m:oMath>
                  </m:oMathPara>
                </a14:m>
                <a:endParaRPr lang="en-GB" dirty="0"/>
              </a:p>
            </p:txBody>
          </p:sp>
        </mc:Choice>
        <mc:Fallback xmlns="">
          <p:sp>
            <p:nvSpPr>
              <p:cNvPr id="12" name="TextBox 11">
                <a:extLst>
                  <a:ext uri="{FF2B5EF4-FFF2-40B4-BE49-F238E27FC236}">
                    <a16:creationId xmlns:a16="http://schemas.microsoft.com/office/drawing/2014/main" id="{4C1285A5-691C-2315-29CA-70A5AEE5A655}"/>
                  </a:ext>
                </a:extLst>
              </p:cNvPr>
              <p:cNvSpPr txBox="1">
                <a:spLocks noRot="1" noChangeAspect="1" noMove="1" noResize="1" noEditPoints="1" noAdjustHandles="1" noChangeArrowheads="1" noChangeShapeType="1" noTextEdit="1"/>
              </p:cNvSpPr>
              <p:nvPr/>
            </p:nvSpPr>
            <p:spPr>
              <a:xfrm>
                <a:off x="2267712" y="856350"/>
                <a:ext cx="3279398"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F583CAE-EDF5-6B1E-25C9-B217213652B5}"/>
                  </a:ext>
                </a:extLst>
              </p:cNvPr>
              <p:cNvSpPr txBox="1"/>
              <p:nvPr/>
            </p:nvSpPr>
            <p:spPr>
              <a:xfrm>
                <a:off x="5622623" y="714404"/>
                <a:ext cx="3400219"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             </m:t>
                          </m:r>
                          <m:r>
                            <a:rPr lang="en-GB" i="1">
                              <a:latin typeface="Cambria Math" panose="02040503050406030204" pitchFamily="18" charset="0"/>
                            </a:rPr>
                            <m:t>𝑉</m:t>
                          </m:r>
                        </m:e>
                        <m:sub>
                          <m:r>
                            <a:rPr lang="en-GB" i="1">
                              <a:latin typeface="Cambria Math" panose="02040503050406030204" pitchFamily="18" charset="0"/>
                            </a:rPr>
                            <m:t>𝐼𝑁</m:t>
                          </m:r>
                        </m:sub>
                      </m:sSub>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 </m:t>
                          </m:r>
                          <m:r>
                            <a:rPr lang="en-GB" b="0" i="1" smtClean="0">
                              <a:latin typeface="Cambria Math" panose="02040503050406030204" pitchFamily="18" charset="0"/>
                            </a:rPr>
                            <m:t>𝑎𝑣𝑔</m:t>
                          </m:r>
                        </m:sub>
                      </m:sSub>
                      <m:r>
                        <a:rPr lang="en-GB" b="0" i="1" smtClean="0">
                          <a:latin typeface="Cambria Math" panose="02040503050406030204" pitchFamily="18" charset="0"/>
                        </a:rPr>
                        <m:t>𝐷</m:t>
                      </m:r>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𝑂𝑈𝑇</m:t>
                              </m:r>
                            </m:sub>
                          </m:sSub>
                        </m:num>
                        <m:den>
                          <m:r>
                            <m:rPr>
                              <m:sty m:val="p"/>
                            </m:rPr>
                            <a:rPr lang="en-GB">
                              <a:latin typeface="Cambria Math" panose="02040503050406030204" pitchFamily="18" charset="0"/>
                            </a:rPr>
                            <m:t>R</m:t>
                          </m:r>
                        </m:den>
                      </m:f>
                    </m:oMath>
                  </m:oMathPara>
                </a14:m>
                <a:endParaRPr lang="en-GB" dirty="0"/>
              </a:p>
            </p:txBody>
          </p:sp>
        </mc:Choice>
        <mc:Fallback xmlns="">
          <p:sp>
            <p:nvSpPr>
              <p:cNvPr id="15" name="TextBox 14">
                <a:extLst>
                  <a:ext uri="{FF2B5EF4-FFF2-40B4-BE49-F238E27FC236}">
                    <a16:creationId xmlns:a16="http://schemas.microsoft.com/office/drawing/2014/main" id="{9F583CAE-EDF5-6B1E-25C9-B217213652B5}"/>
                  </a:ext>
                </a:extLst>
              </p:cNvPr>
              <p:cNvSpPr txBox="1">
                <a:spLocks noRot="1" noChangeAspect="1" noMove="1" noResize="1" noEditPoints="1" noAdjustHandles="1" noChangeArrowheads="1" noChangeShapeType="1" noTextEdit="1"/>
              </p:cNvSpPr>
              <p:nvPr/>
            </p:nvSpPr>
            <p:spPr>
              <a:xfrm>
                <a:off x="5622623" y="714404"/>
                <a:ext cx="3400219" cy="60907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E23B055-B35A-122B-45FC-D645DF37D342}"/>
                  </a:ext>
                </a:extLst>
              </p:cNvPr>
              <p:cNvSpPr txBox="1"/>
              <p:nvPr/>
            </p:nvSpPr>
            <p:spPr>
              <a:xfrm>
                <a:off x="3688330" y="1526227"/>
                <a:ext cx="4312670" cy="693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 </m:t>
                      </m:r>
                      <m:sSub>
                        <m:sSubPr>
                          <m:ctrlPr>
                            <a:rPr lang="en-GB" i="1" smtClean="0">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b="0" i="1" smtClean="0">
                                  <a:solidFill>
                                    <a:srgbClr val="836967"/>
                                  </a:solidFill>
                                  <a:latin typeface="Cambria Math" panose="02040503050406030204" pitchFamily="18" charset="0"/>
                                </a:rPr>
                                <m:t>(</m:t>
                              </m:r>
                              <m:r>
                                <a:rPr lang="en-GB" i="1">
                                  <a:latin typeface="Cambria Math" panose="02040503050406030204" pitchFamily="18" charset="0"/>
                                </a:rPr>
                                <m:t>𝑉</m:t>
                              </m:r>
                            </m:e>
                            <m:sub>
                              <m:r>
                                <a:rPr lang="en-GB" b="0" i="1" smtClean="0">
                                  <a:latin typeface="Cambria Math" panose="02040503050406030204" pitchFamily="18" charset="0"/>
                                </a:rPr>
                                <m:t>𝑂𝑈𝑇</m:t>
                              </m:r>
                            </m:sub>
                          </m:sSub>
                          <m:sSup>
                            <m:sSupPr>
                              <m:ctrlPr>
                                <a:rPr lang="en-GB"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num>
                        <m:den>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b="0" i="1" smtClean="0">
                              <a:latin typeface="Cambria Math" panose="02040503050406030204" pitchFamily="18" charset="0"/>
                            </a:rPr>
                            <m:t>𝐷</m:t>
                          </m:r>
                        </m:den>
                      </m:f>
                      <m:r>
                        <a:rPr lang="en-GB" i="1" smtClean="0">
                          <a:latin typeface="Cambria Math" panose="02040503050406030204" pitchFamily="18" charset="0"/>
                          <a:ea typeface="Cambria Math" panose="02040503050406030204" pitchFamily="18" charset="0"/>
                        </a:rPr>
                        <m:t>×</m:t>
                      </m:r>
                      <m:f>
                        <m:fPr>
                          <m:ctrlPr>
                            <a:rPr lang="en-GB" i="1">
                              <a:solidFill>
                                <a:srgbClr val="836967"/>
                              </a:solidFill>
                              <a:latin typeface="Cambria Math" panose="02040503050406030204" pitchFamily="18" charset="0"/>
                            </a:rPr>
                          </m:ctrlPr>
                        </m:fPr>
                        <m:num>
                          <m:r>
                            <a:rPr lang="en-GB" b="0" i="1" smtClean="0">
                              <a:solidFill>
                                <a:srgbClr val="836967"/>
                              </a:solidFill>
                              <a:latin typeface="Cambria Math" panose="02040503050406030204" pitchFamily="18" charset="0"/>
                            </a:rPr>
                            <m:t>1</m:t>
                          </m:r>
                        </m:num>
                        <m:den>
                          <m:r>
                            <m:rPr>
                              <m:sty m:val="p"/>
                            </m:rPr>
                            <a:rPr lang="en-GB">
                              <a:latin typeface="Cambria Math" panose="02040503050406030204" pitchFamily="18" charset="0"/>
                            </a:rPr>
                            <m:t>R</m:t>
                          </m:r>
                        </m:den>
                      </m:f>
                    </m:oMath>
                  </m:oMathPara>
                </a14:m>
                <a:endParaRPr lang="en-GB" dirty="0"/>
              </a:p>
            </p:txBody>
          </p:sp>
        </mc:Choice>
        <mc:Fallback xmlns="">
          <p:sp>
            <p:nvSpPr>
              <p:cNvPr id="16" name="TextBox 15">
                <a:extLst>
                  <a:ext uri="{FF2B5EF4-FFF2-40B4-BE49-F238E27FC236}">
                    <a16:creationId xmlns:a16="http://schemas.microsoft.com/office/drawing/2014/main" id="{FE23B055-B35A-122B-45FC-D645DF37D342}"/>
                  </a:ext>
                </a:extLst>
              </p:cNvPr>
              <p:cNvSpPr txBox="1">
                <a:spLocks noRot="1" noChangeAspect="1" noMove="1" noResize="1" noEditPoints="1" noAdjustHandles="1" noChangeArrowheads="1" noChangeShapeType="1" noTextEdit="1"/>
              </p:cNvSpPr>
              <p:nvPr/>
            </p:nvSpPr>
            <p:spPr>
              <a:xfrm>
                <a:off x="3688330" y="1526227"/>
                <a:ext cx="4312670" cy="693460"/>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90DF07-D63F-D70F-6480-9EB42C1AE1E0}"/>
                  </a:ext>
                </a:extLst>
              </p:cNvPr>
              <p:cNvSpPr txBox="1"/>
              <p:nvPr/>
            </p:nvSpPr>
            <p:spPr>
              <a:xfrm>
                <a:off x="2057650" y="3450514"/>
                <a:ext cx="4312670" cy="6787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f>
                        <m:fPr>
                          <m:ctrlPr>
                            <a:rPr lang="en-GB" i="1">
                              <a:solidFill>
                                <a:srgbClr val="836967"/>
                              </a:solidFill>
                              <a:latin typeface="Cambria Math" panose="02040503050406030204" pitchFamily="18" charset="0"/>
                            </a:rPr>
                          </m:ctrlPr>
                        </m:fPr>
                        <m:num>
                          <m:sSub>
                            <m:sSubPr>
                              <m:ctrlPr>
                                <a:rPr lang="en-GB" i="1">
                                  <a:solidFill>
                                    <a:srgbClr val="836967"/>
                                  </a:solidFill>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b="0" i="1" smtClean="0">
                              <a:latin typeface="Cambria Math" panose="02040503050406030204" pitchFamily="18" charset="0"/>
                            </a:rPr>
                            <m:t>𝐷</m:t>
                          </m:r>
                        </m:num>
                        <m:den>
                          <m:r>
                            <a:rPr lang="en-GB" b="0" i="1" smtClean="0">
                              <a:latin typeface="Cambria Math" panose="02040503050406030204" pitchFamily="18" charset="0"/>
                            </a:rPr>
                            <m:t>(1−</m:t>
                          </m:r>
                          <m:r>
                            <a:rPr lang="en-GB" b="0" i="1" smtClean="0">
                              <a:latin typeface="Cambria Math" panose="02040503050406030204" pitchFamily="18" charset="0"/>
                            </a:rPr>
                            <m:t>𝐷</m:t>
                          </m:r>
                          <m:sSup>
                            <m:sSupPr>
                              <m:ctrlPr>
                                <a:rPr lang="en-GB" b="0"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r>
                            <a:rPr lang="en-GB" b="0" i="1" smtClean="0">
                              <a:latin typeface="Cambria Math" panose="02040503050406030204" pitchFamily="18" charset="0"/>
                            </a:rPr>
                            <m:t>𝑅</m:t>
                          </m:r>
                        </m:den>
                      </m:f>
                    </m:oMath>
                  </m:oMathPara>
                </a14:m>
                <a:endParaRPr lang="en-GB" dirty="0"/>
              </a:p>
            </p:txBody>
          </p:sp>
        </mc:Choice>
        <mc:Fallback xmlns="">
          <p:sp>
            <p:nvSpPr>
              <p:cNvPr id="17" name="TextBox 16">
                <a:extLst>
                  <a:ext uri="{FF2B5EF4-FFF2-40B4-BE49-F238E27FC236}">
                    <a16:creationId xmlns:a16="http://schemas.microsoft.com/office/drawing/2014/main" id="{3090DF07-D63F-D70F-6480-9EB42C1AE1E0}"/>
                  </a:ext>
                </a:extLst>
              </p:cNvPr>
              <p:cNvSpPr txBox="1">
                <a:spLocks noRot="1" noChangeAspect="1" noMove="1" noResize="1" noEditPoints="1" noAdjustHandles="1" noChangeArrowheads="1" noChangeShapeType="1" noTextEdit="1"/>
              </p:cNvSpPr>
              <p:nvPr/>
            </p:nvSpPr>
            <p:spPr>
              <a:xfrm>
                <a:off x="2057650" y="3450514"/>
                <a:ext cx="4312670" cy="67877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1771FD-47CE-C21C-6D45-7CD664BB8083}"/>
                  </a:ext>
                </a:extLst>
              </p:cNvPr>
              <p:cNvSpPr txBox="1"/>
              <p:nvPr/>
            </p:nvSpPr>
            <p:spPr>
              <a:xfrm>
                <a:off x="2096679" y="2464729"/>
                <a:ext cx="4312670" cy="6580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 </m:t>
                      </m:r>
                      <m:sSub>
                        <m:sSubPr>
                          <m:ctrlPr>
                            <a:rPr lang="en-GB" i="1" smtClean="0">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𝑎𝑣𝑔</m:t>
                          </m:r>
                        </m:sub>
                      </m:sSub>
                      <m:r>
                        <a:rPr lang="en-GB">
                          <a:latin typeface="Cambria Math" panose="02040503050406030204" pitchFamily="18" charset="0"/>
                        </a:rPr>
                        <m:t>=</m:t>
                      </m:r>
                      <m:r>
                        <a:rPr lang="en-GB" b="0" i="0" smtClean="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𝑉</m:t>
                          </m:r>
                        </m:e>
                        <m:sub>
                          <m:r>
                            <a:rPr lang="en-GB" i="1">
                              <a:latin typeface="Cambria Math" panose="02040503050406030204" pitchFamily="18" charset="0"/>
                            </a:rPr>
                            <m:t>𝐼𝑁</m:t>
                          </m:r>
                        </m:sub>
                      </m:sSub>
                      <m:f>
                        <m:fPr>
                          <m:ctrlPr>
                            <a:rPr lang="en-US" i="1">
                              <a:solidFill>
                                <a:srgbClr val="836967"/>
                              </a:solidFill>
                              <a:latin typeface="Cambria Math" panose="02040503050406030204" pitchFamily="18" charset="0"/>
                            </a:rPr>
                          </m:ctrlPr>
                        </m:fPr>
                        <m:num>
                          <m:r>
                            <a:rPr lang="en-US">
                              <a:latin typeface="Cambria Math" panose="02040503050406030204" pitchFamily="18" charset="0"/>
                            </a:rPr>
                            <m:t> </m:t>
                          </m:r>
                          <m:r>
                            <a:rPr lang="en-GB" i="1">
                              <a:latin typeface="Cambria Math" panose="02040503050406030204" pitchFamily="18" charset="0"/>
                            </a:rPr>
                            <m:t>𝐷</m:t>
                          </m:r>
                        </m:num>
                        <m:den>
                          <m:d>
                            <m:dPr>
                              <m:ctrlPr>
                                <a:rPr lang="en-US" i="1">
                                  <a:latin typeface="Cambria Math" panose="02040503050406030204" pitchFamily="18" charset="0"/>
                                </a:rPr>
                              </m:ctrlPr>
                            </m:dPr>
                            <m:e>
                              <m:r>
                                <a:rPr lang="en-US">
                                  <a:latin typeface="Cambria Math" panose="02040503050406030204" pitchFamily="18" charset="0"/>
                                </a:rPr>
                                <m:t>1−</m:t>
                              </m:r>
                              <m:r>
                                <a:rPr lang="en-GB" i="1">
                                  <a:latin typeface="Cambria Math" panose="02040503050406030204" pitchFamily="18" charset="0"/>
                                </a:rPr>
                                <m:t>𝐷</m:t>
                              </m:r>
                            </m:e>
                          </m:d>
                        </m:den>
                      </m:f>
                      <m:sSup>
                        <m:sSupPr>
                          <m:ctrlPr>
                            <a:rPr lang="en-GB" i="1" smtClean="0">
                              <a:latin typeface="Cambria Math" panose="02040503050406030204" pitchFamily="18" charset="0"/>
                            </a:rPr>
                          </m:ctrlPr>
                        </m:sSupPr>
                        <m:e>
                          <m:r>
                            <a:rPr lang="en-GB" b="0" i="1" smtClean="0">
                              <a:latin typeface="Cambria Math" panose="02040503050406030204" pitchFamily="18" charset="0"/>
                            </a:rPr>
                            <m:t>)</m:t>
                          </m:r>
                        </m:e>
                        <m:sup>
                          <m:r>
                            <a:rPr lang="en-GB" b="0" i="1" smtClean="0">
                              <a:latin typeface="Cambria Math" panose="02040503050406030204" pitchFamily="18" charset="0"/>
                            </a:rPr>
                            <m:t>2</m:t>
                          </m:r>
                        </m:sup>
                      </m:sSup>
                      <m:r>
                        <a:rPr lang="en-GB" i="1" smtClean="0">
                          <a:latin typeface="Cambria Math" panose="02040503050406030204" pitchFamily="18" charset="0"/>
                          <a:ea typeface="Cambria Math" panose="02040503050406030204" pitchFamily="18" charset="0"/>
                        </a:rPr>
                        <m:t>×</m:t>
                      </m:r>
                      <m:f>
                        <m:fPr>
                          <m:ctrlPr>
                            <a:rPr lang="en-GB" i="1">
                              <a:solidFill>
                                <a:srgbClr val="836967"/>
                              </a:solidFill>
                              <a:latin typeface="Cambria Math" panose="02040503050406030204" pitchFamily="18" charset="0"/>
                            </a:rPr>
                          </m:ctrlPr>
                        </m:fPr>
                        <m:num>
                          <m:r>
                            <a:rPr lang="en-GB" b="0" i="1" smtClean="0">
                              <a:solidFill>
                                <a:srgbClr val="836967"/>
                              </a:solidFill>
                              <a:latin typeface="Cambria Math" panose="02040503050406030204" pitchFamily="18" charset="0"/>
                            </a:rPr>
                            <m:t>1</m:t>
                          </m:r>
                        </m:num>
                        <m:den>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𝐼𝑁</m:t>
                              </m:r>
                            </m:sub>
                          </m:sSub>
                          <m:r>
                            <a:rPr lang="en-GB" i="1">
                              <a:latin typeface="Cambria Math" panose="02040503050406030204" pitchFamily="18" charset="0"/>
                            </a:rPr>
                            <m:t>𝐷</m:t>
                          </m:r>
                          <m:r>
                            <m:rPr>
                              <m:sty m:val="p"/>
                            </m:rPr>
                            <a:rPr lang="en-GB">
                              <a:latin typeface="Cambria Math" panose="02040503050406030204" pitchFamily="18" charset="0"/>
                            </a:rPr>
                            <m:t>R</m:t>
                          </m:r>
                        </m:den>
                      </m:f>
                    </m:oMath>
                  </m:oMathPara>
                </a14:m>
                <a:endParaRPr lang="en-GB" dirty="0"/>
              </a:p>
            </p:txBody>
          </p:sp>
        </mc:Choice>
        <mc:Fallback xmlns="">
          <p:sp>
            <p:nvSpPr>
              <p:cNvPr id="5" name="TextBox 4">
                <a:extLst>
                  <a:ext uri="{FF2B5EF4-FFF2-40B4-BE49-F238E27FC236}">
                    <a16:creationId xmlns:a16="http://schemas.microsoft.com/office/drawing/2014/main" id="{6D1771FD-47CE-C21C-6D45-7CD664BB8083}"/>
                  </a:ext>
                </a:extLst>
              </p:cNvPr>
              <p:cNvSpPr txBox="1">
                <a:spLocks noRot="1" noChangeAspect="1" noMove="1" noResize="1" noEditPoints="1" noAdjustHandles="1" noChangeArrowheads="1" noChangeShapeType="1" noTextEdit="1"/>
              </p:cNvSpPr>
              <p:nvPr/>
            </p:nvSpPr>
            <p:spPr>
              <a:xfrm>
                <a:off x="2096679" y="2464729"/>
                <a:ext cx="4312670" cy="658065"/>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29271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2" grpId="0"/>
      <p:bldP spid="6" grpId="0"/>
      <p:bldP spid="12" grpId="0"/>
      <p:bldP spid="15" grpId="0"/>
      <p:bldP spid="16" grpId="0"/>
      <p:bldP spid="17"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2">
            <a:extLst>
              <a:ext uri="{FF2B5EF4-FFF2-40B4-BE49-F238E27FC236}">
                <a16:creationId xmlns:a16="http://schemas.microsoft.com/office/drawing/2014/main" id="{8B1D535C-7AD7-4B9F-018D-48BAEA6CDDFB}"/>
              </a:ext>
            </a:extLst>
          </p:cNvPr>
          <p:cNvSpPr txBox="1">
            <a:spLocks noChangeArrowheads="1"/>
          </p:cNvSpPr>
          <p:nvPr/>
        </p:nvSpPr>
        <p:spPr bwMode="auto">
          <a:xfrm>
            <a:off x="107950" y="115888"/>
            <a:ext cx="51817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Buck-Boost converter Output Voltage Ripples</a:t>
            </a:r>
            <a:endParaRPr lang="en-US" altLang="en-US" sz="1800" b="1" u="sng" dirty="0"/>
          </a:p>
        </p:txBody>
      </p:sp>
      <p:sp>
        <p:nvSpPr>
          <p:cNvPr id="4" name="TextBox 3">
            <a:extLst>
              <a:ext uri="{FF2B5EF4-FFF2-40B4-BE49-F238E27FC236}">
                <a16:creationId xmlns:a16="http://schemas.microsoft.com/office/drawing/2014/main" id="{043E728C-7403-68D5-E381-03526F644FF5}"/>
              </a:ext>
            </a:extLst>
          </p:cNvPr>
          <p:cNvSpPr txBox="1"/>
          <p:nvPr/>
        </p:nvSpPr>
        <p:spPr>
          <a:xfrm>
            <a:off x="118473" y="498723"/>
            <a:ext cx="8917577" cy="646331"/>
          </a:xfrm>
          <a:prstGeom prst="rect">
            <a:avLst/>
          </a:prstGeom>
          <a:noFill/>
        </p:spPr>
        <p:txBody>
          <a:bodyPr wrap="square">
            <a:spAutoFit/>
          </a:bodyPr>
          <a:lstStyle/>
          <a:p>
            <a:pPr marL="285750" indent="-285750">
              <a:buFont typeface="Arial" panose="020B0604020202020204" pitchFamily="34" charset="0"/>
              <a:buChar char="•"/>
            </a:pPr>
            <a:r>
              <a:rPr lang="en-GB" dirty="0"/>
              <a:t>Assuming that all the ripple current component of the diode current flows through the capacitor and its average value flows through the load resistor.</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16C181B-DBB8-7F1C-83A6-E9BC4CC89D3A}"/>
                  </a:ext>
                </a:extLst>
              </p:cNvPr>
              <p:cNvSpPr txBox="1"/>
              <p:nvPr/>
            </p:nvSpPr>
            <p:spPr>
              <a:xfrm>
                <a:off x="118473" y="1853258"/>
                <a:ext cx="2065208" cy="40011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r>
                        <m:rPr>
                          <m:sty m:val="p"/>
                        </m:rPr>
                        <a:rPr lang="en-GB" sz="2000" b="0" i="0" smtClean="0">
                          <a:latin typeface="Cambria Math" panose="02040503050406030204" pitchFamily="18" charset="0"/>
                        </a:rPr>
                        <m:t>Q</m:t>
                      </m:r>
                      <m:r>
                        <a:rPr lang="en-GB" sz="2000" b="0" i="0" smtClean="0">
                          <a:latin typeface="Cambria Math" panose="02040503050406030204" pitchFamily="18" charset="0"/>
                        </a:rPr>
                        <m:t>=  </m:t>
                      </m:r>
                      <m:r>
                        <m:rPr>
                          <m:sty m:val="p"/>
                        </m:rPr>
                        <a:rPr lang="en-GB" sz="2000" b="0" i="0" smtClean="0">
                          <a:latin typeface="Cambria Math" panose="02040503050406030204" pitchFamily="18" charset="0"/>
                        </a:rPr>
                        <m:t>C</m:t>
                      </m:r>
                      <m:r>
                        <a:rPr lang="en-GB" sz="2000" b="0" i="0" smtClean="0">
                          <a:latin typeface="Cambria Math" panose="02040503050406030204" pitchFamily="18" charset="0"/>
                        </a:rPr>
                        <m:t> ∆</m:t>
                      </m:r>
                      <m:sSub>
                        <m:sSubPr>
                          <m:ctrlPr>
                            <a:rPr lang="en-US" sz="2000" i="1">
                              <a:solidFill>
                                <a:srgbClr val="836967"/>
                              </a:solidFill>
                              <a:latin typeface="Cambria Math" panose="02040503050406030204" pitchFamily="18" charset="0"/>
                            </a:rPr>
                          </m:ctrlPr>
                        </m:sSubPr>
                        <m:e>
                          <m:r>
                            <a:rPr lang="en-GB" sz="2000" b="0" i="1" smtClean="0">
                              <a:latin typeface="Cambria Math" panose="02040503050406030204" pitchFamily="18" charset="0"/>
                            </a:rPr>
                            <m:t>𝑉</m:t>
                          </m:r>
                        </m:e>
                        <m:sub>
                          <m:r>
                            <a:rPr lang="en-GB" sz="2000" b="0" i="1" smtClean="0">
                              <a:latin typeface="Cambria Math" panose="02040503050406030204" pitchFamily="18" charset="0"/>
                            </a:rPr>
                            <m:t>𝑂𝑈𝑇</m:t>
                          </m:r>
                        </m:sub>
                      </m:sSub>
                    </m:oMath>
                  </m:oMathPara>
                </a14:m>
                <a:endParaRPr lang="en-GB" sz="2000" dirty="0"/>
              </a:p>
            </p:txBody>
          </p:sp>
        </mc:Choice>
        <mc:Fallback xmlns="">
          <p:sp>
            <p:nvSpPr>
              <p:cNvPr id="20" name="TextBox 19">
                <a:extLst>
                  <a:ext uri="{FF2B5EF4-FFF2-40B4-BE49-F238E27FC236}">
                    <a16:creationId xmlns:a16="http://schemas.microsoft.com/office/drawing/2014/main" id="{B16C181B-DBB8-7F1C-83A6-E9BC4CC89D3A}"/>
                  </a:ext>
                </a:extLst>
              </p:cNvPr>
              <p:cNvSpPr txBox="1">
                <a:spLocks noRot="1" noChangeAspect="1" noMove="1" noResize="1" noEditPoints="1" noAdjustHandles="1" noChangeArrowheads="1" noChangeShapeType="1" noTextEdit="1"/>
              </p:cNvSpPr>
              <p:nvPr/>
            </p:nvSpPr>
            <p:spPr>
              <a:xfrm>
                <a:off x="118473" y="1853258"/>
                <a:ext cx="2065208" cy="400110"/>
              </a:xfrm>
              <a:prstGeom prst="rect">
                <a:avLst/>
              </a:prstGeom>
              <a:blipFill>
                <a:blip r:embed="rId2"/>
                <a:stretch>
                  <a:fillRect b="-8824"/>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66C624C-1F99-8561-33A4-FFB63EE9D766}"/>
                  </a:ext>
                </a:extLst>
              </p:cNvPr>
              <p:cNvSpPr txBox="1"/>
              <p:nvPr/>
            </p:nvSpPr>
            <p:spPr>
              <a:xfrm>
                <a:off x="254558" y="2535395"/>
                <a:ext cx="3403453" cy="668581"/>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sub>
                      </m:sSub>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𝐼</m:t>
                              </m:r>
                            </m:e>
                            <m:sub>
                              <m:r>
                                <a:rPr lang="en-GB" sz="2000" b="0" i="1" smtClean="0">
                                  <a:solidFill>
                                    <a:srgbClr val="00B050"/>
                                  </a:solidFill>
                                  <a:latin typeface="Cambria Math" panose="02040503050406030204" pitchFamily="18" charset="0"/>
                                </a:rPr>
                                <m:t>𝑜</m:t>
                              </m:r>
                            </m:sub>
                          </m:sSub>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𝑡</m:t>
                              </m:r>
                            </m:e>
                            <m:sub>
                              <m:r>
                                <a:rPr lang="en-GB" sz="2000" b="0" i="1" smtClean="0">
                                  <a:solidFill>
                                    <a:srgbClr val="00B050"/>
                                  </a:solidFill>
                                  <a:latin typeface="Cambria Math" panose="02040503050406030204" pitchFamily="18" charset="0"/>
                                </a:rPr>
                                <m:t>𝑜𝑛</m:t>
                              </m:r>
                            </m:sub>
                          </m:sSub>
                        </m:num>
                        <m:den>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21" name="TextBox 20">
                <a:extLst>
                  <a:ext uri="{FF2B5EF4-FFF2-40B4-BE49-F238E27FC236}">
                    <a16:creationId xmlns:a16="http://schemas.microsoft.com/office/drawing/2014/main" id="{666C624C-1F99-8561-33A4-FFB63EE9D766}"/>
                  </a:ext>
                </a:extLst>
              </p:cNvPr>
              <p:cNvSpPr txBox="1">
                <a:spLocks noRot="1" noChangeAspect="1" noMove="1" noResize="1" noEditPoints="1" noAdjustHandles="1" noChangeArrowheads="1" noChangeShapeType="1" noTextEdit="1"/>
              </p:cNvSpPr>
              <p:nvPr/>
            </p:nvSpPr>
            <p:spPr>
              <a:xfrm>
                <a:off x="254558" y="2535395"/>
                <a:ext cx="3403453" cy="668581"/>
              </a:xfrm>
              <a:prstGeom prst="rect">
                <a:avLst/>
              </a:prstGeom>
              <a:blipFill>
                <a:blip r:embed="rId3"/>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B37E336-F700-E3A3-2735-4BF2ABB3ABC0}"/>
                  </a:ext>
                </a:extLst>
              </p:cNvPr>
              <p:cNvSpPr txBox="1"/>
              <p:nvPr/>
            </p:nvSpPr>
            <p:spPr>
              <a:xfrm>
                <a:off x="2122767" y="1718925"/>
                <a:ext cx="2134466" cy="666529"/>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sub>
                      </m:sSub>
                      <m:r>
                        <a:rPr lang="en-GB" sz="2000" b="0" i="0" smtClean="0">
                          <a:latin typeface="Cambria Math" panose="02040503050406030204" pitchFamily="18" charset="0"/>
                        </a:rPr>
                        <m:t>=</m:t>
                      </m:r>
                      <m:f>
                        <m:fPr>
                          <m:ctrlPr>
                            <a:rPr lang="en-US" sz="2000" i="1">
                              <a:latin typeface="Cambria Math" panose="02040503050406030204" pitchFamily="18" charset="0"/>
                            </a:rPr>
                          </m:ctrlPr>
                        </m:fPr>
                        <m:num>
                          <m:r>
                            <a:rPr lang="en-US" sz="2000" smtClean="0">
                              <a:solidFill>
                                <a:srgbClr val="00B050"/>
                              </a:solidFill>
                              <a:latin typeface="Cambria Math" panose="02040503050406030204" pitchFamily="18" charset="0"/>
                            </a:rPr>
                            <m:t>∆</m:t>
                          </m:r>
                          <m:r>
                            <m:rPr>
                              <m:sty m:val="p"/>
                            </m:rPr>
                            <a:rPr lang="en-GB" sz="2000">
                              <a:solidFill>
                                <a:srgbClr val="00B050"/>
                              </a:solidFill>
                              <a:latin typeface="Cambria Math" panose="02040503050406030204" pitchFamily="18" charset="0"/>
                            </a:rPr>
                            <m:t>Q</m:t>
                          </m:r>
                        </m:num>
                        <m:den>
                          <m:r>
                            <m:rPr>
                              <m:sty m:val="p"/>
                            </m:rPr>
                            <a:rPr lang="en-GB" sz="2000" smtClean="0">
                              <a:solidFill>
                                <a:srgbClr val="4D2CFA"/>
                              </a:solidFill>
                              <a:latin typeface="Cambria Math" panose="02040503050406030204" pitchFamily="18" charset="0"/>
                            </a:rPr>
                            <m:t>C</m:t>
                          </m:r>
                        </m:den>
                      </m:f>
                    </m:oMath>
                  </m:oMathPara>
                </a14:m>
                <a:endParaRPr lang="en-GB" sz="2000" dirty="0"/>
              </a:p>
            </p:txBody>
          </p:sp>
        </mc:Choice>
        <mc:Fallback xmlns="">
          <p:sp>
            <p:nvSpPr>
              <p:cNvPr id="22" name="TextBox 21">
                <a:extLst>
                  <a:ext uri="{FF2B5EF4-FFF2-40B4-BE49-F238E27FC236}">
                    <a16:creationId xmlns:a16="http://schemas.microsoft.com/office/drawing/2014/main" id="{7B37E336-F700-E3A3-2735-4BF2ABB3ABC0}"/>
                  </a:ext>
                </a:extLst>
              </p:cNvPr>
              <p:cNvSpPr txBox="1">
                <a:spLocks noRot="1" noChangeAspect="1" noMove="1" noResize="1" noEditPoints="1" noAdjustHandles="1" noChangeArrowheads="1" noChangeShapeType="1" noTextEdit="1"/>
              </p:cNvSpPr>
              <p:nvPr/>
            </p:nvSpPr>
            <p:spPr>
              <a:xfrm>
                <a:off x="2122767" y="1718925"/>
                <a:ext cx="2134466" cy="666529"/>
              </a:xfrm>
              <a:prstGeom prst="rect">
                <a:avLst/>
              </a:prstGeom>
              <a:blipFill>
                <a:blip r:embed="rId4"/>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3C118F1-7355-1D2F-3E6E-0079E50B1346}"/>
                  </a:ext>
                </a:extLst>
              </p:cNvPr>
              <p:cNvSpPr txBox="1"/>
              <p:nvPr/>
            </p:nvSpPr>
            <p:spPr>
              <a:xfrm>
                <a:off x="315622" y="3486003"/>
                <a:ext cx="3403453" cy="668581"/>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r>
                            <a:rPr lang="en-GB" sz="2000" b="0" i="1" smtClean="0">
                              <a:latin typeface="Cambria Math" panose="02040503050406030204" pitchFamily="18" charset="0"/>
                            </a:rPr>
                            <m:t> </m:t>
                          </m:r>
                        </m:sub>
                      </m:sSub>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𝑉</m:t>
                              </m:r>
                            </m:e>
                            <m:sub>
                              <m:r>
                                <a:rPr lang="en-GB" sz="2000" b="0" i="1" smtClean="0">
                                  <a:solidFill>
                                    <a:srgbClr val="00B050"/>
                                  </a:solidFill>
                                  <a:latin typeface="Cambria Math" panose="02040503050406030204" pitchFamily="18" charset="0"/>
                                </a:rPr>
                                <m:t>𝑂𝑈𝑇</m:t>
                              </m:r>
                            </m:sub>
                          </m:sSub>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𝑡</m:t>
                              </m:r>
                            </m:e>
                            <m:sub>
                              <m:r>
                                <a:rPr lang="en-GB" sz="2000" b="0" i="1" smtClean="0">
                                  <a:solidFill>
                                    <a:srgbClr val="00B050"/>
                                  </a:solidFill>
                                  <a:latin typeface="Cambria Math" panose="02040503050406030204" pitchFamily="18" charset="0"/>
                                </a:rPr>
                                <m:t>𝑜𝑛</m:t>
                              </m:r>
                            </m:sub>
                          </m:sSub>
                        </m:num>
                        <m:den>
                          <m:r>
                            <a:rPr lang="en-GB" sz="2000" b="0" i="1" smtClean="0">
                              <a:solidFill>
                                <a:srgbClr val="00B050"/>
                              </a:solidFill>
                              <a:latin typeface="Cambria Math" panose="02040503050406030204" pitchFamily="18" charset="0"/>
                            </a:rPr>
                            <m:t>𝑅</m:t>
                          </m:r>
                          <m:r>
                            <a:rPr lang="en-GB" sz="2000" b="0" i="1" smtClean="0">
                              <a:solidFill>
                                <a:srgbClr val="4D2CFA"/>
                              </a:solidFill>
                              <a:latin typeface="Cambria Math" panose="02040503050406030204" pitchFamily="18" charset="0"/>
                            </a:rPr>
                            <m:t> </m:t>
                          </m:r>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8" name="TextBox 7">
                <a:extLst>
                  <a:ext uri="{FF2B5EF4-FFF2-40B4-BE49-F238E27FC236}">
                    <a16:creationId xmlns:a16="http://schemas.microsoft.com/office/drawing/2014/main" id="{F3C118F1-7355-1D2F-3E6E-0079E50B1346}"/>
                  </a:ext>
                </a:extLst>
              </p:cNvPr>
              <p:cNvSpPr txBox="1">
                <a:spLocks noRot="1" noChangeAspect="1" noMove="1" noResize="1" noEditPoints="1" noAdjustHandles="1" noChangeArrowheads="1" noChangeShapeType="1" noTextEdit="1"/>
              </p:cNvSpPr>
              <p:nvPr/>
            </p:nvSpPr>
            <p:spPr>
              <a:xfrm>
                <a:off x="315622" y="3486003"/>
                <a:ext cx="3403453" cy="668581"/>
              </a:xfrm>
              <a:prstGeom prst="rect">
                <a:avLst/>
              </a:prstGeom>
              <a:blipFill>
                <a:blip r:embed="rId5"/>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136C43-0F0E-C6CF-5922-EAA955777DA8}"/>
                  </a:ext>
                </a:extLst>
              </p:cNvPr>
              <p:cNvSpPr txBox="1"/>
              <p:nvPr/>
            </p:nvSpPr>
            <p:spPr>
              <a:xfrm>
                <a:off x="118473" y="4393544"/>
                <a:ext cx="3403453"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000" i="1" smtClean="0">
                              <a:latin typeface="Cambria Math" panose="02040503050406030204" pitchFamily="18" charset="0"/>
                            </a:rPr>
                          </m:ctrlPr>
                        </m:fPr>
                        <m:num>
                          <m:r>
                            <a:rPr lang="en-US" sz="200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r>
                                <a:rPr lang="en-GB" sz="2000" i="1">
                                  <a:latin typeface="Cambria Math" panose="02040503050406030204" pitchFamily="18" charset="0"/>
                                </a:rPr>
                                <m:t> </m:t>
                              </m:r>
                            </m:sub>
                          </m:sSub>
                        </m:num>
                        <m:den>
                          <m:sSub>
                            <m:sSubPr>
                              <m:ctrlPr>
                                <a:rPr lang="en-US" sz="2000" i="1" smtClean="0">
                                  <a:solidFill>
                                    <a:schemeClr val="tx1"/>
                                  </a:solidFill>
                                  <a:latin typeface="Cambria Math" panose="02040503050406030204" pitchFamily="18" charset="0"/>
                                </a:rPr>
                              </m:ctrlPr>
                            </m:sSubPr>
                            <m:e>
                              <m:r>
                                <a:rPr lang="en-GB" sz="2000" i="1">
                                  <a:solidFill>
                                    <a:schemeClr val="tx1"/>
                                  </a:solidFill>
                                  <a:latin typeface="Cambria Math" panose="02040503050406030204" pitchFamily="18" charset="0"/>
                                </a:rPr>
                                <m:t>𝑉</m:t>
                              </m:r>
                            </m:e>
                            <m:sub>
                              <m:r>
                                <a:rPr lang="en-GB" sz="2000" i="1">
                                  <a:solidFill>
                                    <a:schemeClr val="tx1"/>
                                  </a:solidFill>
                                  <a:latin typeface="Cambria Math" panose="02040503050406030204" pitchFamily="18" charset="0"/>
                                </a:rPr>
                                <m:t>𝑂𝑈𝑇</m:t>
                              </m:r>
                            </m:sub>
                          </m:sSub>
                        </m:den>
                      </m:f>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sSub>
                            <m:sSubPr>
                              <m:ctrlPr>
                                <a:rPr lang="en-US" sz="2000" i="1" smtClean="0">
                                  <a:solidFill>
                                    <a:srgbClr val="00B050"/>
                                  </a:solidFill>
                                  <a:latin typeface="Cambria Math" panose="02040503050406030204" pitchFamily="18" charset="0"/>
                                </a:rPr>
                              </m:ctrlPr>
                            </m:sSubPr>
                            <m:e>
                              <m:r>
                                <a:rPr lang="en-GB" sz="2000" b="0" i="1" smtClean="0">
                                  <a:solidFill>
                                    <a:srgbClr val="00B050"/>
                                  </a:solidFill>
                                  <a:latin typeface="Cambria Math" panose="02040503050406030204" pitchFamily="18" charset="0"/>
                                </a:rPr>
                                <m:t>𝑡</m:t>
                              </m:r>
                            </m:e>
                            <m:sub>
                              <m:r>
                                <a:rPr lang="en-GB" sz="2000" b="0" i="1" smtClean="0">
                                  <a:solidFill>
                                    <a:srgbClr val="00B050"/>
                                  </a:solidFill>
                                  <a:latin typeface="Cambria Math" panose="02040503050406030204" pitchFamily="18" charset="0"/>
                                </a:rPr>
                                <m:t>𝑜𝑛</m:t>
                              </m:r>
                            </m:sub>
                          </m:sSub>
                        </m:num>
                        <m:den>
                          <m:r>
                            <a:rPr lang="en-GB" sz="2000" b="0" i="1" smtClean="0">
                              <a:solidFill>
                                <a:srgbClr val="00B050"/>
                              </a:solidFill>
                              <a:latin typeface="Cambria Math" panose="02040503050406030204" pitchFamily="18" charset="0"/>
                            </a:rPr>
                            <m:t>𝑅</m:t>
                          </m:r>
                          <m:r>
                            <a:rPr lang="en-GB" sz="2000" b="0" i="1" smtClean="0">
                              <a:solidFill>
                                <a:srgbClr val="4D2CFA"/>
                              </a:solidFill>
                              <a:latin typeface="Cambria Math" panose="02040503050406030204" pitchFamily="18" charset="0"/>
                            </a:rPr>
                            <m:t> </m:t>
                          </m:r>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10" name="TextBox 9">
                <a:extLst>
                  <a:ext uri="{FF2B5EF4-FFF2-40B4-BE49-F238E27FC236}">
                    <a16:creationId xmlns:a16="http://schemas.microsoft.com/office/drawing/2014/main" id="{02136C43-0F0E-C6CF-5922-EAA955777DA8}"/>
                  </a:ext>
                </a:extLst>
              </p:cNvPr>
              <p:cNvSpPr txBox="1">
                <a:spLocks noRot="1" noChangeAspect="1" noMove="1" noResize="1" noEditPoints="1" noAdjustHandles="1" noChangeArrowheads="1" noChangeShapeType="1" noTextEdit="1"/>
              </p:cNvSpPr>
              <p:nvPr/>
            </p:nvSpPr>
            <p:spPr>
              <a:xfrm>
                <a:off x="118473" y="4393544"/>
                <a:ext cx="3403453" cy="722890"/>
              </a:xfrm>
              <a:prstGeom prst="rect">
                <a:avLst/>
              </a:prstGeom>
              <a:blipFill>
                <a:blip r:embed="rId6"/>
                <a:stretch>
                  <a:fillRect/>
                </a:stretch>
              </a:blipFill>
              <a:ln>
                <a:solidFill>
                  <a:schemeClr val="bg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5311E97-1B62-7D9D-90B7-899D966F4AC3}"/>
                  </a:ext>
                </a:extLst>
              </p:cNvPr>
              <p:cNvSpPr txBox="1"/>
              <p:nvPr/>
            </p:nvSpPr>
            <p:spPr>
              <a:xfrm>
                <a:off x="184568" y="5255133"/>
                <a:ext cx="3403453" cy="722890"/>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000" i="1" smtClean="0">
                              <a:latin typeface="Cambria Math" panose="02040503050406030204" pitchFamily="18" charset="0"/>
                            </a:rPr>
                          </m:ctrlPr>
                        </m:fPr>
                        <m:num>
                          <m:r>
                            <a:rPr lang="en-US" sz="2000">
                              <a:latin typeface="Cambria Math" panose="02040503050406030204" pitchFamily="18" charset="0"/>
                            </a:rPr>
                            <m:t>∆</m:t>
                          </m:r>
                          <m:sSub>
                            <m:sSubPr>
                              <m:ctrlPr>
                                <a:rPr lang="en-US" sz="2000" i="1">
                                  <a:solidFill>
                                    <a:srgbClr val="836967"/>
                                  </a:solidFill>
                                  <a:latin typeface="Cambria Math" panose="02040503050406030204" pitchFamily="18" charset="0"/>
                                </a:rPr>
                              </m:ctrlPr>
                            </m:sSubPr>
                            <m:e>
                              <m:r>
                                <a:rPr lang="en-GB" sz="2000" i="1">
                                  <a:latin typeface="Cambria Math" panose="02040503050406030204" pitchFamily="18" charset="0"/>
                                </a:rPr>
                                <m:t>𝑉</m:t>
                              </m:r>
                            </m:e>
                            <m:sub>
                              <m:r>
                                <a:rPr lang="en-GB" sz="2000" i="1">
                                  <a:latin typeface="Cambria Math" panose="02040503050406030204" pitchFamily="18" charset="0"/>
                                </a:rPr>
                                <m:t>𝑂𝑈𝑇</m:t>
                              </m:r>
                              <m:r>
                                <a:rPr lang="en-GB" sz="2000" i="1">
                                  <a:latin typeface="Cambria Math" panose="02040503050406030204" pitchFamily="18" charset="0"/>
                                </a:rPr>
                                <m:t> </m:t>
                              </m:r>
                            </m:sub>
                          </m:sSub>
                        </m:num>
                        <m:den>
                          <m:sSub>
                            <m:sSubPr>
                              <m:ctrlPr>
                                <a:rPr lang="en-US" sz="2000" i="1" smtClean="0">
                                  <a:solidFill>
                                    <a:schemeClr val="tx1"/>
                                  </a:solidFill>
                                  <a:latin typeface="Cambria Math" panose="02040503050406030204" pitchFamily="18" charset="0"/>
                                </a:rPr>
                              </m:ctrlPr>
                            </m:sSubPr>
                            <m:e>
                              <m:r>
                                <a:rPr lang="en-GB" sz="2000" i="1">
                                  <a:solidFill>
                                    <a:schemeClr val="tx1"/>
                                  </a:solidFill>
                                  <a:latin typeface="Cambria Math" panose="02040503050406030204" pitchFamily="18" charset="0"/>
                                </a:rPr>
                                <m:t>𝑉</m:t>
                              </m:r>
                            </m:e>
                            <m:sub>
                              <m:r>
                                <a:rPr lang="en-GB" sz="2000" i="1">
                                  <a:solidFill>
                                    <a:schemeClr val="tx1"/>
                                  </a:solidFill>
                                  <a:latin typeface="Cambria Math" panose="02040503050406030204" pitchFamily="18" charset="0"/>
                                </a:rPr>
                                <m:t>𝑂𝑈𝑇</m:t>
                              </m:r>
                            </m:sub>
                          </m:sSub>
                        </m:den>
                      </m:f>
                      <m:r>
                        <a:rPr lang="en-GB" sz="2000" b="0" i="0" smtClean="0">
                          <a:latin typeface="Cambria Math" panose="02040503050406030204" pitchFamily="18" charset="0"/>
                        </a:rPr>
                        <m:t>=</m:t>
                      </m:r>
                      <m:f>
                        <m:fPr>
                          <m:ctrlPr>
                            <a:rPr lang="en-US" sz="2000" i="1" smtClean="0">
                              <a:solidFill>
                                <a:srgbClr val="4D2CFA"/>
                              </a:solidFill>
                              <a:latin typeface="Cambria Math" panose="02040503050406030204" pitchFamily="18" charset="0"/>
                            </a:rPr>
                          </m:ctrlPr>
                        </m:fPr>
                        <m:num>
                          <m:r>
                            <a:rPr lang="en-GB" sz="2000" i="1" smtClean="0">
                              <a:solidFill>
                                <a:srgbClr val="00B050"/>
                              </a:solidFill>
                              <a:latin typeface="Cambria Math" panose="02040503050406030204" pitchFamily="18" charset="0"/>
                            </a:rPr>
                            <m:t>𝐷</m:t>
                          </m:r>
                          <m:r>
                            <a:rPr lang="en-GB" sz="2000" b="0" i="1" smtClean="0">
                              <a:solidFill>
                                <a:srgbClr val="00B050"/>
                              </a:solidFill>
                              <a:latin typeface="Cambria Math" panose="02040503050406030204" pitchFamily="18" charset="0"/>
                            </a:rPr>
                            <m:t>𝑇</m:t>
                          </m:r>
                        </m:num>
                        <m:den>
                          <m:r>
                            <a:rPr lang="en-GB" sz="2000" b="0" i="1" smtClean="0">
                              <a:solidFill>
                                <a:srgbClr val="00B050"/>
                              </a:solidFill>
                              <a:latin typeface="Cambria Math" panose="02040503050406030204" pitchFamily="18" charset="0"/>
                            </a:rPr>
                            <m:t>𝑅</m:t>
                          </m:r>
                          <m:r>
                            <a:rPr lang="en-GB" sz="2000" b="0" i="1" smtClean="0">
                              <a:solidFill>
                                <a:srgbClr val="4D2CFA"/>
                              </a:solidFill>
                              <a:latin typeface="Cambria Math" panose="02040503050406030204" pitchFamily="18" charset="0"/>
                            </a:rPr>
                            <m:t> </m:t>
                          </m:r>
                          <m:r>
                            <a:rPr lang="en-GB" sz="2000" b="0" i="1" smtClean="0">
                              <a:solidFill>
                                <a:srgbClr val="4D2CFA"/>
                              </a:solidFill>
                              <a:latin typeface="Cambria Math" panose="02040503050406030204" pitchFamily="18" charset="0"/>
                              <a:ea typeface="SimSun" panose="02010600030101010101" pitchFamily="2" charset="-122"/>
                              <a:cs typeface="Times New Roman" panose="02020603050405020304" pitchFamily="18" charset="0"/>
                            </a:rPr>
                            <m:t>𝐶</m:t>
                          </m:r>
                        </m:den>
                      </m:f>
                    </m:oMath>
                  </m:oMathPara>
                </a14:m>
                <a:endParaRPr lang="en-GB" sz="2000" dirty="0"/>
              </a:p>
            </p:txBody>
          </p:sp>
        </mc:Choice>
        <mc:Fallback xmlns="">
          <p:sp>
            <p:nvSpPr>
              <p:cNvPr id="14" name="TextBox 13">
                <a:extLst>
                  <a:ext uri="{FF2B5EF4-FFF2-40B4-BE49-F238E27FC236}">
                    <a16:creationId xmlns:a16="http://schemas.microsoft.com/office/drawing/2014/main" id="{75311E97-1B62-7D9D-90B7-899D966F4AC3}"/>
                  </a:ext>
                </a:extLst>
              </p:cNvPr>
              <p:cNvSpPr txBox="1">
                <a:spLocks noRot="1" noChangeAspect="1" noMove="1" noResize="1" noEditPoints="1" noAdjustHandles="1" noChangeArrowheads="1" noChangeShapeType="1" noTextEdit="1"/>
              </p:cNvSpPr>
              <p:nvPr/>
            </p:nvSpPr>
            <p:spPr>
              <a:xfrm>
                <a:off x="184568" y="5255133"/>
                <a:ext cx="3403453" cy="722890"/>
              </a:xfrm>
              <a:prstGeom prst="rect">
                <a:avLst/>
              </a:prstGeom>
              <a:blipFill>
                <a:blip r:embed="rId7"/>
                <a:stretch>
                  <a:fillRect/>
                </a:stretch>
              </a:blipFill>
              <a:ln>
                <a:solidFill>
                  <a:schemeClr val="bg1"/>
                </a:solidFill>
              </a:ln>
            </p:spPr>
            <p:txBody>
              <a:bodyPr/>
              <a:lstStyle/>
              <a:p>
                <a:r>
                  <a:rPr lang="en-GB">
                    <a:noFill/>
                  </a:rPr>
                  <a:t> </a:t>
                </a:r>
              </a:p>
            </p:txBody>
          </p:sp>
        </mc:Fallback>
      </mc:AlternateContent>
      <p:pic>
        <p:nvPicPr>
          <p:cNvPr id="5" name="Picture 4">
            <a:extLst>
              <a:ext uri="{FF2B5EF4-FFF2-40B4-BE49-F238E27FC236}">
                <a16:creationId xmlns:a16="http://schemas.microsoft.com/office/drawing/2014/main" id="{1975585C-B7A6-70A6-AB40-169DA42869B2}"/>
              </a:ext>
            </a:extLst>
          </p:cNvPr>
          <p:cNvPicPr>
            <a:picLocks noChangeAspect="1"/>
          </p:cNvPicPr>
          <p:nvPr/>
        </p:nvPicPr>
        <p:blipFill>
          <a:blip r:embed="rId8"/>
          <a:stretch>
            <a:fillRect/>
          </a:stretch>
        </p:blipFill>
        <p:spPr>
          <a:xfrm>
            <a:off x="4218088" y="3300985"/>
            <a:ext cx="4618178" cy="3306330"/>
          </a:xfrm>
          <a:prstGeom prst="rect">
            <a:avLst/>
          </a:prstGeom>
        </p:spPr>
      </p:pic>
      <p:pic>
        <p:nvPicPr>
          <p:cNvPr id="9" name="Picture 8">
            <a:extLst>
              <a:ext uri="{FF2B5EF4-FFF2-40B4-BE49-F238E27FC236}">
                <a16:creationId xmlns:a16="http://schemas.microsoft.com/office/drawing/2014/main" id="{3BC741E9-59E9-767F-F504-CD0C88D6CE0D}"/>
              </a:ext>
            </a:extLst>
          </p:cNvPr>
          <p:cNvPicPr>
            <a:picLocks noChangeAspect="1"/>
          </p:cNvPicPr>
          <p:nvPr/>
        </p:nvPicPr>
        <p:blipFill>
          <a:blip r:embed="rId9"/>
          <a:stretch>
            <a:fillRect/>
          </a:stretch>
        </p:blipFill>
        <p:spPr>
          <a:xfrm>
            <a:off x="4300779" y="1379116"/>
            <a:ext cx="4843221" cy="1608835"/>
          </a:xfrm>
          <a:prstGeom prst="rect">
            <a:avLst/>
          </a:prstGeom>
        </p:spPr>
      </p:pic>
    </p:spTree>
    <p:extLst>
      <p:ext uri="{BB962C8B-B14F-4D97-AF65-F5344CB8AC3E}">
        <p14:creationId xmlns:p14="http://schemas.microsoft.com/office/powerpoint/2010/main" val="23586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8" grpId="0" animBg="1"/>
      <p:bldP spid="10"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3">
            <a:extLst>
              <a:ext uri="{FF2B5EF4-FFF2-40B4-BE49-F238E27FC236}">
                <a16:creationId xmlns:a16="http://schemas.microsoft.com/office/drawing/2014/main" id="{2C143E66-EB3D-024E-80E3-9BB739B5D7AD}"/>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64FA6EA-4C52-7547-8355-178FC42E023C}" type="slidenum">
              <a:rPr lang="en-US" altLang="en-US" sz="1400"/>
              <a:pPr>
                <a:spcBef>
                  <a:spcPct val="0"/>
                </a:spcBef>
                <a:buFontTx/>
                <a:buNone/>
              </a:pPr>
              <a:t>25</a:t>
            </a:fld>
            <a:endParaRPr lang="en-US" altLang="en-US" sz="1400"/>
          </a:p>
        </p:txBody>
      </p:sp>
      <p:sp>
        <p:nvSpPr>
          <p:cNvPr id="58371" name="Text Box 4">
            <a:extLst>
              <a:ext uri="{FF2B5EF4-FFF2-40B4-BE49-F238E27FC236}">
                <a16:creationId xmlns:a16="http://schemas.microsoft.com/office/drawing/2014/main" id="{7BF6DC75-53D5-F64C-A23B-41C718126C25}"/>
              </a:ext>
            </a:extLst>
          </p:cNvPr>
          <p:cNvSpPr txBox="1">
            <a:spLocks noChangeArrowheads="1"/>
          </p:cNvSpPr>
          <p:nvPr/>
        </p:nvSpPr>
        <p:spPr bwMode="auto">
          <a:xfrm>
            <a:off x="274638" y="274638"/>
            <a:ext cx="8726487" cy="284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b="1" u="sng" dirty="0"/>
              <a:t>Question.</a:t>
            </a:r>
          </a:p>
          <a:p>
            <a:pPr eaLnBrk="1" hangingPunct="1">
              <a:spcBef>
                <a:spcPct val="50000"/>
              </a:spcBef>
              <a:buFontTx/>
              <a:buNone/>
            </a:pPr>
            <a:r>
              <a:rPr lang="en-GB" altLang="en-US" sz="1800" dirty="0"/>
              <a:t>A small wind turbine generates 1.5V DC per MPH of wind speed.</a:t>
            </a:r>
          </a:p>
          <a:p>
            <a:pPr eaLnBrk="1" hangingPunct="1">
              <a:spcBef>
                <a:spcPct val="50000"/>
              </a:spcBef>
              <a:buFontTx/>
              <a:buNone/>
            </a:pPr>
            <a:r>
              <a:rPr lang="en-GB" altLang="en-US" sz="1800" dirty="0"/>
              <a:t>For operation over the range 8 MPH to 32 MPH, determine the following:</a:t>
            </a:r>
          </a:p>
          <a:p>
            <a:pPr eaLnBrk="1" hangingPunct="1">
              <a:spcBef>
                <a:spcPct val="50000"/>
              </a:spcBef>
              <a:buFontTx/>
              <a:buNone/>
            </a:pPr>
            <a:r>
              <a:rPr lang="en-GB" altLang="en-US" sz="1800" dirty="0"/>
              <a:t>1. The type of converter to be used;</a:t>
            </a:r>
          </a:p>
          <a:p>
            <a:pPr eaLnBrk="1" hangingPunct="1">
              <a:spcBef>
                <a:spcPct val="50000"/>
              </a:spcBef>
              <a:buFontTx/>
              <a:buNone/>
            </a:pPr>
            <a:r>
              <a:rPr lang="en-GB" altLang="en-US" sz="1800" dirty="0"/>
              <a:t>2. The required range of duty cycle for these wind speeds;</a:t>
            </a:r>
          </a:p>
          <a:p>
            <a:pPr eaLnBrk="1" hangingPunct="1">
              <a:spcBef>
                <a:spcPct val="50000"/>
              </a:spcBef>
              <a:buFontTx/>
              <a:buNone/>
            </a:pPr>
            <a:r>
              <a:rPr lang="en-GB" altLang="en-US" sz="1800" dirty="0"/>
              <a:t>3. The average input current to the converter at 32MPH;</a:t>
            </a:r>
          </a:p>
          <a:p>
            <a:pPr eaLnBrk="1" hangingPunct="1">
              <a:spcBef>
                <a:spcPct val="50000"/>
              </a:spcBef>
              <a:buFontTx/>
              <a:buNone/>
            </a:pPr>
            <a:r>
              <a:rPr lang="en-GB" altLang="en-US" sz="1800" dirty="0"/>
              <a:t>4. The peak input current @ 32 MPH assuming operation at the boundary condition.</a:t>
            </a:r>
            <a:endParaRPr lang="en-US" altLang="en-US" sz="1800" dirty="0"/>
          </a:p>
        </p:txBody>
      </p:sp>
      <p:pic>
        <p:nvPicPr>
          <p:cNvPr id="58372" name="Picture 6" descr="Wind_Gen">
            <a:extLst>
              <a:ext uri="{FF2B5EF4-FFF2-40B4-BE49-F238E27FC236}">
                <a16:creationId xmlns:a16="http://schemas.microsoft.com/office/drawing/2014/main" id="{552C93C4-EC75-824D-9395-5DEF85684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89" y="3470276"/>
            <a:ext cx="4175125"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a:extLst>
              <a:ext uri="{FF2B5EF4-FFF2-40B4-BE49-F238E27FC236}">
                <a16:creationId xmlns:a16="http://schemas.microsoft.com/office/drawing/2014/main" id="{13893FCE-F848-D746-B161-7E3D02884117}"/>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26B71FD-3A81-7E4E-9CC6-C97EFA05AC0D}" type="slidenum">
              <a:rPr lang="en-US" altLang="en-US" sz="1400"/>
              <a:pPr>
                <a:spcBef>
                  <a:spcPct val="0"/>
                </a:spcBef>
                <a:buFontTx/>
                <a:buNone/>
              </a:pPr>
              <a:t>26</a:t>
            </a:fld>
            <a:endParaRPr lang="en-US" altLang="en-US" sz="1400"/>
          </a:p>
        </p:txBody>
      </p:sp>
      <mc:AlternateContent xmlns:mc="http://schemas.openxmlformats.org/markup-compatibility/2006" xmlns:a14="http://schemas.microsoft.com/office/drawing/2010/main">
        <mc:Choice Requires="a14">
          <p:sp>
            <p:nvSpPr>
              <p:cNvPr id="59395" name="Text Box 4">
                <a:extLst>
                  <a:ext uri="{FF2B5EF4-FFF2-40B4-BE49-F238E27FC236}">
                    <a16:creationId xmlns:a16="http://schemas.microsoft.com/office/drawing/2014/main" id="{7613C6B5-6093-BB46-B860-401E476A37FB}"/>
                  </a:ext>
                </a:extLst>
              </p:cNvPr>
              <p:cNvSpPr txBox="1">
                <a:spLocks noChangeArrowheads="1"/>
              </p:cNvSpPr>
              <p:nvPr/>
            </p:nvSpPr>
            <p:spPr bwMode="auto">
              <a:xfrm>
                <a:off x="161925" y="61913"/>
                <a:ext cx="8774113" cy="47885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b="1" u="sng" dirty="0"/>
                  <a:t>Solution.</a:t>
                </a:r>
              </a:p>
              <a:p>
                <a:pPr eaLnBrk="1" hangingPunct="1">
                  <a:spcBef>
                    <a:spcPct val="0"/>
                  </a:spcBef>
                  <a:buFontTx/>
                  <a:buNone/>
                </a:pPr>
                <a:r>
                  <a:rPr lang="en-GB" altLang="en-US" sz="1800" dirty="0"/>
                  <a:t>For a wind speed of 8MPH, the turbine output voltage is 8 x 1.5 = 12V. At a wind speed of 32 MPH the output voltage is 48V. Hence use a buck-boost converter since V</a:t>
                </a:r>
                <a:r>
                  <a:rPr lang="en-GB" altLang="en-US" sz="1800" baseline="-25000" dirty="0"/>
                  <a:t>IN</a:t>
                </a:r>
                <a:r>
                  <a:rPr lang="en-GB" altLang="en-US" sz="1800" dirty="0"/>
                  <a:t> can be less than or greater than the output voltage.</a:t>
                </a:r>
              </a:p>
              <a:p>
                <a:pPr eaLnBrk="1" hangingPunct="1">
                  <a:spcBef>
                    <a:spcPct val="0"/>
                  </a:spcBef>
                  <a:buFontTx/>
                  <a:buNone/>
                </a:pPr>
                <a:endParaRPr lang="en-GB" altLang="en-US" sz="1800" dirty="0"/>
              </a:p>
              <a:p>
                <a:pPr eaLnBrk="1" hangingPunct="1">
                  <a:spcBef>
                    <a:spcPct val="0"/>
                  </a:spcBef>
                  <a:buFontTx/>
                  <a:buNone/>
                </a:pPr>
                <a:r>
                  <a:rPr lang="en-GB" altLang="en-US" sz="1800" dirty="0"/>
                  <a:t>For the BB, </a:t>
                </a:r>
              </a:p>
              <a:p>
                <a:pPr>
                  <a:spcBef>
                    <a:spcPct val="0"/>
                  </a:spcBef>
                  <a:buNone/>
                </a:pPr>
                <a14:m>
                  <m:oMathPara xmlns:m="http://schemas.openxmlformats.org/officeDocument/2006/math">
                    <m:oMathParaPr>
                      <m:jc m:val="centerGroup"/>
                    </m:oMathParaPr>
                    <m:oMath xmlns:m="http://schemas.openxmlformats.org/officeDocument/2006/math">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𝑉</m:t>
                          </m:r>
                        </m:e>
                        <m:sub>
                          <m:r>
                            <a:rPr lang="en-GB" sz="2400" i="1">
                              <a:latin typeface="Cambria Math" panose="02040503050406030204" pitchFamily="18" charset="0"/>
                            </a:rPr>
                            <m:t>𝑂𝑈𝑇</m:t>
                          </m:r>
                        </m:sub>
                      </m:sSub>
                      <m:r>
                        <a:rPr lang="en-US" sz="2400">
                          <a:latin typeface="Cambria Math" panose="02040503050406030204" pitchFamily="18" charset="0"/>
                        </a:rPr>
                        <m:t> = −</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𝑉</m:t>
                          </m:r>
                        </m:e>
                        <m:sub>
                          <m:r>
                            <a:rPr lang="en-GB" sz="2400" i="1">
                              <a:latin typeface="Cambria Math" panose="02040503050406030204" pitchFamily="18" charset="0"/>
                            </a:rPr>
                            <m:t>𝐼𝑁</m:t>
                          </m:r>
                        </m:sub>
                      </m:sSub>
                      <m:f>
                        <m:fPr>
                          <m:ctrlPr>
                            <a:rPr lang="en-US" sz="2400" i="1">
                              <a:solidFill>
                                <a:srgbClr val="836967"/>
                              </a:solidFill>
                              <a:latin typeface="Cambria Math" panose="02040503050406030204" pitchFamily="18" charset="0"/>
                            </a:rPr>
                          </m:ctrlPr>
                        </m:fPr>
                        <m:num>
                          <m:r>
                            <a:rPr lang="en-US" sz="2400">
                              <a:latin typeface="Cambria Math" panose="02040503050406030204" pitchFamily="18" charset="0"/>
                            </a:rPr>
                            <m:t> </m:t>
                          </m:r>
                          <m:r>
                            <a:rPr lang="en-GB" sz="2400" i="1">
                              <a:latin typeface="Cambria Math" panose="02040503050406030204" pitchFamily="18" charset="0"/>
                            </a:rPr>
                            <m:t>𝐷</m:t>
                          </m:r>
                        </m:num>
                        <m:den>
                          <m:d>
                            <m:dPr>
                              <m:ctrlPr>
                                <a:rPr lang="en-US" sz="2400" i="1">
                                  <a:latin typeface="Cambria Math" panose="02040503050406030204" pitchFamily="18" charset="0"/>
                                </a:rPr>
                              </m:ctrlPr>
                            </m:dPr>
                            <m:e>
                              <m:r>
                                <a:rPr lang="en-US" sz="2400">
                                  <a:latin typeface="Cambria Math" panose="02040503050406030204" pitchFamily="18" charset="0"/>
                                </a:rPr>
                                <m:t>1−</m:t>
                              </m:r>
                              <m:r>
                                <a:rPr lang="en-GB" sz="2400" i="1">
                                  <a:latin typeface="Cambria Math" panose="02040503050406030204" pitchFamily="18" charset="0"/>
                                </a:rPr>
                                <m:t>𝐷</m:t>
                              </m:r>
                            </m:e>
                          </m:d>
                        </m:den>
                      </m:f>
                    </m:oMath>
                  </m:oMathPara>
                </a14:m>
                <a:endParaRPr lang="en-GB" altLang="en-US" sz="1800" dirty="0"/>
              </a:p>
              <a:p>
                <a:pPr eaLnBrk="1" hangingPunct="1">
                  <a:spcBef>
                    <a:spcPct val="0"/>
                  </a:spcBef>
                  <a:buFontTx/>
                  <a:buNone/>
                </a:pPr>
                <a:endParaRPr lang="en-GB" altLang="en-US" sz="1800" dirty="0"/>
              </a:p>
              <a:p>
                <a:pPr eaLnBrk="1" hangingPunct="1">
                  <a:spcBef>
                    <a:spcPct val="0"/>
                  </a:spcBef>
                  <a:buFontTx/>
                  <a:buNone/>
                </a:pPr>
                <a:r>
                  <a:rPr lang="en-GB" altLang="en-US" sz="1800" dirty="0"/>
                  <a:t>Neglecting the sign as it only shows the polarity with respect to input voltage.</a:t>
                </a:r>
              </a:p>
              <a:p>
                <a:pPr eaLnBrk="1" hangingPunct="1">
                  <a:spcBef>
                    <a:spcPct val="0"/>
                  </a:spcBef>
                  <a:buFontTx/>
                  <a:buNone/>
                </a:pPr>
                <a:endParaRPr lang="en-GB" altLang="en-US" sz="1800" dirty="0"/>
              </a:p>
              <a:p>
                <a:pPr>
                  <a:spcBef>
                    <a:spcPct val="0"/>
                  </a:spcBef>
                  <a:buNone/>
                </a:pP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𝐷</m:t>
                      </m:r>
                      <m:r>
                        <a:rPr lang="en-US" sz="2000">
                          <a:solidFill>
                            <a:schemeClr val="tx1"/>
                          </a:solidFill>
                          <a:latin typeface="Cambria Math" panose="02040503050406030204" pitchFamily="18" charset="0"/>
                        </a:rPr>
                        <m:t> = </m:t>
                      </m:r>
                      <m:f>
                        <m:fPr>
                          <m:ctrlPr>
                            <a:rPr lang="en-US" sz="2000" i="1">
                              <a:solidFill>
                                <a:schemeClr val="tx1"/>
                              </a:solidFill>
                              <a:latin typeface="Cambria Math" panose="02040503050406030204" pitchFamily="18" charset="0"/>
                            </a:rPr>
                          </m:ctrlPr>
                        </m:fPr>
                        <m:num>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𝑉</m:t>
                              </m:r>
                            </m:e>
                            <m:sub>
                              <m:r>
                                <a:rPr lang="en-GB" sz="2000" i="1">
                                  <a:solidFill>
                                    <a:schemeClr val="tx1"/>
                                  </a:solidFill>
                                  <a:latin typeface="Cambria Math" panose="02040503050406030204" pitchFamily="18" charset="0"/>
                                </a:rPr>
                                <m:t>𝑂𝑈𝑇</m:t>
                              </m:r>
                            </m:sub>
                          </m:sSub>
                        </m:num>
                        <m:den>
                          <m:d>
                            <m:dPr>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𝑉</m:t>
                                  </m:r>
                                </m:e>
                                <m:sub>
                                  <m:r>
                                    <a:rPr lang="en-GB" sz="2000" b="0" i="1" smtClean="0">
                                      <a:solidFill>
                                        <a:schemeClr val="tx1"/>
                                      </a:solidFill>
                                      <a:latin typeface="Cambria Math" panose="02040503050406030204" pitchFamily="18" charset="0"/>
                                    </a:rPr>
                                    <m:t>𝐼𝑁</m:t>
                                  </m:r>
                                </m:sub>
                              </m:sSub>
                              <m:r>
                                <a:rPr lang="en-GB" sz="2000" b="0" i="0" smtClean="0">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𝑉</m:t>
                                  </m:r>
                                </m:e>
                                <m:sub>
                                  <m:r>
                                    <a:rPr lang="en-GB" sz="2000" i="1">
                                      <a:solidFill>
                                        <a:schemeClr val="tx1"/>
                                      </a:solidFill>
                                      <a:latin typeface="Cambria Math" panose="02040503050406030204" pitchFamily="18" charset="0"/>
                                    </a:rPr>
                                    <m:t>𝑂𝑈𝑇</m:t>
                                  </m:r>
                                </m:sub>
                              </m:sSub>
                            </m:e>
                          </m:d>
                        </m:den>
                      </m:f>
                    </m:oMath>
                  </m:oMathPara>
                </a14:m>
                <a:endParaRPr lang="en-GB" altLang="en-US" sz="1800" dirty="0"/>
              </a:p>
              <a:p>
                <a:pPr eaLnBrk="1" hangingPunct="1">
                  <a:spcBef>
                    <a:spcPct val="0"/>
                  </a:spcBef>
                  <a:buFontTx/>
                  <a:buNone/>
                </a:pPr>
                <a:endParaRPr lang="en-GB" altLang="en-US" sz="1800" dirty="0"/>
              </a:p>
              <a:p>
                <a:pPr eaLnBrk="1" hangingPunct="1">
                  <a:spcBef>
                    <a:spcPct val="0"/>
                  </a:spcBef>
                  <a:buFontTx/>
                  <a:buNone/>
                </a:pPr>
                <a:r>
                  <a:rPr lang="en-GB" altLang="en-US" sz="1800" dirty="0"/>
                  <a:t>For 8MPH, </a:t>
                </a:r>
                <a:r>
                  <a:rPr lang="en-GB" altLang="en-US" sz="1800" dirty="0">
                    <a:cs typeface="Arial" panose="020B0604020202020204" pitchFamily="34" charset="0"/>
                  </a:rPr>
                  <a:t>D = 24 / (12 + 24) = 66.6%</a:t>
                </a:r>
              </a:p>
              <a:p>
                <a:pPr eaLnBrk="1" hangingPunct="1">
                  <a:spcBef>
                    <a:spcPct val="0"/>
                  </a:spcBef>
                  <a:buFontTx/>
                  <a:buNone/>
                </a:pPr>
                <a:r>
                  <a:rPr lang="en-GB" altLang="en-US" sz="1800" dirty="0">
                    <a:cs typeface="Arial" panose="020B0604020202020204" pitchFamily="34" charset="0"/>
                  </a:rPr>
                  <a:t>For 32 MPH, D = 24 / (48 + 24) = 33.3%</a:t>
                </a:r>
              </a:p>
            </p:txBody>
          </p:sp>
        </mc:Choice>
        <mc:Fallback xmlns="">
          <p:sp>
            <p:nvSpPr>
              <p:cNvPr id="59395" name="Text Box 4">
                <a:extLst>
                  <a:ext uri="{FF2B5EF4-FFF2-40B4-BE49-F238E27FC236}">
                    <a16:creationId xmlns:a16="http://schemas.microsoft.com/office/drawing/2014/main" id="{7613C6B5-6093-BB46-B860-401E476A37FB}"/>
                  </a:ext>
                </a:extLst>
              </p:cNvPr>
              <p:cNvSpPr txBox="1">
                <a:spLocks noRot="1" noChangeAspect="1" noMove="1" noResize="1" noEditPoints="1" noAdjustHandles="1" noChangeArrowheads="1" noChangeShapeType="1" noTextEdit="1"/>
              </p:cNvSpPr>
              <p:nvPr/>
            </p:nvSpPr>
            <p:spPr bwMode="auto">
              <a:xfrm>
                <a:off x="161925" y="61913"/>
                <a:ext cx="8774113" cy="4788555"/>
              </a:xfrm>
              <a:prstGeom prst="rect">
                <a:avLst/>
              </a:prstGeom>
              <a:blipFill>
                <a:blip r:embed="rId2"/>
                <a:stretch>
                  <a:fillRect l="-625" t="-636" r="-556" b="-10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3">
            <a:extLst>
              <a:ext uri="{FF2B5EF4-FFF2-40B4-BE49-F238E27FC236}">
                <a16:creationId xmlns:a16="http://schemas.microsoft.com/office/drawing/2014/main" id="{23190710-5FB2-434F-BD4A-409AB5B4F96E}"/>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3DE9F0D-C8DB-1B40-A7E6-42C02385EA38}" type="slidenum">
              <a:rPr lang="en-US" altLang="en-US" sz="1400"/>
              <a:pPr>
                <a:spcBef>
                  <a:spcPct val="0"/>
                </a:spcBef>
                <a:buFontTx/>
                <a:buNone/>
              </a:pPr>
              <a:t>27</a:t>
            </a:fld>
            <a:endParaRPr lang="en-US" altLang="en-US" sz="1400" dirty="0"/>
          </a:p>
        </p:txBody>
      </p:sp>
      <p:graphicFrame>
        <p:nvGraphicFramePr>
          <p:cNvPr id="44036" name="Group 4">
            <a:extLst>
              <a:ext uri="{FF2B5EF4-FFF2-40B4-BE49-F238E27FC236}">
                <a16:creationId xmlns:a16="http://schemas.microsoft.com/office/drawing/2014/main" id="{065E3868-A121-4245-8C94-01149874B1C9}"/>
              </a:ext>
            </a:extLst>
          </p:cNvPr>
          <p:cNvGraphicFramePr>
            <a:graphicFrameLocks noGrp="1"/>
          </p:cNvGraphicFramePr>
          <p:nvPr/>
        </p:nvGraphicFramePr>
        <p:xfrm>
          <a:off x="690563" y="1438275"/>
          <a:ext cx="7713662" cy="3478214"/>
        </p:xfrm>
        <a:graphic>
          <a:graphicData uri="http://schemas.openxmlformats.org/drawingml/2006/table">
            <a:tbl>
              <a:tblPr/>
              <a:tblGrid>
                <a:gridCol w="1625600">
                  <a:extLst>
                    <a:ext uri="{9D8B030D-6E8A-4147-A177-3AD203B41FA5}">
                      <a16:colId xmlns:a16="http://schemas.microsoft.com/office/drawing/2014/main" val="20000"/>
                    </a:ext>
                  </a:extLst>
                </a:gridCol>
                <a:gridCol w="2217737">
                  <a:extLst>
                    <a:ext uri="{9D8B030D-6E8A-4147-A177-3AD203B41FA5}">
                      <a16:colId xmlns:a16="http://schemas.microsoft.com/office/drawing/2014/main" val="20001"/>
                    </a:ext>
                  </a:extLst>
                </a:gridCol>
                <a:gridCol w="3870325">
                  <a:extLst>
                    <a:ext uri="{9D8B030D-6E8A-4147-A177-3AD203B41FA5}">
                      <a16:colId xmlns:a16="http://schemas.microsoft.com/office/drawing/2014/main" val="20002"/>
                    </a:ext>
                  </a:extLst>
                </a:gridCol>
              </a:tblGrid>
              <a:tr h="3889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a:ln>
                            <a:noFill/>
                          </a:ln>
                          <a:solidFill>
                            <a:schemeClr val="tx1"/>
                          </a:solidFill>
                          <a:effectLst/>
                          <a:latin typeface="Arial" panose="020B0604020202020204" pitchFamily="34" charset="0"/>
                        </a:rPr>
                        <a:t>Type</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a:ln>
                            <a:noFill/>
                          </a:ln>
                          <a:solidFill>
                            <a:schemeClr val="tx1"/>
                          </a:solidFill>
                          <a:effectLst/>
                          <a:latin typeface="Arial" panose="020B0604020202020204" pitchFamily="34" charset="0"/>
                        </a:rPr>
                        <a:t>Voltage Equation</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a:ln>
                            <a:noFill/>
                          </a:ln>
                          <a:solidFill>
                            <a:schemeClr val="tx1"/>
                          </a:solidFill>
                          <a:effectLst/>
                          <a:latin typeface="Arial" panose="020B0604020202020204" pitchFamily="34" charset="0"/>
                        </a:rPr>
                        <a:t>Current Equation</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3028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a:ln>
                            <a:noFill/>
                          </a:ln>
                          <a:solidFill>
                            <a:schemeClr val="tx1"/>
                          </a:solidFill>
                          <a:effectLst/>
                          <a:latin typeface="Arial" panose="020B0604020202020204" pitchFamily="34" charset="0"/>
                        </a:rPr>
                        <a:t>Buck</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a:ln>
                            <a:noFill/>
                          </a:ln>
                          <a:solidFill>
                            <a:schemeClr val="tx1"/>
                          </a:solidFill>
                          <a:effectLst/>
                          <a:latin typeface="Arial" panose="020B0604020202020204" pitchFamily="34" charset="0"/>
                        </a:rPr>
                        <a:t>(V</a:t>
                      </a:r>
                      <a:r>
                        <a:rPr kumimoji="0" lang="en-GB" altLang="en-US" sz="1800" b="0" i="0" u="none" strike="noStrike" cap="none" normalizeH="0" baseline="-25000">
                          <a:ln>
                            <a:noFill/>
                          </a:ln>
                          <a:solidFill>
                            <a:schemeClr val="tx1"/>
                          </a:solidFill>
                          <a:effectLst/>
                          <a:latin typeface="Arial" panose="020B0604020202020204" pitchFamily="34" charset="0"/>
                        </a:rPr>
                        <a:t>OUT</a:t>
                      </a:r>
                      <a:r>
                        <a:rPr kumimoji="0" lang="en-GB" altLang="en-US" sz="1800" b="0" i="0" u="none" strike="noStrike" cap="none" normalizeH="0" baseline="0">
                          <a:ln>
                            <a:noFill/>
                          </a:ln>
                          <a:solidFill>
                            <a:schemeClr val="tx1"/>
                          </a:solidFill>
                          <a:effectLst/>
                          <a:latin typeface="Arial" panose="020B0604020202020204" pitchFamily="34" charset="0"/>
                        </a:rPr>
                        <a:t> &lt; V</a:t>
                      </a:r>
                      <a:r>
                        <a:rPr kumimoji="0" lang="en-GB" altLang="en-US" sz="1800" b="0" i="0" u="none" strike="noStrike" cap="none" normalizeH="0" baseline="-25000">
                          <a:ln>
                            <a:noFill/>
                          </a:ln>
                          <a:solidFill>
                            <a:schemeClr val="tx1"/>
                          </a:solidFill>
                          <a:effectLst/>
                          <a:latin typeface="Arial" panose="020B0604020202020204" pitchFamily="34" charset="0"/>
                        </a:rPr>
                        <a:t>IN</a:t>
                      </a:r>
                      <a:r>
                        <a:rPr kumimoji="0" lang="en-GB" altLang="en-US" sz="1800" b="0" i="0" u="none" strike="noStrike" cap="none" normalizeH="0" baseline="0">
                          <a:ln>
                            <a:noFill/>
                          </a:ln>
                          <a:solidFill>
                            <a:schemeClr val="tx1"/>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87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a:ln>
                            <a:noFill/>
                          </a:ln>
                          <a:solidFill>
                            <a:schemeClr val="tx1"/>
                          </a:solidFill>
                          <a:effectLst/>
                          <a:latin typeface="Arial" panose="020B0604020202020204" pitchFamily="34" charset="0"/>
                        </a:rPr>
                        <a:t>Boost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a:ln>
                            <a:noFill/>
                          </a:ln>
                          <a:solidFill>
                            <a:schemeClr val="tx1"/>
                          </a:solidFill>
                          <a:effectLst/>
                          <a:latin typeface="Arial" panose="020B0604020202020204" pitchFamily="34" charset="0"/>
                        </a:rPr>
                        <a:t>(V</a:t>
                      </a:r>
                      <a:r>
                        <a:rPr kumimoji="0" lang="en-GB" altLang="en-US" sz="1800" b="0" i="0" u="none" strike="noStrike" cap="none" normalizeH="0" baseline="-25000">
                          <a:ln>
                            <a:noFill/>
                          </a:ln>
                          <a:solidFill>
                            <a:schemeClr val="tx1"/>
                          </a:solidFill>
                          <a:effectLst/>
                          <a:latin typeface="Arial" panose="020B0604020202020204" pitchFamily="34" charset="0"/>
                        </a:rPr>
                        <a:t>OUT</a:t>
                      </a:r>
                      <a:r>
                        <a:rPr kumimoji="0" lang="en-GB" altLang="en-US" sz="1800" b="0" i="0" u="none" strike="noStrike" cap="none" normalizeH="0" baseline="0">
                          <a:ln>
                            <a:noFill/>
                          </a:ln>
                          <a:solidFill>
                            <a:schemeClr val="tx1"/>
                          </a:solidFill>
                          <a:effectLst/>
                          <a:latin typeface="Arial" panose="020B0604020202020204" pitchFamily="34" charset="0"/>
                        </a:rPr>
                        <a:t> &gt; V</a:t>
                      </a:r>
                      <a:r>
                        <a:rPr kumimoji="0" lang="en-GB" altLang="en-US" sz="1800" b="0" i="0" u="none" strike="noStrike" cap="none" normalizeH="0" baseline="-25000">
                          <a:ln>
                            <a:noFill/>
                          </a:ln>
                          <a:solidFill>
                            <a:schemeClr val="tx1"/>
                          </a:solidFill>
                          <a:effectLst/>
                          <a:latin typeface="Arial" panose="020B0604020202020204" pitchFamily="34" charset="0"/>
                        </a:rPr>
                        <a:t>IN</a:t>
                      </a:r>
                      <a:r>
                        <a:rPr kumimoji="0" lang="en-GB" altLang="en-US" sz="1800" b="0" i="0" u="none" strike="noStrike" cap="none" normalizeH="0" baseline="0">
                          <a:ln>
                            <a:noFill/>
                          </a:ln>
                          <a:solidFill>
                            <a:schemeClr val="tx1"/>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3028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dirty="0">
                          <a:ln>
                            <a:noFill/>
                          </a:ln>
                          <a:solidFill>
                            <a:schemeClr val="tx1"/>
                          </a:solidFill>
                          <a:effectLst/>
                          <a:latin typeface="Arial" panose="020B0604020202020204" pitchFamily="34" charset="0"/>
                        </a:rPr>
                        <a:t>Buck-boost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1800" b="0" i="0" u="none" strike="noStrike" cap="none" normalizeH="0" baseline="0" dirty="0">
                          <a:ln>
                            <a:noFill/>
                          </a:ln>
                          <a:solidFill>
                            <a:schemeClr val="tx1"/>
                          </a:solidFill>
                          <a:effectLst/>
                          <a:latin typeface="Arial" panose="020B0604020202020204" pitchFamily="34" charset="0"/>
                        </a:rPr>
                        <a:t>(V</a:t>
                      </a:r>
                      <a:r>
                        <a:rPr kumimoji="0" lang="en-GB" altLang="en-US" sz="1800" b="0" i="0" u="none" strike="noStrike" cap="none" normalizeH="0" baseline="-25000" dirty="0">
                          <a:ln>
                            <a:noFill/>
                          </a:ln>
                          <a:solidFill>
                            <a:schemeClr val="tx1"/>
                          </a:solidFill>
                          <a:effectLst/>
                          <a:latin typeface="Arial" panose="020B0604020202020204" pitchFamily="34" charset="0"/>
                        </a:rPr>
                        <a:t>OUT</a:t>
                      </a:r>
                      <a:r>
                        <a:rPr kumimoji="0" lang="en-GB" altLang="en-US" sz="1800" b="0" i="0" u="none" strike="noStrike" cap="none" normalizeH="0" baseline="0" dirty="0">
                          <a:ln>
                            <a:noFill/>
                          </a:ln>
                          <a:solidFill>
                            <a:schemeClr val="tx1"/>
                          </a:solidFill>
                          <a:effectLst/>
                          <a:latin typeface="Arial" panose="020B0604020202020204" pitchFamily="34" charset="0"/>
                        </a:rPr>
                        <a:t> &lt;&gt; V</a:t>
                      </a:r>
                      <a:r>
                        <a:rPr kumimoji="0" lang="en-GB" altLang="en-US" sz="1800" b="0" i="0" u="none" strike="noStrike" cap="none" normalizeH="0" baseline="-25000" dirty="0">
                          <a:ln>
                            <a:noFill/>
                          </a:ln>
                          <a:solidFill>
                            <a:schemeClr val="tx1"/>
                          </a:solidFill>
                          <a:effectLst/>
                          <a:latin typeface="Arial" panose="020B0604020202020204" pitchFamily="34" charset="0"/>
                        </a:rPr>
                        <a:t>IN</a:t>
                      </a:r>
                      <a:r>
                        <a:rPr kumimoji="0" lang="en-GB"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6351" name="Object 32">
            <a:extLst>
              <a:ext uri="{FF2B5EF4-FFF2-40B4-BE49-F238E27FC236}">
                <a16:creationId xmlns:a16="http://schemas.microsoft.com/office/drawing/2014/main" id="{2EA2B7AE-59AE-5A4D-8B86-F7FC37112332}"/>
              </a:ext>
            </a:extLst>
          </p:cNvPr>
          <p:cNvGraphicFramePr>
            <a:graphicFrameLocks noChangeAspect="1"/>
          </p:cNvGraphicFramePr>
          <p:nvPr/>
        </p:nvGraphicFramePr>
        <p:xfrm>
          <a:off x="1341438" y="873125"/>
          <a:ext cx="6223000" cy="482600"/>
        </p:xfrm>
        <a:graphic>
          <a:graphicData uri="http://schemas.openxmlformats.org/presentationml/2006/ole">
            <mc:AlternateContent xmlns:mc="http://schemas.openxmlformats.org/markup-compatibility/2006">
              <mc:Choice xmlns:v="urn:schemas-microsoft-com:vml" Requires="v">
                <p:oleObj name="Equation" r:id="rId2" imgW="71678800" imgH="5562600" progId="Equation.3">
                  <p:embed/>
                </p:oleObj>
              </mc:Choice>
              <mc:Fallback>
                <p:oleObj name="Equation" r:id="rId2" imgW="71678800" imgH="5562600" progId="Equation.3">
                  <p:embed/>
                  <p:pic>
                    <p:nvPicPr>
                      <p:cNvPr id="56351" name="Object 32">
                        <a:extLst>
                          <a:ext uri="{FF2B5EF4-FFF2-40B4-BE49-F238E27FC236}">
                            <a16:creationId xmlns:a16="http://schemas.microsoft.com/office/drawing/2014/main" id="{2EA2B7AE-59AE-5A4D-8B86-F7FC37112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1438" y="873125"/>
                        <a:ext cx="6223000" cy="4826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2" name="Text Box 34">
            <a:extLst>
              <a:ext uri="{FF2B5EF4-FFF2-40B4-BE49-F238E27FC236}">
                <a16:creationId xmlns:a16="http://schemas.microsoft.com/office/drawing/2014/main" id="{81B61D78-1892-5C42-8402-C7573F7AFA07}"/>
              </a:ext>
            </a:extLst>
          </p:cNvPr>
          <p:cNvSpPr txBox="1">
            <a:spLocks noChangeArrowheads="1"/>
          </p:cNvSpPr>
          <p:nvPr/>
        </p:nvSpPr>
        <p:spPr bwMode="auto">
          <a:xfrm>
            <a:off x="2781285" y="171312"/>
            <a:ext cx="35814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GB" altLang="en-US" sz="2800" b="1" u="sng"/>
              <a:t>Converter summary</a:t>
            </a:r>
            <a:endParaRPr lang="en-US" altLang="en-US" sz="2800" b="1" u="sng"/>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222D547-93FC-8359-D883-9E439A3D2959}"/>
                  </a:ext>
                </a:extLst>
              </p:cNvPr>
              <p:cNvSpPr txBox="1"/>
              <p:nvPr/>
            </p:nvSpPr>
            <p:spPr>
              <a:xfrm>
                <a:off x="2243931" y="4086619"/>
                <a:ext cx="2438400" cy="5881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GB" sz="1600" i="1">
                              <a:latin typeface="Cambria Math" panose="02040503050406030204" pitchFamily="18" charset="0"/>
                            </a:rPr>
                            <m:t>𝑂𝑈𝑇</m:t>
                          </m:r>
                        </m:sub>
                      </m:sSub>
                      <m:r>
                        <a:rPr lang="en-US" sz="1600">
                          <a:latin typeface="Cambria Math" panose="02040503050406030204" pitchFamily="18" charset="0"/>
                        </a:rPr>
                        <m:t> = −</m:t>
                      </m:r>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GB" sz="1600" i="1">
                              <a:latin typeface="Cambria Math" panose="02040503050406030204" pitchFamily="18" charset="0"/>
                            </a:rPr>
                            <m:t>𝐼𝑁</m:t>
                          </m:r>
                        </m:sub>
                      </m:sSub>
                      <m:f>
                        <m:fPr>
                          <m:ctrlPr>
                            <a:rPr lang="en-US" sz="1600" i="1">
                              <a:solidFill>
                                <a:srgbClr val="836967"/>
                              </a:solidFill>
                              <a:latin typeface="Cambria Math" panose="02040503050406030204" pitchFamily="18" charset="0"/>
                            </a:rPr>
                          </m:ctrlPr>
                        </m:fPr>
                        <m:num>
                          <m:r>
                            <a:rPr lang="en-US" sz="1600">
                              <a:latin typeface="Cambria Math" panose="02040503050406030204" pitchFamily="18" charset="0"/>
                            </a:rPr>
                            <m:t> </m:t>
                          </m:r>
                          <m:r>
                            <a:rPr lang="en-GB" sz="1600" i="1">
                              <a:latin typeface="Cambria Math" panose="02040503050406030204" pitchFamily="18" charset="0"/>
                            </a:rPr>
                            <m:t>𝐷</m:t>
                          </m:r>
                        </m:num>
                        <m:den>
                          <m:d>
                            <m:dPr>
                              <m:ctrlPr>
                                <a:rPr lang="en-US" sz="1600" i="1">
                                  <a:latin typeface="Cambria Math" panose="02040503050406030204" pitchFamily="18" charset="0"/>
                                </a:rPr>
                              </m:ctrlPr>
                            </m:dPr>
                            <m:e>
                              <m:r>
                                <a:rPr lang="en-US" sz="1600">
                                  <a:latin typeface="Cambria Math" panose="02040503050406030204" pitchFamily="18" charset="0"/>
                                </a:rPr>
                                <m:t>1−</m:t>
                              </m:r>
                              <m:r>
                                <a:rPr lang="en-GB" sz="1600" i="1">
                                  <a:latin typeface="Cambria Math" panose="02040503050406030204" pitchFamily="18" charset="0"/>
                                </a:rPr>
                                <m:t>𝐷</m:t>
                              </m:r>
                            </m:e>
                          </m:d>
                        </m:den>
                      </m:f>
                    </m:oMath>
                  </m:oMathPara>
                </a14:m>
                <a:endParaRPr lang="en-GB" sz="1600" dirty="0"/>
              </a:p>
            </p:txBody>
          </p:sp>
        </mc:Choice>
        <mc:Fallback xmlns="">
          <p:sp>
            <p:nvSpPr>
              <p:cNvPr id="3" name="TextBox 2">
                <a:extLst>
                  <a:ext uri="{FF2B5EF4-FFF2-40B4-BE49-F238E27FC236}">
                    <a16:creationId xmlns:a16="http://schemas.microsoft.com/office/drawing/2014/main" id="{2222D547-93FC-8359-D883-9E439A3D2959}"/>
                  </a:ext>
                </a:extLst>
              </p:cNvPr>
              <p:cNvSpPr txBox="1">
                <a:spLocks noRot="1" noChangeAspect="1" noMove="1" noResize="1" noEditPoints="1" noAdjustHandles="1" noChangeArrowheads="1" noChangeShapeType="1" noTextEdit="1"/>
              </p:cNvSpPr>
              <p:nvPr/>
            </p:nvSpPr>
            <p:spPr>
              <a:xfrm>
                <a:off x="2243931" y="4086619"/>
                <a:ext cx="2438400" cy="58817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687075D-DB89-6B7F-4EF0-191F04360A68}"/>
                  </a:ext>
                </a:extLst>
              </p:cNvPr>
              <p:cNvSpPr txBox="1"/>
              <p:nvPr/>
            </p:nvSpPr>
            <p:spPr>
              <a:xfrm>
                <a:off x="2429225" y="3020356"/>
                <a:ext cx="2194686" cy="6596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𝑉</m:t>
                          </m:r>
                        </m:e>
                        <m:sub>
                          <m:r>
                            <a:rPr lang="en-GB" b="0" i="1" smtClean="0">
                              <a:solidFill>
                                <a:schemeClr val="tx1"/>
                              </a:solidFill>
                              <a:latin typeface="Cambria Math" panose="02040503050406030204" pitchFamily="18" charset="0"/>
                            </a:rPr>
                            <m:t>𝑂𝑈𝑇</m:t>
                          </m:r>
                        </m:sub>
                      </m:sSub>
                      <m:r>
                        <a:rPr lang="en-US" b="0" i="0">
                          <a:solidFill>
                            <a:schemeClr val="tx1"/>
                          </a:solidFill>
                          <a:latin typeface="Cambria Math" panose="02040503050406030204" pitchFamily="18" charset="0"/>
                        </a:rPr>
                        <m:t> = </m:t>
                      </m:r>
                      <m:f>
                        <m:fPr>
                          <m:ctrlPr>
                            <a:rPr lang="en-US" i="1">
                              <a:solidFill>
                                <a:schemeClr val="tx1"/>
                              </a:solidFill>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GB" i="1">
                                  <a:latin typeface="Cambria Math" panose="02040503050406030204" pitchFamily="18" charset="0"/>
                                </a:rPr>
                                <m:t>𝐼𝑁</m:t>
                              </m:r>
                            </m:sub>
                          </m:sSub>
                        </m:num>
                        <m:den>
                          <m:d>
                            <m:dPr>
                              <m:ctrlPr>
                                <a:rPr lang="en-US" i="1">
                                  <a:solidFill>
                                    <a:schemeClr val="tx1"/>
                                  </a:solidFill>
                                  <a:latin typeface="Cambria Math" panose="02040503050406030204" pitchFamily="18" charset="0"/>
                                </a:rPr>
                              </m:ctrlPr>
                            </m:dPr>
                            <m:e>
                              <m:r>
                                <a:rPr lang="en-US" b="0" i="0">
                                  <a:solidFill>
                                    <a:schemeClr val="tx1"/>
                                  </a:solidFill>
                                  <a:latin typeface="Cambria Math" panose="02040503050406030204" pitchFamily="18" charset="0"/>
                                </a:rPr>
                                <m:t>1− </m:t>
                              </m:r>
                              <m:r>
                                <a:rPr lang="en-GB" b="0" i="1" smtClean="0">
                                  <a:solidFill>
                                    <a:schemeClr val="tx1"/>
                                  </a:solidFill>
                                  <a:latin typeface="Cambria Math" panose="02040503050406030204" pitchFamily="18" charset="0"/>
                                </a:rPr>
                                <m:t>𝐷</m:t>
                              </m:r>
                            </m:e>
                          </m:d>
                        </m:den>
                      </m:f>
                      <m:r>
                        <a:rPr lang="en-US" b="1" i="0">
                          <a:solidFill>
                            <a:schemeClr val="tx1"/>
                          </a:solidFill>
                          <a:latin typeface="Cambria Math" panose="02040503050406030204" pitchFamily="18" charset="0"/>
                        </a:rPr>
                        <m:t> </m:t>
                      </m:r>
                    </m:oMath>
                  </m:oMathPara>
                </a14:m>
                <a:endParaRPr lang="en-US" b="1" dirty="0">
                  <a:solidFill>
                    <a:srgbClr val="FF0000"/>
                  </a:solidFill>
                </a:endParaRPr>
              </a:p>
            </p:txBody>
          </p:sp>
        </mc:Choice>
        <mc:Fallback xmlns="">
          <p:sp>
            <p:nvSpPr>
              <p:cNvPr id="4" name="TextBox 3">
                <a:extLst>
                  <a:ext uri="{FF2B5EF4-FFF2-40B4-BE49-F238E27FC236}">
                    <a16:creationId xmlns:a16="http://schemas.microsoft.com/office/drawing/2014/main" id="{4687075D-DB89-6B7F-4EF0-191F04360A68}"/>
                  </a:ext>
                </a:extLst>
              </p:cNvPr>
              <p:cNvSpPr txBox="1">
                <a:spLocks noRot="1" noChangeAspect="1" noMove="1" noResize="1" noEditPoints="1" noAdjustHandles="1" noChangeArrowheads="1" noChangeShapeType="1" noTextEdit="1"/>
              </p:cNvSpPr>
              <p:nvPr/>
            </p:nvSpPr>
            <p:spPr>
              <a:xfrm>
                <a:off x="2429225" y="3020356"/>
                <a:ext cx="2194686" cy="65960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5B5A3EA-AF79-6AC7-1C06-41F46C1AC570}"/>
                  </a:ext>
                </a:extLst>
              </p:cNvPr>
              <p:cNvSpPr txBox="1"/>
              <p:nvPr/>
            </p:nvSpPr>
            <p:spPr>
              <a:xfrm>
                <a:off x="2727365" y="2146578"/>
                <a:ext cx="1513709" cy="369332"/>
              </a:xfrm>
              <a:prstGeom prst="rect">
                <a:avLst/>
              </a:prstGeom>
              <a:noFill/>
            </p:spPr>
            <p:txBody>
              <a:bodyPr wrap="square">
                <a:spAutoFit/>
              </a:bodyPr>
              <a:lstStyle/>
              <a:p>
                <a14:m>
                  <m:oMath xmlns:m="http://schemas.openxmlformats.org/officeDocument/2006/math">
                    <m:sSub>
                      <m:sSubPr>
                        <m:ctrlPr>
                          <a:rPr lang="en-US"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US"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𝑂𝑈𝑇</m:t>
                        </m:r>
                      </m:sub>
                    </m:sSub>
                  </m:oMath>
                </a14:m>
                <a:r>
                  <a:rPr lang="en-US" dirty="0">
                    <a:solidFill>
                      <a:schemeClr val="tx1"/>
                    </a:solidFill>
                  </a:rPr>
                  <a:t> =</a:t>
                </a:r>
                <a14:m>
                  <m:oMath xmlns:m="http://schemas.openxmlformats.org/officeDocument/2006/math">
                    <m:r>
                      <a:rPr lang="en-GB" b="0" i="0" smtClean="0">
                        <a:solidFill>
                          <a:schemeClr val="tx1"/>
                        </a:solidFill>
                        <a:latin typeface="Cambria Math" panose="02040503050406030204" pitchFamily="18" charset="0"/>
                      </a:rPr>
                      <m:t>  </m:t>
                    </m:r>
                    <m:r>
                      <a:rPr lang="en-GB" b="0" i="1" smtClean="0">
                        <a:solidFill>
                          <a:schemeClr val="tx1"/>
                        </a:solidFill>
                        <a:latin typeface="Cambria Math" panose="02040503050406030204" pitchFamily="18" charset="0"/>
                      </a:rPr>
                      <m:t>𝐷</m:t>
                    </m:r>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𝐼𝑁</m:t>
                        </m:r>
                      </m:sub>
                    </m:sSub>
                  </m:oMath>
                </a14:m>
                <a:endParaRPr lang="en-US" dirty="0">
                  <a:solidFill>
                    <a:schemeClr val="tx1"/>
                  </a:solidFill>
                </a:endParaRPr>
              </a:p>
            </p:txBody>
          </p:sp>
        </mc:Choice>
        <mc:Fallback xmlns="">
          <p:sp>
            <p:nvSpPr>
              <p:cNvPr id="5" name="TextBox 4">
                <a:extLst>
                  <a:ext uri="{FF2B5EF4-FFF2-40B4-BE49-F238E27FC236}">
                    <a16:creationId xmlns:a16="http://schemas.microsoft.com/office/drawing/2014/main" id="{E5B5A3EA-AF79-6AC7-1C06-41F46C1AC570}"/>
                  </a:ext>
                </a:extLst>
              </p:cNvPr>
              <p:cNvSpPr txBox="1">
                <a:spLocks noRot="1" noChangeAspect="1" noMove="1" noResize="1" noEditPoints="1" noAdjustHandles="1" noChangeArrowheads="1" noChangeShapeType="1" noTextEdit="1"/>
              </p:cNvSpPr>
              <p:nvPr/>
            </p:nvSpPr>
            <p:spPr>
              <a:xfrm>
                <a:off x="2727365" y="2146578"/>
                <a:ext cx="1513709" cy="369332"/>
              </a:xfrm>
              <a:prstGeom prst="rect">
                <a:avLst/>
              </a:prstGeom>
              <a:blipFill>
                <a:blip r:embed="rId6"/>
                <a:stretch>
                  <a:fillRect t="-8197" b="-245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64A763B-218D-39A2-E0BF-BB686B486A55}"/>
                  </a:ext>
                </a:extLst>
              </p:cNvPr>
              <p:cNvSpPr txBox="1"/>
              <p:nvPr/>
            </p:nvSpPr>
            <p:spPr>
              <a:xfrm>
                <a:off x="5040397" y="2007324"/>
                <a:ext cx="2835106" cy="6803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GB" sz="2000" b="0" i="1" smtClean="0">
                              <a:solidFill>
                                <a:schemeClr val="tx1"/>
                              </a:solidFill>
                              <a:latin typeface="Cambria Math" panose="02040503050406030204" pitchFamily="18" charset="0"/>
                            </a:rPr>
                            <m:t>𝐼</m:t>
                          </m:r>
                        </m:e>
                        <m:sub>
                          <m:r>
                            <a:rPr lang="en-GB" sz="2000" b="0" i="1" smtClean="0">
                              <a:solidFill>
                                <a:schemeClr val="tx1"/>
                              </a:solidFill>
                              <a:latin typeface="Cambria Math" panose="02040503050406030204" pitchFamily="18" charset="0"/>
                            </a:rPr>
                            <m:t>𝑂𝑈𝑇</m:t>
                          </m:r>
                          <m:r>
                            <a:rPr lang="en-GB" sz="2000" b="0" i="1" smtClean="0">
                              <a:solidFill>
                                <a:schemeClr val="tx1"/>
                              </a:solidFill>
                              <a:latin typeface="Cambria Math" panose="02040503050406030204" pitchFamily="18" charset="0"/>
                            </a:rPr>
                            <m:t>(</m:t>
                          </m:r>
                          <m:r>
                            <a:rPr lang="en-GB" sz="2000" b="0" i="1" smtClean="0">
                              <a:solidFill>
                                <a:schemeClr val="tx1"/>
                              </a:solidFill>
                              <a:latin typeface="Cambria Math" panose="02040503050406030204" pitchFamily="18" charset="0"/>
                            </a:rPr>
                            <m:t>𝐴𝑣𝑒</m:t>
                          </m:r>
                          <m:r>
                            <a:rPr lang="en-GB" sz="2000" b="0" i="1" smtClean="0">
                              <a:solidFill>
                                <a:schemeClr val="tx1"/>
                              </a:solidFill>
                              <a:latin typeface="Cambria Math" panose="02040503050406030204" pitchFamily="18" charset="0"/>
                            </a:rPr>
                            <m:t>)</m:t>
                          </m:r>
                        </m:sub>
                      </m:sSub>
                      <m:r>
                        <a:rPr lang="en-US" sz="2000" b="0" i="0">
                          <a:solidFill>
                            <a:schemeClr val="tx1"/>
                          </a:solidFill>
                          <a:latin typeface="Cambria Math" panose="02040503050406030204" pitchFamily="18" charset="0"/>
                        </a:rPr>
                        <m:t> = </m:t>
                      </m:r>
                      <m:f>
                        <m:fPr>
                          <m:ctrlPr>
                            <a:rPr lang="en-US" sz="2000" i="1">
                              <a:solidFill>
                                <a:schemeClr val="tx1"/>
                              </a:solidFill>
                              <a:latin typeface="Cambria Math" panose="02040503050406030204" pitchFamily="18" charset="0"/>
                            </a:rPr>
                          </m:ctrlPr>
                        </m:fPr>
                        <m:num>
                          <m:sSub>
                            <m:sSubPr>
                              <m:ctrlPr>
                                <a:rPr lang="en-US" sz="2000" i="1">
                                  <a:latin typeface="Cambria Math" panose="02040503050406030204" pitchFamily="18" charset="0"/>
                                </a:rPr>
                              </m:ctrlPr>
                            </m:sSubPr>
                            <m:e>
                              <m:r>
                                <a:rPr lang="en-GB" sz="2000" i="1">
                                  <a:latin typeface="Cambria Math" panose="02040503050406030204" pitchFamily="18" charset="0"/>
                                </a:rPr>
                                <m:t>𝐼</m:t>
                              </m:r>
                            </m:e>
                            <m:sub>
                              <m:r>
                                <a:rPr lang="en-GB" sz="2000" b="0" i="1" smtClean="0">
                                  <a:latin typeface="Cambria Math" panose="02040503050406030204" pitchFamily="18" charset="0"/>
                                </a:rPr>
                                <m:t>𝐼𝑁</m:t>
                              </m:r>
                              <m:r>
                                <a:rPr lang="en-GB" sz="2000" i="1">
                                  <a:latin typeface="Cambria Math" panose="02040503050406030204" pitchFamily="18" charset="0"/>
                                </a:rPr>
                                <m:t>(</m:t>
                              </m:r>
                              <m:r>
                                <a:rPr lang="en-GB" sz="2000" i="1">
                                  <a:latin typeface="Cambria Math" panose="02040503050406030204" pitchFamily="18" charset="0"/>
                                </a:rPr>
                                <m:t>𝐴𝑣𝑔</m:t>
                              </m:r>
                              <m:r>
                                <a:rPr lang="en-GB" sz="2000" b="0" i="1" smtClean="0">
                                  <a:latin typeface="Cambria Math" panose="02040503050406030204" pitchFamily="18" charset="0"/>
                                </a:rPr>
                                <m:t>.)</m:t>
                              </m:r>
                            </m:sub>
                          </m:sSub>
                        </m:num>
                        <m:den>
                          <m:r>
                            <a:rPr lang="en-GB" sz="2000" i="1" smtClean="0">
                              <a:solidFill>
                                <a:schemeClr val="tx1"/>
                              </a:solidFill>
                              <a:latin typeface="Cambria Math" panose="02040503050406030204" pitchFamily="18" charset="0"/>
                            </a:rPr>
                            <m:t>𝐷</m:t>
                          </m:r>
                        </m:den>
                      </m:f>
                      <m:r>
                        <a:rPr lang="en-US" sz="2000" b="1" i="0">
                          <a:solidFill>
                            <a:schemeClr val="tx1"/>
                          </a:solidFill>
                          <a:latin typeface="Cambria Math" panose="02040503050406030204" pitchFamily="18" charset="0"/>
                        </a:rPr>
                        <m:t> </m:t>
                      </m:r>
                    </m:oMath>
                  </m:oMathPara>
                </a14:m>
                <a:endParaRPr lang="en-US" sz="2000" b="1" dirty="0">
                  <a:solidFill>
                    <a:srgbClr val="FF0000"/>
                  </a:solidFill>
                </a:endParaRPr>
              </a:p>
            </p:txBody>
          </p:sp>
        </mc:Choice>
        <mc:Fallback xmlns="">
          <p:sp>
            <p:nvSpPr>
              <p:cNvPr id="6" name="TextBox 5">
                <a:extLst>
                  <a:ext uri="{FF2B5EF4-FFF2-40B4-BE49-F238E27FC236}">
                    <a16:creationId xmlns:a16="http://schemas.microsoft.com/office/drawing/2014/main" id="{D64A763B-218D-39A2-E0BF-BB686B486A55}"/>
                  </a:ext>
                </a:extLst>
              </p:cNvPr>
              <p:cNvSpPr txBox="1">
                <a:spLocks noRot="1" noChangeAspect="1" noMove="1" noResize="1" noEditPoints="1" noAdjustHandles="1" noChangeArrowheads="1" noChangeShapeType="1" noTextEdit="1"/>
              </p:cNvSpPr>
              <p:nvPr/>
            </p:nvSpPr>
            <p:spPr>
              <a:xfrm>
                <a:off x="5040397" y="2007324"/>
                <a:ext cx="2835106" cy="68031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C58E51-CC8E-CBAB-1E6E-7DC3D5CEBDEF}"/>
                  </a:ext>
                </a:extLst>
              </p:cNvPr>
              <p:cNvSpPr txBox="1"/>
              <p:nvPr/>
            </p:nvSpPr>
            <p:spPr>
              <a:xfrm>
                <a:off x="5294885" y="3102976"/>
                <a:ext cx="2580618" cy="396006"/>
              </a:xfrm>
              <a:prstGeom prst="rect">
                <a:avLst/>
              </a:prstGeom>
              <a:noFill/>
            </p:spPr>
            <p:txBody>
              <a:bodyPr wrap="square">
                <a:spAutoFit/>
              </a:bodyPr>
              <a:lstStyle/>
              <a:p>
                <a14:m>
                  <m:oMath xmlns:m="http://schemas.openxmlformats.org/officeDocument/2006/math">
                    <m:sSub>
                      <m:sSubPr>
                        <m:ctrlPr>
                          <a:rPr lang="en-US"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ctrlPr>
                      </m:sSubPr>
                      <m:e>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𝐼</m:t>
                        </m:r>
                      </m:e>
                      <m:sub>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𝑂𝑈𝑇</m:t>
                        </m:r>
                      </m:sub>
                    </m:sSub>
                  </m:oMath>
                </a14:m>
                <a:r>
                  <a:rPr lang="en-US" dirty="0">
                    <a:solidFill>
                      <a:schemeClr val="tx1"/>
                    </a:solidFill>
                  </a:rPr>
                  <a:t> =</a:t>
                </a:r>
                <a14:m>
                  <m:oMath xmlns:m="http://schemas.openxmlformats.org/officeDocument/2006/math">
                    <m:r>
                      <a:rPr lang="en-GB" b="0" i="0" smtClean="0">
                        <a:solidFill>
                          <a:schemeClr val="tx1"/>
                        </a:solidFill>
                        <a:latin typeface="Cambria Math" panose="02040503050406030204" pitchFamily="18" charset="0"/>
                      </a:rPr>
                      <m:t>  (1−</m:t>
                    </m:r>
                    <m:r>
                      <a:rPr lang="en-GB" b="0" i="1" smtClean="0">
                        <a:solidFill>
                          <a:schemeClr val="tx1"/>
                        </a:solidFill>
                        <a:latin typeface="Cambria Math" panose="02040503050406030204" pitchFamily="18" charset="0"/>
                      </a:rPr>
                      <m:t>𝐷</m:t>
                    </m:r>
                    <m:r>
                      <a:rPr lang="en-GB"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𝐼</m:t>
                        </m:r>
                      </m:e>
                      <m:sub>
                        <m:r>
                          <a:rPr lang="en-GB" b="0" i="1">
                            <a:solidFill>
                              <a:schemeClr val="tx1"/>
                            </a:solidFill>
                            <a:latin typeface="Cambria Math" panose="02040503050406030204" pitchFamily="18" charset="0"/>
                            <a:ea typeface="SimSun" panose="02010600030101010101" pitchFamily="2" charset="-122"/>
                            <a:cs typeface="Times New Roman" panose="02020603050405020304" pitchFamily="18" charset="0"/>
                          </a:rPr>
                          <m:t>𝐼𝑁</m:t>
                        </m:r>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𝐴𝑣𝑔</m:t>
                        </m:r>
                        <m:r>
                          <a:rPr lang="en-GB" b="0" i="1" smtClean="0">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ub>
                    </m:sSub>
                  </m:oMath>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EEC58E51-CC8E-CBAB-1E6E-7DC3D5CEBDEF}"/>
                  </a:ext>
                </a:extLst>
              </p:cNvPr>
              <p:cNvSpPr txBox="1">
                <a:spLocks noRot="1" noChangeAspect="1" noMove="1" noResize="1" noEditPoints="1" noAdjustHandles="1" noChangeArrowheads="1" noChangeShapeType="1" noTextEdit="1"/>
              </p:cNvSpPr>
              <p:nvPr/>
            </p:nvSpPr>
            <p:spPr>
              <a:xfrm>
                <a:off x="5294885" y="3102976"/>
                <a:ext cx="2580618" cy="396006"/>
              </a:xfrm>
              <a:prstGeom prst="rect">
                <a:avLst/>
              </a:prstGeom>
              <a:blipFill>
                <a:blip r:embed="rId8"/>
                <a:stretch>
                  <a:fillRect t="-6154" b="-1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80646CE-5813-3B7B-9FC7-461646CC7AEF}"/>
                  </a:ext>
                </a:extLst>
              </p:cNvPr>
              <p:cNvSpPr txBox="1"/>
              <p:nvPr/>
            </p:nvSpPr>
            <p:spPr>
              <a:xfrm>
                <a:off x="5176295" y="4080092"/>
                <a:ext cx="281779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solidFill>
                                <a:srgbClr val="836967"/>
                              </a:solidFill>
                              <a:latin typeface="Cambria Math" panose="02040503050406030204" pitchFamily="18" charset="0"/>
                            </a:rPr>
                          </m:ctrlPr>
                        </m:sSubPr>
                        <m:e>
                          <m:r>
                            <a:rPr lang="en-GB" sz="1600" b="0" i="1" smtClean="0">
                              <a:solidFill>
                                <a:srgbClr val="836967"/>
                              </a:solidFill>
                              <a:latin typeface="Cambria Math" panose="02040503050406030204" pitchFamily="18" charset="0"/>
                            </a:rPr>
                            <m:t>𝐼</m:t>
                          </m:r>
                        </m:e>
                        <m:sub>
                          <m:r>
                            <a:rPr lang="en-GB" sz="1600" i="1">
                              <a:latin typeface="Cambria Math" panose="02040503050406030204" pitchFamily="18" charset="0"/>
                            </a:rPr>
                            <m:t>𝑂𝑈𝑇</m:t>
                          </m:r>
                          <m:r>
                            <a:rPr lang="en-GB" sz="1600" b="0" i="1" smtClean="0">
                              <a:latin typeface="Cambria Math" panose="02040503050406030204" pitchFamily="18" charset="0"/>
                            </a:rPr>
                            <m:t>(</m:t>
                          </m:r>
                          <m:r>
                            <a:rPr lang="en-GB" sz="1600" b="0" i="1" smtClean="0">
                              <a:latin typeface="Cambria Math" panose="02040503050406030204" pitchFamily="18" charset="0"/>
                            </a:rPr>
                            <m:t>𝐴𝑣𝑒</m:t>
                          </m:r>
                          <m:r>
                            <a:rPr lang="en-GB" sz="1600" b="0" i="1" smtClean="0">
                              <a:latin typeface="Cambria Math" panose="02040503050406030204" pitchFamily="18" charset="0"/>
                            </a:rPr>
                            <m:t>)</m:t>
                          </m:r>
                        </m:sub>
                      </m:sSub>
                      <m:r>
                        <a:rPr lang="en-US" sz="1600">
                          <a:latin typeface="Cambria Math" panose="02040503050406030204" pitchFamily="18" charset="0"/>
                        </a:rPr>
                        <m:t> = −</m:t>
                      </m:r>
                      <m:sSub>
                        <m:sSubPr>
                          <m:ctrlPr>
                            <a:rPr lang="en-US" sz="1600" i="1">
                              <a:solidFill>
                                <a:srgbClr val="836967"/>
                              </a:solidFill>
                              <a:latin typeface="Cambria Math" panose="02040503050406030204" pitchFamily="18" charset="0"/>
                            </a:rPr>
                          </m:ctrlPr>
                        </m:sSubPr>
                        <m:e>
                          <m:r>
                            <a:rPr lang="en-GB" sz="1600" b="0" i="1" smtClean="0">
                              <a:latin typeface="Cambria Math" panose="02040503050406030204" pitchFamily="18" charset="0"/>
                            </a:rPr>
                            <m:t>𝐼</m:t>
                          </m:r>
                        </m:e>
                        <m:sub>
                          <m:r>
                            <a:rPr lang="en-GB" sz="1600" i="1">
                              <a:latin typeface="Cambria Math" panose="02040503050406030204" pitchFamily="18" charset="0"/>
                            </a:rPr>
                            <m:t>𝐼𝑁</m:t>
                          </m:r>
                          <m:r>
                            <a:rPr lang="en-GB" sz="1600" b="0" i="1" smtClean="0">
                              <a:latin typeface="Cambria Math" panose="02040503050406030204" pitchFamily="18" charset="0"/>
                            </a:rPr>
                            <m:t>(</m:t>
                          </m:r>
                          <m:r>
                            <a:rPr lang="en-GB" sz="1600" b="0" i="1" smtClean="0">
                              <a:latin typeface="Cambria Math" panose="02040503050406030204" pitchFamily="18" charset="0"/>
                            </a:rPr>
                            <m:t>𝐴𝑣𝑔</m:t>
                          </m:r>
                          <m:r>
                            <a:rPr lang="en-GB" sz="1600" b="0" i="1" smtClean="0">
                              <a:latin typeface="Cambria Math" panose="02040503050406030204" pitchFamily="18" charset="0"/>
                            </a:rPr>
                            <m:t>)</m:t>
                          </m:r>
                        </m:sub>
                      </m:sSub>
                      <m:f>
                        <m:fPr>
                          <m:ctrlPr>
                            <a:rPr lang="en-US" sz="1600" i="1">
                              <a:solidFill>
                                <a:srgbClr val="836967"/>
                              </a:solidFill>
                              <a:latin typeface="Cambria Math" panose="02040503050406030204" pitchFamily="18" charset="0"/>
                            </a:rPr>
                          </m:ctrlPr>
                        </m:fPr>
                        <m:num>
                          <m:r>
                            <a:rPr lang="en-US" sz="1600">
                              <a:latin typeface="Cambria Math" panose="02040503050406030204" pitchFamily="18" charset="0"/>
                            </a:rPr>
                            <m:t> </m:t>
                          </m:r>
                          <m:r>
                            <a:rPr lang="en-GB" sz="1600" b="0" i="0" smtClean="0">
                              <a:latin typeface="Cambria Math" panose="02040503050406030204" pitchFamily="18" charset="0"/>
                            </a:rPr>
                            <m:t>1−</m:t>
                          </m:r>
                          <m:r>
                            <a:rPr lang="en-GB" sz="1600" i="1">
                              <a:latin typeface="Cambria Math" panose="02040503050406030204" pitchFamily="18" charset="0"/>
                            </a:rPr>
                            <m:t>𝐷</m:t>
                          </m:r>
                        </m:num>
                        <m:den>
                          <m:r>
                            <a:rPr lang="en-GB" sz="1600" b="0" i="1" smtClean="0">
                              <a:latin typeface="Cambria Math" panose="02040503050406030204" pitchFamily="18" charset="0"/>
                            </a:rPr>
                            <m:t>𝐷</m:t>
                          </m:r>
                        </m:den>
                      </m:f>
                    </m:oMath>
                  </m:oMathPara>
                </a14:m>
                <a:endParaRPr lang="en-GB" sz="1600" dirty="0"/>
              </a:p>
            </p:txBody>
          </p:sp>
        </mc:Choice>
        <mc:Fallback xmlns="">
          <p:sp>
            <p:nvSpPr>
              <p:cNvPr id="8" name="TextBox 7">
                <a:extLst>
                  <a:ext uri="{FF2B5EF4-FFF2-40B4-BE49-F238E27FC236}">
                    <a16:creationId xmlns:a16="http://schemas.microsoft.com/office/drawing/2014/main" id="{D80646CE-5813-3B7B-9FC7-461646CC7AEF}"/>
                  </a:ext>
                </a:extLst>
              </p:cNvPr>
              <p:cNvSpPr txBox="1">
                <a:spLocks noRot="1" noChangeAspect="1" noMove="1" noResize="1" noEditPoints="1" noAdjustHandles="1" noChangeArrowheads="1" noChangeShapeType="1" noTextEdit="1"/>
              </p:cNvSpPr>
              <p:nvPr/>
            </p:nvSpPr>
            <p:spPr>
              <a:xfrm>
                <a:off x="5176295" y="4080092"/>
                <a:ext cx="2817798" cy="553357"/>
              </a:xfrm>
              <a:prstGeom prst="rect">
                <a:avLst/>
              </a:prstGeom>
              <a:blipFill>
                <a:blip r:embed="rId9"/>
                <a:stretch>
                  <a:fillRect/>
                </a:stretch>
              </a:blipFill>
            </p:spPr>
            <p:txBody>
              <a:bodyPr/>
              <a:lstStyle/>
              <a:p>
                <a:r>
                  <a:rPr lang="en-GB">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a:extLst>
              <a:ext uri="{FF2B5EF4-FFF2-40B4-BE49-F238E27FC236}">
                <a16:creationId xmlns:a16="http://schemas.microsoft.com/office/drawing/2014/main" id="{A5F71152-AF95-C54B-8FA8-AE888CAF0585}"/>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189D4B9-58C8-184B-9EAA-81DD56C5E3FD}" type="slidenum">
              <a:rPr lang="en-US" altLang="en-US" sz="1400"/>
              <a:pPr>
                <a:spcBef>
                  <a:spcPct val="0"/>
                </a:spcBef>
                <a:buFontTx/>
                <a:buNone/>
              </a:pPr>
              <a:t>28</a:t>
            </a:fld>
            <a:endParaRPr lang="en-US" altLang="en-US" sz="1400"/>
          </a:p>
        </p:txBody>
      </p:sp>
      <p:pic>
        <p:nvPicPr>
          <p:cNvPr id="57347" name="Picture 4" descr="SMPSs">
            <a:extLst>
              <a:ext uri="{FF2B5EF4-FFF2-40B4-BE49-F238E27FC236}">
                <a16:creationId xmlns:a16="http://schemas.microsoft.com/office/drawing/2014/main" id="{B2796AB1-BD86-134D-84D6-EC5D938DD7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0" y="1987550"/>
            <a:ext cx="4510088"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5" descr="SMPSs">
            <a:extLst>
              <a:ext uri="{FF2B5EF4-FFF2-40B4-BE49-F238E27FC236}">
                <a16:creationId xmlns:a16="http://schemas.microsoft.com/office/drawing/2014/main" id="{DB442BBE-829C-DC41-A222-1F93F1A66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2313" y="1979613"/>
            <a:ext cx="4518025" cy="389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Freeform 6">
            <a:extLst>
              <a:ext uri="{FF2B5EF4-FFF2-40B4-BE49-F238E27FC236}">
                <a16:creationId xmlns:a16="http://schemas.microsoft.com/office/drawing/2014/main" id="{AB815581-D235-AE4D-B815-14E277586148}"/>
              </a:ext>
            </a:extLst>
          </p:cNvPr>
          <p:cNvSpPr>
            <a:spLocks/>
          </p:cNvSpPr>
          <p:nvPr/>
        </p:nvSpPr>
        <p:spPr bwMode="auto">
          <a:xfrm>
            <a:off x="395288" y="2357438"/>
            <a:ext cx="3455987" cy="792162"/>
          </a:xfrm>
          <a:custGeom>
            <a:avLst/>
            <a:gdLst>
              <a:gd name="T0" fmla="*/ 0 w 2177"/>
              <a:gd name="T1" fmla="*/ 2147483646 h 499"/>
              <a:gd name="T2" fmla="*/ 0 w 2177"/>
              <a:gd name="T3" fmla="*/ 0 h 499"/>
              <a:gd name="T4" fmla="*/ 2147483646 w 2177"/>
              <a:gd name="T5" fmla="*/ 0 h 499"/>
              <a:gd name="T6" fmla="*/ 2147483646 w 2177"/>
              <a:gd name="T7" fmla="*/ 2147483646 h 499"/>
              <a:gd name="T8" fmla="*/ 0 w 2177"/>
              <a:gd name="T9" fmla="*/ 2147483646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7" h="499">
                <a:moveTo>
                  <a:pt x="0" y="181"/>
                </a:moveTo>
                <a:lnTo>
                  <a:pt x="0" y="0"/>
                </a:lnTo>
                <a:lnTo>
                  <a:pt x="2177" y="0"/>
                </a:lnTo>
                <a:lnTo>
                  <a:pt x="2177" y="499"/>
                </a:lnTo>
                <a:lnTo>
                  <a:pt x="0" y="499"/>
                </a:lnTo>
              </a:path>
            </a:pathLst>
          </a:custGeom>
          <a:noFill/>
          <a:ln w="254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0" name="Freeform 7">
            <a:extLst>
              <a:ext uri="{FF2B5EF4-FFF2-40B4-BE49-F238E27FC236}">
                <a16:creationId xmlns:a16="http://schemas.microsoft.com/office/drawing/2014/main" id="{F2C1FF3B-0E11-AB43-AEB4-6EF34B453CF7}"/>
              </a:ext>
            </a:extLst>
          </p:cNvPr>
          <p:cNvSpPr>
            <a:spLocks/>
          </p:cNvSpPr>
          <p:nvPr/>
        </p:nvSpPr>
        <p:spPr bwMode="auto">
          <a:xfrm>
            <a:off x="6267639" y="2198413"/>
            <a:ext cx="2016125" cy="863600"/>
          </a:xfrm>
          <a:custGeom>
            <a:avLst/>
            <a:gdLst>
              <a:gd name="T0" fmla="*/ 2147483646 w 1270"/>
              <a:gd name="T1" fmla="*/ 0 h 544"/>
              <a:gd name="T2" fmla="*/ 2147483646 w 1270"/>
              <a:gd name="T3" fmla="*/ 0 h 544"/>
              <a:gd name="T4" fmla="*/ 2147483646 w 1270"/>
              <a:gd name="T5" fmla="*/ 2147483646 h 544"/>
              <a:gd name="T6" fmla="*/ 0 w 1270"/>
              <a:gd name="T7" fmla="*/ 2147483646 h 544"/>
              <a:gd name="T8" fmla="*/ 0 w 1270"/>
              <a:gd name="T9" fmla="*/ 2147483646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0" h="544">
                <a:moveTo>
                  <a:pt x="136" y="0"/>
                </a:moveTo>
                <a:lnTo>
                  <a:pt x="1270" y="0"/>
                </a:lnTo>
                <a:lnTo>
                  <a:pt x="1270" y="544"/>
                </a:lnTo>
                <a:lnTo>
                  <a:pt x="0" y="544"/>
                </a:lnTo>
                <a:lnTo>
                  <a:pt x="0" y="90"/>
                </a:lnTo>
              </a:path>
            </a:pathLst>
          </a:custGeom>
          <a:noFill/>
          <a:ln w="254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1" name="Freeform 8">
            <a:extLst>
              <a:ext uri="{FF2B5EF4-FFF2-40B4-BE49-F238E27FC236}">
                <a16:creationId xmlns:a16="http://schemas.microsoft.com/office/drawing/2014/main" id="{9F3E82E3-E5B1-DA44-AFEF-998CB149FBE8}"/>
              </a:ext>
            </a:extLst>
          </p:cNvPr>
          <p:cNvSpPr>
            <a:spLocks/>
          </p:cNvSpPr>
          <p:nvPr/>
        </p:nvSpPr>
        <p:spPr bwMode="auto">
          <a:xfrm>
            <a:off x="331678" y="3525743"/>
            <a:ext cx="1655762" cy="863600"/>
          </a:xfrm>
          <a:custGeom>
            <a:avLst/>
            <a:gdLst>
              <a:gd name="T0" fmla="*/ 0 w 1043"/>
              <a:gd name="T1" fmla="*/ 2147483646 h 544"/>
              <a:gd name="T2" fmla="*/ 0 w 1043"/>
              <a:gd name="T3" fmla="*/ 0 h 544"/>
              <a:gd name="T4" fmla="*/ 2147483646 w 1043"/>
              <a:gd name="T5" fmla="*/ 0 h 544"/>
              <a:gd name="T6" fmla="*/ 2147483646 w 1043"/>
              <a:gd name="T7" fmla="*/ 2147483646 h 544"/>
              <a:gd name="T8" fmla="*/ 0 w 1043"/>
              <a:gd name="T9" fmla="*/ 2147483646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3" h="544">
                <a:moveTo>
                  <a:pt x="0" y="227"/>
                </a:moveTo>
                <a:lnTo>
                  <a:pt x="0" y="0"/>
                </a:lnTo>
                <a:lnTo>
                  <a:pt x="1043" y="0"/>
                </a:lnTo>
                <a:lnTo>
                  <a:pt x="1043" y="544"/>
                </a:lnTo>
                <a:lnTo>
                  <a:pt x="0" y="544"/>
                </a:lnTo>
              </a:path>
            </a:pathLst>
          </a:custGeom>
          <a:noFill/>
          <a:ln w="254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2" name="Freeform 9">
            <a:extLst>
              <a:ext uri="{FF2B5EF4-FFF2-40B4-BE49-F238E27FC236}">
                <a16:creationId xmlns:a16="http://schemas.microsoft.com/office/drawing/2014/main" id="{BA29D3F8-B726-7440-9336-52AAB96F11B0}"/>
              </a:ext>
            </a:extLst>
          </p:cNvPr>
          <p:cNvSpPr>
            <a:spLocks/>
          </p:cNvSpPr>
          <p:nvPr/>
        </p:nvSpPr>
        <p:spPr bwMode="auto">
          <a:xfrm>
            <a:off x="4716463" y="3581400"/>
            <a:ext cx="3527425" cy="863600"/>
          </a:xfrm>
          <a:custGeom>
            <a:avLst/>
            <a:gdLst>
              <a:gd name="T0" fmla="*/ 0 w 2222"/>
              <a:gd name="T1" fmla="*/ 2147483646 h 544"/>
              <a:gd name="T2" fmla="*/ 0 w 2222"/>
              <a:gd name="T3" fmla="*/ 0 h 544"/>
              <a:gd name="T4" fmla="*/ 2147483646 w 2222"/>
              <a:gd name="T5" fmla="*/ 0 h 544"/>
              <a:gd name="T6" fmla="*/ 2147483646 w 2222"/>
              <a:gd name="T7" fmla="*/ 2147483646 h 544"/>
              <a:gd name="T8" fmla="*/ 0 w 2222"/>
              <a:gd name="T9" fmla="*/ 2147483646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22" h="544">
                <a:moveTo>
                  <a:pt x="0" y="181"/>
                </a:moveTo>
                <a:lnTo>
                  <a:pt x="0" y="0"/>
                </a:lnTo>
                <a:lnTo>
                  <a:pt x="2222" y="0"/>
                </a:lnTo>
                <a:lnTo>
                  <a:pt x="2222" y="544"/>
                </a:lnTo>
                <a:lnTo>
                  <a:pt x="0" y="544"/>
                </a:lnTo>
              </a:path>
            </a:pathLst>
          </a:custGeom>
          <a:noFill/>
          <a:ln w="254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3" name="Freeform 10">
            <a:extLst>
              <a:ext uri="{FF2B5EF4-FFF2-40B4-BE49-F238E27FC236}">
                <a16:creationId xmlns:a16="http://schemas.microsoft.com/office/drawing/2014/main" id="{169C9050-755D-B346-B646-548BBCF88403}"/>
              </a:ext>
            </a:extLst>
          </p:cNvPr>
          <p:cNvSpPr>
            <a:spLocks/>
          </p:cNvSpPr>
          <p:nvPr/>
        </p:nvSpPr>
        <p:spPr bwMode="auto">
          <a:xfrm>
            <a:off x="307827" y="4860898"/>
            <a:ext cx="1511300" cy="863600"/>
          </a:xfrm>
          <a:custGeom>
            <a:avLst/>
            <a:gdLst>
              <a:gd name="T0" fmla="*/ 0 w 1043"/>
              <a:gd name="T1" fmla="*/ 2147483646 h 544"/>
              <a:gd name="T2" fmla="*/ 0 w 1043"/>
              <a:gd name="T3" fmla="*/ 0 h 544"/>
              <a:gd name="T4" fmla="*/ 2147483646 w 1043"/>
              <a:gd name="T5" fmla="*/ 0 h 544"/>
              <a:gd name="T6" fmla="*/ 2147483646 w 1043"/>
              <a:gd name="T7" fmla="*/ 2147483646 h 544"/>
              <a:gd name="T8" fmla="*/ 0 w 1043"/>
              <a:gd name="T9" fmla="*/ 2147483646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3" h="544">
                <a:moveTo>
                  <a:pt x="0" y="227"/>
                </a:moveTo>
                <a:lnTo>
                  <a:pt x="0" y="0"/>
                </a:lnTo>
                <a:lnTo>
                  <a:pt x="1043" y="0"/>
                </a:lnTo>
                <a:lnTo>
                  <a:pt x="1043" y="544"/>
                </a:lnTo>
                <a:lnTo>
                  <a:pt x="0" y="544"/>
                </a:lnTo>
              </a:path>
            </a:pathLst>
          </a:custGeom>
          <a:noFill/>
          <a:ln w="254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4" name="Freeform 11">
            <a:extLst>
              <a:ext uri="{FF2B5EF4-FFF2-40B4-BE49-F238E27FC236}">
                <a16:creationId xmlns:a16="http://schemas.microsoft.com/office/drawing/2014/main" id="{A8EC412B-6D46-324B-89B1-D0086A733C21}"/>
              </a:ext>
            </a:extLst>
          </p:cNvPr>
          <p:cNvSpPr>
            <a:spLocks/>
          </p:cNvSpPr>
          <p:nvPr/>
        </p:nvSpPr>
        <p:spPr bwMode="auto">
          <a:xfrm>
            <a:off x="6523173" y="4876800"/>
            <a:ext cx="1728787" cy="865188"/>
          </a:xfrm>
          <a:custGeom>
            <a:avLst/>
            <a:gdLst>
              <a:gd name="T0" fmla="*/ 0 w 1089"/>
              <a:gd name="T1" fmla="*/ 0 h 545"/>
              <a:gd name="T2" fmla="*/ 0 w 1089"/>
              <a:gd name="T3" fmla="*/ 2147483646 h 545"/>
              <a:gd name="T4" fmla="*/ 2147483646 w 1089"/>
              <a:gd name="T5" fmla="*/ 2147483646 h 545"/>
              <a:gd name="T6" fmla="*/ 2147483646 w 1089"/>
              <a:gd name="T7" fmla="*/ 0 h 545"/>
              <a:gd name="T8" fmla="*/ 2147483646 w 1089"/>
              <a:gd name="T9" fmla="*/ 0 h 5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9" h="545">
                <a:moveTo>
                  <a:pt x="0" y="0"/>
                </a:moveTo>
                <a:lnTo>
                  <a:pt x="0" y="545"/>
                </a:lnTo>
                <a:lnTo>
                  <a:pt x="1089" y="545"/>
                </a:lnTo>
                <a:lnTo>
                  <a:pt x="1089" y="0"/>
                </a:lnTo>
                <a:lnTo>
                  <a:pt x="136" y="0"/>
                </a:lnTo>
              </a:path>
            </a:pathLst>
          </a:custGeom>
          <a:noFill/>
          <a:ln w="254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5" name="Text Box 12">
            <a:extLst>
              <a:ext uri="{FF2B5EF4-FFF2-40B4-BE49-F238E27FC236}">
                <a16:creationId xmlns:a16="http://schemas.microsoft.com/office/drawing/2014/main" id="{0D969DDE-E2F7-784F-9293-CF3507AEEF2C}"/>
              </a:ext>
            </a:extLst>
          </p:cNvPr>
          <p:cNvSpPr txBox="1">
            <a:spLocks noChangeArrowheads="1"/>
          </p:cNvSpPr>
          <p:nvPr/>
        </p:nvSpPr>
        <p:spPr bwMode="auto">
          <a:xfrm>
            <a:off x="176213" y="1679575"/>
            <a:ext cx="984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Storage</a:t>
            </a:r>
            <a:endParaRPr lang="en-US" altLang="en-US" sz="1800"/>
          </a:p>
        </p:txBody>
      </p:sp>
      <p:sp>
        <p:nvSpPr>
          <p:cNvPr id="57356" name="Text Box 13">
            <a:extLst>
              <a:ext uri="{FF2B5EF4-FFF2-40B4-BE49-F238E27FC236}">
                <a16:creationId xmlns:a16="http://schemas.microsoft.com/office/drawing/2014/main" id="{2E488136-1A8F-FC43-8394-84275F4C68FE}"/>
              </a:ext>
            </a:extLst>
          </p:cNvPr>
          <p:cNvSpPr txBox="1">
            <a:spLocks noChangeArrowheads="1"/>
          </p:cNvSpPr>
          <p:nvPr/>
        </p:nvSpPr>
        <p:spPr bwMode="auto">
          <a:xfrm>
            <a:off x="4683125" y="1619250"/>
            <a:ext cx="1022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t>Release</a:t>
            </a:r>
            <a:endParaRPr lang="en-US" altLang="en-US" sz="1800"/>
          </a:p>
        </p:txBody>
      </p:sp>
      <p:sp>
        <p:nvSpPr>
          <p:cNvPr id="57357" name="Text Box 14">
            <a:extLst>
              <a:ext uri="{FF2B5EF4-FFF2-40B4-BE49-F238E27FC236}">
                <a16:creationId xmlns:a16="http://schemas.microsoft.com/office/drawing/2014/main" id="{FF2FF0A4-9BC3-554A-8AAF-6B6B904BD454}"/>
              </a:ext>
            </a:extLst>
          </p:cNvPr>
          <p:cNvSpPr txBox="1">
            <a:spLocks noChangeArrowheads="1"/>
          </p:cNvSpPr>
          <p:nvPr/>
        </p:nvSpPr>
        <p:spPr bwMode="auto">
          <a:xfrm>
            <a:off x="0" y="147638"/>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800"/>
              <a:t>The following diagrams summarise the energy flow in the circuit for each converter type during the storage and release phases of operation.</a:t>
            </a:r>
            <a:endParaRPr lang="en-US" altLang="en-US" sz="1800"/>
          </a:p>
        </p:txBody>
      </p:sp>
      <p:sp>
        <p:nvSpPr>
          <p:cNvPr id="57358" name="Text Box 15">
            <a:extLst>
              <a:ext uri="{FF2B5EF4-FFF2-40B4-BE49-F238E27FC236}">
                <a16:creationId xmlns:a16="http://schemas.microsoft.com/office/drawing/2014/main" id="{6FC6092A-F184-1D4D-82C4-31717651E04D}"/>
              </a:ext>
            </a:extLst>
          </p:cNvPr>
          <p:cNvSpPr txBox="1">
            <a:spLocks noChangeArrowheads="1"/>
          </p:cNvSpPr>
          <p:nvPr/>
        </p:nvSpPr>
        <p:spPr bwMode="auto">
          <a:xfrm>
            <a:off x="2620963" y="2633663"/>
            <a:ext cx="52228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u="sng">
                <a:solidFill>
                  <a:srgbClr val="0066FF"/>
                </a:solidFill>
              </a:rPr>
              <a:t>Buck</a:t>
            </a:r>
            <a:endParaRPr lang="en-US" altLang="en-US" sz="1200" u="sng">
              <a:solidFill>
                <a:srgbClr val="0066FF"/>
              </a:solidFill>
            </a:endParaRPr>
          </a:p>
        </p:txBody>
      </p:sp>
      <p:sp>
        <p:nvSpPr>
          <p:cNvPr id="57360" name="Text Box 17">
            <a:extLst>
              <a:ext uri="{FF2B5EF4-FFF2-40B4-BE49-F238E27FC236}">
                <a16:creationId xmlns:a16="http://schemas.microsoft.com/office/drawing/2014/main" id="{A0C5A680-BF1E-D546-BF0B-E92224229DA0}"/>
              </a:ext>
            </a:extLst>
          </p:cNvPr>
          <p:cNvSpPr txBox="1">
            <a:spLocks noChangeArrowheads="1"/>
          </p:cNvSpPr>
          <p:nvPr/>
        </p:nvSpPr>
        <p:spPr bwMode="auto">
          <a:xfrm>
            <a:off x="2266945" y="5257026"/>
            <a:ext cx="95250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u="sng" dirty="0">
                <a:solidFill>
                  <a:srgbClr val="0066FF"/>
                </a:solidFill>
              </a:rPr>
              <a:t>Buck-boost</a:t>
            </a:r>
          </a:p>
        </p:txBody>
      </p:sp>
      <p:sp>
        <p:nvSpPr>
          <p:cNvPr id="57361" name="Text Box 18">
            <a:extLst>
              <a:ext uri="{FF2B5EF4-FFF2-40B4-BE49-F238E27FC236}">
                <a16:creationId xmlns:a16="http://schemas.microsoft.com/office/drawing/2014/main" id="{2AF8D359-11D2-DE45-821F-6F05F2EF3FC6}"/>
              </a:ext>
            </a:extLst>
          </p:cNvPr>
          <p:cNvSpPr txBox="1">
            <a:spLocks noChangeArrowheads="1"/>
          </p:cNvSpPr>
          <p:nvPr/>
        </p:nvSpPr>
        <p:spPr bwMode="auto">
          <a:xfrm>
            <a:off x="7123113" y="2632075"/>
            <a:ext cx="5222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u="sng">
                <a:solidFill>
                  <a:srgbClr val="0066FF"/>
                </a:solidFill>
              </a:rPr>
              <a:t>Buck</a:t>
            </a:r>
            <a:endParaRPr lang="en-US" altLang="en-US" sz="1200" u="sng">
              <a:solidFill>
                <a:srgbClr val="0066FF"/>
              </a:solidFill>
            </a:endParaRPr>
          </a:p>
        </p:txBody>
      </p:sp>
      <p:sp>
        <p:nvSpPr>
          <p:cNvPr id="57362" name="Text Box 19">
            <a:extLst>
              <a:ext uri="{FF2B5EF4-FFF2-40B4-BE49-F238E27FC236}">
                <a16:creationId xmlns:a16="http://schemas.microsoft.com/office/drawing/2014/main" id="{787EE93F-7346-3B41-A1B0-26ABC7B58945}"/>
              </a:ext>
            </a:extLst>
          </p:cNvPr>
          <p:cNvSpPr txBox="1">
            <a:spLocks noChangeArrowheads="1"/>
          </p:cNvSpPr>
          <p:nvPr/>
        </p:nvSpPr>
        <p:spPr bwMode="auto">
          <a:xfrm>
            <a:off x="7073900" y="3943350"/>
            <a:ext cx="5730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u="sng">
                <a:solidFill>
                  <a:srgbClr val="0066FF"/>
                </a:solidFill>
              </a:rPr>
              <a:t>Boost</a:t>
            </a:r>
            <a:endParaRPr lang="en-US" altLang="en-US" sz="1200" u="sng">
              <a:solidFill>
                <a:srgbClr val="0066FF"/>
              </a:solidFill>
            </a:endParaRPr>
          </a:p>
        </p:txBody>
      </p:sp>
      <p:sp>
        <p:nvSpPr>
          <p:cNvPr id="57363" name="Text Box 20">
            <a:extLst>
              <a:ext uri="{FF2B5EF4-FFF2-40B4-BE49-F238E27FC236}">
                <a16:creationId xmlns:a16="http://schemas.microsoft.com/office/drawing/2014/main" id="{28F5FFD0-16DB-2D4F-9C99-6771E22BE2AF}"/>
              </a:ext>
            </a:extLst>
          </p:cNvPr>
          <p:cNvSpPr txBox="1">
            <a:spLocks noChangeArrowheads="1"/>
          </p:cNvSpPr>
          <p:nvPr/>
        </p:nvSpPr>
        <p:spPr bwMode="auto">
          <a:xfrm>
            <a:off x="6692895" y="5256943"/>
            <a:ext cx="95250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200" u="sng" dirty="0">
                <a:solidFill>
                  <a:srgbClr val="0066FF"/>
                </a:solidFill>
              </a:rPr>
              <a:t>Buck-boost</a:t>
            </a:r>
          </a:p>
        </p:txBody>
      </p:sp>
      <p:sp>
        <p:nvSpPr>
          <p:cNvPr id="57364" name="TextBox 1">
            <a:extLst>
              <a:ext uri="{FF2B5EF4-FFF2-40B4-BE49-F238E27FC236}">
                <a16:creationId xmlns:a16="http://schemas.microsoft.com/office/drawing/2014/main" id="{4842421F-1D52-8E4C-BF07-CEC60AD60D91}"/>
              </a:ext>
            </a:extLst>
          </p:cNvPr>
          <p:cNvSpPr txBox="1">
            <a:spLocks noChangeArrowheads="1"/>
          </p:cNvSpPr>
          <p:nvPr/>
        </p:nvSpPr>
        <p:spPr bwMode="auto">
          <a:xfrm>
            <a:off x="358775" y="1065213"/>
            <a:ext cx="4213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2400" b="1">
                <a:solidFill>
                  <a:srgbClr val="0000FF"/>
                </a:solidFill>
              </a:rPr>
              <a:t>Charging the Inductor</a:t>
            </a:r>
          </a:p>
        </p:txBody>
      </p:sp>
      <p:sp>
        <p:nvSpPr>
          <p:cNvPr id="57365" name="TextBox 20">
            <a:extLst>
              <a:ext uri="{FF2B5EF4-FFF2-40B4-BE49-F238E27FC236}">
                <a16:creationId xmlns:a16="http://schemas.microsoft.com/office/drawing/2014/main" id="{897331E1-F4B0-F047-9044-419945819637}"/>
              </a:ext>
            </a:extLst>
          </p:cNvPr>
          <p:cNvSpPr txBox="1">
            <a:spLocks noChangeArrowheads="1"/>
          </p:cNvSpPr>
          <p:nvPr/>
        </p:nvSpPr>
        <p:spPr bwMode="auto">
          <a:xfrm>
            <a:off x="4683125" y="1074738"/>
            <a:ext cx="38306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GB" altLang="en-US" sz="2400" b="1">
                <a:solidFill>
                  <a:srgbClr val="0000FF"/>
                </a:solidFill>
              </a:rPr>
              <a:t>Discharging the Inductor</a:t>
            </a:r>
          </a:p>
        </p:txBody>
      </p:sp>
      <p:sp>
        <p:nvSpPr>
          <p:cNvPr id="57366" name="TextBox 2">
            <a:extLst>
              <a:ext uri="{FF2B5EF4-FFF2-40B4-BE49-F238E27FC236}">
                <a16:creationId xmlns:a16="http://schemas.microsoft.com/office/drawing/2014/main" id="{2E5C39E2-8DC2-1A45-BD06-386052FCA46B}"/>
              </a:ext>
            </a:extLst>
          </p:cNvPr>
          <p:cNvSpPr txBox="1">
            <a:spLocks noChangeArrowheads="1"/>
          </p:cNvSpPr>
          <p:nvPr/>
        </p:nvSpPr>
        <p:spPr bwMode="auto">
          <a:xfrm>
            <a:off x="1347788" y="6105525"/>
            <a:ext cx="1949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b="1">
                <a:solidFill>
                  <a:srgbClr val="FF0000"/>
                </a:solidFill>
              </a:rPr>
              <a:t>Switch ON</a:t>
            </a:r>
          </a:p>
        </p:txBody>
      </p:sp>
      <p:sp>
        <p:nvSpPr>
          <p:cNvPr id="57367" name="TextBox 22">
            <a:extLst>
              <a:ext uri="{FF2B5EF4-FFF2-40B4-BE49-F238E27FC236}">
                <a16:creationId xmlns:a16="http://schemas.microsoft.com/office/drawing/2014/main" id="{C06DA75F-58EC-9244-B2AE-AB6E91AB3124}"/>
              </a:ext>
            </a:extLst>
          </p:cNvPr>
          <p:cNvSpPr txBox="1">
            <a:spLocks noChangeArrowheads="1"/>
          </p:cNvSpPr>
          <p:nvPr/>
        </p:nvSpPr>
        <p:spPr bwMode="auto">
          <a:xfrm>
            <a:off x="5578475" y="6038850"/>
            <a:ext cx="1949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b="1">
                <a:solidFill>
                  <a:srgbClr val="FF0000"/>
                </a:solidFill>
              </a:rPr>
              <a:t>Switch OFF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C0E2A4-E1A4-E646-A78D-A1E83ED002C6}"/>
              </a:ext>
            </a:extLst>
          </p:cNvPr>
          <p:cNvSpPr>
            <a:spLocks noGrp="1"/>
          </p:cNvSpPr>
          <p:nvPr>
            <p:ph type="title"/>
          </p:nvPr>
        </p:nvSpPr>
        <p:spPr>
          <a:xfrm>
            <a:off x="183377" y="320674"/>
            <a:ext cx="7886700" cy="1325563"/>
          </a:xfrm>
        </p:spPr>
        <p:txBody>
          <a:bodyPr/>
          <a:lstStyle/>
          <a:p>
            <a:r>
              <a:rPr lang="en-US" dirty="0"/>
              <a:t>What have we learned so far?</a:t>
            </a:r>
          </a:p>
        </p:txBody>
      </p:sp>
      <p:sp>
        <p:nvSpPr>
          <p:cNvPr id="5" name="Content Placeholder 4">
            <a:extLst>
              <a:ext uri="{FF2B5EF4-FFF2-40B4-BE49-F238E27FC236}">
                <a16:creationId xmlns:a16="http://schemas.microsoft.com/office/drawing/2014/main" id="{90393319-285A-C747-AC05-06B62348D1F6}"/>
              </a:ext>
            </a:extLst>
          </p:cNvPr>
          <p:cNvSpPr>
            <a:spLocks noGrp="1"/>
          </p:cNvSpPr>
          <p:nvPr>
            <p:ph idx="1"/>
          </p:nvPr>
        </p:nvSpPr>
        <p:spPr/>
        <p:txBody>
          <a:bodyPr>
            <a:normAutofit/>
          </a:bodyPr>
          <a:lstStyle/>
          <a:p>
            <a:r>
              <a:rPr lang="en-US" sz="2800" dirty="0"/>
              <a:t>DC-DC Converters</a:t>
            </a:r>
          </a:p>
          <a:p>
            <a:r>
              <a:rPr lang="en-US" sz="2800" dirty="0"/>
              <a:t>Swit</a:t>
            </a:r>
            <a:r>
              <a:rPr lang="en-US" dirty="0"/>
              <a:t>ched Mode Power Supplies (Converters)</a:t>
            </a:r>
          </a:p>
          <a:p>
            <a:pPr lvl="1"/>
            <a:r>
              <a:rPr lang="en-US" dirty="0"/>
              <a:t>Buck Converter</a:t>
            </a:r>
          </a:p>
          <a:p>
            <a:pPr lvl="1"/>
            <a:r>
              <a:rPr lang="en-US" dirty="0"/>
              <a:t>Boost Converter</a:t>
            </a:r>
          </a:p>
          <a:p>
            <a:pPr lvl="1"/>
            <a:r>
              <a:rPr lang="en-US" dirty="0"/>
              <a:t>Buck-Boost Converter</a:t>
            </a:r>
          </a:p>
          <a:p>
            <a:endParaRPr lang="en-US" sz="2800" dirty="0"/>
          </a:p>
        </p:txBody>
      </p:sp>
      <p:sp>
        <p:nvSpPr>
          <p:cNvPr id="2" name="Slide Number Placeholder 1">
            <a:extLst>
              <a:ext uri="{FF2B5EF4-FFF2-40B4-BE49-F238E27FC236}">
                <a16:creationId xmlns:a16="http://schemas.microsoft.com/office/drawing/2014/main" id="{E7D24974-3291-844E-AA7A-E183233050AD}"/>
              </a:ext>
            </a:extLst>
          </p:cNvPr>
          <p:cNvSpPr>
            <a:spLocks noGrp="1"/>
          </p:cNvSpPr>
          <p:nvPr>
            <p:ph type="sldNum" sz="quarter" idx="12"/>
          </p:nvPr>
        </p:nvSpPr>
        <p:spPr/>
        <p:txBody>
          <a:bodyPr/>
          <a:lstStyle/>
          <a:p>
            <a:fld id="{C398351E-2C11-9849-9B44-6122DA96ABF2}" type="slidenum">
              <a:rPr lang="en-US" altLang="en-US" smtClean="0"/>
              <a:pPr/>
              <a:t>29</a:t>
            </a:fld>
            <a:endParaRPr lang="en-US" altLang="en-US"/>
          </a:p>
        </p:txBody>
      </p:sp>
    </p:spTree>
    <p:extLst>
      <p:ext uri="{BB962C8B-B14F-4D97-AF65-F5344CB8AC3E}">
        <p14:creationId xmlns:p14="http://schemas.microsoft.com/office/powerpoint/2010/main" val="2977458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26061</TotalTime>
  <Words>2299</Words>
  <Application>Microsoft Office PowerPoint</Application>
  <PresentationFormat>On-screen Show (4:3)</PresentationFormat>
  <Paragraphs>375</Paragraphs>
  <Slides>29</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9" baseType="lpstr">
      <vt:lpstr>宋体</vt:lpstr>
      <vt:lpstr>宋体</vt:lpstr>
      <vt:lpstr>Arial</vt:lpstr>
      <vt:lpstr>Calibri</vt:lpstr>
      <vt:lpstr>Calibri Light</vt:lpstr>
      <vt:lpstr>Cambria Math</vt:lpstr>
      <vt:lpstr>Times</vt:lpstr>
      <vt:lpstr>Times New Roman</vt:lpstr>
      <vt:lpstr>Office Theme</vt:lpstr>
      <vt:lpstr>Equation</vt:lpstr>
      <vt:lpstr>Power Electronics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have we learned so far?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Shuja Ansari</dc:creator>
  <cp:lastModifiedBy>Atif Jafri</cp:lastModifiedBy>
  <cp:revision>57</cp:revision>
  <dcterms:created xsi:type="dcterms:W3CDTF">2022-04-16T23:12:10Z</dcterms:created>
  <dcterms:modified xsi:type="dcterms:W3CDTF">2025-05-08T01:58:07Z</dcterms:modified>
</cp:coreProperties>
</file>