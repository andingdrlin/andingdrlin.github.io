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74" r:id="rId5"/>
    <p:sldId id="277" r:id="rId6"/>
    <p:sldId id="275" r:id="rId7"/>
    <p:sldId id="276" r:id="rId8"/>
    <p:sldId id="289" r:id="rId9"/>
    <p:sldId id="278" r:id="rId10"/>
    <p:sldId id="279" r:id="rId11"/>
    <p:sldId id="282" r:id="rId12"/>
    <p:sldId id="291" r:id="rId13"/>
    <p:sldId id="292" r:id="rId14"/>
    <p:sldId id="261" r:id="rId15"/>
    <p:sldId id="280" r:id="rId16"/>
    <p:sldId id="307" r:id="rId17"/>
    <p:sldId id="308" r:id="rId18"/>
    <p:sldId id="311" r:id="rId19"/>
    <p:sldId id="309" r:id="rId20"/>
    <p:sldId id="310" r:id="rId21"/>
    <p:sldId id="312" r:id="rId22"/>
    <p:sldId id="313" r:id="rId23"/>
    <p:sldId id="259" r:id="rId24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075D7E-0E30-432D-ABDC-EBCB4754F3B6}" v="18" dt="2026-03-03T14:48:12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617" autoAdjust="0"/>
    <p:restoredTop sz="86499" autoAdjust="0"/>
  </p:normalViewPr>
  <p:slideViewPr>
    <p:cSldViewPr snapToGrid="0">
      <p:cViewPr varScale="1">
        <p:scale>
          <a:sx n="139" d="100"/>
          <a:sy n="139" d="100"/>
        </p:scale>
        <p:origin x="62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19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en Le Kernec" userId="e8115e76-a56b-4cd5-847d-4586c41a1909" providerId="ADAL" clId="{5DCF087F-6C29-4C79-B7E2-F0138E21AC4C}"/>
    <pc:docChg chg="undo custSel addSld delSld modSld">
      <pc:chgData name="Julien Le Kernec" userId="e8115e76-a56b-4cd5-847d-4586c41a1909" providerId="ADAL" clId="{5DCF087F-6C29-4C79-B7E2-F0138E21AC4C}" dt="2026-03-03T14:48:12.623" v="94"/>
      <pc:docMkLst>
        <pc:docMk/>
      </pc:docMkLst>
      <pc:sldChg chg="addSp delSp modSp mod">
        <pc:chgData name="Julien Le Kernec" userId="e8115e76-a56b-4cd5-847d-4586c41a1909" providerId="ADAL" clId="{5DCF087F-6C29-4C79-B7E2-F0138E21AC4C}" dt="2026-02-25T14:09:50.001" v="1"/>
        <pc:sldMkLst>
          <pc:docMk/>
          <pc:sldMk cId="3756398320" sldId="256"/>
        </pc:sldMkLst>
        <pc:spChg chg="add mod">
          <ac:chgData name="Julien Le Kernec" userId="e8115e76-a56b-4cd5-847d-4586c41a1909" providerId="ADAL" clId="{5DCF087F-6C29-4C79-B7E2-F0138E21AC4C}" dt="2026-02-25T14:09:50.001" v="1"/>
          <ac:spMkLst>
            <pc:docMk/>
            <pc:sldMk cId="3756398320" sldId="256"/>
            <ac:spMk id="2" creationId="{76F1626B-0CAF-B8CF-1607-66E8FA4F2CE4}"/>
          </ac:spMkLst>
        </pc:spChg>
      </pc:sldChg>
      <pc:sldChg chg="delSp mod">
        <pc:chgData name="Julien Le Kernec" userId="e8115e76-a56b-4cd5-847d-4586c41a1909" providerId="ADAL" clId="{5DCF087F-6C29-4C79-B7E2-F0138E21AC4C}" dt="2026-02-25T15:03:35.256" v="2" actId="478"/>
        <pc:sldMkLst>
          <pc:docMk/>
          <pc:sldMk cId="1542848961" sldId="257"/>
        </pc:sldMkLst>
      </pc:sldChg>
      <pc:sldChg chg="delSp mod">
        <pc:chgData name="Julien Le Kernec" userId="e8115e76-a56b-4cd5-847d-4586c41a1909" providerId="ADAL" clId="{5DCF087F-6C29-4C79-B7E2-F0138E21AC4C}" dt="2026-02-25T15:03:38.600" v="3" actId="478"/>
        <pc:sldMkLst>
          <pc:docMk/>
          <pc:sldMk cId="300435787" sldId="258"/>
        </pc:sldMkLst>
      </pc:sldChg>
      <pc:sldChg chg="delSp modSp mod">
        <pc:chgData name="Julien Le Kernec" userId="e8115e76-a56b-4cd5-847d-4586c41a1909" providerId="ADAL" clId="{5DCF087F-6C29-4C79-B7E2-F0138E21AC4C}" dt="2026-03-03T14:48:12.623" v="94"/>
        <pc:sldMkLst>
          <pc:docMk/>
          <pc:sldMk cId="2670690755" sldId="259"/>
        </pc:sldMkLst>
        <pc:spChg chg="mod">
          <ac:chgData name="Julien Le Kernec" userId="e8115e76-a56b-4cd5-847d-4586c41a1909" providerId="ADAL" clId="{5DCF087F-6C29-4C79-B7E2-F0138E21AC4C}" dt="2026-03-03T14:48:12.623" v="94"/>
          <ac:spMkLst>
            <pc:docMk/>
            <pc:sldMk cId="2670690755" sldId="259"/>
            <ac:spMk id="3" creationId="{00000000-0000-0000-0000-000000000000}"/>
          </ac:spMkLst>
        </pc:spChg>
        <pc:spChg chg="mod">
          <ac:chgData name="Julien Le Kernec" userId="e8115e76-a56b-4cd5-847d-4586c41a1909" providerId="ADAL" clId="{5DCF087F-6C29-4C79-B7E2-F0138E21AC4C}" dt="2026-02-25T15:09:51.692" v="28" actId="20577"/>
          <ac:spMkLst>
            <pc:docMk/>
            <pc:sldMk cId="2670690755" sldId="259"/>
            <ac:spMk id="7" creationId="{0B4C9F10-FE81-4828-938A-46E1EC418627}"/>
          </ac:spMkLst>
        </pc:spChg>
      </pc:sldChg>
      <pc:sldChg chg="add">
        <pc:chgData name="Julien Le Kernec" userId="e8115e76-a56b-4cd5-847d-4586c41a1909" providerId="ADAL" clId="{5DCF087F-6C29-4C79-B7E2-F0138E21AC4C}" dt="2026-03-03T14:45:13.112" v="81"/>
        <pc:sldMkLst>
          <pc:docMk/>
          <pc:sldMk cId="1150467637" sldId="261"/>
        </pc:sldMkLst>
      </pc:sldChg>
      <pc:sldChg chg="delSp mod">
        <pc:chgData name="Julien Le Kernec" userId="e8115e76-a56b-4cd5-847d-4586c41a1909" providerId="ADAL" clId="{5DCF087F-6C29-4C79-B7E2-F0138E21AC4C}" dt="2026-02-25T15:03:43.005" v="4" actId="478"/>
        <pc:sldMkLst>
          <pc:docMk/>
          <pc:sldMk cId="728666444" sldId="274"/>
        </pc:sldMkLst>
      </pc:sldChg>
      <pc:sldChg chg="delSp mod">
        <pc:chgData name="Julien Le Kernec" userId="e8115e76-a56b-4cd5-847d-4586c41a1909" providerId="ADAL" clId="{5DCF087F-6C29-4C79-B7E2-F0138E21AC4C}" dt="2026-02-25T15:03:53.162" v="6" actId="478"/>
        <pc:sldMkLst>
          <pc:docMk/>
          <pc:sldMk cId="537874132" sldId="275"/>
        </pc:sldMkLst>
      </pc:sldChg>
      <pc:sldChg chg="delSp mod">
        <pc:chgData name="Julien Le Kernec" userId="e8115e76-a56b-4cd5-847d-4586c41a1909" providerId="ADAL" clId="{5DCF087F-6C29-4C79-B7E2-F0138E21AC4C}" dt="2026-02-25T15:03:55.208" v="7" actId="478"/>
        <pc:sldMkLst>
          <pc:docMk/>
          <pc:sldMk cId="1632651964" sldId="276"/>
        </pc:sldMkLst>
      </pc:sldChg>
      <pc:sldChg chg="delSp mod">
        <pc:chgData name="Julien Le Kernec" userId="e8115e76-a56b-4cd5-847d-4586c41a1909" providerId="ADAL" clId="{5DCF087F-6C29-4C79-B7E2-F0138E21AC4C}" dt="2026-02-25T15:03:50.093" v="5" actId="478"/>
        <pc:sldMkLst>
          <pc:docMk/>
          <pc:sldMk cId="3476610183" sldId="277"/>
        </pc:sldMkLst>
      </pc:sldChg>
      <pc:sldChg chg="delSp mod">
        <pc:chgData name="Julien Le Kernec" userId="e8115e76-a56b-4cd5-847d-4586c41a1909" providerId="ADAL" clId="{5DCF087F-6C29-4C79-B7E2-F0138E21AC4C}" dt="2026-02-25T15:04:03.361" v="9" actId="478"/>
        <pc:sldMkLst>
          <pc:docMk/>
          <pc:sldMk cId="3877039115" sldId="278"/>
        </pc:sldMkLst>
      </pc:sldChg>
      <pc:sldChg chg="delSp modSp mod">
        <pc:chgData name="Julien Le Kernec" userId="e8115e76-a56b-4cd5-847d-4586c41a1909" providerId="ADAL" clId="{5DCF087F-6C29-4C79-B7E2-F0138E21AC4C}" dt="2026-03-03T14:40:52.492" v="57" actId="207"/>
        <pc:sldMkLst>
          <pc:docMk/>
          <pc:sldMk cId="2725607034" sldId="279"/>
        </pc:sldMkLst>
        <pc:spChg chg="mod">
          <ac:chgData name="Julien Le Kernec" userId="e8115e76-a56b-4cd5-847d-4586c41a1909" providerId="ADAL" clId="{5DCF087F-6C29-4C79-B7E2-F0138E21AC4C}" dt="2026-03-03T14:40:52.492" v="57" actId="207"/>
          <ac:spMkLst>
            <pc:docMk/>
            <pc:sldMk cId="2725607034" sldId="279"/>
            <ac:spMk id="3" creationId="{7540FD71-DC98-4588-9BC4-2C6478D43C75}"/>
          </ac:spMkLst>
        </pc:spChg>
      </pc:sldChg>
      <pc:sldChg chg="delSp mod">
        <pc:chgData name="Julien Le Kernec" userId="e8115e76-a56b-4cd5-847d-4586c41a1909" providerId="ADAL" clId="{5DCF087F-6C29-4C79-B7E2-F0138E21AC4C}" dt="2026-02-25T15:04:14.727" v="12" actId="478"/>
        <pc:sldMkLst>
          <pc:docMk/>
          <pc:sldMk cId="3858592145" sldId="280"/>
        </pc:sldMkLst>
      </pc:sldChg>
      <pc:sldChg chg="delSp del mod">
        <pc:chgData name="Julien Le Kernec" userId="e8115e76-a56b-4cd5-847d-4586c41a1909" providerId="ADAL" clId="{5DCF087F-6C29-4C79-B7E2-F0138E21AC4C}" dt="2026-03-03T14:46:36.272" v="87" actId="47"/>
        <pc:sldMkLst>
          <pc:docMk/>
          <pc:sldMk cId="3266822451" sldId="281"/>
        </pc:sldMkLst>
      </pc:sldChg>
      <pc:sldChg chg="addSp delSp modSp mod">
        <pc:chgData name="Julien Le Kernec" userId="e8115e76-a56b-4cd5-847d-4586c41a1909" providerId="ADAL" clId="{5DCF087F-6C29-4C79-B7E2-F0138E21AC4C}" dt="2026-03-03T14:43:59.231" v="69" actId="27636"/>
        <pc:sldMkLst>
          <pc:docMk/>
          <pc:sldMk cId="720757868" sldId="282"/>
        </pc:sldMkLst>
        <pc:spChg chg="add del mod">
          <ac:chgData name="Julien Le Kernec" userId="e8115e76-a56b-4cd5-847d-4586c41a1909" providerId="ADAL" clId="{5DCF087F-6C29-4C79-B7E2-F0138E21AC4C}" dt="2026-03-03T14:42:54.838" v="60" actId="478"/>
          <ac:spMkLst>
            <pc:docMk/>
            <pc:sldMk cId="720757868" sldId="282"/>
            <ac:spMk id="3" creationId="{346406B2-2349-25FA-E200-A628BA444E75}"/>
          </ac:spMkLst>
        </pc:spChg>
        <pc:spChg chg="add mod">
          <ac:chgData name="Julien Le Kernec" userId="e8115e76-a56b-4cd5-847d-4586c41a1909" providerId="ADAL" clId="{5DCF087F-6C29-4C79-B7E2-F0138E21AC4C}" dt="2026-03-03T14:42:59.025" v="62"/>
          <ac:spMkLst>
            <pc:docMk/>
            <pc:sldMk cId="720757868" sldId="282"/>
            <ac:spMk id="5" creationId="{AA36D14A-E6C7-A51A-FB72-CA8A17E8304E}"/>
          </ac:spMkLst>
        </pc:spChg>
        <pc:spChg chg="add mod">
          <ac:chgData name="Julien Le Kernec" userId="e8115e76-a56b-4cd5-847d-4586c41a1909" providerId="ADAL" clId="{5DCF087F-6C29-4C79-B7E2-F0138E21AC4C}" dt="2026-03-03T14:43:59.231" v="69" actId="27636"/>
          <ac:spMkLst>
            <pc:docMk/>
            <pc:sldMk cId="720757868" sldId="282"/>
            <ac:spMk id="7" creationId="{8B576C64-7B29-7050-ED9D-38E931885BFB}"/>
          </ac:spMkLst>
        </pc:spChg>
        <pc:picChg chg="mod">
          <ac:chgData name="Julien Le Kernec" userId="e8115e76-a56b-4cd5-847d-4586c41a1909" providerId="ADAL" clId="{5DCF087F-6C29-4C79-B7E2-F0138E21AC4C}" dt="2026-03-03T14:43:51.891" v="66" actId="1076"/>
          <ac:picMkLst>
            <pc:docMk/>
            <pc:sldMk cId="720757868" sldId="282"/>
            <ac:picMk id="6" creationId="{3EBE0C97-AECB-4FE4-9D39-D371C106A1FF}"/>
          </ac:picMkLst>
        </pc:picChg>
      </pc:sldChg>
      <pc:sldChg chg="delSp del mod">
        <pc:chgData name="Julien Le Kernec" userId="e8115e76-a56b-4cd5-847d-4586c41a1909" providerId="ADAL" clId="{5DCF087F-6C29-4C79-B7E2-F0138E21AC4C}" dt="2026-03-03T14:46:37.872" v="88" actId="47"/>
        <pc:sldMkLst>
          <pc:docMk/>
          <pc:sldMk cId="1183905379" sldId="283"/>
        </pc:sldMkLst>
      </pc:sldChg>
      <pc:sldChg chg="delSp del mod">
        <pc:chgData name="Julien Le Kernec" userId="e8115e76-a56b-4cd5-847d-4586c41a1909" providerId="ADAL" clId="{5DCF087F-6C29-4C79-B7E2-F0138E21AC4C}" dt="2026-03-03T14:46:38.792" v="89" actId="47"/>
        <pc:sldMkLst>
          <pc:docMk/>
          <pc:sldMk cId="988889690" sldId="284"/>
        </pc:sldMkLst>
      </pc:sldChg>
      <pc:sldChg chg="delSp del mod">
        <pc:chgData name="Julien Le Kernec" userId="e8115e76-a56b-4cd5-847d-4586c41a1909" providerId="ADAL" clId="{5DCF087F-6C29-4C79-B7E2-F0138E21AC4C}" dt="2026-03-03T14:46:39.691" v="90" actId="47"/>
        <pc:sldMkLst>
          <pc:docMk/>
          <pc:sldMk cId="2738104534" sldId="285"/>
        </pc:sldMkLst>
      </pc:sldChg>
      <pc:sldChg chg="delSp del mod">
        <pc:chgData name="Julien Le Kernec" userId="e8115e76-a56b-4cd5-847d-4586c41a1909" providerId="ADAL" clId="{5DCF087F-6C29-4C79-B7E2-F0138E21AC4C}" dt="2026-03-03T14:46:40.665" v="91" actId="47"/>
        <pc:sldMkLst>
          <pc:docMk/>
          <pc:sldMk cId="2873095338" sldId="286"/>
        </pc:sldMkLst>
      </pc:sldChg>
      <pc:sldChg chg="delSp del mod">
        <pc:chgData name="Julien Le Kernec" userId="e8115e76-a56b-4cd5-847d-4586c41a1909" providerId="ADAL" clId="{5DCF087F-6C29-4C79-B7E2-F0138E21AC4C}" dt="2026-03-03T14:46:41.759" v="92" actId="47"/>
        <pc:sldMkLst>
          <pc:docMk/>
          <pc:sldMk cId="1433252295" sldId="287"/>
        </pc:sldMkLst>
      </pc:sldChg>
      <pc:sldChg chg="delSp del mod">
        <pc:chgData name="Julien Le Kernec" userId="e8115e76-a56b-4cd5-847d-4586c41a1909" providerId="ADAL" clId="{5DCF087F-6C29-4C79-B7E2-F0138E21AC4C}" dt="2026-03-03T14:46:45.142" v="93" actId="47"/>
        <pc:sldMkLst>
          <pc:docMk/>
          <pc:sldMk cId="2469447008" sldId="288"/>
        </pc:sldMkLst>
      </pc:sldChg>
      <pc:sldChg chg="addSp delSp modSp mod addAnim delAnim">
        <pc:chgData name="Julien Le Kernec" userId="e8115e76-a56b-4cd5-847d-4586c41a1909" providerId="ADAL" clId="{5DCF087F-6C29-4C79-B7E2-F0138E21AC4C}" dt="2026-03-03T14:38:12.177" v="46" actId="20577"/>
        <pc:sldMkLst>
          <pc:docMk/>
          <pc:sldMk cId="948187051" sldId="289"/>
        </pc:sldMkLst>
        <pc:spChg chg="add del mod ord">
          <ac:chgData name="Julien Le Kernec" userId="e8115e76-a56b-4cd5-847d-4586c41a1909" providerId="ADAL" clId="{5DCF087F-6C29-4C79-B7E2-F0138E21AC4C}" dt="2026-03-03T14:38:12.177" v="46" actId="20577"/>
          <ac:spMkLst>
            <pc:docMk/>
            <pc:sldMk cId="948187051" sldId="289"/>
            <ac:spMk id="12" creationId="{9A437F26-A733-B005-B86E-69594CA4AEC4}"/>
          </ac:spMkLst>
        </pc:spChg>
      </pc:sldChg>
      <pc:sldChg chg="new del">
        <pc:chgData name="Julien Le Kernec" userId="e8115e76-a56b-4cd5-847d-4586c41a1909" providerId="ADAL" clId="{5DCF087F-6C29-4C79-B7E2-F0138E21AC4C}" dt="2026-03-03T14:44:18.229" v="72" actId="47"/>
        <pc:sldMkLst>
          <pc:docMk/>
          <pc:sldMk cId="3669667655" sldId="290"/>
        </pc:sldMkLst>
      </pc:sldChg>
      <pc:sldChg chg="add">
        <pc:chgData name="Julien Le Kernec" userId="e8115e76-a56b-4cd5-847d-4586c41a1909" providerId="ADAL" clId="{5DCF087F-6C29-4C79-B7E2-F0138E21AC4C}" dt="2026-03-03T14:44:14.734" v="71"/>
        <pc:sldMkLst>
          <pc:docMk/>
          <pc:sldMk cId="3126152015" sldId="291"/>
        </pc:sldMkLst>
      </pc:sldChg>
      <pc:sldChg chg="modSp add mod">
        <pc:chgData name="Julien Le Kernec" userId="e8115e76-a56b-4cd5-847d-4586c41a1909" providerId="ADAL" clId="{5DCF087F-6C29-4C79-B7E2-F0138E21AC4C}" dt="2026-03-03T14:44:55.946" v="80" actId="1076"/>
        <pc:sldMkLst>
          <pc:docMk/>
          <pc:sldMk cId="1298186603" sldId="292"/>
        </pc:sldMkLst>
        <pc:spChg chg="mod">
          <ac:chgData name="Julien Le Kernec" userId="e8115e76-a56b-4cd5-847d-4586c41a1909" providerId="ADAL" clId="{5DCF087F-6C29-4C79-B7E2-F0138E21AC4C}" dt="2026-03-03T14:44:52.378" v="79" actId="27636"/>
          <ac:spMkLst>
            <pc:docMk/>
            <pc:sldMk cId="1298186603" sldId="292"/>
            <ac:spMk id="3" creationId="{00000000-0000-0000-0000-000000000000}"/>
          </ac:spMkLst>
        </pc:spChg>
        <pc:picChg chg="mod">
          <ac:chgData name="Julien Le Kernec" userId="e8115e76-a56b-4cd5-847d-4586c41a1909" providerId="ADAL" clId="{5DCF087F-6C29-4C79-B7E2-F0138E21AC4C}" dt="2026-03-03T14:44:55.946" v="80" actId="1076"/>
          <ac:picMkLst>
            <pc:docMk/>
            <pc:sldMk cId="1298186603" sldId="292"/>
            <ac:picMk id="7" creationId="{00000000-0000-0000-0000-000000000000}"/>
          </ac:picMkLst>
        </pc:picChg>
      </pc:sldChg>
      <pc:sldChg chg="add">
        <pc:chgData name="Julien Le Kernec" userId="e8115e76-a56b-4cd5-847d-4586c41a1909" providerId="ADAL" clId="{5DCF087F-6C29-4C79-B7E2-F0138E21AC4C}" dt="2026-03-03T14:46:28.931" v="82"/>
        <pc:sldMkLst>
          <pc:docMk/>
          <pc:sldMk cId="2900155739" sldId="307"/>
        </pc:sldMkLst>
      </pc:sldChg>
      <pc:sldChg chg="add">
        <pc:chgData name="Julien Le Kernec" userId="e8115e76-a56b-4cd5-847d-4586c41a1909" providerId="ADAL" clId="{5DCF087F-6C29-4C79-B7E2-F0138E21AC4C}" dt="2026-03-03T14:46:28.931" v="82"/>
        <pc:sldMkLst>
          <pc:docMk/>
          <pc:sldMk cId="2282858638" sldId="308"/>
        </pc:sldMkLst>
      </pc:sldChg>
      <pc:sldChg chg="modSp add mod">
        <pc:chgData name="Julien Le Kernec" userId="e8115e76-a56b-4cd5-847d-4586c41a1909" providerId="ADAL" clId="{5DCF087F-6C29-4C79-B7E2-F0138E21AC4C}" dt="2026-03-03T14:46:29.160" v="84" actId="27636"/>
        <pc:sldMkLst>
          <pc:docMk/>
          <pc:sldMk cId="1840294075" sldId="309"/>
        </pc:sldMkLst>
        <pc:spChg chg="mod">
          <ac:chgData name="Julien Le Kernec" userId="e8115e76-a56b-4cd5-847d-4586c41a1909" providerId="ADAL" clId="{5DCF087F-6C29-4C79-B7E2-F0138E21AC4C}" dt="2026-03-03T14:46:29.160" v="84" actId="27636"/>
          <ac:spMkLst>
            <pc:docMk/>
            <pc:sldMk cId="1840294075" sldId="309"/>
            <ac:spMk id="2" creationId="{00000000-0000-0000-0000-000000000000}"/>
          </ac:spMkLst>
        </pc:spChg>
      </pc:sldChg>
      <pc:sldChg chg="modSp add mod">
        <pc:chgData name="Julien Le Kernec" userId="e8115e76-a56b-4cd5-847d-4586c41a1909" providerId="ADAL" clId="{5DCF087F-6C29-4C79-B7E2-F0138E21AC4C}" dt="2026-03-03T14:46:29.165" v="85" actId="27636"/>
        <pc:sldMkLst>
          <pc:docMk/>
          <pc:sldMk cId="3904648246" sldId="310"/>
        </pc:sldMkLst>
        <pc:spChg chg="mod">
          <ac:chgData name="Julien Le Kernec" userId="e8115e76-a56b-4cd5-847d-4586c41a1909" providerId="ADAL" clId="{5DCF087F-6C29-4C79-B7E2-F0138E21AC4C}" dt="2026-03-03T14:46:29.165" v="85" actId="27636"/>
          <ac:spMkLst>
            <pc:docMk/>
            <pc:sldMk cId="3904648246" sldId="310"/>
            <ac:spMk id="2" creationId="{00000000-0000-0000-0000-000000000000}"/>
          </ac:spMkLst>
        </pc:spChg>
      </pc:sldChg>
      <pc:sldChg chg="modSp add mod">
        <pc:chgData name="Julien Le Kernec" userId="e8115e76-a56b-4cd5-847d-4586c41a1909" providerId="ADAL" clId="{5DCF087F-6C29-4C79-B7E2-F0138E21AC4C}" dt="2026-03-03T14:46:29.147" v="83" actId="27636"/>
        <pc:sldMkLst>
          <pc:docMk/>
          <pc:sldMk cId="2320501599" sldId="311"/>
        </pc:sldMkLst>
        <pc:spChg chg="mod">
          <ac:chgData name="Julien Le Kernec" userId="e8115e76-a56b-4cd5-847d-4586c41a1909" providerId="ADAL" clId="{5DCF087F-6C29-4C79-B7E2-F0138E21AC4C}" dt="2026-03-03T14:46:29.147" v="83" actId="27636"/>
          <ac:spMkLst>
            <pc:docMk/>
            <pc:sldMk cId="2320501599" sldId="311"/>
            <ac:spMk id="2" creationId="{00000000-0000-0000-0000-000000000000}"/>
          </ac:spMkLst>
        </pc:spChg>
      </pc:sldChg>
      <pc:sldChg chg="modSp add mod">
        <pc:chgData name="Julien Le Kernec" userId="e8115e76-a56b-4cd5-847d-4586c41a1909" providerId="ADAL" clId="{5DCF087F-6C29-4C79-B7E2-F0138E21AC4C}" dt="2026-03-03T14:46:29.176" v="86" actId="27636"/>
        <pc:sldMkLst>
          <pc:docMk/>
          <pc:sldMk cId="1058660938" sldId="312"/>
        </pc:sldMkLst>
        <pc:spChg chg="mod">
          <ac:chgData name="Julien Le Kernec" userId="e8115e76-a56b-4cd5-847d-4586c41a1909" providerId="ADAL" clId="{5DCF087F-6C29-4C79-B7E2-F0138E21AC4C}" dt="2026-03-03T14:46:29.176" v="86" actId="27636"/>
          <ac:spMkLst>
            <pc:docMk/>
            <pc:sldMk cId="1058660938" sldId="312"/>
            <ac:spMk id="2" creationId="{00000000-0000-0000-0000-000000000000}"/>
          </ac:spMkLst>
        </pc:spChg>
      </pc:sldChg>
      <pc:sldChg chg="add">
        <pc:chgData name="Julien Le Kernec" userId="e8115e76-a56b-4cd5-847d-4586c41a1909" providerId="ADAL" clId="{5DCF087F-6C29-4C79-B7E2-F0138E21AC4C}" dt="2026-03-03T14:46:28.931" v="82"/>
        <pc:sldMkLst>
          <pc:docMk/>
          <pc:sldMk cId="2109701416" sldId="31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B422D-04A8-4DEF-B58F-D1432DA8EA8F}" type="datetimeFigureOut">
              <a:rPr lang="en-GB" smtClean="0"/>
              <a:t>25/02/2026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50DAEE-18A8-4A15-AB25-BED7C018F0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231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62963A-AB81-4563-8F0F-F7A4023BBFCE}" type="datetimeFigureOut">
              <a:rPr lang="en-GB" smtClean="0"/>
              <a:t>25/02/2026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213-1269-4BF8-82E0-92F48FB23B67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3424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7055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9719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the output is controllable, then the system is called a control system. Manual vs automatic control. Man made or in nature. Circulation, respiration, thinking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9180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With control systems we can move large equipment with precision that would otherwise be impossible. </a:t>
            </a:r>
          </a:p>
          <a:p>
            <a:pPr algn="just"/>
            <a:b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</a:br>
            <a:endParaRPr lang="en-GB" b="0" i="0" dirty="0">
              <a:solidFill>
                <a:srgbClr val="3E3F3C"/>
              </a:solidFill>
              <a:effectLst/>
              <a:latin typeface="Lora" panose="020F0502020204030204" pitchFamily="34" charset="0"/>
            </a:endParaRPr>
          </a:p>
          <a:p>
            <a:pPr algn="just"/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We can point huge antennas toward the farthest reaches of the universe to pick up faint radio signals; controlling these antennas by hand would be impossible. </a:t>
            </a:r>
          </a:p>
          <a:p>
            <a:pPr algn="just"/>
            <a:b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</a:br>
            <a:endParaRPr lang="en-GB" b="0" i="0" dirty="0">
              <a:solidFill>
                <a:srgbClr val="3E3F3C"/>
              </a:solidFill>
              <a:effectLst/>
              <a:latin typeface="Lora" panose="020F0502020204030204" pitchFamily="34" charset="0"/>
            </a:endParaRPr>
          </a:p>
          <a:p>
            <a:pPr algn="just"/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Because of control systems, elevators carry us quickly to our destination, automatically stopping at the right floor. </a:t>
            </a:r>
          </a:p>
          <a:p>
            <a:pPr algn="just"/>
            <a:endParaRPr lang="en-GB" b="0" i="0" dirty="0">
              <a:solidFill>
                <a:srgbClr val="3E3F3C"/>
              </a:solidFill>
              <a:effectLst/>
              <a:latin typeface="Lora" panose="020F0502020204030204" pitchFamily="34" charset="0"/>
            </a:endParaRPr>
          </a:p>
          <a:p>
            <a:pPr algn="just"/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We alone could not provide the power required for the load and the speed; motors provide the power, and control systems regulate the position and speed. </a:t>
            </a:r>
          </a:p>
          <a:p>
            <a:pPr algn="just"/>
            <a:b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</a:br>
            <a:endParaRPr lang="en-GB" b="0" i="0" dirty="0">
              <a:solidFill>
                <a:srgbClr val="3E3F3C"/>
              </a:solidFill>
              <a:effectLst/>
              <a:latin typeface="Lora" panose="020F0502020204030204" pitchFamily="34" charset="0"/>
            </a:endParaRPr>
          </a:p>
          <a:p>
            <a:pPr algn="just"/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We build control systems for four primary reasons: </a:t>
            </a:r>
          </a:p>
          <a:p>
            <a:pPr algn="just">
              <a:buFont typeface="+mj-lt"/>
              <a:buAutoNum type="arabicPeriod"/>
            </a:pPr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Power amplification </a:t>
            </a:r>
          </a:p>
          <a:p>
            <a:pPr algn="just">
              <a:buFont typeface="+mj-lt"/>
              <a:buAutoNum type="arabicPeriod"/>
            </a:pPr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Remote control </a:t>
            </a:r>
          </a:p>
          <a:p>
            <a:pPr algn="just">
              <a:buFont typeface="+mj-lt"/>
              <a:buAutoNum type="arabicPeriod"/>
            </a:pPr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Convenience of input form </a:t>
            </a:r>
          </a:p>
          <a:p>
            <a:pPr algn="just">
              <a:buFont typeface="+mj-lt"/>
              <a:buAutoNum type="arabicPeriod"/>
            </a:pPr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Compensation for disturbances </a:t>
            </a:r>
          </a:p>
          <a:p>
            <a:pPr algn="just"/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For example, a radar antenna, positioned by the low-power rotation of a knob at the input, requires a large amount of power for its output rotation. </a:t>
            </a:r>
          </a:p>
          <a:p>
            <a:pPr algn="just"/>
            <a:b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</a:br>
            <a:endParaRPr lang="en-GB" b="0" i="0" dirty="0">
              <a:solidFill>
                <a:srgbClr val="3E3F3C"/>
              </a:solidFill>
              <a:effectLst/>
              <a:latin typeface="Lora" panose="020F0502020204030204" pitchFamily="34" charset="0"/>
            </a:endParaRPr>
          </a:p>
          <a:p>
            <a:pPr algn="just"/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A control system can produce the needed power amplification, or power gain-Robots designed by control system principles can compensate for human disabilities. </a:t>
            </a:r>
          </a:p>
          <a:p>
            <a:pPr algn="just"/>
            <a:b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</a:br>
            <a:endParaRPr lang="en-GB" b="0" i="0" dirty="0">
              <a:solidFill>
                <a:srgbClr val="3E3F3C"/>
              </a:solidFill>
              <a:effectLst/>
              <a:latin typeface="Lora" panose="020F0502020204030204" pitchFamily="34" charset="0"/>
            </a:endParaRPr>
          </a:p>
          <a:p>
            <a:pPr algn="just"/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Control systems are also useful in remote or dangerous locations. For example, a remote-controlled robot arm can be used to pick up material in a radioactive environment. </a:t>
            </a:r>
          </a:p>
          <a:p>
            <a:pPr algn="just"/>
            <a:b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</a:br>
            <a:endParaRPr lang="en-GB" b="0" i="0" dirty="0">
              <a:solidFill>
                <a:srgbClr val="3E3F3C"/>
              </a:solidFill>
              <a:effectLst/>
              <a:latin typeface="Lora" panose="020F0502020204030204" pitchFamily="34" charset="0"/>
            </a:endParaRPr>
          </a:p>
          <a:p>
            <a:pPr algn="just"/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Control systems can also be used to provide convenience by changing the form of the input. For example, in a temperature control system, the input is a position on a thermostat. The output is heat. </a:t>
            </a:r>
          </a:p>
          <a:p>
            <a:pPr algn="just"/>
            <a:b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</a:br>
            <a:endParaRPr lang="en-GB" b="0" i="0" dirty="0">
              <a:solidFill>
                <a:srgbClr val="3E3F3C"/>
              </a:solidFill>
              <a:effectLst/>
              <a:latin typeface="Lora" panose="020F0502020204030204" pitchFamily="34" charset="0"/>
            </a:endParaRPr>
          </a:p>
          <a:p>
            <a:pPr algn="just"/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Thus, a convenient position input yields a desired thermal output. Another advantage of a control system is the ability to compensate for disturbances. </a:t>
            </a:r>
          </a:p>
          <a:p>
            <a:pPr algn="just"/>
            <a:b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</a:br>
            <a:endParaRPr lang="en-GB" b="0" i="0" dirty="0">
              <a:solidFill>
                <a:srgbClr val="3E3F3C"/>
              </a:solidFill>
              <a:effectLst/>
              <a:latin typeface="Lora" panose="020F0502020204030204" pitchFamily="34" charset="0"/>
            </a:endParaRPr>
          </a:p>
          <a:p>
            <a:pPr algn="just"/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Typically, we control such variables as temperature in thermal systems, position and velocity in mechanical systems, and voltage, current, or frequency in electrical systems. </a:t>
            </a:r>
          </a:p>
          <a:p>
            <a:pPr algn="just"/>
            <a:b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</a:br>
            <a:endParaRPr lang="en-GB" b="0" i="0" dirty="0">
              <a:solidFill>
                <a:srgbClr val="3E3F3C"/>
              </a:solidFill>
              <a:effectLst/>
              <a:latin typeface="Lora" panose="020F0502020204030204" pitchFamily="34" charset="0"/>
            </a:endParaRPr>
          </a:p>
          <a:p>
            <a:pPr algn="just"/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The system must be able to yield the correct output even with a disturbance. For example, consider an antenna system this point in a commanded direction. </a:t>
            </a:r>
          </a:p>
          <a:p>
            <a:pPr algn="just"/>
            <a:b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</a:br>
            <a:endParaRPr lang="en-GB" b="0" i="0" dirty="0">
              <a:solidFill>
                <a:srgbClr val="3E3F3C"/>
              </a:solidFill>
              <a:effectLst/>
              <a:latin typeface="Lora" panose="020F0502020204030204" pitchFamily="34" charset="0"/>
            </a:endParaRPr>
          </a:p>
          <a:p>
            <a:pPr algn="just"/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If wind forces the antenna from its commanded position, or if noise enters internally, the system must be able to detect the disturbance and correct the antenna's position. </a:t>
            </a:r>
          </a:p>
          <a:p>
            <a:pPr algn="just"/>
            <a:endParaRPr lang="en-GB" b="0" i="0" dirty="0">
              <a:solidFill>
                <a:srgbClr val="3E3F3C"/>
              </a:solidFill>
              <a:effectLst/>
              <a:latin typeface="Lora" panose="020F0502020204030204" pitchFamily="34" charset="0"/>
            </a:endParaRPr>
          </a:p>
          <a:p>
            <a:pPr algn="just"/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Obviously, the system's input will not change to make the correction. </a:t>
            </a:r>
          </a:p>
          <a:p>
            <a:pPr algn="just"/>
            <a:endParaRPr lang="en-GB" b="0" i="0" dirty="0">
              <a:solidFill>
                <a:srgbClr val="3E3F3C"/>
              </a:solidFill>
              <a:effectLst/>
              <a:latin typeface="Lora" panose="020F0502020204030204" pitchFamily="34" charset="0"/>
            </a:endParaRPr>
          </a:p>
          <a:p>
            <a:pPr algn="just"/>
            <a:r>
              <a:rPr lang="en-GB" b="0" i="0" dirty="0">
                <a:solidFill>
                  <a:srgbClr val="3E3F3C"/>
                </a:solidFill>
                <a:effectLst/>
                <a:latin typeface="Lora" panose="020F0502020204030204" pitchFamily="34" charset="0"/>
              </a:rPr>
              <a:t>Consequently, the system itself must measure the amount that the disturbance has repositioned the antenna and then return the antenna to the position commanded by the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9137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Toaster , washing machine, vending machine; what about there is disturbance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7570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Sensor required for feedback, improve accuracy, but increase costs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0517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Think about the TDPS project, how to control the rover. Develop a block diagram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8303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3EC04-99F2-C073-53D6-404770437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ECDBE-C797-E401-0881-B33A78A54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2C11F-1DF5-17FC-BC59-7663B3445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Think about the TDPS project, how to control the rover. Develop a block diagram ; required in exam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C3928-2837-F544-8964-CBA323D78B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7779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Signal: Input R(s); output C(s)</a:t>
            </a:r>
          </a:p>
          <a:p>
            <a:r>
              <a:rPr lang="en-US" dirty="0"/>
              <a:t>System: I/P R(s)-&gt; G(s)-&gt;output C(s)</a:t>
            </a:r>
          </a:p>
          <a:p>
            <a:r>
              <a:rPr lang="en-US" dirty="0"/>
              <a:t>Summing junction: +R1(s), +R2(s), -R3(s) …  </a:t>
            </a:r>
          </a:p>
          <a:p>
            <a:r>
              <a:rPr lang="en-US"/>
              <a:t>Pick off points: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6456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 summing block is moved to after the functional block. Both contributing signals must then be multiplied</a:t>
            </a:r>
            <a:r>
              <a:rPr lang="en-GB" baseline="0" dirty="0"/>
              <a:t> by the transfer function.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F25ED8-F08D-4B2A-99D6-976EFDC1CDEA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509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 summing block is moved to before the functional block. The summed </a:t>
            </a:r>
            <a:r>
              <a:rPr lang="en-GB" baseline="0" dirty="0"/>
              <a:t>signal must then be multiplied by the transfer function, while the feedback must be multiplied by its inverse.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F25ED8-F08D-4B2A-99D6-976EFDC1CDEA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5534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543" y="6490609"/>
            <a:ext cx="8109857" cy="365125"/>
          </a:xfrm>
        </p:spPr>
        <p:txBody>
          <a:bodyPr/>
          <a:lstStyle/>
          <a:p>
            <a:r>
              <a:rPr lang="fr-FR"/>
              <a:t>Lecture 2                       Prof. Chong Li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1538" y="6479728"/>
            <a:ext cx="2743200" cy="365125"/>
          </a:xfrm>
        </p:spPr>
        <p:txBody>
          <a:bodyPr/>
          <a:lstStyle>
            <a:lvl1pPr>
              <a:defRPr sz="1500"/>
            </a:lvl1pPr>
          </a:lstStyle>
          <a:p>
            <a:fld id="{CBE01205-874B-41E7-8AA1-27418BD567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Date Placeholder 3"/>
          <p:cNvSpPr txBox="1">
            <a:spLocks/>
          </p:cNvSpPr>
          <p:nvPr userDrawn="1"/>
        </p:nvSpPr>
        <p:spPr>
          <a:xfrm>
            <a:off x="841828" y="64760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4042228" y="647609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057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64" y="138790"/>
            <a:ext cx="9881103" cy="974788"/>
          </a:xfrm>
        </p:spPr>
        <p:txBody>
          <a:bodyPr>
            <a:normAutofit/>
          </a:bodyPr>
          <a:lstStyle>
            <a:lvl1pPr>
              <a:defRPr sz="35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023" y="1336737"/>
            <a:ext cx="11021839" cy="49463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2                       Prof. Chong Li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9920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2                       Prof. Chong Li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0178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2                       Prof. Chong Li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384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2                       Prof. Chong Li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1163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2                       Prof. Chong Li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8774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2                       Prof. Chong Li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5663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2                       Prof. Chong Li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791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2                       Prof. Chong Li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890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2                       Prof. Chong Li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9439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2                       Prof. Chong Li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213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614905"/>
            <a:ext cx="12192000" cy="23585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6149" y="65450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BE01205-874B-41E7-8AA1-27418BD567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571" y="6552296"/>
            <a:ext cx="93109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algn="l"/>
            <a:r>
              <a:rPr lang="fr-FR"/>
              <a:t>Lecture 2                       Prof. Chong Li</a:t>
            </a:r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7" y="25403"/>
            <a:ext cx="2003878" cy="6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505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85371" y="1299038"/>
            <a:ext cx="5251759" cy="9925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GB" sz="2400">
                <a:solidFill>
                  <a:srgbClr val="003560"/>
                </a:solidFill>
                <a:latin typeface="Arial" charset="0"/>
                <a:ea typeface="ＭＳ Ｐゴシック" charset="0"/>
              </a:rPr>
              <a:t>UESTCHN3007 </a:t>
            </a:r>
            <a:r>
              <a:rPr lang="en-GB" sz="2400" dirty="0">
                <a:solidFill>
                  <a:srgbClr val="003560"/>
                </a:solidFill>
                <a:latin typeface="Arial" charset="0"/>
                <a:ea typeface="ＭＳ Ｐゴシック" charset="0"/>
              </a:rPr>
              <a:t>Dynamics &amp; Control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3560"/>
                </a:solidFill>
                <a:latin typeface="Arial" charset="0"/>
                <a:ea typeface="ＭＳ Ｐゴシック" charset="0"/>
              </a:rPr>
              <a:t>Lecture 2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GB" sz="1050" b="1" dirty="0">
              <a:solidFill>
                <a:srgbClr val="00356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" name="Title 5"/>
          <p:cNvSpPr txBox="1">
            <a:spLocks noGrp="1"/>
          </p:cNvSpPr>
          <p:nvPr>
            <p:ph type="title" idx="4294967295"/>
          </p:nvPr>
        </p:nvSpPr>
        <p:spPr>
          <a:xfrm>
            <a:off x="981909" y="3026230"/>
            <a:ext cx="8905195" cy="7848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500" b="0" i="0" u="none" strike="noStrike" kern="1200" cap="none" spc="0" normalizeH="0" baseline="0" noProof="0">
                <a:ln>
                  <a:noFill/>
                </a:ln>
                <a:solidFill>
                  <a:srgbClr val="00356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Basics of Control System Analysis</a:t>
            </a:r>
            <a:endParaRPr kumimoji="0" lang="en-GB" sz="4500" b="0" i="0" u="none" strike="noStrike" kern="1200" cap="none" spc="0" normalizeH="0" baseline="0" noProof="0" dirty="0">
              <a:ln>
                <a:noFill/>
              </a:ln>
              <a:solidFill>
                <a:srgbClr val="00356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F1626B-0CAF-B8CF-1607-66E8FA4F2CE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761207" y="5525303"/>
            <a:ext cx="6511206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3560"/>
                </a:solidFill>
                <a:latin typeface="Arial" charset="0"/>
                <a:ea typeface="ＭＳ Ｐゴシック" charset="0"/>
              </a:rPr>
              <a:t>Dr Julien Le Kernec </a:t>
            </a:r>
            <a:br>
              <a:rPr lang="en-GB" sz="2400" dirty="0">
                <a:solidFill>
                  <a:srgbClr val="003560"/>
                </a:solidFill>
                <a:latin typeface="Arial" charset="0"/>
                <a:ea typeface="ＭＳ Ｐゴシック" charset="0"/>
              </a:rPr>
            </a:br>
            <a:r>
              <a:rPr lang="en-GB" dirty="0">
                <a:solidFill>
                  <a:srgbClr val="003560"/>
                </a:solidFill>
                <a:latin typeface="Arial" charset="0"/>
                <a:ea typeface="ＭＳ Ｐゴシック" charset="0"/>
              </a:rPr>
              <a:t>email: Julien.lekernec@glasgow.ac.uk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GB" sz="500" dirty="0">
              <a:solidFill>
                <a:srgbClr val="003560"/>
              </a:solidFill>
              <a:latin typeface="Arial" charset="0"/>
              <a:ea typeface="ＭＳ Ｐゴシック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rgbClr val="003560"/>
                </a:solidFill>
                <a:latin typeface="Arial" charset="0"/>
                <a:ea typeface="ＭＳ Ｐゴシック" charset="0"/>
              </a:rPr>
              <a:t>James Watt School of Engineering, University of Glasgow, UK</a:t>
            </a:r>
          </a:p>
        </p:txBody>
      </p:sp>
    </p:spTree>
    <p:extLst>
      <p:ext uri="{BB962C8B-B14F-4D97-AF65-F5344CB8AC3E}">
        <p14:creationId xmlns:p14="http://schemas.microsoft.com/office/powerpoint/2010/main" val="3756398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Introduction to Control Systems</a:t>
            </a:r>
          </a:p>
          <a:p>
            <a:r>
              <a:rPr lang="en-GB" dirty="0"/>
              <a:t>Block Diagram Representation  </a:t>
            </a:r>
          </a:p>
        </p:txBody>
      </p:sp>
    </p:spTree>
    <p:extLst>
      <p:ext uri="{BB962C8B-B14F-4D97-AF65-F5344CB8AC3E}">
        <p14:creationId xmlns:p14="http://schemas.microsoft.com/office/powerpoint/2010/main" val="1542848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41" y="122442"/>
            <a:ext cx="9332875" cy="1181988"/>
          </a:xfrm>
        </p:spPr>
        <p:txBody>
          <a:bodyPr/>
          <a:lstStyle/>
          <a:p>
            <a:r>
              <a:rPr lang="en-GB" dirty="0"/>
              <a:t>Introduction to Control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186" y="1422595"/>
            <a:ext cx="10515600" cy="1464823"/>
          </a:xfrm>
        </p:spPr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 descr="system&#10;">
            <a:extLst>
              <a:ext uri="{FF2B5EF4-FFF2-40B4-BE49-F238E27FC236}">
                <a16:creationId xmlns:a16="http://schemas.microsoft.com/office/drawing/2014/main" id="{17EBC395-25C5-4CF3-A8B3-4107BB95C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19" y="1459431"/>
            <a:ext cx="6024112" cy="998725"/>
          </a:xfrm>
          <a:prstGeom prst="rect">
            <a:avLst/>
          </a:prstGeom>
        </p:spPr>
      </p:pic>
      <p:sp>
        <p:nvSpPr>
          <p:cNvPr id="15" name="AutoShape 14" descr="Factors affecting human hand grasp type in tomato fruit-picking: A  statistical investigation for ergonomic development of harvesting robot -  ScienceDirect">
            <a:extLst>
              <a:ext uri="{FF2B5EF4-FFF2-40B4-BE49-F238E27FC236}">
                <a16:creationId xmlns:a16="http://schemas.microsoft.com/office/drawing/2014/main" id="{8042BA9D-EE07-4698-B4F6-3AD4C7E9EB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9" name="Picture 18" descr="human systems&#10;">
            <a:extLst>
              <a:ext uri="{FF2B5EF4-FFF2-40B4-BE49-F238E27FC236}">
                <a16:creationId xmlns:a16="http://schemas.microsoft.com/office/drawing/2014/main" id="{F92453B7-244A-400A-88E9-5B87277A1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238" y="3787320"/>
            <a:ext cx="7054524" cy="1222785"/>
          </a:xfrm>
          <a:prstGeom prst="rect">
            <a:avLst/>
          </a:prstGeom>
        </p:spPr>
      </p:pic>
      <p:pic>
        <p:nvPicPr>
          <p:cNvPr id="20" name="Picture 19" descr="robotics">
            <a:extLst>
              <a:ext uri="{FF2B5EF4-FFF2-40B4-BE49-F238E27FC236}">
                <a16:creationId xmlns:a16="http://schemas.microsoft.com/office/drawing/2014/main" id="{8B36600D-9D3C-49C5-9B47-E43B6A6F0F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1566" y="3193713"/>
            <a:ext cx="3888300" cy="258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41" y="122442"/>
            <a:ext cx="9332875" cy="1181988"/>
          </a:xfrm>
        </p:spPr>
        <p:txBody>
          <a:bodyPr/>
          <a:lstStyle/>
          <a:p>
            <a:r>
              <a:rPr lang="en-GB" dirty="0"/>
              <a:t>Advantages of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186" y="1422595"/>
            <a:ext cx="10515600" cy="4351338"/>
          </a:xfrm>
        </p:spPr>
        <p:txBody>
          <a:bodyPr/>
          <a:lstStyle/>
          <a:p>
            <a:r>
              <a:rPr lang="en-GB" dirty="0"/>
              <a:t>Power amplification</a:t>
            </a:r>
          </a:p>
          <a:p>
            <a:r>
              <a:rPr lang="en-GB" dirty="0"/>
              <a:t>Remote control</a:t>
            </a:r>
          </a:p>
          <a:p>
            <a:r>
              <a:rPr lang="en-GB" dirty="0"/>
              <a:t>Convenience of input form</a:t>
            </a:r>
          </a:p>
          <a:p>
            <a:r>
              <a:rPr lang="en-GB" dirty="0"/>
              <a:t>Compensation for disturbances</a:t>
            </a:r>
          </a:p>
        </p:txBody>
      </p:sp>
      <p:pic>
        <p:nvPicPr>
          <p:cNvPr id="6" name="Picture 5" descr="robotics&#10;">
            <a:extLst>
              <a:ext uri="{FF2B5EF4-FFF2-40B4-BE49-F238E27FC236}">
                <a16:creationId xmlns:a16="http://schemas.microsoft.com/office/drawing/2014/main" id="{6A1E7581-939A-B1D8-7066-18094C115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12" y="3865903"/>
            <a:ext cx="3332230" cy="2316457"/>
          </a:xfrm>
          <a:prstGeom prst="rect">
            <a:avLst/>
          </a:prstGeom>
        </p:spPr>
      </p:pic>
      <p:pic>
        <p:nvPicPr>
          <p:cNvPr id="1026" name="Picture 2" descr="Electric Underfloor Heating System And Wifi Touch Screen Thermostat Temperature  Controller">
            <a:extLst>
              <a:ext uri="{FF2B5EF4-FFF2-40B4-BE49-F238E27FC236}">
                <a16:creationId xmlns:a16="http://schemas.microsoft.com/office/drawing/2014/main" id="{A8A4A8E1-85A0-4BDF-72C1-345F2B04C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416" y="3598264"/>
            <a:ext cx="3011487" cy="2851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B4BDE8B-F5A4-5B2E-51FA-43D87C5CB60A}"/>
              </a:ext>
            </a:extLst>
          </p:cNvPr>
          <p:cNvGrpSpPr/>
          <p:nvPr/>
        </p:nvGrpSpPr>
        <p:grpSpPr>
          <a:xfrm>
            <a:off x="6083081" y="1045877"/>
            <a:ext cx="5725360" cy="2383123"/>
            <a:chOff x="6083081" y="1045877"/>
            <a:chExt cx="5725360" cy="2383123"/>
          </a:xfrm>
        </p:grpSpPr>
        <p:pic>
          <p:nvPicPr>
            <p:cNvPr id="1028" name="Picture 4" descr="Measurement and Control of RF Power (Part II) | Analog Devices">
              <a:extLst>
                <a:ext uri="{FF2B5EF4-FFF2-40B4-BE49-F238E27FC236}">
                  <a16:creationId xmlns:a16="http://schemas.microsoft.com/office/drawing/2014/main" id="{59A58A2D-2EF0-4540-3415-48D0F2179F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2990" y="1045877"/>
              <a:ext cx="3985451" cy="23831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Radar - Wikipedia">
              <a:extLst>
                <a:ext uri="{FF2B5EF4-FFF2-40B4-BE49-F238E27FC236}">
                  <a16:creationId xmlns:a16="http://schemas.microsoft.com/office/drawing/2014/main" id="{F2C9BA9A-1797-065B-5EB8-C82BF8BE58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3081" y="1109065"/>
              <a:ext cx="1665122" cy="18131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2" name="Picture 8" descr="Fundamentals of Wind Turbines | Wind ...">
            <a:extLst>
              <a:ext uri="{FF2B5EF4-FFF2-40B4-BE49-F238E27FC236}">
                <a16:creationId xmlns:a16="http://schemas.microsoft.com/office/drawing/2014/main" id="{B6CF3A3C-F7C5-6065-DD61-405170A2E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078" y="3817938"/>
            <a:ext cx="3302000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66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41" y="122442"/>
            <a:ext cx="9332875" cy="1181988"/>
          </a:xfrm>
        </p:spPr>
        <p:txBody>
          <a:bodyPr/>
          <a:lstStyle/>
          <a:p>
            <a:r>
              <a:rPr lang="en-GB" dirty="0"/>
              <a:t>Open-loop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841" y="4028354"/>
            <a:ext cx="8357172" cy="328923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 </a:t>
            </a:r>
          </a:p>
        </p:txBody>
      </p:sp>
      <p:pic>
        <p:nvPicPr>
          <p:cNvPr id="7" name="Picture 6" descr="O/L system&#10;">
            <a:extLst>
              <a:ext uri="{FF2B5EF4-FFF2-40B4-BE49-F238E27FC236}">
                <a16:creationId xmlns:a16="http://schemas.microsoft.com/office/drawing/2014/main" id="{8DDCECEC-76DC-48FA-814A-78A61B01C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290" y="1842267"/>
            <a:ext cx="8627419" cy="1945530"/>
          </a:xfrm>
          <a:prstGeom prst="rect">
            <a:avLst/>
          </a:prstGeom>
        </p:spPr>
      </p:pic>
      <p:pic>
        <p:nvPicPr>
          <p:cNvPr id="2050" name="Picture 2" descr="TOASTER TO 850 - Products from A to Z ...">
            <a:extLst>
              <a:ext uri="{FF2B5EF4-FFF2-40B4-BE49-F238E27FC236}">
                <a16:creationId xmlns:a16="http://schemas.microsoft.com/office/drawing/2014/main" id="{221B01EB-9E55-43E5-CACB-E56015BDE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460" y="4250217"/>
            <a:ext cx="1852819" cy="185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ich washing machine spin speed is ...">
            <a:extLst>
              <a:ext uri="{FF2B5EF4-FFF2-40B4-BE49-F238E27FC236}">
                <a16:creationId xmlns:a16="http://schemas.microsoft.com/office/drawing/2014/main" id="{BEB65255-3093-62B3-EF2A-426180E9C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305" y="4250217"/>
            <a:ext cx="2634326" cy="194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Buy Autorista Hybrid Drinks Vending ...">
            <a:extLst>
              <a:ext uri="{FF2B5EF4-FFF2-40B4-BE49-F238E27FC236}">
                <a16:creationId xmlns:a16="http://schemas.microsoft.com/office/drawing/2014/main" id="{E1F967CB-EAC4-6D72-02C6-D7D718F9A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0276" y="4259162"/>
            <a:ext cx="1957763" cy="1957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661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41" y="122442"/>
            <a:ext cx="9332875" cy="1181988"/>
          </a:xfrm>
        </p:spPr>
        <p:txBody>
          <a:bodyPr/>
          <a:lstStyle/>
          <a:p>
            <a:r>
              <a:rPr lang="en-GB" dirty="0"/>
              <a:t>Closed-loop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186" y="142259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 </a:t>
            </a:r>
          </a:p>
        </p:txBody>
      </p:sp>
      <p:pic>
        <p:nvPicPr>
          <p:cNvPr id="7" name="Picture 6" descr="C/L system&#10;">
            <a:extLst>
              <a:ext uri="{FF2B5EF4-FFF2-40B4-BE49-F238E27FC236}">
                <a16:creationId xmlns:a16="http://schemas.microsoft.com/office/drawing/2014/main" id="{E4F5CD64-103B-4D3E-9B39-3A6526BA4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40" y="1557090"/>
            <a:ext cx="10734174" cy="4082348"/>
          </a:xfrm>
          <a:prstGeom prst="rect">
            <a:avLst/>
          </a:prstGeom>
        </p:spPr>
      </p:pic>
      <p:sp>
        <p:nvSpPr>
          <p:cNvPr id="6" name="Lightning Bolt 5">
            <a:extLst>
              <a:ext uri="{FF2B5EF4-FFF2-40B4-BE49-F238E27FC236}">
                <a16:creationId xmlns:a16="http://schemas.microsoft.com/office/drawing/2014/main" id="{A4B34048-5F5F-C355-2D37-53F50EA28038}"/>
              </a:ext>
            </a:extLst>
          </p:cNvPr>
          <p:cNvSpPr/>
          <p:nvPr/>
        </p:nvSpPr>
        <p:spPr>
          <a:xfrm>
            <a:off x="5924282" y="2485623"/>
            <a:ext cx="476518" cy="695459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E0292392-D4B0-BB03-2A3E-1D86A98C85A6}"/>
              </a:ext>
            </a:extLst>
          </p:cNvPr>
          <p:cNvSpPr/>
          <p:nvPr/>
        </p:nvSpPr>
        <p:spPr>
          <a:xfrm>
            <a:off x="7346640" y="1803042"/>
            <a:ext cx="914400" cy="914400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DEAA2C-B3CA-95A1-0121-DB71F1367AE9}"/>
              </a:ext>
            </a:extLst>
          </p:cNvPr>
          <p:cNvCxnSpPr/>
          <p:nvPr/>
        </p:nvCxnSpPr>
        <p:spPr>
          <a:xfrm>
            <a:off x="9916732" y="1557090"/>
            <a:ext cx="0" cy="127626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F6E861B-025E-EEA8-B687-B4B19EE6F74D}"/>
              </a:ext>
            </a:extLst>
          </p:cNvPr>
          <p:cNvSpPr/>
          <p:nvPr/>
        </p:nvSpPr>
        <p:spPr>
          <a:xfrm>
            <a:off x="9232962" y="2057035"/>
            <a:ext cx="594443" cy="225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61A473-9196-4BFA-A5F1-642F5FD62508}"/>
              </a:ext>
            </a:extLst>
          </p:cNvPr>
          <p:cNvCxnSpPr>
            <a:cxnSpLocks/>
          </p:cNvCxnSpPr>
          <p:nvPr/>
        </p:nvCxnSpPr>
        <p:spPr>
          <a:xfrm flipH="1">
            <a:off x="9901705" y="1981201"/>
            <a:ext cx="14381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6F8B90-3794-9721-32E5-2594DC089750}"/>
              </a:ext>
            </a:extLst>
          </p:cNvPr>
          <p:cNvCxnSpPr>
            <a:cxnSpLocks/>
          </p:cNvCxnSpPr>
          <p:nvPr/>
        </p:nvCxnSpPr>
        <p:spPr>
          <a:xfrm flipH="1">
            <a:off x="9912436" y="2160433"/>
            <a:ext cx="36490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B702849-C645-4888-E683-6F5A49A07476}"/>
              </a:ext>
            </a:extLst>
          </p:cNvPr>
          <p:cNvCxnSpPr>
            <a:cxnSpLocks/>
          </p:cNvCxnSpPr>
          <p:nvPr/>
        </p:nvCxnSpPr>
        <p:spPr>
          <a:xfrm flipH="1">
            <a:off x="9925315" y="2339665"/>
            <a:ext cx="14381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94D1795-3A91-6638-C6F0-4913B92434FE}"/>
              </a:ext>
            </a:extLst>
          </p:cNvPr>
          <p:cNvSpPr txBox="1"/>
          <p:nvPr/>
        </p:nvSpPr>
        <p:spPr>
          <a:xfrm>
            <a:off x="10316437" y="1970333"/>
            <a:ext cx="91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 C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3E4468-3C2E-0027-5776-836107183848}"/>
              </a:ext>
            </a:extLst>
          </p:cNvPr>
          <p:cNvSpPr txBox="1"/>
          <p:nvPr/>
        </p:nvSpPr>
        <p:spPr>
          <a:xfrm>
            <a:off x="10325217" y="1744177"/>
            <a:ext cx="91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101 C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FA0F9F-6261-FD81-0727-22AF2E712B02}"/>
              </a:ext>
            </a:extLst>
          </p:cNvPr>
          <p:cNvSpPr txBox="1"/>
          <p:nvPr/>
        </p:nvSpPr>
        <p:spPr>
          <a:xfrm>
            <a:off x="10316437" y="2174848"/>
            <a:ext cx="91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99 C </a:t>
            </a:r>
          </a:p>
        </p:txBody>
      </p:sp>
    </p:spTree>
    <p:extLst>
      <p:ext uri="{BB962C8B-B14F-4D97-AF65-F5344CB8AC3E}">
        <p14:creationId xmlns:p14="http://schemas.microsoft.com/office/powerpoint/2010/main" val="537874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41" y="122442"/>
            <a:ext cx="9332875" cy="1181988"/>
          </a:xfrm>
        </p:spPr>
        <p:txBody>
          <a:bodyPr>
            <a:normAutofit fontScale="90000"/>
          </a:bodyPr>
          <a:lstStyle/>
          <a:p>
            <a:r>
              <a:rPr lang="en-GB" dirty="0"/>
              <a:t>Example</a:t>
            </a:r>
            <a:br>
              <a:rPr lang="en-GB" dirty="0"/>
            </a:br>
            <a:r>
              <a:rPr lang="en-GB" dirty="0"/>
              <a:t>Control  of the speed  of rotation  of a motor  shaft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B44F18-37B9-42FA-B21F-65072EABB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5363" y="1645444"/>
            <a:ext cx="9810750" cy="3905250"/>
          </a:xfrm>
        </p:spPr>
      </p:pic>
    </p:spTree>
    <p:extLst>
      <p:ext uri="{BB962C8B-B14F-4D97-AF65-F5344CB8AC3E}">
        <p14:creationId xmlns:p14="http://schemas.microsoft.com/office/powerpoint/2010/main" val="1632651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B2B3A-25BF-0F51-ABC5-A9AA1C38D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/L system&#10;">
            <a:extLst>
              <a:ext uri="{FF2B5EF4-FFF2-40B4-BE49-F238E27FC236}">
                <a16:creationId xmlns:a16="http://schemas.microsoft.com/office/drawing/2014/main" id="{39D9B37A-50BC-E74A-BEF9-D506FAE8E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13" y="2240258"/>
            <a:ext cx="10734174" cy="4082348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F49ED93-7B8A-6B8B-840A-4E3C1DDC4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2571" y="227013"/>
            <a:ext cx="4480641" cy="1783556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83E8C9-BF01-4988-2A2E-A325AF38E301}"/>
              </a:ext>
            </a:extLst>
          </p:cNvPr>
          <p:cNvSpPr txBox="1"/>
          <p:nvPr/>
        </p:nvSpPr>
        <p:spPr>
          <a:xfrm>
            <a:off x="7109138" y="3635101"/>
            <a:ext cx="90152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Motor</a:t>
            </a:r>
          </a:p>
          <a:p>
            <a:r>
              <a:rPr lang="en-US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0C7F12-6E16-B928-050E-BB2785077814}"/>
              </a:ext>
            </a:extLst>
          </p:cNvPr>
          <p:cNvSpPr txBox="1"/>
          <p:nvPr/>
        </p:nvSpPr>
        <p:spPr>
          <a:xfrm>
            <a:off x="417812" y="3067680"/>
            <a:ext cx="189507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Potentiometer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437F26-A733-B005-B86E-69594CA4AEC4}"/>
              </a:ext>
            </a:extLst>
          </p:cNvPr>
          <p:cNvSpPr txBox="1"/>
          <p:nvPr/>
        </p:nvSpPr>
        <p:spPr>
          <a:xfrm>
            <a:off x="6163056" y="5205754"/>
            <a:ext cx="1338756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r>
              <a:rPr lang="en-US" sz="1400" dirty="0" err="1"/>
              <a:t>Tachogenerator</a:t>
            </a:r>
            <a:endParaRPr lang="en-US" sz="1400" dirty="0"/>
          </a:p>
          <a:p>
            <a:r>
              <a:rPr lang="en-US" sz="1400" dirty="0"/>
              <a:t> 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4729B3-1C4A-3A01-34E2-17F555FC1DDA}"/>
              </a:ext>
            </a:extLst>
          </p:cNvPr>
          <p:cNvSpPr txBox="1"/>
          <p:nvPr/>
        </p:nvSpPr>
        <p:spPr>
          <a:xfrm>
            <a:off x="10561566" y="4558695"/>
            <a:ext cx="121262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Rotating shaft</a:t>
            </a:r>
          </a:p>
        </p:txBody>
      </p:sp>
    </p:spTree>
    <p:extLst>
      <p:ext uri="{BB962C8B-B14F-4D97-AF65-F5344CB8AC3E}">
        <p14:creationId xmlns:p14="http://schemas.microsoft.com/office/powerpoint/2010/main" val="94818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2D55F-9D48-47A5-9693-6DE9040C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Design Process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399A3E0-7C7A-4D47-A0CA-8DA78910A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675" y="1645067"/>
            <a:ext cx="11020425" cy="2575476"/>
          </a:xfrm>
        </p:spPr>
      </p:pic>
    </p:spTree>
    <p:extLst>
      <p:ext uri="{BB962C8B-B14F-4D97-AF65-F5344CB8AC3E}">
        <p14:creationId xmlns:p14="http://schemas.microsoft.com/office/powerpoint/2010/main" val="3877039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2DC1F-C171-482C-A3DE-C810B29F7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Introduction to Block Diagrams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0FD71-DC98-4588-9BC4-2C6478D43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for </a:t>
            </a:r>
            <a:r>
              <a:rPr lang="en-GB" dirty="0">
                <a:solidFill>
                  <a:srgbClr val="FF0000"/>
                </a:solidFill>
              </a:rPr>
              <a:t>time/frequency</a:t>
            </a:r>
            <a:r>
              <a:rPr lang="en-GB" dirty="0"/>
              <a:t>-domain </a:t>
            </a:r>
            <a:r>
              <a:rPr lang="en-GB" dirty="0">
                <a:solidFill>
                  <a:srgbClr val="FF0000"/>
                </a:solidFill>
              </a:rPr>
              <a:t>analysis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design</a:t>
            </a:r>
          </a:p>
          <a:p>
            <a:r>
              <a:rPr lang="en-GB" dirty="0"/>
              <a:t>Graphical representation of the interconnections between the </a:t>
            </a:r>
            <a:r>
              <a:rPr lang="en-GB" dirty="0">
                <a:solidFill>
                  <a:srgbClr val="FF0000"/>
                </a:solidFill>
              </a:rPr>
              <a:t>components</a:t>
            </a:r>
            <a:r>
              <a:rPr lang="en-GB" dirty="0"/>
              <a:t> of the system and the </a:t>
            </a:r>
            <a:r>
              <a:rPr lang="en-GB" dirty="0">
                <a:solidFill>
                  <a:srgbClr val="FF0000"/>
                </a:solidFill>
              </a:rPr>
              <a:t>flow</a:t>
            </a:r>
            <a:r>
              <a:rPr lang="en-GB" dirty="0"/>
              <a:t> of signals</a:t>
            </a:r>
          </a:p>
          <a:p>
            <a:r>
              <a:rPr lang="en-GB" dirty="0"/>
              <a:t>Diagram is composed of </a:t>
            </a:r>
            <a:r>
              <a:rPr lang="en-GB" dirty="0">
                <a:solidFill>
                  <a:srgbClr val="FF0000"/>
                </a:solidFill>
              </a:rPr>
              <a:t>functional blocks</a:t>
            </a:r>
          </a:p>
        </p:txBody>
      </p:sp>
    </p:spTree>
    <p:extLst>
      <p:ext uri="{BB962C8B-B14F-4D97-AF65-F5344CB8AC3E}">
        <p14:creationId xmlns:p14="http://schemas.microsoft.com/office/powerpoint/2010/main" val="2725607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0632B-F6B3-4316-975F-113B75E0B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Example: </a:t>
            </a:r>
            <a:br>
              <a:rPr lang="en-GB" dirty="0"/>
            </a:br>
            <a:r>
              <a:rPr lang="en-GB" dirty="0"/>
              <a:t>Block Diagram Representation of Control Systems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BE0C97-AECB-4FE4-9D39-D371C106A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00401" y="1362772"/>
            <a:ext cx="2229948" cy="291550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B576C64-7B29-7050-ED9D-38E931885B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2608" y="1280159"/>
                <a:ext cx="5436108" cy="50840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Consider the familiar system shown, which has input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response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. We know that the equation of motion of this system is:</a:t>
                </a:r>
              </a:p>
              <a:p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𝑚</m:t>
                    </m:r>
                    <m:acc>
                      <m:accPr>
                        <m:chr m:val="̈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GB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𝑐</m:t>
                    </m:r>
                    <m:acc>
                      <m:accPr>
                        <m:chr m:val="̇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GB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𝑘𝑥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𝑐</m:t>
                    </m:r>
                    <m:acc>
                      <m:accPr>
                        <m:chr m:val="̇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GB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𝑘𝑦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Applying the Laplace transform with zero initial conditions: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GB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𝑐𝑠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GB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𝑐𝑠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GB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We then have the transfer function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𝑐𝑠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GB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𝑐𝑠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B576C64-7B29-7050-ED9D-38E931885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08" y="1280159"/>
                <a:ext cx="5436108" cy="5084065"/>
              </a:xfrm>
              <a:prstGeom prst="rect">
                <a:avLst/>
              </a:prstGeom>
              <a:blipFill>
                <a:blip r:embed="rId3"/>
                <a:stretch>
                  <a:fillRect l="-1457" t="-2278" r="-8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757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Transfer Function Blocks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The transfer function</a:t>
                </a:r>
              </a:p>
              <a:p>
                <a:pPr/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endParaRPr lang="en-GB" b="0" dirty="0"/>
              </a:p>
              <a:p>
                <a:r>
                  <a:rPr lang="en-GB" dirty="0"/>
                  <a:t>can be represented in block diagram form as shown in the figure below.</a:t>
                </a:r>
              </a:p>
              <a:p>
                <a:endParaRPr lang="en-GB" dirty="0"/>
              </a:p>
              <a:p>
                <a:r>
                  <a:rPr lang="en-GB" dirty="0"/>
                  <a:t>This </a:t>
                </a:r>
                <a:r>
                  <a:rPr lang="en-GB" dirty="0">
                    <a:solidFill>
                      <a:schemeClr val="accent1"/>
                    </a:solidFill>
                  </a:rPr>
                  <a:t>functional block </a:t>
                </a:r>
                <a:r>
                  <a:rPr lang="en-GB" dirty="0"/>
                  <a:t>is the basic element of a block diagram.</a:t>
                </a:r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 Section 2: Basics of Control System Analysis</a:t>
            </a:r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710" y="5169913"/>
            <a:ext cx="3254580" cy="7636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4947-2F07-412B-9A57-7912053BEDA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6152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Diagram Elements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1208" y="1113578"/>
                <a:ext cx="11448228" cy="346510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dirty="0"/>
                  <a:t>In general terms, an element of a system with input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response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transfer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can be represented as shown in the bottom left figure.</a:t>
                </a:r>
              </a:p>
              <a:p>
                <a:endParaRPr lang="en-GB" dirty="0"/>
              </a:p>
              <a:p>
                <a:r>
                  <a:rPr lang="en-GB" dirty="0"/>
                  <a:t>If the system is composed of several components, the blocks are connected by arrows showing the direction of </a:t>
                </a:r>
                <a:r>
                  <a:rPr lang="en-GB" dirty="0">
                    <a:solidFill>
                      <a:schemeClr val="accent1"/>
                    </a:solidFill>
                  </a:rPr>
                  <a:t>signal flow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Where signals are compared (by addition or subtraction) is known as a </a:t>
                </a:r>
                <a:r>
                  <a:rPr lang="en-GB" dirty="0">
                    <a:solidFill>
                      <a:schemeClr val="accent1"/>
                    </a:solidFill>
                  </a:rPr>
                  <a:t>summing point</a:t>
                </a:r>
                <a:r>
                  <a:rPr lang="en-GB" dirty="0"/>
                  <a:t>. A </a:t>
                </a:r>
                <a:r>
                  <a:rPr lang="en-GB" dirty="0">
                    <a:solidFill>
                      <a:schemeClr val="accent1"/>
                    </a:solidFill>
                  </a:rPr>
                  <a:t>branch point </a:t>
                </a:r>
                <a:r>
                  <a:rPr lang="en-GB" dirty="0"/>
                  <a:t>is used to allow signals to go concurrently to other blocks or summing points.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1113578"/>
                <a:ext cx="11448228" cy="3465102"/>
              </a:xfrm>
              <a:blipFill>
                <a:blip r:embed="rId2"/>
                <a:stretch>
                  <a:fillRect l="-852" t="-5106" r="-1438" b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 Section 2: Basics of Control System Analysis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700" y="4718888"/>
            <a:ext cx="7144201" cy="16932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4947-2F07-412B-9A57-7912053BEDA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186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Diagram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Control systems can be complex in structure and design and naturally the resulting block diagram may also be complex.</a:t>
            </a:r>
          </a:p>
          <a:p>
            <a:endParaRPr lang="en-GB" dirty="0"/>
          </a:p>
          <a:p>
            <a:r>
              <a:rPr lang="en-GB" dirty="0"/>
              <a:t>The block diagram will show all inputs, outputs and disturbances to the system.</a:t>
            </a:r>
          </a:p>
          <a:p>
            <a:endParaRPr lang="en-GB" dirty="0"/>
          </a:p>
          <a:p>
            <a:r>
              <a:rPr lang="en-GB" dirty="0"/>
              <a:t>It is possible to reduce the block diagram to a simple transfer function relating a single input (or disturbance) to a single output.</a:t>
            </a:r>
          </a:p>
          <a:p>
            <a:endParaRPr lang="en-GB" dirty="0"/>
          </a:p>
          <a:p>
            <a:r>
              <a:rPr lang="en-GB" dirty="0"/>
              <a:t>This process of reduction is carried by application of seven basic rules.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 Section 2: Basics of Control System Analysis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4947-2F07-412B-9A57-7912053BEDA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467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A0CD-25D8-4A6A-87F1-050F85867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Block Diagram Reduction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B08F54C-6E54-4079-8848-DB92BF37D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818" y="2348916"/>
            <a:ext cx="6802170" cy="2407641"/>
          </a:xfrm>
          <a:prstGeom prst="rect">
            <a:avLst/>
          </a:prstGeom>
        </p:spPr>
      </p:pic>
      <p:pic>
        <p:nvPicPr>
          <p:cNvPr id="12" name="Picture 11" descr="block diagram reduction&#10;&#10;">
            <a:extLst>
              <a:ext uri="{FF2B5EF4-FFF2-40B4-BE49-F238E27FC236}">
                <a16:creationId xmlns:a16="http://schemas.microsoft.com/office/drawing/2014/main" id="{B4710641-AC64-42A5-8851-45EF30476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386" y="3001362"/>
            <a:ext cx="2958731" cy="1058345"/>
          </a:xfrm>
          <a:prstGeom prst="rect">
            <a:avLst/>
          </a:prstGeom>
        </p:spPr>
      </p:pic>
      <p:sp>
        <p:nvSpPr>
          <p:cNvPr id="13" name="Arrow: Right 12" descr="block diagram reduction&#10;">
            <a:extLst>
              <a:ext uri="{FF2B5EF4-FFF2-40B4-BE49-F238E27FC236}">
                <a16:creationId xmlns:a16="http://schemas.microsoft.com/office/drawing/2014/main" id="{04929784-D1FE-4B8B-8D8E-5B9477ECB06F}"/>
              </a:ext>
            </a:extLst>
          </p:cNvPr>
          <p:cNvSpPr/>
          <p:nvPr/>
        </p:nvSpPr>
        <p:spPr>
          <a:xfrm>
            <a:off x="7758022" y="3266945"/>
            <a:ext cx="835814" cy="5271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592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1: Cascaded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Original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Equivalent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 Section 2: Basics of Control System Analysis</a:t>
            </a:r>
            <a:endParaRPr lang="en-GB" dirty="0"/>
          </a:p>
        </p:txBody>
      </p:sp>
      <p:pic>
        <p:nvPicPr>
          <p:cNvPr id="21" name="Content Placeholder 2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148039" y="2830071"/>
            <a:ext cx="3598560" cy="783520"/>
          </a:xfrm>
          <a:prstGeom prst="rect">
            <a:avLst/>
          </a:prstGeom>
        </p:spPr>
      </p:pic>
      <p:pic>
        <p:nvPicPr>
          <p:cNvPr id="20" name="Content Placeholder 19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934911" y="2806831"/>
            <a:ext cx="2619540" cy="83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2"/>
              <p:cNvSpPr txBox="1">
                <a:spLocks/>
              </p:cNvSpPr>
              <p:nvPr/>
            </p:nvSpPr>
            <p:spPr>
              <a:xfrm>
                <a:off x="3026230" y="4128182"/>
                <a:ext cx="6128656" cy="2653617"/>
              </a:xfrm>
              <a:prstGeom prst="rect">
                <a:avLst/>
              </a:prstGeom>
              <a:noFill/>
              <a:ln w="44450" cap="flat" cmpd="sng" algn="ctr">
                <a:noFill/>
                <a:prstDash val="solid"/>
              </a:ln>
              <a:effectLst/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None/>
                  <a:defRPr sz="2000" b="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pitchFamily="34" charset="0"/>
                  <a:buNone/>
                  <a:defRPr sz="1600" b="1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dirty="0">
                    <a:solidFill>
                      <a:schemeClr val="tx1"/>
                    </a:solidFill>
                  </a:rPr>
                  <a:t>Original:</a:t>
                </a:r>
              </a:p>
              <a:p>
                <a:pPr>
                  <a:spcBef>
                    <a:spcPts val="15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,</a:t>
                </a:r>
              </a:p>
              <a:p>
                <a:pPr>
                  <a:spcBef>
                    <a:spcPts val="150"/>
                  </a:spcBef>
                </a:pPr>
                <a:r>
                  <a:rPr lang="en-GB" dirty="0">
                    <a:solidFill>
                      <a:schemeClr val="tx1"/>
                    </a:solidFill>
                  </a:rPr>
                  <a:t>giving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50"/>
                  </a:spcBef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algn="l"/>
                <a:r>
                  <a:rPr lang="en-GB" dirty="0">
                    <a:solidFill>
                      <a:schemeClr val="tx1"/>
                    </a:solidFill>
                  </a:rPr>
                  <a:t>Equivalent:</a:t>
                </a:r>
              </a:p>
              <a:p>
                <a:pPr algn="l">
                  <a:spcBef>
                    <a:spcPts val="15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230" y="4128182"/>
                <a:ext cx="6128656" cy="2653617"/>
              </a:xfrm>
              <a:prstGeom prst="rect">
                <a:avLst/>
              </a:prstGeom>
              <a:blipFill>
                <a:blip r:embed="rId4"/>
                <a:stretch>
                  <a:fillRect l="-994" t="-1149"/>
                </a:stretch>
              </a:blipFill>
              <a:ln w="44450" cap="flat" cmpd="sng" algn="ctr">
                <a:noFill/>
                <a:prstDash val="solid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4947-2F07-412B-9A57-7912053BEDA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155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2: Summing Two Signals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Original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Equivalent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 Section 2: Basics of Control System Analysis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2"/>
              <p:cNvSpPr txBox="1">
                <a:spLocks/>
              </p:cNvSpPr>
              <p:nvPr/>
            </p:nvSpPr>
            <p:spPr>
              <a:xfrm>
                <a:off x="3026230" y="4128182"/>
                <a:ext cx="6128656" cy="2653617"/>
              </a:xfrm>
              <a:prstGeom prst="rect">
                <a:avLst/>
              </a:prstGeom>
              <a:noFill/>
              <a:ln w="44450" cap="flat" cmpd="sng" algn="ctr">
                <a:noFill/>
                <a:prstDash val="solid"/>
              </a:ln>
              <a:effectLst/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None/>
                  <a:defRPr sz="2000" b="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pitchFamily="34" charset="0"/>
                  <a:buNone/>
                  <a:defRPr sz="1600" b="1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dirty="0">
                    <a:solidFill>
                      <a:schemeClr val="tx1"/>
                    </a:solidFill>
                  </a:rPr>
                  <a:t>Original:</a:t>
                </a:r>
              </a:p>
              <a:p>
                <a:pPr>
                  <a:spcBef>
                    <a:spcPts val="15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50"/>
                  </a:spcBef>
                </a:pPr>
                <a:r>
                  <a:rPr lang="en-GB" dirty="0">
                    <a:solidFill>
                      <a:schemeClr val="tx1"/>
                    </a:solidFill>
                  </a:rPr>
                  <a:t>giving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±1</m:t>
                        </m:r>
                      </m:e>
                    </m:d>
                  </m:oMath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50"/>
                  </a:spcBef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algn="l"/>
                <a:r>
                  <a:rPr lang="en-GB" dirty="0">
                    <a:solidFill>
                      <a:schemeClr val="tx1"/>
                    </a:solidFill>
                  </a:rPr>
                  <a:t>Equivalent:</a:t>
                </a:r>
              </a:p>
              <a:p>
                <a:pPr algn="l">
                  <a:spcBef>
                    <a:spcPts val="15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±1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230" y="4128182"/>
                <a:ext cx="6128656" cy="2653617"/>
              </a:xfrm>
              <a:prstGeom prst="rect">
                <a:avLst/>
              </a:prstGeom>
              <a:blipFill>
                <a:blip r:embed="rId2"/>
                <a:stretch>
                  <a:fillRect l="-994" t="-1149"/>
                </a:stretch>
              </a:blipFill>
              <a:ln w="44450" cap="flat" cmpd="sng" algn="ctr">
                <a:noFill/>
                <a:prstDash val="solid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981200" y="2536918"/>
            <a:ext cx="3932238" cy="1152341"/>
          </a:xfrm>
          <a:prstGeom prst="rect">
            <a:avLst/>
          </a:prstGeom>
        </p:spPr>
      </p:pic>
      <p:pic>
        <p:nvPicPr>
          <p:cNvPr id="11" name="Content Placeholder 10"/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908451" y="2684807"/>
            <a:ext cx="2672460" cy="85656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4947-2F07-412B-9A57-7912053BEDA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858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3: Moving a Summing Point Behind a Block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Original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Equivalent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 Section 2: Basics of Control System Analysis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2"/>
              <p:cNvSpPr txBox="1">
                <a:spLocks/>
              </p:cNvSpPr>
              <p:nvPr/>
            </p:nvSpPr>
            <p:spPr>
              <a:xfrm>
                <a:off x="3026230" y="4128182"/>
                <a:ext cx="6128656" cy="2653617"/>
              </a:xfrm>
              <a:prstGeom prst="rect">
                <a:avLst/>
              </a:prstGeom>
              <a:noFill/>
              <a:ln w="44450" cap="flat" cmpd="sng" algn="ctr">
                <a:noFill/>
                <a:prstDash val="solid"/>
              </a:ln>
              <a:effectLst/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None/>
                  <a:defRPr sz="2000" b="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pitchFamily="34" charset="0"/>
                  <a:buNone/>
                  <a:defRPr sz="1600" b="1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dirty="0">
                    <a:solidFill>
                      <a:schemeClr val="tx1"/>
                    </a:solidFill>
                  </a:rPr>
                  <a:t>Original:</a:t>
                </a:r>
              </a:p>
              <a:p>
                <a:pPr>
                  <a:spcBef>
                    <a:spcPts val="15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50"/>
                  </a:spcBef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algn="l"/>
                <a:r>
                  <a:rPr lang="en-GB" dirty="0">
                    <a:solidFill>
                      <a:schemeClr val="tx1"/>
                    </a:solidFill>
                  </a:rPr>
                  <a:t>Equivalent:</a:t>
                </a:r>
              </a:p>
              <a:p>
                <a:pPr algn="l">
                  <a:spcBef>
                    <a:spcPts val="15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230" y="4128182"/>
                <a:ext cx="6128656" cy="2653617"/>
              </a:xfrm>
              <a:prstGeom prst="rect">
                <a:avLst/>
              </a:prstGeom>
              <a:blipFill>
                <a:blip r:embed="rId3"/>
                <a:stretch>
                  <a:fillRect l="-994" t="-1149"/>
                </a:stretch>
              </a:blipFill>
              <a:ln w="44450" cap="flat" cmpd="sng" algn="ctr">
                <a:noFill/>
                <a:prstDash val="solid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2333259" y="2462367"/>
            <a:ext cx="3228120" cy="1301440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5"/>
          <a:stretch>
            <a:fillRect/>
          </a:stretch>
        </p:blipFill>
        <p:spPr>
          <a:xfrm>
            <a:off x="6455817" y="2438401"/>
            <a:ext cx="3577728" cy="13493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4947-2F07-412B-9A57-7912053BEDA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501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4: Moving a Summing Point Ahead of a Block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Original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Equivalent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 Section 2: Basics of Control System Analysis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2"/>
              <p:cNvSpPr txBox="1">
                <a:spLocks/>
              </p:cNvSpPr>
              <p:nvPr/>
            </p:nvSpPr>
            <p:spPr>
              <a:xfrm>
                <a:off x="3026230" y="4128182"/>
                <a:ext cx="6128656" cy="2653617"/>
              </a:xfrm>
              <a:prstGeom prst="rect">
                <a:avLst/>
              </a:prstGeom>
              <a:noFill/>
              <a:ln w="44450" cap="flat" cmpd="sng" algn="ctr">
                <a:noFill/>
                <a:prstDash val="solid"/>
              </a:ln>
              <a:effectLst/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None/>
                  <a:defRPr sz="2000" b="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pitchFamily="34" charset="0"/>
                  <a:buNone/>
                  <a:defRPr sz="1600" b="1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dirty="0">
                    <a:solidFill>
                      <a:schemeClr val="tx1"/>
                    </a:solidFill>
                  </a:rPr>
                  <a:t>Original:</a:t>
                </a:r>
              </a:p>
              <a:p>
                <a:pPr>
                  <a:spcBef>
                    <a:spcPts val="15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50"/>
                  </a:spcBef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algn="l"/>
                <a:r>
                  <a:rPr lang="en-GB" dirty="0">
                    <a:solidFill>
                      <a:schemeClr val="tx1"/>
                    </a:solidFill>
                  </a:rPr>
                  <a:t>Equivalent:</a:t>
                </a:r>
              </a:p>
              <a:p>
                <a:pPr algn="l">
                  <a:spcBef>
                    <a:spcPts val="15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  <m:f>
                            <m:f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230" y="4128182"/>
                <a:ext cx="6128656" cy="2653617"/>
              </a:xfrm>
              <a:prstGeom prst="rect">
                <a:avLst/>
              </a:prstGeom>
              <a:blipFill>
                <a:blip r:embed="rId3"/>
                <a:stretch>
                  <a:fillRect l="-994" t="-1149"/>
                </a:stretch>
              </a:blipFill>
              <a:ln w="44450" cap="flat" cmpd="sng" algn="ctr">
                <a:noFill/>
                <a:prstDash val="solid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2253879" y="2472327"/>
            <a:ext cx="3386880" cy="1281520"/>
          </a:xfrm>
          <a:prstGeom prst="rect">
            <a:avLst/>
          </a:prstGeom>
        </p:spPr>
      </p:pic>
      <p:pic>
        <p:nvPicPr>
          <p:cNvPr id="13" name="Content Placeholder 12"/>
          <p:cNvPicPr>
            <a:picLocks noGrp="1" noChangeAspect="1"/>
          </p:cNvPicPr>
          <p:nvPr>
            <p:ph sz="quarter" idx="4"/>
          </p:nvPr>
        </p:nvPicPr>
        <p:blipFill>
          <a:blip r:embed="rId5"/>
          <a:stretch>
            <a:fillRect/>
          </a:stretch>
        </p:blipFill>
        <p:spPr>
          <a:xfrm>
            <a:off x="6953313" y="2438401"/>
            <a:ext cx="2582739" cy="13493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4947-2F07-412B-9A57-7912053BEDA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294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5: Moving a Branch Point Ahead of a Block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Original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Equivalent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 Section 2: Basics of Control System Analysis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2"/>
              <p:cNvSpPr txBox="1">
                <a:spLocks/>
              </p:cNvSpPr>
              <p:nvPr/>
            </p:nvSpPr>
            <p:spPr>
              <a:xfrm>
                <a:off x="3026230" y="4128182"/>
                <a:ext cx="6128656" cy="2653617"/>
              </a:xfrm>
              <a:prstGeom prst="rect">
                <a:avLst/>
              </a:prstGeom>
              <a:noFill/>
              <a:ln w="44450" cap="flat" cmpd="sng" algn="ctr">
                <a:noFill/>
                <a:prstDash val="solid"/>
              </a:ln>
              <a:effectLst/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None/>
                  <a:defRPr sz="2000" b="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pitchFamily="34" charset="0"/>
                  <a:buNone/>
                  <a:defRPr sz="1600" b="1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dirty="0">
                    <a:solidFill>
                      <a:schemeClr val="tx1"/>
                    </a:solidFill>
                  </a:rPr>
                  <a:t>Original:</a:t>
                </a:r>
              </a:p>
              <a:p>
                <a:pPr>
                  <a:spcBef>
                    <a:spcPts val="15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50"/>
                  </a:spcBef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algn="l"/>
                <a:r>
                  <a:rPr lang="en-GB" dirty="0">
                    <a:solidFill>
                      <a:schemeClr val="tx1"/>
                    </a:solidFill>
                  </a:rPr>
                  <a:t>Equivalent: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230" y="4128182"/>
                <a:ext cx="6128656" cy="2653617"/>
              </a:xfrm>
              <a:prstGeom prst="rect">
                <a:avLst/>
              </a:prstGeom>
              <a:blipFill>
                <a:blip r:embed="rId2"/>
                <a:stretch>
                  <a:fillRect l="-994" t="-1149"/>
                </a:stretch>
              </a:blipFill>
              <a:ln w="44450" cap="flat" cmpd="sng" algn="ctr">
                <a:noFill/>
                <a:prstDash val="solid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804344" y="2438401"/>
            <a:ext cx="2285950" cy="1349375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465277" y="2438401"/>
            <a:ext cx="3558808" cy="13493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4947-2F07-412B-9A57-7912053BEDA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648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6: Moving a Branch Point Behind a Block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Original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Equivalent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 Section 2: Basics of Control System Analysis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2"/>
              <p:cNvSpPr txBox="1">
                <a:spLocks/>
              </p:cNvSpPr>
              <p:nvPr/>
            </p:nvSpPr>
            <p:spPr>
              <a:xfrm>
                <a:off x="2492829" y="4128182"/>
                <a:ext cx="7195458" cy="2653617"/>
              </a:xfrm>
              <a:prstGeom prst="rect">
                <a:avLst/>
              </a:prstGeom>
              <a:noFill/>
              <a:ln w="44450" cap="flat" cmpd="sng" algn="ctr">
                <a:noFill/>
                <a:prstDash val="solid"/>
              </a:ln>
              <a:effectLst/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None/>
                  <a:defRPr sz="2000" b="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pitchFamily="34" charset="0"/>
                  <a:buNone/>
                  <a:defRPr sz="1600" b="1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dirty="0">
                    <a:solidFill>
                      <a:schemeClr val="tx1"/>
                    </a:solidFill>
                  </a:rPr>
                  <a:t>Original:</a:t>
                </a:r>
              </a:p>
              <a:p>
                <a:pPr>
                  <a:spcBef>
                    <a:spcPts val="15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(RH signal),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(LH signal)</a:t>
                </a:r>
              </a:p>
              <a:p>
                <a:pPr>
                  <a:spcBef>
                    <a:spcPts val="150"/>
                  </a:spcBef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algn="l"/>
                <a:r>
                  <a:rPr lang="en-GB" dirty="0">
                    <a:solidFill>
                      <a:schemeClr val="tx1"/>
                    </a:solidFill>
                  </a:rPr>
                  <a:t>Equivalent:</a:t>
                </a:r>
              </a:p>
              <a:p>
                <a:pPr algn="l">
                  <a:spcBef>
                    <a:spcPts val="15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nor/>
                        </m:rPr>
                        <a:rPr lang="en-GB" dirty="0">
                          <a:solidFill>
                            <a:schemeClr val="tx1"/>
                          </a:solidFill>
                        </a:rPr>
                        <m:t> (</m:t>
                      </m:r>
                      <m:r>
                        <m:rPr>
                          <m:nor/>
                        </m:rPr>
                        <a:rPr lang="en-GB" dirty="0">
                          <a:solidFill>
                            <a:schemeClr val="tx1"/>
                          </a:solidFill>
                        </a:rPr>
                        <m:t>RH</m:t>
                      </m:r>
                      <m:r>
                        <m:rPr>
                          <m:nor/>
                        </m:rPr>
                        <a:rPr lang="en-GB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GB" dirty="0">
                          <a:solidFill>
                            <a:schemeClr val="tx1"/>
                          </a:solidFill>
                        </a:rPr>
                        <m:t>signal</m:t>
                      </m:r>
                      <m:r>
                        <m:rPr>
                          <m:nor/>
                        </m:rPr>
                        <a:rPr lang="en-GB" dirty="0">
                          <a:solidFill>
                            <a:schemeClr val="tx1"/>
                          </a:solidFill>
                        </a:rPr>
                        <m:t>), 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nor/>
                        </m:rPr>
                        <a:rPr lang="en-GB" dirty="0">
                          <a:solidFill>
                            <a:schemeClr val="tx1"/>
                          </a:solidFill>
                        </a:rPr>
                        <m:t> (</m:t>
                      </m:r>
                      <m:r>
                        <m:rPr>
                          <m:nor/>
                        </m:rPr>
                        <a:rPr lang="en-GB" dirty="0">
                          <a:solidFill>
                            <a:schemeClr val="tx1"/>
                          </a:solidFill>
                        </a:rPr>
                        <m:t>LH</m:t>
                      </m:r>
                      <m:r>
                        <m:rPr>
                          <m:nor/>
                        </m:rPr>
                        <a:rPr lang="en-GB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GB" dirty="0">
                          <a:solidFill>
                            <a:schemeClr val="tx1"/>
                          </a:solidFill>
                        </a:rPr>
                        <m:t>signal</m:t>
                      </m:r>
                      <m:r>
                        <m:rPr>
                          <m:nor/>
                        </m:rPr>
                        <a:rPr lang="en-GB" dirty="0">
                          <a:solidFill>
                            <a:schemeClr val="tx1"/>
                          </a:solidFill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algn="l">
                  <a:spcBef>
                    <a:spcPts val="150"/>
                  </a:spcBef>
                </a:pPr>
                <a:endParaRPr lang="en-GB" dirty="0"/>
              </a:p>
            </p:txBody>
          </p:sp>
        </mc:Choice>
        <mc:Fallback>
          <p:sp>
            <p:nvSpPr>
              <p:cNvPr id="1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829" y="4128182"/>
                <a:ext cx="7195458" cy="2653617"/>
              </a:xfrm>
              <a:prstGeom prst="rect">
                <a:avLst/>
              </a:prstGeom>
              <a:blipFill>
                <a:blip r:embed="rId2"/>
                <a:stretch>
                  <a:fillRect l="-932" t="-1149"/>
                </a:stretch>
              </a:blipFill>
              <a:ln w="44450" cap="flat" cmpd="sng" algn="ctr">
                <a:noFill/>
                <a:prstDash val="solid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662043" y="2438401"/>
            <a:ext cx="2570553" cy="1349375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7214778" y="2438401"/>
            <a:ext cx="2059806" cy="13493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4947-2F07-412B-9A57-7912053BEDA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8660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7: Eliminating a Feedback Loop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1200" y="1404257"/>
            <a:ext cx="3931920" cy="639762"/>
          </a:xfrm>
        </p:spPr>
        <p:txBody>
          <a:bodyPr/>
          <a:lstStyle/>
          <a:p>
            <a:r>
              <a:rPr lang="en-GB" dirty="0"/>
              <a:t>Original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404257"/>
            <a:ext cx="3931920" cy="639762"/>
          </a:xfrm>
        </p:spPr>
        <p:txBody>
          <a:bodyPr/>
          <a:lstStyle/>
          <a:p>
            <a:r>
              <a:rPr lang="en-GB" dirty="0"/>
              <a:t>Equivalent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 Section 2: Basics of Control System Analysis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2"/>
              <p:cNvSpPr txBox="1">
                <a:spLocks/>
              </p:cNvSpPr>
              <p:nvPr/>
            </p:nvSpPr>
            <p:spPr>
              <a:xfrm>
                <a:off x="2155371" y="3515633"/>
                <a:ext cx="7870374" cy="3266166"/>
              </a:xfrm>
              <a:prstGeom prst="rect">
                <a:avLst/>
              </a:prstGeom>
              <a:noFill/>
              <a:ln w="44450" cap="flat" cmpd="sng" algn="ctr">
                <a:noFill/>
                <a:prstDash val="solid"/>
              </a:ln>
              <a:effectLst/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None/>
                  <a:defRPr sz="2000" b="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pitchFamily="34" charset="0"/>
                  <a:buNone/>
                  <a:defRPr sz="1600" b="1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dirty="0">
                    <a:solidFill>
                      <a:schemeClr val="tx1"/>
                    </a:solidFill>
                  </a:rPr>
                  <a:t>Original: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 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 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 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1∓</m:t>
                          </m:r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50"/>
                  </a:spcBef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algn="l"/>
                <a:r>
                  <a:rPr lang="en-GB" dirty="0">
                    <a:solidFill>
                      <a:schemeClr val="tx1"/>
                    </a:solidFill>
                  </a:rPr>
                  <a:t>Equivalent:</a:t>
                </a:r>
              </a:p>
              <a:p>
                <a:pPr algn="l">
                  <a:spcBef>
                    <a:spcPts val="15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1∓</m:t>
                          </m:r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371" y="3515633"/>
                <a:ext cx="7870374" cy="3266166"/>
              </a:xfrm>
              <a:prstGeom prst="rect">
                <a:avLst/>
              </a:prstGeom>
              <a:blipFill>
                <a:blip r:embed="rId2"/>
                <a:stretch>
                  <a:fillRect l="-852" t="-1121"/>
                </a:stretch>
              </a:blipFill>
              <a:ln w="44450" cap="flat" cmpd="sng" algn="ctr">
                <a:noFill/>
                <a:prstDash val="solid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576871" y="2166258"/>
            <a:ext cx="2740896" cy="1349375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829071" y="2415984"/>
            <a:ext cx="2831220" cy="84992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4947-2F07-412B-9A57-7912053BEDA6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701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GB" dirty="0"/>
              <a:t>There are two types of controllers:</a:t>
            </a:r>
          </a:p>
          <a:p>
            <a:pPr marL="800100" lvl="1" indent="-342900"/>
            <a:r>
              <a:rPr lang="en-GB" dirty="0">
                <a:solidFill>
                  <a:schemeClr val="accent1"/>
                </a:solidFill>
              </a:rPr>
              <a:t>Open-loop</a:t>
            </a:r>
          </a:p>
          <a:p>
            <a:pPr marL="800100" lvl="1" indent="-342900"/>
            <a:r>
              <a:rPr lang="en-GB" dirty="0">
                <a:solidFill>
                  <a:schemeClr val="accent1"/>
                </a:solidFill>
              </a:rPr>
              <a:t>Closed-loop</a:t>
            </a:r>
          </a:p>
          <a:p>
            <a:pPr marL="342900" indent="-342900"/>
            <a:r>
              <a:rPr lang="en-GB" dirty="0"/>
              <a:t>A system, with or without control, can be represented by a </a:t>
            </a:r>
            <a:r>
              <a:rPr lang="en-GB" dirty="0">
                <a:solidFill>
                  <a:schemeClr val="accent1"/>
                </a:solidFill>
              </a:rPr>
              <a:t>block diagram</a:t>
            </a:r>
          </a:p>
          <a:p>
            <a:pPr marL="342900" indent="-342900"/>
            <a:r>
              <a:rPr lang="en-GB" dirty="0"/>
              <a:t>A complex block diagram can be reduced to describe the system as a single </a:t>
            </a:r>
            <a:r>
              <a:rPr lang="en-GB" dirty="0">
                <a:solidFill>
                  <a:schemeClr val="accent1"/>
                </a:solidFill>
              </a:rPr>
              <a:t>transfer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C9F10-FE81-4828-938A-46E1EC418627}"/>
              </a:ext>
            </a:extLst>
          </p:cNvPr>
          <p:cNvSpPr txBox="1"/>
          <p:nvPr/>
        </p:nvSpPr>
        <p:spPr>
          <a:xfrm flipH="1">
            <a:off x="6230499" y="5441300"/>
            <a:ext cx="5748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</a:rPr>
              <a:t>References:</a:t>
            </a:r>
          </a:p>
          <a:p>
            <a:r>
              <a:rPr lang="en-GB" i="1" dirty="0">
                <a:solidFill>
                  <a:schemeClr val="accent6">
                    <a:lumMod val="50000"/>
                  </a:schemeClr>
                </a:solidFill>
              </a:rPr>
              <a:t>-Control Systems Engineering, 7th Edition, N.S. </a:t>
            </a:r>
            <a:r>
              <a:rPr lang="en-GB" i="1" dirty="0" err="1">
                <a:solidFill>
                  <a:schemeClr val="accent6">
                    <a:lumMod val="50000"/>
                  </a:schemeClr>
                </a:solidFill>
              </a:rPr>
              <a:t>Nise</a:t>
            </a:r>
            <a:endParaRPr lang="en-GB" i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i="1" dirty="0">
                <a:solidFill>
                  <a:schemeClr val="accent6">
                    <a:lumMod val="50000"/>
                  </a:schemeClr>
                </a:solidFill>
              </a:rPr>
              <a:t>-UESTC3001 2019/20 Notes, J. Le Kernec</a:t>
            </a:r>
          </a:p>
        </p:txBody>
      </p:sp>
    </p:spTree>
    <p:extLst>
      <p:ext uri="{BB962C8B-B14F-4D97-AF65-F5344CB8AC3E}">
        <p14:creationId xmlns:p14="http://schemas.microsoft.com/office/powerpoint/2010/main" val="26706907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96fd2b40-60fe-4944-aab8-e1c4bb39be99"/>
  <p:tag name="SLIDO_EVENT_UUID" val="3c14d1a1-3b7a-45e8-9500-1ffc2ebebd0b"/>
  <p:tag name="SLIDO_EVENT_SECTION_UUID" val="b42cd1e4-30b4-4626-b770-d86935d4a36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12975</TotalTime>
  <Words>1497</Words>
  <Application>Microsoft Office PowerPoint</Application>
  <PresentationFormat>Widescreen</PresentationFormat>
  <Paragraphs>211</Paragraphs>
  <Slides>23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Lora</vt:lpstr>
      <vt:lpstr>Times New Roman</vt:lpstr>
      <vt:lpstr>Office Theme</vt:lpstr>
      <vt:lpstr>Basics of Control System Analysis</vt:lpstr>
      <vt:lpstr>Outline</vt:lpstr>
      <vt:lpstr>Introduction to Control System</vt:lpstr>
      <vt:lpstr>Advantages of Control Systems</vt:lpstr>
      <vt:lpstr>Open-loop Control</vt:lpstr>
      <vt:lpstr>Closed-loop Control</vt:lpstr>
      <vt:lpstr>Example Control  of the speed  of rotation  of a motor  shaft </vt:lpstr>
      <vt:lpstr>PowerPoint Presentation</vt:lpstr>
      <vt:lpstr>The Design Process</vt:lpstr>
      <vt:lpstr>Introduction to Block Diagrams</vt:lpstr>
      <vt:lpstr>Example:  Block Diagram Representation of Control Systems</vt:lpstr>
      <vt:lpstr>Transfer Function Blocks</vt:lpstr>
      <vt:lpstr>Block Diagram Elements</vt:lpstr>
      <vt:lpstr>Block Diagram Reduction</vt:lpstr>
      <vt:lpstr>Block Diagram Reduction</vt:lpstr>
      <vt:lpstr>1: Cascaded Blocks</vt:lpstr>
      <vt:lpstr>2: Summing Two Signals</vt:lpstr>
      <vt:lpstr>3: Moving a Summing Point Behind a Block</vt:lpstr>
      <vt:lpstr>4: Moving a Summing Point Ahead of a Block</vt:lpstr>
      <vt:lpstr>5: Moving a Branch Point Ahead of a Block</vt:lpstr>
      <vt:lpstr>6: Moving a Branch Point Behind a Block</vt:lpstr>
      <vt:lpstr>7: Eliminating a Feedback Loop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Kelum Gamage</dc:creator>
  <cp:lastModifiedBy>Julien Le Kernec</cp:lastModifiedBy>
  <cp:revision>89</cp:revision>
  <dcterms:created xsi:type="dcterms:W3CDTF">2017-07-26T09:44:12Z</dcterms:created>
  <dcterms:modified xsi:type="dcterms:W3CDTF">2026-03-03T14:48:17Z</dcterms:modified>
</cp:coreProperties>
</file>