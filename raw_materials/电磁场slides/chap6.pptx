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3"/>
  </p:notesMasterIdLst>
  <p:sldIdLst>
    <p:sldId id="257" r:id="rId2"/>
    <p:sldId id="258" r:id="rId3"/>
    <p:sldId id="259" r:id="rId4"/>
    <p:sldId id="261" r:id="rId5"/>
    <p:sldId id="276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341" r:id="rId17"/>
    <p:sldId id="273" r:id="rId18"/>
    <p:sldId id="274" r:id="rId19"/>
    <p:sldId id="275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318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42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32" r:id="rId62"/>
    <p:sldId id="333" r:id="rId63"/>
    <p:sldId id="334" r:id="rId64"/>
    <p:sldId id="335" r:id="rId65"/>
    <p:sldId id="336" r:id="rId66"/>
    <p:sldId id="337" r:id="rId67"/>
    <p:sldId id="338" r:id="rId68"/>
    <p:sldId id="339" r:id="rId69"/>
    <p:sldId id="340" r:id="rId70"/>
    <p:sldId id="316" r:id="rId71"/>
    <p:sldId id="343" r:id="rId72"/>
  </p:sldIdLst>
  <p:sldSz cx="12192000" cy="6858000"/>
  <p:notesSz cx="6858000" cy="9144000"/>
  <p:custDataLst>
    <p:tags r:id="rId7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61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gs" Target="tags/tag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C3FBB4-796C-4659-8125-458416CADB0C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C84933-2FEF-4A86-991B-3E8C6A4BB5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1B86B75-A6A6-4205-BC34-F369D6DAE959}" type="slidenum">
              <a:rPr lang="en-US" altLang="zh-CN"/>
              <a:t>2</a:t>
            </a:fld>
            <a:endParaRPr lang="en-US" altLang="zh-CN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C84933-2FEF-4A86-991B-3E8C6A4BB564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9828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C401CA0-05D5-46BF-8685-4EC5C81088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01CA0-05D5-46BF-8685-4EC5C81088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C401CA0-05D5-46BF-8685-4EC5C81088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C401CA0-05D5-46BF-8685-4EC5C81088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C401CA0-05D5-46BF-8685-4EC5C81088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01CA0-05D5-46BF-8685-4EC5C81088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01CA0-05D5-46BF-8685-4EC5C81088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01CA0-05D5-46BF-8685-4EC5C81088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C401CA0-05D5-46BF-8685-4EC5C81088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C401CA0-05D5-46BF-8685-4EC5C81088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C401CA0-05D5-46BF-8685-4EC5C810882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C401CA0-05D5-46BF-8685-4EC5C81088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C401CA0-05D5-46BF-8685-4EC5C810882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C401CA0-05D5-46BF-8685-4EC5C81088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01CA0-05D5-46BF-8685-4EC5C81088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F7E5B-533A-44AC-BF8E-891370FBA039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01CA0-05D5-46BF-8685-4EC5C81088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2167" y="609600"/>
            <a:ext cx="1138766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02168" y="1905001"/>
            <a:ext cx="5592233" cy="41941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1" y="1905000"/>
            <a:ext cx="5592233" cy="20208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1" y="4078289"/>
            <a:ext cx="5592233" cy="20208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B1B1ED-1AC3-4190-AD31-BA2A3A15C08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02167" y="609601"/>
            <a:ext cx="11387667" cy="5489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F9578E-91AE-45D2-BADB-3CB9F347EAA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4F7E5B-533A-44AC-BF8E-891370FBA039}" type="datetimeFigureOut">
              <a:rPr lang="zh-CN" altLang="en-US" smtClean="0"/>
              <a:t>2025/4/21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C401CA0-05D5-46BF-8685-4EC5C81088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image" Target="../media/image7.wmf"/><Relationship Id="rId7" Type="http://schemas.openxmlformats.org/officeDocument/2006/relationships/image" Target="../media/image2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image" Target="../media/image9.emf"/><Relationship Id="rId7" Type="http://schemas.openxmlformats.org/officeDocument/2006/relationships/image" Target="../media/image11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7" Type="http://schemas.openxmlformats.org/officeDocument/2006/relationships/image" Target="../media/image21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17.x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14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image" Target="../media/image28.emf"/><Relationship Id="rId3" Type="http://schemas.openxmlformats.org/officeDocument/2006/relationships/image" Target="../media/image23.emf"/><Relationship Id="rId7" Type="http://schemas.openxmlformats.org/officeDocument/2006/relationships/image" Target="../media/image25.emf"/><Relationship Id="rId12" Type="http://schemas.openxmlformats.org/officeDocument/2006/relationships/oleObject" Target="../embeddings/oleObject22.bin"/><Relationship Id="rId17" Type="http://schemas.openxmlformats.org/officeDocument/2006/relationships/image" Target="../media/image30.emf"/><Relationship Id="rId2" Type="http://schemas.openxmlformats.org/officeDocument/2006/relationships/oleObject" Target="../embeddings/oleObject17.bin"/><Relationship Id="rId16" Type="http://schemas.openxmlformats.org/officeDocument/2006/relationships/oleObject" Target="../embeddings/oleObject2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27.emf"/><Relationship Id="rId5" Type="http://schemas.openxmlformats.org/officeDocument/2006/relationships/image" Target="../media/image24.emf"/><Relationship Id="rId15" Type="http://schemas.openxmlformats.org/officeDocument/2006/relationships/image" Target="../media/image29.emf"/><Relationship Id="rId10" Type="http://schemas.openxmlformats.org/officeDocument/2006/relationships/oleObject" Target="../embeddings/oleObject21.bin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6.emf"/><Relationship Id="rId14" Type="http://schemas.openxmlformats.org/officeDocument/2006/relationships/oleObject" Target="../embeddings/oleObject23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13" Type="http://schemas.openxmlformats.org/officeDocument/2006/relationships/oleObject" Target="../embeddings/oleObject30.bin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36.emf"/><Relationship Id="rId2" Type="http://schemas.openxmlformats.org/officeDocument/2006/relationships/image" Target="../media/image31.jpeg"/><Relationship Id="rId16" Type="http://schemas.openxmlformats.org/officeDocument/2006/relationships/image" Target="../media/image38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e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5" Type="http://schemas.openxmlformats.org/officeDocument/2006/relationships/oleObject" Target="../embeddings/oleObject31.bin"/><Relationship Id="rId10" Type="http://schemas.openxmlformats.org/officeDocument/2006/relationships/image" Target="../media/image35.emf"/><Relationship Id="rId4" Type="http://schemas.openxmlformats.org/officeDocument/2006/relationships/image" Target="../media/image32.e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37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13" Type="http://schemas.openxmlformats.org/officeDocument/2006/relationships/image" Target="../media/image44.wmf"/><Relationship Id="rId18" Type="http://schemas.openxmlformats.org/officeDocument/2006/relationships/oleObject" Target="../embeddings/oleObject40.bin"/><Relationship Id="rId26" Type="http://schemas.openxmlformats.org/officeDocument/2006/relationships/oleObject" Target="../embeddings/oleObject44.bin"/><Relationship Id="rId3" Type="http://schemas.openxmlformats.org/officeDocument/2006/relationships/image" Target="../media/image39.wmf"/><Relationship Id="rId21" Type="http://schemas.openxmlformats.org/officeDocument/2006/relationships/image" Target="../media/image48.emf"/><Relationship Id="rId7" Type="http://schemas.openxmlformats.org/officeDocument/2006/relationships/image" Target="../media/image41.wmf"/><Relationship Id="rId12" Type="http://schemas.openxmlformats.org/officeDocument/2006/relationships/oleObject" Target="../embeddings/oleObject37.bin"/><Relationship Id="rId17" Type="http://schemas.openxmlformats.org/officeDocument/2006/relationships/image" Target="../media/image46.emf"/><Relationship Id="rId25" Type="http://schemas.openxmlformats.org/officeDocument/2006/relationships/image" Target="../media/image50.emf"/><Relationship Id="rId2" Type="http://schemas.openxmlformats.org/officeDocument/2006/relationships/oleObject" Target="../embeddings/oleObject32.bin"/><Relationship Id="rId16" Type="http://schemas.openxmlformats.org/officeDocument/2006/relationships/oleObject" Target="../embeddings/oleObject39.bin"/><Relationship Id="rId20" Type="http://schemas.openxmlformats.org/officeDocument/2006/relationships/oleObject" Target="../embeddings/oleObject4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43.wmf"/><Relationship Id="rId24" Type="http://schemas.openxmlformats.org/officeDocument/2006/relationships/oleObject" Target="../embeddings/oleObject43.bin"/><Relationship Id="rId5" Type="http://schemas.openxmlformats.org/officeDocument/2006/relationships/image" Target="../media/image40.emf"/><Relationship Id="rId15" Type="http://schemas.openxmlformats.org/officeDocument/2006/relationships/image" Target="../media/image45.wmf"/><Relationship Id="rId23" Type="http://schemas.openxmlformats.org/officeDocument/2006/relationships/image" Target="../media/image49.emf"/><Relationship Id="rId10" Type="http://schemas.openxmlformats.org/officeDocument/2006/relationships/oleObject" Target="../embeddings/oleObject36.bin"/><Relationship Id="rId19" Type="http://schemas.openxmlformats.org/officeDocument/2006/relationships/image" Target="../media/image47.emf"/><Relationship Id="rId4" Type="http://schemas.openxmlformats.org/officeDocument/2006/relationships/oleObject" Target="../embeddings/oleObject33.bin"/><Relationship Id="rId9" Type="http://schemas.openxmlformats.org/officeDocument/2006/relationships/image" Target="../media/image42.wmf"/><Relationship Id="rId14" Type="http://schemas.openxmlformats.org/officeDocument/2006/relationships/oleObject" Target="../embeddings/oleObject38.bin"/><Relationship Id="rId22" Type="http://schemas.openxmlformats.org/officeDocument/2006/relationships/oleObject" Target="../embeddings/oleObject42.bin"/><Relationship Id="rId27" Type="http://schemas.openxmlformats.org/officeDocument/2006/relationships/image" Target="../media/image51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13" Type="http://schemas.openxmlformats.org/officeDocument/2006/relationships/image" Target="../media/image57.emf"/><Relationship Id="rId18" Type="http://schemas.openxmlformats.org/officeDocument/2006/relationships/oleObject" Target="../embeddings/oleObject53.bin"/><Relationship Id="rId26" Type="http://schemas.openxmlformats.org/officeDocument/2006/relationships/oleObject" Target="../embeddings/oleObject57.bin"/><Relationship Id="rId3" Type="http://schemas.openxmlformats.org/officeDocument/2006/relationships/image" Target="../media/image52.emf"/><Relationship Id="rId21" Type="http://schemas.openxmlformats.org/officeDocument/2006/relationships/image" Target="../media/image61.emf"/><Relationship Id="rId7" Type="http://schemas.openxmlformats.org/officeDocument/2006/relationships/image" Target="../media/image54.emf"/><Relationship Id="rId12" Type="http://schemas.openxmlformats.org/officeDocument/2006/relationships/oleObject" Target="../embeddings/oleObject50.bin"/><Relationship Id="rId17" Type="http://schemas.openxmlformats.org/officeDocument/2006/relationships/image" Target="../media/image59.emf"/><Relationship Id="rId25" Type="http://schemas.openxmlformats.org/officeDocument/2006/relationships/image" Target="../media/image63.emf"/><Relationship Id="rId2" Type="http://schemas.openxmlformats.org/officeDocument/2006/relationships/oleObject" Target="../embeddings/oleObject45.bin"/><Relationship Id="rId16" Type="http://schemas.openxmlformats.org/officeDocument/2006/relationships/oleObject" Target="../embeddings/oleObject52.bin"/><Relationship Id="rId20" Type="http://schemas.openxmlformats.org/officeDocument/2006/relationships/oleObject" Target="../embeddings/oleObject5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7.bin"/><Relationship Id="rId11" Type="http://schemas.openxmlformats.org/officeDocument/2006/relationships/image" Target="../media/image56.emf"/><Relationship Id="rId24" Type="http://schemas.openxmlformats.org/officeDocument/2006/relationships/oleObject" Target="../embeddings/oleObject56.bin"/><Relationship Id="rId5" Type="http://schemas.openxmlformats.org/officeDocument/2006/relationships/image" Target="../media/image53.emf"/><Relationship Id="rId15" Type="http://schemas.openxmlformats.org/officeDocument/2006/relationships/image" Target="../media/image58.emf"/><Relationship Id="rId23" Type="http://schemas.openxmlformats.org/officeDocument/2006/relationships/image" Target="../media/image62.emf"/><Relationship Id="rId10" Type="http://schemas.openxmlformats.org/officeDocument/2006/relationships/oleObject" Target="../embeddings/oleObject49.bin"/><Relationship Id="rId19" Type="http://schemas.openxmlformats.org/officeDocument/2006/relationships/image" Target="../media/image60.emf"/><Relationship Id="rId4" Type="http://schemas.openxmlformats.org/officeDocument/2006/relationships/oleObject" Target="../embeddings/oleObject46.bin"/><Relationship Id="rId9" Type="http://schemas.openxmlformats.org/officeDocument/2006/relationships/image" Target="../media/image55.emf"/><Relationship Id="rId14" Type="http://schemas.openxmlformats.org/officeDocument/2006/relationships/oleObject" Target="../embeddings/oleObject51.bin"/><Relationship Id="rId22" Type="http://schemas.openxmlformats.org/officeDocument/2006/relationships/oleObject" Target="../embeddings/oleObject55.bin"/><Relationship Id="rId27" Type="http://schemas.openxmlformats.org/officeDocument/2006/relationships/image" Target="../media/image64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7" Type="http://schemas.openxmlformats.org/officeDocument/2006/relationships/image" Target="../media/image67.emf"/><Relationship Id="rId2" Type="http://schemas.openxmlformats.org/officeDocument/2006/relationships/oleObject" Target="../embeddings/oleObject5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0.bin"/><Relationship Id="rId5" Type="http://schemas.openxmlformats.org/officeDocument/2006/relationships/image" Target="../media/image66.emf"/><Relationship Id="rId4" Type="http://schemas.openxmlformats.org/officeDocument/2006/relationships/oleObject" Target="../embeddings/oleObject59.bin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3.emf"/><Relationship Id="rId18" Type="http://schemas.openxmlformats.org/officeDocument/2006/relationships/oleObject" Target="../embeddings/oleObject68.bin"/><Relationship Id="rId26" Type="http://schemas.openxmlformats.org/officeDocument/2006/relationships/oleObject" Target="../embeddings/oleObject72.bin"/><Relationship Id="rId3" Type="http://schemas.openxmlformats.org/officeDocument/2006/relationships/image" Target="../media/image68.png"/><Relationship Id="rId21" Type="http://schemas.openxmlformats.org/officeDocument/2006/relationships/image" Target="../media/image77.emf"/><Relationship Id="rId34" Type="http://schemas.openxmlformats.org/officeDocument/2006/relationships/oleObject" Target="../embeddings/oleObject76.bin"/><Relationship Id="rId7" Type="http://schemas.openxmlformats.org/officeDocument/2006/relationships/image" Target="../media/image70.emf"/><Relationship Id="rId12" Type="http://schemas.openxmlformats.org/officeDocument/2006/relationships/oleObject" Target="../embeddings/oleObject65.bin"/><Relationship Id="rId17" Type="http://schemas.openxmlformats.org/officeDocument/2006/relationships/image" Target="../media/image75.emf"/><Relationship Id="rId25" Type="http://schemas.openxmlformats.org/officeDocument/2006/relationships/image" Target="../media/image79.emf"/><Relationship Id="rId33" Type="http://schemas.openxmlformats.org/officeDocument/2006/relationships/image" Target="../media/image83.emf"/><Relationship Id="rId2" Type="http://schemas.openxmlformats.org/officeDocument/2006/relationships/notesSlide" Target="../notesSlides/notesSlide2.xml"/><Relationship Id="rId16" Type="http://schemas.openxmlformats.org/officeDocument/2006/relationships/oleObject" Target="../embeddings/oleObject67.bin"/><Relationship Id="rId20" Type="http://schemas.openxmlformats.org/officeDocument/2006/relationships/oleObject" Target="../embeddings/oleObject69.bin"/><Relationship Id="rId29" Type="http://schemas.openxmlformats.org/officeDocument/2006/relationships/image" Target="../media/image81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2.bin"/><Relationship Id="rId11" Type="http://schemas.openxmlformats.org/officeDocument/2006/relationships/image" Target="../media/image72.emf"/><Relationship Id="rId24" Type="http://schemas.openxmlformats.org/officeDocument/2006/relationships/oleObject" Target="../embeddings/oleObject71.bin"/><Relationship Id="rId32" Type="http://schemas.openxmlformats.org/officeDocument/2006/relationships/oleObject" Target="../embeddings/oleObject75.bin"/><Relationship Id="rId5" Type="http://schemas.openxmlformats.org/officeDocument/2006/relationships/image" Target="../media/image69.emf"/><Relationship Id="rId15" Type="http://schemas.openxmlformats.org/officeDocument/2006/relationships/image" Target="../media/image74.emf"/><Relationship Id="rId23" Type="http://schemas.openxmlformats.org/officeDocument/2006/relationships/image" Target="../media/image78.emf"/><Relationship Id="rId28" Type="http://schemas.openxmlformats.org/officeDocument/2006/relationships/oleObject" Target="../embeddings/oleObject73.bin"/><Relationship Id="rId10" Type="http://schemas.openxmlformats.org/officeDocument/2006/relationships/oleObject" Target="../embeddings/oleObject64.bin"/><Relationship Id="rId19" Type="http://schemas.openxmlformats.org/officeDocument/2006/relationships/image" Target="../media/image76.emf"/><Relationship Id="rId31" Type="http://schemas.openxmlformats.org/officeDocument/2006/relationships/image" Target="../media/image82.emf"/><Relationship Id="rId4" Type="http://schemas.openxmlformats.org/officeDocument/2006/relationships/oleObject" Target="../embeddings/oleObject61.bin"/><Relationship Id="rId9" Type="http://schemas.openxmlformats.org/officeDocument/2006/relationships/image" Target="../media/image71.emf"/><Relationship Id="rId14" Type="http://schemas.openxmlformats.org/officeDocument/2006/relationships/oleObject" Target="../embeddings/oleObject66.bin"/><Relationship Id="rId22" Type="http://schemas.openxmlformats.org/officeDocument/2006/relationships/oleObject" Target="../embeddings/oleObject70.bin"/><Relationship Id="rId27" Type="http://schemas.openxmlformats.org/officeDocument/2006/relationships/image" Target="../media/image80.emf"/><Relationship Id="rId30" Type="http://schemas.openxmlformats.org/officeDocument/2006/relationships/oleObject" Target="../embeddings/oleObject74.bin"/><Relationship Id="rId35" Type="http://schemas.openxmlformats.org/officeDocument/2006/relationships/image" Target="../media/image84.emf"/><Relationship Id="rId8" Type="http://schemas.openxmlformats.org/officeDocument/2006/relationships/oleObject" Target="../embeddings/oleObject63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9.bin"/><Relationship Id="rId3" Type="http://schemas.openxmlformats.org/officeDocument/2006/relationships/oleObject" Target="../embeddings/oleObject77.bin"/><Relationship Id="rId7" Type="http://schemas.openxmlformats.org/officeDocument/2006/relationships/image" Target="../media/image87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.emf"/><Relationship Id="rId11" Type="http://schemas.openxmlformats.org/officeDocument/2006/relationships/image" Target="../media/image89.wmf"/><Relationship Id="rId5" Type="http://schemas.openxmlformats.org/officeDocument/2006/relationships/oleObject" Target="../embeddings/oleObject78.bin"/><Relationship Id="rId10" Type="http://schemas.openxmlformats.org/officeDocument/2006/relationships/oleObject" Target="../embeddings/oleObject80.bin"/><Relationship Id="rId4" Type="http://schemas.openxmlformats.org/officeDocument/2006/relationships/image" Target="../media/image85.emf"/><Relationship Id="rId9" Type="http://schemas.openxmlformats.org/officeDocument/2006/relationships/image" Target="../media/image88.wmf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5.emf"/><Relationship Id="rId18" Type="http://schemas.openxmlformats.org/officeDocument/2006/relationships/oleObject" Target="../embeddings/oleObject89.bin"/><Relationship Id="rId26" Type="http://schemas.openxmlformats.org/officeDocument/2006/relationships/oleObject" Target="../embeddings/oleObject93.bin"/><Relationship Id="rId3" Type="http://schemas.openxmlformats.org/officeDocument/2006/relationships/image" Target="../media/image90.emf"/><Relationship Id="rId21" Type="http://schemas.openxmlformats.org/officeDocument/2006/relationships/image" Target="../media/image99.emf"/><Relationship Id="rId7" Type="http://schemas.openxmlformats.org/officeDocument/2006/relationships/image" Target="../media/image92.emf"/><Relationship Id="rId12" Type="http://schemas.openxmlformats.org/officeDocument/2006/relationships/oleObject" Target="../embeddings/oleObject86.bin"/><Relationship Id="rId17" Type="http://schemas.openxmlformats.org/officeDocument/2006/relationships/image" Target="../media/image97.emf"/><Relationship Id="rId25" Type="http://schemas.openxmlformats.org/officeDocument/2006/relationships/image" Target="../media/image101.emf"/><Relationship Id="rId33" Type="http://schemas.openxmlformats.org/officeDocument/2006/relationships/image" Target="../media/image105.emf"/><Relationship Id="rId2" Type="http://schemas.openxmlformats.org/officeDocument/2006/relationships/oleObject" Target="../embeddings/oleObject81.bin"/><Relationship Id="rId16" Type="http://schemas.openxmlformats.org/officeDocument/2006/relationships/oleObject" Target="../embeddings/oleObject88.bin"/><Relationship Id="rId20" Type="http://schemas.openxmlformats.org/officeDocument/2006/relationships/oleObject" Target="../embeddings/oleObject90.bin"/><Relationship Id="rId29" Type="http://schemas.openxmlformats.org/officeDocument/2006/relationships/image" Target="../media/image103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3.bin"/><Relationship Id="rId11" Type="http://schemas.openxmlformats.org/officeDocument/2006/relationships/image" Target="../media/image94.emf"/><Relationship Id="rId24" Type="http://schemas.openxmlformats.org/officeDocument/2006/relationships/oleObject" Target="../embeddings/oleObject92.bin"/><Relationship Id="rId32" Type="http://schemas.openxmlformats.org/officeDocument/2006/relationships/oleObject" Target="../embeddings/oleObject96.bin"/><Relationship Id="rId5" Type="http://schemas.openxmlformats.org/officeDocument/2006/relationships/image" Target="../media/image91.emf"/><Relationship Id="rId15" Type="http://schemas.openxmlformats.org/officeDocument/2006/relationships/image" Target="../media/image96.emf"/><Relationship Id="rId23" Type="http://schemas.openxmlformats.org/officeDocument/2006/relationships/image" Target="../media/image100.emf"/><Relationship Id="rId28" Type="http://schemas.openxmlformats.org/officeDocument/2006/relationships/oleObject" Target="../embeddings/oleObject94.bin"/><Relationship Id="rId10" Type="http://schemas.openxmlformats.org/officeDocument/2006/relationships/oleObject" Target="../embeddings/oleObject85.bin"/><Relationship Id="rId19" Type="http://schemas.openxmlformats.org/officeDocument/2006/relationships/image" Target="../media/image98.emf"/><Relationship Id="rId31" Type="http://schemas.openxmlformats.org/officeDocument/2006/relationships/image" Target="../media/image104.emf"/><Relationship Id="rId4" Type="http://schemas.openxmlformats.org/officeDocument/2006/relationships/oleObject" Target="../embeddings/oleObject82.bin"/><Relationship Id="rId9" Type="http://schemas.openxmlformats.org/officeDocument/2006/relationships/image" Target="../media/image93.emf"/><Relationship Id="rId14" Type="http://schemas.openxmlformats.org/officeDocument/2006/relationships/oleObject" Target="../embeddings/oleObject87.bin"/><Relationship Id="rId22" Type="http://schemas.openxmlformats.org/officeDocument/2006/relationships/oleObject" Target="../embeddings/oleObject91.bin"/><Relationship Id="rId27" Type="http://schemas.openxmlformats.org/officeDocument/2006/relationships/image" Target="../media/image102.emf"/><Relationship Id="rId30" Type="http://schemas.openxmlformats.org/officeDocument/2006/relationships/oleObject" Target="../embeddings/oleObject95.bin"/><Relationship Id="rId8" Type="http://schemas.openxmlformats.org/officeDocument/2006/relationships/oleObject" Target="../embeddings/oleObject84.bin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1.emf"/><Relationship Id="rId18" Type="http://schemas.openxmlformats.org/officeDocument/2006/relationships/oleObject" Target="../embeddings/oleObject105.bin"/><Relationship Id="rId26" Type="http://schemas.openxmlformats.org/officeDocument/2006/relationships/oleObject" Target="../embeddings/oleObject109.bin"/><Relationship Id="rId21" Type="http://schemas.openxmlformats.org/officeDocument/2006/relationships/image" Target="../media/image115.emf"/><Relationship Id="rId34" Type="http://schemas.openxmlformats.org/officeDocument/2006/relationships/oleObject" Target="../embeddings/oleObject113.bin"/><Relationship Id="rId7" Type="http://schemas.openxmlformats.org/officeDocument/2006/relationships/image" Target="../media/image108.emf"/><Relationship Id="rId12" Type="http://schemas.openxmlformats.org/officeDocument/2006/relationships/oleObject" Target="../embeddings/oleObject102.bin"/><Relationship Id="rId17" Type="http://schemas.openxmlformats.org/officeDocument/2006/relationships/image" Target="../media/image113.emf"/><Relationship Id="rId25" Type="http://schemas.openxmlformats.org/officeDocument/2006/relationships/image" Target="../media/image117.emf"/><Relationship Id="rId33" Type="http://schemas.openxmlformats.org/officeDocument/2006/relationships/image" Target="../media/image121.emf"/><Relationship Id="rId2" Type="http://schemas.openxmlformats.org/officeDocument/2006/relationships/oleObject" Target="../embeddings/oleObject97.bin"/><Relationship Id="rId16" Type="http://schemas.openxmlformats.org/officeDocument/2006/relationships/oleObject" Target="../embeddings/oleObject104.bin"/><Relationship Id="rId20" Type="http://schemas.openxmlformats.org/officeDocument/2006/relationships/oleObject" Target="../embeddings/oleObject106.bin"/><Relationship Id="rId29" Type="http://schemas.openxmlformats.org/officeDocument/2006/relationships/image" Target="../media/image119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9.bin"/><Relationship Id="rId11" Type="http://schemas.openxmlformats.org/officeDocument/2006/relationships/image" Target="../media/image110.emf"/><Relationship Id="rId24" Type="http://schemas.openxmlformats.org/officeDocument/2006/relationships/oleObject" Target="../embeddings/oleObject108.bin"/><Relationship Id="rId32" Type="http://schemas.openxmlformats.org/officeDocument/2006/relationships/oleObject" Target="../embeddings/oleObject112.bin"/><Relationship Id="rId37" Type="http://schemas.openxmlformats.org/officeDocument/2006/relationships/image" Target="../media/image123.emf"/><Relationship Id="rId5" Type="http://schemas.openxmlformats.org/officeDocument/2006/relationships/image" Target="../media/image107.emf"/><Relationship Id="rId15" Type="http://schemas.openxmlformats.org/officeDocument/2006/relationships/image" Target="../media/image112.emf"/><Relationship Id="rId23" Type="http://schemas.openxmlformats.org/officeDocument/2006/relationships/image" Target="../media/image116.emf"/><Relationship Id="rId28" Type="http://schemas.openxmlformats.org/officeDocument/2006/relationships/oleObject" Target="../embeddings/oleObject110.bin"/><Relationship Id="rId36" Type="http://schemas.openxmlformats.org/officeDocument/2006/relationships/oleObject" Target="../embeddings/oleObject114.bin"/><Relationship Id="rId10" Type="http://schemas.openxmlformats.org/officeDocument/2006/relationships/oleObject" Target="../embeddings/oleObject101.bin"/><Relationship Id="rId19" Type="http://schemas.openxmlformats.org/officeDocument/2006/relationships/image" Target="../media/image114.emf"/><Relationship Id="rId31" Type="http://schemas.openxmlformats.org/officeDocument/2006/relationships/image" Target="../media/image120.wmf"/><Relationship Id="rId4" Type="http://schemas.openxmlformats.org/officeDocument/2006/relationships/oleObject" Target="../embeddings/oleObject98.bin"/><Relationship Id="rId9" Type="http://schemas.openxmlformats.org/officeDocument/2006/relationships/image" Target="../media/image109.emf"/><Relationship Id="rId14" Type="http://schemas.openxmlformats.org/officeDocument/2006/relationships/oleObject" Target="../embeddings/oleObject103.bin"/><Relationship Id="rId22" Type="http://schemas.openxmlformats.org/officeDocument/2006/relationships/oleObject" Target="../embeddings/oleObject107.bin"/><Relationship Id="rId27" Type="http://schemas.openxmlformats.org/officeDocument/2006/relationships/image" Target="../media/image118.emf"/><Relationship Id="rId30" Type="http://schemas.openxmlformats.org/officeDocument/2006/relationships/oleObject" Target="../embeddings/oleObject111.bin"/><Relationship Id="rId35" Type="http://schemas.openxmlformats.org/officeDocument/2006/relationships/image" Target="../media/image122.wmf"/><Relationship Id="rId8" Type="http://schemas.openxmlformats.org/officeDocument/2006/relationships/oleObject" Target="../embeddings/oleObject100.bin"/><Relationship Id="rId3" Type="http://schemas.openxmlformats.org/officeDocument/2006/relationships/image" Target="../media/image106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8.bin"/><Relationship Id="rId3" Type="http://schemas.openxmlformats.org/officeDocument/2006/relationships/image" Target="../media/image124.emf"/><Relationship Id="rId7" Type="http://schemas.openxmlformats.org/officeDocument/2006/relationships/image" Target="../media/image126.emf"/><Relationship Id="rId2" Type="http://schemas.openxmlformats.org/officeDocument/2006/relationships/oleObject" Target="../embeddings/oleObject11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7.bin"/><Relationship Id="rId11" Type="http://schemas.openxmlformats.org/officeDocument/2006/relationships/image" Target="../media/image128.emf"/><Relationship Id="rId5" Type="http://schemas.openxmlformats.org/officeDocument/2006/relationships/image" Target="../media/image125.emf"/><Relationship Id="rId10" Type="http://schemas.openxmlformats.org/officeDocument/2006/relationships/oleObject" Target="../embeddings/oleObject119.bin"/><Relationship Id="rId4" Type="http://schemas.openxmlformats.org/officeDocument/2006/relationships/oleObject" Target="../embeddings/oleObject116.bin"/><Relationship Id="rId9" Type="http://schemas.openxmlformats.org/officeDocument/2006/relationships/image" Target="../media/image127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emf"/><Relationship Id="rId7" Type="http://schemas.openxmlformats.org/officeDocument/2006/relationships/image" Target="../media/image131.emf"/><Relationship Id="rId2" Type="http://schemas.openxmlformats.org/officeDocument/2006/relationships/oleObject" Target="../embeddings/oleObject12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2.bin"/><Relationship Id="rId5" Type="http://schemas.openxmlformats.org/officeDocument/2006/relationships/image" Target="../media/image130.emf"/><Relationship Id="rId4" Type="http://schemas.openxmlformats.org/officeDocument/2006/relationships/oleObject" Target="../embeddings/oleObject121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emf"/><Relationship Id="rId13" Type="http://schemas.openxmlformats.org/officeDocument/2006/relationships/oleObject" Target="../embeddings/oleObject128.bin"/><Relationship Id="rId3" Type="http://schemas.openxmlformats.org/officeDocument/2006/relationships/image" Target="../media/image132.emf"/><Relationship Id="rId7" Type="http://schemas.openxmlformats.org/officeDocument/2006/relationships/oleObject" Target="../embeddings/oleObject125.bin"/><Relationship Id="rId12" Type="http://schemas.openxmlformats.org/officeDocument/2006/relationships/image" Target="../media/image137.emf"/><Relationship Id="rId2" Type="http://schemas.openxmlformats.org/officeDocument/2006/relationships/oleObject" Target="../embeddings/oleObject123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4.emf"/><Relationship Id="rId11" Type="http://schemas.openxmlformats.org/officeDocument/2006/relationships/oleObject" Target="../embeddings/oleObject127.bin"/><Relationship Id="rId5" Type="http://schemas.openxmlformats.org/officeDocument/2006/relationships/oleObject" Target="../embeddings/oleObject124.bin"/><Relationship Id="rId10" Type="http://schemas.openxmlformats.org/officeDocument/2006/relationships/image" Target="../media/image136.emf"/><Relationship Id="rId4" Type="http://schemas.openxmlformats.org/officeDocument/2006/relationships/image" Target="../media/image133.png"/><Relationship Id="rId9" Type="http://schemas.openxmlformats.org/officeDocument/2006/relationships/oleObject" Target="../embeddings/oleObject126.bin"/><Relationship Id="rId14" Type="http://schemas.openxmlformats.org/officeDocument/2006/relationships/image" Target="../media/image138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2.bin"/><Relationship Id="rId13" Type="http://schemas.openxmlformats.org/officeDocument/2006/relationships/image" Target="../media/image144.emf"/><Relationship Id="rId3" Type="http://schemas.openxmlformats.org/officeDocument/2006/relationships/image" Target="../media/image139.emf"/><Relationship Id="rId7" Type="http://schemas.openxmlformats.org/officeDocument/2006/relationships/image" Target="../media/image141.emf"/><Relationship Id="rId12" Type="http://schemas.openxmlformats.org/officeDocument/2006/relationships/oleObject" Target="../embeddings/oleObject134.bin"/><Relationship Id="rId2" Type="http://schemas.openxmlformats.org/officeDocument/2006/relationships/oleObject" Target="../embeddings/oleObject12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1.bin"/><Relationship Id="rId11" Type="http://schemas.openxmlformats.org/officeDocument/2006/relationships/image" Target="../media/image143.emf"/><Relationship Id="rId5" Type="http://schemas.openxmlformats.org/officeDocument/2006/relationships/image" Target="../media/image140.emf"/><Relationship Id="rId10" Type="http://schemas.openxmlformats.org/officeDocument/2006/relationships/oleObject" Target="../embeddings/oleObject133.bin"/><Relationship Id="rId4" Type="http://schemas.openxmlformats.org/officeDocument/2006/relationships/oleObject" Target="../embeddings/oleObject130.bin"/><Relationship Id="rId9" Type="http://schemas.openxmlformats.org/officeDocument/2006/relationships/image" Target="../media/image142.emf"/><Relationship Id="rId14" Type="http://schemas.openxmlformats.org/officeDocument/2006/relationships/image" Target="../media/image14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8.bin"/><Relationship Id="rId13" Type="http://schemas.openxmlformats.org/officeDocument/2006/relationships/image" Target="../media/image151.emf"/><Relationship Id="rId18" Type="http://schemas.openxmlformats.org/officeDocument/2006/relationships/image" Target="../media/image154.emf"/><Relationship Id="rId3" Type="http://schemas.openxmlformats.org/officeDocument/2006/relationships/image" Target="../media/image146.emf"/><Relationship Id="rId21" Type="http://schemas.openxmlformats.org/officeDocument/2006/relationships/oleObject" Target="../embeddings/oleObject144.bin"/><Relationship Id="rId7" Type="http://schemas.openxmlformats.org/officeDocument/2006/relationships/image" Target="../media/image148.emf"/><Relationship Id="rId12" Type="http://schemas.openxmlformats.org/officeDocument/2006/relationships/oleObject" Target="../embeddings/oleObject140.bin"/><Relationship Id="rId17" Type="http://schemas.openxmlformats.org/officeDocument/2006/relationships/oleObject" Target="../embeddings/oleObject142.bin"/><Relationship Id="rId2" Type="http://schemas.openxmlformats.org/officeDocument/2006/relationships/oleObject" Target="../embeddings/oleObject135.bin"/><Relationship Id="rId16" Type="http://schemas.openxmlformats.org/officeDocument/2006/relationships/image" Target="../media/image153.emf"/><Relationship Id="rId20" Type="http://schemas.openxmlformats.org/officeDocument/2006/relationships/image" Target="../media/image155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7.bin"/><Relationship Id="rId11" Type="http://schemas.openxmlformats.org/officeDocument/2006/relationships/image" Target="../media/image150.emf"/><Relationship Id="rId5" Type="http://schemas.openxmlformats.org/officeDocument/2006/relationships/image" Target="../media/image147.emf"/><Relationship Id="rId15" Type="http://schemas.openxmlformats.org/officeDocument/2006/relationships/oleObject" Target="../embeddings/oleObject141.bin"/><Relationship Id="rId10" Type="http://schemas.openxmlformats.org/officeDocument/2006/relationships/oleObject" Target="../embeddings/oleObject139.bin"/><Relationship Id="rId19" Type="http://schemas.openxmlformats.org/officeDocument/2006/relationships/oleObject" Target="../embeddings/oleObject143.bin"/><Relationship Id="rId4" Type="http://schemas.openxmlformats.org/officeDocument/2006/relationships/oleObject" Target="../embeddings/oleObject136.bin"/><Relationship Id="rId9" Type="http://schemas.openxmlformats.org/officeDocument/2006/relationships/image" Target="../media/image149.emf"/><Relationship Id="rId14" Type="http://schemas.openxmlformats.org/officeDocument/2006/relationships/image" Target="../media/image152.png"/><Relationship Id="rId22" Type="http://schemas.openxmlformats.org/officeDocument/2006/relationships/image" Target="../media/image156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157.emf"/><Relationship Id="rId7" Type="http://schemas.openxmlformats.org/officeDocument/2006/relationships/image" Target="../media/image159.emf"/><Relationship Id="rId2" Type="http://schemas.openxmlformats.org/officeDocument/2006/relationships/oleObject" Target="../embeddings/oleObject14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7.bin"/><Relationship Id="rId5" Type="http://schemas.openxmlformats.org/officeDocument/2006/relationships/image" Target="../media/image158.emf"/><Relationship Id="rId4" Type="http://schemas.openxmlformats.org/officeDocument/2006/relationships/oleObject" Target="../embeddings/oleObject146.bin"/><Relationship Id="rId9" Type="http://schemas.openxmlformats.org/officeDocument/2006/relationships/image" Target="../media/image16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emf"/><Relationship Id="rId2" Type="http://schemas.openxmlformats.org/officeDocument/2006/relationships/oleObject" Target="../embeddings/oleObject148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4.png"/><Relationship Id="rId5" Type="http://schemas.openxmlformats.org/officeDocument/2006/relationships/image" Target="../media/image163.emf"/><Relationship Id="rId4" Type="http://schemas.openxmlformats.org/officeDocument/2006/relationships/oleObject" Target="../embeddings/oleObject149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emf"/><Relationship Id="rId13" Type="http://schemas.openxmlformats.org/officeDocument/2006/relationships/oleObject" Target="../embeddings/oleObject155.bin"/><Relationship Id="rId3" Type="http://schemas.openxmlformats.org/officeDocument/2006/relationships/oleObject" Target="../embeddings/oleObject150.bin"/><Relationship Id="rId7" Type="http://schemas.openxmlformats.org/officeDocument/2006/relationships/oleObject" Target="../embeddings/oleObject152.bin"/><Relationship Id="rId12" Type="http://schemas.openxmlformats.org/officeDocument/2006/relationships/image" Target="../media/image169.emf"/><Relationship Id="rId2" Type="http://schemas.openxmlformats.org/officeDocument/2006/relationships/image" Target="../media/image160.png"/><Relationship Id="rId16" Type="http://schemas.openxmlformats.org/officeDocument/2006/relationships/image" Target="../media/image17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6.emf"/><Relationship Id="rId11" Type="http://schemas.openxmlformats.org/officeDocument/2006/relationships/oleObject" Target="../embeddings/oleObject154.bin"/><Relationship Id="rId5" Type="http://schemas.openxmlformats.org/officeDocument/2006/relationships/oleObject" Target="../embeddings/oleObject151.bin"/><Relationship Id="rId15" Type="http://schemas.openxmlformats.org/officeDocument/2006/relationships/oleObject" Target="../embeddings/oleObject156.bin"/><Relationship Id="rId10" Type="http://schemas.openxmlformats.org/officeDocument/2006/relationships/image" Target="../media/image168.emf"/><Relationship Id="rId4" Type="http://schemas.openxmlformats.org/officeDocument/2006/relationships/image" Target="../media/image165.emf"/><Relationship Id="rId9" Type="http://schemas.openxmlformats.org/officeDocument/2006/relationships/oleObject" Target="../embeddings/oleObject153.bin"/><Relationship Id="rId14" Type="http://schemas.openxmlformats.org/officeDocument/2006/relationships/image" Target="../media/image170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0.bin"/><Relationship Id="rId13" Type="http://schemas.openxmlformats.org/officeDocument/2006/relationships/image" Target="../media/image177.emf"/><Relationship Id="rId3" Type="http://schemas.openxmlformats.org/officeDocument/2006/relationships/image" Target="../media/image172.emf"/><Relationship Id="rId7" Type="http://schemas.openxmlformats.org/officeDocument/2006/relationships/image" Target="../media/image174.emf"/><Relationship Id="rId12" Type="http://schemas.openxmlformats.org/officeDocument/2006/relationships/oleObject" Target="../embeddings/oleObject162.bin"/><Relationship Id="rId17" Type="http://schemas.openxmlformats.org/officeDocument/2006/relationships/image" Target="../media/image179.emf"/><Relationship Id="rId2" Type="http://schemas.openxmlformats.org/officeDocument/2006/relationships/oleObject" Target="../embeddings/oleObject157.bin"/><Relationship Id="rId16" Type="http://schemas.openxmlformats.org/officeDocument/2006/relationships/oleObject" Target="../embeddings/oleObject16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9.bin"/><Relationship Id="rId11" Type="http://schemas.openxmlformats.org/officeDocument/2006/relationships/image" Target="../media/image176.emf"/><Relationship Id="rId5" Type="http://schemas.openxmlformats.org/officeDocument/2006/relationships/image" Target="../media/image173.emf"/><Relationship Id="rId15" Type="http://schemas.openxmlformats.org/officeDocument/2006/relationships/image" Target="../media/image178.emf"/><Relationship Id="rId10" Type="http://schemas.openxmlformats.org/officeDocument/2006/relationships/oleObject" Target="../embeddings/oleObject161.bin"/><Relationship Id="rId4" Type="http://schemas.openxmlformats.org/officeDocument/2006/relationships/oleObject" Target="../embeddings/oleObject158.bin"/><Relationship Id="rId9" Type="http://schemas.openxmlformats.org/officeDocument/2006/relationships/image" Target="../media/image175.emf"/><Relationship Id="rId14" Type="http://schemas.openxmlformats.org/officeDocument/2006/relationships/oleObject" Target="../embeddings/oleObject163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8.bin"/><Relationship Id="rId13" Type="http://schemas.openxmlformats.org/officeDocument/2006/relationships/image" Target="../media/image185.emf"/><Relationship Id="rId3" Type="http://schemas.openxmlformats.org/officeDocument/2006/relationships/image" Target="../media/image180.emf"/><Relationship Id="rId7" Type="http://schemas.openxmlformats.org/officeDocument/2006/relationships/image" Target="../media/image182.emf"/><Relationship Id="rId12" Type="http://schemas.openxmlformats.org/officeDocument/2006/relationships/oleObject" Target="../embeddings/oleObject170.bin"/><Relationship Id="rId17" Type="http://schemas.openxmlformats.org/officeDocument/2006/relationships/image" Target="../media/image187.emf"/><Relationship Id="rId2" Type="http://schemas.openxmlformats.org/officeDocument/2006/relationships/oleObject" Target="../embeddings/oleObject165.bin"/><Relationship Id="rId16" Type="http://schemas.openxmlformats.org/officeDocument/2006/relationships/oleObject" Target="../embeddings/oleObject17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7.bin"/><Relationship Id="rId11" Type="http://schemas.openxmlformats.org/officeDocument/2006/relationships/image" Target="../media/image184.emf"/><Relationship Id="rId5" Type="http://schemas.openxmlformats.org/officeDocument/2006/relationships/image" Target="../media/image181.emf"/><Relationship Id="rId15" Type="http://schemas.openxmlformats.org/officeDocument/2006/relationships/image" Target="../media/image186.emf"/><Relationship Id="rId10" Type="http://schemas.openxmlformats.org/officeDocument/2006/relationships/oleObject" Target="../embeddings/oleObject169.bin"/><Relationship Id="rId4" Type="http://schemas.openxmlformats.org/officeDocument/2006/relationships/oleObject" Target="../embeddings/oleObject166.bin"/><Relationship Id="rId9" Type="http://schemas.openxmlformats.org/officeDocument/2006/relationships/image" Target="../media/image183.emf"/><Relationship Id="rId14" Type="http://schemas.openxmlformats.org/officeDocument/2006/relationships/oleObject" Target="../embeddings/oleObject171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png"/><Relationship Id="rId3" Type="http://schemas.openxmlformats.org/officeDocument/2006/relationships/image" Target="../media/image188.emf"/><Relationship Id="rId7" Type="http://schemas.openxmlformats.org/officeDocument/2006/relationships/image" Target="../media/image191.png"/><Relationship Id="rId2" Type="http://schemas.openxmlformats.org/officeDocument/2006/relationships/oleObject" Target="../embeddings/oleObject173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0.png"/><Relationship Id="rId5" Type="http://schemas.openxmlformats.org/officeDocument/2006/relationships/image" Target="../media/image189.emf"/><Relationship Id="rId4" Type="http://schemas.openxmlformats.org/officeDocument/2006/relationships/oleObject" Target="../embeddings/oleObject174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8.bin"/><Relationship Id="rId13" Type="http://schemas.openxmlformats.org/officeDocument/2006/relationships/image" Target="../media/image198.emf"/><Relationship Id="rId18" Type="http://schemas.openxmlformats.org/officeDocument/2006/relationships/oleObject" Target="../embeddings/oleObject183.bin"/><Relationship Id="rId26" Type="http://schemas.openxmlformats.org/officeDocument/2006/relationships/image" Target="../media/image205.png"/><Relationship Id="rId3" Type="http://schemas.openxmlformats.org/officeDocument/2006/relationships/image" Target="../media/image193.emf"/><Relationship Id="rId21" Type="http://schemas.openxmlformats.org/officeDocument/2006/relationships/image" Target="../media/image202.emf"/><Relationship Id="rId7" Type="http://schemas.openxmlformats.org/officeDocument/2006/relationships/image" Target="../media/image195.emf"/><Relationship Id="rId12" Type="http://schemas.openxmlformats.org/officeDocument/2006/relationships/oleObject" Target="../embeddings/oleObject180.bin"/><Relationship Id="rId17" Type="http://schemas.openxmlformats.org/officeDocument/2006/relationships/image" Target="../media/image200.emf"/><Relationship Id="rId25" Type="http://schemas.openxmlformats.org/officeDocument/2006/relationships/image" Target="../media/image204.emf"/><Relationship Id="rId2" Type="http://schemas.openxmlformats.org/officeDocument/2006/relationships/oleObject" Target="../embeddings/oleObject175.bin"/><Relationship Id="rId16" Type="http://schemas.openxmlformats.org/officeDocument/2006/relationships/oleObject" Target="../embeddings/oleObject182.bin"/><Relationship Id="rId20" Type="http://schemas.openxmlformats.org/officeDocument/2006/relationships/oleObject" Target="../embeddings/oleObject18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7.bin"/><Relationship Id="rId11" Type="http://schemas.openxmlformats.org/officeDocument/2006/relationships/image" Target="../media/image197.emf"/><Relationship Id="rId24" Type="http://schemas.openxmlformats.org/officeDocument/2006/relationships/oleObject" Target="../embeddings/oleObject186.bin"/><Relationship Id="rId5" Type="http://schemas.openxmlformats.org/officeDocument/2006/relationships/image" Target="../media/image194.emf"/><Relationship Id="rId15" Type="http://schemas.openxmlformats.org/officeDocument/2006/relationships/image" Target="../media/image199.emf"/><Relationship Id="rId23" Type="http://schemas.openxmlformats.org/officeDocument/2006/relationships/image" Target="../media/image203.emf"/><Relationship Id="rId10" Type="http://schemas.openxmlformats.org/officeDocument/2006/relationships/oleObject" Target="../embeddings/oleObject179.bin"/><Relationship Id="rId19" Type="http://schemas.openxmlformats.org/officeDocument/2006/relationships/image" Target="../media/image201.emf"/><Relationship Id="rId4" Type="http://schemas.openxmlformats.org/officeDocument/2006/relationships/oleObject" Target="../embeddings/oleObject176.bin"/><Relationship Id="rId9" Type="http://schemas.openxmlformats.org/officeDocument/2006/relationships/image" Target="../media/image196.emf"/><Relationship Id="rId14" Type="http://schemas.openxmlformats.org/officeDocument/2006/relationships/oleObject" Target="../embeddings/oleObject181.bin"/><Relationship Id="rId22" Type="http://schemas.openxmlformats.org/officeDocument/2006/relationships/oleObject" Target="../embeddings/oleObject185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wmf"/><Relationship Id="rId2" Type="http://schemas.openxmlformats.org/officeDocument/2006/relationships/oleObject" Target="../embeddings/oleObject187.bin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1.bin"/><Relationship Id="rId13" Type="http://schemas.openxmlformats.org/officeDocument/2006/relationships/image" Target="../media/image212.emf"/><Relationship Id="rId18" Type="http://schemas.openxmlformats.org/officeDocument/2006/relationships/image" Target="../media/image1.png"/><Relationship Id="rId3" Type="http://schemas.openxmlformats.org/officeDocument/2006/relationships/image" Target="../media/image207.emf"/><Relationship Id="rId7" Type="http://schemas.openxmlformats.org/officeDocument/2006/relationships/image" Target="../media/image209.emf"/><Relationship Id="rId12" Type="http://schemas.openxmlformats.org/officeDocument/2006/relationships/oleObject" Target="../embeddings/oleObject193.bin"/><Relationship Id="rId17" Type="http://schemas.openxmlformats.org/officeDocument/2006/relationships/image" Target="../media/image214.emf"/><Relationship Id="rId2" Type="http://schemas.openxmlformats.org/officeDocument/2006/relationships/oleObject" Target="../embeddings/oleObject188.bin"/><Relationship Id="rId16" Type="http://schemas.openxmlformats.org/officeDocument/2006/relationships/oleObject" Target="../embeddings/oleObject19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0.bin"/><Relationship Id="rId11" Type="http://schemas.openxmlformats.org/officeDocument/2006/relationships/image" Target="../media/image211.emf"/><Relationship Id="rId5" Type="http://schemas.openxmlformats.org/officeDocument/2006/relationships/image" Target="../media/image208.emf"/><Relationship Id="rId15" Type="http://schemas.openxmlformats.org/officeDocument/2006/relationships/image" Target="../media/image213.emf"/><Relationship Id="rId10" Type="http://schemas.openxmlformats.org/officeDocument/2006/relationships/oleObject" Target="../embeddings/oleObject192.bin"/><Relationship Id="rId4" Type="http://schemas.openxmlformats.org/officeDocument/2006/relationships/oleObject" Target="../embeddings/oleObject189.bin"/><Relationship Id="rId9" Type="http://schemas.openxmlformats.org/officeDocument/2006/relationships/image" Target="../media/image210.emf"/><Relationship Id="rId14" Type="http://schemas.openxmlformats.org/officeDocument/2006/relationships/oleObject" Target="../embeddings/oleObject194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9.bin"/><Relationship Id="rId13" Type="http://schemas.openxmlformats.org/officeDocument/2006/relationships/image" Target="../media/image220.emf"/><Relationship Id="rId3" Type="http://schemas.openxmlformats.org/officeDocument/2006/relationships/image" Target="../media/image215.emf"/><Relationship Id="rId7" Type="http://schemas.openxmlformats.org/officeDocument/2006/relationships/image" Target="../media/image217.emf"/><Relationship Id="rId12" Type="http://schemas.openxmlformats.org/officeDocument/2006/relationships/oleObject" Target="../embeddings/oleObject201.bin"/><Relationship Id="rId2" Type="http://schemas.openxmlformats.org/officeDocument/2006/relationships/oleObject" Target="../embeddings/oleObject19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8.bin"/><Relationship Id="rId11" Type="http://schemas.openxmlformats.org/officeDocument/2006/relationships/image" Target="../media/image219.emf"/><Relationship Id="rId5" Type="http://schemas.openxmlformats.org/officeDocument/2006/relationships/image" Target="../media/image216.emf"/><Relationship Id="rId15" Type="http://schemas.openxmlformats.org/officeDocument/2006/relationships/image" Target="../media/image221.emf"/><Relationship Id="rId10" Type="http://schemas.openxmlformats.org/officeDocument/2006/relationships/oleObject" Target="../embeddings/oleObject200.bin"/><Relationship Id="rId4" Type="http://schemas.openxmlformats.org/officeDocument/2006/relationships/oleObject" Target="../embeddings/oleObject197.bin"/><Relationship Id="rId9" Type="http://schemas.openxmlformats.org/officeDocument/2006/relationships/image" Target="../media/image218.emf"/><Relationship Id="rId14" Type="http://schemas.openxmlformats.org/officeDocument/2006/relationships/oleObject" Target="../embeddings/oleObject202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6.bin"/><Relationship Id="rId13" Type="http://schemas.openxmlformats.org/officeDocument/2006/relationships/oleObject" Target="../embeddings/oleObject208.bin"/><Relationship Id="rId3" Type="http://schemas.openxmlformats.org/officeDocument/2006/relationships/image" Target="../media/image222.emf"/><Relationship Id="rId7" Type="http://schemas.openxmlformats.org/officeDocument/2006/relationships/image" Target="../media/image224.emf"/><Relationship Id="rId12" Type="http://schemas.openxmlformats.org/officeDocument/2006/relationships/image" Target="../media/image227.emf"/><Relationship Id="rId17" Type="http://schemas.openxmlformats.org/officeDocument/2006/relationships/image" Target="../media/image1.png"/><Relationship Id="rId2" Type="http://schemas.openxmlformats.org/officeDocument/2006/relationships/oleObject" Target="../embeddings/oleObject203.bin"/><Relationship Id="rId16" Type="http://schemas.openxmlformats.org/officeDocument/2006/relationships/image" Target="../media/image229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5.bin"/><Relationship Id="rId11" Type="http://schemas.openxmlformats.org/officeDocument/2006/relationships/oleObject" Target="../embeddings/oleObject207.bin"/><Relationship Id="rId5" Type="http://schemas.openxmlformats.org/officeDocument/2006/relationships/image" Target="../media/image223.emf"/><Relationship Id="rId15" Type="http://schemas.openxmlformats.org/officeDocument/2006/relationships/oleObject" Target="../embeddings/oleObject209.bin"/><Relationship Id="rId10" Type="http://schemas.openxmlformats.org/officeDocument/2006/relationships/image" Target="../media/image226.png"/><Relationship Id="rId4" Type="http://schemas.openxmlformats.org/officeDocument/2006/relationships/oleObject" Target="../embeddings/oleObject204.bin"/><Relationship Id="rId9" Type="http://schemas.openxmlformats.org/officeDocument/2006/relationships/image" Target="../media/image225.emf"/><Relationship Id="rId14" Type="http://schemas.openxmlformats.org/officeDocument/2006/relationships/image" Target="../media/image228.e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3.bin"/><Relationship Id="rId13" Type="http://schemas.openxmlformats.org/officeDocument/2006/relationships/image" Target="../media/image235.emf"/><Relationship Id="rId3" Type="http://schemas.openxmlformats.org/officeDocument/2006/relationships/image" Target="../media/image230.emf"/><Relationship Id="rId7" Type="http://schemas.openxmlformats.org/officeDocument/2006/relationships/image" Target="../media/image232.emf"/><Relationship Id="rId12" Type="http://schemas.openxmlformats.org/officeDocument/2006/relationships/oleObject" Target="../embeddings/oleObject215.bin"/><Relationship Id="rId2" Type="http://schemas.openxmlformats.org/officeDocument/2006/relationships/oleObject" Target="../embeddings/oleObject21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2.bin"/><Relationship Id="rId11" Type="http://schemas.openxmlformats.org/officeDocument/2006/relationships/image" Target="../media/image234.emf"/><Relationship Id="rId5" Type="http://schemas.openxmlformats.org/officeDocument/2006/relationships/image" Target="../media/image231.emf"/><Relationship Id="rId10" Type="http://schemas.openxmlformats.org/officeDocument/2006/relationships/oleObject" Target="../embeddings/oleObject214.bin"/><Relationship Id="rId4" Type="http://schemas.openxmlformats.org/officeDocument/2006/relationships/oleObject" Target="../embeddings/oleObject211.bin"/><Relationship Id="rId9" Type="http://schemas.openxmlformats.org/officeDocument/2006/relationships/image" Target="../media/image233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6.png"/><Relationship Id="rId7" Type="http://schemas.openxmlformats.org/officeDocument/2006/relationships/image" Target="../media/image238.png"/><Relationship Id="rId2" Type="http://schemas.openxmlformats.org/officeDocument/2006/relationships/hyperlink" Target="https://www.bilibili.com/video/BV1jA41137hh/?spm_id_from=333.337.search-card.all.click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bilibili.com/video/BV1Lm421g7B9/?spm_id_from=333.337.search-card.all.click&amp;vd_source=cbc26ac5a27dd541735237c7e8b5a6a4" TargetMode="External"/><Relationship Id="rId5" Type="http://schemas.openxmlformats.org/officeDocument/2006/relationships/image" Target="../media/image237.png"/><Relationship Id="rId4" Type="http://schemas.openxmlformats.org/officeDocument/2006/relationships/hyperlink" Target="https://www.bilibili.com/video/BV1DV4y197N5/?spm_id_from=333.337.search-card.all.click&amp;vd_source=cbc26ac5a27dd541735237c7e8b5a6a4" TargetMode="Externa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9.bin"/><Relationship Id="rId13" Type="http://schemas.openxmlformats.org/officeDocument/2006/relationships/image" Target="../media/image244.emf"/><Relationship Id="rId18" Type="http://schemas.openxmlformats.org/officeDocument/2006/relationships/oleObject" Target="../embeddings/oleObject224.bin"/><Relationship Id="rId3" Type="http://schemas.openxmlformats.org/officeDocument/2006/relationships/image" Target="../media/image239.wmf"/><Relationship Id="rId7" Type="http://schemas.openxmlformats.org/officeDocument/2006/relationships/image" Target="../media/image241.emf"/><Relationship Id="rId12" Type="http://schemas.openxmlformats.org/officeDocument/2006/relationships/oleObject" Target="../embeddings/oleObject221.bin"/><Relationship Id="rId17" Type="http://schemas.openxmlformats.org/officeDocument/2006/relationships/image" Target="../media/image246.emf"/><Relationship Id="rId2" Type="http://schemas.openxmlformats.org/officeDocument/2006/relationships/oleObject" Target="../embeddings/oleObject216.bin"/><Relationship Id="rId16" Type="http://schemas.openxmlformats.org/officeDocument/2006/relationships/oleObject" Target="../embeddings/oleObject22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18.bin"/><Relationship Id="rId11" Type="http://schemas.openxmlformats.org/officeDocument/2006/relationships/image" Target="../media/image243.wmf"/><Relationship Id="rId5" Type="http://schemas.openxmlformats.org/officeDocument/2006/relationships/image" Target="../media/image240.emf"/><Relationship Id="rId15" Type="http://schemas.openxmlformats.org/officeDocument/2006/relationships/image" Target="../media/image245.emf"/><Relationship Id="rId10" Type="http://schemas.openxmlformats.org/officeDocument/2006/relationships/oleObject" Target="../embeddings/oleObject220.bin"/><Relationship Id="rId19" Type="http://schemas.openxmlformats.org/officeDocument/2006/relationships/image" Target="../media/image247.emf"/><Relationship Id="rId4" Type="http://schemas.openxmlformats.org/officeDocument/2006/relationships/oleObject" Target="../embeddings/oleObject217.bin"/><Relationship Id="rId9" Type="http://schemas.openxmlformats.org/officeDocument/2006/relationships/image" Target="../media/image242.emf"/><Relationship Id="rId14" Type="http://schemas.openxmlformats.org/officeDocument/2006/relationships/oleObject" Target="../embeddings/oleObject222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8.bin"/><Relationship Id="rId13" Type="http://schemas.openxmlformats.org/officeDocument/2006/relationships/image" Target="../media/image253.wmf"/><Relationship Id="rId18" Type="http://schemas.openxmlformats.org/officeDocument/2006/relationships/oleObject" Target="../embeddings/oleObject233.bin"/><Relationship Id="rId26" Type="http://schemas.openxmlformats.org/officeDocument/2006/relationships/oleObject" Target="../embeddings/oleObject237.bin"/><Relationship Id="rId3" Type="http://schemas.openxmlformats.org/officeDocument/2006/relationships/image" Target="../media/image248.emf"/><Relationship Id="rId21" Type="http://schemas.openxmlformats.org/officeDocument/2006/relationships/image" Target="../media/image256.emf"/><Relationship Id="rId7" Type="http://schemas.openxmlformats.org/officeDocument/2006/relationships/image" Target="../media/image250.emf"/><Relationship Id="rId12" Type="http://schemas.openxmlformats.org/officeDocument/2006/relationships/oleObject" Target="../embeddings/oleObject230.bin"/><Relationship Id="rId17" Type="http://schemas.openxmlformats.org/officeDocument/2006/relationships/image" Target="../media/image243.wmf"/><Relationship Id="rId25" Type="http://schemas.openxmlformats.org/officeDocument/2006/relationships/image" Target="../media/image258.emf"/><Relationship Id="rId2" Type="http://schemas.openxmlformats.org/officeDocument/2006/relationships/oleObject" Target="../embeddings/oleObject225.bin"/><Relationship Id="rId16" Type="http://schemas.openxmlformats.org/officeDocument/2006/relationships/oleObject" Target="../embeddings/oleObject232.bin"/><Relationship Id="rId20" Type="http://schemas.openxmlformats.org/officeDocument/2006/relationships/oleObject" Target="../embeddings/oleObject234.bin"/><Relationship Id="rId29" Type="http://schemas.openxmlformats.org/officeDocument/2006/relationships/image" Target="../media/image260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27.bin"/><Relationship Id="rId11" Type="http://schemas.openxmlformats.org/officeDocument/2006/relationships/image" Target="../media/image252.wmf"/><Relationship Id="rId24" Type="http://schemas.openxmlformats.org/officeDocument/2006/relationships/oleObject" Target="../embeddings/oleObject236.bin"/><Relationship Id="rId5" Type="http://schemas.openxmlformats.org/officeDocument/2006/relationships/image" Target="../media/image249.wmf"/><Relationship Id="rId15" Type="http://schemas.openxmlformats.org/officeDocument/2006/relationships/image" Target="../media/image254.wmf"/><Relationship Id="rId23" Type="http://schemas.openxmlformats.org/officeDocument/2006/relationships/image" Target="../media/image257.emf"/><Relationship Id="rId28" Type="http://schemas.openxmlformats.org/officeDocument/2006/relationships/oleObject" Target="../embeddings/oleObject238.bin"/><Relationship Id="rId10" Type="http://schemas.openxmlformats.org/officeDocument/2006/relationships/oleObject" Target="../embeddings/oleObject229.bin"/><Relationship Id="rId19" Type="http://schemas.openxmlformats.org/officeDocument/2006/relationships/image" Target="../media/image255.emf"/><Relationship Id="rId4" Type="http://schemas.openxmlformats.org/officeDocument/2006/relationships/oleObject" Target="../embeddings/oleObject226.bin"/><Relationship Id="rId9" Type="http://schemas.openxmlformats.org/officeDocument/2006/relationships/image" Target="../media/image251.emf"/><Relationship Id="rId14" Type="http://schemas.openxmlformats.org/officeDocument/2006/relationships/oleObject" Target="../embeddings/oleObject231.bin"/><Relationship Id="rId22" Type="http://schemas.openxmlformats.org/officeDocument/2006/relationships/oleObject" Target="../embeddings/oleObject235.bin"/><Relationship Id="rId27" Type="http://schemas.openxmlformats.org/officeDocument/2006/relationships/image" Target="../media/image259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1.wmf"/><Relationship Id="rId2" Type="http://schemas.openxmlformats.org/officeDocument/2006/relationships/oleObject" Target="../embeddings/oleObject239.bin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5.wmf"/><Relationship Id="rId5" Type="http://schemas.openxmlformats.org/officeDocument/2006/relationships/image" Target="../media/image262.wmf"/><Relationship Id="rId4" Type="http://schemas.openxmlformats.org/officeDocument/2006/relationships/oleObject" Target="../embeddings/oleObject240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4.bin"/><Relationship Id="rId13" Type="http://schemas.openxmlformats.org/officeDocument/2006/relationships/image" Target="../media/image268.wmf"/><Relationship Id="rId18" Type="http://schemas.openxmlformats.org/officeDocument/2006/relationships/oleObject" Target="../embeddings/oleObject249.bin"/><Relationship Id="rId3" Type="http://schemas.openxmlformats.org/officeDocument/2006/relationships/image" Target="../media/image263.wmf"/><Relationship Id="rId21" Type="http://schemas.openxmlformats.org/officeDocument/2006/relationships/image" Target="../media/image272.emf"/><Relationship Id="rId7" Type="http://schemas.openxmlformats.org/officeDocument/2006/relationships/image" Target="../media/image265.wmf"/><Relationship Id="rId12" Type="http://schemas.openxmlformats.org/officeDocument/2006/relationships/oleObject" Target="../embeddings/oleObject246.bin"/><Relationship Id="rId17" Type="http://schemas.openxmlformats.org/officeDocument/2006/relationships/image" Target="../media/image270.wmf"/><Relationship Id="rId2" Type="http://schemas.openxmlformats.org/officeDocument/2006/relationships/oleObject" Target="../embeddings/oleObject241.bin"/><Relationship Id="rId16" Type="http://schemas.openxmlformats.org/officeDocument/2006/relationships/oleObject" Target="../embeddings/oleObject248.bin"/><Relationship Id="rId20" Type="http://schemas.openxmlformats.org/officeDocument/2006/relationships/oleObject" Target="../embeddings/oleObject25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3.bin"/><Relationship Id="rId11" Type="http://schemas.openxmlformats.org/officeDocument/2006/relationships/image" Target="../media/image267.wmf"/><Relationship Id="rId5" Type="http://schemas.openxmlformats.org/officeDocument/2006/relationships/image" Target="../media/image264.wmf"/><Relationship Id="rId15" Type="http://schemas.openxmlformats.org/officeDocument/2006/relationships/image" Target="../media/image269.wmf"/><Relationship Id="rId23" Type="http://schemas.openxmlformats.org/officeDocument/2006/relationships/image" Target="../media/image273.emf"/><Relationship Id="rId10" Type="http://schemas.openxmlformats.org/officeDocument/2006/relationships/oleObject" Target="../embeddings/oleObject245.bin"/><Relationship Id="rId19" Type="http://schemas.openxmlformats.org/officeDocument/2006/relationships/image" Target="../media/image271.emf"/><Relationship Id="rId4" Type="http://schemas.openxmlformats.org/officeDocument/2006/relationships/oleObject" Target="../embeddings/oleObject242.bin"/><Relationship Id="rId9" Type="http://schemas.openxmlformats.org/officeDocument/2006/relationships/image" Target="../media/image266.wmf"/><Relationship Id="rId14" Type="http://schemas.openxmlformats.org/officeDocument/2006/relationships/oleObject" Target="../embeddings/oleObject247.bin"/><Relationship Id="rId22" Type="http://schemas.openxmlformats.org/officeDocument/2006/relationships/oleObject" Target="../embeddings/oleObject251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5.bin"/><Relationship Id="rId13" Type="http://schemas.openxmlformats.org/officeDocument/2006/relationships/image" Target="../media/image279.emf"/><Relationship Id="rId18" Type="http://schemas.openxmlformats.org/officeDocument/2006/relationships/oleObject" Target="../embeddings/oleObject260.bin"/><Relationship Id="rId3" Type="http://schemas.openxmlformats.org/officeDocument/2006/relationships/image" Target="../media/image274.emf"/><Relationship Id="rId21" Type="http://schemas.openxmlformats.org/officeDocument/2006/relationships/image" Target="../media/image283.emf"/><Relationship Id="rId7" Type="http://schemas.openxmlformats.org/officeDocument/2006/relationships/image" Target="../media/image276.emf"/><Relationship Id="rId12" Type="http://schemas.openxmlformats.org/officeDocument/2006/relationships/oleObject" Target="../embeddings/oleObject257.bin"/><Relationship Id="rId17" Type="http://schemas.openxmlformats.org/officeDocument/2006/relationships/image" Target="../media/image281.emf"/><Relationship Id="rId2" Type="http://schemas.openxmlformats.org/officeDocument/2006/relationships/oleObject" Target="../embeddings/oleObject252.bin"/><Relationship Id="rId16" Type="http://schemas.openxmlformats.org/officeDocument/2006/relationships/oleObject" Target="../embeddings/oleObject259.bin"/><Relationship Id="rId20" Type="http://schemas.openxmlformats.org/officeDocument/2006/relationships/oleObject" Target="../embeddings/oleObject26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54.bin"/><Relationship Id="rId11" Type="http://schemas.openxmlformats.org/officeDocument/2006/relationships/image" Target="../media/image278.emf"/><Relationship Id="rId5" Type="http://schemas.openxmlformats.org/officeDocument/2006/relationships/image" Target="../media/image275.emf"/><Relationship Id="rId15" Type="http://schemas.openxmlformats.org/officeDocument/2006/relationships/image" Target="../media/image280.emf"/><Relationship Id="rId23" Type="http://schemas.openxmlformats.org/officeDocument/2006/relationships/image" Target="../media/image284.emf"/><Relationship Id="rId10" Type="http://schemas.openxmlformats.org/officeDocument/2006/relationships/oleObject" Target="../embeddings/oleObject256.bin"/><Relationship Id="rId19" Type="http://schemas.openxmlformats.org/officeDocument/2006/relationships/image" Target="../media/image282.emf"/><Relationship Id="rId4" Type="http://schemas.openxmlformats.org/officeDocument/2006/relationships/oleObject" Target="../embeddings/oleObject253.bin"/><Relationship Id="rId9" Type="http://schemas.openxmlformats.org/officeDocument/2006/relationships/image" Target="../media/image277.emf"/><Relationship Id="rId14" Type="http://schemas.openxmlformats.org/officeDocument/2006/relationships/oleObject" Target="../embeddings/oleObject258.bin"/><Relationship Id="rId22" Type="http://schemas.openxmlformats.org/officeDocument/2006/relationships/oleObject" Target="../embeddings/oleObject262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5.emf"/><Relationship Id="rId7" Type="http://schemas.openxmlformats.org/officeDocument/2006/relationships/image" Target="../media/image287.emf"/><Relationship Id="rId2" Type="http://schemas.openxmlformats.org/officeDocument/2006/relationships/oleObject" Target="../embeddings/oleObject26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65.bin"/><Relationship Id="rId5" Type="http://schemas.openxmlformats.org/officeDocument/2006/relationships/image" Target="../media/image286.emf"/><Relationship Id="rId4" Type="http://schemas.openxmlformats.org/officeDocument/2006/relationships/oleObject" Target="../embeddings/oleObject264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8.emf"/><Relationship Id="rId2" Type="http://schemas.openxmlformats.org/officeDocument/2006/relationships/oleObject" Target="../embeddings/oleObject266.bin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9.wmf"/><Relationship Id="rId7" Type="http://schemas.openxmlformats.org/officeDocument/2006/relationships/image" Target="../media/image291.wmf"/><Relationship Id="rId2" Type="http://schemas.openxmlformats.org/officeDocument/2006/relationships/oleObject" Target="../embeddings/oleObject26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69.bin"/><Relationship Id="rId5" Type="http://schemas.openxmlformats.org/officeDocument/2006/relationships/image" Target="../media/image290.wmf"/><Relationship Id="rId4" Type="http://schemas.openxmlformats.org/officeDocument/2006/relationships/oleObject" Target="../embeddings/oleObject268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5.png"/><Relationship Id="rId3" Type="http://schemas.openxmlformats.org/officeDocument/2006/relationships/image" Target="../media/image292.emf"/><Relationship Id="rId7" Type="http://schemas.openxmlformats.org/officeDocument/2006/relationships/image" Target="../media/image294.wmf"/><Relationship Id="rId2" Type="http://schemas.openxmlformats.org/officeDocument/2006/relationships/oleObject" Target="../embeddings/oleObject27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72.bin"/><Relationship Id="rId5" Type="http://schemas.openxmlformats.org/officeDocument/2006/relationships/image" Target="../media/image293.wmf"/><Relationship Id="rId4" Type="http://schemas.openxmlformats.org/officeDocument/2006/relationships/oleObject" Target="../embeddings/oleObject271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6.bin"/><Relationship Id="rId3" Type="http://schemas.openxmlformats.org/officeDocument/2006/relationships/image" Target="../media/image296.emf"/><Relationship Id="rId7" Type="http://schemas.openxmlformats.org/officeDocument/2006/relationships/image" Target="../media/image298.wmf"/><Relationship Id="rId2" Type="http://schemas.openxmlformats.org/officeDocument/2006/relationships/oleObject" Target="../embeddings/oleObject27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75.bin"/><Relationship Id="rId11" Type="http://schemas.openxmlformats.org/officeDocument/2006/relationships/image" Target="../media/image300.emf"/><Relationship Id="rId5" Type="http://schemas.openxmlformats.org/officeDocument/2006/relationships/image" Target="../media/image297.wmf"/><Relationship Id="rId10" Type="http://schemas.openxmlformats.org/officeDocument/2006/relationships/oleObject" Target="../embeddings/oleObject277.bin"/><Relationship Id="rId4" Type="http://schemas.openxmlformats.org/officeDocument/2006/relationships/oleObject" Target="../embeddings/oleObject274.bin"/><Relationship Id="rId9" Type="http://schemas.openxmlformats.org/officeDocument/2006/relationships/image" Target="../media/image299.e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1.bin"/><Relationship Id="rId13" Type="http://schemas.openxmlformats.org/officeDocument/2006/relationships/image" Target="../media/image306.wmf"/><Relationship Id="rId18" Type="http://schemas.openxmlformats.org/officeDocument/2006/relationships/oleObject" Target="../embeddings/oleObject286.bin"/><Relationship Id="rId3" Type="http://schemas.openxmlformats.org/officeDocument/2006/relationships/image" Target="../media/image301.wmf"/><Relationship Id="rId21" Type="http://schemas.openxmlformats.org/officeDocument/2006/relationships/image" Target="../media/image310.wmf"/><Relationship Id="rId7" Type="http://schemas.openxmlformats.org/officeDocument/2006/relationships/image" Target="../media/image303.emf"/><Relationship Id="rId12" Type="http://schemas.openxmlformats.org/officeDocument/2006/relationships/oleObject" Target="../embeddings/oleObject283.bin"/><Relationship Id="rId17" Type="http://schemas.openxmlformats.org/officeDocument/2006/relationships/image" Target="../media/image308.wmf"/><Relationship Id="rId2" Type="http://schemas.openxmlformats.org/officeDocument/2006/relationships/oleObject" Target="../embeddings/oleObject278.bin"/><Relationship Id="rId16" Type="http://schemas.openxmlformats.org/officeDocument/2006/relationships/oleObject" Target="../embeddings/oleObject285.bin"/><Relationship Id="rId20" Type="http://schemas.openxmlformats.org/officeDocument/2006/relationships/oleObject" Target="../embeddings/oleObject28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80.bin"/><Relationship Id="rId11" Type="http://schemas.openxmlformats.org/officeDocument/2006/relationships/image" Target="../media/image305.emf"/><Relationship Id="rId5" Type="http://schemas.openxmlformats.org/officeDocument/2006/relationships/image" Target="../media/image302.emf"/><Relationship Id="rId15" Type="http://schemas.openxmlformats.org/officeDocument/2006/relationships/image" Target="../media/image307.wmf"/><Relationship Id="rId10" Type="http://schemas.openxmlformats.org/officeDocument/2006/relationships/oleObject" Target="../embeddings/oleObject282.bin"/><Relationship Id="rId19" Type="http://schemas.openxmlformats.org/officeDocument/2006/relationships/image" Target="../media/image309.wmf"/><Relationship Id="rId4" Type="http://schemas.openxmlformats.org/officeDocument/2006/relationships/oleObject" Target="../embeddings/oleObject279.bin"/><Relationship Id="rId9" Type="http://schemas.openxmlformats.org/officeDocument/2006/relationships/image" Target="../media/image304.emf"/><Relationship Id="rId14" Type="http://schemas.openxmlformats.org/officeDocument/2006/relationships/oleObject" Target="../embeddings/oleObject284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1.bin"/><Relationship Id="rId13" Type="http://schemas.openxmlformats.org/officeDocument/2006/relationships/image" Target="../media/image316.emf"/><Relationship Id="rId18" Type="http://schemas.openxmlformats.org/officeDocument/2006/relationships/oleObject" Target="../embeddings/oleObject296.bin"/><Relationship Id="rId3" Type="http://schemas.openxmlformats.org/officeDocument/2006/relationships/image" Target="../media/image311.wmf"/><Relationship Id="rId21" Type="http://schemas.openxmlformats.org/officeDocument/2006/relationships/image" Target="../media/image320.emf"/><Relationship Id="rId7" Type="http://schemas.openxmlformats.org/officeDocument/2006/relationships/image" Target="../media/image313.emf"/><Relationship Id="rId12" Type="http://schemas.openxmlformats.org/officeDocument/2006/relationships/oleObject" Target="../embeddings/oleObject293.bin"/><Relationship Id="rId17" Type="http://schemas.openxmlformats.org/officeDocument/2006/relationships/image" Target="../media/image318.emf"/><Relationship Id="rId25" Type="http://schemas.openxmlformats.org/officeDocument/2006/relationships/image" Target="../media/image322.wmf"/><Relationship Id="rId2" Type="http://schemas.openxmlformats.org/officeDocument/2006/relationships/oleObject" Target="../embeddings/oleObject288.bin"/><Relationship Id="rId16" Type="http://schemas.openxmlformats.org/officeDocument/2006/relationships/oleObject" Target="../embeddings/oleObject295.bin"/><Relationship Id="rId20" Type="http://schemas.openxmlformats.org/officeDocument/2006/relationships/oleObject" Target="../embeddings/oleObject29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90.bin"/><Relationship Id="rId11" Type="http://schemas.openxmlformats.org/officeDocument/2006/relationships/image" Target="../media/image315.emf"/><Relationship Id="rId24" Type="http://schemas.openxmlformats.org/officeDocument/2006/relationships/oleObject" Target="../embeddings/oleObject299.bin"/><Relationship Id="rId5" Type="http://schemas.openxmlformats.org/officeDocument/2006/relationships/image" Target="../media/image312.wmf"/><Relationship Id="rId15" Type="http://schemas.openxmlformats.org/officeDocument/2006/relationships/image" Target="../media/image317.emf"/><Relationship Id="rId23" Type="http://schemas.openxmlformats.org/officeDocument/2006/relationships/image" Target="../media/image321.emf"/><Relationship Id="rId10" Type="http://schemas.openxmlformats.org/officeDocument/2006/relationships/oleObject" Target="../embeddings/oleObject292.bin"/><Relationship Id="rId19" Type="http://schemas.openxmlformats.org/officeDocument/2006/relationships/image" Target="../media/image319.emf"/><Relationship Id="rId4" Type="http://schemas.openxmlformats.org/officeDocument/2006/relationships/oleObject" Target="../embeddings/oleObject289.bin"/><Relationship Id="rId9" Type="http://schemas.openxmlformats.org/officeDocument/2006/relationships/image" Target="../media/image314.wmf"/><Relationship Id="rId14" Type="http://schemas.openxmlformats.org/officeDocument/2006/relationships/oleObject" Target="../embeddings/oleObject294.bin"/><Relationship Id="rId22" Type="http://schemas.openxmlformats.org/officeDocument/2006/relationships/oleObject" Target="../embeddings/oleObject298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3.bin"/><Relationship Id="rId13" Type="http://schemas.openxmlformats.org/officeDocument/2006/relationships/image" Target="../media/image328.wmf"/><Relationship Id="rId3" Type="http://schemas.openxmlformats.org/officeDocument/2006/relationships/image" Target="../media/image323.wmf"/><Relationship Id="rId7" Type="http://schemas.openxmlformats.org/officeDocument/2006/relationships/image" Target="../media/image325.wmf"/><Relationship Id="rId12" Type="http://schemas.openxmlformats.org/officeDocument/2006/relationships/oleObject" Target="../embeddings/oleObject305.bin"/><Relationship Id="rId2" Type="http://schemas.openxmlformats.org/officeDocument/2006/relationships/oleObject" Target="../embeddings/oleObject300.bin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02.bin"/><Relationship Id="rId11" Type="http://schemas.openxmlformats.org/officeDocument/2006/relationships/image" Target="../media/image327.wmf"/><Relationship Id="rId5" Type="http://schemas.openxmlformats.org/officeDocument/2006/relationships/image" Target="../media/image324.wmf"/><Relationship Id="rId15" Type="http://schemas.openxmlformats.org/officeDocument/2006/relationships/image" Target="../media/image329.wmf"/><Relationship Id="rId10" Type="http://schemas.openxmlformats.org/officeDocument/2006/relationships/oleObject" Target="../embeddings/oleObject304.bin"/><Relationship Id="rId4" Type="http://schemas.openxmlformats.org/officeDocument/2006/relationships/oleObject" Target="../embeddings/oleObject301.bin"/><Relationship Id="rId9" Type="http://schemas.openxmlformats.org/officeDocument/2006/relationships/image" Target="../media/image326.wmf"/><Relationship Id="rId14" Type="http://schemas.openxmlformats.org/officeDocument/2006/relationships/oleObject" Target="../embeddings/oleObject306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0.bin"/><Relationship Id="rId13" Type="http://schemas.openxmlformats.org/officeDocument/2006/relationships/image" Target="../media/image335.emf"/><Relationship Id="rId18" Type="http://schemas.openxmlformats.org/officeDocument/2006/relationships/oleObject" Target="../embeddings/oleObject315.bin"/><Relationship Id="rId3" Type="http://schemas.openxmlformats.org/officeDocument/2006/relationships/image" Target="../media/image330.wmf"/><Relationship Id="rId21" Type="http://schemas.openxmlformats.org/officeDocument/2006/relationships/image" Target="../media/image339.wmf"/><Relationship Id="rId7" Type="http://schemas.openxmlformats.org/officeDocument/2006/relationships/image" Target="../media/image332.wmf"/><Relationship Id="rId12" Type="http://schemas.openxmlformats.org/officeDocument/2006/relationships/oleObject" Target="../embeddings/oleObject312.bin"/><Relationship Id="rId17" Type="http://schemas.openxmlformats.org/officeDocument/2006/relationships/image" Target="../media/image337.emf"/><Relationship Id="rId2" Type="http://schemas.openxmlformats.org/officeDocument/2006/relationships/oleObject" Target="../embeddings/oleObject307.bin"/><Relationship Id="rId16" Type="http://schemas.openxmlformats.org/officeDocument/2006/relationships/oleObject" Target="../embeddings/oleObject314.bin"/><Relationship Id="rId20" Type="http://schemas.openxmlformats.org/officeDocument/2006/relationships/oleObject" Target="../embeddings/oleObject31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09.bin"/><Relationship Id="rId11" Type="http://schemas.openxmlformats.org/officeDocument/2006/relationships/image" Target="../media/image334.emf"/><Relationship Id="rId5" Type="http://schemas.openxmlformats.org/officeDocument/2006/relationships/image" Target="../media/image331.wmf"/><Relationship Id="rId15" Type="http://schemas.openxmlformats.org/officeDocument/2006/relationships/image" Target="../media/image336.emf"/><Relationship Id="rId10" Type="http://schemas.openxmlformats.org/officeDocument/2006/relationships/oleObject" Target="../embeddings/oleObject311.bin"/><Relationship Id="rId19" Type="http://schemas.openxmlformats.org/officeDocument/2006/relationships/image" Target="../media/image338.emf"/><Relationship Id="rId4" Type="http://schemas.openxmlformats.org/officeDocument/2006/relationships/oleObject" Target="../embeddings/oleObject308.bin"/><Relationship Id="rId9" Type="http://schemas.openxmlformats.org/officeDocument/2006/relationships/image" Target="../media/image333.emf"/><Relationship Id="rId14" Type="http://schemas.openxmlformats.org/officeDocument/2006/relationships/oleObject" Target="../embeddings/oleObject313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wmf"/><Relationship Id="rId2" Type="http://schemas.openxmlformats.org/officeDocument/2006/relationships/oleObject" Target="../embeddings/oleObject317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wmf"/><Relationship Id="rId5" Type="http://schemas.openxmlformats.org/officeDocument/2006/relationships/image" Target="../media/image341.wmf"/><Relationship Id="rId4" Type="http://schemas.openxmlformats.org/officeDocument/2006/relationships/oleObject" Target="../embeddings/oleObject318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2.bin"/><Relationship Id="rId3" Type="http://schemas.openxmlformats.org/officeDocument/2006/relationships/image" Target="../media/image342.wmf"/><Relationship Id="rId7" Type="http://schemas.openxmlformats.org/officeDocument/2006/relationships/image" Target="../media/image344.wmf"/><Relationship Id="rId2" Type="http://schemas.openxmlformats.org/officeDocument/2006/relationships/oleObject" Target="../embeddings/oleObject31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21.bin"/><Relationship Id="rId5" Type="http://schemas.openxmlformats.org/officeDocument/2006/relationships/image" Target="../media/image343.wmf"/><Relationship Id="rId4" Type="http://schemas.openxmlformats.org/officeDocument/2006/relationships/oleObject" Target="../embeddings/oleObject320.bin"/><Relationship Id="rId9" Type="http://schemas.openxmlformats.org/officeDocument/2006/relationships/image" Target="../media/image345.wmf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6.png"/><Relationship Id="rId7" Type="http://schemas.openxmlformats.org/officeDocument/2006/relationships/image" Target="../media/image348.wmf"/><Relationship Id="rId2" Type="http://schemas.openxmlformats.org/officeDocument/2006/relationships/image" Target="../media/image295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24.bin"/><Relationship Id="rId5" Type="http://schemas.openxmlformats.org/officeDocument/2006/relationships/image" Target="../media/image347.wmf"/><Relationship Id="rId4" Type="http://schemas.openxmlformats.org/officeDocument/2006/relationships/oleObject" Target="../embeddings/oleObject323.bin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1.wmf"/><Relationship Id="rId3" Type="http://schemas.openxmlformats.org/officeDocument/2006/relationships/oleObject" Target="../embeddings/oleObject325.bin"/><Relationship Id="rId7" Type="http://schemas.openxmlformats.org/officeDocument/2006/relationships/oleObject" Target="../embeddings/oleObject327.bin"/><Relationship Id="rId2" Type="http://schemas.openxmlformats.org/officeDocument/2006/relationships/image" Target="../media/image3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0.wmf"/><Relationship Id="rId11" Type="http://schemas.openxmlformats.org/officeDocument/2006/relationships/image" Target="../media/image353.jpeg"/><Relationship Id="rId5" Type="http://schemas.openxmlformats.org/officeDocument/2006/relationships/oleObject" Target="../embeddings/oleObject326.bin"/><Relationship Id="rId10" Type="http://schemas.openxmlformats.org/officeDocument/2006/relationships/image" Target="../media/image352.wmf"/><Relationship Id="rId4" Type="http://schemas.openxmlformats.org/officeDocument/2006/relationships/image" Target="../media/image349.wmf"/><Relationship Id="rId9" Type="http://schemas.openxmlformats.org/officeDocument/2006/relationships/oleObject" Target="../embeddings/oleObject328.bin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354.wmf"/><Relationship Id="rId7" Type="http://schemas.openxmlformats.org/officeDocument/2006/relationships/image" Target="../media/image356.emf"/><Relationship Id="rId2" Type="http://schemas.openxmlformats.org/officeDocument/2006/relationships/oleObject" Target="../embeddings/oleObject32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31.bin"/><Relationship Id="rId5" Type="http://schemas.openxmlformats.org/officeDocument/2006/relationships/image" Target="../media/image355.wmf"/><Relationship Id="rId4" Type="http://schemas.openxmlformats.org/officeDocument/2006/relationships/oleObject" Target="../embeddings/oleObject330.bin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9.emf"/><Relationship Id="rId3" Type="http://schemas.openxmlformats.org/officeDocument/2006/relationships/oleObject" Target="../embeddings/oleObject332.bin"/><Relationship Id="rId7" Type="http://schemas.openxmlformats.org/officeDocument/2006/relationships/oleObject" Target="../embeddings/oleObject334.bin"/><Relationship Id="rId2" Type="http://schemas.openxmlformats.org/officeDocument/2006/relationships/image" Target="../media/image3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8.wmf"/><Relationship Id="rId5" Type="http://schemas.openxmlformats.org/officeDocument/2006/relationships/oleObject" Target="../embeddings/oleObject333.bin"/><Relationship Id="rId4" Type="http://schemas.openxmlformats.org/officeDocument/2006/relationships/image" Target="../media/image357.wmf"/><Relationship Id="rId9" Type="http://schemas.openxmlformats.org/officeDocument/2006/relationships/image" Target="../media/image15.wmf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6.bin"/><Relationship Id="rId3" Type="http://schemas.openxmlformats.org/officeDocument/2006/relationships/image" Target="../media/image360.emf"/><Relationship Id="rId7" Type="http://schemas.openxmlformats.org/officeDocument/2006/relationships/image" Target="../media/image362.emf"/><Relationship Id="rId2" Type="http://schemas.openxmlformats.org/officeDocument/2006/relationships/oleObject" Target="../embeddings/oleObject335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93.bin"/><Relationship Id="rId5" Type="http://schemas.openxmlformats.org/officeDocument/2006/relationships/image" Target="../media/image361.emf"/><Relationship Id="rId4" Type="http://schemas.openxmlformats.org/officeDocument/2006/relationships/oleObject" Target="../embeddings/oleObject292.bin"/><Relationship Id="rId9" Type="http://schemas.openxmlformats.org/officeDocument/2006/relationships/image" Target="../media/image363.e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0.bin"/><Relationship Id="rId3" Type="http://schemas.openxmlformats.org/officeDocument/2006/relationships/image" Target="../media/image364.emf"/><Relationship Id="rId7" Type="http://schemas.openxmlformats.org/officeDocument/2006/relationships/image" Target="../media/image366.emf"/><Relationship Id="rId2" Type="http://schemas.openxmlformats.org/officeDocument/2006/relationships/oleObject" Target="../embeddings/oleObject337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39.bin"/><Relationship Id="rId5" Type="http://schemas.openxmlformats.org/officeDocument/2006/relationships/image" Target="../media/image365.emf"/><Relationship Id="rId4" Type="http://schemas.openxmlformats.org/officeDocument/2006/relationships/oleObject" Target="../embeddings/oleObject338.bin"/><Relationship Id="rId9" Type="http://schemas.openxmlformats.org/officeDocument/2006/relationships/image" Target="../media/image367.e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8.emf"/><Relationship Id="rId2" Type="http://schemas.openxmlformats.org/officeDocument/2006/relationships/oleObject" Target="../embeddings/oleObject341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69.emf"/><Relationship Id="rId4" Type="http://schemas.openxmlformats.org/officeDocument/2006/relationships/oleObject" Target="../embeddings/oleObject342.bin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0.png"/><Relationship Id="rId3" Type="http://schemas.openxmlformats.org/officeDocument/2006/relationships/tags" Target="../tags/tag4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9" Type="http://schemas.openxmlformats.org/officeDocument/2006/relationships/image" Target="../media/image371.jpe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video" Target="file:///F:\&#24037;&#20316;&#36741;&#21161;\&#25945;&#23398;&#36741;&#21161;\&#26412;&#31185;&#65306;&#30005;&#30913;&#22330;&#19982;&#27874;\PPT\&#25105;&#30340;PPT\&#30005;&#30913;&#22330;&#19982;&#27874;&#35838;&#20214;\4.2%20&#30005;&#30913;&#28846;.mp4" TargetMode="External"/><Relationship Id="rId1" Type="http://schemas.microsoft.com/office/2007/relationships/media" Target="file:///F:\&#24037;&#20316;&#36741;&#21161;\&#25945;&#23398;&#36741;&#21161;\&#26412;&#31185;&#65306;&#30005;&#30913;&#22330;&#19982;&#27874;\PPT\&#25105;&#30340;PPT\&#30005;&#30913;&#22330;&#19982;&#27874;&#35838;&#20214;\4.2%20&#30005;&#30913;&#28846;.mp4" TargetMode="External"/><Relationship Id="rId5" Type="http://schemas.openxmlformats.org/officeDocument/2006/relationships/image" Target="../media/image372.png"/><Relationship Id="rId4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10" Type="http://schemas.openxmlformats.org/officeDocument/2006/relationships/image" Target="../media/image375.png"/><Relationship Id="rId4" Type="http://schemas.openxmlformats.org/officeDocument/2006/relationships/tags" Target="../tags/tag15.xml"/><Relationship Id="rId9" Type="http://schemas.openxmlformats.org/officeDocument/2006/relationships/image" Target="../media/image374.jpe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6.png"/><Relationship Id="rId3" Type="http://schemas.openxmlformats.org/officeDocument/2006/relationships/tags" Target="../tags/tag21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9" Type="http://schemas.openxmlformats.org/officeDocument/2006/relationships/image" Target="../media/image377.jpe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12" Type="http://schemas.openxmlformats.org/officeDocument/2006/relationships/image" Target="../media/image379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image" Target="../media/image378.png"/><Relationship Id="rId5" Type="http://schemas.openxmlformats.org/officeDocument/2006/relationships/tags" Target="../tags/tag29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28.xml"/><Relationship Id="rId9" Type="http://schemas.openxmlformats.org/officeDocument/2006/relationships/tags" Target="../tags/tag3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7" Type="http://schemas.openxmlformats.org/officeDocument/2006/relationships/image" Target="../media/image381.png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image" Target="../media/image380.jpe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3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f7ca2b0b8345d73a05864c0052c6d002.mp4" TargetMode="Externa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8.xml"/><Relationship Id="rId4" Type="http://schemas.openxmlformats.org/officeDocument/2006/relationships/image" Target="../media/image382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6.bin"/><Relationship Id="rId13" Type="http://schemas.openxmlformats.org/officeDocument/2006/relationships/image" Target="../media/image388.emf"/><Relationship Id="rId18" Type="http://schemas.openxmlformats.org/officeDocument/2006/relationships/oleObject" Target="../embeddings/oleObject348.bin"/><Relationship Id="rId3" Type="http://schemas.openxmlformats.org/officeDocument/2006/relationships/image" Target="../media/image383.emf"/><Relationship Id="rId21" Type="http://schemas.openxmlformats.org/officeDocument/2006/relationships/image" Target="../media/image392.wmf"/><Relationship Id="rId7" Type="http://schemas.openxmlformats.org/officeDocument/2006/relationships/image" Target="../media/image385.emf"/><Relationship Id="rId12" Type="http://schemas.openxmlformats.org/officeDocument/2006/relationships/oleObject" Target="../embeddings/oleObject183.bin"/><Relationship Id="rId17" Type="http://schemas.openxmlformats.org/officeDocument/2006/relationships/image" Target="../media/image390.emf"/><Relationship Id="rId25" Type="http://schemas.openxmlformats.org/officeDocument/2006/relationships/image" Target="../media/image394.wmf"/><Relationship Id="rId2" Type="http://schemas.openxmlformats.org/officeDocument/2006/relationships/oleObject" Target="../embeddings/oleObject343.bin"/><Relationship Id="rId16" Type="http://schemas.openxmlformats.org/officeDocument/2006/relationships/oleObject" Target="../embeddings/oleObject270.bin"/><Relationship Id="rId20" Type="http://schemas.openxmlformats.org/officeDocument/2006/relationships/oleObject" Target="../embeddings/oleObject34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45.bin"/><Relationship Id="rId11" Type="http://schemas.openxmlformats.org/officeDocument/2006/relationships/image" Target="../media/image387.emf"/><Relationship Id="rId24" Type="http://schemas.openxmlformats.org/officeDocument/2006/relationships/oleObject" Target="../embeddings/oleObject351.bin"/><Relationship Id="rId5" Type="http://schemas.openxmlformats.org/officeDocument/2006/relationships/image" Target="../media/image384.emf"/><Relationship Id="rId15" Type="http://schemas.openxmlformats.org/officeDocument/2006/relationships/image" Target="../media/image389.emf"/><Relationship Id="rId23" Type="http://schemas.openxmlformats.org/officeDocument/2006/relationships/image" Target="../media/image393.wmf"/><Relationship Id="rId10" Type="http://schemas.openxmlformats.org/officeDocument/2006/relationships/oleObject" Target="../embeddings/oleObject347.bin"/><Relationship Id="rId19" Type="http://schemas.openxmlformats.org/officeDocument/2006/relationships/image" Target="../media/image391.wmf"/><Relationship Id="rId4" Type="http://schemas.openxmlformats.org/officeDocument/2006/relationships/oleObject" Target="../embeddings/oleObject344.bin"/><Relationship Id="rId9" Type="http://schemas.openxmlformats.org/officeDocument/2006/relationships/image" Target="../media/image386.emf"/><Relationship Id="rId14" Type="http://schemas.openxmlformats.org/officeDocument/2006/relationships/oleObject" Target="../embeddings/oleObject178.bin"/><Relationship Id="rId22" Type="http://schemas.openxmlformats.org/officeDocument/2006/relationships/oleObject" Target="../embeddings/oleObject350.bin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2855913" y="4292600"/>
            <a:ext cx="6400800" cy="914400"/>
          </a:xfrm>
        </p:spPr>
        <p:txBody>
          <a:bodyPr/>
          <a:lstStyle/>
          <a:p>
            <a:pPr eaLnBrk="1" hangingPunct="1"/>
            <a:r>
              <a:rPr lang="en-US" altLang="zh-CN" sz="3600" b="1">
                <a:solidFill>
                  <a:srgbClr val="000000"/>
                </a:solidFill>
              </a:rPr>
              <a:t>Wuqiong Luo</a:t>
            </a:r>
          </a:p>
        </p:txBody>
      </p:sp>
      <p:sp>
        <p:nvSpPr>
          <p:cNvPr id="2052" name="Rectangle 4"/>
          <p:cNvSpPr>
            <a:spLocks noRot="1" noChangeArrowheads="1"/>
          </p:cNvSpPr>
          <p:nvPr/>
        </p:nvSpPr>
        <p:spPr bwMode="auto">
          <a:xfrm>
            <a:off x="1524000" y="1268414"/>
            <a:ext cx="9144000" cy="2376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6600" b="1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Chapter 6</a:t>
            </a:r>
            <a:br>
              <a:rPr lang="en-US" altLang="zh-CN" sz="6600" b="1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</a:br>
            <a:r>
              <a:rPr lang="en-US" altLang="zh-CN" sz="6600" b="1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Static Magnetic Fields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Line 3"/>
          <p:cNvSpPr>
            <a:spLocks noChangeShapeType="1"/>
          </p:cNvSpPr>
          <p:nvPr/>
        </p:nvSpPr>
        <p:spPr bwMode="auto">
          <a:xfrm>
            <a:off x="2640014" y="3746500"/>
            <a:ext cx="6911975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3719513" y="0"/>
            <a:ext cx="4724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kumimoji="1" lang="en-US" altLang="zh-CN" sz="4400" b="1" i="1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Contents</a:t>
            </a:r>
          </a:p>
        </p:txBody>
      </p:sp>
      <p:sp>
        <p:nvSpPr>
          <p:cNvPr id="5124" name="Text Box 5"/>
          <p:cNvSpPr txBox="1">
            <a:spLocks noChangeArrowheads="1"/>
          </p:cNvSpPr>
          <p:nvPr/>
        </p:nvSpPr>
        <p:spPr bwMode="auto">
          <a:xfrm>
            <a:off x="1774825" y="692150"/>
            <a:ext cx="8675688" cy="5418138"/>
          </a:xfrm>
          <a:prstGeom prst="rect">
            <a:avLst/>
          </a:prstGeom>
          <a:solidFill>
            <a:srgbClr val="FFFFFF"/>
          </a:solidFill>
          <a:ln w="25400">
            <a:solidFill>
              <a:srgbClr val="9933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6.1   Fundamental Postulates of 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Magnetostatics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in Free Space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6.2   Vector Magnetic potential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6.3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  The 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Biot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-Savart Law and Applications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6.4   Magnetization and Equivalent Current Densities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6.5   Magnetic Field Intensity and Relative Permeability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6.6   Boundary Conditions for 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Magnetostatic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Fields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6.7   Inductances and Inductors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6.8   Magnetic Energy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90220" y="210185"/>
            <a:ext cx="11322050" cy="1143000"/>
          </a:xfrm>
          <a:noFill/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CN" b="1">
                <a:solidFill>
                  <a:srgbClr val="800000"/>
                </a:solidFill>
              </a:rPr>
              <a:t>6.1 Fundamental Postulates of Magnetostatics in Free Space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545638" y="5589588"/>
            <a:ext cx="1122362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srgbClr val="FFC000">
                <a:alpha val="40000"/>
              </a:srgbClr>
            </a:outerShdw>
          </a:effectLst>
        </p:spPr>
      </p:pic>
      <p:graphicFrame>
        <p:nvGraphicFramePr>
          <p:cNvPr id="82947" name="Object 25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3141823" y="1974850"/>
          <a:ext cx="180467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62000" imgH="228600" progId="Equation.DSMT4">
                  <p:embed/>
                </p:oleObj>
              </mc:Choice>
              <mc:Fallback>
                <p:oleObj name="Equation" r:id="rId3" imgW="762000" imgH="228600" progId="Equation.DSMT4">
                  <p:embed/>
                  <p:pic>
                    <p:nvPicPr>
                      <p:cNvPr id="0" name="图片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1823" y="1974850"/>
                        <a:ext cx="180467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2092325" y="2790825"/>
            <a:ext cx="5923481" cy="387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ko-KR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where </a:t>
            </a:r>
            <a:r>
              <a:rPr lang="en-US" altLang="ko-KR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µ</a:t>
            </a:r>
            <a:r>
              <a:rPr lang="en-US" altLang="ko-KR" sz="2400" b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ko-KR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is the permeability of free space:</a:t>
            </a:r>
          </a:p>
        </p:txBody>
      </p:sp>
      <p:graphicFrame>
        <p:nvGraphicFramePr>
          <p:cNvPr id="82950" name="Object 6"/>
          <p:cNvGraphicFramePr>
            <a:graphicFrameLocks noChangeAspect="1"/>
          </p:cNvGraphicFramePr>
          <p:nvPr/>
        </p:nvGraphicFramePr>
        <p:xfrm>
          <a:off x="5447030" y="3246756"/>
          <a:ext cx="353060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511300" imgH="254000" progId="Equation.DSMT4">
                  <p:embed/>
                </p:oleObj>
              </mc:Choice>
              <mc:Fallback>
                <p:oleObj r:id="rId5" imgW="1511300" imgH="2540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7030" y="3246756"/>
                        <a:ext cx="3530600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1" name="Rectangle 7"/>
          <p:cNvSpPr>
            <a:spLocks noRot="1" noChangeArrowheads="1"/>
          </p:cNvSpPr>
          <p:nvPr/>
        </p:nvSpPr>
        <p:spPr bwMode="auto">
          <a:xfrm>
            <a:off x="1703388" y="1400176"/>
            <a:ext cx="8540750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ko-KR" sz="2400" dirty="0">
                <a:solidFill>
                  <a:srgbClr val="000000"/>
                </a:solidFill>
                <a:ea typeface="Gulim" panose="020B0600000101010101" pitchFamily="34" charset="-127"/>
              </a:rPr>
              <a:t>The two fundamental postulates of </a:t>
            </a:r>
            <a:r>
              <a:rPr lang="en-US" altLang="ko-KR" sz="2400" dirty="0" err="1">
                <a:solidFill>
                  <a:srgbClr val="000000"/>
                </a:solidFill>
                <a:ea typeface="Gulim" panose="020B0600000101010101" pitchFamily="34" charset="-127"/>
              </a:rPr>
              <a:t>magnetostatics</a:t>
            </a:r>
            <a:r>
              <a:rPr lang="en-US" altLang="ko-KR" sz="2400" dirty="0">
                <a:solidFill>
                  <a:srgbClr val="000000"/>
                </a:solidFill>
                <a:ea typeface="Gulim" panose="020B0600000101010101" pitchFamily="34" charset="-127"/>
              </a:rPr>
              <a:t> are</a:t>
            </a:r>
            <a:endParaRPr lang="en-US" altLang="zh-CN" sz="2400" dirty="0">
              <a:solidFill>
                <a:srgbClr val="000000"/>
              </a:solidFill>
              <a:ea typeface="Gulim" panose="020B0600000101010101" pitchFamily="34" charset="-127"/>
            </a:endParaRPr>
          </a:p>
        </p:txBody>
      </p:sp>
      <p:graphicFrame>
        <p:nvGraphicFramePr>
          <p:cNvPr id="82952" name="Object 25"/>
          <p:cNvGraphicFramePr>
            <a:graphicFrameLocks noChangeAspect="1"/>
          </p:cNvGraphicFramePr>
          <p:nvPr/>
        </p:nvGraphicFramePr>
        <p:xfrm>
          <a:off x="6527801" y="1976439"/>
          <a:ext cx="136842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36600" imgH="228600" progId="Equation.DSMT4">
                  <p:embed/>
                </p:oleObj>
              </mc:Choice>
              <mc:Fallback>
                <p:oleObj name="Equation" r:id="rId7" imgW="736600" imgH="2286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7801" y="1976439"/>
                        <a:ext cx="1368425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3" name="Object 9"/>
          <p:cNvGraphicFramePr>
            <a:graphicFrameLocks noChangeAspect="1"/>
          </p:cNvGraphicFramePr>
          <p:nvPr/>
        </p:nvGraphicFramePr>
        <p:xfrm>
          <a:off x="2841309" y="4832193"/>
          <a:ext cx="1988185" cy="455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89000" imgH="203200" progId="Equation.DSMT4">
                  <p:embed/>
                </p:oleObj>
              </mc:Choice>
              <mc:Fallback>
                <p:oleObj name="Equation" r:id="rId9" imgW="889000" imgH="2032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1309" y="4832193"/>
                        <a:ext cx="1988185" cy="4559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4" name="Rectangle 10"/>
          <p:cNvSpPr>
            <a:spLocks noChangeArrowheads="1"/>
          </p:cNvSpPr>
          <p:nvPr/>
        </p:nvSpPr>
        <p:spPr bwMode="auto">
          <a:xfrm>
            <a:off x="2063751" y="3914776"/>
            <a:ext cx="9213849" cy="681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And, </a:t>
            </a:r>
            <a:r>
              <a:rPr lang="en-US" altLang="ko-KR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J is the current density. Since the divergence of the curl of any vector field is zero, we obtain</a:t>
            </a:r>
          </a:p>
        </p:txBody>
      </p:sp>
      <p:graphicFrame>
        <p:nvGraphicFramePr>
          <p:cNvPr id="82955" name="Object 25"/>
          <p:cNvGraphicFramePr>
            <a:graphicFrameLocks noChangeAspect="1"/>
          </p:cNvGraphicFramePr>
          <p:nvPr/>
        </p:nvGraphicFramePr>
        <p:xfrm>
          <a:off x="6527801" y="4781551"/>
          <a:ext cx="1306513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698500" imgH="228600" progId="Equation.DSMT4">
                  <p:embed/>
                </p:oleObj>
              </mc:Choice>
              <mc:Fallback>
                <p:oleObj name="Equation" r:id="rId11" imgW="698500" imgH="2286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7801" y="4781551"/>
                        <a:ext cx="1306513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8618" name="AutoShape 42"/>
          <p:cNvSpPr>
            <a:spLocks noChangeArrowheads="1"/>
          </p:cNvSpPr>
          <p:nvPr/>
        </p:nvSpPr>
        <p:spPr bwMode="auto">
          <a:xfrm>
            <a:off x="5303838" y="4929188"/>
            <a:ext cx="576262" cy="215900"/>
          </a:xfrm>
          <a:prstGeom prst="rightArrow">
            <a:avLst>
              <a:gd name="adj1" fmla="val 50000"/>
              <a:gd name="adj2" fmla="val 66728"/>
            </a:avLst>
          </a:prstGeom>
          <a:solidFill>
            <a:srgbClr val="FFCC99"/>
          </a:solidFill>
          <a:ln w="22225">
            <a:solidFill>
              <a:srgbClr val="FF66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b="1">
              <a:solidFill>
                <a:srgbClr val="FF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82957" name="Rectangle 13"/>
          <p:cNvSpPr>
            <a:spLocks noChangeArrowheads="1"/>
          </p:cNvSpPr>
          <p:nvPr/>
        </p:nvSpPr>
        <p:spPr bwMode="auto">
          <a:xfrm>
            <a:off x="2135189" y="5600700"/>
            <a:ext cx="7054175" cy="387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ko-KR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which is consistent with the equation of continuity.</a:t>
            </a:r>
            <a:endParaRPr lang="en-US" altLang="zh-TW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2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2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2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2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2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82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1048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82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82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9" grpId="0" bldLvl="0" animBg="1"/>
      <p:bldP spid="82951" grpId="0" bldLvl="0" animBg="1"/>
      <p:bldP spid="82954" grpId="0" bldLvl="0" animBg="1"/>
      <p:bldP spid="1048618" grpId="0" bldLvl="0" animBg="1"/>
      <p:bldP spid="82957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2"/>
          <p:cNvSpPr txBox="1">
            <a:spLocks noChangeArrowheads="1"/>
          </p:cNvSpPr>
          <p:nvPr/>
        </p:nvSpPr>
        <p:spPr bwMode="auto">
          <a:xfrm>
            <a:off x="2057399" y="212726"/>
            <a:ext cx="994101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Char char="•"/>
            </a:pPr>
            <a:r>
              <a:rPr kumimoji="1" lang="en-US" altLang="zh-CN" sz="2000" b="1" dirty="0">
                <a:solidFill>
                  <a:srgbClr val="FF0000"/>
                </a:solidFill>
              </a:rPr>
              <a:t> </a:t>
            </a:r>
            <a:r>
              <a:rPr kumimoji="1" lang="en-US" altLang="zh-CN" sz="2400" b="1" dirty="0">
                <a:solidFill>
                  <a:srgbClr val="FF0000"/>
                </a:solidFill>
              </a:rPr>
              <a:t>Equations for Steady Magnetic Fields in Free Space (integral form)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kumimoji="1"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9227" name="Object 5"/>
          <p:cNvGraphicFramePr>
            <a:graphicFrameLocks noChangeAspect="1"/>
          </p:cNvGraphicFramePr>
          <p:nvPr/>
        </p:nvGraphicFramePr>
        <p:xfrm>
          <a:off x="7285264" y="2728224"/>
          <a:ext cx="2170725" cy="7016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14400" imgH="292100" progId="Equation.3">
                  <p:embed/>
                </p:oleObj>
              </mc:Choice>
              <mc:Fallback>
                <p:oleObj name="Equation" r:id="rId2" imgW="914400" imgH="292100" progId="Equation.3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5264" y="2728224"/>
                        <a:ext cx="2170725" cy="7016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5" name="Text Box 8"/>
          <p:cNvSpPr txBox="1">
            <a:spLocks noChangeArrowheads="1"/>
          </p:cNvSpPr>
          <p:nvPr/>
        </p:nvSpPr>
        <p:spPr bwMode="auto">
          <a:xfrm>
            <a:off x="2209800" y="3429941"/>
            <a:ext cx="9572842" cy="4756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kumimoji="1" lang="en-US" altLang="zh-CN" sz="2000" dirty="0">
                <a:solidFill>
                  <a:srgbClr val="3333FF"/>
                </a:solidFill>
                <a:latin typeface="Times New Roman" panose="02020603050405020304" pitchFamily="18" charset="0"/>
              </a:rPr>
              <a:t>where </a:t>
            </a:r>
            <a:r>
              <a:rPr kumimoji="1"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</a:t>
            </a:r>
            <a:r>
              <a:rPr kumimoji="1" lang="en-US" altLang="zh-CN" sz="20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0</a:t>
            </a:r>
            <a:r>
              <a:rPr kumimoji="1" lang="en-US" altLang="zh-CN" sz="2000" dirty="0">
                <a:solidFill>
                  <a:srgbClr val="3333FF"/>
                </a:solidFill>
                <a:latin typeface="Times New Roman" panose="02020603050405020304" pitchFamily="18" charset="0"/>
              </a:rPr>
              <a:t> is the permeability of vacuum, and </a:t>
            </a:r>
            <a:r>
              <a:rPr kumimoji="1"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000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000" dirty="0">
                <a:solidFill>
                  <a:srgbClr val="3333FF"/>
                </a:solidFill>
                <a:latin typeface="Times New Roman" panose="02020603050405020304" pitchFamily="18" charset="0"/>
              </a:rPr>
              <a:t>is the current enclosed by the closed curve.</a:t>
            </a:r>
            <a:endParaRPr kumimoji="1" lang="en-US" altLang="zh-CN" sz="2000" dirty="0">
              <a:solidFill>
                <a:srgbClr val="3333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2057400" y="1022027"/>
            <a:ext cx="9725242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ko-KR" sz="2400" b="1" dirty="0">
                <a:solidFill>
                  <a:srgbClr val="0000CC"/>
                </a:solidFill>
                <a:ea typeface="Gulim" panose="020B0600000101010101" pitchFamily="34" charset="-127"/>
              </a:rPr>
              <a:t>Ampere’s circuital law</a:t>
            </a:r>
            <a:endParaRPr lang="en-US" altLang="ko-KR" sz="2400" dirty="0">
              <a:solidFill>
                <a:srgbClr val="0000CC"/>
              </a:solidFill>
              <a:ea typeface="Gulim" panose="020B0600000101010101" pitchFamily="34" charset="-127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ea typeface="Gulim" panose="020B0600000101010101" pitchFamily="34" charset="-127"/>
              </a:rPr>
              <a:t>   </a:t>
            </a:r>
            <a:r>
              <a:rPr lang="en-US" altLang="ko-KR" sz="2400" b="1" dirty="0">
                <a:solidFill>
                  <a:srgbClr val="0000CC"/>
                </a:solidFill>
                <a:ea typeface="Gulim" panose="020B0600000101010101" pitchFamily="34" charset="-127"/>
              </a:rPr>
              <a:t>circulation of the magnetic flux density in free space around any closed path is equal to µ</a:t>
            </a:r>
            <a:r>
              <a:rPr lang="en-US" altLang="ko-KR" sz="2400" b="1" baseline="-25000" dirty="0">
                <a:solidFill>
                  <a:srgbClr val="0000CC"/>
                </a:solidFill>
                <a:ea typeface="Gulim" panose="020B0600000101010101" pitchFamily="34" charset="-127"/>
              </a:rPr>
              <a:t>0</a:t>
            </a:r>
            <a:r>
              <a:rPr lang="en-US" altLang="ko-KR" sz="2400" b="1" dirty="0">
                <a:solidFill>
                  <a:srgbClr val="0000CC"/>
                </a:solidFill>
                <a:ea typeface="Gulim" panose="020B0600000101010101" pitchFamily="34" charset="-127"/>
              </a:rPr>
              <a:t> times the total current flowing through the surface bounded by the path.</a:t>
            </a:r>
            <a:endParaRPr lang="en-US" altLang="zh-TW" sz="2400" b="1" dirty="0">
              <a:solidFill>
                <a:srgbClr val="0000CC"/>
              </a:solidFill>
              <a:ea typeface="PMingLiU" panose="02020500000000000000" pitchFamily="18" charset="-120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2209626" y="5829363"/>
            <a:ext cx="985751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2. The magnetic field lines are</a:t>
            </a:r>
            <a:r>
              <a:rPr kumimoji="1" lang="en-US" altLang="zh-CN" sz="24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closed everywhere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, with no beginning or end. This may be called the principle of</a:t>
            </a:r>
            <a:r>
              <a:rPr kumimoji="1" lang="en-US" altLang="zh-CN" sz="24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magnetic flux continuity</a:t>
            </a:r>
            <a:r>
              <a:rPr kumimoji="1" lang="en-US" altLang="zh-CN" sz="24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.</a:t>
            </a:r>
            <a:endParaRPr kumimoji="1" lang="en-US" altLang="zh-CN" sz="2400" b="1" dirty="0">
              <a:solidFill>
                <a:srgbClr val="3333FF"/>
              </a:solidFill>
              <a:latin typeface="宋体" panose="02010600030101010101" pitchFamily="2" charset="-122"/>
              <a:ea typeface="楷体_GB2312" pitchFamily="49" charset="-122"/>
            </a:endParaRPr>
          </a:p>
        </p:txBody>
      </p:sp>
      <p:sp>
        <p:nvSpPr>
          <p:cNvPr id="7" name="Text Box 12"/>
          <p:cNvSpPr txBox="1">
            <a:spLocks noChangeArrowheads="1"/>
          </p:cNvSpPr>
          <p:nvPr/>
        </p:nvSpPr>
        <p:spPr bwMode="auto">
          <a:xfrm>
            <a:off x="2209626" y="5143453"/>
            <a:ext cx="915092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1. The total magnetic flux through a 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closed</a:t>
            </a:r>
            <a:r>
              <a:rPr kumimoji="1" lang="en-US" altLang="zh-CN" sz="24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 surface is equal to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zero</a:t>
            </a:r>
            <a:r>
              <a:rPr kumimoji="1" lang="en-US" altLang="zh-CN" sz="24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.</a:t>
            </a:r>
            <a:endParaRPr kumimoji="1" lang="en-US" altLang="zh-CN" sz="2400" b="1" dirty="0">
              <a:solidFill>
                <a:srgbClr val="3333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8" name="Object 6"/>
          <p:cNvGraphicFramePr>
            <a:graphicFrameLocks noChangeAspect="1"/>
          </p:cNvGraphicFramePr>
          <p:nvPr/>
        </p:nvGraphicFramePr>
        <p:xfrm>
          <a:off x="7787523" y="4539179"/>
          <a:ext cx="1668319" cy="6098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12165" imgH="292100" progId="Equation.DSMT4">
                  <p:embed/>
                </p:oleObj>
              </mc:Choice>
              <mc:Fallback>
                <p:oleObj name="Equation" r:id="rId4" imgW="812165" imgH="2921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87523" y="4539179"/>
                        <a:ext cx="1668319" cy="6098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7" name="Object 25"/>
          <p:cNvGraphicFramePr>
            <a:graphicFrameLocks noGrp="1" noChangeAspect="1"/>
          </p:cNvGraphicFramePr>
          <p:nvPr/>
        </p:nvGraphicFramePr>
        <p:xfrm>
          <a:off x="3078958" y="2858135"/>
          <a:ext cx="180467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62000" imgH="228600" progId="Equation.DSMT4">
                  <p:embed/>
                </p:oleObj>
              </mc:Choice>
              <mc:Fallback>
                <p:oleObj name="Equation" r:id="rId6" imgW="762000" imgH="228600" progId="Equation.DSMT4">
                  <p:embed/>
                  <p:pic>
                    <p:nvPicPr>
                      <p:cNvPr id="0" name="图片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8958" y="2858135"/>
                        <a:ext cx="180467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2" name="Object 25"/>
          <p:cNvGraphicFramePr>
            <a:graphicFrameLocks noChangeAspect="1"/>
          </p:cNvGraphicFramePr>
          <p:nvPr/>
        </p:nvGraphicFramePr>
        <p:xfrm>
          <a:off x="3296921" y="4522154"/>
          <a:ext cx="136842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36600" imgH="228600" progId="Equation.DSMT4">
                  <p:embed/>
                </p:oleObj>
              </mc:Choice>
              <mc:Fallback>
                <p:oleObj name="Equation" r:id="rId8" imgW="736600" imgH="2286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6921" y="4522154"/>
                        <a:ext cx="1368425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右箭头 4"/>
          <p:cNvSpPr/>
          <p:nvPr/>
        </p:nvSpPr>
        <p:spPr>
          <a:xfrm>
            <a:off x="5368290" y="3006725"/>
            <a:ext cx="1009650" cy="16891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右箭头 8"/>
          <p:cNvSpPr/>
          <p:nvPr/>
        </p:nvSpPr>
        <p:spPr>
          <a:xfrm>
            <a:off x="5495290" y="4717415"/>
            <a:ext cx="1009650" cy="16891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82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82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5" grpId="0" bldLvl="0" animBg="1"/>
      <p:bldP spid="13" grpId="0"/>
      <p:bldP spid="6" grpId="0" bldLvl="0" animBg="1" autoUpdateAnimBg="0"/>
      <p:bldP spid="7" grpId="0" bldLvl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30" name="Rectangle 6"/>
          <p:cNvSpPr>
            <a:spLocks noChangeArrowheads="1"/>
          </p:cNvSpPr>
          <p:nvPr/>
        </p:nvSpPr>
        <p:spPr bwMode="auto">
          <a:xfrm>
            <a:off x="1774825" y="549275"/>
            <a:ext cx="8464550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sz="2400" b="1">
                <a:solidFill>
                  <a:srgbClr val="0000CC"/>
                </a:solidFill>
                <a:ea typeface="楷体_GB2312" pitchFamily="49" charset="-122"/>
              </a:rPr>
              <a:t>Divergence and curl of steady magnetic field</a:t>
            </a:r>
            <a:r>
              <a:rPr lang="en-US" altLang="zh-CN" sz="2400" b="1">
                <a:solidFill>
                  <a:srgbClr val="0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</a:p>
        </p:txBody>
      </p:sp>
      <p:graphicFrame>
        <p:nvGraphicFramePr>
          <p:cNvPr id="308236" name="Object 12"/>
          <p:cNvGraphicFramePr>
            <a:graphicFrameLocks noChangeAspect="1"/>
          </p:cNvGraphicFramePr>
          <p:nvPr/>
        </p:nvGraphicFramePr>
        <p:xfrm>
          <a:off x="2855914" y="3644901"/>
          <a:ext cx="2376487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11300" imgH="330200" progId="Equation.DSMT4">
                  <p:embed/>
                </p:oleObj>
              </mc:Choice>
              <mc:Fallback>
                <p:oleObj name="Equation" r:id="rId2" imgW="1511300" imgH="3302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4" y="3644901"/>
                        <a:ext cx="2376487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237" name="Object 13"/>
          <p:cNvGraphicFramePr>
            <a:graphicFrameLocks noChangeAspect="1"/>
          </p:cNvGraphicFramePr>
          <p:nvPr/>
        </p:nvGraphicFramePr>
        <p:xfrm>
          <a:off x="7032626" y="3689350"/>
          <a:ext cx="2036763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98600" imgH="406400" progId="Equation.DSMT4">
                  <p:embed/>
                </p:oleObj>
              </mc:Choice>
              <mc:Fallback>
                <p:oleObj name="Equation" r:id="rId4" imgW="1498600" imgH="4064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626" y="3689350"/>
                        <a:ext cx="2036763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248" name="Rectangle 24"/>
          <p:cNvSpPr>
            <a:spLocks noChangeArrowheads="1"/>
          </p:cNvSpPr>
          <p:nvPr/>
        </p:nvSpPr>
        <p:spPr bwMode="auto">
          <a:xfrm>
            <a:off x="2063750" y="1052513"/>
            <a:ext cx="3887788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Divergence of constant magnetic field 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（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Differential form 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</a:p>
        </p:txBody>
      </p:sp>
      <p:sp>
        <p:nvSpPr>
          <p:cNvPr id="308249" name="Rectangle 25"/>
          <p:cNvSpPr>
            <a:spLocks noChangeArrowheads="1"/>
          </p:cNvSpPr>
          <p:nvPr/>
        </p:nvSpPr>
        <p:spPr bwMode="auto">
          <a:xfrm>
            <a:off x="6096000" y="1052513"/>
            <a:ext cx="424815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Principle of continuity of magnetic flux 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（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Integral form 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</a:p>
        </p:txBody>
      </p:sp>
      <p:sp>
        <p:nvSpPr>
          <p:cNvPr id="308252" name="Rectangle 28"/>
          <p:cNvSpPr>
            <a:spLocks noChangeArrowheads="1"/>
          </p:cNvSpPr>
          <p:nvPr/>
        </p:nvSpPr>
        <p:spPr bwMode="auto">
          <a:xfrm>
            <a:off x="2309814" y="4357688"/>
            <a:ext cx="7572375" cy="2290762"/>
          </a:xfrm>
          <a:prstGeom prst="rect">
            <a:avLst/>
          </a:prstGeom>
          <a:solidFill>
            <a:srgbClr val="99CCFF"/>
          </a:solidFill>
          <a:ln w="9525">
            <a:solidFill>
              <a:srgbClr val="990000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1500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ea typeface="楷体_GB2312" pitchFamily="49" charset="-122"/>
              </a:rPr>
              <a:t>Conclusion</a:t>
            </a:r>
            <a:r>
              <a:rPr lang="zh-CN" altLang="en-US" sz="2400" b="1">
                <a:solidFill>
                  <a:srgbClr val="000000"/>
                </a:solidFill>
                <a:ea typeface="楷体_GB2312" pitchFamily="49" charset="-122"/>
              </a:rPr>
              <a:t>：</a:t>
            </a:r>
          </a:p>
          <a:p>
            <a:pPr eaLnBrk="1" hangingPunct="1">
              <a:spcBef>
                <a:spcPct val="15000"/>
              </a:spcBef>
              <a:buClrTx/>
              <a:buSzTx/>
              <a:buFontTx/>
              <a:buChar char="•"/>
            </a:pPr>
            <a:r>
              <a:rPr lang="zh-CN" altLang="en-US" sz="2400" b="1">
                <a:solidFill>
                  <a:srgbClr val="000000"/>
                </a:solidFill>
                <a:ea typeface="楷体_GB2312" pitchFamily="49" charset="-122"/>
              </a:rPr>
              <a:t>  </a:t>
            </a:r>
            <a:r>
              <a:rPr lang="en-US" altLang="zh-CN" sz="2000" b="1">
                <a:solidFill>
                  <a:srgbClr val="000000"/>
                </a:solidFill>
                <a:ea typeface="楷体_GB2312" pitchFamily="49" charset="-122"/>
              </a:rPr>
              <a:t>A steady magnetic field is a solenoidal and rotational field,  </a:t>
            </a:r>
          </a:p>
          <a:p>
            <a:pPr eaLnBrk="1" hangingPunct="1">
              <a:spcBef>
                <a:spcPct val="1500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0000"/>
                </a:solidFill>
                <a:ea typeface="楷体_GB2312" pitchFamily="49" charset="-122"/>
              </a:rPr>
              <a:t>    which is a non-conservative field</a:t>
            </a:r>
          </a:p>
          <a:p>
            <a:pPr eaLnBrk="1" hangingPunct="1">
              <a:spcBef>
                <a:spcPct val="15000"/>
              </a:spcBef>
              <a:buClrTx/>
              <a:buSzTx/>
              <a:buFontTx/>
              <a:buChar char="•"/>
            </a:pPr>
            <a:r>
              <a:rPr lang="en-US" altLang="zh-CN" sz="2000" b="1">
                <a:solidFill>
                  <a:srgbClr val="000000"/>
                </a:solidFill>
                <a:ea typeface="楷体_GB2312" pitchFamily="49" charset="-122"/>
              </a:rPr>
              <a:t>  Current is the vortex source of the magnetic field</a:t>
            </a:r>
          </a:p>
          <a:p>
            <a:pPr eaLnBrk="1" hangingPunct="1">
              <a:spcBef>
                <a:spcPct val="15000"/>
              </a:spcBef>
              <a:buClrTx/>
              <a:buSzTx/>
              <a:buFontTx/>
              <a:buChar char="•"/>
            </a:pPr>
            <a:r>
              <a:rPr lang="en-US" altLang="zh-CN" sz="2000" b="1">
                <a:solidFill>
                  <a:srgbClr val="000000"/>
                </a:solidFill>
                <a:ea typeface="楷体_GB2312" pitchFamily="49" charset="-122"/>
              </a:rPr>
              <a:t>  The magnetic flux line is a closed curve with no start</a:t>
            </a:r>
          </a:p>
          <a:p>
            <a:pPr eaLnBrk="1" hangingPunct="1">
              <a:spcBef>
                <a:spcPct val="1500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0000"/>
                </a:solidFill>
                <a:ea typeface="楷体_GB2312" pitchFamily="49" charset="-122"/>
              </a:rPr>
              <a:t>   and end point</a:t>
            </a:r>
          </a:p>
        </p:txBody>
      </p:sp>
      <p:sp>
        <p:nvSpPr>
          <p:cNvPr id="308253" name="Rectangle 29"/>
          <p:cNvSpPr>
            <a:spLocks noChangeArrowheads="1"/>
          </p:cNvSpPr>
          <p:nvPr/>
        </p:nvSpPr>
        <p:spPr bwMode="auto">
          <a:xfrm>
            <a:off x="1846264" y="2565401"/>
            <a:ext cx="410527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Curl of constant magnetic field 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（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Differential form 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</a:p>
        </p:txBody>
      </p:sp>
      <p:sp>
        <p:nvSpPr>
          <p:cNvPr id="308255" name="Rectangle 31"/>
          <p:cNvSpPr>
            <a:spLocks noChangeArrowheads="1"/>
          </p:cNvSpPr>
          <p:nvPr/>
        </p:nvSpPr>
        <p:spPr bwMode="auto">
          <a:xfrm>
            <a:off x="6167439" y="2708276"/>
            <a:ext cx="4103687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Ampere circuital law </a:t>
            </a:r>
          </a:p>
          <a:p>
            <a:pPr algn="ctr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（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Integral form 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</a:p>
        </p:txBody>
      </p:sp>
      <p:graphicFrame>
        <p:nvGraphicFramePr>
          <p:cNvPr id="308256" name="Object 32"/>
          <p:cNvGraphicFramePr>
            <a:graphicFrameLocks noChangeAspect="1"/>
          </p:cNvGraphicFramePr>
          <p:nvPr/>
        </p:nvGraphicFramePr>
        <p:xfrm>
          <a:off x="7032626" y="2060575"/>
          <a:ext cx="1800225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44600" imgH="406400" progId="Equation.DSMT4">
                  <p:embed/>
                </p:oleObj>
              </mc:Choice>
              <mc:Fallback>
                <p:oleObj name="Equation" r:id="rId6" imgW="1244600" imgH="4064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626" y="2060575"/>
                        <a:ext cx="1800225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257" name="Object 33"/>
          <p:cNvGraphicFramePr>
            <a:graphicFrameLocks noChangeAspect="1"/>
          </p:cNvGraphicFramePr>
          <p:nvPr/>
        </p:nvGraphicFramePr>
        <p:xfrm>
          <a:off x="3000376" y="1989139"/>
          <a:ext cx="158432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90600" imgH="292100" progId="Equation.DSMT4">
                  <p:embed/>
                </p:oleObj>
              </mc:Choice>
              <mc:Fallback>
                <p:oleObj name="Equation" r:id="rId8" imgW="990600" imgH="2921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6" y="1989139"/>
                        <a:ext cx="1584325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08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8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08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08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08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08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08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08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08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08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230" grpId="0"/>
      <p:bldP spid="308248" grpId="0"/>
      <p:bldP spid="308249" grpId="0"/>
      <p:bldP spid="308252" grpId="0" animBg="1"/>
      <p:bldP spid="308253" grpId="0"/>
      <p:bldP spid="30825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2" name="Text Box 2"/>
          <p:cNvSpPr txBox="1">
            <a:spLocks noChangeArrowheads="1"/>
          </p:cNvSpPr>
          <p:nvPr/>
        </p:nvSpPr>
        <p:spPr bwMode="auto">
          <a:xfrm>
            <a:off x="1774825" y="549276"/>
            <a:ext cx="6337300" cy="167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rgbClr val="FF0000"/>
                </a:solidFill>
                <a:ea typeface="幼圆" panose="02010509060101010101" pitchFamily="49" charset="-122"/>
              </a:rPr>
              <a:t>Ex</a:t>
            </a:r>
            <a:r>
              <a:rPr kumimoji="1" lang="en-US" altLang="zh-CN" sz="2000" b="1">
                <a:solidFill>
                  <a:srgbClr val="FF0000"/>
                </a:solidFill>
                <a:ea typeface="楷体_GB2312" pitchFamily="49" charset="-122"/>
              </a:rPr>
              <a:t>: </a:t>
            </a:r>
            <a:r>
              <a:rPr kumimoji="1" lang="en-US" altLang="zh-CN" sz="2000" b="1">
                <a:solidFill>
                  <a:srgbClr val="0000CC"/>
                </a:solidFill>
                <a:ea typeface="楷体_GB2312" pitchFamily="49" charset="-122"/>
              </a:rPr>
              <a:t>An infinitely long, straight conductor with a circular cross section of radius b carries a steady current I. Determine the magnetic flux density both inside and outside the conductor</a:t>
            </a:r>
            <a:r>
              <a:rPr kumimoji="1" lang="en-US" altLang="zh-CN" sz="2000" b="1">
                <a:solidFill>
                  <a:srgbClr val="0000CC"/>
                </a:solidFill>
              </a:rPr>
              <a:t>.</a:t>
            </a:r>
            <a:r>
              <a:rPr kumimoji="1" lang="en-US" altLang="zh-CN" sz="2000">
                <a:solidFill>
                  <a:srgbClr val="0000CC"/>
                </a:solidFill>
              </a:rPr>
              <a:t> </a:t>
            </a:r>
            <a:r>
              <a:rPr kumimoji="1" lang="en-US" altLang="zh-CN" sz="2000" b="1">
                <a:solidFill>
                  <a:srgbClr val="0000CC"/>
                </a:solidFill>
                <a:ea typeface="楷体_GB2312" pitchFamily="49" charset="-122"/>
              </a:rPr>
              <a:t> </a:t>
            </a:r>
            <a:endParaRPr kumimoji="1" lang="en-US" altLang="zh-CN" sz="2000" b="1">
              <a:solidFill>
                <a:srgbClr val="0000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9093" name="Text Box 4"/>
          <p:cNvSpPr txBox="1">
            <a:spLocks noChangeArrowheads="1"/>
          </p:cNvSpPr>
          <p:nvPr/>
        </p:nvSpPr>
        <p:spPr bwMode="auto">
          <a:xfrm>
            <a:off x="1919288" y="2276476"/>
            <a:ext cx="14398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rgbClr val="FF33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Solution</a:t>
            </a:r>
            <a:r>
              <a:rPr kumimoji="1" lang="zh-CN" altLang="en-US" sz="2000" b="1">
                <a:solidFill>
                  <a:srgbClr val="FF33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：</a:t>
            </a:r>
            <a:endParaRPr kumimoji="1" lang="zh-CN" altLang="en-US" sz="2000" b="1">
              <a:solidFill>
                <a:srgbClr val="FF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1126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2126" y="620714"/>
            <a:ext cx="2303463" cy="218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909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8" y="2852739"/>
            <a:ext cx="8640762" cy="3360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0" name="Picture 8" descr="BD05546_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8288" y="5273675"/>
            <a:ext cx="1763712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207818" y="803564"/>
            <a:ext cx="14955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</a:rPr>
              <a:t>Example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89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89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9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2" grpId="0"/>
      <p:bldP spid="8909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524001" y="5805489"/>
            <a:ext cx="3622675" cy="4349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400" b="1">
                <a:solidFill>
                  <a:srgbClr val="0000CC"/>
                </a:solidFill>
                <a:latin typeface="Times New Roman" panose="02020603050405020304" pitchFamily="18" charset="0"/>
              </a:rPr>
              <a:t>     Magnetic flux density of an infinitely long circular conductor carrying a current I</a:t>
            </a:r>
          </a:p>
        </p:txBody>
      </p:sp>
      <p:pic>
        <p:nvPicPr>
          <p:cNvPr id="1229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9" y="188913"/>
            <a:ext cx="8785225" cy="356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493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8" y="3716338"/>
            <a:ext cx="3200400" cy="188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4934" name="Text Box 6"/>
          <p:cNvSpPr txBox="1">
            <a:spLocks noChangeArrowheads="1"/>
          </p:cNvSpPr>
          <p:nvPr/>
        </p:nvSpPr>
        <p:spPr bwMode="auto">
          <a:xfrm>
            <a:off x="5232400" y="3860801"/>
            <a:ext cx="4967288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0000CC"/>
                </a:solidFill>
                <a:latin typeface="Times New Roman" panose="02020603050405020304" pitchFamily="18" charset="0"/>
              </a:rPr>
              <a:t>If it is not a solid cylindrical conductor but a very thin circular tube carrying a surface current density </a:t>
            </a:r>
            <a:r>
              <a:rPr lang="en-US" altLang="zh-CN" sz="2000" b="1" i="1">
                <a:solidFill>
                  <a:srgbClr val="0000CC"/>
                </a:solidFill>
                <a:latin typeface="Times New Roman" panose="02020603050405020304" pitchFamily="18" charset="0"/>
              </a:rPr>
              <a:t>Js</a:t>
            </a:r>
            <a:r>
              <a:rPr lang="en-US" altLang="zh-CN" sz="2000" b="1">
                <a:solidFill>
                  <a:srgbClr val="0000CC"/>
                </a:solidFill>
                <a:latin typeface="Times New Roman" panose="02020603050405020304" pitchFamily="18" charset="0"/>
              </a:rPr>
              <a:t>, then it is obvious:</a:t>
            </a:r>
          </a:p>
        </p:txBody>
      </p:sp>
      <p:pic>
        <p:nvPicPr>
          <p:cNvPr id="124936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539" y="5013326"/>
            <a:ext cx="3025775" cy="1128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545638" y="5589588"/>
            <a:ext cx="1122362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srgbClr val="FFC000">
                <a:alpha val="4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4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4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124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1" grpId="0" build="p"/>
      <p:bldP spid="1249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1774826" y="1125538"/>
            <a:ext cx="10417174" cy="863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2800" dirty="0">
                <a:solidFill>
                  <a:srgbClr val="000000"/>
                </a:solidFill>
                <a:latin typeface="Times New Roman" panose="02020603050405020304" pitchFamily="18" charset="0"/>
                <a:ea typeface="Gulim" panose="020B0600000101010101" pitchFamily="34" charset="-127"/>
              </a:rPr>
              <a:t>The divergence-free postulate of </a:t>
            </a:r>
            <a:r>
              <a:rPr lang="en-US" altLang="ko-KR" sz="2800" b="1" dirty="0">
                <a:solidFill>
                  <a:srgbClr val="000000"/>
                </a:solidFill>
                <a:latin typeface="Times New Roman" panose="02020603050405020304" pitchFamily="18" charset="0"/>
                <a:ea typeface="Gulim" panose="020B0600000101010101" pitchFamily="34" charset="-127"/>
              </a:rPr>
              <a:t>B,</a:t>
            </a:r>
            <a:r>
              <a:rPr lang="en-US" altLang="ko-KR" sz="2800" dirty="0">
                <a:solidFill>
                  <a:srgbClr val="000000"/>
                </a:solidFill>
                <a:latin typeface="Times New Roman" panose="02020603050405020304" pitchFamily="18" charset="0"/>
                <a:ea typeface="Gulim" panose="020B0600000101010101" pitchFamily="34" charset="-127"/>
              </a:rPr>
              <a:t>  assures that </a:t>
            </a:r>
            <a:r>
              <a:rPr lang="en-US" altLang="ko-KR" sz="2800" b="1" dirty="0">
                <a:solidFill>
                  <a:srgbClr val="000000"/>
                </a:solidFill>
                <a:latin typeface="Times New Roman" panose="02020603050405020304" pitchFamily="18" charset="0"/>
                <a:ea typeface="Gulim" panose="020B0600000101010101" pitchFamily="34" charset="-127"/>
              </a:rPr>
              <a:t>B</a:t>
            </a:r>
            <a:r>
              <a:rPr lang="en-US" altLang="ko-KR" sz="2800" dirty="0">
                <a:solidFill>
                  <a:srgbClr val="000000"/>
                </a:solidFill>
                <a:latin typeface="Times New Roman" panose="02020603050405020304" pitchFamily="18" charset="0"/>
                <a:ea typeface="Gulim" panose="020B0600000101010101" pitchFamily="34" charset="-127"/>
              </a:rPr>
              <a:t> is </a:t>
            </a:r>
            <a:r>
              <a:rPr lang="en-US" altLang="ko-KR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Gulim" panose="020B0600000101010101" pitchFamily="34" charset="-127"/>
              </a:rPr>
              <a:t>solenoidal</a:t>
            </a:r>
            <a:r>
              <a:rPr lang="en-US" altLang="ko-KR" sz="2800" dirty="0">
                <a:solidFill>
                  <a:srgbClr val="000000"/>
                </a:solidFill>
                <a:latin typeface="Times New Roman" panose="02020603050405020304" pitchFamily="18" charset="0"/>
                <a:ea typeface="Gulim" panose="020B0600000101010101" pitchFamily="34" charset="-127"/>
              </a:rPr>
              <a:t>.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1847850" y="333376"/>
            <a:ext cx="8540750" cy="792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600" b="1">
                <a:solidFill>
                  <a:srgbClr val="800000"/>
                </a:solidFill>
              </a:rPr>
              <a:t>6.2 Vector Magnetic Potential</a:t>
            </a:r>
          </a:p>
        </p:txBody>
      </p:sp>
      <p:graphicFrame>
        <p:nvGraphicFramePr>
          <p:cNvPr id="90122" name="Object 25"/>
          <p:cNvGraphicFramePr>
            <a:graphicFrameLocks noChangeAspect="1"/>
          </p:cNvGraphicFramePr>
          <p:nvPr/>
        </p:nvGraphicFramePr>
        <p:xfrm>
          <a:off x="4800601" y="1702918"/>
          <a:ext cx="136842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36600" imgH="228600" progId="Equation.DSMT4">
                  <p:embed/>
                </p:oleObj>
              </mc:Choice>
              <mc:Fallback>
                <p:oleObj name="Equation" r:id="rId2" imgW="736600" imgH="2286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1702918"/>
                        <a:ext cx="1368425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3" name="Object 25"/>
          <p:cNvGraphicFramePr>
            <a:graphicFrameLocks noChangeAspect="1"/>
          </p:cNvGraphicFramePr>
          <p:nvPr/>
        </p:nvGraphicFramePr>
        <p:xfrm>
          <a:off x="4751865" y="3077688"/>
          <a:ext cx="2451735" cy="510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79500" imgH="215900" progId="Equation.DSMT4">
                  <p:embed/>
                </p:oleObj>
              </mc:Choice>
              <mc:Fallback>
                <p:oleObj name="Equation" r:id="rId4" imgW="1079500" imgH="2159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1865" y="3077688"/>
                        <a:ext cx="2451735" cy="5105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31" name="Rectangle 19"/>
          <p:cNvSpPr>
            <a:spLocks noRot="1" noChangeArrowheads="1"/>
          </p:cNvSpPr>
          <p:nvPr/>
        </p:nvSpPr>
        <p:spPr bwMode="auto">
          <a:xfrm>
            <a:off x="1774826" y="2205039"/>
            <a:ext cx="9692244" cy="935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90000"/>
              </a:lnSpc>
            </a:pPr>
            <a:r>
              <a:rPr lang="en-US" altLang="ko-KR" sz="2800" dirty="0">
                <a:solidFill>
                  <a:srgbClr val="0000CC"/>
                </a:solidFill>
                <a:latin typeface="Times New Roman" panose="02020603050405020304" pitchFamily="18" charset="0"/>
                <a:ea typeface="Gulim" panose="020B0600000101010101" pitchFamily="34" charset="-127"/>
              </a:rPr>
              <a:t>As a consequence, </a:t>
            </a:r>
            <a:r>
              <a:rPr lang="en-US" altLang="ko-KR" sz="2800" b="1" dirty="0">
                <a:solidFill>
                  <a:srgbClr val="0000CC"/>
                </a:solidFill>
                <a:latin typeface="Times New Roman" panose="02020603050405020304" pitchFamily="18" charset="0"/>
                <a:ea typeface="Gulim" panose="020B0600000101010101" pitchFamily="34" charset="-127"/>
              </a:rPr>
              <a:t>B</a:t>
            </a:r>
            <a:r>
              <a:rPr lang="en-US" altLang="ko-KR" sz="2800" dirty="0">
                <a:solidFill>
                  <a:srgbClr val="0000CC"/>
                </a:solidFill>
                <a:latin typeface="Times New Roman" panose="02020603050405020304" pitchFamily="18" charset="0"/>
                <a:ea typeface="Gulim" panose="020B0600000101010101" pitchFamily="34" charset="-127"/>
              </a:rPr>
              <a:t> can be expressed as the curl of another vector field, say </a:t>
            </a:r>
            <a:r>
              <a:rPr lang="en-US" altLang="ko-KR" sz="2800" b="1" dirty="0">
                <a:solidFill>
                  <a:srgbClr val="0000CC"/>
                </a:solidFill>
                <a:latin typeface="Times New Roman" panose="02020603050405020304" pitchFamily="18" charset="0"/>
                <a:ea typeface="Gulim" panose="020B0600000101010101" pitchFamily="34" charset="-127"/>
              </a:rPr>
              <a:t>A</a:t>
            </a:r>
            <a:r>
              <a:rPr lang="en-US" altLang="ko-KR" sz="2800" dirty="0">
                <a:solidFill>
                  <a:srgbClr val="0000CC"/>
                </a:solidFill>
                <a:latin typeface="Times New Roman" panose="02020603050405020304" pitchFamily="18" charset="0"/>
                <a:ea typeface="Gulim" panose="020B0600000101010101" pitchFamily="34" charset="-127"/>
              </a:rPr>
              <a:t>, such that</a:t>
            </a:r>
            <a:endParaRPr lang="ko-KR" altLang="en-US" sz="2800" dirty="0">
              <a:solidFill>
                <a:srgbClr val="0000CC"/>
              </a:solidFill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  <p:sp>
        <p:nvSpPr>
          <p:cNvPr id="90133" name="Rectangle 21"/>
          <p:cNvSpPr>
            <a:spLocks noRot="1" noChangeArrowheads="1"/>
          </p:cNvSpPr>
          <p:nvPr/>
        </p:nvSpPr>
        <p:spPr bwMode="auto">
          <a:xfrm>
            <a:off x="1774825" y="4333875"/>
            <a:ext cx="10212705" cy="1833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ko-KR" sz="2800" dirty="0">
                <a:solidFill>
                  <a:srgbClr val="0000CC"/>
                </a:solidFill>
                <a:latin typeface="Times New Roman" panose="02020603050405020304" pitchFamily="18" charset="0"/>
                <a:ea typeface="Gulim" panose="020B0600000101010101" pitchFamily="34" charset="-127"/>
              </a:rPr>
              <a:t>The definition of a vector field requires the specification of both its curl and its divergence.</a:t>
            </a:r>
            <a:endParaRPr lang="en-US" altLang="zh-CN" sz="2800" dirty="0">
              <a:solidFill>
                <a:srgbClr val="0000CC"/>
              </a:solidFill>
              <a:latin typeface="Times New Roman" panose="02020603050405020304" pitchFamily="18" charset="0"/>
              <a:ea typeface="Gulim" panose="020B0600000101010101" pitchFamily="34" charset="-127"/>
            </a:endParaRPr>
          </a:p>
          <a:p>
            <a:pPr eaLnBrk="1" hangingPunct="1"/>
            <a:r>
              <a:rPr lang="en-US" altLang="ko-KR" sz="2800" dirty="0">
                <a:solidFill>
                  <a:srgbClr val="000000"/>
                </a:solidFill>
                <a:latin typeface="Times New Roman" panose="02020603050405020304" pitchFamily="18" charset="0"/>
                <a:ea typeface="Gulim" panose="020B0600000101010101" pitchFamily="34" charset="-127"/>
              </a:rPr>
              <a:t>How do we choose divergence of A?</a:t>
            </a:r>
            <a:endParaRPr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  <p:graphicFrame>
        <p:nvGraphicFramePr>
          <p:cNvPr id="4" name="Object 25"/>
          <p:cNvGraphicFramePr>
            <a:graphicFrameLocks noChangeAspect="1"/>
          </p:cNvGraphicFramePr>
          <p:nvPr/>
        </p:nvGraphicFramePr>
        <p:xfrm>
          <a:off x="8755223" y="3077688"/>
          <a:ext cx="2711450" cy="510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93800" imgH="215900" progId="Equation.DSMT4">
                  <p:embed/>
                </p:oleObj>
              </mc:Choice>
              <mc:Fallback>
                <p:oleObj name="Equation" r:id="rId6" imgW="1193800" imgH="2159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55223" y="3077688"/>
                        <a:ext cx="2711450" cy="5105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直接箭头连接符 5"/>
          <p:cNvCxnSpPr/>
          <p:nvPr/>
        </p:nvCxnSpPr>
        <p:spPr>
          <a:xfrm flipH="1" flipV="1">
            <a:off x="7820660" y="3343910"/>
            <a:ext cx="620395" cy="101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3136265" y="363220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2800" b="1" dirty="0">
                <a:solidFill>
                  <a:srgbClr val="000000"/>
                </a:solidFill>
                <a:latin typeface="Times New Roman" panose="02020603050405020304" pitchFamily="18" charset="0"/>
                <a:ea typeface="Gulim" panose="020B0600000101010101" pitchFamily="34" charset="-127"/>
                <a:sym typeface="+mn-ea"/>
              </a:rPr>
              <a:t>A: </a:t>
            </a:r>
            <a:r>
              <a:rPr lang="en-US" altLang="ko-KR" sz="2800" dirty="0">
                <a:solidFill>
                  <a:srgbClr val="000000"/>
                </a:solidFill>
                <a:latin typeface="Times New Roman" panose="02020603050405020304" pitchFamily="18" charset="0"/>
                <a:ea typeface="Gulim" panose="020B0600000101010101" pitchFamily="34" charset="-127"/>
                <a:sym typeface="+mn-ea"/>
              </a:rPr>
              <a:t> </a:t>
            </a:r>
            <a:r>
              <a:rPr lang="en-US" altLang="ko-KR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Gulim" panose="020B0600000101010101" pitchFamily="34" charset="-127"/>
                <a:sym typeface="+mn-ea"/>
              </a:rPr>
              <a:t>vector magnetic potential</a:t>
            </a:r>
            <a:r>
              <a:rPr lang="en-US" altLang="ko-KR" sz="2800" b="1" dirty="0">
                <a:solidFill>
                  <a:srgbClr val="000000"/>
                </a:solidFill>
                <a:latin typeface="Times New Roman" panose="02020603050405020304" pitchFamily="18" charset="0"/>
                <a:ea typeface="Gulim" panose="020B0600000101010101" pitchFamily="34" charset="-127"/>
                <a:sym typeface="+mn-ea"/>
              </a:rPr>
              <a:t> </a:t>
            </a:r>
          </a:p>
        </p:txBody>
      </p:sp>
      <p:sp>
        <p:nvSpPr>
          <p:cNvPr id="1042444" name="Text Box 12"/>
          <p:cNvSpPr txBox="1">
            <a:spLocks noChangeArrowheads="1"/>
          </p:cNvSpPr>
          <p:nvPr/>
        </p:nvSpPr>
        <p:spPr bwMode="auto">
          <a:xfrm>
            <a:off x="3721735" y="5796915"/>
            <a:ext cx="4925060" cy="89154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rgbClr val="FF0000"/>
                </a:solidFill>
                <a:ea typeface="楷体_GB2312" pitchFamily="49" charset="-122"/>
              </a:rPr>
              <a:t>The divergence of the magnetic vector potential can be chosen arbitrarily!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0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0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0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0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0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042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4" grpId="0" build="p"/>
      <p:bldP spid="90131" grpId="0"/>
      <p:bldP spid="90133" grpId="0" bldLvl="0" animBg="1"/>
      <p:bldP spid="1042444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439" name="Text Box 7"/>
          <p:cNvSpPr txBox="1">
            <a:spLocks noChangeArrowheads="1"/>
          </p:cNvSpPr>
          <p:nvPr/>
        </p:nvSpPr>
        <p:spPr bwMode="auto">
          <a:xfrm>
            <a:off x="1919605" y="908050"/>
            <a:ext cx="6575425" cy="570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800000"/>
                </a:solidFill>
                <a:latin typeface="Times New Roman" panose="02020603050405020304" pitchFamily="18" charset="0"/>
              </a:rPr>
              <a:t>1. Definition of vector magnetic potential</a:t>
            </a:r>
          </a:p>
        </p:txBody>
      </p:sp>
      <p:graphicFrame>
        <p:nvGraphicFramePr>
          <p:cNvPr id="137229" name="Object 21"/>
          <p:cNvGraphicFramePr>
            <a:graphicFrameLocks noGrp="1" noChangeAspect="1"/>
          </p:cNvGraphicFramePr>
          <p:nvPr>
            <p:ph idx="4294967295"/>
          </p:nvPr>
        </p:nvGraphicFramePr>
        <p:xfrm>
          <a:off x="3521710" y="2178685"/>
          <a:ext cx="1663065" cy="643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60400" imgH="203200" progId="Equation.DSMT4">
                  <p:embed/>
                </p:oleObj>
              </mc:Choice>
              <mc:Fallback>
                <p:oleObj name="Equation" r:id="rId2" imgW="660400" imgH="203200" progId="Equation.DSMT4">
                  <p:embed/>
                  <p:pic>
                    <p:nvPicPr>
                      <p:cNvPr id="0" name="图片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1710" y="2178685"/>
                        <a:ext cx="1663065" cy="6432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5568950" y="2361565"/>
            <a:ext cx="337439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 (steady magnetic field)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3233420" y="3103245"/>
            <a:ext cx="2239010" cy="1716405"/>
            <a:chOff x="5092" y="4887"/>
            <a:chExt cx="3526" cy="2703"/>
          </a:xfrm>
        </p:grpSpPr>
        <p:sp>
          <p:nvSpPr>
            <p:cNvPr id="137228" name="Rectangle 20"/>
            <p:cNvSpPr>
              <a:spLocks noChangeArrowheads="1"/>
            </p:cNvSpPr>
            <p:nvPr/>
          </p:nvSpPr>
          <p:spPr bwMode="auto">
            <a:xfrm>
              <a:off x="5092" y="6692"/>
              <a:ext cx="3526" cy="899"/>
            </a:xfrm>
            <a:prstGeom prst="rect">
              <a:avLst/>
            </a:prstGeom>
            <a:noFill/>
            <a:ln w="19050">
              <a:solidFill>
                <a:srgbClr val="00206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rgbClr val="737373"/>
                      </a:gs>
                      <a:gs pos="50000">
                        <a:srgbClr val="F8F8F8"/>
                      </a:gs>
                      <a:gs pos="100000">
                        <a:srgbClr val="737373"/>
                      </a:gs>
                    </a:gsLst>
                    <a:lin ang="540000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indent="0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Coulomb gauge</a:t>
              </a:r>
              <a:r>
                <a:rPr kumimoji="1" lang="en-US" altLang="zh-CN" sz="1600" b="1">
                  <a:solidFill>
                    <a:srgbClr val="0000CC"/>
                  </a:solidFill>
                  <a:ea typeface="楷体_GB2312" pitchFamily="49" charset="-122"/>
                </a:rPr>
                <a:t> </a:t>
              </a:r>
              <a:endParaRPr kumimoji="1" lang="zh-CN" altLang="en-US" sz="1600" b="1">
                <a:solidFill>
                  <a:srgbClr val="0000CC"/>
                </a:solidFill>
                <a:ea typeface="楷体_GB2312" pitchFamily="49" charset="-122"/>
              </a:endParaRPr>
            </a:p>
          </p:txBody>
        </p:sp>
        <p:sp>
          <p:nvSpPr>
            <p:cNvPr id="7" name="下箭头 6"/>
            <p:cNvSpPr/>
            <p:nvPr/>
          </p:nvSpPr>
          <p:spPr>
            <a:xfrm>
              <a:off x="6495" y="4887"/>
              <a:ext cx="380" cy="1400"/>
            </a:xfrm>
            <a:prstGeom prst="down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7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1774826" y="549275"/>
            <a:ext cx="8410575" cy="1052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2. Differential equations of magnetic vector potential (general problems)</a:t>
            </a:r>
          </a:p>
        </p:txBody>
      </p:sp>
      <p:sp>
        <p:nvSpPr>
          <p:cNvPr id="138244" name="Text Box 3"/>
          <p:cNvSpPr txBox="1">
            <a:spLocks noChangeArrowheads="1"/>
          </p:cNvSpPr>
          <p:nvPr/>
        </p:nvSpPr>
        <p:spPr bwMode="auto">
          <a:xfrm>
            <a:off x="2279651" y="4221163"/>
            <a:ext cx="3382963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000000"/>
                </a:solidFill>
                <a:ea typeface="楷体_GB2312" pitchFamily="49" charset="-122"/>
              </a:rPr>
              <a:t>In the source free area </a:t>
            </a:r>
            <a:r>
              <a:rPr lang="zh-CN" altLang="en-US" sz="1800" b="1">
                <a:solidFill>
                  <a:srgbClr val="000000"/>
                </a:solidFill>
                <a:ea typeface="楷体_GB2312" pitchFamily="49" charset="-122"/>
              </a:rPr>
              <a:t>：</a:t>
            </a:r>
          </a:p>
        </p:txBody>
      </p:sp>
      <p:graphicFrame>
        <p:nvGraphicFramePr>
          <p:cNvPr id="138245" name="Object 4"/>
          <p:cNvGraphicFramePr>
            <a:graphicFrameLocks noChangeAspect="1"/>
          </p:cNvGraphicFramePr>
          <p:nvPr/>
        </p:nvGraphicFramePr>
        <p:xfrm>
          <a:off x="2063751" y="1773239"/>
          <a:ext cx="1368425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62000" imgH="203200" progId="Equation.3">
                  <p:embed/>
                </p:oleObj>
              </mc:Choice>
              <mc:Fallback>
                <p:oleObj name="公式" r:id="rId2" imgW="762000" imgH="203200" progId="Equation.3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1" y="1773239"/>
                        <a:ext cx="1368425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6" name="Object 5"/>
          <p:cNvGraphicFramePr>
            <a:graphicFrameLocks noChangeAspect="1"/>
          </p:cNvGraphicFramePr>
          <p:nvPr/>
        </p:nvGraphicFramePr>
        <p:xfrm>
          <a:off x="2063750" y="2420938"/>
          <a:ext cx="1379538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6000" imgH="330200" progId="Equation.DSMT4">
                  <p:embed/>
                </p:oleObj>
              </mc:Choice>
              <mc:Fallback>
                <p:oleObj name="Equation" r:id="rId4" imgW="1016000" imgH="3302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2420938"/>
                        <a:ext cx="1379538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7" name="Object 6"/>
          <p:cNvGraphicFramePr>
            <a:graphicFrameLocks noChangeAspect="1"/>
          </p:cNvGraphicFramePr>
          <p:nvPr/>
        </p:nvGraphicFramePr>
        <p:xfrm>
          <a:off x="7896225" y="2781300"/>
          <a:ext cx="123983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60400" imgH="203200" progId="Equation.DSMT4">
                  <p:embed/>
                </p:oleObj>
              </mc:Choice>
              <mc:Fallback>
                <p:oleObj name="Equation" r:id="rId6" imgW="660400" imgH="2032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6225" y="2781300"/>
                        <a:ext cx="123983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8" name="Object 14"/>
          <p:cNvGraphicFramePr>
            <a:graphicFrameLocks noChangeAspect="1"/>
          </p:cNvGraphicFramePr>
          <p:nvPr/>
        </p:nvGraphicFramePr>
        <p:xfrm>
          <a:off x="2424114" y="4799013"/>
          <a:ext cx="815975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06400" imgH="203200" progId="Equation.DSMT4">
                  <p:embed/>
                </p:oleObj>
              </mc:Choice>
              <mc:Fallback>
                <p:oleObj name="Equation" r:id="rId8" imgW="406400" imgH="2032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4" y="4799013"/>
                        <a:ext cx="815975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9" name="Object 10"/>
          <p:cNvGraphicFramePr>
            <a:graphicFrameLocks noChangeAspect="1"/>
          </p:cNvGraphicFramePr>
          <p:nvPr/>
        </p:nvGraphicFramePr>
        <p:xfrm>
          <a:off x="4656138" y="3500439"/>
          <a:ext cx="151765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54100" imgH="330200" progId="Equation.DSMT4">
                  <p:embed/>
                </p:oleObj>
              </mc:Choice>
              <mc:Fallback>
                <p:oleObj name="Equation" r:id="rId10" imgW="1054100" imgH="3302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6138" y="3500439"/>
                        <a:ext cx="1517650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8250" name="Group 31"/>
          <p:cNvGrpSpPr/>
          <p:nvPr/>
        </p:nvGrpSpPr>
        <p:grpSpPr bwMode="auto">
          <a:xfrm>
            <a:off x="3575050" y="4892675"/>
            <a:ext cx="2082800" cy="407988"/>
            <a:chOff x="1927" y="1721"/>
            <a:chExt cx="1312" cy="257"/>
          </a:xfrm>
        </p:grpSpPr>
        <p:graphicFrame>
          <p:nvGraphicFramePr>
            <p:cNvPr id="15384" name="Object 8"/>
            <p:cNvGraphicFramePr>
              <a:graphicFrameLocks noChangeAspect="1"/>
            </p:cNvGraphicFramePr>
            <p:nvPr/>
          </p:nvGraphicFramePr>
          <p:xfrm>
            <a:off x="2472" y="1721"/>
            <a:ext cx="767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635000" imgH="177800" progId="Equation.3">
                    <p:embed/>
                  </p:oleObj>
                </mc:Choice>
                <mc:Fallback>
                  <p:oleObj name="Equation" r:id="rId12" imgW="635000" imgH="177800" progId="Equation.3">
                    <p:embed/>
                    <p:pic>
                      <p:nvPicPr>
                        <p:cNvPr id="0" name="图片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2" y="1721"/>
                          <a:ext cx="767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5" name="AutoShape 16"/>
            <p:cNvSpPr>
              <a:spLocks noChangeArrowheads="1"/>
            </p:cNvSpPr>
            <p:nvPr/>
          </p:nvSpPr>
          <p:spPr bwMode="auto">
            <a:xfrm>
              <a:off x="1927" y="1782"/>
              <a:ext cx="408" cy="137"/>
            </a:xfrm>
            <a:prstGeom prst="rightArrow">
              <a:avLst>
                <a:gd name="adj1" fmla="val 50000"/>
                <a:gd name="adj2" fmla="val 74453"/>
              </a:avLst>
            </a:prstGeom>
            <a:solidFill>
              <a:srgbClr val="FFCC99"/>
            </a:solidFill>
            <a:ln w="22225">
              <a:solidFill>
                <a:srgbClr val="FF66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b="1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</p:grpSp>
      <p:grpSp>
        <p:nvGrpSpPr>
          <p:cNvPr id="138253" name="Group 34"/>
          <p:cNvGrpSpPr/>
          <p:nvPr/>
        </p:nvGrpSpPr>
        <p:grpSpPr bwMode="auto">
          <a:xfrm>
            <a:off x="6313488" y="3568701"/>
            <a:ext cx="2303462" cy="581025"/>
            <a:chOff x="3017" y="1375"/>
            <a:chExt cx="1451" cy="366"/>
          </a:xfrm>
        </p:grpSpPr>
        <p:sp>
          <p:nvSpPr>
            <p:cNvPr id="15382" name="Text Box 7"/>
            <p:cNvSpPr txBox="1">
              <a:spLocks noChangeArrowheads="1"/>
            </p:cNvSpPr>
            <p:nvPr/>
          </p:nvSpPr>
          <p:spPr bwMode="auto">
            <a:xfrm>
              <a:off x="3243" y="1375"/>
              <a:ext cx="1225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FF6600"/>
                  </a:solidFill>
                  <a:prstDash val="dash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1600" b="1">
                  <a:solidFill>
                    <a:srgbClr val="000000"/>
                  </a:solidFill>
                </a:rPr>
                <a:t>Vector Poisson’s equation</a:t>
              </a:r>
            </a:p>
          </p:txBody>
        </p:sp>
        <p:sp>
          <p:nvSpPr>
            <p:cNvPr id="15383" name="Line 17"/>
            <p:cNvSpPr>
              <a:spLocks noChangeShapeType="1"/>
            </p:cNvSpPr>
            <p:nvPr/>
          </p:nvSpPr>
          <p:spPr bwMode="auto">
            <a:xfrm flipH="1">
              <a:off x="3017" y="1511"/>
              <a:ext cx="317" cy="0"/>
            </a:xfrm>
            <a:prstGeom prst="line">
              <a:avLst/>
            </a:prstGeom>
            <a:noFill/>
            <a:ln w="28575">
              <a:solidFill>
                <a:srgbClr val="FFCC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8256" name="Group 35"/>
          <p:cNvGrpSpPr/>
          <p:nvPr/>
        </p:nvGrpSpPr>
        <p:grpSpPr bwMode="auto">
          <a:xfrm>
            <a:off x="6311900" y="4887914"/>
            <a:ext cx="2808288" cy="701675"/>
            <a:chOff x="3243" y="1737"/>
            <a:chExt cx="1769" cy="442"/>
          </a:xfrm>
        </p:grpSpPr>
        <p:sp>
          <p:nvSpPr>
            <p:cNvPr id="15380" name="Text Box 9"/>
            <p:cNvSpPr txBox="1">
              <a:spLocks noChangeArrowheads="1"/>
            </p:cNvSpPr>
            <p:nvPr/>
          </p:nvSpPr>
          <p:spPr bwMode="auto">
            <a:xfrm>
              <a:off x="3425" y="1737"/>
              <a:ext cx="1587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solidFill>
                    <a:srgbClr val="000000"/>
                  </a:solidFill>
                </a:rPr>
                <a:t>Vector  Laplace’s Equation</a:t>
              </a:r>
            </a:p>
          </p:txBody>
        </p:sp>
        <p:sp>
          <p:nvSpPr>
            <p:cNvPr id="15381" name="Line 18"/>
            <p:cNvSpPr>
              <a:spLocks noChangeShapeType="1"/>
            </p:cNvSpPr>
            <p:nvPr/>
          </p:nvSpPr>
          <p:spPr bwMode="auto">
            <a:xfrm flipH="1">
              <a:off x="3243" y="1888"/>
              <a:ext cx="317" cy="0"/>
            </a:xfrm>
            <a:prstGeom prst="line">
              <a:avLst/>
            </a:prstGeom>
            <a:noFill/>
            <a:ln w="28575">
              <a:solidFill>
                <a:srgbClr val="FFCC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8259" name="Group 29"/>
          <p:cNvGrpSpPr/>
          <p:nvPr/>
        </p:nvGrpSpPr>
        <p:grpSpPr bwMode="auto">
          <a:xfrm>
            <a:off x="3503613" y="1989138"/>
            <a:ext cx="2952750" cy="792162"/>
            <a:chOff x="1338" y="693"/>
            <a:chExt cx="1918" cy="545"/>
          </a:xfrm>
        </p:grpSpPr>
        <p:graphicFrame>
          <p:nvGraphicFramePr>
            <p:cNvPr id="15377" name="Object 11"/>
            <p:cNvGraphicFramePr>
              <a:graphicFrameLocks noChangeAspect="1"/>
            </p:cNvGraphicFramePr>
            <p:nvPr/>
          </p:nvGraphicFramePr>
          <p:xfrm>
            <a:off x="1813" y="719"/>
            <a:ext cx="1443" cy="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308100" imgH="330200" progId="Equation.DSMT4">
                    <p:embed/>
                  </p:oleObj>
                </mc:Choice>
                <mc:Fallback>
                  <p:oleObj name="Equation" r:id="rId14" imgW="1308100" imgH="330200" progId="Equation.DSMT4">
                    <p:embed/>
                    <p:pic>
                      <p:nvPicPr>
                        <p:cNvPr id="0" name="图片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3" y="719"/>
                          <a:ext cx="1443" cy="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8" name="AutoShape 13"/>
            <p:cNvSpPr>
              <a:spLocks noChangeArrowheads="1"/>
            </p:cNvSpPr>
            <p:nvPr/>
          </p:nvSpPr>
          <p:spPr bwMode="auto">
            <a:xfrm>
              <a:off x="1429" y="875"/>
              <a:ext cx="408" cy="137"/>
            </a:xfrm>
            <a:prstGeom prst="rightArrow">
              <a:avLst>
                <a:gd name="adj1" fmla="val 50000"/>
                <a:gd name="adj2" fmla="val 74453"/>
              </a:avLst>
            </a:prstGeom>
            <a:solidFill>
              <a:srgbClr val="FFCC99"/>
            </a:solidFill>
            <a:ln w="22225">
              <a:solidFill>
                <a:srgbClr val="FF66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b="1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  <p:sp>
          <p:nvSpPr>
            <p:cNvPr id="15379" name="AutoShape 19"/>
            <p:cNvSpPr/>
            <p:nvPr/>
          </p:nvSpPr>
          <p:spPr bwMode="auto">
            <a:xfrm>
              <a:off x="1338" y="693"/>
              <a:ext cx="45" cy="545"/>
            </a:xfrm>
            <a:prstGeom prst="rightBrace">
              <a:avLst>
                <a:gd name="adj1" fmla="val 100926"/>
                <a:gd name="adj2" fmla="val 50000"/>
              </a:avLst>
            </a:prstGeom>
            <a:noFill/>
            <a:ln w="222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b="1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</p:grpSp>
      <p:grpSp>
        <p:nvGrpSpPr>
          <p:cNvPr id="138263" name="Group 28"/>
          <p:cNvGrpSpPr/>
          <p:nvPr/>
        </p:nvGrpSpPr>
        <p:grpSpPr bwMode="auto">
          <a:xfrm>
            <a:off x="6600826" y="1989139"/>
            <a:ext cx="3527425" cy="681037"/>
            <a:chOff x="3198" y="706"/>
            <a:chExt cx="2291" cy="463"/>
          </a:xfrm>
        </p:grpSpPr>
        <p:graphicFrame>
          <p:nvGraphicFramePr>
            <p:cNvPr id="15375" name="Object 12"/>
            <p:cNvGraphicFramePr>
              <a:graphicFrameLocks noChangeAspect="1"/>
            </p:cNvGraphicFramePr>
            <p:nvPr/>
          </p:nvGraphicFramePr>
          <p:xfrm>
            <a:off x="3578" y="706"/>
            <a:ext cx="1911" cy="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765300" imgH="330200" progId="Equation.DSMT4">
                    <p:embed/>
                  </p:oleObj>
                </mc:Choice>
                <mc:Fallback>
                  <p:oleObj name="Equation" r:id="rId16" imgW="1765300" imgH="330200" progId="Equation.DSMT4">
                    <p:embed/>
                    <p:pic>
                      <p:nvPicPr>
                        <p:cNvPr id="0" name="图片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78" y="706"/>
                          <a:ext cx="1911" cy="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6" name="AutoShape 20"/>
            <p:cNvSpPr>
              <a:spLocks noChangeArrowheads="1"/>
            </p:cNvSpPr>
            <p:nvPr/>
          </p:nvSpPr>
          <p:spPr bwMode="auto">
            <a:xfrm>
              <a:off x="3198" y="875"/>
              <a:ext cx="408" cy="137"/>
            </a:xfrm>
            <a:prstGeom prst="rightArrow">
              <a:avLst>
                <a:gd name="adj1" fmla="val 50000"/>
                <a:gd name="adj2" fmla="val 74453"/>
              </a:avLst>
            </a:prstGeom>
            <a:solidFill>
              <a:srgbClr val="FFCC99"/>
            </a:solidFill>
            <a:ln w="22225">
              <a:solidFill>
                <a:srgbClr val="FF66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b="1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</p:grpSp>
      <p:sp>
        <p:nvSpPr>
          <p:cNvPr id="138266" name="AutoShape 37"/>
          <p:cNvSpPr>
            <a:spLocks noChangeArrowheads="1"/>
          </p:cNvSpPr>
          <p:nvPr/>
        </p:nvSpPr>
        <p:spPr bwMode="auto">
          <a:xfrm rot="5374036" flipV="1">
            <a:off x="8547894" y="2400976"/>
            <a:ext cx="1289050" cy="2062401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17763 h 21600"/>
              <a:gd name="T20" fmla="*/ 16741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254" y="0"/>
                </a:moveTo>
                <a:lnTo>
                  <a:pt x="8908" y="5177"/>
                </a:lnTo>
                <a:lnTo>
                  <a:pt x="13767" y="5177"/>
                </a:lnTo>
                <a:lnTo>
                  <a:pt x="13767" y="17763"/>
                </a:lnTo>
                <a:lnTo>
                  <a:pt x="0" y="17763"/>
                </a:lnTo>
                <a:lnTo>
                  <a:pt x="0" y="21600"/>
                </a:lnTo>
                <a:lnTo>
                  <a:pt x="16741" y="21600"/>
                </a:lnTo>
                <a:lnTo>
                  <a:pt x="16741" y="5177"/>
                </a:lnTo>
                <a:lnTo>
                  <a:pt x="21600" y="5177"/>
                </a:lnTo>
                <a:lnTo>
                  <a:pt x="15254" y="0"/>
                </a:lnTo>
                <a:close/>
              </a:path>
            </a:pathLst>
          </a:custGeom>
          <a:solidFill>
            <a:srgbClr val="FF7C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8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3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138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138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38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38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38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38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38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38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38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38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4" grpId="0"/>
      <p:bldP spid="13826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583" name="Rectangle 55" descr="新闻纸"/>
          <p:cNvSpPr>
            <a:spLocks noChangeArrowheads="1"/>
          </p:cNvSpPr>
          <p:nvPr/>
        </p:nvSpPr>
        <p:spPr bwMode="auto">
          <a:xfrm>
            <a:off x="3285835" y="3712082"/>
            <a:ext cx="184730" cy="584775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b="1">
              <a:solidFill>
                <a:srgbClr val="FF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16387" name="Text Box 2"/>
          <p:cNvSpPr txBox="1">
            <a:spLocks noChangeArrowheads="1"/>
          </p:cNvSpPr>
          <p:nvPr/>
        </p:nvSpPr>
        <p:spPr bwMode="auto">
          <a:xfrm>
            <a:off x="1847850" y="333375"/>
            <a:ext cx="8064500" cy="1052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800000"/>
                </a:solidFill>
                <a:latin typeface="Times New Roman" panose="02020603050405020304" pitchFamily="18" charset="0"/>
              </a:rPr>
              <a:t>3. </a:t>
            </a:r>
            <a:r>
              <a:rPr kumimoji="1" lang="en-US" altLang="zh-CN" sz="24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The problems in infinite uniform medium space (special problems)</a:t>
            </a:r>
          </a:p>
        </p:txBody>
      </p:sp>
      <p:graphicFrame>
        <p:nvGraphicFramePr>
          <p:cNvPr id="139269" name="Object 3"/>
          <p:cNvGraphicFramePr>
            <a:graphicFrameLocks noChangeAspect="1"/>
          </p:cNvGraphicFramePr>
          <p:nvPr/>
        </p:nvGraphicFramePr>
        <p:xfrm>
          <a:off x="2135189" y="2200276"/>
          <a:ext cx="2600325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35100" imgH="431800" progId="Equation.DSMT4">
                  <p:embed/>
                </p:oleObj>
              </mc:Choice>
              <mc:Fallback>
                <p:oleObj name="Equation" r:id="rId3" imgW="1435100" imgH="4318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9" y="2200276"/>
                        <a:ext cx="2600325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6541" name="Text Box 13"/>
          <p:cNvSpPr txBox="1">
            <a:spLocks noChangeArrowheads="1"/>
          </p:cNvSpPr>
          <p:nvPr/>
        </p:nvSpPr>
        <p:spPr bwMode="auto">
          <a:xfrm>
            <a:off x="2132014" y="1412876"/>
            <a:ext cx="3748087" cy="449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kumimoji="1" lang="en-US" altLang="zh-CN" sz="1800" b="1">
                <a:solidFill>
                  <a:srgbClr val="000000"/>
                </a:solidFill>
                <a:ea typeface="仿宋_GB2312" pitchFamily="49" charset="-122"/>
              </a:rPr>
              <a:t>The analogy method to solve</a:t>
            </a:r>
          </a:p>
        </p:txBody>
      </p:sp>
      <p:graphicFrame>
        <p:nvGraphicFramePr>
          <p:cNvPr id="139271" name="Object 18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1919288" y="4092575"/>
          <a:ext cx="2952750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95500" imgH="533400" progId="Equation.DSMT4">
                  <p:embed/>
                </p:oleObj>
              </mc:Choice>
              <mc:Fallback>
                <p:oleObj name="Equation" r:id="rId5" imgW="2095500" imgH="533400" progId="Equation.DSMT4">
                  <p:embed/>
                  <p:pic>
                    <p:nvPicPr>
                      <p:cNvPr id="0" name="图片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8" y="4092575"/>
                        <a:ext cx="2952750" cy="846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2" name="Object 31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8472489" y="1700214"/>
          <a:ext cx="1800225" cy="1449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95400" imgH="1041400" progId="Equation.DSMT4">
                  <p:embed/>
                </p:oleObj>
              </mc:Choice>
              <mc:Fallback>
                <p:oleObj name="Equation" r:id="rId7" imgW="1295400" imgH="1041400" progId="Equation.DSMT4">
                  <p:embed/>
                  <p:pic>
                    <p:nvPicPr>
                      <p:cNvPr id="0" name="图片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2489" y="1700214"/>
                        <a:ext cx="1800225" cy="1449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3" name="Object 44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6096000" y="1069975"/>
          <a:ext cx="2370138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803400" imgH="584200" progId="Equation.DSMT4">
                  <p:embed/>
                </p:oleObj>
              </mc:Choice>
              <mc:Fallback>
                <p:oleObj name="Equation" r:id="rId9" imgW="1803400" imgH="584200" progId="Equation.DSMT4">
                  <p:embed/>
                  <p:pic>
                    <p:nvPicPr>
                      <p:cNvPr id="0" name="图片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1069975"/>
                        <a:ext cx="2370138" cy="846138"/>
                      </a:xfrm>
                      <a:prstGeom prst="rect">
                        <a:avLst/>
                      </a:prstGeom>
                      <a:solidFill>
                        <a:srgbClr val="CC99FF"/>
                      </a:solidFill>
                      <a:ln w="9525">
                        <a:solidFill>
                          <a:srgbClr val="FFFF00"/>
                        </a:solidFill>
                        <a:prstDash val="dashDot"/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4" name="Object 27"/>
          <p:cNvGraphicFramePr>
            <a:graphicFrameLocks noChangeAspect="1"/>
          </p:cNvGraphicFramePr>
          <p:nvPr/>
        </p:nvGraphicFramePr>
        <p:xfrm>
          <a:off x="5303839" y="2133601"/>
          <a:ext cx="127952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54100" imgH="330200" progId="Equation.DSMT4">
                  <p:embed/>
                </p:oleObj>
              </mc:Choice>
              <mc:Fallback>
                <p:oleObj name="Equation" r:id="rId11" imgW="1054100" imgH="3302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3839" y="2133601"/>
                        <a:ext cx="1279525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6569" name="AutoShape 41"/>
          <p:cNvSpPr>
            <a:spLocks noChangeArrowheads="1"/>
          </p:cNvSpPr>
          <p:nvPr/>
        </p:nvSpPr>
        <p:spPr bwMode="auto">
          <a:xfrm>
            <a:off x="3143250" y="3204181"/>
            <a:ext cx="215900" cy="663952"/>
          </a:xfrm>
          <a:prstGeom prst="downArrow">
            <a:avLst>
              <a:gd name="adj1" fmla="val 50000"/>
              <a:gd name="adj2" fmla="val 75184"/>
            </a:avLst>
          </a:prstGeom>
          <a:solidFill>
            <a:srgbClr val="FF7C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b="1">
              <a:solidFill>
                <a:srgbClr val="FF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1046576" name="AutoShape 48"/>
          <p:cNvSpPr>
            <a:spLocks noChangeArrowheads="1"/>
          </p:cNvSpPr>
          <p:nvPr/>
        </p:nvSpPr>
        <p:spPr bwMode="auto">
          <a:xfrm>
            <a:off x="9048750" y="3277206"/>
            <a:ext cx="215900" cy="663952"/>
          </a:xfrm>
          <a:prstGeom prst="downArrow">
            <a:avLst>
              <a:gd name="adj1" fmla="val 50000"/>
              <a:gd name="adj2" fmla="val 75184"/>
            </a:avLst>
          </a:prstGeom>
          <a:solidFill>
            <a:srgbClr val="FF7C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b="1">
              <a:solidFill>
                <a:srgbClr val="FF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graphicFrame>
        <p:nvGraphicFramePr>
          <p:cNvPr id="139278" name="Object 49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7680325" y="3933826"/>
          <a:ext cx="2916238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171700" imgH="609600" progId="Equation.DSMT4">
                  <p:embed/>
                </p:oleObj>
              </mc:Choice>
              <mc:Fallback>
                <p:oleObj name="Equation" r:id="rId13" imgW="2171700" imgH="609600" progId="Equation.DSMT4">
                  <p:embed/>
                  <p:pic>
                    <p:nvPicPr>
                      <p:cNvPr id="0" name="图片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0325" y="3933826"/>
                        <a:ext cx="2916238" cy="83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9" name="Object 52"/>
          <p:cNvGraphicFramePr>
            <a:graphicFrameLocks noChangeAspect="1"/>
          </p:cNvGraphicFramePr>
          <p:nvPr/>
        </p:nvGraphicFramePr>
        <p:xfrm>
          <a:off x="4730750" y="5129131"/>
          <a:ext cx="2949575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032000" imgH="609600" progId="Equation.DSMT4">
                  <p:embed/>
                </p:oleObj>
              </mc:Choice>
              <mc:Fallback>
                <p:oleObj name="Equation" r:id="rId15" imgW="2032000" imgH="609600" progId="Equation.DSMT4">
                  <p:embed/>
                  <p:pic>
                    <p:nvPicPr>
                      <p:cNvPr id="0" name="图片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0750" y="5129131"/>
                        <a:ext cx="2949575" cy="992188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6581" name="AutoShape 53"/>
          <p:cNvSpPr>
            <a:spLocks noChangeArrowheads="1"/>
          </p:cNvSpPr>
          <p:nvPr/>
        </p:nvSpPr>
        <p:spPr bwMode="auto">
          <a:xfrm rot="5374036" flipV="1">
            <a:off x="8769693" y="4383600"/>
            <a:ext cx="936625" cy="2062401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17763 h 21600"/>
              <a:gd name="T20" fmla="*/ 16741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254" y="0"/>
                </a:moveTo>
                <a:lnTo>
                  <a:pt x="8908" y="5177"/>
                </a:lnTo>
                <a:lnTo>
                  <a:pt x="13767" y="5177"/>
                </a:lnTo>
                <a:lnTo>
                  <a:pt x="13767" y="17763"/>
                </a:lnTo>
                <a:lnTo>
                  <a:pt x="0" y="17763"/>
                </a:lnTo>
                <a:lnTo>
                  <a:pt x="0" y="21600"/>
                </a:lnTo>
                <a:lnTo>
                  <a:pt x="16741" y="21600"/>
                </a:lnTo>
                <a:lnTo>
                  <a:pt x="16741" y="5177"/>
                </a:lnTo>
                <a:lnTo>
                  <a:pt x="21600" y="5177"/>
                </a:lnTo>
                <a:lnTo>
                  <a:pt x="15254" y="0"/>
                </a:lnTo>
                <a:close/>
              </a:path>
            </a:pathLst>
          </a:custGeom>
          <a:solidFill>
            <a:srgbClr val="FF7C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48618" name="AutoShape 42"/>
          <p:cNvSpPr>
            <a:spLocks noChangeArrowheads="1"/>
          </p:cNvSpPr>
          <p:nvPr/>
        </p:nvSpPr>
        <p:spPr bwMode="auto">
          <a:xfrm>
            <a:off x="6743701" y="2276475"/>
            <a:ext cx="1439863" cy="215900"/>
          </a:xfrm>
          <a:prstGeom prst="rightArrow">
            <a:avLst>
              <a:gd name="adj1" fmla="val 50000"/>
              <a:gd name="adj2" fmla="val 166728"/>
            </a:avLst>
          </a:prstGeom>
          <a:solidFill>
            <a:srgbClr val="FFCC99"/>
          </a:solidFill>
          <a:ln w="22225">
            <a:solidFill>
              <a:srgbClr val="FF66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b="1">
              <a:solidFill>
                <a:srgbClr val="FF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46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9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48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39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39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46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39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046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39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46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39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046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39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6583" grpId="0" animBg="1"/>
      <p:bldP spid="1046541" grpId="0"/>
      <p:bldP spid="1046569" grpId="0" animBg="1"/>
      <p:bldP spid="1046576" grpId="0" animBg="1"/>
      <p:bldP spid="1046581" grpId="0" animBg="1"/>
      <p:bldP spid="10486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7730" name="Group 2"/>
          <p:cNvGrpSpPr/>
          <p:nvPr/>
        </p:nvGrpSpPr>
        <p:grpSpPr bwMode="auto">
          <a:xfrm>
            <a:off x="1524000" y="992188"/>
            <a:ext cx="9144000" cy="1184274"/>
            <a:chOff x="46" y="647"/>
            <a:chExt cx="5601" cy="746"/>
          </a:xfrm>
        </p:grpSpPr>
        <p:sp>
          <p:nvSpPr>
            <p:cNvPr id="17437" name="Rectangle 3"/>
            <p:cNvSpPr>
              <a:spLocks noChangeArrowheads="1"/>
            </p:cNvSpPr>
            <p:nvPr/>
          </p:nvSpPr>
          <p:spPr bwMode="auto">
            <a:xfrm>
              <a:off x="46" y="674"/>
              <a:ext cx="5601" cy="5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ctr" hangingPunct="1">
                <a:lnSpc>
                  <a:spcPct val="14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800" b="1">
                  <a:solidFill>
                    <a:srgbClr val="000000"/>
                  </a:solidFill>
                  <a:ea typeface="幼圆" panose="02010509060101010101" pitchFamily="49" charset="-122"/>
                </a:rPr>
                <a:t>Solution: </a:t>
              </a:r>
              <a:r>
                <a:rPr kumimoji="1" lang="en-US" altLang="zh-CN" sz="1800" b="1">
                  <a:solidFill>
                    <a:srgbClr val="000000"/>
                  </a:solidFill>
                  <a:ea typeface="楷体_GB2312" pitchFamily="49" charset="-122"/>
                </a:rPr>
                <a:t>the </a:t>
              </a:r>
              <a:r>
                <a:rPr kumimoji="1" lang="en-US" altLang="zh-CN" sz="1800" b="1">
                  <a:solidFill>
                    <a:srgbClr val="000000"/>
                  </a:solidFill>
                </a:rPr>
                <a:t>magnetic vector potential for 2L line, </a:t>
              </a:r>
              <a:r>
                <a:rPr lang="en-US" altLang="zh-CN" sz="1800" b="1">
                  <a:solidFill>
                    <a:srgbClr val="000000"/>
                  </a:solidFill>
                  <a:ea typeface="楷体_GB2312" pitchFamily="49" charset="-122"/>
                </a:rPr>
                <a:t>current element                         to                           ,    the </a:t>
              </a:r>
              <a:endParaRPr lang="zh-CN" altLang="zh-CN" sz="1800" b="1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graphicFrame>
          <p:nvGraphicFramePr>
            <p:cNvPr id="17438" name="Object 4"/>
            <p:cNvGraphicFramePr>
              <a:graphicFrameLocks noChangeAspect="1"/>
            </p:cNvGraphicFramePr>
            <p:nvPr/>
          </p:nvGraphicFramePr>
          <p:xfrm>
            <a:off x="1750" y="923"/>
            <a:ext cx="1580" cy="4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8956000" imgH="6705600" progId="Equation.DSMT4">
                    <p:embed/>
                  </p:oleObj>
                </mc:Choice>
                <mc:Fallback>
                  <p:oleObj name="Equation" r:id="rId2" imgW="28956000" imgH="6705600" progId="Equation.DSMT4">
                    <p:embed/>
                    <p:pic>
                      <p:nvPicPr>
                        <p:cNvPr id="0" name="图片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0" y="923"/>
                          <a:ext cx="1580" cy="4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9" name="Object 5"/>
            <p:cNvGraphicFramePr>
              <a:graphicFrameLocks noChangeAspect="1"/>
            </p:cNvGraphicFramePr>
            <p:nvPr/>
          </p:nvGraphicFramePr>
          <p:xfrm>
            <a:off x="4602" y="647"/>
            <a:ext cx="1000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927100" imgH="254000" progId="Equation.DSMT4">
                    <p:embed/>
                  </p:oleObj>
                </mc:Choice>
                <mc:Fallback>
                  <p:oleObj name="Equation" r:id="rId4" imgW="927100" imgH="254000" progId="Equation.DSMT4">
                    <p:embed/>
                    <p:pic>
                      <p:nvPicPr>
                        <p:cNvPr id="0" name="图片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2" y="647"/>
                          <a:ext cx="1000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40" name="Object 6"/>
            <p:cNvGraphicFramePr>
              <a:graphicFrameLocks noChangeAspect="1"/>
            </p:cNvGraphicFramePr>
            <p:nvPr/>
          </p:nvGraphicFramePr>
          <p:xfrm>
            <a:off x="345" y="990"/>
            <a:ext cx="973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4935200" imgH="4876800" progId="Equation.DSMT4">
                    <p:embed/>
                  </p:oleObj>
                </mc:Choice>
                <mc:Fallback>
                  <p:oleObj name="Equation" r:id="rId6" imgW="14935200" imgH="4876800" progId="Equation.DSMT4">
                    <p:embed/>
                    <p:pic>
                      <p:nvPicPr>
                        <p:cNvPr id="0" name="图片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" y="990"/>
                          <a:ext cx="973" cy="3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5352" name="Object 7"/>
          <p:cNvGraphicFramePr>
            <a:graphicFrameLocks noChangeAspect="1"/>
          </p:cNvGraphicFramePr>
          <p:nvPr/>
        </p:nvGraphicFramePr>
        <p:xfrm>
          <a:off x="1851025" y="2193925"/>
          <a:ext cx="5118100" cy="1109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3035200" imgH="11277600" progId="Equation.DSMT4">
                  <p:embed/>
                </p:oleObj>
              </mc:Choice>
              <mc:Fallback>
                <p:oleObj name="Equation" r:id="rId8" imgW="53035200" imgH="112776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1025" y="2193925"/>
                        <a:ext cx="5118100" cy="11099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3" name="Object 8"/>
          <p:cNvGraphicFramePr>
            <a:graphicFrameLocks noChangeAspect="1"/>
          </p:cNvGraphicFramePr>
          <p:nvPr/>
        </p:nvGraphicFramePr>
        <p:xfrm>
          <a:off x="2578100" y="3135630"/>
          <a:ext cx="4671060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5473600" imgH="10972800" progId="Equation.DSMT4">
                  <p:embed/>
                </p:oleObj>
              </mc:Choice>
              <mc:Fallback>
                <p:oleObj name="Equation" r:id="rId10" imgW="55473600" imgH="109728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8100" y="3135630"/>
                        <a:ext cx="4671060" cy="108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4" name="Object 9"/>
          <p:cNvGraphicFramePr>
            <a:graphicFrameLocks noChangeAspect="1"/>
          </p:cNvGraphicFramePr>
          <p:nvPr/>
        </p:nvGraphicFramePr>
        <p:xfrm>
          <a:off x="2578100" y="4076700"/>
          <a:ext cx="4227513" cy="117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1816000" imgH="12801600" progId="Equation.DSMT4">
                  <p:embed/>
                </p:oleObj>
              </mc:Choice>
              <mc:Fallback>
                <p:oleObj name="Equation" r:id="rId12" imgW="51816000" imgH="12801600" progId="Equation.DSMT4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8100" y="4076700"/>
                        <a:ext cx="4227513" cy="1173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355" name="Text Box 10"/>
          <p:cNvSpPr txBox="1">
            <a:spLocks noChangeArrowheads="1"/>
          </p:cNvSpPr>
          <p:nvPr/>
        </p:nvSpPr>
        <p:spPr bwMode="auto">
          <a:xfrm>
            <a:off x="1739901" y="84138"/>
            <a:ext cx="10452099" cy="10525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Ex.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Find the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magnetic vector potential of an infinite long line carrying current I long z axis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graphicFrame>
        <p:nvGraphicFramePr>
          <p:cNvPr id="185359" name="Object 14"/>
          <p:cNvGraphicFramePr>
            <a:graphicFrameLocks noChangeAspect="1"/>
          </p:cNvGraphicFramePr>
          <p:nvPr/>
        </p:nvGraphicFramePr>
        <p:xfrm>
          <a:off x="3641725" y="5575300"/>
          <a:ext cx="3497263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5661600" imgH="10058400" progId="Equation.DSMT4">
                  <p:embed/>
                </p:oleObj>
              </mc:Choice>
              <mc:Fallback>
                <p:oleObj name="Equation" r:id="rId14" imgW="35661600" imgH="10058400" progId="Equation.DSMT4">
                  <p:embed/>
                  <p:pic>
                    <p:nvPicPr>
                      <p:cNvPr id="0" name="图片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1725" y="5575300"/>
                        <a:ext cx="3497263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97743" name="Group 15"/>
          <p:cNvGrpSpPr/>
          <p:nvPr/>
        </p:nvGrpSpPr>
        <p:grpSpPr bwMode="auto">
          <a:xfrm>
            <a:off x="7535864" y="1677989"/>
            <a:ext cx="2808287" cy="3557107"/>
            <a:chOff x="3742" y="618"/>
            <a:chExt cx="1906" cy="2424"/>
          </a:xfrm>
        </p:grpSpPr>
        <p:sp>
          <p:nvSpPr>
            <p:cNvPr id="17418" name="Rectangle 16"/>
            <p:cNvSpPr>
              <a:spLocks noChangeArrowheads="1"/>
            </p:cNvSpPr>
            <p:nvPr/>
          </p:nvSpPr>
          <p:spPr bwMode="auto">
            <a:xfrm>
              <a:off x="3742" y="618"/>
              <a:ext cx="1906" cy="240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  <p:sp>
          <p:nvSpPr>
            <p:cNvPr id="17419" name="Rectangle 17"/>
            <p:cNvSpPr>
              <a:spLocks noChangeAspect="1" noChangeArrowheads="1"/>
            </p:cNvSpPr>
            <p:nvPr/>
          </p:nvSpPr>
          <p:spPr bwMode="auto">
            <a:xfrm>
              <a:off x="4301" y="974"/>
              <a:ext cx="58" cy="1902"/>
            </a:xfrm>
            <a:prstGeom prst="rect">
              <a:avLst/>
            </a:prstGeom>
            <a:gradFill rotWithShape="1">
              <a:gsLst>
                <a:gs pos="0">
                  <a:srgbClr val="765E47"/>
                </a:gs>
                <a:gs pos="100000">
                  <a:srgbClr val="FFCC99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  <p:sp>
          <p:nvSpPr>
            <p:cNvPr id="17420" name="Line 18"/>
            <p:cNvSpPr>
              <a:spLocks noChangeShapeType="1"/>
            </p:cNvSpPr>
            <p:nvPr/>
          </p:nvSpPr>
          <p:spPr bwMode="auto">
            <a:xfrm flipV="1">
              <a:off x="4331" y="753"/>
              <a:ext cx="4" cy="1905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1" name="Line 19"/>
            <p:cNvSpPr>
              <a:spLocks noChangeShapeType="1"/>
            </p:cNvSpPr>
            <p:nvPr/>
          </p:nvSpPr>
          <p:spPr bwMode="auto">
            <a:xfrm>
              <a:off x="4311" y="1930"/>
              <a:ext cx="1231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2" name="Line 20"/>
            <p:cNvSpPr>
              <a:spLocks noChangeShapeType="1"/>
            </p:cNvSpPr>
            <p:nvPr/>
          </p:nvSpPr>
          <p:spPr bwMode="auto">
            <a:xfrm flipH="1">
              <a:off x="3831" y="1930"/>
              <a:ext cx="480" cy="45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3" name="Text Box 21"/>
            <p:cNvSpPr txBox="1">
              <a:spLocks noChangeArrowheads="1"/>
            </p:cNvSpPr>
            <p:nvPr/>
          </p:nvSpPr>
          <p:spPr bwMode="auto">
            <a:xfrm>
              <a:off x="3786" y="2250"/>
              <a:ext cx="217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x</a:t>
              </a:r>
              <a:endPara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424" name="Text Box 22"/>
            <p:cNvSpPr txBox="1">
              <a:spLocks noChangeArrowheads="1"/>
            </p:cNvSpPr>
            <p:nvPr/>
          </p:nvSpPr>
          <p:spPr bwMode="auto">
            <a:xfrm>
              <a:off x="5419" y="1826"/>
              <a:ext cx="216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y</a:t>
              </a:r>
              <a:endPara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425" name="Text Box 23"/>
            <p:cNvSpPr txBox="1">
              <a:spLocks noChangeArrowheads="1"/>
            </p:cNvSpPr>
            <p:nvPr/>
          </p:nvSpPr>
          <p:spPr bwMode="auto">
            <a:xfrm>
              <a:off x="4349" y="624"/>
              <a:ext cx="205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z</a:t>
              </a:r>
              <a:endPara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426" name="Text Box 24"/>
            <p:cNvSpPr txBox="1">
              <a:spLocks noChangeArrowheads="1"/>
            </p:cNvSpPr>
            <p:nvPr/>
          </p:nvSpPr>
          <p:spPr bwMode="auto">
            <a:xfrm>
              <a:off x="4108" y="793"/>
              <a:ext cx="242" cy="3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L</a:t>
              </a:r>
              <a:endPara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427" name="Text Box 25"/>
            <p:cNvSpPr txBox="1">
              <a:spLocks noChangeArrowheads="1"/>
            </p:cNvSpPr>
            <p:nvPr/>
          </p:nvSpPr>
          <p:spPr bwMode="auto">
            <a:xfrm>
              <a:off x="4044" y="2652"/>
              <a:ext cx="311" cy="3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-L</a:t>
              </a:r>
              <a:endPara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428" name="Line 26"/>
            <p:cNvSpPr>
              <a:spLocks noChangeShapeType="1"/>
            </p:cNvSpPr>
            <p:nvPr/>
          </p:nvSpPr>
          <p:spPr bwMode="auto">
            <a:xfrm flipV="1">
              <a:off x="4332" y="1025"/>
              <a:ext cx="771" cy="575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prstDash val="dash"/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29" name="Object 27"/>
            <p:cNvGraphicFramePr>
              <a:graphicFrameLocks noChangeAspect="1"/>
            </p:cNvGraphicFramePr>
            <p:nvPr/>
          </p:nvGraphicFramePr>
          <p:xfrm>
            <a:off x="4829" y="753"/>
            <a:ext cx="681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609600" imgH="177800" progId="Equation.DSMT4">
                    <p:embed/>
                  </p:oleObj>
                </mc:Choice>
                <mc:Fallback>
                  <p:oleObj name="Equation" r:id="rId16" imgW="609600" imgH="177800" progId="Equation.DSMT4">
                    <p:embed/>
                    <p:pic>
                      <p:nvPicPr>
                        <p:cNvPr id="0" name="图片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9" y="753"/>
                          <a:ext cx="681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0" name="Object 28"/>
            <p:cNvGraphicFramePr>
              <a:graphicFrameLocks noChangeAspect="1"/>
            </p:cNvGraphicFramePr>
            <p:nvPr/>
          </p:nvGraphicFramePr>
          <p:xfrm>
            <a:off x="4108" y="1498"/>
            <a:ext cx="19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27000" imgH="127000" progId="Equation.DSMT4">
                    <p:embed/>
                  </p:oleObj>
                </mc:Choice>
                <mc:Fallback>
                  <p:oleObj name="Equation" r:id="rId18" imgW="127000" imgH="127000" progId="Equation.DSMT4">
                    <p:embed/>
                    <p:pic>
                      <p:nvPicPr>
                        <p:cNvPr id="0" name="图片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8" y="1498"/>
                          <a:ext cx="192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1" name="Object 29"/>
            <p:cNvGraphicFramePr>
              <a:graphicFrameLocks noChangeAspect="1"/>
            </p:cNvGraphicFramePr>
            <p:nvPr/>
          </p:nvGraphicFramePr>
          <p:xfrm>
            <a:off x="4358" y="1524"/>
            <a:ext cx="910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927100" imgH="254000" progId="Equation.DSMT4">
                    <p:embed/>
                  </p:oleObj>
                </mc:Choice>
                <mc:Fallback>
                  <p:oleObj name="Equation" r:id="rId20" imgW="927100" imgH="254000" progId="Equation.DSMT4">
                    <p:embed/>
                    <p:pic>
                      <p:nvPicPr>
                        <p:cNvPr id="0" name="图片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8" y="1524"/>
                          <a:ext cx="910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2" name="Line 30"/>
            <p:cNvSpPr>
              <a:spLocks noChangeShapeType="1"/>
            </p:cNvSpPr>
            <p:nvPr/>
          </p:nvSpPr>
          <p:spPr bwMode="auto">
            <a:xfrm>
              <a:off x="4332" y="1031"/>
              <a:ext cx="779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33" name="Object 31"/>
            <p:cNvGraphicFramePr>
              <a:graphicFrameLocks noChangeAspect="1"/>
            </p:cNvGraphicFramePr>
            <p:nvPr/>
          </p:nvGraphicFramePr>
          <p:xfrm>
            <a:off x="4785" y="1207"/>
            <a:ext cx="209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14300" imgH="127000" progId="Equation.DSMT4">
                    <p:embed/>
                  </p:oleObj>
                </mc:Choice>
                <mc:Fallback>
                  <p:oleObj name="Equation" r:id="rId22" imgW="114300" imgH="127000" progId="Equation.DSMT4">
                    <p:embed/>
                    <p:pic>
                      <p:nvPicPr>
                        <p:cNvPr id="0" name="图片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5" y="1207"/>
                          <a:ext cx="209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4" name="Line 32"/>
            <p:cNvSpPr>
              <a:spLocks noChangeShapeType="1"/>
            </p:cNvSpPr>
            <p:nvPr/>
          </p:nvSpPr>
          <p:spPr bwMode="auto">
            <a:xfrm flipV="1">
              <a:off x="4332" y="1493"/>
              <a:ext cx="0" cy="18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063750" y="5158105"/>
            <a:ext cx="6767830" cy="504190"/>
            <a:chOff x="3250" y="8123"/>
            <a:chExt cx="10658" cy="794"/>
          </a:xfrm>
        </p:grpSpPr>
        <p:grpSp>
          <p:nvGrpSpPr>
            <p:cNvPr id="1097739" name="Group 11"/>
            <p:cNvGrpSpPr/>
            <p:nvPr/>
          </p:nvGrpSpPr>
          <p:grpSpPr bwMode="auto">
            <a:xfrm>
              <a:off x="3250" y="8123"/>
              <a:ext cx="10658" cy="795"/>
              <a:chOff x="45" y="3113"/>
              <a:chExt cx="5602" cy="318"/>
            </a:xfrm>
          </p:grpSpPr>
          <p:sp>
            <p:nvSpPr>
              <p:cNvPr id="17435" name="Text Box 12"/>
              <p:cNvSpPr txBox="1">
                <a:spLocks noChangeArrowheads="1"/>
              </p:cNvSpPr>
              <p:nvPr/>
            </p:nvSpPr>
            <p:spPr bwMode="auto">
              <a:xfrm>
                <a:off x="45" y="3113"/>
                <a:ext cx="5602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0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The </a:t>
                </a:r>
                <a:r>
                  <a:rPr kumimoji="1" lang="en-US" altLang="zh-CN" sz="2000" b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magnetic vector potential for</a:t>
                </a:r>
                <a:r>
                  <a:rPr kumimoji="1" lang="en-US" altLang="zh-CN" sz="2000"/>
                  <a:t> </a:t>
                </a:r>
              </a:p>
            </p:txBody>
          </p:sp>
          <p:graphicFrame>
            <p:nvGraphicFramePr>
              <p:cNvPr id="17436" name="Object 13"/>
              <p:cNvGraphicFramePr>
                <a:graphicFrameLocks noChangeAspect="1"/>
              </p:cNvGraphicFramePr>
              <p:nvPr/>
            </p:nvGraphicFramePr>
            <p:xfrm>
              <a:off x="3198" y="3204"/>
              <a:ext cx="662" cy="2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4" imgW="533400" imgH="152400" progId="Equation.DSMT4">
                      <p:embed/>
                    </p:oleObj>
                  </mc:Choice>
                  <mc:Fallback>
                    <p:oleObj name="Equation" r:id="rId24" imgW="533400" imgH="152400" progId="Equation.DSMT4">
                      <p:embed/>
                      <p:pic>
                        <p:nvPicPr>
                          <p:cNvPr id="0" name="图片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98" y="3204"/>
                            <a:ext cx="662" cy="22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4" name="Object 14"/>
            <p:cNvGraphicFramePr>
              <a:graphicFrameLocks noChangeAspect="1"/>
            </p:cNvGraphicFramePr>
            <p:nvPr/>
          </p:nvGraphicFramePr>
          <p:xfrm>
            <a:off x="9155" y="8239"/>
            <a:ext cx="1563" cy="6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469900" imgH="177165" progId="Equation.DSMT4">
                    <p:embed/>
                  </p:oleObj>
                </mc:Choice>
                <mc:Fallback>
                  <p:oleObj name="Equation" r:id="rId26" imgW="469900" imgH="177165" progId="Equation.DSMT4">
                    <p:embed/>
                    <p:pic>
                      <p:nvPicPr>
                        <p:cNvPr id="0" name="图片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55" y="8239"/>
                          <a:ext cx="1563" cy="6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85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097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1097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3000"/>
                                        <p:tgtEl>
                                          <p:spTgt spid="185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3000"/>
                                        <p:tgtEl>
                                          <p:spTgt spid="185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3000"/>
                                        <p:tgtEl>
                                          <p:spTgt spid="185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185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5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800" name="Rectangle 16"/>
          <p:cNvSpPr>
            <a:spLocks noChangeArrowheads="1"/>
          </p:cNvSpPr>
          <p:nvPr/>
        </p:nvSpPr>
        <p:spPr bwMode="auto">
          <a:xfrm>
            <a:off x="1754531" y="3194526"/>
            <a:ext cx="432117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1.</a:t>
            </a:r>
            <a:r>
              <a:rPr lang="en-US" altLang="zh-CN" sz="2400" b="1" dirty="0">
                <a:solidFill>
                  <a:srgbClr val="8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800000"/>
                </a:solidFill>
                <a:latin typeface="Times New Roman" panose="02020603050405020304" pitchFamily="18" charset="0"/>
              </a:rPr>
              <a:t>Ampere’s force law </a:t>
            </a:r>
            <a:endParaRPr lang="en-US" altLang="zh-CN" sz="2400" b="1" dirty="0">
              <a:solidFill>
                <a:srgbClr val="80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aphicFrame>
        <p:nvGraphicFramePr>
          <p:cNvPr id="246840" name="Object 56"/>
          <p:cNvGraphicFramePr>
            <a:graphicFrameLocks noChangeAspect="1"/>
          </p:cNvGraphicFramePr>
          <p:nvPr/>
        </p:nvGraphicFramePr>
        <p:xfrm>
          <a:off x="3648076" y="5311458"/>
          <a:ext cx="12684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8200" imgH="330200" progId="Equation.DSMT4">
                  <p:embed/>
                </p:oleObj>
              </mc:Choice>
              <mc:Fallback>
                <p:oleObj name="Equation" r:id="rId2" imgW="838200" imgH="3302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8076" y="5311458"/>
                        <a:ext cx="12684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851" name="Object 67"/>
          <p:cNvGraphicFramePr>
            <a:graphicFrameLocks noChangeAspect="1"/>
          </p:cNvGraphicFramePr>
          <p:nvPr/>
        </p:nvGraphicFramePr>
        <p:xfrm>
          <a:off x="2205449" y="4152584"/>
          <a:ext cx="42021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81300" imgH="596900" progId="Equation.DSMT4">
                  <p:embed/>
                </p:oleObj>
              </mc:Choice>
              <mc:Fallback>
                <p:oleObj name="Equation" r:id="rId4" imgW="2781300" imgH="5969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5449" y="4152584"/>
                        <a:ext cx="42021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68" name="Rectangle 71"/>
          <p:cNvSpPr>
            <a:spLocks noChangeArrowheads="1"/>
          </p:cNvSpPr>
          <p:nvPr/>
        </p:nvSpPr>
        <p:spPr bwMode="auto">
          <a:xfrm>
            <a:off x="1774826" y="1926881"/>
            <a:ext cx="10181647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00CC"/>
                </a:solidFill>
              </a:rPr>
              <a:t>In static magnetic field</a:t>
            </a:r>
            <a:r>
              <a:rPr lang="en-US" altLang="zh-CN" sz="2400" b="1" dirty="0">
                <a:solidFill>
                  <a:srgbClr val="0000CC"/>
                </a:solidFill>
                <a:ea typeface="幼圆" panose="02010509060101010101" pitchFamily="49" charset="-122"/>
              </a:rPr>
              <a:t>:</a:t>
            </a:r>
            <a:r>
              <a:rPr lang="en-US" altLang="zh-CN" sz="2400" b="1" dirty="0">
                <a:solidFill>
                  <a:srgbClr val="000000"/>
                </a:solidFill>
                <a:ea typeface="幼圆" panose="02010509060101010101" pitchFamily="49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The field has the effect on the current element located in a magnetic field</a:t>
            </a:r>
            <a:r>
              <a:rPr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。</a:t>
            </a:r>
          </a:p>
        </p:txBody>
      </p:sp>
      <p:sp>
        <p:nvSpPr>
          <p:cNvPr id="246856" name="Rectangle 72"/>
          <p:cNvSpPr>
            <a:spLocks noChangeArrowheads="1"/>
          </p:cNvSpPr>
          <p:nvPr/>
        </p:nvSpPr>
        <p:spPr bwMode="auto">
          <a:xfrm>
            <a:off x="2135189" y="5240020"/>
            <a:ext cx="1512887" cy="85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Practice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endParaRPr lang="zh-CN" altLang="en-US" sz="2400" b="1" dirty="0">
              <a:solidFill>
                <a:srgbClr val="00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pSp>
        <p:nvGrpSpPr>
          <p:cNvPr id="4" name="Group 49"/>
          <p:cNvGrpSpPr/>
          <p:nvPr/>
        </p:nvGrpSpPr>
        <p:grpSpPr bwMode="auto">
          <a:xfrm>
            <a:off x="7389307" y="3124836"/>
            <a:ext cx="2913516" cy="2566988"/>
            <a:chOff x="3470" y="2250"/>
            <a:chExt cx="1919" cy="1617"/>
          </a:xfrm>
        </p:grpSpPr>
        <p:sp>
          <p:nvSpPr>
            <p:cNvPr id="18443" name="Line 22"/>
            <p:cNvSpPr>
              <a:spLocks noChangeShapeType="1"/>
            </p:cNvSpPr>
            <p:nvPr/>
          </p:nvSpPr>
          <p:spPr bwMode="auto">
            <a:xfrm flipV="1">
              <a:off x="3833" y="2341"/>
              <a:ext cx="0" cy="1043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8444" name="Line 23"/>
            <p:cNvSpPr>
              <a:spLocks noChangeShapeType="1"/>
            </p:cNvSpPr>
            <p:nvPr/>
          </p:nvSpPr>
          <p:spPr bwMode="auto">
            <a:xfrm flipH="1">
              <a:off x="3470" y="3384"/>
              <a:ext cx="363" cy="363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8445" name="Line 24"/>
            <p:cNvSpPr>
              <a:spLocks noChangeShapeType="1"/>
            </p:cNvSpPr>
            <p:nvPr/>
          </p:nvSpPr>
          <p:spPr bwMode="auto">
            <a:xfrm rot="5400000" flipV="1">
              <a:off x="4400" y="2817"/>
              <a:ext cx="0" cy="1134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18446" name="Object 25"/>
            <p:cNvGraphicFramePr>
              <a:graphicFrameLocks noChangeAspect="1"/>
            </p:cNvGraphicFramePr>
            <p:nvPr/>
          </p:nvGraphicFramePr>
          <p:xfrm>
            <a:off x="4967" y="3339"/>
            <a:ext cx="177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77800" imgH="203200" progId="Equation.DSMT4">
                    <p:embed/>
                  </p:oleObj>
                </mc:Choice>
                <mc:Fallback>
                  <p:oleObj name="Equation" r:id="rId6" imgW="177800" imgH="203200" progId="Equation.DSMT4">
                    <p:embed/>
                    <p:pic>
                      <p:nvPicPr>
                        <p:cNvPr id="0" name="图片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7" y="3339"/>
                          <a:ext cx="177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7" name="Object 26"/>
            <p:cNvGraphicFramePr>
              <a:graphicFrameLocks noChangeAspect="1"/>
            </p:cNvGraphicFramePr>
            <p:nvPr/>
          </p:nvGraphicFramePr>
          <p:xfrm>
            <a:off x="3470" y="3702"/>
            <a:ext cx="161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52400" imgH="177800" progId="Equation.DSMT4">
                    <p:embed/>
                  </p:oleObj>
                </mc:Choice>
                <mc:Fallback>
                  <p:oleObj name="Equation" r:id="rId8" imgW="152400" imgH="177800" progId="Equation.DSMT4">
                    <p:embed/>
                    <p:pic>
                      <p:nvPicPr>
                        <p:cNvPr id="0" name="图片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0" y="3702"/>
                          <a:ext cx="161" cy="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8" name="Object 27"/>
            <p:cNvGraphicFramePr>
              <a:graphicFrameLocks noChangeAspect="1"/>
            </p:cNvGraphicFramePr>
            <p:nvPr/>
          </p:nvGraphicFramePr>
          <p:xfrm>
            <a:off x="3651" y="2250"/>
            <a:ext cx="182" cy="1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52400" imgH="152400" progId="Equation.DSMT4">
                    <p:embed/>
                  </p:oleObj>
                </mc:Choice>
                <mc:Fallback>
                  <p:oleObj name="Equation" r:id="rId10" imgW="152400" imgH="152400" progId="Equation.DSMT4">
                    <p:embed/>
                    <p:pic>
                      <p:nvPicPr>
                        <p:cNvPr id="0" name="图片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1" y="2250"/>
                          <a:ext cx="182" cy="1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9" name="Object 28"/>
            <p:cNvGraphicFramePr>
              <a:graphicFrameLocks noChangeAspect="1"/>
            </p:cNvGraphicFramePr>
            <p:nvPr/>
          </p:nvGraphicFramePr>
          <p:xfrm>
            <a:off x="3787" y="3377"/>
            <a:ext cx="161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52400" imgH="177800" progId="Equation.DSMT4">
                    <p:embed/>
                  </p:oleObj>
                </mc:Choice>
                <mc:Fallback>
                  <p:oleObj name="Equation" r:id="rId12" imgW="152400" imgH="177800" progId="Equation.DSMT4">
                    <p:embed/>
                    <p:pic>
                      <p:nvPicPr>
                        <p:cNvPr id="0" name="图片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7" y="3377"/>
                          <a:ext cx="161" cy="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0" name="Object 29"/>
            <p:cNvGraphicFramePr>
              <a:graphicFrameLocks noChangeAspect="1"/>
            </p:cNvGraphicFramePr>
            <p:nvPr/>
          </p:nvGraphicFramePr>
          <p:xfrm>
            <a:off x="3969" y="2750"/>
            <a:ext cx="161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52400" imgH="292100" progId="Equation.DSMT4">
                    <p:embed/>
                  </p:oleObj>
                </mc:Choice>
                <mc:Fallback>
                  <p:oleObj name="Equation" r:id="rId14" imgW="152400" imgH="292100" progId="Equation.DSMT4">
                    <p:embed/>
                    <p:pic>
                      <p:nvPicPr>
                        <p:cNvPr id="0" name="图片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9" y="2750"/>
                          <a:ext cx="161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1" name="Object 30"/>
            <p:cNvGraphicFramePr>
              <a:graphicFrameLocks noChangeAspect="1"/>
            </p:cNvGraphicFramePr>
            <p:nvPr/>
          </p:nvGraphicFramePr>
          <p:xfrm>
            <a:off x="4224" y="2523"/>
            <a:ext cx="31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393700" imgH="330200" progId="Equation.DSMT4">
                    <p:embed/>
                  </p:oleObj>
                </mc:Choice>
                <mc:Fallback>
                  <p:oleObj name="Equation" r:id="rId16" imgW="393700" imgH="330200" progId="Equation.DSMT4">
                    <p:embed/>
                    <p:pic>
                      <p:nvPicPr>
                        <p:cNvPr id="0" name="图片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2523"/>
                          <a:ext cx="318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52" name="Line 32"/>
            <p:cNvSpPr>
              <a:spLocks noChangeShapeType="1"/>
            </p:cNvSpPr>
            <p:nvPr/>
          </p:nvSpPr>
          <p:spPr bwMode="auto">
            <a:xfrm flipV="1">
              <a:off x="3833" y="2750"/>
              <a:ext cx="408" cy="63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8453" name="Line 33"/>
            <p:cNvSpPr>
              <a:spLocks noChangeShapeType="1"/>
            </p:cNvSpPr>
            <p:nvPr/>
          </p:nvSpPr>
          <p:spPr bwMode="auto">
            <a:xfrm flipV="1">
              <a:off x="3833" y="2976"/>
              <a:ext cx="1270" cy="4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8454" name="Line 34"/>
            <p:cNvSpPr>
              <a:spLocks noChangeShapeType="1"/>
            </p:cNvSpPr>
            <p:nvPr/>
          </p:nvSpPr>
          <p:spPr bwMode="auto">
            <a:xfrm>
              <a:off x="4241" y="2750"/>
              <a:ext cx="854" cy="22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18455" name="Object 36"/>
            <p:cNvGraphicFramePr>
              <a:graphicFrameLocks noChangeAspect="1"/>
            </p:cNvGraphicFramePr>
            <p:nvPr/>
          </p:nvGraphicFramePr>
          <p:xfrm>
            <a:off x="4525" y="3107"/>
            <a:ext cx="177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77800" imgH="292100" progId="Equation.DSMT4">
                    <p:embed/>
                  </p:oleObj>
                </mc:Choice>
                <mc:Fallback>
                  <p:oleObj name="Equation" r:id="rId18" imgW="177800" imgH="292100" progId="Equation.DSMT4">
                    <p:embed/>
                    <p:pic>
                      <p:nvPicPr>
                        <p:cNvPr id="0" name="图片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25" y="3107"/>
                          <a:ext cx="177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6" name="Object 37"/>
            <p:cNvGraphicFramePr>
              <a:graphicFrameLocks noChangeAspect="1"/>
            </p:cNvGraphicFramePr>
            <p:nvPr/>
          </p:nvGraphicFramePr>
          <p:xfrm>
            <a:off x="4332" y="2795"/>
            <a:ext cx="275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279400" imgH="330200" progId="Equation.DSMT4">
                    <p:embed/>
                  </p:oleObj>
                </mc:Choice>
                <mc:Fallback>
                  <p:oleObj name="Equation" r:id="rId20" imgW="279400" imgH="330200" progId="Equation.DSMT4">
                    <p:embed/>
                    <p:pic>
                      <p:nvPicPr>
                        <p:cNvPr id="0" name="图片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2" y="2795"/>
                          <a:ext cx="275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7" name="Object 39"/>
            <p:cNvGraphicFramePr>
              <a:graphicFrameLocks noChangeAspect="1"/>
            </p:cNvGraphicFramePr>
            <p:nvPr/>
          </p:nvGraphicFramePr>
          <p:xfrm>
            <a:off x="3969" y="2341"/>
            <a:ext cx="226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228600" imgH="292100" progId="Equation.DSMT4">
                    <p:embed/>
                  </p:oleObj>
                </mc:Choice>
                <mc:Fallback>
                  <p:oleObj name="Equation" r:id="rId22" imgW="228600" imgH="292100" progId="Equation.DSMT4">
                    <p:embed/>
                    <p:pic>
                      <p:nvPicPr>
                        <p:cNvPr id="0" name="图片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9" y="2341"/>
                          <a:ext cx="226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58" name="Oval 41"/>
            <p:cNvSpPr>
              <a:spLocks noChangeArrowheads="1"/>
            </p:cNvSpPr>
            <p:nvPr/>
          </p:nvSpPr>
          <p:spPr bwMode="auto">
            <a:xfrm rot="647936">
              <a:off x="4661" y="2614"/>
              <a:ext cx="499" cy="354"/>
            </a:xfrm>
            <a:prstGeom prst="ellipse">
              <a:avLst/>
            </a:prstGeom>
            <a:noFill/>
            <a:ln w="28575">
              <a:solidFill>
                <a:srgbClr val="00799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  <a:buClrTx/>
                <a:buSzTx/>
                <a:buFontTx/>
                <a:buNone/>
              </a:pPr>
              <a:endParaRPr lang="zh-CN" altLang="zh-CN" sz="2000">
                <a:solidFill>
                  <a:schemeClr val="bg1"/>
                </a:solidFill>
                <a:ea typeface="楷体_GB2312" pitchFamily="49" charset="-122"/>
              </a:endParaRPr>
            </a:p>
          </p:txBody>
        </p:sp>
        <p:sp>
          <p:nvSpPr>
            <p:cNvPr id="18459" name="Oval 42"/>
            <p:cNvSpPr>
              <a:spLocks noChangeArrowheads="1"/>
            </p:cNvSpPr>
            <p:nvPr/>
          </p:nvSpPr>
          <p:spPr bwMode="auto">
            <a:xfrm rot="19408726">
              <a:off x="3771" y="2667"/>
              <a:ext cx="499" cy="354"/>
            </a:xfrm>
            <a:prstGeom prst="ellipse">
              <a:avLst/>
            </a:prstGeom>
            <a:noFill/>
            <a:ln w="28575">
              <a:solidFill>
                <a:srgbClr val="00799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  <a:buClrTx/>
                <a:buSzTx/>
                <a:buFontTx/>
                <a:buNone/>
              </a:pPr>
              <a:endParaRPr lang="zh-CN" altLang="zh-CN" sz="2000">
                <a:solidFill>
                  <a:schemeClr val="bg1"/>
                </a:solidFill>
                <a:ea typeface="楷体_GB2312" pitchFamily="49" charset="-122"/>
              </a:endParaRPr>
            </a:p>
          </p:txBody>
        </p:sp>
        <p:sp>
          <p:nvSpPr>
            <p:cNvPr id="18460" name="Line 43"/>
            <p:cNvSpPr>
              <a:spLocks noChangeShapeType="1"/>
            </p:cNvSpPr>
            <p:nvPr/>
          </p:nvSpPr>
          <p:spPr bwMode="auto">
            <a:xfrm flipV="1">
              <a:off x="5057" y="2886"/>
              <a:ext cx="99" cy="181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8461" name="Line 44"/>
            <p:cNvSpPr>
              <a:spLocks noChangeShapeType="1"/>
            </p:cNvSpPr>
            <p:nvPr/>
          </p:nvSpPr>
          <p:spPr bwMode="auto">
            <a:xfrm flipH="1" flipV="1">
              <a:off x="4163" y="2614"/>
              <a:ext cx="137" cy="226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18462" name="Object 47"/>
            <p:cNvGraphicFramePr>
              <a:graphicFrameLocks noChangeAspect="1"/>
            </p:cNvGraphicFramePr>
            <p:nvPr/>
          </p:nvGraphicFramePr>
          <p:xfrm>
            <a:off x="5086" y="2344"/>
            <a:ext cx="243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241300" imgH="292100" progId="Equation.DSMT4">
                    <p:embed/>
                  </p:oleObj>
                </mc:Choice>
                <mc:Fallback>
                  <p:oleObj name="Equation" r:id="rId24" imgW="241300" imgH="292100" progId="Equation.DSMT4">
                    <p:embed/>
                    <p:pic>
                      <p:nvPicPr>
                        <p:cNvPr id="0" name="图片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6" y="2344"/>
                          <a:ext cx="243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63" name="Object 48"/>
            <p:cNvGraphicFramePr>
              <a:graphicFrameLocks noChangeAspect="1"/>
            </p:cNvGraphicFramePr>
            <p:nvPr/>
          </p:nvGraphicFramePr>
          <p:xfrm>
            <a:off x="5044" y="2976"/>
            <a:ext cx="345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431800" imgH="330200" progId="Equation.DSMT4">
                    <p:embed/>
                  </p:oleObj>
                </mc:Choice>
                <mc:Fallback>
                  <p:oleObj name="Equation" r:id="rId26" imgW="431800" imgH="330200" progId="Equation.DSMT4">
                    <p:embed/>
                    <p:pic>
                      <p:nvPicPr>
                        <p:cNvPr id="0" name="图片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4" y="2976"/>
                          <a:ext cx="345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441" name="Rectangle 57"/>
          <p:cNvSpPr>
            <a:spLocks noChangeArrowheads="1"/>
          </p:cNvSpPr>
          <p:nvPr/>
        </p:nvSpPr>
        <p:spPr bwMode="auto">
          <a:xfrm>
            <a:off x="1847850" y="333376"/>
            <a:ext cx="8540750" cy="792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600" b="1">
                <a:solidFill>
                  <a:srgbClr val="800000"/>
                </a:solidFill>
              </a:rPr>
              <a:t>6.3 The Biot-Savart Law and Applications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91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246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6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46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246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800" grpId="0"/>
      <p:bldP spid="91168" grpId="0"/>
      <p:bldP spid="24685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36" name="Text Box 24"/>
          <p:cNvSpPr txBox="1">
            <a:spLocks noChangeArrowheads="1"/>
          </p:cNvSpPr>
          <p:nvPr/>
        </p:nvSpPr>
        <p:spPr bwMode="auto">
          <a:xfrm>
            <a:off x="2729198" y="4776596"/>
            <a:ext cx="9914659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which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：                                        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is independent of I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we call it magnetic flux density generated by I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and its unit is T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grpSp>
        <p:nvGrpSpPr>
          <p:cNvPr id="2" name="Group 31"/>
          <p:cNvGrpSpPr/>
          <p:nvPr/>
        </p:nvGrpSpPr>
        <p:grpSpPr bwMode="auto">
          <a:xfrm>
            <a:off x="976543" y="2327083"/>
            <a:ext cx="8062913" cy="576263"/>
            <a:chOff x="158" y="255"/>
            <a:chExt cx="5079" cy="363"/>
          </a:xfrm>
        </p:grpSpPr>
        <p:sp>
          <p:nvSpPr>
            <p:cNvPr id="19472" name="Rectangle 7"/>
            <p:cNvSpPr>
              <a:spLocks noChangeArrowheads="1"/>
            </p:cNvSpPr>
            <p:nvPr/>
          </p:nvSpPr>
          <p:spPr bwMode="auto">
            <a:xfrm>
              <a:off x="158" y="255"/>
              <a:ext cx="5079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   2.    </a:t>
              </a:r>
              <a:r>
                <a:rPr lang="en-US" altLang="zh-CN" sz="2400" b="1" dirty="0">
                  <a:solidFill>
                    <a:srgbClr val="800000"/>
                  </a:solidFill>
                  <a:latin typeface="Times New Roman" panose="02020603050405020304" pitchFamily="18" charset="0"/>
                </a:rPr>
                <a:t>Magnetic flux density</a:t>
              </a:r>
              <a:r>
                <a:rPr lang="en-US" altLang="zh-CN" sz="2000" b="1" dirty="0">
                  <a:solidFill>
                    <a:srgbClr val="8000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 	</a:t>
              </a:r>
              <a:endParaRPr lang="en-US" altLang="zh-CN" sz="2000" b="1" dirty="0">
                <a:solidFill>
                  <a:srgbClr val="8000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graphicFrame>
          <p:nvGraphicFramePr>
            <p:cNvPr id="19473" name="Object 18"/>
            <p:cNvGraphicFramePr>
              <a:graphicFrameLocks noChangeAspect="1"/>
            </p:cNvGraphicFramePr>
            <p:nvPr/>
          </p:nvGraphicFramePr>
          <p:xfrm>
            <a:off x="2714" y="315"/>
            <a:ext cx="240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657600" imgH="4876800" progId="Equation.DSMT4">
                    <p:embed/>
                  </p:oleObj>
                </mc:Choice>
                <mc:Fallback>
                  <p:oleObj name="Equation" r:id="rId2" imgW="3657600" imgH="4876800" progId="Equation.DSMT4">
                    <p:embed/>
                    <p:pic>
                      <p:nvPicPr>
                        <p:cNvPr id="0" name="图片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4" y="315"/>
                          <a:ext cx="240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66CC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2167" name="Text Box 21"/>
          <p:cNvSpPr txBox="1">
            <a:spLocks noChangeArrowheads="1"/>
          </p:cNvSpPr>
          <p:nvPr/>
        </p:nvSpPr>
        <p:spPr bwMode="auto">
          <a:xfrm>
            <a:off x="1990955" y="2925241"/>
            <a:ext cx="6086475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According to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Ampere’s force law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94946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0923281"/>
              </p:ext>
            </p:extLst>
          </p:nvPr>
        </p:nvGraphicFramePr>
        <p:xfrm>
          <a:off x="3808700" y="3479607"/>
          <a:ext cx="639286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241800" imgH="596900" progId="Equation.DSMT4">
                  <p:embed/>
                </p:oleObj>
              </mc:Choice>
              <mc:Fallback>
                <p:oleObj name="Equation" r:id="rId4" imgW="4241800" imgH="5969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8700" y="3479607"/>
                        <a:ext cx="639286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49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239097"/>
              </p:ext>
            </p:extLst>
          </p:nvPr>
        </p:nvGraphicFramePr>
        <p:xfrm>
          <a:off x="3808700" y="4448267"/>
          <a:ext cx="308292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32000" imgH="596900" progId="Equation.DSMT4">
                  <p:embed/>
                </p:oleObj>
              </mc:Choice>
              <mc:Fallback>
                <p:oleObj name="Equation" r:id="rId6" imgW="2032000" imgH="5969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8700" y="4448267"/>
                        <a:ext cx="3082925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1463240" y="3651923"/>
            <a:ext cx="5694218" cy="1710744"/>
            <a:chOff x="581891" y="1801091"/>
            <a:chExt cx="5694218" cy="1710744"/>
          </a:xfrm>
        </p:grpSpPr>
        <p:sp>
          <p:nvSpPr>
            <p:cNvPr id="10" name="椭圆形标注 9"/>
            <p:cNvSpPr/>
            <p:nvPr/>
          </p:nvSpPr>
          <p:spPr>
            <a:xfrm>
              <a:off x="2927351" y="2493965"/>
              <a:ext cx="3348758" cy="1017870"/>
            </a:xfrm>
            <a:prstGeom prst="wedgeEllipseCallout">
              <a:avLst>
                <a:gd name="adj1" fmla="val -74203"/>
                <a:gd name="adj2" fmla="val -67803"/>
              </a:avLst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581891" y="1801091"/>
              <a:ext cx="202276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Biot</a:t>
              </a: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-Savart Law</a:t>
              </a:r>
              <a:endPara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64E03B96-A25C-FC64-08BE-823AAAD88F5F}"/>
              </a:ext>
            </a:extLst>
          </p:cNvPr>
          <p:cNvSpPr txBox="1"/>
          <p:nvPr/>
        </p:nvSpPr>
        <p:spPr>
          <a:xfrm>
            <a:off x="1785389" y="235246"/>
            <a:ext cx="1713931" cy="46166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Discussion</a:t>
            </a:r>
            <a:endParaRPr lang="zh-CN" altLang="en-US" sz="2400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675C960-B376-E6CD-5700-7F47D2851CB6}"/>
              </a:ext>
            </a:extLst>
          </p:cNvPr>
          <p:cNvSpPr txBox="1"/>
          <p:nvPr/>
        </p:nvSpPr>
        <p:spPr>
          <a:xfrm>
            <a:off x="1785390" y="848668"/>
            <a:ext cx="1040661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altLang="zh-CN" sz="2400" b="1" i="0" dirty="0">
                <a:solidFill>
                  <a:srgbClr val="404040"/>
                </a:solidFill>
                <a:effectLst/>
                <a:latin typeface="DeepSeek-CJK-patch"/>
              </a:rPr>
              <a:t>Ampère's force law obeys Newton's third law (the law of action and reaction).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altLang="zh-CN" sz="2400" b="1" i="0" dirty="0">
                <a:solidFill>
                  <a:srgbClr val="404040"/>
                </a:solidFill>
                <a:effectLst/>
                <a:latin typeface="DeepSeek-CJK-patch"/>
              </a:rPr>
              <a:t>Ampère’s Law describes the existence of forces between current-carrying circuits, but it does not specify how these forces are exerted.</a:t>
            </a:r>
            <a:endParaRPr lang="zh-CN" altLang="en-US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17A7DF3-258F-137F-AD8E-2621BBC4E31E}"/>
              </a:ext>
            </a:extLst>
          </p:cNvPr>
          <p:cNvSpPr txBox="1"/>
          <p:nvPr/>
        </p:nvSpPr>
        <p:spPr>
          <a:xfrm>
            <a:off x="1556118" y="6034483"/>
            <a:ext cx="104066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Biot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-Savart Law describes how the magnetic force are exerted</a:t>
            </a:r>
          </a:p>
          <a:p>
            <a:pPr algn="r"/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——by magnetic field </a:t>
            </a:r>
            <a:endParaRPr lang="zh-CN" alt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94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94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94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936" grpId="0"/>
      <p:bldP spid="92167" grpId="0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Text Box 37" descr="7b0a202020202262756c6c6574223a20227b5c2263617465676f727949645c223a5c225c222c5c2274656d706c61746549645c223a32303233313539397d220a7d0a"/>
          <p:cNvSpPr txBox="1">
            <a:spLocks noChangeArrowheads="1"/>
          </p:cNvSpPr>
          <p:nvPr/>
        </p:nvSpPr>
        <p:spPr bwMode="auto">
          <a:xfrm>
            <a:off x="1558925" y="1145540"/>
            <a:ext cx="7468235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tabLst>
                <a:tab pos="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tabLst>
                <a:tab pos="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tabLst>
                <a:tab pos="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tabLst>
                <a:tab pos="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tabLst>
                <a:tab pos="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tabLst>
                <a:tab pos="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tabLst>
                <a:tab pos="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tabLst>
                <a:tab pos="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tabLst>
                <a:tab pos="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Blip>
                <a:blip r:embed="rId3"/>
              </a:buBlip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Magnetic flux density produced by  arbitrary current loop C</a:t>
            </a:r>
          </a:p>
        </p:txBody>
      </p:sp>
      <p:sp>
        <p:nvSpPr>
          <p:cNvPr id="444465" name="Text Box 49"/>
          <p:cNvSpPr txBox="1">
            <a:spLocks noChangeArrowheads="1"/>
          </p:cNvSpPr>
          <p:nvPr/>
        </p:nvSpPr>
        <p:spPr bwMode="auto">
          <a:xfrm>
            <a:off x="1469707" y="3919221"/>
            <a:ext cx="7042785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tabLst>
                <a:tab pos="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tabLst>
                <a:tab pos="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tabLst>
                <a:tab pos="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tabLst>
                <a:tab pos="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tabLst>
                <a:tab pos="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tabLst>
                <a:tab pos="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tabLst>
                <a:tab pos="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tabLst>
                <a:tab pos="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tabLst>
                <a:tab pos="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l"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Blip>
                <a:blip r:embed="rId3"/>
              </a:buBlip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Magnetic flux density produced by surface current</a:t>
            </a:r>
          </a:p>
        </p:txBody>
      </p:sp>
      <p:graphicFrame>
        <p:nvGraphicFramePr>
          <p:cNvPr id="444518" name="Object 102"/>
          <p:cNvGraphicFramePr>
            <a:graphicFrameLocks noChangeAspect="1"/>
          </p:cNvGraphicFramePr>
          <p:nvPr/>
        </p:nvGraphicFramePr>
        <p:xfrm>
          <a:off x="5063491" y="2100580"/>
          <a:ext cx="27019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78000" imgH="546100" progId="Equation.DSMT4">
                  <p:embed/>
                </p:oleObj>
              </mc:Choice>
              <mc:Fallback>
                <p:oleObj name="Equation" r:id="rId4" imgW="1778000" imgH="5461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3491" y="2100580"/>
                        <a:ext cx="270192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4522" name="Object 10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6791799"/>
              </p:ext>
            </p:extLst>
          </p:nvPr>
        </p:nvGraphicFramePr>
        <p:xfrm>
          <a:off x="5529263" y="4842829"/>
          <a:ext cx="33385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09800" imgH="546100" progId="Equation.DSMT4">
                  <p:embed/>
                </p:oleObj>
              </mc:Choice>
              <mc:Fallback>
                <p:oleObj name="Equation" r:id="rId6" imgW="2209800" imgH="5461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9263" y="4842829"/>
                        <a:ext cx="3338513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8" name="Object 10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4101217"/>
              </p:ext>
            </p:extLst>
          </p:nvPr>
        </p:nvGraphicFramePr>
        <p:xfrm>
          <a:off x="9795827" y="2972753"/>
          <a:ext cx="124777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12800" imgH="254000" progId="Equation.DSMT4">
                  <p:embed/>
                </p:oleObj>
              </mc:Choice>
              <mc:Fallback>
                <p:oleObj name="Equation" r:id="rId8" imgW="812800" imgH="2540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95827" y="2972753"/>
                        <a:ext cx="124777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489" name="Group 97"/>
          <p:cNvGrpSpPr/>
          <p:nvPr/>
        </p:nvGrpSpPr>
        <p:grpSpPr bwMode="auto">
          <a:xfrm>
            <a:off x="8957627" y="979488"/>
            <a:ext cx="2470150" cy="2566988"/>
            <a:chOff x="4090" y="391"/>
            <a:chExt cx="1556" cy="1617"/>
          </a:xfrm>
        </p:grpSpPr>
        <p:sp>
          <p:nvSpPr>
            <p:cNvPr id="20492" name="Line 53"/>
            <p:cNvSpPr>
              <a:spLocks noChangeShapeType="1"/>
            </p:cNvSpPr>
            <p:nvPr/>
          </p:nvSpPr>
          <p:spPr bwMode="auto">
            <a:xfrm flipV="1">
              <a:off x="4453" y="482"/>
              <a:ext cx="0" cy="1043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493" name="Line 54"/>
            <p:cNvSpPr>
              <a:spLocks noChangeShapeType="1"/>
            </p:cNvSpPr>
            <p:nvPr/>
          </p:nvSpPr>
          <p:spPr bwMode="auto">
            <a:xfrm flipH="1">
              <a:off x="4090" y="1525"/>
              <a:ext cx="363" cy="363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494" name="Line 55"/>
            <p:cNvSpPr>
              <a:spLocks noChangeShapeType="1"/>
            </p:cNvSpPr>
            <p:nvPr/>
          </p:nvSpPr>
          <p:spPr bwMode="auto">
            <a:xfrm rot="5400000" flipV="1">
              <a:off x="5020" y="958"/>
              <a:ext cx="0" cy="1134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20495" name="Object 56"/>
            <p:cNvGraphicFramePr>
              <a:graphicFrameLocks noChangeAspect="1"/>
            </p:cNvGraphicFramePr>
            <p:nvPr/>
          </p:nvGraphicFramePr>
          <p:xfrm>
            <a:off x="5469" y="1344"/>
            <a:ext cx="177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77800" imgH="203200" progId="Equation.DSMT4">
                    <p:embed/>
                  </p:oleObj>
                </mc:Choice>
                <mc:Fallback>
                  <p:oleObj name="Equation" r:id="rId10" imgW="177800" imgH="203200" progId="Equation.DSMT4">
                    <p:embed/>
                    <p:pic>
                      <p:nvPicPr>
                        <p:cNvPr id="0" name="图片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69" y="1344"/>
                          <a:ext cx="177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6" name="Object 57"/>
            <p:cNvGraphicFramePr>
              <a:graphicFrameLocks noChangeAspect="1"/>
            </p:cNvGraphicFramePr>
            <p:nvPr/>
          </p:nvGraphicFramePr>
          <p:xfrm>
            <a:off x="4090" y="1843"/>
            <a:ext cx="161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52400" imgH="177800" progId="Equation.DSMT4">
                    <p:embed/>
                  </p:oleObj>
                </mc:Choice>
                <mc:Fallback>
                  <p:oleObj name="Equation" r:id="rId12" imgW="152400" imgH="177800" progId="Equation.DSMT4">
                    <p:embed/>
                    <p:pic>
                      <p:nvPicPr>
                        <p:cNvPr id="0" name="图片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90" y="1843"/>
                          <a:ext cx="161" cy="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7" name="Object 58"/>
            <p:cNvGraphicFramePr>
              <a:graphicFrameLocks noChangeAspect="1"/>
            </p:cNvGraphicFramePr>
            <p:nvPr/>
          </p:nvGraphicFramePr>
          <p:xfrm>
            <a:off x="4271" y="391"/>
            <a:ext cx="182" cy="1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52400" imgH="152400" progId="Equation.DSMT4">
                    <p:embed/>
                  </p:oleObj>
                </mc:Choice>
                <mc:Fallback>
                  <p:oleObj name="Equation" r:id="rId14" imgW="152400" imgH="152400" progId="Equation.DSMT4">
                    <p:embed/>
                    <p:pic>
                      <p:nvPicPr>
                        <p:cNvPr id="0" name="图片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1" y="391"/>
                          <a:ext cx="182" cy="1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8" name="Object 59"/>
            <p:cNvGraphicFramePr>
              <a:graphicFrameLocks noChangeAspect="1"/>
            </p:cNvGraphicFramePr>
            <p:nvPr/>
          </p:nvGraphicFramePr>
          <p:xfrm>
            <a:off x="4407" y="1518"/>
            <a:ext cx="161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52400" imgH="177800" progId="Equation.DSMT4">
                    <p:embed/>
                  </p:oleObj>
                </mc:Choice>
                <mc:Fallback>
                  <p:oleObj name="Equation" r:id="rId16" imgW="152400" imgH="177800" progId="Equation.DSMT4">
                    <p:embed/>
                    <p:pic>
                      <p:nvPicPr>
                        <p:cNvPr id="0" name="图片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7" y="1518"/>
                          <a:ext cx="161" cy="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9" name="Object 60"/>
            <p:cNvGraphicFramePr>
              <a:graphicFrameLocks noChangeAspect="1"/>
            </p:cNvGraphicFramePr>
            <p:nvPr/>
          </p:nvGraphicFramePr>
          <p:xfrm>
            <a:off x="4573" y="928"/>
            <a:ext cx="194" cy="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90500" imgH="203200" progId="Equation.DSMT4">
                    <p:embed/>
                  </p:oleObj>
                </mc:Choice>
                <mc:Fallback>
                  <p:oleObj name="Equation" r:id="rId18" imgW="190500" imgH="203200" progId="Equation.DSMT4">
                    <p:embed/>
                    <p:pic>
                      <p:nvPicPr>
                        <p:cNvPr id="0" name="图片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3" y="928"/>
                          <a:ext cx="194" cy="1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0" name="Object 61"/>
            <p:cNvGraphicFramePr>
              <a:graphicFrameLocks noChangeAspect="1"/>
            </p:cNvGraphicFramePr>
            <p:nvPr/>
          </p:nvGraphicFramePr>
          <p:xfrm>
            <a:off x="4825" y="663"/>
            <a:ext cx="278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342900" imgH="279400" progId="Equation.DSMT4">
                    <p:embed/>
                  </p:oleObj>
                </mc:Choice>
                <mc:Fallback>
                  <p:oleObj name="Equation" r:id="rId20" imgW="342900" imgH="279400" progId="Equation.DSMT4">
                    <p:embed/>
                    <p:pic>
                      <p:nvPicPr>
                        <p:cNvPr id="0" name="图片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5" y="663"/>
                          <a:ext cx="278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1" name="Line 62"/>
            <p:cNvSpPr>
              <a:spLocks noChangeShapeType="1"/>
            </p:cNvSpPr>
            <p:nvPr/>
          </p:nvSpPr>
          <p:spPr bwMode="auto">
            <a:xfrm flipV="1">
              <a:off x="4453" y="891"/>
              <a:ext cx="408" cy="63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502" name="Line 63"/>
            <p:cNvSpPr>
              <a:spLocks noChangeShapeType="1"/>
            </p:cNvSpPr>
            <p:nvPr/>
          </p:nvSpPr>
          <p:spPr bwMode="auto">
            <a:xfrm flipV="1">
              <a:off x="4453" y="1026"/>
              <a:ext cx="1012" cy="4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503" name="Line 64"/>
            <p:cNvSpPr>
              <a:spLocks noChangeShapeType="1"/>
            </p:cNvSpPr>
            <p:nvPr/>
          </p:nvSpPr>
          <p:spPr bwMode="auto">
            <a:xfrm>
              <a:off x="4861" y="891"/>
              <a:ext cx="604" cy="9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20504" name="Object 65"/>
            <p:cNvGraphicFramePr>
              <a:graphicFrameLocks noChangeAspect="1"/>
            </p:cNvGraphicFramePr>
            <p:nvPr/>
          </p:nvGraphicFramePr>
          <p:xfrm>
            <a:off x="5147" y="1163"/>
            <a:ext cx="161" cy="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52400" imgH="203200" progId="Equation.DSMT4">
                    <p:embed/>
                  </p:oleObj>
                </mc:Choice>
                <mc:Fallback>
                  <p:oleObj name="Equation" r:id="rId22" imgW="152400" imgH="203200" progId="Equation.DSMT4">
                    <p:embed/>
                    <p:pic>
                      <p:nvPicPr>
                        <p:cNvPr id="0" name="图片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47" y="1163"/>
                          <a:ext cx="161" cy="1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5" name="Object 66"/>
            <p:cNvGraphicFramePr>
              <a:graphicFrameLocks noChangeAspect="1"/>
            </p:cNvGraphicFramePr>
            <p:nvPr/>
          </p:nvGraphicFramePr>
          <p:xfrm>
            <a:off x="5011" y="936"/>
            <a:ext cx="19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90500" imgH="254000" progId="Equation.DSMT4">
                    <p:embed/>
                  </p:oleObj>
                </mc:Choice>
                <mc:Fallback>
                  <p:oleObj name="Equation" r:id="rId24" imgW="190500" imgH="254000" progId="Equation.DSMT4">
                    <p:embed/>
                    <p:pic>
                      <p:nvPicPr>
                        <p:cNvPr id="0" name="图片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1" y="936"/>
                          <a:ext cx="194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6" name="Object 67"/>
            <p:cNvGraphicFramePr>
              <a:graphicFrameLocks noChangeAspect="1"/>
            </p:cNvGraphicFramePr>
            <p:nvPr/>
          </p:nvGraphicFramePr>
          <p:xfrm>
            <a:off x="4605" y="512"/>
            <a:ext cx="193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90500" imgH="228600" progId="Equation.DSMT4">
                    <p:embed/>
                  </p:oleObj>
                </mc:Choice>
                <mc:Fallback>
                  <p:oleObj name="Equation" r:id="rId26" imgW="190500" imgH="228600" progId="Equation.DSMT4">
                    <p:embed/>
                    <p:pic>
                      <p:nvPicPr>
                        <p:cNvPr id="0" name="图片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5" y="512"/>
                          <a:ext cx="193" cy="2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7" name="Oval 69"/>
            <p:cNvSpPr>
              <a:spLocks noChangeArrowheads="1"/>
            </p:cNvSpPr>
            <p:nvPr/>
          </p:nvSpPr>
          <p:spPr bwMode="auto">
            <a:xfrm rot="19408726">
              <a:off x="4391" y="808"/>
              <a:ext cx="499" cy="354"/>
            </a:xfrm>
            <a:prstGeom prst="ellipse">
              <a:avLst/>
            </a:prstGeom>
            <a:noFill/>
            <a:ln w="28575">
              <a:solidFill>
                <a:srgbClr val="00799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  <a:buClrTx/>
                <a:buSzTx/>
                <a:buFontTx/>
                <a:buNone/>
              </a:pPr>
              <a:endParaRPr lang="zh-CN" altLang="zh-CN" sz="2000">
                <a:solidFill>
                  <a:schemeClr val="bg1"/>
                </a:solidFill>
                <a:ea typeface="楷体_GB2312" pitchFamily="49" charset="-122"/>
              </a:endParaRPr>
            </a:p>
          </p:txBody>
        </p:sp>
        <p:sp>
          <p:nvSpPr>
            <p:cNvPr id="20508" name="Line 71"/>
            <p:cNvSpPr>
              <a:spLocks noChangeShapeType="1"/>
            </p:cNvSpPr>
            <p:nvPr/>
          </p:nvSpPr>
          <p:spPr bwMode="auto">
            <a:xfrm flipH="1" flipV="1">
              <a:off x="4783" y="755"/>
              <a:ext cx="137" cy="226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20509" name="Object 72"/>
            <p:cNvGraphicFramePr>
              <a:graphicFrameLocks noChangeAspect="1"/>
            </p:cNvGraphicFramePr>
            <p:nvPr/>
          </p:nvGraphicFramePr>
          <p:xfrm>
            <a:off x="5342" y="786"/>
            <a:ext cx="259" cy="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254000" imgH="203200" progId="Equation.DSMT4">
                    <p:embed/>
                  </p:oleObj>
                </mc:Choice>
                <mc:Fallback>
                  <p:oleObj name="Equation" r:id="rId28" imgW="254000" imgH="203200" progId="Equation.DSMT4">
                    <p:embed/>
                    <p:pic>
                      <p:nvPicPr>
                        <p:cNvPr id="0" name="图片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42" y="786"/>
                          <a:ext cx="259" cy="1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10" name="Oval 76"/>
            <p:cNvSpPr>
              <a:spLocks noChangeArrowheads="1"/>
            </p:cNvSpPr>
            <p:nvPr/>
          </p:nvSpPr>
          <p:spPr bwMode="auto">
            <a:xfrm>
              <a:off x="5465" y="826"/>
              <a:ext cx="164" cy="354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  <a:buClrTx/>
                <a:buSzTx/>
                <a:buFontTx/>
                <a:buNone/>
              </a:pPr>
              <a:endParaRPr lang="zh-CN" altLang="zh-CN" sz="2000">
                <a:solidFill>
                  <a:schemeClr val="bg1"/>
                </a:solidFill>
                <a:ea typeface="楷体_GB2312" pitchFamily="49" charset="-122"/>
              </a:endParaRPr>
            </a:p>
          </p:txBody>
        </p:sp>
      </p:grpSp>
      <p:graphicFrame>
        <p:nvGraphicFramePr>
          <p:cNvPr id="294951" name="Object 39"/>
          <p:cNvGraphicFramePr>
            <a:graphicFrameLocks noChangeAspect="1"/>
          </p:cNvGraphicFramePr>
          <p:nvPr/>
        </p:nvGraphicFramePr>
        <p:xfrm>
          <a:off x="1919289" y="2086928"/>
          <a:ext cx="244633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612900" imgH="596900" progId="Equation.DSMT4">
                  <p:embed/>
                </p:oleObj>
              </mc:Choice>
              <mc:Fallback>
                <p:oleObj name="Equation" r:id="rId30" imgW="1612900" imgH="5969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9" y="2086928"/>
                        <a:ext cx="2446337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4952" name="Text Box 40"/>
          <p:cNvSpPr txBox="1">
            <a:spLocks noChangeArrowheads="1"/>
          </p:cNvSpPr>
          <p:nvPr/>
        </p:nvSpPr>
        <p:spPr bwMode="auto">
          <a:xfrm>
            <a:off x="1524000" y="173039"/>
            <a:ext cx="8929688" cy="534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Magnetic flux density of different current models</a:t>
            </a:r>
          </a:p>
        </p:txBody>
      </p:sp>
      <p:graphicFrame>
        <p:nvGraphicFramePr>
          <p:cNvPr id="294954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2679031"/>
              </p:ext>
            </p:extLst>
          </p:nvPr>
        </p:nvGraphicFramePr>
        <p:xfrm>
          <a:off x="1905952" y="4811079"/>
          <a:ext cx="2598738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714500" imgH="609600" progId="Equation.DSMT4">
                  <p:embed/>
                </p:oleObj>
              </mc:Choice>
              <mc:Fallback>
                <p:oleObj name="Equation" r:id="rId32" imgW="1714500" imgH="609600" progId="Equation.DSMT4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952" y="4811079"/>
                        <a:ext cx="2598738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77" name="Line 48"/>
          <p:cNvSpPr>
            <a:spLocks noChangeShapeType="1"/>
          </p:cNvSpPr>
          <p:nvPr/>
        </p:nvSpPr>
        <p:spPr bwMode="auto">
          <a:xfrm>
            <a:off x="1524000" y="101600"/>
            <a:ext cx="9144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2178" name="Line 49"/>
          <p:cNvSpPr>
            <a:spLocks noChangeShapeType="1"/>
          </p:cNvSpPr>
          <p:nvPr/>
        </p:nvSpPr>
        <p:spPr bwMode="auto">
          <a:xfrm>
            <a:off x="1487488" y="820738"/>
            <a:ext cx="9144001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cxnSp>
        <p:nvCxnSpPr>
          <p:cNvPr id="19" name="直接箭头连接符 18"/>
          <p:cNvCxnSpPr/>
          <p:nvPr/>
        </p:nvCxnSpPr>
        <p:spPr>
          <a:xfrm>
            <a:off x="4344035" y="2521585"/>
            <a:ext cx="64706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>
            <a:off x="4644707" y="5291456"/>
            <a:ext cx="64706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3DB199A3-CD06-E483-8D95-3F6C67180D10}"/>
              </a:ext>
            </a:extLst>
          </p:cNvPr>
          <p:cNvCxnSpPr>
            <a:cxnSpLocks/>
          </p:cNvCxnSpPr>
          <p:nvPr/>
        </p:nvCxnSpPr>
        <p:spPr>
          <a:xfrm flipH="1">
            <a:off x="10434002" y="3478847"/>
            <a:ext cx="474662" cy="749617"/>
          </a:xfrm>
          <a:prstGeom prst="straightConnector1">
            <a:avLst/>
          </a:prstGeom>
          <a:ln w="825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F68D36D3-3F84-F95F-E22B-289FC1A3DF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1959511"/>
              </p:ext>
            </p:extLst>
          </p:nvPr>
        </p:nvGraphicFramePr>
        <p:xfrm>
          <a:off x="9304971" y="4252276"/>
          <a:ext cx="2229485" cy="1998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4" imgW="584835" imgH="561340" progId="Visio.Drawing.11">
                  <p:embed/>
                </p:oleObj>
              </mc:Choice>
              <mc:Fallback>
                <p:oleObj r:id="rId34" imgW="584835" imgH="561340" progId="Visio.Drawing.11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9304971" y="4252276"/>
                        <a:ext cx="2229485" cy="19983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E8AA5066-8C1A-50CD-587A-DBAB4269E724}"/>
              </a:ext>
            </a:extLst>
          </p:cNvPr>
          <p:cNvCxnSpPr>
            <a:cxnSpLocks/>
          </p:cNvCxnSpPr>
          <p:nvPr/>
        </p:nvCxnSpPr>
        <p:spPr>
          <a:xfrm flipH="1" flipV="1">
            <a:off x="8547576" y="5735053"/>
            <a:ext cx="841851" cy="143459"/>
          </a:xfrm>
          <a:prstGeom prst="straightConnector1">
            <a:avLst/>
          </a:prstGeom>
          <a:ln w="825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62" name="Text Box 46"/>
          <p:cNvSpPr txBox="1">
            <a:spLocks noChangeArrowheads="1"/>
          </p:cNvSpPr>
          <p:nvPr/>
        </p:nvSpPr>
        <p:spPr bwMode="auto">
          <a:xfrm>
            <a:off x="1343768" y="1419164"/>
            <a:ext cx="83470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tabLst>
                <a:tab pos="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tabLst>
                <a:tab pos="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tabLst>
                <a:tab pos="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tabLst>
                <a:tab pos="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tabLst>
                <a:tab pos="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tabLst>
                <a:tab pos="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tabLst>
                <a:tab pos="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tabLst>
                <a:tab pos="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tabLst>
                <a:tab pos="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l"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Magnetic flux density produced by volume current</a:t>
            </a:r>
          </a:p>
        </p:txBody>
      </p:sp>
      <p:graphicFrame>
        <p:nvGraphicFramePr>
          <p:cNvPr id="444521" name="Object 10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4842559"/>
              </p:ext>
            </p:extLst>
          </p:nvPr>
        </p:nvGraphicFramePr>
        <p:xfrm>
          <a:off x="5276641" y="2151002"/>
          <a:ext cx="326231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59000" imgH="546100" progId="Equation.DSMT4">
                  <p:embed/>
                </p:oleObj>
              </mc:Choice>
              <mc:Fallback>
                <p:oleObj name="Equation" r:id="rId3" imgW="2159000" imgH="546100" progId="Equation.DSMT4">
                  <p:embed/>
                  <p:pic>
                    <p:nvPicPr>
                      <p:cNvPr id="444521" name="Object 1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6641" y="2151002"/>
                        <a:ext cx="3262312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56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7577449"/>
              </p:ext>
            </p:extLst>
          </p:nvPr>
        </p:nvGraphicFramePr>
        <p:xfrm>
          <a:off x="1755248" y="2126237"/>
          <a:ext cx="2497138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51000" imgH="609600" progId="Equation.DSMT4">
                  <p:embed/>
                </p:oleObj>
              </mc:Choice>
              <mc:Fallback>
                <p:oleObj name="Equation" r:id="rId5" imgW="1651000" imgH="609600" progId="Equation.DSMT4">
                  <p:embed/>
                  <p:pic>
                    <p:nvPicPr>
                      <p:cNvPr id="294956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5248" y="2126237"/>
                        <a:ext cx="2497138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1" name="直接箭头连接符 20"/>
          <p:cNvCxnSpPr/>
          <p:nvPr/>
        </p:nvCxnSpPr>
        <p:spPr>
          <a:xfrm>
            <a:off x="4519403" y="2595184"/>
            <a:ext cx="64706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6F6F3AA1-C4A6-37E9-1F7C-75BE674287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53708" y="342694"/>
            <a:ext cx="1780858" cy="2717888"/>
          </a:xfrm>
          <a:prstGeom prst="rect">
            <a:avLst/>
          </a:prstGeom>
        </p:spPr>
      </p:pic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0C63BF39-EFE9-3929-FFCB-51A5DA7D8C5C}"/>
              </a:ext>
            </a:extLst>
          </p:cNvPr>
          <p:cNvCxnSpPr>
            <a:cxnSpLocks/>
          </p:cNvCxnSpPr>
          <p:nvPr/>
        </p:nvCxnSpPr>
        <p:spPr>
          <a:xfrm flipH="1">
            <a:off x="8797081" y="2038121"/>
            <a:ext cx="739774" cy="362825"/>
          </a:xfrm>
          <a:prstGeom prst="straightConnector1">
            <a:avLst/>
          </a:prstGeom>
          <a:ln w="825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3" name="对象 32774">
            <a:extLst>
              <a:ext uri="{FF2B5EF4-FFF2-40B4-BE49-F238E27FC236}">
                <a16:creationId xmlns:a16="http://schemas.microsoft.com/office/drawing/2014/main" id="{376C16A9-AE17-01CE-B213-D9B6646BB6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2372635"/>
              </p:ext>
            </p:extLst>
          </p:nvPr>
        </p:nvGraphicFramePr>
        <p:xfrm>
          <a:off x="2292458" y="4589834"/>
          <a:ext cx="2874010" cy="1075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155700" imgH="419100" progId="Equation.DSMT4">
                  <p:embed/>
                </p:oleObj>
              </mc:Choice>
              <mc:Fallback>
                <p:oleObj r:id="rId8" imgW="1155700" imgH="419100" progId="Equation.DSMT4">
                  <p:embed/>
                  <p:pic>
                    <p:nvPicPr>
                      <p:cNvPr id="44035" name="对象 32774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292458" y="4589834"/>
                        <a:ext cx="2874010" cy="10750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46">
            <a:extLst>
              <a:ext uri="{FF2B5EF4-FFF2-40B4-BE49-F238E27FC236}">
                <a16:creationId xmlns:a16="http://schemas.microsoft.com/office/drawing/2014/main" id="{61FB7BE1-52EF-A682-D835-A2C3B5433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6633" y="3839024"/>
            <a:ext cx="83470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tabLst>
                <a:tab pos="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tabLst>
                <a:tab pos="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tabLst>
                <a:tab pos="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tabLst>
                <a:tab pos="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tabLst>
                <a:tab pos="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tabLst>
                <a:tab pos="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tabLst>
                <a:tab pos="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tabLst>
                <a:tab pos="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tabLst>
                <a:tab pos="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l"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Magnetic flux density produced by convection current</a:t>
            </a:r>
          </a:p>
        </p:txBody>
      </p:sp>
      <p:graphicFrame>
        <p:nvGraphicFramePr>
          <p:cNvPr id="7" name="Object 105">
            <a:extLst>
              <a:ext uri="{FF2B5EF4-FFF2-40B4-BE49-F238E27FC236}">
                <a16:creationId xmlns:a16="http://schemas.microsoft.com/office/drawing/2014/main" id="{41088E0F-3DD8-6554-96F3-0E87C5B44D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3571676"/>
              </p:ext>
            </p:extLst>
          </p:nvPr>
        </p:nvGraphicFramePr>
        <p:xfrm>
          <a:off x="6230887" y="4619260"/>
          <a:ext cx="4413250" cy="1227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20680" imgH="799920" progId="Equation.DSMT4">
                  <p:embed/>
                </p:oleObj>
              </mc:Choice>
              <mc:Fallback>
                <p:oleObj name="Equation" r:id="rId10" imgW="2920680" imgH="799920" progId="Equation.DSMT4">
                  <p:embed/>
                  <p:pic>
                    <p:nvPicPr>
                      <p:cNvPr id="444521" name="Object 1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0887" y="4619260"/>
                        <a:ext cx="4413250" cy="1227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A2D2272-0E9A-7A59-378B-45E5F2B0E550}"/>
              </a:ext>
            </a:extLst>
          </p:cNvPr>
          <p:cNvCxnSpPr/>
          <p:nvPr/>
        </p:nvCxnSpPr>
        <p:spPr>
          <a:xfrm>
            <a:off x="5448935" y="5232829"/>
            <a:ext cx="64706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80177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514" name="Rectangle 2"/>
          <p:cNvSpPr>
            <a:spLocks noChangeArrowheads="1"/>
          </p:cNvSpPr>
          <p:nvPr/>
        </p:nvSpPr>
        <p:spPr bwMode="auto">
          <a:xfrm>
            <a:off x="1558925" y="548115"/>
            <a:ext cx="61087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667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Magnetic flux densities of several typical current distributions</a:t>
            </a:r>
          </a:p>
        </p:txBody>
      </p:sp>
      <p:graphicFrame>
        <p:nvGraphicFramePr>
          <p:cNvPr id="576517" name="Object 5"/>
          <p:cNvGraphicFramePr>
            <a:graphicFrameLocks noChangeAspect="1"/>
          </p:cNvGraphicFramePr>
          <p:nvPr/>
        </p:nvGraphicFramePr>
        <p:xfrm>
          <a:off x="2640014" y="5137150"/>
          <a:ext cx="3259137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71700" imgH="584200" progId="Equation.DSMT4">
                  <p:embed/>
                </p:oleObj>
              </mc:Choice>
              <mc:Fallback>
                <p:oleObj name="Equation" r:id="rId2" imgW="2171700" imgH="5842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4" y="5137150"/>
                        <a:ext cx="3259137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6518" name="Rectangle 6"/>
          <p:cNvSpPr>
            <a:spLocks noChangeArrowheads="1"/>
          </p:cNvSpPr>
          <p:nvPr/>
        </p:nvSpPr>
        <p:spPr bwMode="auto">
          <a:xfrm>
            <a:off x="1809751" y="1658938"/>
            <a:ext cx="5643563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5000"/>
              </a:spcBef>
              <a:buClrTx/>
              <a:buSzTx/>
              <a:buFontTx/>
              <a:buChar char="•"/>
            </a:pPr>
            <a:r>
              <a:rPr lang="en-US" altLang="zh-CN" sz="2400" b="1">
                <a:solidFill>
                  <a:srgbClr val="000000"/>
                </a:solidFill>
                <a:ea typeface="楷体_GB2312" pitchFamily="49" charset="-122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ea typeface="楷体_GB2312" pitchFamily="49" charset="-122"/>
              </a:rPr>
              <a:t>The magnetic flux density of current carrying line segment </a:t>
            </a:r>
            <a:r>
              <a:rPr lang="zh-CN" altLang="en-US" sz="2000" b="1">
                <a:solidFill>
                  <a:srgbClr val="000000"/>
                </a:solidFill>
                <a:ea typeface="楷体_GB2312" pitchFamily="49" charset="-122"/>
              </a:rPr>
              <a:t>：</a:t>
            </a:r>
          </a:p>
        </p:txBody>
      </p:sp>
      <p:sp>
        <p:nvSpPr>
          <p:cNvPr id="576519" name="Rectangle 7"/>
          <p:cNvSpPr>
            <a:spLocks noChangeArrowheads="1"/>
          </p:cNvSpPr>
          <p:nvPr/>
        </p:nvSpPr>
        <p:spPr bwMode="auto">
          <a:xfrm>
            <a:off x="1847851" y="4383089"/>
            <a:ext cx="55340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5000"/>
              </a:spcBef>
              <a:buClrTx/>
              <a:buSzTx/>
              <a:buFontTx/>
              <a:buChar char="•"/>
            </a:pPr>
            <a:r>
              <a:rPr lang="en-US" altLang="zh-CN" sz="2000" b="1">
                <a:solidFill>
                  <a:srgbClr val="0000CC"/>
                </a:solidFill>
                <a:ea typeface="楷体_GB2312" pitchFamily="49" charset="-122"/>
              </a:rPr>
              <a:t> Magnetic flux density on the axis of  current carrying circular ring </a:t>
            </a:r>
            <a:r>
              <a:rPr lang="zh-CN" altLang="en-US" sz="2000" b="1">
                <a:solidFill>
                  <a:srgbClr val="0000CC"/>
                </a:solidFill>
                <a:ea typeface="楷体_GB2312" pitchFamily="49" charset="-122"/>
              </a:rPr>
              <a:t>：</a:t>
            </a:r>
          </a:p>
        </p:txBody>
      </p:sp>
      <p:grpSp>
        <p:nvGrpSpPr>
          <p:cNvPr id="3" name="Group 48"/>
          <p:cNvGrpSpPr/>
          <p:nvPr/>
        </p:nvGrpSpPr>
        <p:grpSpPr bwMode="auto">
          <a:xfrm>
            <a:off x="2424113" y="2609850"/>
            <a:ext cx="5592762" cy="819150"/>
            <a:chOff x="581" y="1117"/>
            <a:chExt cx="3523" cy="516"/>
          </a:xfrm>
        </p:grpSpPr>
        <p:graphicFrame>
          <p:nvGraphicFramePr>
            <p:cNvPr id="21552" name="Object 3"/>
            <p:cNvGraphicFramePr>
              <a:graphicFrameLocks noChangeAspect="1"/>
            </p:cNvGraphicFramePr>
            <p:nvPr/>
          </p:nvGraphicFramePr>
          <p:xfrm>
            <a:off x="581" y="1117"/>
            <a:ext cx="2172" cy="5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222500" imgH="546100" progId="Equation.DSMT4">
                    <p:embed/>
                  </p:oleObj>
                </mc:Choice>
                <mc:Fallback>
                  <p:oleObj name="Equation" r:id="rId4" imgW="2222500" imgH="546100" progId="Equation.DSMT4">
                    <p:embed/>
                    <p:pic>
                      <p:nvPicPr>
                        <p:cNvPr id="0" name="图片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1" y="1117"/>
                          <a:ext cx="2172" cy="5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53" name="Rectangle 9"/>
            <p:cNvSpPr>
              <a:spLocks noChangeArrowheads="1"/>
            </p:cNvSpPr>
            <p:nvPr/>
          </p:nvSpPr>
          <p:spPr bwMode="auto">
            <a:xfrm>
              <a:off x="2653" y="1207"/>
              <a:ext cx="145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  <a:buClrTx/>
                <a:buSzTx/>
                <a:buFontTx/>
                <a:buNone/>
              </a:pPr>
              <a:r>
                <a:rPr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（ </a:t>
              </a: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Finite long</a:t>
              </a:r>
              <a:r>
                <a:rPr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）</a:t>
              </a:r>
            </a:p>
          </p:txBody>
        </p:sp>
      </p:grpSp>
      <p:grpSp>
        <p:nvGrpSpPr>
          <p:cNvPr id="5" name="Group 49"/>
          <p:cNvGrpSpPr/>
          <p:nvPr/>
        </p:nvGrpSpPr>
        <p:grpSpPr bwMode="auto">
          <a:xfrm>
            <a:off x="2424114" y="3502025"/>
            <a:ext cx="4814887" cy="863600"/>
            <a:chOff x="567" y="1661"/>
            <a:chExt cx="3033" cy="544"/>
          </a:xfrm>
        </p:grpSpPr>
        <p:sp>
          <p:nvSpPr>
            <p:cNvPr id="21550" name="Rectangle 8"/>
            <p:cNvSpPr>
              <a:spLocks noChangeArrowheads="1"/>
            </p:cNvSpPr>
            <p:nvPr/>
          </p:nvSpPr>
          <p:spPr bwMode="auto">
            <a:xfrm>
              <a:off x="2064" y="1827"/>
              <a:ext cx="15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  <a:buClrTx/>
                <a:buSzTx/>
                <a:buFontTx/>
                <a:buNone/>
              </a:pPr>
              <a:r>
                <a:rPr lang="zh-CN" altLang="en-US" sz="2000" b="1">
                  <a:solidFill>
                    <a:srgbClr val="000000"/>
                  </a:solidFill>
                  <a:ea typeface="楷体_GB2312" pitchFamily="49" charset="-122"/>
                </a:rPr>
                <a:t>（</a:t>
              </a: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Infinite long </a:t>
              </a:r>
              <a:r>
                <a:rPr lang="zh-CN" altLang="en-US" sz="2000" b="1">
                  <a:solidFill>
                    <a:srgbClr val="000000"/>
                  </a:solidFill>
                  <a:ea typeface="楷体_GB2312" pitchFamily="49" charset="-122"/>
                </a:rPr>
                <a:t>）</a:t>
              </a:r>
            </a:p>
          </p:txBody>
        </p:sp>
        <p:graphicFrame>
          <p:nvGraphicFramePr>
            <p:cNvPr id="21551" name="Object 44"/>
            <p:cNvGraphicFramePr>
              <a:graphicFrameLocks noChangeAspect="1"/>
            </p:cNvGraphicFramePr>
            <p:nvPr/>
          </p:nvGraphicFramePr>
          <p:xfrm>
            <a:off x="567" y="1661"/>
            <a:ext cx="1165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952500" imgH="546100" progId="Equation.DSMT4">
                    <p:embed/>
                  </p:oleObj>
                </mc:Choice>
                <mc:Fallback>
                  <p:oleObj name="Equation" r:id="rId6" imgW="952500" imgH="546100" progId="Equation.DSMT4">
                    <p:embed/>
                    <p:pic>
                      <p:nvPicPr>
                        <p:cNvPr id="0" name="图片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" y="1661"/>
                          <a:ext cx="1165" cy="5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47"/>
          <p:cNvGrpSpPr/>
          <p:nvPr/>
        </p:nvGrpSpPr>
        <p:grpSpPr bwMode="auto">
          <a:xfrm>
            <a:off x="7739061" y="620712"/>
            <a:ext cx="2447925" cy="2863850"/>
            <a:chOff x="3915" y="391"/>
            <a:chExt cx="1542" cy="1804"/>
          </a:xfrm>
        </p:grpSpPr>
        <p:sp>
          <p:nvSpPr>
            <p:cNvPr id="21534" name="Line 29"/>
            <p:cNvSpPr>
              <a:spLocks noChangeShapeType="1"/>
            </p:cNvSpPr>
            <p:nvPr/>
          </p:nvSpPr>
          <p:spPr bwMode="auto">
            <a:xfrm flipH="1" flipV="1">
              <a:off x="4331" y="709"/>
              <a:ext cx="635" cy="7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21535" name="Object 30"/>
            <p:cNvGraphicFramePr>
              <a:graphicFrameLocks noChangeAspect="1"/>
            </p:cNvGraphicFramePr>
            <p:nvPr/>
          </p:nvGraphicFramePr>
          <p:xfrm>
            <a:off x="4137" y="1108"/>
            <a:ext cx="161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52400" imgH="203200" progId="Equation.DSMT4">
                    <p:embed/>
                  </p:oleObj>
                </mc:Choice>
                <mc:Fallback>
                  <p:oleObj name="Equation" r:id="rId8" imgW="152400" imgH="203200" progId="Equation.DSMT4">
                    <p:embed/>
                    <p:pic>
                      <p:nvPicPr>
                        <p:cNvPr id="0" name="图片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37" y="1108"/>
                          <a:ext cx="161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36" name="Object 31"/>
            <p:cNvGraphicFramePr>
              <a:graphicFrameLocks noChangeAspect="1"/>
            </p:cNvGraphicFramePr>
            <p:nvPr/>
          </p:nvGraphicFramePr>
          <p:xfrm>
            <a:off x="4377" y="1434"/>
            <a:ext cx="19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90500" imgH="292100" progId="Equation.DSMT4">
                    <p:embed/>
                  </p:oleObj>
                </mc:Choice>
                <mc:Fallback>
                  <p:oleObj name="Equation" r:id="rId10" imgW="190500" imgH="292100" progId="Equation.DSMT4">
                    <p:embed/>
                    <p:pic>
                      <p:nvPicPr>
                        <p:cNvPr id="0" name="图片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7" y="1434"/>
                          <a:ext cx="194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37" name="Object 32"/>
            <p:cNvGraphicFramePr>
              <a:graphicFrameLocks noChangeAspect="1"/>
            </p:cNvGraphicFramePr>
            <p:nvPr/>
          </p:nvGraphicFramePr>
          <p:xfrm>
            <a:off x="4604" y="1253"/>
            <a:ext cx="193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90500" imgH="203200" progId="Equation.DSMT4">
                    <p:embed/>
                  </p:oleObj>
                </mc:Choice>
                <mc:Fallback>
                  <p:oleObj name="Equation" r:id="rId12" imgW="190500" imgH="203200" progId="Equation.DSMT4">
                    <p:embed/>
                    <p:pic>
                      <p:nvPicPr>
                        <p:cNvPr id="0" name="图片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4" y="1253"/>
                          <a:ext cx="193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38" name="Object 33"/>
            <p:cNvGraphicFramePr>
              <a:graphicFrameLocks noChangeAspect="1"/>
            </p:cNvGraphicFramePr>
            <p:nvPr/>
          </p:nvGraphicFramePr>
          <p:xfrm>
            <a:off x="4150" y="391"/>
            <a:ext cx="227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52400" imgH="152400" progId="Equation.DSMT4">
                    <p:embed/>
                  </p:oleObj>
                </mc:Choice>
                <mc:Fallback>
                  <p:oleObj name="Equation" r:id="rId14" imgW="152400" imgH="152400" progId="Equation.DSMT4">
                    <p:embed/>
                    <p:pic>
                      <p:nvPicPr>
                        <p:cNvPr id="0" name="图片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0" y="391"/>
                          <a:ext cx="227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39" name="Object 34"/>
            <p:cNvGraphicFramePr>
              <a:graphicFrameLocks noChangeAspect="1"/>
            </p:cNvGraphicFramePr>
            <p:nvPr/>
          </p:nvGraphicFramePr>
          <p:xfrm>
            <a:off x="4964" y="1283"/>
            <a:ext cx="257" cy="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254000" imgH="203200" progId="Equation.DSMT4">
                    <p:embed/>
                  </p:oleObj>
                </mc:Choice>
                <mc:Fallback>
                  <p:oleObj name="Equation" r:id="rId16" imgW="254000" imgH="203200" progId="Equation.DSMT4">
                    <p:embed/>
                    <p:pic>
                      <p:nvPicPr>
                        <p:cNvPr id="0" name="图片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4" y="1283"/>
                          <a:ext cx="257" cy="1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40" name="Rectangle 35"/>
            <p:cNvSpPr>
              <a:spLocks noChangeArrowheads="1"/>
            </p:cNvSpPr>
            <p:nvPr/>
          </p:nvSpPr>
          <p:spPr bwMode="auto">
            <a:xfrm>
              <a:off x="4294" y="1127"/>
              <a:ext cx="75" cy="252"/>
            </a:xfrm>
            <a:prstGeom prst="rect">
              <a:avLst/>
            </a:prstGeom>
            <a:gradFill rotWithShape="1">
              <a:gsLst>
                <a:gs pos="0">
                  <a:srgbClr val="226544"/>
                </a:gs>
                <a:gs pos="100000">
                  <a:srgbClr val="339966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  <a:buClrTx/>
                <a:buSzTx/>
                <a:buFontTx/>
                <a:buNone/>
              </a:pPr>
              <a:endParaRPr lang="zh-CN" altLang="zh-CN" sz="2000">
                <a:solidFill>
                  <a:schemeClr val="bg1"/>
                </a:solidFill>
                <a:ea typeface="楷体_GB2312" pitchFamily="49" charset="-122"/>
              </a:endParaRPr>
            </a:p>
          </p:txBody>
        </p:sp>
        <p:sp>
          <p:nvSpPr>
            <p:cNvPr id="21541" name="Line 36"/>
            <p:cNvSpPr>
              <a:spLocks noChangeShapeType="1"/>
            </p:cNvSpPr>
            <p:nvPr/>
          </p:nvSpPr>
          <p:spPr bwMode="auto">
            <a:xfrm flipV="1">
              <a:off x="4331" y="482"/>
              <a:ext cx="0" cy="140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1542" name="Line 37"/>
            <p:cNvSpPr>
              <a:spLocks noChangeShapeType="1"/>
            </p:cNvSpPr>
            <p:nvPr/>
          </p:nvSpPr>
          <p:spPr bwMode="auto">
            <a:xfrm flipV="1">
              <a:off x="4332" y="1448"/>
              <a:ext cx="63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1543" name="Line 38"/>
            <p:cNvSpPr>
              <a:spLocks noChangeShapeType="1"/>
            </p:cNvSpPr>
            <p:nvPr/>
          </p:nvSpPr>
          <p:spPr bwMode="auto">
            <a:xfrm flipH="1">
              <a:off x="4331" y="1434"/>
              <a:ext cx="635" cy="3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1544" name="Oval 39"/>
            <p:cNvSpPr>
              <a:spLocks noChangeArrowheads="1"/>
            </p:cNvSpPr>
            <p:nvPr/>
          </p:nvSpPr>
          <p:spPr bwMode="auto">
            <a:xfrm>
              <a:off x="4942" y="1343"/>
              <a:ext cx="128" cy="1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  <a:buClrTx/>
                <a:buSzTx/>
                <a:buFontTx/>
                <a:buNone/>
              </a:pPr>
              <a:endParaRPr lang="zh-CN" altLang="zh-CN" sz="2000">
                <a:solidFill>
                  <a:schemeClr val="bg1"/>
                </a:solidFill>
                <a:ea typeface="楷体_GB2312" pitchFamily="49" charset="-122"/>
              </a:endParaRPr>
            </a:p>
          </p:txBody>
        </p:sp>
        <p:graphicFrame>
          <p:nvGraphicFramePr>
            <p:cNvPr id="21545" name="Object 40"/>
            <p:cNvGraphicFramePr>
              <a:graphicFrameLocks noChangeAspect="1"/>
            </p:cNvGraphicFramePr>
            <p:nvPr/>
          </p:nvGraphicFramePr>
          <p:xfrm>
            <a:off x="4377" y="572"/>
            <a:ext cx="211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203200" imgH="292100" progId="Equation.DSMT4">
                    <p:embed/>
                  </p:oleObj>
                </mc:Choice>
                <mc:Fallback>
                  <p:oleObj name="Equation" r:id="rId18" imgW="203200" imgH="292100" progId="Equation.DSMT4">
                    <p:embed/>
                    <p:pic>
                      <p:nvPicPr>
                        <p:cNvPr id="0" name="图片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7" y="572"/>
                          <a:ext cx="211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46" name="Arc 41"/>
            <p:cNvSpPr/>
            <p:nvPr/>
          </p:nvSpPr>
          <p:spPr bwMode="auto">
            <a:xfrm>
              <a:off x="4331" y="637"/>
              <a:ext cx="90" cy="233"/>
            </a:xfrm>
            <a:custGeom>
              <a:avLst/>
              <a:gdLst>
                <a:gd name="T0" fmla="*/ 0 w 21273"/>
                <a:gd name="T1" fmla="*/ 0 h 21600"/>
                <a:gd name="T2" fmla="*/ 0 w 21273"/>
                <a:gd name="T3" fmla="*/ 1 h 21600"/>
                <a:gd name="T4" fmla="*/ 0 w 21273"/>
                <a:gd name="T5" fmla="*/ 2 h 21600"/>
                <a:gd name="T6" fmla="*/ 0 60000 65536"/>
                <a:gd name="T7" fmla="*/ 0 60000 65536"/>
                <a:gd name="T8" fmla="*/ 0 60000 65536"/>
                <a:gd name="T9" fmla="*/ 0 w 21273"/>
                <a:gd name="T10" fmla="*/ 0 h 21600"/>
                <a:gd name="T11" fmla="*/ 21273 w 2127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273" h="21600" fill="none" extrusionOk="0">
                  <a:moveTo>
                    <a:pt x="-1" y="0"/>
                  </a:moveTo>
                  <a:cubicBezTo>
                    <a:pt x="10484" y="0"/>
                    <a:pt x="19455" y="7529"/>
                    <a:pt x="21273" y="17855"/>
                  </a:cubicBezTo>
                </a:path>
                <a:path w="21273" h="21600" stroke="0" extrusionOk="0">
                  <a:moveTo>
                    <a:pt x="-1" y="0"/>
                  </a:moveTo>
                  <a:cubicBezTo>
                    <a:pt x="10484" y="0"/>
                    <a:pt x="19455" y="7529"/>
                    <a:pt x="21273" y="17855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47" name="Arc 42"/>
            <p:cNvSpPr/>
            <p:nvPr/>
          </p:nvSpPr>
          <p:spPr bwMode="auto">
            <a:xfrm>
              <a:off x="4331" y="1590"/>
              <a:ext cx="112" cy="233"/>
            </a:xfrm>
            <a:custGeom>
              <a:avLst/>
              <a:gdLst>
                <a:gd name="T0" fmla="*/ 0 w 19646"/>
                <a:gd name="T1" fmla="*/ 0 h 21600"/>
                <a:gd name="T2" fmla="*/ 1 w 19646"/>
                <a:gd name="T3" fmla="*/ 1 h 21600"/>
                <a:gd name="T4" fmla="*/ 0 w 19646"/>
                <a:gd name="T5" fmla="*/ 2 h 21600"/>
                <a:gd name="T6" fmla="*/ 0 60000 65536"/>
                <a:gd name="T7" fmla="*/ 0 60000 65536"/>
                <a:gd name="T8" fmla="*/ 0 60000 65536"/>
                <a:gd name="T9" fmla="*/ 0 w 19646"/>
                <a:gd name="T10" fmla="*/ 0 h 21600"/>
                <a:gd name="T11" fmla="*/ 19646 w 1964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646" h="21600" fill="none" extrusionOk="0">
                  <a:moveTo>
                    <a:pt x="-1" y="0"/>
                  </a:moveTo>
                  <a:cubicBezTo>
                    <a:pt x="8454" y="0"/>
                    <a:pt x="16132" y="4932"/>
                    <a:pt x="19646" y="12622"/>
                  </a:cubicBezTo>
                </a:path>
                <a:path w="19646" h="21600" stroke="0" extrusionOk="0">
                  <a:moveTo>
                    <a:pt x="-1" y="0"/>
                  </a:moveTo>
                  <a:cubicBezTo>
                    <a:pt x="8454" y="0"/>
                    <a:pt x="16132" y="4932"/>
                    <a:pt x="19646" y="12622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48" name="Rectangle 43"/>
            <p:cNvSpPr>
              <a:spLocks noChangeArrowheads="1"/>
            </p:cNvSpPr>
            <p:nvPr/>
          </p:nvSpPr>
          <p:spPr bwMode="auto">
            <a:xfrm>
              <a:off x="3915" y="1845"/>
              <a:ext cx="1542" cy="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  <a:buClrTx/>
                <a:buSzTx/>
                <a:buFontTx/>
                <a:buNone/>
              </a:pPr>
              <a:r>
                <a:rPr lang="en-US" altLang="zh-CN" sz="1400" b="1">
                  <a:solidFill>
                    <a:srgbClr val="000000"/>
                  </a:solidFill>
                  <a:ea typeface="楷体_GB2312" pitchFamily="49" charset="-122"/>
                </a:rPr>
                <a:t>line segment carrying</a:t>
              </a:r>
            </a:p>
            <a:p>
              <a:pPr algn="ctr" eaLnBrk="1" hangingPunct="1">
                <a:spcBef>
                  <a:spcPct val="15000"/>
                </a:spcBef>
                <a:buClrTx/>
                <a:buSzTx/>
                <a:buFontTx/>
                <a:buNone/>
              </a:pPr>
              <a:r>
                <a:rPr lang="en-US" altLang="zh-CN" sz="1400" b="1">
                  <a:solidFill>
                    <a:srgbClr val="000000"/>
                  </a:solidFill>
                  <a:ea typeface="楷体_GB2312" pitchFamily="49" charset="-122"/>
                </a:rPr>
                <a:t>current</a:t>
              </a:r>
            </a:p>
          </p:txBody>
        </p:sp>
        <p:sp>
          <p:nvSpPr>
            <p:cNvPr id="21549" name="Line 45"/>
            <p:cNvSpPr>
              <a:spLocks noChangeShapeType="1"/>
            </p:cNvSpPr>
            <p:nvPr/>
          </p:nvSpPr>
          <p:spPr bwMode="auto">
            <a:xfrm flipV="1">
              <a:off x="4332" y="1026"/>
              <a:ext cx="0" cy="31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4" name="Group 50"/>
          <p:cNvGrpSpPr/>
          <p:nvPr/>
        </p:nvGrpSpPr>
        <p:grpSpPr bwMode="auto">
          <a:xfrm>
            <a:off x="7751761" y="3709988"/>
            <a:ext cx="2447925" cy="2727325"/>
            <a:chOff x="3923" y="2337"/>
            <a:chExt cx="1542" cy="1718"/>
          </a:xfrm>
        </p:grpSpPr>
        <p:grpSp>
          <p:nvGrpSpPr>
            <p:cNvPr id="21514" name="Group 10"/>
            <p:cNvGrpSpPr/>
            <p:nvPr/>
          </p:nvGrpSpPr>
          <p:grpSpPr bwMode="auto">
            <a:xfrm>
              <a:off x="3923" y="2337"/>
              <a:ext cx="1542" cy="1718"/>
              <a:chOff x="3923" y="2296"/>
              <a:chExt cx="1542" cy="1718"/>
            </a:xfrm>
          </p:grpSpPr>
          <p:grpSp>
            <p:nvGrpSpPr>
              <p:cNvPr id="21517" name="Group 12"/>
              <p:cNvGrpSpPr/>
              <p:nvPr/>
            </p:nvGrpSpPr>
            <p:grpSpPr bwMode="auto">
              <a:xfrm>
                <a:off x="3923" y="2296"/>
                <a:ext cx="1542" cy="1435"/>
                <a:chOff x="3923" y="2296"/>
                <a:chExt cx="1542" cy="1435"/>
              </a:xfrm>
            </p:grpSpPr>
            <p:sp>
              <p:nvSpPr>
                <p:cNvPr id="21519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4558" y="2341"/>
                  <a:ext cx="0" cy="907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520" name="Line 14"/>
                <p:cNvSpPr>
                  <a:spLocks noChangeShapeType="1"/>
                </p:cNvSpPr>
                <p:nvPr/>
              </p:nvSpPr>
              <p:spPr bwMode="auto">
                <a:xfrm flipH="1">
                  <a:off x="4059" y="3248"/>
                  <a:ext cx="499" cy="363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521" name="Line 15"/>
                <p:cNvSpPr>
                  <a:spLocks noChangeShapeType="1"/>
                </p:cNvSpPr>
                <p:nvPr/>
              </p:nvSpPr>
              <p:spPr bwMode="auto">
                <a:xfrm rot="5400000" flipV="1">
                  <a:off x="4932" y="2874"/>
                  <a:ext cx="0" cy="748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522" name="Line 16"/>
                <p:cNvSpPr>
                  <a:spLocks noChangeShapeType="1"/>
                </p:cNvSpPr>
                <p:nvPr/>
              </p:nvSpPr>
              <p:spPr bwMode="auto">
                <a:xfrm flipH="1" flipV="1">
                  <a:off x="4558" y="2568"/>
                  <a:ext cx="272" cy="84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graphicFrame>
              <p:nvGraphicFramePr>
                <p:cNvPr id="21523" name="Object 17"/>
                <p:cNvGraphicFramePr>
                  <a:graphicFrameLocks noChangeAspect="1"/>
                </p:cNvGraphicFramePr>
                <p:nvPr/>
              </p:nvGraphicFramePr>
              <p:xfrm>
                <a:off x="4771" y="3421"/>
                <a:ext cx="161" cy="19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0" imgW="152400" imgH="203200" progId="Equation.DSMT4">
                        <p:embed/>
                      </p:oleObj>
                    </mc:Choice>
                    <mc:Fallback>
                      <p:oleObj name="Equation" r:id="rId20" imgW="152400" imgH="203200" progId="Equation.DSMT4">
                        <p:embed/>
                        <p:pic>
                          <p:nvPicPr>
                            <p:cNvPr id="0" name="图片 1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771" y="3421"/>
                              <a:ext cx="161" cy="19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1524" name="Object 18"/>
                <p:cNvGraphicFramePr>
                  <a:graphicFrameLocks noChangeAspect="1"/>
                </p:cNvGraphicFramePr>
                <p:nvPr/>
              </p:nvGraphicFramePr>
              <p:xfrm>
                <a:off x="5288" y="3203"/>
                <a:ext cx="177" cy="19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2" imgW="177800" imgH="203200" progId="Equation.DSMT4">
                        <p:embed/>
                      </p:oleObj>
                    </mc:Choice>
                    <mc:Fallback>
                      <p:oleObj name="Equation" r:id="rId22" imgW="177800" imgH="203200" progId="Equation.DSMT4">
                        <p:embed/>
                        <p:pic>
                          <p:nvPicPr>
                            <p:cNvPr id="0" name="图片 1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288" y="3203"/>
                              <a:ext cx="177" cy="19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1525" name="Object 19"/>
                <p:cNvGraphicFramePr>
                  <a:graphicFrameLocks noChangeAspect="1"/>
                </p:cNvGraphicFramePr>
                <p:nvPr/>
              </p:nvGraphicFramePr>
              <p:xfrm>
                <a:off x="3923" y="3566"/>
                <a:ext cx="161" cy="16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4" imgW="152400" imgH="177800" progId="Equation.DSMT4">
                        <p:embed/>
                      </p:oleObj>
                    </mc:Choice>
                    <mc:Fallback>
                      <p:oleObj name="Equation" r:id="rId24" imgW="152400" imgH="177800" progId="Equation.DSMT4">
                        <p:embed/>
                        <p:pic>
                          <p:nvPicPr>
                            <p:cNvPr id="0" name="图片 1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923" y="3566"/>
                              <a:ext cx="161" cy="16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1526" name="Object 20"/>
                <p:cNvGraphicFramePr>
                  <a:graphicFrameLocks noChangeAspect="1"/>
                </p:cNvGraphicFramePr>
                <p:nvPr/>
              </p:nvGraphicFramePr>
              <p:xfrm>
                <a:off x="4558" y="2296"/>
                <a:ext cx="227" cy="21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6" imgW="152400" imgH="152400" progId="Equation.DSMT4">
                        <p:embed/>
                      </p:oleObj>
                    </mc:Choice>
                    <mc:Fallback>
                      <p:oleObj name="Equation" r:id="rId26" imgW="152400" imgH="152400" progId="Equation.DSMT4">
                        <p:embed/>
                        <p:pic>
                          <p:nvPicPr>
                            <p:cNvPr id="0" name="图片 1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58" y="2296"/>
                              <a:ext cx="227" cy="21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1527" name="Object 21"/>
                <p:cNvGraphicFramePr>
                  <a:graphicFrameLocks noChangeAspect="1"/>
                </p:cNvGraphicFramePr>
                <p:nvPr/>
              </p:nvGraphicFramePr>
              <p:xfrm>
                <a:off x="4512" y="3248"/>
                <a:ext cx="161" cy="16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8" imgW="152400" imgH="177800" progId="Equation.DSMT4">
                        <p:embed/>
                      </p:oleObj>
                    </mc:Choice>
                    <mc:Fallback>
                      <p:oleObj name="Equation" r:id="rId28" imgW="152400" imgH="177800" progId="Equation.DSMT4">
                        <p:embed/>
                        <p:pic>
                          <p:nvPicPr>
                            <p:cNvPr id="0" name="图片 1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12" y="3248"/>
                              <a:ext cx="161" cy="16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1528" name="Object 22"/>
                <p:cNvGraphicFramePr>
                  <a:graphicFrameLocks noChangeAspect="1"/>
                </p:cNvGraphicFramePr>
                <p:nvPr/>
              </p:nvGraphicFramePr>
              <p:xfrm>
                <a:off x="4299" y="2523"/>
                <a:ext cx="258" cy="19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30" imgW="254000" imgH="203200" progId="Equation.DSMT4">
                        <p:embed/>
                      </p:oleObj>
                    </mc:Choice>
                    <mc:Fallback>
                      <p:oleObj name="Equation" r:id="rId30" imgW="254000" imgH="203200" progId="Equation.DSMT4">
                        <p:embed/>
                        <p:pic>
                          <p:nvPicPr>
                            <p:cNvPr id="0" name="图片 1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299" y="2523"/>
                              <a:ext cx="258" cy="19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1529" name="Line 23"/>
                <p:cNvSpPr>
                  <a:spLocks noChangeShapeType="1"/>
                </p:cNvSpPr>
                <p:nvPr/>
              </p:nvSpPr>
              <p:spPr bwMode="auto">
                <a:xfrm flipH="1" flipV="1">
                  <a:off x="4286" y="3067"/>
                  <a:ext cx="272" cy="18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graphicFrame>
              <p:nvGraphicFramePr>
                <p:cNvPr id="21530" name="Object 24"/>
                <p:cNvGraphicFramePr>
                  <a:graphicFrameLocks noChangeAspect="1"/>
                </p:cNvGraphicFramePr>
                <p:nvPr/>
              </p:nvGraphicFramePr>
              <p:xfrm>
                <a:off x="4286" y="3127"/>
                <a:ext cx="161" cy="16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32" imgW="152400" imgH="177800" progId="Equation.DSMT4">
                        <p:embed/>
                      </p:oleObj>
                    </mc:Choice>
                    <mc:Fallback>
                      <p:oleObj name="Equation" r:id="rId32" imgW="152400" imgH="177800" progId="Equation.DSMT4">
                        <p:embed/>
                        <p:pic>
                          <p:nvPicPr>
                            <p:cNvPr id="0" name="图片 2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286" y="3127"/>
                              <a:ext cx="161" cy="16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1531" name="Oval 25"/>
                <p:cNvSpPr>
                  <a:spLocks noChangeArrowheads="1"/>
                </p:cNvSpPr>
                <p:nvPr/>
              </p:nvSpPr>
              <p:spPr bwMode="auto">
                <a:xfrm>
                  <a:off x="4123" y="3071"/>
                  <a:ext cx="870" cy="354"/>
                </a:xfrm>
                <a:prstGeom prst="ellipse">
                  <a:avLst/>
                </a:prstGeom>
                <a:noFill/>
                <a:ln w="349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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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15000"/>
                    </a:spcBef>
                    <a:buClrTx/>
                    <a:buSzTx/>
                    <a:buFontTx/>
                    <a:buNone/>
                  </a:pPr>
                  <a:endParaRPr lang="zh-CN" altLang="zh-CN" sz="2000">
                    <a:solidFill>
                      <a:schemeClr val="bg1"/>
                    </a:solidFill>
                    <a:ea typeface="楷体_GB2312" pitchFamily="49" charset="-122"/>
                  </a:endParaRPr>
                </a:p>
              </p:txBody>
            </p:sp>
            <p:sp>
              <p:nvSpPr>
                <p:cNvPr id="21532" name="Oval 26"/>
                <p:cNvSpPr>
                  <a:spLocks noChangeArrowheads="1"/>
                </p:cNvSpPr>
                <p:nvPr/>
              </p:nvSpPr>
              <p:spPr bwMode="auto">
                <a:xfrm>
                  <a:off x="4512" y="2479"/>
                  <a:ext cx="161" cy="14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squar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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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15000"/>
                    </a:spcBef>
                    <a:buClrTx/>
                    <a:buSzTx/>
                    <a:buFontTx/>
                    <a:buNone/>
                  </a:pPr>
                  <a:endParaRPr lang="zh-CN" altLang="zh-CN" sz="2000">
                    <a:solidFill>
                      <a:schemeClr val="bg1"/>
                    </a:solidFill>
                    <a:ea typeface="楷体_GB2312" pitchFamily="49" charset="-122"/>
                  </a:endParaRPr>
                </a:p>
              </p:txBody>
            </p:sp>
          </p:grpSp>
          <p:sp>
            <p:nvSpPr>
              <p:cNvPr id="21518" name="Rectangle 27"/>
              <p:cNvSpPr>
                <a:spLocks noChangeArrowheads="1"/>
              </p:cNvSpPr>
              <p:nvPr/>
            </p:nvSpPr>
            <p:spPr bwMode="auto">
              <a:xfrm>
                <a:off x="3960" y="3649"/>
                <a:ext cx="1452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15000"/>
                  </a:spcBef>
                  <a:buClrTx/>
                  <a:buSzTx/>
                  <a:buFontTx/>
                  <a:buNone/>
                </a:pPr>
                <a:r>
                  <a:rPr lang="en-US" altLang="zh-CN" sz="1400" b="1">
                    <a:solidFill>
                      <a:srgbClr val="000000"/>
                    </a:solidFill>
                    <a:ea typeface="楷体_GB2312" pitchFamily="49" charset="-122"/>
                  </a:rPr>
                  <a:t>circular ring </a:t>
                </a:r>
                <a:r>
                  <a:rPr lang="en-US" altLang="zh-CN" sz="1400" b="1">
                    <a:solidFill>
                      <a:srgbClr val="000000"/>
                    </a:solidFill>
                  </a:rPr>
                  <a:t>carrying</a:t>
                </a:r>
                <a:r>
                  <a:rPr lang="en-US" altLang="zh-CN" sz="1800">
                    <a:solidFill>
                      <a:srgbClr val="000000"/>
                    </a:solidFill>
                  </a:rPr>
                  <a:t> </a:t>
                </a:r>
                <a:r>
                  <a:rPr lang="en-US" altLang="zh-CN" sz="1400" b="1">
                    <a:solidFill>
                      <a:srgbClr val="000000"/>
                    </a:solidFill>
                  </a:rPr>
                  <a:t>current</a:t>
                </a:r>
              </a:p>
            </p:txBody>
          </p:sp>
        </p:grpSp>
        <p:sp>
          <p:nvSpPr>
            <p:cNvPr id="21515" name="Line 46"/>
            <p:cNvSpPr>
              <a:spLocks noChangeShapeType="1"/>
            </p:cNvSpPr>
            <p:nvPr/>
          </p:nvSpPr>
          <p:spPr bwMode="auto">
            <a:xfrm flipV="1">
              <a:off x="4801" y="3430"/>
              <a:ext cx="91" cy="45"/>
            </a:xfrm>
            <a:prstGeom prst="line">
              <a:avLst/>
            </a:prstGeom>
            <a:noFill/>
            <a:ln w="34925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76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576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576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576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6514" grpId="0"/>
      <p:bldP spid="576518" grpId="0"/>
      <p:bldP spid="57651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6970" name="Object 218"/>
          <p:cNvGraphicFramePr>
            <a:graphicFrameLocks noChangeAspect="1"/>
          </p:cNvGraphicFramePr>
          <p:nvPr/>
        </p:nvGraphicFramePr>
        <p:xfrm>
          <a:off x="3000375" y="2636838"/>
          <a:ext cx="4870450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75000" imgH="330200" progId="Equation.DSMT4">
                  <p:embed/>
                </p:oleObj>
              </mc:Choice>
              <mc:Fallback>
                <p:oleObj name="Equation" r:id="rId2" imgW="3175000" imgH="3302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2636838"/>
                        <a:ext cx="4870450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6971" name="Object 219"/>
          <p:cNvGraphicFramePr>
            <a:graphicFrameLocks noChangeAspect="1"/>
          </p:cNvGraphicFramePr>
          <p:nvPr/>
        </p:nvGraphicFramePr>
        <p:xfrm>
          <a:off x="5387976" y="3284538"/>
          <a:ext cx="474027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44800" imgH="342900" progId="Equation.DSMT4">
                  <p:embed/>
                </p:oleObj>
              </mc:Choice>
              <mc:Fallback>
                <p:oleObj name="Equation" r:id="rId4" imgW="2844800" imgH="3429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7976" y="3284538"/>
                        <a:ext cx="4740275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6972" name="Object 220"/>
          <p:cNvGraphicFramePr/>
          <p:nvPr/>
        </p:nvGraphicFramePr>
        <p:xfrm>
          <a:off x="7104063" y="4005264"/>
          <a:ext cx="2995612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52600" imgH="330200" progId="Equation.DSMT4">
                  <p:embed/>
                </p:oleObj>
              </mc:Choice>
              <mc:Fallback>
                <p:oleObj name="Equation" r:id="rId6" imgW="1752600" imgH="330200" progId="Equation.DSMT4">
                  <p:embed/>
                  <p:pic>
                    <p:nvPicPr>
                      <p:cNvPr id="0" name="图片 3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4063" y="4005264"/>
                        <a:ext cx="2995612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6974" name="Object 222"/>
          <p:cNvGraphicFramePr>
            <a:graphicFrameLocks noChangeAspect="1"/>
          </p:cNvGraphicFramePr>
          <p:nvPr/>
        </p:nvGraphicFramePr>
        <p:xfrm>
          <a:off x="2947988" y="1844675"/>
          <a:ext cx="1852612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55700" imgH="342900" progId="Equation.DSMT4">
                  <p:embed/>
                </p:oleObj>
              </mc:Choice>
              <mc:Fallback>
                <p:oleObj name="Equation" r:id="rId8" imgW="1155700" imgH="3429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7988" y="1844675"/>
                        <a:ext cx="1852612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6975" name="Object 223"/>
          <p:cNvGraphicFramePr>
            <a:graphicFrameLocks noChangeAspect="1"/>
          </p:cNvGraphicFramePr>
          <p:nvPr/>
        </p:nvGraphicFramePr>
        <p:xfrm>
          <a:off x="5375276" y="1916113"/>
          <a:ext cx="1071563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60400" imgH="304800" progId="Equation.DSMT4">
                  <p:embed/>
                </p:oleObj>
              </mc:Choice>
              <mc:Fallback>
                <p:oleObj name="Equation" r:id="rId10" imgW="660400" imgH="3048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5276" y="1916113"/>
                        <a:ext cx="1071563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6977" name="Object 225"/>
          <p:cNvGraphicFramePr>
            <a:graphicFrameLocks noChangeAspect="1"/>
          </p:cNvGraphicFramePr>
          <p:nvPr/>
        </p:nvGraphicFramePr>
        <p:xfrm>
          <a:off x="7391400" y="1916113"/>
          <a:ext cx="990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09600" imgH="292100" progId="Equation.DSMT4">
                  <p:embed/>
                </p:oleObj>
              </mc:Choice>
              <mc:Fallback>
                <p:oleObj name="Equation" r:id="rId12" imgW="609600" imgH="292100" progId="Equation.DSMT4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1916113"/>
                        <a:ext cx="9906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6979" name="Rectangle 227"/>
          <p:cNvSpPr>
            <a:spLocks noChangeArrowheads="1"/>
          </p:cNvSpPr>
          <p:nvPr/>
        </p:nvSpPr>
        <p:spPr bwMode="auto">
          <a:xfrm>
            <a:off x="1524001" y="836613"/>
            <a:ext cx="8785225" cy="1052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      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Solution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：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Establish a best coordinate system ,as shown in Figure .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For the magnetic flux density at arbitrary point on the axis 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P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(0, 0, 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z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), because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</a:p>
        </p:txBody>
      </p:sp>
      <p:sp>
        <p:nvSpPr>
          <p:cNvPr id="586980" name="Rectangle 228"/>
          <p:cNvSpPr>
            <a:spLocks noChangeArrowheads="1"/>
          </p:cNvSpPr>
          <p:nvPr/>
        </p:nvSpPr>
        <p:spPr bwMode="auto">
          <a:xfrm>
            <a:off x="1703388" y="260351"/>
            <a:ext cx="87757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FF3300"/>
                </a:solidFill>
                <a:ea typeface="幼圆" panose="02010509060101010101" pitchFamily="49" charset="-122"/>
              </a:rPr>
              <a:t>Ex.</a:t>
            </a:r>
            <a:r>
              <a:rPr lang="en-US" altLang="zh-CN" sz="2000" b="1" dirty="0">
                <a:solidFill>
                  <a:srgbClr val="000000"/>
                </a:solidFill>
                <a:ea typeface="楷体_GB2312" pitchFamily="49" charset="-122"/>
              </a:rPr>
              <a:t> </a:t>
            </a:r>
            <a:r>
              <a:rPr lang="en-US" altLang="zh-CN" sz="2000" b="1" dirty="0">
                <a:solidFill>
                  <a:srgbClr val="0000CC"/>
                </a:solidFill>
                <a:ea typeface="楷体_GB2312" pitchFamily="49" charset="-122"/>
              </a:rPr>
              <a:t>Calculate the magnetic flux density at arbitrary point at the center of the circular ring.</a:t>
            </a:r>
          </a:p>
        </p:txBody>
      </p:sp>
      <p:grpSp>
        <p:nvGrpSpPr>
          <p:cNvPr id="8" name="Group 229"/>
          <p:cNvGrpSpPr/>
          <p:nvPr/>
        </p:nvGrpSpPr>
        <p:grpSpPr bwMode="auto">
          <a:xfrm>
            <a:off x="1856193" y="3283338"/>
            <a:ext cx="2788206" cy="2778643"/>
            <a:chOff x="3923" y="2337"/>
            <a:chExt cx="1542" cy="1622"/>
          </a:xfrm>
        </p:grpSpPr>
        <p:sp>
          <p:nvSpPr>
            <p:cNvPr id="22543" name="Line 231"/>
            <p:cNvSpPr>
              <a:spLocks noChangeShapeType="1"/>
            </p:cNvSpPr>
            <p:nvPr/>
          </p:nvSpPr>
          <p:spPr bwMode="auto">
            <a:xfrm flipV="1">
              <a:off x="4558" y="2382"/>
              <a:ext cx="0" cy="90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2544" name="Line 232"/>
            <p:cNvSpPr>
              <a:spLocks noChangeShapeType="1"/>
            </p:cNvSpPr>
            <p:nvPr/>
          </p:nvSpPr>
          <p:spPr bwMode="auto">
            <a:xfrm flipH="1">
              <a:off x="4059" y="3289"/>
              <a:ext cx="499" cy="363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2545" name="Line 233"/>
            <p:cNvSpPr>
              <a:spLocks noChangeShapeType="1"/>
            </p:cNvSpPr>
            <p:nvPr/>
          </p:nvSpPr>
          <p:spPr bwMode="auto">
            <a:xfrm rot="5400000" flipV="1">
              <a:off x="4932" y="2915"/>
              <a:ext cx="0" cy="74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2546" name="Line 234"/>
            <p:cNvSpPr>
              <a:spLocks noChangeShapeType="1"/>
            </p:cNvSpPr>
            <p:nvPr/>
          </p:nvSpPr>
          <p:spPr bwMode="auto">
            <a:xfrm flipH="1" flipV="1">
              <a:off x="4558" y="2609"/>
              <a:ext cx="272" cy="84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22547" name="Object 235"/>
            <p:cNvGraphicFramePr>
              <a:graphicFrameLocks noChangeAspect="1"/>
            </p:cNvGraphicFramePr>
            <p:nvPr/>
          </p:nvGraphicFramePr>
          <p:xfrm>
            <a:off x="4719" y="3432"/>
            <a:ext cx="338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342900" imgH="279400" progId="Equation.DSMT4">
                    <p:embed/>
                  </p:oleObj>
                </mc:Choice>
                <mc:Fallback>
                  <p:oleObj name="Equation" r:id="rId14" imgW="342900" imgH="279400" progId="Equation.DSMT4">
                    <p:embed/>
                    <p:pic>
                      <p:nvPicPr>
                        <p:cNvPr id="0" name="图片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9" y="3432"/>
                          <a:ext cx="338" cy="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8" name="Object 236"/>
            <p:cNvGraphicFramePr>
              <a:graphicFrameLocks noChangeAspect="1"/>
            </p:cNvGraphicFramePr>
            <p:nvPr/>
          </p:nvGraphicFramePr>
          <p:xfrm>
            <a:off x="5288" y="3244"/>
            <a:ext cx="177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77800" imgH="203200" progId="Equation.DSMT4">
                    <p:embed/>
                  </p:oleObj>
                </mc:Choice>
                <mc:Fallback>
                  <p:oleObj name="Equation" r:id="rId16" imgW="177800" imgH="203200" progId="Equation.DSMT4">
                    <p:embed/>
                    <p:pic>
                      <p:nvPicPr>
                        <p:cNvPr id="0" name="图片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8" y="3244"/>
                          <a:ext cx="177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9" name="Object 237"/>
            <p:cNvGraphicFramePr>
              <a:graphicFrameLocks noChangeAspect="1"/>
            </p:cNvGraphicFramePr>
            <p:nvPr/>
          </p:nvGraphicFramePr>
          <p:xfrm>
            <a:off x="3923" y="3607"/>
            <a:ext cx="161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52400" imgH="177800" progId="Equation.DSMT4">
                    <p:embed/>
                  </p:oleObj>
                </mc:Choice>
                <mc:Fallback>
                  <p:oleObj name="Equation" r:id="rId18" imgW="152400" imgH="177800" progId="Equation.DSMT4">
                    <p:embed/>
                    <p:pic>
                      <p:nvPicPr>
                        <p:cNvPr id="0" name="图片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3" y="3607"/>
                          <a:ext cx="161" cy="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50" name="Object 238"/>
            <p:cNvGraphicFramePr>
              <a:graphicFrameLocks noChangeAspect="1"/>
            </p:cNvGraphicFramePr>
            <p:nvPr/>
          </p:nvGraphicFramePr>
          <p:xfrm>
            <a:off x="4558" y="2337"/>
            <a:ext cx="227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52400" imgH="152400" progId="Equation.DSMT4">
                    <p:embed/>
                  </p:oleObj>
                </mc:Choice>
                <mc:Fallback>
                  <p:oleObj name="Equation" r:id="rId20" imgW="152400" imgH="152400" progId="Equation.DSMT4">
                    <p:embed/>
                    <p:pic>
                      <p:nvPicPr>
                        <p:cNvPr id="0" name="图片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8" y="2337"/>
                          <a:ext cx="227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51" name="Object 239"/>
            <p:cNvGraphicFramePr>
              <a:graphicFrameLocks noChangeAspect="1"/>
            </p:cNvGraphicFramePr>
            <p:nvPr/>
          </p:nvGraphicFramePr>
          <p:xfrm>
            <a:off x="4377" y="3220"/>
            <a:ext cx="161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52400" imgH="177800" progId="Equation.DSMT4">
                    <p:embed/>
                  </p:oleObj>
                </mc:Choice>
                <mc:Fallback>
                  <p:oleObj name="Equation" r:id="rId22" imgW="152400" imgH="177800" progId="Equation.DSMT4">
                    <p:embed/>
                    <p:pic>
                      <p:nvPicPr>
                        <p:cNvPr id="0" name="图片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7" y="3220"/>
                          <a:ext cx="161" cy="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52" name="Object 240"/>
            <p:cNvGraphicFramePr>
              <a:graphicFrameLocks noChangeAspect="1"/>
            </p:cNvGraphicFramePr>
            <p:nvPr/>
          </p:nvGraphicFramePr>
          <p:xfrm>
            <a:off x="4332" y="2523"/>
            <a:ext cx="226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90500" imgH="203200" progId="Equation.DSMT4">
                    <p:embed/>
                  </p:oleObj>
                </mc:Choice>
                <mc:Fallback>
                  <p:oleObj name="Equation" r:id="rId24" imgW="190500" imgH="203200" progId="Equation.DSMT4">
                    <p:embed/>
                    <p:pic>
                      <p:nvPicPr>
                        <p:cNvPr id="0" name="图片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2" y="2523"/>
                          <a:ext cx="226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53" name="Line 241"/>
            <p:cNvSpPr>
              <a:spLocks noChangeShapeType="1"/>
            </p:cNvSpPr>
            <p:nvPr/>
          </p:nvSpPr>
          <p:spPr bwMode="auto">
            <a:xfrm flipH="1" flipV="1">
              <a:off x="4195" y="3158"/>
              <a:ext cx="363" cy="1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22554" name="Object 242"/>
            <p:cNvGraphicFramePr>
              <a:graphicFrameLocks noChangeAspect="1"/>
            </p:cNvGraphicFramePr>
            <p:nvPr/>
          </p:nvGraphicFramePr>
          <p:xfrm>
            <a:off x="4332" y="3067"/>
            <a:ext cx="161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52400" imgH="177800" progId="Equation.DSMT4">
                    <p:embed/>
                  </p:oleObj>
                </mc:Choice>
                <mc:Fallback>
                  <p:oleObj name="Equation" r:id="rId26" imgW="152400" imgH="177800" progId="Equation.DSMT4">
                    <p:embed/>
                    <p:pic>
                      <p:nvPicPr>
                        <p:cNvPr id="0" name="图片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2" y="3067"/>
                          <a:ext cx="161" cy="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55" name="Oval 243"/>
            <p:cNvSpPr>
              <a:spLocks noChangeArrowheads="1"/>
            </p:cNvSpPr>
            <p:nvPr/>
          </p:nvSpPr>
          <p:spPr bwMode="auto">
            <a:xfrm>
              <a:off x="4123" y="3125"/>
              <a:ext cx="870" cy="328"/>
            </a:xfrm>
            <a:prstGeom prst="ellipse">
              <a:avLst/>
            </a:prstGeom>
            <a:noFill/>
            <a:ln w="349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  <a:buClrTx/>
                <a:buSzTx/>
                <a:buFontTx/>
                <a:buNone/>
              </a:pPr>
              <a:endParaRPr lang="zh-CN" altLang="zh-CN" sz="2000">
                <a:solidFill>
                  <a:schemeClr val="bg1"/>
                </a:solidFill>
                <a:ea typeface="楷体_GB2312" pitchFamily="49" charset="-122"/>
              </a:endParaRPr>
            </a:p>
          </p:txBody>
        </p:sp>
        <p:sp>
          <p:nvSpPr>
            <p:cNvPr id="22556" name="Oval 244"/>
            <p:cNvSpPr>
              <a:spLocks noChangeArrowheads="1"/>
            </p:cNvSpPr>
            <p:nvPr/>
          </p:nvSpPr>
          <p:spPr bwMode="auto">
            <a:xfrm>
              <a:off x="4508" y="2569"/>
              <a:ext cx="136" cy="10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  <a:buClrTx/>
                <a:buSzTx/>
                <a:buFontTx/>
                <a:buNone/>
              </a:pPr>
              <a:endParaRPr lang="zh-CN" altLang="zh-CN" sz="2000">
                <a:solidFill>
                  <a:schemeClr val="bg1"/>
                </a:solidFill>
                <a:ea typeface="楷体_GB2312" pitchFamily="49" charset="-122"/>
              </a:endParaRPr>
            </a:p>
          </p:txBody>
        </p:sp>
        <p:sp>
          <p:nvSpPr>
            <p:cNvPr id="22557" name="Rectangle 245"/>
            <p:cNvSpPr>
              <a:spLocks noChangeArrowheads="1"/>
            </p:cNvSpPr>
            <p:nvPr/>
          </p:nvSpPr>
          <p:spPr bwMode="auto">
            <a:xfrm>
              <a:off x="3923" y="3743"/>
              <a:ext cx="1452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ea typeface="楷体_GB2312" pitchFamily="49" charset="-122"/>
                </a:rPr>
                <a:t>Current carrying ring</a:t>
              </a:r>
            </a:p>
          </p:txBody>
        </p:sp>
        <p:sp>
          <p:nvSpPr>
            <p:cNvPr id="22558" name="Line 246"/>
            <p:cNvSpPr>
              <a:spLocks noChangeAspect="1" noChangeShapeType="1"/>
            </p:cNvSpPr>
            <p:nvPr/>
          </p:nvSpPr>
          <p:spPr bwMode="auto">
            <a:xfrm>
              <a:off x="4549" y="3286"/>
              <a:ext cx="281" cy="1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2559" name="Object 247"/>
            <p:cNvGraphicFramePr>
              <a:graphicFrameLocks noChangeAspect="1"/>
            </p:cNvGraphicFramePr>
            <p:nvPr/>
          </p:nvGraphicFramePr>
          <p:xfrm>
            <a:off x="4377" y="2788"/>
            <a:ext cx="154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127000" imgH="165100" progId="Equation.DSMT4">
                    <p:embed/>
                  </p:oleObj>
                </mc:Choice>
                <mc:Fallback>
                  <p:oleObj name="Equation" r:id="rId28" imgW="127000" imgH="165100" progId="Equation.DSMT4">
                    <p:embed/>
                    <p:pic>
                      <p:nvPicPr>
                        <p:cNvPr id="0" name="图片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7" y="2788"/>
                          <a:ext cx="154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60" name="Object 248"/>
            <p:cNvGraphicFramePr>
              <a:graphicFrameLocks noChangeAspect="1"/>
            </p:cNvGraphicFramePr>
            <p:nvPr/>
          </p:nvGraphicFramePr>
          <p:xfrm>
            <a:off x="4694" y="2750"/>
            <a:ext cx="18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152400" imgH="203200" progId="Equation.DSMT4">
                    <p:embed/>
                  </p:oleObj>
                </mc:Choice>
                <mc:Fallback>
                  <p:oleObj name="Equation" r:id="rId30" imgW="152400" imgH="203200" progId="Equation.DSMT4">
                    <p:embed/>
                    <p:pic>
                      <p:nvPicPr>
                        <p:cNvPr id="0" name="图片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4" y="2750"/>
                          <a:ext cx="180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61" name="Line 249"/>
            <p:cNvSpPr>
              <a:spLocks noChangeShapeType="1"/>
            </p:cNvSpPr>
            <p:nvPr/>
          </p:nvSpPr>
          <p:spPr bwMode="auto">
            <a:xfrm rot="607499" flipV="1">
              <a:off x="4748" y="3406"/>
              <a:ext cx="182" cy="11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2" name="Arc 250"/>
            <p:cNvSpPr/>
            <p:nvPr/>
          </p:nvSpPr>
          <p:spPr bwMode="auto">
            <a:xfrm rot="1527825" flipV="1">
              <a:off x="4513" y="3307"/>
              <a:ext cx="126" cy="54"/>
            </a:xfrm>
            <a:custGeom>
              <a:avLst/>
              <a:gdLst>
                <a:gd name="T0" fmla="*/ 0 w 21352"/>
                <a:gd name="T1" fmla="*/ 0 h 21600"/>
                <a:gd name="T2" fmla="*/ 1 w 21352"/>
                <a:gd name="T3" fmla="*/ 0 h 21600"/>
                <a:gd name="T4" fmla="*/ 0 w 21352"/>
                <a:gd name="T5" fmla="*/ 0 h 21600"/>
                <a:gd name="T6" fmla="*/ 0 60000 65536"/>
                <a:gd name="T7" fmla="*/ 0 60000 65536"/>
                <a:gd name="T8" fmla="*/ 0 60000 65536"/>
                <a:gd name="T9" fmla="*/ 0 w 21352"/>
                <a:gd name="T10" fmla="*/ 0 h 21600"/>
                <a:gd name="T11" fmla="*/ 21352 w 2135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352" h="21600" fill="none" extrusionOk="0">
                  <a:moveTo>
                    <a:pt x="-1" y="0"/>
                  </a:moveTo>
                  <a:cubicBezTo>
                    <a:pt x="10668" y="0"/>
                    <a:pt x="19738" y="7788"/>
                    <a:pt x="21351" y="18334"/>
                  </a:cubicBezTo>
                </a:path>
                <a:path w="21352" h="21600" stroke="0" extrusionOk="0">
                  <a:moveTo>
                    <a:pt x="-1" y="0"/>
                  </a:moveTo>
                  <a:cubicBezTo>
                    <a:pt x="10668" y="0"/>
                    <a:pt x="19738" y="7788"/>
                    <a:pt x="21351" y="18334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2563" name="Object 251"/>
            <p:cNvGraphicFramePr>
              <a:graphicFrameLocks noChangeAspect="1"/>
            </p:cNvGraphicFramePr>
            <p:nvPr/>
          </p:nvGraphicFramePr>
          <p:xfrm>
            <a:off x="4484" y="3339"/>
            <a:ext cx="210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203200" imgH="254000" progId="Equation.DSMT4">
                    <p:embed/>
                  </p:oleObj>
                </mc:Choice>
                <mc:Fallback>
                  <p:oleObj name="Equation" r:id="rId32" imgW="203200" imgH="254000" progId="Equation.DSMT4">
                    <p:embed/>
                    <p:pic>
                      <p:nvPicPr>
                        <p:cNvPr id="0" name="图片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84" y="3339"/>
                          <a:ext cx="210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64" name="Object 252"/>
            <p:cNvGraphicFramePr>
              <a:graphicFrameLocks noChangeAspect="1"/>
            </p:cNvGraphicFramePr>
            <p:nvPr/>
          </p:nvGraphicFramePr>
          <p:xfrm>
            <a:off x="4694" y="3203"/>
            <a:ext cx="180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152400" imgH="165100" progId="Equation.DSMT4">
                    <p:embed/>
                  </p:oleObj>
                </mc:Choice>
                <mc:Fallback>
                  <p:oleObj name="Equation" r:id="rId34" imgW="152400" imgH="165100" progId="Equation.DSMT4">
                    <p:embed/>
                    <p:pic>
                      <p:nvPicPr>
                        <p:cNvPr id="0" name="图片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4" y="3203"/>
                          <a:ext cx="180" cy="2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87005" name="Object 253"/>
          <p:cNvGraphicFramePr>
            <a:graphicFrameLocks noChangeAspect="1"/>
          </p:cNvGraphicFramePr>
          <p:nvPr/>
        </p:nvGraphicFramePr>
        <p:xfrm>
          <a:off x="5462589" y="5157788"/>
          <a:ext cx="4649787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2565400" imgH="584200" progId="Equation.DSMT4">
                  <p:embed/>
                </p:oleObj>
              </mc:Choice>
              <mc:Fallback>
                <p:oleObj name="Equation" r:id="rId36" imgW="2565400" imgH="584200" progId="Equation.DSMT4">
                  <p:embed/>
                  <p:pic>
                    <p:nvPicPr>
                      <p:cNvPr id="0" name="图片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2589" y="5157788"/>
                        <a:ext cx="4649787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7006" name="Rectangle 254"/>
          <p:cNvSpPr>
            <a:spLocks noChangeArrowheads="1"/>
          </p:cNvSpPr>
          <p:nvPr/>
        </p:nvSpPr>
        <p:spPr bwMode="auto">
          <a:xfrm>
            <a:off x="4872038" y="4581525"/>
            <a:ext cx="5795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5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So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：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Magnetic flux density at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P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( 0, 0, 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z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) is</a:t>
            </a:r>
          </a:p>
        </p:txBody>
      </p:sp>
      <p:sp>
        <p:nvSpPr>
          <p:cNvPr id="587008" name="Rectangle 256"/>
          <p:cNvSpPr>
            <a:spLocks noChangeArrowheads="1"/>
          </p:cNvSpPr>
          <p:nvPr/>
        </p:nvSpPr>
        <p:spPr bwMode="auto">
          <a:xfrm>
            <a:off x="1703388" y="2349500"/>
            <a:ext cx="989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500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     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so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86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8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8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86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86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86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87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586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86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586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587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587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6980" grpId="0"/>
      <p:bldP spid="587006" grpId="0"/>
      <p:bldP spid="58700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7850" name="Object 74"/>
          <p:cNvGraphicFramePr>
            <a:graphicFrameLocks noChangeAspect="1"/>
          </p:cNvGraphicFramePr>
          <p:nvPr/>
        </p:nvGraphicFramePr>
        <p:xfrm>
          <a:off x="7391401" y="4365626"/>
          <a:ext cx="1852613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3000" imgH="508000" progId="Equation.DSMT4">
                  <p:embed/>
                </p:oleObj>
              </mc:Choice>
              <mc:Fallback>
                <p:oleObj name="Equation" r:id="rId2" imgW="1143000" imgH="5080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1" y="4365626"/>
                        <a:ext cx="1852613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7848" name="Object 72"/>
          <p:cNvGraphicFramePr>
            <a:graphicFrameLocks noChangeAspect="1"/>
          </p:cNvGraphicFramePr>
          <p:nvPr/>
        </p:nvGraphicFramePr>
        <p:xfrm>
          <a:off x="6383338" y="5516564"/>
          <a:ext cx="1757362" cy="90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66800" imgH="546100" progId="Equation.DSMT4">
                  <p:embed/>
                </p:oleObj>
              </mc:Choice>
              <mc:Fallback>
                <p:oleObj name="Equation" r:id="rId4" imgW="1066800" imgH="5461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338" y="5516564"/>
                        <a:ext cx="1757362" cy="903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61" name="Rectangle 78"/>
          <p:cNvSpPr>
            <a:spLocks noChangeArrowheads="1"/>
          </p:cNvSpPr>
          <p:nvPr/>
        </p:nvSpPr>
        <p:spPr bwMode="auto">
          <a:xfrm>
            <a:off x="4872039" y="2349500"/>
            <a:ext cx="3240087" cy="72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800000"/>
                </a:solidFill>
                <a:ea typeface="楷体_GB2312" pitchFamily="49" charset="-122"/>
              </a:rPr>
              <a:t>Discussion</a:t>
            </a:r>
          </a:p>
        </p:txBody>
      </p:sp>
      <p:sp>
        <p:nvSpPr>
          <p:cNvPr id="587852" name="Rectangle 76"/>
          <p:cNvSpPr>
            <a:spLocks noChangeArrowheads="1"/>
          </p:cNvSpPr>
          <p:nvPr/>
        </p:nvSpPr>
        <p:spPr bwMode="auto">
          <a:xfrm>
            <a:off x="2020889" y="5132388"/>
            <a:ext cx="7388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What about the far field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？（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When z &gt;&gt; a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）</a:t>
            </a:r>
          </a:p>
        </p:txBody>
      </p:sp>
      <p:graphicFrame>
        <p:nvGraphicFramePr>
          <p:cNvPr id="587849" name="Object 73"/>
          <p:cNvGraphicFramePr>
            <a:graphicFrameLocks noChangeAspect="1"/>
          </p:cNvGraphicFramePr>
          <p:nvPr/>
        </p:nvGraphicFramePr>
        <p:xfrm>
          <a:off x="2927350" y="5688014"/>
          <a:ext cx="23749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08100" imgH="292100" progId="Equation.DSMT4">
                  <p:embed/>
                </p:oleObj>
              </mc:Choice>
              <mc:Fallback>
                <p:oleObj name="Equation" r:id="rId6" imgW="1308100" imgH="2921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0" y="5688014"/>
                        <a:ext cx="2374900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7860" name="Object 84"/>
          <p:cNvGraphicFramePr>
            <a:graphicFrameLocks noChangeAspect="1"/>
          </p:cNvGraphicFramePr>
          <p:nvPr/>
        </p:nvGraphicFramePr>
        <p:xfrm>
          <a:off x="2706689" y="1196975"/>
          <a:ext cx="6994525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87800" imgH="584200" progId="Equation.DSMT4">
                  <p:embed/>
                </p:oleObj>
              </mc:Choice>
              <mc:Fallback>
                <p:oleObj name="Equation" r:id="rId8" imgW="3987800" imgH="5842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6689" y="1196975"/>
                        <a:ext cx="6994525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89"/>
          <p:cNvGrpSpPr/>
          <p:nvPr/>
        </p:nvGrpSpPr>
        <p:grpSpPr bwMode="auto">
          <a:xfrm>
            <a:off x="1847850" y="476250"/>
            <a:ext cx="7416800" cy="617538"/>
            <a:chOff x="204" y="300"/>
            <a:chExt cx="4672" cy="389"/>
          </a:xfrm>
        </p:grpSpPr>
        <p:graphicFrame>
          <p:nvGraphicFramePr>
            <p:cNvPr id="23566" name="Object 83"/>
            <p:cNvGraphicFramePr>
              <a:graphicFrameLocks noChangeAspect="1"/>
            </p:cNvGraphicFramePr>
            <p:nvPr/>
          </p:nvGraphicFramePr>
          <p:xfrm>
            <a:off x="718" y="300"/>
            <a:ext cx="2862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251200" imgH="431800" progId="Equation.DSMT4">
                    <p:embed/>
                  </p:oleObj>
                </mc:Choice>
                <mc:Fallback>
                  <p:oleObj name="Equation" r:id="rId10" imgW="3251200" imgH="431800" progId="Equation.DSMT4">
                    <p:embed/>
                    <p:pic>
                      <p:nvPicPr>
                        <p:cNvPr id="0" name="图片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8" y="300"/>
                          <a:ext cx="2862" cy="3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67" name="Rectangle 85"/>
            <p:cNvSpPr>
              <a:spLocks noChangeArrowheads="1"/>
            </p:cNvSpPr>
            <p:nvPr/>
          </p:nvSpPr>
          <p:spPr bwMode="auto">
            <a:xfrm>
              <a:off x="204" y="346"/>
              <a:ext cx="4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for                                                               </a:t>
              </a:r>
              <a:r>
                <a: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so</a:t>
              </a:r>
            </a:p>
          </p:txBody>
        </p:sp>
      </p:grpSp>
      <p:sp>
        <p:nvSpPr>
          <p:cNvPr id="96268" name="Rectangle 91"/>
          <p:cNvSpPr>
            <a:spLocks noChangeArrowheads="1"/>
          </p:cNvSpPr>
          <p:nvPr/>
        </p:nvSpPr>
        <p:spPr bwMode="auto">
          <a:xfrm>
            <a:off x="1992313" y="3284538"/>
            <a:ext cx="8496300" cy="572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 Why the magnetic field at P only has Z component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？</a:t>
            </a:r>
          </a:p>
        </p:txBody>
      </p:sp>
      <p:sp>
        <p:nvSpPr>
          <p:cNvPr id="96269" name="Line 92"/>
          <p:cNvSpPr>
            <a:spLocks noChangeShapeType="1"/>
          </p:cNvSpPr>
          <p:nvPr/>
        </p:nvSpPr>
        <p:spPr bwMode="auto">
          <a:xfrm>
            <a:off x="1524000" y="2349500"/>
            <a:ext cx="9144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6270" name="Line 93"/>
          <p:cNvSpPr>
            <a:spLocks noChangeShapeType="1"/>
          </p:cNvSpPr>
          <p:nvPr/>
        </p:nvSpPr>
        <p:spPr bwMode="auto">
          <a:xfrm>
            <a:off x="1560513" y="3213100"/>
            <a:ext cx="9144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6271" name="Rectangle 94"/>
          <p:cNvSpPr>
            <a:spLocks noChangeArrowheads="1"/>
          </p:cNvSpPr>
          <p:nvPr/>
        </p:nvSpPr>
        <p:spPr bwMode="auto">
          <a:xfrm>
            <a:off x="2566988" y="4508500"/>
            <a:ext cx="48244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500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At the center of the ring </a:t>
            </a:r>
            <a:r>
              <a:rPr lang="zh-CN" altLang="en-US" sz="24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4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as </a:t>
            </a:r>
            <a:r>
              <a:rPr lang="en-US" altLang="zh-CN" sz="2400" i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z </a:t>
            </a:r>
            <a:r>
              <a:rPr lang="en-US" altLang="zh-CN" sz="24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= 0</a:t>
            </a:r>
            <a:r>
              <a:rPr lang="zh-CN" altLang="en-US" sz="24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</a:p>
        </p:txBody>
      </p:sp>
      <p:sp>
        <p:nvSpPr>
          <p:cNvPr id="587872" name="Rectangle 96"/>
          <p:cNvSpPr>
            <a:spLocks noChangeArrowheads="1"/>
          </p:cNvSpPr>
          <p:nvPr/>
        </p:nvSpPr>
        <p:spPr bwMode="auto">
          <a:xfrm>
            <a:off x="1992313" y="3860800"/>
            <a:ext cx="7531100" cy="572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Where is the maximum magnetic flux density 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87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6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6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6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6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87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96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87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87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587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587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1" grpId="0"/>
      <p:bldP spid="587852" grpId="0"/>
      <p:bldP spid="96268" grpId="0"/>
      <p:bldP spid="96269" grpId="0" animBg="1"/>
      <p:bldP spid="96270" grpId="0" animBg="1"/>
      <p:bldP spid="96271" grpId="0"/>
      <p:bldP spid="58787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836" name="Rectangle 20"/>
          <p:cNvSpPr>
            <a:spLocks noChangeArrowheads="1"/>
          </p:cNvSpPr>
          <p:nvPr/>
        </p:nvSpPr>
        <p:spPr bwMode="auto">
          <a:xfrm>
            <a:off x="1992313" y="260351"/>
            <a:ext cx="82296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ts val="2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solidFill>
                  <a:srgbClr val="0000CC"/>
                </a:solidFill>
                <a:ea typeface="幼圆" panose="02010509060101010101" pitchFamily="49" charset="-122"/>
              </a:rPr>
              <a:t>Laws</a:t>
            </a:r>
            <a:r>
              <a:rPr lang="en-US" altLang="zh-CN" sz="2400" b="1" dirty="0">
                <a:solidFill>
                  <a:srgbClr val="0000CC"/>
                </a:solidFill>
                <a:ea typeface="楷体_GB2312" pitchFamily="49" charset="-122"/>
              </a:rPr>
              <a:t> and methods </a:t>
            </a:r>
            <a:r>
              <a:rPr lang="en-US" altLang="en-US" sz="2400" b="1" dirty="0">
                <a:solidFill>
                  <a:srgbClr val="0000CC"/>
                </a:solidFill>
                <a:ea typeface="幼圆" panose="02010509060101010101" pitchFamily="49" charset="-122"/>
              </a:rPr>
              <a:t>of </a:t>
            </a:r>
            <a:r>
              <a:rPr lang="en-US" altLang="zh-CN" sz="2400" b="1" dirty="0">
                <a:solidFill>
                  <a:srgbClr val="0000CC"/>
                </a:solidFill>
                <a:ea typeface="幼圆" panose="02010509060101010101" pitchFamily="49" charset="-122"/>
              </a:rPr>
              <a:t>steady magnetic field to the methods of analyzing problems</a:t>
            </a:r>
            <a:r>
              <a:rPr lang="en-US" altLang="zh-CN" sz="2400" b="1" dirty="0">
                <a:solidFill>
                  <a:srgbClr val="000000"/>
                </a:solidFill>
                <a:ea typeface="幼圆" panose="02010509060101010101" pitchFamily="49" charset="-122"/>
              </a:rPr>
              <a:t> </a:t>
            </a:r>
          </a:p>
        </p:txBody>
      </p:sp>
      <p:sp>
        <p:nvSpPr>
          <p:cNvPr id="674819" name="Rectangle 3"/>
          <p:cNvSpPr>
            <a:spLocks noChangeArrowheads="1"/>
          </p:cNvSpPr>
          <p:nvPr/>
        </p:nvSpPr>
        <p:spPr bwMode="auto">
          <a:xfrm>
            <a:off x="1919289" y="1412875"/>
            <a:ext cx="3887787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Current sources</a:t>
            </a:r>
          </a:p>
        </p:txBody>
      </p:sp>
      <p:sp>
        <p:nvSpPr>
          <p:cNvPr id="674820" name="Rectangle 4"/>
          <p:cNvSpPr>
            <a:spLocks noChangeArrowheads="1"/>
          </p:cNvSpPr>
          <p:nvPr/>
        </p:nvSpPr>
        <p:spPr bwMode="auto">
          <a:xfrm>
            <a:off x="3359150" y="765175"/>
            <a:ext cx="1728788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Laws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4821" name="Rectangle 5"/>
          <p:cNvSpPr>
            <a:spLocks noChangeArrowheads="1"/>
          </p:cNvSpPr>
          <p:nvPr/>
        </p:nvSpPr>
        <p:spPr bwMode="auto">
          <a:xfrm>
            <a:off x="5808662" y="1341438"/>
            <a:ext cx="5662901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Known current distribution, solve the distribution of magnetic field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Superposition principle</a:t>
            </a:r>
          </a:p>
        </p:txBody>
      </p:sp>
      <p:sp>
        <p:nvSpPr>
          <p:cNvPr id="674822" name="Rectangle 6"/>
          <p:cNvSpPr>
            <a:spLocks noChangeArrowheads="1"/>
          </p:cNvSpPr>
          <p:nvPr/>
        </p:nvSpPr>
        <p:spPr bwMode="auto">
          <a:xfrm>
            <a:off x="7319964" y="765175"/>
            <a:ext cx="1728787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Methods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4823" name="Rectangle 7"/>
          <p:cNvSpPr>
            <a:spLocks noChangeArrowheads="1"/>
          </p:cNvSpPr>
          <p:nvPr/>
        </p:nvSpPr>
        <p:spPr bwMode="auto">
          <a:xfrm>
            <a:off x="1847850" y="2781300"/>
            <a:ext cx="3887788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Vortex source of the magnetic field</a:t>
            </a:r>
          </a:p>
        </p:txBody>
      </p:sp>
      <p:sp>
        <p:nvSpPr>
          <p:cNvPr id="674824" name="Rectangle 8"/>
          <p:cNvSpPr>
            <a:spLocks noChangeArrowheads="1"/>
          </p:cNvSpPr>
          <p:nvPr/>
        </p:nvSpPr>
        <p:spPr bwMode="auto">
          <a:xfrm>
            <a:off x="6061076" y="2701348"/>
            <a:ext cx="5410487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Known the distribution of magnetic field</a:t>
            </a:r>
          </a:p>
          <a:p>
            <a:pPr algn="ctr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Conduct differential operation</a:t>
            </a:r>
          </a:p>
        </p:txBody>
      </p:sp>
      <p:sp>
        <p:nvSpPr>
          <p:cNvPr id="674826" name="Rectangle 10"/>
          <p:cNvSpPr>
            <a:spLocks noChangeArrowheads="1"/>
          </p:cNvSpPr>
          <p:nvPr/>
        </p:nvSpPr>
        <p:spPr bwMode="auto">
          <a:xfrm>
            <a:off x="5880100" y="3629748"/>
            <a:ext cx="5173661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Known current distribution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        Solving differential equations</a:t>
            </a:r>
          </a:p>
        </p:txBody>
      </p:sp>
      <p:sp>
        <p:nvSpPr>
          <p:cNvPr id="674829" name="Rectangle 13"/>
          <p:cNvSpPr>
            <a:spLocks noChangeArrowheads="1"/>
          </p:cNvSpPr>
          <p:nvPr/>
        </p:nvSpPr>
        <p:spPr bwMode="auto">
          <a:xfrm>
            <a:off x="1847850" y="4365625"/>
            <a:ext cx="3887788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The circulation of the magnetic field is proportional to the current</a:t>
            </a:r>
          </a:p>
        </p:txBody>
      </p:sp>
      <p:sp>
        <p:nvSpPr>
          <p:cNvPr id="674830" name="Rectangle 14"/>
          <p:cNvSpPr>
            <a:spLocks noChangeArrowheads="1"/>
          </p:cNvSpPr>
          <p:nvPr/>
        </p:nvSpPr>
        <p:spPr bwMode="auto">
          <a:xfrm>
            <a:off x="5951537" y="4508501"/>
            <a:ext cx="5520025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Known magnetic field distribution, solve its circulation </a:t>
            </a:r>
          </a:p>
          <a:p>
            <a:pPr algn="ctr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sz="20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Solving integral equations</a:t>
            </a:r>
          </a:p>
        </p:txBody>
      </p:sp>
      <p:sp>
        <p:nvSpPr>
          <p:cNvPr id="674831" name="Rectangle 15"/>
          <p:cNvSpPr>
            <a:spLocks noChangeArrowheads="1"/>
          </p:cNvSpPr>
          <p:nvPr/>
        </p:nvSpPr>
        <p:spPr bwMode="auto">
          <a:xfrm>
            <a:off x="5860471" y="5720630"/>
            <a:ext cx="5846619" cy="963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Known current, solve its magnetic field</a:t>
            </a:r>
          </a:p>
          <a:p>
            <a:pPr algn="ctr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 Solving integral equations</a:t>
            </a:r>
          </a:p>
        </p:txBody>
      </p:sp>
      <p:sp>
        <p:nvSpPr>
          <p:cNvPr id="674832" name="Line 16"/>
          <p:cNvSpPr>
            <a:spLocks noChangeShapeType="1"/>
          </p:cNvSpPr>
          <p:nvPr/>
        </p:nvSpPr>
        <p:spPr bwMode="auto">
          <a:xfrm>
            <a:off x="1774825" y="1341438"/>
            <a:ext cx="864235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5614" name="Line 17"/>
          <p:cNvSpPr>
            <a:spLocks noChangeShapeType="1"/>
          </p:cNvSpPr>
          <p:nvPr/>
        </p:nvSpPr>
        <p:spPr bwMode="auto">
          <a:xfrm>
            <a:off x="5880100" y="1054100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74834" name="Line 18"/>
          <p:cNvSpPr>
            <a:spLocks noChangeShapeType="1"/>
          </p:cNvSpPr>
          <p:nvPr/>
        </p:nvSpPr>
        <p:spPr bwMode="auto">
          <a:xfrm>
            <a:off x="1774825" y="908050"/>
            <a:ext cx="864235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74835" name="Line 19"/>
          <p:cNvSpPr>
            <a:spLocks noChangeShapeType="1"/>
          </p:cNvSpPr>
          <p:nvPr/>
        </p:nvSpPr>
        <p:spPr bwMode="auto">
          <a:xfrm>
            <a:off x="5880100" y="1341439"/>
            <a:ext cx="0" cy="5183187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674841" name="Object 25"/>
          <p:cNvGraphicFramePr>
            <a:graphicFrameLocks noChangeAspect="1"/>
          </p:cNvGraphicFramePr>
          <p:nvPr/>
        </p:nvGraphicFramePr>
        <p:xfrm>
          <a:off x="2566989" y="1844675"/>
          <a:ext cx="229393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11300" imgH="596900" progId="Equation.DSMT4">
                  <p:embed/>
                </p:oleObj>
              </mc:Choice>
              <mc:Fallback>
                <p:oleObj name="Equation" r:id="rId2" imgW="1511300" imgH="5969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9" y="1844675"/>
                        <a:ext cx="2293937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4844" name="Object 28"/>
          <p:cNvGraphicFramePr>
            <a:graphicFrameLocks noChangeAspect="1"/>
          </p:cNvGraphicFramePr>
          <p:nvPr/>
        </p:nvGraphicFramePr>
        <p:xfrm>
          <a:off x="2782889" y="3284538"/>
          <a:ext cx="2376487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11300" imgH="330200" progId="Equation.DSMT4">
                  <p:embed/>
                </p:oleObj>
              </mc:Choice>
              <mc:Fallback>
                <p:oleObj name="Equation" r:id="rId4" imgW="1511300" imgH="3302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9" y="3284538"/>
                        <a:ext cx="2376487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4845" name="Object 29"/>
          <p:cNvGraphicFramePr>
            <a:graphicFrameLocks noChangeAspect="1"/>
          </p:cNvGraphicFramePr>
          <p:nvPr/>
        </p:nvGraphicFramePr>
        <p:xfrm>
          <a:off x="2927351" y="5445125"/>
          <a:ext cx="2036763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98600" imgH="406400" progId="Equation.DSMT4">
                  <p:embed/>
                </p:oleObj>
              </mc:Choice>
              <mc:Fallback>
                <p:oleObj name="Equation" r:id="rId6" imgW="1498600" imgH="4064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1" y="5445125"/>
                        <a:ext cx="2036763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4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74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74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7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7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7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74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7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674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674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674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674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67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67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674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674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674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4836" grpId="0"/>
      <p:bldP spid="674819" grpId="0"/>
      <p:bldP spid="674820" grpId="0"/>
      <p:bldP spid="674821" grpId="0"/>
      <p:bldP spid="674822" grpId="0"/>
      <p:bldP spid="674823" grpId="0"/>
      <p:bldP spid="674824" grpId="0"/>
      <p:bldP spid="674826" grpId="0"/>
      <p:bldP spid="674829" grpId="0"/>
      <p:bldP spid="674830" grpId="0"/>
      <p:bldP spid="674831" grpId="0"/>
      <p:bldP spid="674832" grpId="0" animBg="1"/>
      <p:bldP spid="674834" grpId="0" animBg="1"/>
      <p:bldP spid="67483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083" name="Text Box 3"/>
          <p:cNvSpPr txBox="1">
            <a:spLocks noChangeArrowheads="1"/>
          </p:cNvSpPr>
          <p:nvPr/>
        </p:nvSpPr>
        <p:spPr bwMode="auto">
          <a:xfrm>
            <a:off x="1308986" y="3539789"/>
            <a:ext cx="68699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Solution</a:t>
            </a:r>
            <a:r>
              <a:rPr kumimoji="1"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Establish a best coordinate system</a:t>
            </a:r>
            <a:endParaRPr kumimoji="1" lang="en-US" altLang="zh-CN" sz="2400" b="1" dirty="0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9332" name="Text Box 5"/>
          <p:cNvSpPr txBox="1">
            <a:spLocks noChangeArrowheads="1"/>
          </p:cNvSpPr>
          <p:nvPr/>
        </p:nvSpPr>
        <p:spPr bwMode="auto">
          <a:xfrm>
            <a:off x="1504877" y="4906625"/>
            <a:ext cx="58705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Based on the symmetry, the loop integral is:</a:t>
            </a:r>
          </a:p>
        </p:txBody>
      </p:sp>
      <p:graphicFrame>
        <p:nvGraphicFramePr>
          <p:cNvPr id="558087" name="Object 7"/>
          <p:cNvGraphicFramePr>
            <a:graphicFrameLocks noChangeAspect="1"/>
          </p:cNvGraphicFramePr>
          <p:nvPr/>
        </p:nvGraphicFramePr>
        <p:xfrm>
          <a:off x="7104063" y="5142865"/>
          <a:ext cx="2563812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54200" imgH="1104900" progId="Equation.DSMT4">
                  <p:embed/>
                </p:oleObj>
              </mc:Choice>
              <mc:Fallback>
                <p:oleObj name="Equation" r:id="rId2" imgW="1854200" imgH="11049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4063" y="5142865"/>
                        <a:ext cx="2563812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8093" name="Text Box 13"/>
          <p:cNvSpPr txBox="1">
            <a:spLocks noChangeArrowheads="1"/>
          </p:cNvSpPr>
          <p:nvPr/>
        </p:nvSpPr>
        <p:spPr bwMode="auto">
          <a:xfrm>
            <a:off x="1308986" y="1151267"/>
            <a:ext cx="9862953" cy="1210945"/>
          </a:xfrm>
          <a:prstGeom prst="rect">
            <a:avLst/>
          </a:prstGeom>
          <a:solidFill>
            <a:srgbClr val="99CCFF"/>
          </a:solidFill>
          <a:ln w="9525">
            <a:solidFill>
              <a:srgbClr val="800080"/>
            </a:solidFill>
            <a:miter lim="800000"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rgbClr val="000000"/>
                </a:solidFill>
                <a:ea typeface="幼圆" panose="02010509060101010101" pitchFamily="49" charset="-122"/>
              </a:rPr>
              <a:t>Condition</a:t>
            </a:r>
            <a:r>
              <a:rPr kumimoji="1" lang="zh-CN" altLang="en-US" sz="1800" b="1" dirty="0">
                <a:solidFill>
                  <a:srgbClr val="000000"/>
                </a:solidFill>
                <a:ea typeface="幼圆" panose="02010509060101010101" pitchFamily="49" charset="-122"/>
              </a:rPr>
              <a:t>： 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Problem has symmetry, the integral equation can be transformed to algebraic equation </a:t>
            </a:r>
            <a:r>
              <a:rPr kumimoji="1"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！</a:t>
            </a:r>
          </a:p>
        </p:txBody>
      </p:sp>
      <p:sp>
        <p:nvSpPr>
          <p:cNvPr id="558094" name="Text Box 14"/>
          <p:cNvSpPr txBox="1">
            <a:spLocks noChangeArrowheads="1"/>
          </p:cNvSpPr>
          <p:nvPr/>
        </p:nvSpPr>
        <p:spPr bwMode="auto">
          <a:xfrm>
            <a:off x="1421071" y="98261"/>
            <a:ext cx="10419773" cy="1052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   A simple way to solve magnetic flux density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     --using </a:t>
            </a:r>
            <a:r>
              <a:rPr kumimoji="1" lang="en-US" altLang="zh-CN" sz="2400" b="1" dirty="0">
                <a:solidFill>
                  <a:srgbClr val="0000CC"/>
                </a:solidFill>
                <a:ea typeface="楷体_GB2312" pitchFamily="49" charset="-122"/>
              </a:rPr>
              <a:t>Ampere's </a:t>
            </a:r>
            <a:r>
              <a:rPr lang="en-US" altLang="ko-KR" sz="2400" b="1" dirty="0">
                <a:solidFill>
                  <a:srgbClr val="0000CC"/>
                </a:solidFill>
              </a:rPr>
              <a:t>circuital law</a:t>
            </a:r>
            <a:endParaRPr lang="en-US" altLang="zh-CN" sz="2400" b="1" dirty="0">
              <a:solidFill>
                <a:srgbClr val="0000CC"/>
              </a:solidFill>
            </a:endParaRPr>
          </a:p>
        </p:txBody>
      </p:sp>
      <p:grpSp>
        <p:nvGrpSpPr>
          <p:cNvPr id="3" name="Group 26"/>
          <p:cNvGrpSpPr/>
          <p:nvPr/>
        </p:nvGrpSpPr>
        <p:grpSpPr bwMode="auto">
          <a:xfrm>
            <a:off x="9534960" y="2428876"/>
            <a:ext cx="2214562" cy="2500313"/>
            <a:chOff x="3970" y="1549"/>
            <a:chExt cx="1632" cy="2471"/>
          </a:xfrm>
        </p:grpSpPr>
        <p:sp>
          <p:nvSpPr>
            <p:cNvPr id="26640" name="Rectangle 9"/>
            <p:cNvSpPr>
              <a:spLocks noChangeArrowheads="1"/>
            </p:cNvSpPr>
            <p:nvPr/>
          </p:nvSpPr>
          <p:spPr bwMode="auto">
            <a:xfrm>
              <a:off x="3970" y="1549"/>
              <a:ext cx="1632" cy="24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  <a:buClrTx/>
                <a:buSzTx/>
                <a:buFontTx/>
                <a:buNone/>
              </a:pPr>
              <a:endParaRPr lang="zh-CN" altLang="zh-CN" sz="2000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sp>
          <p:nvSpPr>
            <p:cNvPr id="26641" name="Rectangle 16"/>
            <p:cNvSpPr>
              <a:spLocks noChangeArrowheads="1"/>
            </p:cNvSpPr>
            <p:nvPr/>
          </p:nvSpPr>
          <p:spPr bwMode="auto">
            <a:xfrm>
              <a:off x="4647" y="2617"/>
              <a:ext cx="143" cy="40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3366FF"/>
              </a:solidFill>
              <a:miter lim="800000"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  <a:buClrTx/>
                <a:buSzTx/>
                <a:buFontTx/>
                <a:buNone/>
              </a:pPr>
              <a:endParaRPr lang="zh-CN" altLang="zh-CN" sz="2000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pic>
          <p:nvPicPr>
            <p:cNvPr id="26642" name="Picture 17" descr="3"/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lum bright="-6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15" y="1560"/>
              <a:ext cx="1476" cy="2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26643" name="Object 22"/>
            <p:cNvGraphicFramePr>
              <a:graphicFrameLocks noChangeAspect="1"/>
            </p:cNvGraphicFramePr>
            <p:nvPr/>
          </p:nvGraphicFramePr>
          <p:xfrm>
            <a:off x="4877" y="2138"/>
            <a:ext cx="177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90500" imgH="228600" progId="Equation.DSMT4">
                    <p:embed/>
                  </p:oleObj>
                </mc:Choice>
                <mc:Fallback>
                  <p:oleObj name="Equation" r:id="rId5" imgW="190500" imgH="228600" progId="Equation.DSMT4">
                    <p:embed/>
                    <p:pic>
                      <p:nvPicPr>
                        <p:cNvPr id="0" name="图片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7" y="2138"/>
                          <a:ext cx="177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27"/>
          <p:cNvGrpSpPr/>
          <p:nvPr/>
        </p:nvGrpSpPr>
        <p:grpSpPr bwMode="auto">
          <a:xfrm>
            <a:off x="407773" y="2432844"/>
            <a:ext cx="8672625" cy="973138"/>
            <a:chOff x="-46" y="1036"/>
            <a:chExt cx="6319" cy="613"/>
          </a:xfrm>
        </p:grpSpPr>
        <p:sp>
          <p:nvSpPr>
            <p:cNvPr id="26638" name="Text Box 2"/>
            <p:cNvSpPr txBox="1">
              <a:spLocks noChangeArrowheads="1"/>
            </p:cNvSpPr>
            <p:nvPr/>
          </p:nvSpPr>
          <p:spPr bwMode="auto">
            <a:xfrm>
              <a:off x="-46" y="1036"/>
              <a:ext cx="6319" cy="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 dirty="0">
                  <a:solidFill>
                    <a:srgbClr val="0000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    </a:t>
              </a:r>
              <a:r>
                <a:rPr kumimoji="1"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Example: </a:t>
              </a:r>
              <a:r>
                <a:rPr kumimoji="1"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When surface current density is                       ,find magnetic                                       </a:t>
              </a:r>
            </a:p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       flux intensity produced by infinite current sheet</a:t>
              </a:r>
              <a:r>
                <a:rPr kumimoji="1" lang="en-US" altLang="zh-CN" sz="1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.</a:t>
              </a:r>
            </a:p>
          </p:txBody>
        </p:sp>
        <p:graphicFrame>
          <p:nvGraphicFramePr>
            <p:cNvPr id="26639" name="Object 24"/>
            <p:cNvGraphicFramePr>
              <a:graphicFrameLocks noChangeAspect="1"/>
            </p:cNvGraphicFramePr>
            <p:nvPr/>
          </p:nvGraphicFramePr>
          <p:xfrm>
            <a:off x="4098" y="1069"/>
            <a:ext cx="856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863600" imgH="330200" progId="Equation.DSMT4">
                    <p:embed/>
                  </p:oleObj>
                </mc:Choice>
                <mc:Fallback>
                  <p:oleObj name="Equation" r:id="rId7" imgW="863600" imgH="330200" progId="Equation.DSMT4">
                    <p:embed/>
                    <p:pic>
                      <p:nvPicPr>
                        <p:cNvPr id="0" name="图片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98" y="1069"/>
                          <a:ext cx="856" cy="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58109" name="Object 29"/>
          <p:cNvGraphicFramePr>
            <a:graphicFrameLocks noChangeAspect="1"/>
          </p:cNvGraphicFramePr>
          <p:nvPr/>
        </p:nvGraphicFramePr>
        <p:xfrm>
          <a:off x="2297425" y="5509578"/>
          <a:ext cx="3660775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311400" imgH="406400" progId="Equation.DSMT4">
                  <p:embed/>
                </p:oleObj>
              </mc:Choice>
              <mc:Fallback>
                <p:oleObj name="Equation" r:id="rId9" imgW="2311400" imgH="406400" progId="Equation.DSMT4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7425" y="5509578"/>
                        <a:ext cx="3660775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8110" name="Text Box 30"/>
          <p:cNvSpPr txBox="1">
            <a:spLocks noChangeArrowheads="1"/>
          </p:cNvSpPr>
          <p:nvPr/>
        </p:nvSpPr>
        <p:spPr bwMode="auto">
          <a:xfrm>
            <a:off x="1602943" y="4206240"/>
            <a:ext cx="1152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so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： </a:t>
            </a:r>
          </a:p>
        </p:txBody>
      </p:sp>
      <p:graphicFrame>
        <p:nvGraphicFramePr>
          <p:cNvPr id="558112" name="Object 32"/>
          <p:cNvGraphicFramePr>
            <a:graphicFrameLocks noChangeAspect="1"/>
          </p:cNvGraphicFramePr>
          <p:nvPr/>
        </p:nvGraphicFramePr>
        <p:xfrm>
          <a:off x="2684030" y="4134804"/>
          <a:ext cx="1603375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03300" imgH="304800" progId="Equation.DSMT4">
                  <p:embed/>
                </p:oleObj>
              </mc:Choice>
              <mc:Fallback>
                <p:oleObj name="Equation" r:id="rId11" imgW="1003300" imgH="304800" progId="Equation.DSMT4">
                  <p:embed/>
                  <p:pic>
                    <p:nvPicPr>
                      <p:cNvPr id="0" name="图片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4030" y="4134804"/>
                        <a:ext cx="1603375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8115" name="Object 35"/>
          <p:cNvGraphicFramePr>
            <a:graphicFrameLocks noChangeAspect="1"/>
          </p:cNvGraphicFramePr>
          <p:nvPr/>
        </p:nvGraphicFramePr>
        <p:xfrm>
          <a:off x="3424188" y="6215446"/>
          <a:ext cx="1508030" cy="499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90600" imgH="292100" progId="Equation.DSMT4">
                  <p:embed/>
                </p:oleObj>
              </mc:Choice>
              <mc:Fallback>
                <p:oleObj name="Equation" r:id="rId13" imgW="990600" imgH="292100" progId="Equation.DSMT4">
                  <p:embed/>
                  <p:pic>
                    <p:nvPicPr>
                      <p:cNvPr id="0" name="图片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4188" y="6215446"/>
                        <a:ext cx="1508030" cy="4997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8618" name="AutoShape 42"/>
          <p:cNvSpPr>
            <a:spLocks noChangeArrowheads="1"/>
          </p:cNvSpPr>
          <p:nvPr/>
        </p:nvSpPr>
        <p:spPr bwMode="auto">
          <a:xfrm>
            <a:off x="6240463" y="5862003"/>
            <a:ext cx="576262" cy="215900"/>
          </a:xfrm>
          <a:prstGeom prst="rightArrow">
            <a:avLst>
              <a:gd name="adj1" fmla="val 50000"/>
              <a:gd name="adj2" fmla="val 66728"/>
            </a:avLst>
          </a:prstGeom>
          <a:solidFill>
            <a:srgbClr val="FFCC99"/>
          </a:solidFill>
          <a:ln w="22225">
            <a:solidFill>
              <a:srgbClr val="FF66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b="1">
              <a:solidFill>
                <a:srgbClr val="FF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58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58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58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58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58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99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58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58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558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048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8083" grpId="0"/>
      <p:bldP spid="99332" grpId="0"/>
      <p:bldP spid="558093" grpId="0" bldLvl="0" animBg="1"/>
      <p:bldP spid="558094" grpId="0"/>
      <p:bldP spid="558110" grpId="0"/>
      <p:bldP spid="1048618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130" name="Text Box 2"/>
          <p:cNvSpPr txBox="1">
            <a:spLocks noChangeArrowheads="1"/>
          </p:cNvSpPr>
          <p:nvPr/>
        </p:nvSpPr>
        <p:spPr bwMode="auto">
          <a:xfrm>
            <a:off x="1992313" y="1196976"/>
            <a:ext cx="13319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rgbClr val="FF33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Solution:</a:t>
            </a:r>
            <a:endParaRPr kumimoji="1" lang="en-US" altLang="zh-CN" sz="2000" b="1">
              <a:solidFill>
                <a:srgbClr val="FF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560131" name="Object 3"/>
          <p:cNvGraphicFramePr>
            <a:graphicFrameLocks noChangeAspect="1"/>
          </p:cNvGraphicFramePr>
          <p:nvPr/>
        </p:nvGraphicFramePr>
        <p:xfrm>
          <a:off x="6888163" y="1268414"/>
          <a:ext cx="2146300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93800" imgH="342900" progId="Equation.DSMT4">
                  <p:embed/>
                </p:oleObj>
              </mc:Choice>
              <mc:Fallback>
                <p:oleObj name="Equation" r:id="rId2" imgW="1193800" imgH="3429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163" y="1268414"/>
                        <a:ext cx="2146300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57" name="Text Box 4"/>
          <p:cNvSpPr txBox="1">
            <a:spLocks noChangeArrowheads="1"/>
          </p:cNvSpPr>
          <p:nvPr/>
        </p:nvSpPr>
        <p:spPr bwMode="auto">
          <a:xfrm>
            <a:off x="5808664" y="3429000"/>
            <a:ext cx="4537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Applying </a:t>
            </a:r>
            <a:r>
              <a: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rPr>
              <a:t>Ampere's </a:t>
            </a:r>
            <a:r>
              <a:rPr lang="en-US" altLang="ko-KR" sz="2400" b="1">
                <a:solidFill>
                  <a:srgbClr val="0000CC"/>
                </a:solidFill>
                <a:latin typeface="Times New Roman" panose="02020603050405020304" pitchFamily="18" charset="0"/>
              </a:rPr>
              <a:t>circuital law</a:t>
            </a:r>
            <a:endParaRPr lang="en-US" altLang="zh-CN" sz="2400" b="1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60133" name="Object 5"/>
          <p:cNvGraphicFramePr>
            <a:graphicFrameLocks noChangeAspect="1"/>
          </p:cNvGraphicFramePr>
          <p:nvPr/>
        </p:nvGraphicFramePr>
        <p:xfrm>
          <a:off x="6600826" y="4076701"/>
          <a:ext cx="2259013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22400" imgH="546100" progId="Equation.DSMT4">
                  <p:embed/>
                </p:oleObj>
              </mc:Choice>
              <mc:Fallback>
                <p:oleObj name="Equation" r:id="rId4" imgW="1422400" imgH="5461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0826" y="4076701"/>
                        <a:ext cx="2259013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0135" name="Text Box 7"/>
          <p:cNvSpPr txBox="1">
            <a:spLocks noChangeArrowheads="1"/>
          </p:cNvSpPr>
          <p:nvPr/>
        </p:nvSpPr>
        <p:spPr bwMode="auto">
          <a:xfrm>
            <a:off x="1992314" y="404814"/>
            <a:ext cx="79216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rgbClr val="FF3300"/>
                </a:solidFill>
                <a:ea typeface="幼圆" panose="02010509060101010101" pitchFamily="49" charset="-122"/>
              </a:rPr>
              <a:t>Ex.</a:t>
            </a:r>
            <a:r>
              <a:rPr kumimoji="1" lang="en-US" altLang="zh-CN" sz="2000" b="1">
                <a:solidFill>
                  <a:srgbClr val="000000"/>
                </a:solidFill>
                <a:ea typeface="幼圆" panose="02010509060101010101" pitchFamily="49" charset="-122"/>
              </a:rPr>
              <a:t>  Find the magnetic flux density of the infinite long current carrying coaxial cable.</a:t>
            </a:r>
            <a:endParaRPr kumimoji="1" lang="en-US" altLang="zh-CN" sz="2000" b="1">
              <a:solidFill>
                <a:srgbClr val="000000"/>
              </a:solidFill>
              <a:ea typeface="楷体_GB2312" pitchFamily="49" charset="-122"/>
            </a:endParaRPr>
          </a:p>
        </p:txBody>
      </p:sp>
      <p:graphicFrame>
        <p:nvGraphicFramePr>
          <p:cNvPr id="560136" name="Object 8"/>
          <p:cNvGraphicFramePr>
            <a:graphicFrameLocks noChangeAspect="1"/>
          </p:cNvGraphicFramePr>
          <p:nvPr/>
        </p:nvGraphicFramePr>
        <p:xfrm>
          <a:off x="2279650" y="1873251"/>
          <a:ext cx="168275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06500" imgH="254000" progId="Equation.DSMT4">
                  <p:embed/>
                </p:oleObj>
              </mc:Choice>
              <mc:Fallback>
                <p:oleObj name="Equation" r:id="rId6" imgW="1206500" imgH="2540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1873251"/>
                        <a:ext cx="1682750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0137" name="Object 9"/>
          <p:cNvGraphicFramePr>
            <a:graphicFrameLocks noChangeAspect="1"/>
          </p:cNvGraphicFramePr>
          <p:nvPr/>
        </p:nvGraphicFramePr>
        <p:xfrm>
          <a:off x="6888163" y="2205039"/>
          <a:ext cx="2881312" cy="83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27200" imgH="546100" progId="Equation.DSMT4">
                  <p:embed/>
                </p:oleObj>
              </mc:Choice>
              <mc:Fallback>
                <p:oleObj name="Equation" r:id="rId8" imgW="1727200" imgH="5461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163" y="2205039"/>
                        <a:ext cx="2881312" cy="839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54"/>
          <p:cNvGrpSpPr/>
          <p:nvPr/>
        </p:nvGrpSpPr>
        <p:grpSpPr bwMode="auto">
          <a:xfrm>
            <a:off x="2452688" y="2214563"/>
            <a:ext cx="4171950" cy="762000"/>
            <a:chOff x="612" y="1389"/>
            <a:chExt cx="3120" cy="480"/>
          </a:xfrm>
        </p:grpSpPr>
        <p:sp>
          <p:nvSpPr>
            <p:cNvPr id="27679" name="Text Box 10"/>
            <p:cNvSpPr txBox="1">
              <a:spLocks noChangeArrowheads="1"/>
            </p:cNvSpPr>
            <p:nvPr/>
          </p:nvSpPr>
          <p:spPr bwMode="auto">
            <a:xfrm>
              <a:off x="612" y="1389"/>
              <a:ext cx="3120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Choose ampere loop                 </a:t>
              </a:r>
              <a:r>
                <a:rPr kumimoji="1"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</a:t>
              </a:r>
              <a:r>
                <a:rPr kumimoji="1"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the current of the cross link </a:t>
              </a: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is</a:t>
              </a:r>
            </a:p>
          </p:txBody>
        </p:sp>
        <p:graphicFrame>
          <p:nvGraphicFramePr>
            <p:cNvPr id="27680" name="Object 11"/>
            <p:cNvGraphicFramePr>
              <a:graphicFrameLocks noChangeAspect="1"/>
            </p:cNvGraphicFramePr>
            <p:nvPr/>
          </p:nvGraphicFramePr>
          <p:xfrm>
            <a:off x="2428" y="1434"/>
            <a:ext cx="566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635000" imgH="254000" progId="Equation.DSMT4">
                    <p:embed/>
                  </p:oleObj>
                </mc:Choice>
                <mc:Fallback>
                  <p:oleObj name="Equation" r:id="rId10" imgW="635000" imgH="254000" progId="Equation.DSMT4">
                    <p:embed/>
                    <p:pic>
                      <p:nvPicPr>
                        <p:cNvPr id="0" name="图片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8" y="1434"/>
                          <a:ext cx="566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69"/>
          <p:cNvGrpSpPr/>
          <p:nvPr/>
        </p:nvGrpSpPr>
        <p:grpSpPr bwMode="auto">
          <a:xfrm>
            <a:off x="5808664" y="5300663"/>
            <a:ext cx="2592387" cy="876300"/>
            <a:chOff x="2699" y="3339"/>
            <a:chExt cx="1633" cy="552"/>
          </a:xfrm>
        </p:grpSpPr>
        <p:graphicFrame>
          <p:nvGraphicFramePr>
            <p:cNvPr id="27662" name="Object 6"/>
            <p:cNvGraphicFramePr>
              <a:graphicFrameLocks noChangeAspect="1"/>
            </p:cNvGraphicFramePr>
            <p:nvPr/>
          </p:nvGraphicFramePr>
          <p:xfrm>
            <a:off x="3198" y="3339"/>
            <a:ext cx="1134" cy="5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155700" imgH="508000" progId="Equation.DSMT4">
                    <p:embed/>
                  </p:oleObj>
                </mc:Choice>
                <mc:Fallback>
                  <p:oleObj name="Equation" r:id="rId12" imgW="1155700" imgH="508000" progId="Equation.DSMT4">
                    <p:embed/>
                    <p:pic>
                      <p:nvPicPr>
                        <p:cNvPr id="0" name="图片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8" y="3339"/>
                          <a:ext cx="1134" cy="5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63" name="AutoShape 68"/>
            <p:cNvSpPr>
              <a:spLocks noChangeArrowheads="1"/>
            </p:cNvSpPr>
            <p:nvPr/>
          </p:nvSpPr>
          <p:spPr bwMode="auto">
            <a:xfrm>
              <a:off x="2699" y="3339"/>
              <a:ext cx="185" cy="501"/>
            </a:xfrm>
            <a:prstGeom prst="rightArrow">
              <a:avLst>
                <a:gd name="adj1" fmla="val 50000"/>
                <a:gd name="adj2" fmla="val 75000"/>
              </a:avLst>
            </a:prstGeom>
            <a:solidFill>
              <a:srgbClr val="FFCC99"/>
            </a:solidFill>
            <a:ln w="22225">
              <a:solidFill>
                <a:srgbClr val="FF66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  <a:buClrTx/>
                <a:buSzTx/>
                <a:buFontTx/>
                <a:buNone/>
              </a:pPr>
              <a:endParaRPr lang="zh-CN" altLang="zh-CN" sz="2000">
                <a:solidFill>
                  <a:schemeClr val="bg1"/>
                </a:solidFill>
                <a:ea typeface="楷体_GB2312" pitchFamily="49" charset="-122"/>
              </a:endParaRPr>
            </a:p>
          </p:txBody>
        </p:sp>
      </p:grpSp>
      <p:sp>
        <p:nvSpPr>
          <p:cNvPr id="560198" name="Text Box 70"/>
          <p:cNvSpPr txBox="1">
            <a:spLocks noChangeArrowheads="1"/>
          </p:cNvSpPr>
          <p:nvPr/>
        </p:nvSpPr>
        <p:spPr bwMode="auto">
          <a:xfrm>
            <a:off x="3503614" y="1196976"/>
            <a:ext cx="26638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Choose cylindrical coordinate system</a:t>
            </a:r>
          </a:p>
        </p:txBody>
      </p:sp>
      <p:sp>
        <p:nvSpPr>
          <p:cNvPr id="560199" name="Rectangle 71"/>
          <p:cNvSpPr>
            <a:spLocks noChangeArrowheads="1"/>
          </p:cNvSpPr>
          <p:nvPr/>
        </p:nvSpPr>
        <p:spPr bwMode="auto">
          <a:xfrm>
            <a:off x="5735638" y="1268414"/>
            <a:ext cx="665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so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79864" y="3413894"/>
            <a:ext cx="4057948" cy="33011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60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60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60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60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60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60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60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00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560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0130" grpId="0"/>
      <p:bldP spid="100357" grpId="0"/>
      <p:bldP spid="560135" grpId="0"/>
      <p:bldP spid="560198" grpId="0"/>
      <p:bldP spid="56019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1154" name="Object 2"/>
          <p:cNvGraphicFramePr>
            <a:graphicFrameLocks noChangeAspect="1"/>
          </p:cNvGraphicFramePr>
          <p:nvPr/>
        </p:nvGraphicFramePr>
        <p:xfrm>
          <a:off x="2378075" y="1873250"/>
          <a:ext cx="1955800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55700" imgH="254000" progId="Equation.DSMT4">
                  <p:embed/>
                </p:oleObj>
              </mc:Choice>
              <mc:Fallback>
                <p:oleObj name="Equation" r:id="rId2" imgW="1155700" imgH="2540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8075" y="1873250"/>
                        <a:ext cx="1955800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1155" name="Text Box 3"/>
          <p:cNvSpPr txBox="1">
            <a:spLocks noChangeArrowheads="1"/>
          </p:cNvSpPr>
          <p:nvPr/>
        </p:nvSpPr>
        <p:spPr bwMode="auto">
          <a:xfrm>
            <a:off x="1847850" y="3284538"/>
            <a:ext cx="510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Applying </a:t>
            </a:r>
            <a:r>
              <a: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rPr>
              <a:t>Ampere's </a:t>
            </a:r>
            <a:r>
              <a:rPr lang="en-US" altLang="ko-KR" sz="2400" b="1">
                <a:solidFill>
                  <a:srgbClr val="0000CC"/>
                </a:solidFill>
                <a:latin typeface="Times New Roman" panose="02020603050405020304" pitchFamily="18" charset="0"/>
              </a:rPr>
              <a:t>circuital law</a:t>
            </a:r>
            <a:endParaRPr lang="en-US" altLang="zh-CN" sz="2400" b="1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61156" name="Object 4"/>
          <p:cNvGraphicFramePr>
            <a:graphicFrameLocks noChangeAspect="1"/>
          </p:cNvGraphicFramePr>
          <p:nvPr/>
        </p:nvGraphicFramePr>
        <p:xfrm>
          <a:off x="2413001" y="3933825"/>
          <a:ext cx="2633663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28800" imgH="546100" progId="Equation.DSMT4">
                  <p:embed/>
                </p:oleObj>
              </mc:Choice>
              <mc:Fallback>
                <p:oleObj name="Equation" r:id="rId4" imgW="1828800" imgH="5461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001" y="3933825"/>
                        <a:ext cx="2633663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1157" name="Object 5"/>
          <p:cNvGraphicFramePr>
            <a:graphicFrameLocks noChangeAspect="1"/>
          </p:cNvGraphicFramePr>
          <p:nvPr/>
        </p:nvGraphicFramePr>
        <p:xfrm>
          <a:off x="2301875" y="5038726"/>
          <a:ext cx="1722438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44600" imgH="254000" progId="Equation.DSMT4">
                  <p:embed/>
                </p:oleObj>
              </mc:Choice>
              <mc:Fallback>
                <p:oleObj name="Equation" r:id="rId6" imgW="1244600" imgH="2540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1875" y="5038726"/>
                        <a:ext cx="1722438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1159" name="Object 7"/>
          <p:cNvGraphicFramePr>
            <a:graphicFrameLocks noChangeAspect="1"/>
          </p:cNvGraphicFramePr>
          <p:nvPr/>
        </p:nvGraphicFramePr>
        <p:xfrm>
          <a:off x="2349501" y="646113"/>
          <a:ext cx="162877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55700" imgH="254000" progId="Equation.DSMT4">
                  <p:embed/>
                </p:oleObj>
              </mc:Choice>
              <mc:Fallback>
                <p:oleObj name="Equation" r:id="rId8" imgW="1155700" imgH="2540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1" y="646113"/>
                        <a:ext cx="162877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1160" name="Object 8"/>
          <p:cNvGraphicFramePr>
            <a:graphicFrameLocks noChangeAspect="1"/>
          </p:cNvGraphicFramePr>
          <p:nvPr/>
        </p:nvGraphicFramePr>
        <p:xfrm>
          <a:off x="3203575" y="1196976"/>
          <a:ext cx="1697038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92200" imgH="292100" progId="Equation.DSMT4">
                  <p:embed/>
                </p:oleObj>
              </mc:Choice>
              <mc:Fallback>
                <p:oleObj name="Equation" r:id="rId10" imgW="1092200" imgH="2921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1196976"/>
                        <a:ext cx="1697038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1163" name="Object 11"/>
          <p:cNvGraphicFramePr>
            <a:graphicFrameLocks noChangeAspect="1"/>
          </p:cNvGraphicFramePr>
          <p:nvPr/>
        </p:nvGraphicFramePr>
        <p:xfrm>
          <a:off x="3359150" y="2349500"/>
          <a:ext cx="3581400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374900" imgH="546100" progId="Equation.DSMT4">
                  <p:embed/>
                </p:oleObj>
              </mc:Choice>
              <mc:Fallback>
                <p:oleObj name="Equation" r:id="rId12" imgW="2374900" imgH="546100" progId="Equation.DSMT4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0" y="2349500"/>
                        <a:ext cx="3581400" cy="83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22"/>
          <p:cNvGrpSpPr/>
          <p:nvPr/>
        </p:nvGrpSpPr>
        <p:grpSpPr bwMode="auto">
          <a:xfrm>
            <a:off x="8286750" y="692150"/>
            <a:ext cx="2273300" cy="5545138"/>
            <a:chOff x="4260" y="436"/>
            <a:chExt cx="1432" cy="3493"/>
          </a:xfrm>
        </p:grpSpPr>
        <p:pic>
          <p:nvPicPr>
            <p:cNvPr id="28692" name="Picture 10" descr="3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60" y="436"/>
              <a:ext cx="1432" cy="34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693" name="Line 13"/>
            <p:cNvSpPr>
              <a:spLocks noChangeShapeType="1"/>
            </p:cNvSpPr>
            <p:nvPr/>
          </p:nvSpPr>
          <p:spPr bwMode="auto">
            <a:xfrm flipV="1">
              <a:off x="4588" y="527"/>
              <a:ext cx="0" cy="17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aphicFrame>
        <p:nvGraphicFramePr>
          <p:cNvPr id="561166" name="Object 14"/>
          <p:cNvGraphicFramePr>
            <a:graphicFrameLocks noChangeAspect="1"/>
          </p:cNvGraphicFramePr>
          <p:nvPr/>
        </p:nvGraphicFramePr>
        <p:xfrm>
          <a:off x="3432176" y="5638801"/>
          <a:ext cx="8096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508000" imgH="292100" progId="Equation.DSMT4">
                  <p:embed/>
                </p:oleObj>
              </mc:Choice>
              <mc:Fallback>
                <p:oleObj name="Equation" r:id="rId15" imgW="508000" imgH="292100" progId="Equation.DSMT4">
                  <p:embed/>
                  <p:pic>
                    <p:nvPicPr>
                      <p:cNvPr id="0" name="图片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6" y="5638801"/>
                        <a:ext cx="80962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17"/>
          <p:cNvGrpSpPr/>
          <p:nvPr/>
        </p:nvGrpSpPr>
        <p:grpSpPr bwMode="auto">
          <a:xfrm>
            <a:off x="5159375" y="3933825"/>
            <a:ext cx="3079750" cy="890588"/>
            <a:chOff x="2290" y="2478"/>
            <a:chExt cx="1940" cy="561"/>
          </a:xfrm>
        </p:grpSpPr>
        <p:graphicFrame>
          <p:nvGraphicFramePr>
            <p:cNvPr id="28690" name="Object 6"/>
            <p:cNvGraphicFramePr>
              <a:graphicFrameLocks noChangeAspect="1"/>
            </p:cNvGraphicFramePr>
            <p:nvPr/>
          </p:nvGraphicFramePr>
          <p:xfrm>
            <a:off x="2646" y="2478"/>
            <a:ext cx="1584" cy="5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803400" imgH="584200" progId="Equation.DSMT4">
                    <p:embed/>
                  </p:oleObj>
                </mc:Choice>
                <mc:Fallback>
                  <p:oleObj name="Equation" r:id="rId17" imgW="1803400" imgH="584200" progId="Equation.DSMT4">
                    <p:embed/>
                    <p:pic>
                      <p:nvPicPr>
                        <p:cNvPr id="0" name="图片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6" y="2478"/>
                          <a:ext cx="1584" cy="5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1" name="AutoShape 16"/>
            <p:cNvSpPr>
              <a:spLocks noChangeArrowheads="1"/>
            </p:cNvSpPr>
            <p:nvPr/>
          </p:nvSpPr>
          <p:spPr bwMode="auto">
            <a:xfrm>
              <a:off x="2290" y="2522"/>
              <a:ext cx="132" cy="501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CC99"/>
            </a:solidFill>
            <a:ln w="22225">
              <a:solidFill>
                <a:srgbClr val="FF66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  <a:buClrTx/>
                <a:buSzTx/>
                <a:buFontTx/>
                <a:buNone/>
              </a:pPr>
              <a:endParaRPr lang="zh-CN" altLang="zh-CN" sz="2000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</p:grpSp>
      <p:grpSp>
        <p:nvGrpSpPr>
          <p:cNvPr id="12" name="Group 19"/>
          <p:cNvGrpSpPr/>
          <p:nvPr/>
        </p:nvGrpSpPr>
        <p:grpSpPr bwMode="auto">
          <a:xfrm>
            <a:off x="5087939" y="1052513"/>
            <a:ext cx="2160587" cy="836612"/>
            <a:chOff x="2245" y="663"/>
            <a:chExt cx="1361" cy="527"/>
          </a:xfrm>
        </p:grpSpPr>
        <p:graphicFrame>
          <p:nvGraphicFramePr>
            <p:cNvPr id="28688" name="Object 9"/>
            <p:cNvGraphicFramePr>
              <a:graphicFrameLocks noChangeAspect="1"/>
            </p:cNvGraphicFramePr>
            <p:nvPr/>
          </p:nvGraphicFramePr>
          <p:xfrm>
            <a:off x="2665" y="663"/>
            <a:ext cx="941" cy="5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066800" imgH="546100" progId="Equation.DSMT4">
                    <p:embed/>
                  </p:oleObj>
                </mc:Choice>
                <mc:Fallback>
                  <p:oleObj name="Equation" r:id="rId19" imgW="1066800" imgH="546100" progId="Equation.DSMT4">
                    <p:embed/>
                    <p:pic>
                      <p:nvPicPr>
                        <p:cNvPr id="0" name="图片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5" y="663"/>
                          <a:ext cx="941" cy="5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89" name="AutoShape 18"/>
            <p:cNvSpPr>
              <a:spLocks noChangeArrowheads="1"/>
            </p:cNvSpPr>
            <p:nvPr/>
          </p:nvSpPr>
          <p:spPr bwMode="auto">
            <a:xfrm>
              <a:off x="2245" y="663"/>
              <a:ext cx="132" cy="501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CC99"/>
            </a:solidFill>
            <a:ln w="9525">
              <a:solidFill>
                <a:srgbClr val="FF66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  <a:buClrTx/>
                <a:buSzTx/>
                <a:buFontTx/>
                <a:buNone/>
              </a:pPr>
              <a:endParaRPr lang="zh-CN" altLang="zh-CN" sz="2000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</p:grpSp>
      <p:grpSp>
        <p:nvGrpSpPr>
          <p:cNvPr id="14" name="Group 21"/>
          <p:cNvGrpSpPr/>
          <p:nvPr/>
        </p:nvGrpSpPr>
        <p:grpSpPr bwMode="auto">
          <a:xfrm>
            <a:off x="4440239" y="5445128"/>
            <a:ext cx="1512887" cy="795338"/>
            <a:chOff x="1882" y="3430"/>
            <a:chExt cx="953" cy="501"/>
          </a:xfrm>
        </p:grpSpPr>
        <p:graphicFrame>
          <p:nvGraphicFramePr>
            <p:cNvPr id="28686" name="Object 15"/>
            <p:cNvGraphicFramePr>
              <a:graphicFrameLocks noChangeAspect="1"/>
            </p:cNvGraphicFramePr>
            <p:nvPr/>
          </p:nvGraphicFramePr>
          <p:xfrm>
            <a:off x="2291" y="3521"/>
            <a:ext cx="544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609600" imgH="330200" progId="Equation.DSMT4">
                    <p:embed/>
                  </p:oleObj>
                </mc:Choice>
                <mc:Fallback>
                  <p:oleObj name="Equation" r:id="rId21" imgW="609600" imgH="330200" progId="Equation.DSMT4">
                    <p:embed/>
                    <p:pic>
                      <p:nvPicPr>
                        <p:cNvPr id="0" name="图片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1" y="3521"/>
                          <a:ext cx="544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87" name="AutoShape 20"/>
            <p:cNvSpPr>
              <a:spLocks noChangeArrowheads="1"/>
            </p:cNvSpPr>
            <p:nvPr/>
          </p:nvSpPr>
          <p:spPr bwMode="auto">
            <a:xfrm>
              <a:off x="1882" y="3430"/>
              <a:ext cx="132" cy="501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CC99"/>
            </a:solidFill>
            <a:ln w="22225">
              <a:solidFill>
                <a:srgbClr val="FF6600"/>
              </a:solidFill>
              <a:miter lim="800000"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  <a:buClrTx/>
                <a:buSzTx/>
                <a:buFontTx/>
                <a:buNone/>
              </a:pPr>
              <a:endParaRPr lang="zh-CN" altLang="zh-CN" sz="2000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1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61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61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61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61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61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61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561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115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042"/>
          <p:cNvSpPr>
            <a:spLocks noChangeArrowheads="1"/>
          </p:cNvSpPr>
          <p:nvPr/>
        </p:nvSpPr>
        <p:spPr bwMode="auto">
          <a:xfrm>
            <a:off x="1809750" y="1125539"/>
            <a:ext cx="407193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1.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Magnetization of medium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endParaRPr lang="en-US" altLang="zh-CN" sz="2400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46859" name="Group 1738"/>
          <p:cNvGrpSpPr/>
          <p:nvPr/>
        </p:nvGrpSpPr>
        <p:grpSpPr bwMode="auto">
          <a:xfrm>
            <a:off x="6167438" y="1195389"/>
            <a:ext cx="1739900" cy="1081087"/>
            <a:chOff x="2918" y="572"/>
            <a:chExt cx="1096" cy="681"/>
          </a:xfrm>
        </p:grpSpPr>
        <p:graphicFrame>
          <p:nvGraphicFramePr>
            <p:cNvPr id="29707" name="Object 1736"/>
            <p:cNvGraphicFramePr>
              <a:graphicFrameLocks noChangeAspect="1"/>
            </p:cNvGraphicFramePr>
            <p:nvPr/>
          </p:nvGraphicFramePr>
          <p:xfrm>
            <a:off x="2918" y="572"/>
            <a:ext cx="717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800100" imgH="330200" progId="Equation.DSMT4">
                    <p:embed/>
                  </p:oleObj>
                </mc:Choice>
                <mc:Fallback>
                  <p:oleObj name="Equation" r:id="rId2" imgW="800100" imgH="330200" progId="Equation.DSMT4">
                    <p:embed/>
                    <p:pic>
                      <p:nvPicPr>
                        <p:cNvPr id="0" name="图片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8" y="572"/>
                          <a:ext cx="717" cy="303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0000"/>
                          </a:solidFill>
                          <a:prstDash val="dash"/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99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08" name="Line 1737"/>
            <p:cNvSpPr>
              <a:spLocks noChangeShapeType="1"/>
            </p:cNvSpPr>
            <p:nvPr/>
          </p:nvSpPr>
          <p:spPr bwMode="auto">
            <a:xfrm>
              <a:off x="3606" y="890"/>
              <a:ext cx="408" cy="363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10721" name="Rectangle 1739"/>
          <p:cNvSpPr>
            <a:spLocks noChangeArrowheads="1"/>
          </p:cNvSpPr>
          <p:nvPr/>
        </p:nvSpPr>
        <p:spPr bwMode="auto">
          <a:xfrm>
            <a:off x="1274618" y="2133601"/>
            <a:ext cx="6031057" cy="4205455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）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Under the effect of external magnetic field, the magnetic moments of the medium molecules are oriented, resulting in the magnetic phenomenon (showing magnetism). 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） 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The magnitude of the magnetization is determined by the number of magnetic moment in the medium.</a:t>
            </a:r>
          </a:p>
          <a:p>
            <a:pPr algn="ctr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Definition of magnetic moment</a:t>
            </a:r>
          </a:p>
        </p:txBody>
      </p:sp>
      <p:sp>
        <p:nvSpPr>
          <p:cNvPr id="447180" name="Rectangle 1740"/>
          <p:cNvSpPr>
            <a:spLocks noChangeArrowheads="1"/>
          </p:cNvSpPr>
          <p:nvPr/>
        </p:nvSpPr>
        <p:spPr bwMode="auto">
          <a:xfrm>
            <a:off x="2855913" y="1484313"/>
            <a:ext cx="2449512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00CC"/>
                </a:solidFill>
                <a:ea typeface="楷体_GB2312" pitchFamily="49" charset="-122"/>
              </a:rPr>
              <a:t>    Conclusion</a:t>
            </a:r>
          </a:p>
        </p:txBody>
      </p:sp>
      <p:graphicFrame>
        <p:nvGraphicFramePr>
          <p:cNvPr id="110723" name="Object 1741"/>
          <p:cNvGraphicFramePr>
            <a:graphicFrameLocks noGrp="1" noChangeAspect="1"/>
          </p:cNvGraphicFramePr>
          <p:nvPr>
            <p:ph idx="4294967295"/>
          </p:nvPr>
        </p:nvGraphicFramePr>
        <p:xfrm>
          <a:off x="4525964" y="5664204"/>
          <a:ext cx="1138237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00100" imgH="330200" progId="Equation.DSMT4">
                  <p:embed/>
                </p:oleObj>
              </mc:Choice>
              <mc:Fallback>
                <p:oleObj name="Equation" r:id="rId4" imgW="800100" imgH="330200" progId="Equation.DSMT4">
                  <p:embed/>
                  <p:pic>
                    <p:nvPicPr>
                      <p:cNvPr id="0" name="图片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5964" y="5664204"/>
                        <a:ext cx="1138237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7187" name="Object 1747"/>
          <p:cNvGraphicFramePr>
            <a:graphicFrameLocks noChangeAspect="1"/>
          </p:cNvGraphicFramePr>
          <p:nvPr/>
        </p:nvGraphicFramePr>
        <p:xfrm>
          <a:off x="2973389" y="5597528"/>
          <a:ext cx="9810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11200" imgH="330200" progId="Equation.DSMT4">
                  <p:embed/>
                </p:oleObj>
              </mc:Choice>
              <mc:Fallback>
                <p:oleObj name="Equation" r:id="rId6" imgW="711200" imgH="3302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3389" y="5597528"/>
                        <a:ext cx="9810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6" name="Rectangle 134"/>
          <p:cNvSpPr>
            <a:spLocks noChangeArrowheads="1"/>
          </p:cNvSpPr>
          <p:nvPr/>
        </p:nvSpPr>
        <p:spPr bwMode="auto">
          <a:xfrm>
            <a:off x="1847850" y="115888"/>
            <a:ext cx="8540750" cy="792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600" b="1">
                <a:solidFill>
                  <a:srgbClr val="800000"/>
                </a:solidFill>
              </a:rPr>
              <a:t>6.4 Magnetization and Equivalent Current Densities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34277" y="1060883"/>
            <a:ext cx="3590275" cy="2453083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902722" y="3513966"/>
            <a:ext cx="2820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external magnetic field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3488" y="3902520"/>
            <a:ext cx="3545473" cy="2436536"/>
          </a:xfrm>
          <a:prstGeom prst="rect">
            <a:avLst/>
          </a:prstGeom>
        </p:spPr>
      </p:pic>
      <p:sp>
        <p:nvSpPr>
          <p:cNvPr id="135" name="文本框 134"/>
          <p:cNvSpPr txBox="1"/>
          <p:nvPr/>
        </p:nvSpPr>
        <p:spPr>
          <a:xfrm>
            <a:off x="7902722" y="6358278"/>
            <a:ext cx="3221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magnetic field applied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07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07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07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47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718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/>
          <p:cNvSpPr txBox="1">
            <a:spLocks noChangeArrowheads="1"/>
          </p:cNvSpPr>
          <p:nvPr/>
        </p:nvSpPr>
        <p:spPr bwMode="auto">
          <a:xfrm>
            <a:off x="1774826" y="523876"/>
            <a:ext cx="38211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2. Magnetization vector</a:t>
            </a:r>
            <a:endParaRPr kumimoji="1" lang="en-US" altLang="zh-CN" sz="2800" b="1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2467" name="Rectangle 3"/>
          <p:cNvSpPr>
            <a:spLocks noChangeArrowheads="1"/>
          </p:cNvSpPr>
          <p:nvPr/>
        </p:nvSpPr>
        <p:spPr bwMode="auto">
          <a:xfrm>
            <a:off x="2063751" y="1196975"/>
            <a:ext cx="8208963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ea typeface="楷体_GB2312" pitchFamily="49" charset="-122"/>
              </a:rPr>
              <a:t>  Definition</a:t>
            </a:r>
            <a:r>
              <a:rPr lang="zh-CN" altLang="en-US" sz="2400" b="1">
                <a:solidFill>
                  <a:srgbClr val="000000"/>
                </a:solidFill>
                <a:ea typeface="楷体_GB2312" pitchFamily="49" charset="-122"/>
              </a:rPr>
              <a:t>： </a:t>
            </a:r>
            <a:r>
              <a:rPr lang="en-US" altLang="zh-CN" sz="2400" b="1">
                <a:solidFill>
                  <a:srgbClr val="000000"/>
                </a:solidFill>
                <a:ea typeface="楷体_GB2312" pitchFamily="49" charset="-122"/>
              </a:rPr>
              <a:t>Sum of the magnetic dipole moment per unit volume of the medium, that</a:t>
            </a:r>
            <a:endParaRPr lang="en-US" altLang="zh-CN" sz="2400">
              <a:solidFill>
                <a:srgbClr val="000000"/>
              </a:solidFill>
              <a:ea typeface="幼圆" panose="02010509060101010101" pitchFamily="49" charset="-122"/>
            </a:endParaRPr>
          </a:p>
        </p:txBody>
      </p:sp>
      <p:graphicFrame>
        <p:nvGraphicFramePr>
          <p:cNvPr id="702468" name="Object 4"/>
          <p:cNvGraphicFramePr>
            <a:graphicFrameLocks noChangeAspect="1"/>
          </p:cNvGraphicFramePr>
          <p:nvPr/>
        </p:nvGraphicFramePr>
        <p:xfrm>
          <a:off x="6456363" y="2852738"/>
          <a:ext cx="10414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96900" imgH="254000" progId="Equation.DSMT4">
                  <p:embed/>
                </p:oleObj>
              </mc:Choice>
              <mc:Fallback>
                <p:oleObj name="Equation" r:id="rId2" imgW="596900" imgH="2540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6363" y="2852738"/>
                        <a:ext cx="1041400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2469" name="Object 5"/>
          <p:cNvGraphicFramePr>
            <a:graphicFrameLocks noChangeAspect="1"/>
          </p:cNvGraphicFramePr>
          <p:nvPr/>
        </p:nvGraphicFramePr>
        <p:xfrm>
          <a:off x="3503614" y="2420938"/>
          <a:ext cx="2338387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58900" imgH="698500" progId="Equation.DSMT4">
                  <p:embed/>
                </p:oleObj>
              </mc:Choice>
              <mc:Fallback>
                <p:oleObj name="Equation" r:id="rId4" imgW="1358900" imgH="6985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614" y="2420938"/>
                        <a:ext cx="2338387" cy="101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1274" y="3740151"/>
            <a:ext cx="3314145" cy="27780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0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0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0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图片 1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5174" y="3881467"/>
            <a:ext cx="3590275" cy="2453083"/>
          </a:xfrm>
          <a:prstGeom prst="rect">
            <a:avLst/>
          </a:prstGeom>
        </p:spPr>
      </p:pic>
      <p:sp>
        <p:nvSpPr>
          <p:cNvPr id="145" name="文本框 144"/>
          <p:cNvSpPr txBox="1"/>
          <p:nvPr/>
        </p:nvSpPr>
        <p:spPr>
          <a:xfrm>
            <a:off x="7483619" y="6334550"/>
            <a:ext cx="2820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external magnetic field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2" name="图片 1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434" y="3860801"/>
            <a:ext cx="3590275" cy="2453083"/>
          </a:xfrm>
          <a:prstGeom prst="rect">
            <a:avLst/>
          </a:prstGeom>
        </p:spPr>
      </p:pic>
      <p:sp>
        <p:nvSpPr>
          <p:cNvPr id="703490" name="Rectangle 2"/>
          <p:cNvSpPr>
            <a:spLocks noChangeArrowheads="1"/>
          </p:cNvSpPr>
          <p:nvPr/>
        </p:nvSpPr>
        <p:spPr bwMode="auto">
          <a:xfrm>
            <a:off x="1992313" y="922339"/>
            <a:ext cx="34925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楷体_GB2312" pitchFamily="49" charset="-122"/>
              </a:rPr>
              <a:t>1</a:t>
            </a:r>
            <a:r>
              <a:rPr lang="zh-CN" altLang="en-US" sz="2000" b="1" dirty="0">
                <a:solidFill>
                  <a:srgbClr val="000000"/>
                </a:solidFill>
                <a:ea typeface="楷体_GB2312" pitchFamily="49" charset="-122"/>
              </a:rPr>
              <a:t>） </a:t>
            </a:r>
            <a:r>
              <a:rPr lang="en-US" altLang="zh-CN" sz="2000" b="1" dirty="0">
                <a:solidFill>
                  <a:srgbClr val="000000"/>
                </a:solidFill>
                <a:ea typeface="楷体_GB2312" pitchFamily="49" charset="-122"/>
              </a:rPr>
              <a:t>When the medium has no external magnetic field</a:t>
            </a:r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3361056" y="240031"/>
            <a:ext cx="475297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40000"/>
              </a:lnSpc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Discussion</a:t>
            </a:r>
          </a:p>
        </p:txBody>
      </p:sp>
      <p:graphicFrame>
        <p:nvGraphicFramePr>
          <p:cNvPr id="112645" name="Object 7"/>
          <p:cNvGraphicFramePr>
            <a:graphicFrameLocks noChangeAspect="1"/>
          </p:cNvGraphicFramePr>
          <p:nvPr/>
        </p:nvGraphicFramePr>
        <p:xfrm>
          <a:off x="4511675" y="1844675"/>
          <a:ext cx="971550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58800" imgH="279400" progId="Equation.DSMT4">
                  <p:embed/>
                </p:oleObj>
              </mc:Choice>
              <mc:Fallback>
                <p:oleObj name="Equation" r:id="rId3" imgW="558800" imgH="2794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675" y="1844675"/>
                        <a:ext cx="971550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6" name="Object 8"/>
          <p:cNvGraphicFramePr>
            <a:graphicFrameLocks noChangeAspect="1"/>
          </p:cNvGraphicFramePr>
          <p:nvPr/>
        </p:nvGraphicFramePr>
        <p:xfrm>
          <a:off x="2208213" y="1851025"/>
          <a:ext cx="158115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63600" imgH="444500" progId="Equation.DSMT4">
                  <p:embed/>
                </p:oleObj>
              </mc:Choice>
              <mc:Fallback>
                <p:oleObj name="Equation" r:id="rId5" imgW="863600" imgH="4445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1851025"/>
                        <a:ext cx="158115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3499" name="Rectangle 11"/>
          <p:cNvSpPr>
            <a:spLocks noChangeArrowheads="1"/>
          </p:cNvSpPr>
          <p:nvPr/>
        </p:nvSpPr>
        <p:spPr bwMode="auto">
          <a:xfrm>
            <a:off x="5808664" y="922339"/>
            <a:ext cx="40735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00"/>
                </a:solidFill>
                <a:ea typeface="楷体_GB2312" pitchFamily="49" charset="-122"/>
              </a:rPr>
              <a:t>2</a:t>
            </a:r>
            <a:r>
              <a:rPr lang="zh-CN" altLang="en-US" sz="2000" b="1" dirty="0">
                <a:solidFill>
                  <a:srgbClr val="000000"/>
                </a:solidFill>
                <a:ea typeface="楷体_GB2312" pitchFamily="49" charset="-122"/>
              </a:rPr>
              <a:t>） </a:t>
            </a:r>
            <a:r>
              <a:rPr lang="en-US" altLang="zh-CN" sz="2000" b="1" dirty="0">
                <a:solidFill>
                  <a:srgbClr val="000000"/>
                </a:solidFill>
                <a:ea typeface="楷体_GB2312" pitchFamily="49" charset="-122"/>
              </a:rPr>
              <a:t>With external magnetic field</a:t>
            </a:r>
          </a:p>
        </p:txBody>
      </p:sp>
      <p:graphicFrame>
        <p:nvGraphicFramePr>
          <p:cNvPr id="112649" name="Object 12"/>
          <p:cNvGraphicFramePr>
            <a:graphicFrameLocks noChangeAspect="1"/>
          </p:cNvGraphicFramePr>
          <p:nvPr/>
        </p:nvGraphicFramePr>
        <p:xfrm>
          <a:off x="6904039" y="2636838"/>
          <a:ext cx="1285875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49300" imgH="330200" progId="Equation.DSMT4">
                  <p:embed/>
                </p:oleObj>
              </mc:Choice>
              <mc:Fallback>
                <p:oleObj name="Equation" r:id="rId7" imgW="749300" imgH="3302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4039" y="2636838"/>
                        <a:ext cx="1285875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51" name="Object 15"/>
          <p:cNvGraphicFramePr>
            <a:graphicFrameLocks noChangeAspect="1"/>
          </p:cNvGraphicFramePr>
          <p:nvPr/>
        </p:nvGraphicFramePr>
        <p:xfrm>
          <a:off x="6948488" y="2001838"/>
          <a:ext cx="2005012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04900" imgH="444500" progId="Equation.DSMT4">
                  <p:embed/>
                </p:oleObj>
              </mc:Choice>
              <mc:Fallback>
                <p:oleObj name="Equation" r:id="rId9" imgW="1104900" imgH="4445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488" y="2001838"/>
                        <a:ext cx="2005012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53" name="Object 18"/>
          <p:cNvGraphicFramePr>
            <a:graphicFrameLocks noChangeAspect="1"/>
          </p:cNvGraphicFramePr>
          <p:nvPr/>
        </p:nvGraphicFramePr>
        <p:xfrm>
          <a:off x="6315076" y="1570038"/>
          <a:ext cx="29495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625600" imgH="292100" progId="Equation.DSMT4">
                  <p:embed/>
                </p:oleObj>
              </mc:Choice>
              <mc:Fallback>
                <p:oleObj name="Equation" r:id="rId11" imgW="1625600" imgH="2921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5076" y="1570038"/>
                        <a:ext cx="29495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3507" name="Rectangle 19"/>
          <p:cNvSpPr>
            <a:spLocks noChangeArrowheads="1"/>
          </p:cNvSpPr>
          <p:nvPr/>
        </p:nvSpPr>
        <p:spPr bwMode="auto">
          <a:xfrm>
            <a:off x="5737225" y="3068638"/>
            <a:ext cx="4751388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There, n is the number of magnetized molecules in the unit volume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3509" name="Line 21"/>
          <p:cNvSpPr>
            <a:spLocks noChangeShapeType="1"/>
          </p:cNvSpPr>
          <p:nvPr/>
        </p:nvSpPr>
        <p:spPr bwMode="auto">
          <a:xfrm>
            <a:off x="5735638" y="981075"/>
            <a:ext cx="0" cy="532765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31825" name="Object 413"/>
          <p:cNvGraphicFramePr>
            <a:graphicFrameLocks noChangeAspect="1"/>
          </p:cNvGraphicFramePr>
          <p:nvPr/>
        </p:nvGraphicFramePr>
        <p:xfrm>
          <a:off x="5938838" y="4515884"/>
          <a:ext cx="1090613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762000" imgH="330200" progId="Equation.DSMT4">
                  <p:embed/>
                </p:oleObj>
              </mc:Choice>
              <mc:Fallback>
                <p:oleObj name="Equation" r:id="rId13" imgW="762000" imgH="330200" progId="Equation.DSMT4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8838" y="4515884"/>
                        <a:ext cx="1090613" cy="4810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prstDash val="dash"/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9" name="Group 473"/>
          <p:cNvGrpSpPr/>
          <p:nvPr/>
        </p:nvGrpSpPr>
        <p:grpSpPr bwMode="auto">
          <a:xfrm>
            <a:off x="2268538" y="3140075"/>
            <a:ext cx="1739900" cy="1081088"/>
            <a:chOff x="2918" y="572"/>
            <a:chExt cx="1096" cy="681"/>
          </a:xfrm>
        </p:grpSpPr>
        <p:graphicFrame>
          <p:nvGraphicFramePr>
            <p:cNvPr id="31763" name="Object 474"/>
            <p:cNvGraphicFramePr>
              <a:graphicFrameLocks noChangeAspect="1"/>
            </p:cNvGraphicFramePr>
            <p:nvPr/>
          </p:nvGraphicFramePr>
          <p:xfrm>
            <a:off x="2918" y="572"/>
            <a:ext cx="717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800100" imgH="330200" progId="Equation.DSMT4">
                    <p:embed/>
                  </p:oleObj>
                </mc:Choice>
                <mc:Fallback>
                  <p:oleObj name="Equation" r:id="rId15" imgW="800100" imgH="330200" progId="Equation.DSMT4">
                    <p:embed/>
                    <p:pic>
                      <p:nvPicPr>
                        <p:cNvPr id="0" name="图片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8" y="572"/>
                          <a:ext cx="717" cy="303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0000"/>
                          </a:solidFill>
                          <a:prstDash val="dash"/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99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64" name="Line 475"/>
            <p:cNvSpPr>
              <a:spLocks noChangeShapeType="1"/>
            </p:cNvSpPr>
            <p:nvPr/>
          </p:nvSpPr>
          <p:spPr bwMode="auto">
            <a:xfrm>
              <a:off x="3606" y="890"/>
              <a:ext cx="408" cy="363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048618" name="AutoShape 42"/>
          <p:cNvSpPr>
            <a:spLocks noChangeArrowheads="1"/>
          </p:cNvSpPr>
          <p:nvPr/>
        </p:nvSpPr>
        <p:spPr bwMode="auto">
          <a:xfrm>
            <a:off x="3863976" y="1989138"/>
            <a:ext cx="576263" cy="215900"/>
          </a:xfrm>
          <a:prstGeom prst="rightArrow">
            <a:avLst>
              <a:gd name="adj1" fmla="val 50000"/>
              <a:gd name="adj2" fmla="val 66728"/>
            </a:avLst>
          </a:prstGeom>
          <a:solidFill>
            <a:srgbClr val="FFCC99"/>
          </a:solidFill>
          <a:ln w="22225">
            <a:solidFill>
              <a:srgbClr val="FF66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b="1">
              <a:solidFill>
                <a:srgbClr val="FF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9" name="AutoShape 42"/>
          <p:cNvSpPr>
            <a:spLocks noChangeArrowheads="1"/>
          </p:cNvSpPr>
          <p:nvPr/>
        </p:nvSpPr>
        <p:spPr bwMode="auto">
          <a:xfrm>
            <a:off x="6024563" y="2133600"/>
            <a:ext cx="576262" cy="215900"/>
          </a:xfrm>
          <a:prstGeom prst="rightArrow">
            <a:avLst>
              <a:gd name="adj1" fmla="val 50000"/>
              <a:gd name="adj2" fmla="val 66728"/>
            </a:avLst>
          </a:prstGeom>
          <a:solidFill>
            <a:srgbClr val="FFCC99"/>
          </a:solidFill>
          <a:ln w="22225">
            <a:solidFill>
              <a:srgbClr val="FF66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b="1">
              <a:solidFill>
                <a:srgbClr val="FF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10" name="AutoShape 42"/>
          <p:cNvSpPr>
            <a:spLocks noChangeArrowheads="1"/>
          </p:cNvSpPr>
          <p:nvPr/>
        </p:nvSpPr>
        <p:spPr bwMode="auto">
          <a:xfrm>
            <a:off x="6024563" y="2781300"/>
            <a:ext cx="576262" cy="215900"/>
          </a:xfrm>
          <a:prstGeom prst="rightArrow">
            <a:avLst>
              <a:gd name="adj1" fmla="val 50000"/>
              <a:gd name="adj2" fmla="val 66728"/>
            </a:avLst>
          </a:prstGeom>
          <a:solidFill>
            <a:srgbClr val="FFCC99"/>
          </a:solidFill>
          <a:ln w="22225">
            <a:solidFill>
              <a:srgbClr val="FF66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b="1">
              <a:solidFill>
                <a:srgbClr val="FF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143" name="文本框 142"/>
          <p:cNvSpPr txBox="1"/>
          <p:nvPr/>
        </p:nvSpPr>
        <p:spPr>
          <a:xfrm>
            <a:off x="2443879" y="6313884"/>
            <a:ext cx="2820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external magnetic field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0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2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2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03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03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2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12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12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703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048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3507" grpId="0"/>
      <p:bldP spid="703509" grpId="0" animBg="1"/>
      <p:bldP spid="104861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2"/>
          <p:cNvSpPr>
            <a:spLocks noChangeArrowheads="1"/>
          </p:cNvSpPr>
          <p:nvPr/>
        </p:nvSpPr>
        <p:spPr bwMode="auto">
          <a:xfrm>
            <a:off x="1676400" y="1268414"/>
            <a:ext cx="9892145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）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The magnitude of the magnetization vector is related to the dielectric material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）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The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magnitude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 of the magnetization is also related to the intensity of the applied field</a:t>
            </a: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After the medium is magnetized, extra magnetic field           will be generated in the space</a:t>
            </a: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The total magnetic field        in the medium inside and outside space is</a:t>
            </a:r>
          </a:p>
        </p:txBody>
      </p:sp>
      <p:sp>
        <p:nvSpPr>
          <p:cNvPr id="113668" name="Rectangle 3"/>
          <p:cNvSpPr>
            <a:spLocks noChangeArrowheads="1"/>
          </p:cNvSpPr>
          <p:nvPr/>
        </p:nvSpPr>
        <p:spPr bwMode="auto">
          <a:xfrm>
            <a:off x="2711451" y="4470400"/>
            <a:ext cx="7345363" cy="1532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u="sng" dirty="0">
                <a:solidFill>
                  <a:srgbClr val="800000"/>
                </a:solidFill>
                <a:ea typeface="楷体_GB2312" pitchFamily="49" charset="-122"/>
              </a:rPr>
              <a:t>Experimental results</a:t>
            </a:r>
            <a:r>
              <a:rPr lang="zh-CN" altLang="en-US" sz="2400" b="1" dirty="0">
                <a:solidFill>
                  <a:srgbClr val="800000"/>
                </a:solidFill>
                <a:ea typeface="楷体_GB2312" pitchFamily="49" charset="-122"/>
              </a:rPr>
              <a:t>：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For linear and isotropic media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，     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is proportional to      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that</a:t>
            </a:r>
          </a:p>
        </p:txBody>
      </p:sp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5232400" y="620713"/>
            <a:ext cx="25923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Conclusion</a:t>
            </a:r>
            <a:endParaRPr kumimoji="1" lang="en-US" altLang="zh-CN" sz="2800" b="1" dirty="0">
              <a:solidFill>
                <a:srgbClr val="000000"/>
              </a:solidFill>
            </a:endParaRPr>
          </a:p>
        </p:txBody>
      </p:sp>
      <p:graphicFrame>
        <p:nvGraphicFramePr>
          <p:cNvPr id="113670" name="Object 5"/>
          <p:cNvGraphicFramePr>
            <a:graphicFrameLocks noChangeAspect="1"/>
          </p:cNvGraphicFramePr>
          <p:nvPr/>
        </p:nvGraphicFramePr>
        <p:xfrm>
          <a:off x="4962091" y="3884911"/>
          <a:ext cx="2070535" cy="5730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6000" imgH="279400" progId="Equation.DSMT4">
                  <p:embed/>
                </p:oleObj>
              </mc:Choice>
              <mc:Fallback>
                <p:oleObj name="Equation" r:id="rId2" imgW="1016000" imgH="2794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2091" y="3884911"/>
                        <a:ext cx="2070535" cy="5730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1" name="Object 6"/>
          <p:cNvGraphicFramePr>
            <a:graphicFrameLocks noChangeAspect="1"/>
          </p:cNvGraphicFramePr>
          <p:nvPr/>
        </p:nvGraphicFramePr>
        <p:xfrm>
          <a:off x="4511675" y="5478462"/>
          <a:ext cx="16129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89000" imgH="330200" progId="Equation.DSMT4">
                  <p:embed/>
                </p:oleObj>
              </mc:Choice>
              <mc:Fallback>
                <p:oleObj name="Equation" r:id="rId4" imgW="889000" imgH="3302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675" y="5478462"/>
                        <a:ext cx="16129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2" name="Object 7"/>
          <p:cNvGraphicFramePr>
            <a:graphicFrameLocks noChangeAspect="1"/>
          </p:cNvGraphicFramePr>
          <p:nvPr/>
        </p:nvGraphicFramePr>
        <p:xfrm>
          <a:off x="7032626" y="4982299"/>
          <a:ext cx="505521" cy="423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4000" imgH="254000" progId="Equation.DSMT4">
                  <p:embed/>
                </p:oleObj>
              </mc:Choice>
              <mc:Fallback>
                <p:oleObj name="Equation" r:id="rId6" imgW="254000" imgH="2540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626" y="4982299"/>
                        <a:ext cx="505521" cy="4231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3" name="Object 8"/>
          <p:cNvGraphicFramePr>
            <a:graphicFrameLocks noChangeAspect="1"/>
          </p:cNvGraphicFramePr>
          <p:nvPr/>
        </p:nvGraphicFramePr>
        <p:xfrm>
          <a:off x="3863976" y="6054724"/>
          <a:ext cx="24622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58900" imgH="292100" progId="Equation.DSMT4">
                  <p:embed/>
                </p:oleObj>
              </mc:Choice>
              <mc:Fallback>
                <p:oleObj name="Equation" r:id="rId8" imgW="1358900" imgH="2921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976" y="6054724"/>
                        <a:ext cx="24622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4521" name="Rectangle 9"/>
          <p:cNvSpPr>
            <a:spLocks noChangeArrowheads="1"/>
          </p:cNvSpPr>
          <p:nvPr/>
        </p:nvSpPr>
        <p:spPr bwMode="auto">
          <a:xfrm>
            <a:off x="2711451" y="5910262"/>
            <a:ext cx="1223963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where</a:t>
            </a:r>
            <a:r>
              <a:rPr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</a:p>
        </p:txBody>
      </p:sp>
      <p:sp>
        <p:nvSpPr>
          <p:cNvPr id="704522" name="Rectangle 10"/>
          <p:cNvSpPr>
            <a:spLocks noChangeArrowheads="1"/>
          </p:cNvSpPr>
          <p:nvPr/>
        </p:nvSpPr>
        <p:spPr bwMode="auto">
          <a:xfrm>
            <a:off x="6384132" y="5894681"/>
            <a:ext cx="432117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 is called as the magnetic susceptibility of the medium</a:t>
            </a:r>
            <a:endParaRPr lang="en-US" altLang="zh-CN" sz="2000" b="1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04523" name="Rectangle 11"/>
          <p:cNvSpPr>
            <a:spLocks noChangeArrowheads="1"/>
          </p:cNvSpPr>
          <p:nvPr/>
        </p:nvSpPr>
        <p:spPr bwMode="auto">
          <a:xfrm>
            <a:off x="2135189" y="3444845"/>
            <a:ext cx="184731" cy="400110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5000"/>
              </a:spcBef>
              <a:buClrTx/>
              <a:buSzTx/>
              <a:buFontTx/>
              <a:buNone/>
            </a:pPr>
            <a:endParaRPr lang="zh-CN" altLang="zh-CN" sz="2000">
              <a:solidFill>
                <a:schemeClr val="bg1"/>
              </a:solidFill>
              <a:ea typeface="楷体_GB2312" pitchFamily="49" charset="-122"/>
            </a:endParaRPr>
          </a:p>
        </p:txBody>
      </p:sp>
      <p:graphicFrame>
        <p:nvGraphicFramePr>
          <p:cNvPr id="113677" name="Object 12"/>
          <p:cNvGraphicFramePr>
            <a:graphicFrameLocks noChangeAspect="1"/>
          </p:cNvGraphicFramePr>
          <p:nvPr/>
        </p:nvGraphicFramePr>
        <p:xfrm>
          <a:off x="3935730" y="2322195"/>
          <a:ext cx="41592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41300" imgH="279400" progId="Equation.DSMT4">
                  <p:embed/>
                </p:oleObj>
              </mc:Choice>
              <mc:Fallback>
                <p:oleObj name="Equation" r:id="rId10" imgW="241300" imgH="2794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730" y="2322195"/>
                        <a:ext cx="41592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8" name="Object 13"/>
          <p:cNvGraphicFramePr>
            <a:graphicFrameLocks noChangeAspect="1"/>
          </p:cNvGraphicFramePr>
          <p:nvPr/>
        </p:nvGraphicFramePr>
        <p:xfrm>
          <a:off x="5563755" y="3301174"/>
          <a:ext cx="408420" cy="5437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0500" imgH="254000" progId="Equation.DSMT4">
                  <p:embed/>
                </p:oleObj>
              </mc:Choice>
              <mc:Fallback>
                <p:oleObj name="Equation" r:id="rId12" imgW="190500" imgH="254000" progId="Equation.DSMT4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3755" y="3301174"/>
                        <a:ext cx="408420" cy="5437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9" name="Object 14"/>
          <p:cNvGraphicFramePr>
            <a:graphicFrameLocks noChangeAspect="1"/>
          </p:cNvGraphicFramePr>
          <p:nvPr/>
        </p:nvGraphicFramePr>
        <p:xfrm>
          <a:off x="9476509" y="2678400"/>
          <a:ext cx="456191" cy="4541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400" imgH="279400" progId="Equation.DSMT4">
                  <p:embed/>
                </p:oleObj>
              </mc:Choice>
              <mc:Fallback>
                <p:oleObj name="Equation" r:id="rId14" imgW="279400" imgH="279400" progId="Equation.DSMT4">
                  <p:embed/>
                  <p:pic>
                    <p:nvPicPr>
                      <p:cNvPr id="0" name="图片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76509" y="2678400"/>
                        <a:ext cx="456191" cy="4541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80" name="Object 15"/>
          <p:cNvGraphicFramePr>
            <a:graphicFrameLocks noChangeAspect="1"/>
          </p:cNvGraphicFramePr>
          <p:nvPr/>
        </p:nvGraphicFramePr>
        <p:xfrm>
          <a:off x="3143250" y="5478463"/>
          <a:ext cx="37623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28600" imgH="254000" progId="Equation.DSMT4">
                  <p:embed/>
                </p:oleObj>
              </mc:Choice>
              <mc:Fallback>
                <p:oleObj name="Equation" r:id="rId16" imgW="228600" imgH="254000" progId="Equation.DSMT4">
                  <p:embed/>
                  <p:pic>
                    <p:nvPicPr>
                      <p:cNvPr id="0" name="图片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0" y="5478463"/>
                        <a:ext cx="376238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3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04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3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3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3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13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13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13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13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13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13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13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13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704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13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704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8" grpId="0"/>
      <p:bldP spid="704521" grpId="0"/>
      <p:bldP spid="704522" grpId="0"/>
      <p:bldP spid="70452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94" name="Object 3"/>
          <p:cNvGraphicFramePr>
            <a:graphicFrameLocks noChangeAspect="1"/>
          </p:cNvGraphicFramePr>
          <p:nvPr/>
        </p:nvGraphicFramePr>
        <p:xfrm>
          <a:off x="2201650" y="2570563"/>
          <a:ext cx="3815120" cy="21296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71700" imgH="1206500" progId="Equation.DSMT4">
                  <p:embed/>
                </p:oleObj>
              </mc:Choice>
              <mc:Fallback>
                <p:oleObj name="Equation" r:id="rId2" imgW="2171700" imgH="12065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1650" y="2570563"/>
                        <a:ext cx="3815120" cy="21296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5" name="Rectangle 5"/>
          <p:cNvSpPr>
            <a:spLocks noChangeArrowheads="1"/>
          </p:cNvSpPr>
          <p:nvPr/>
        </p:nvSpPr>
        <p:spPr bwMode="auto">
          <a:xfrm>
            <a:off x="1648691" y="1171558"/>
            <a:ext cx="582194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5000"/>
              </a:spcBef>
              <a:buClrTx/>
              <a:buSzTx/>
              <a:buFontTx/>
              <a:buChar char="•"/>
            </a:pPr>
            <a:r>
              <a:rPr lang="en-US" altLang="zh-CN" b="1" dirty="0">
                <a:solidFill>
                  <a:srgbClr val="0000CC"/>
                </a:solidFill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0000CC"/>
                </a:solidFill>
                <a:ea typeface="楷体_GB2312" pitchFamily="49" charset="-122"/>
              </a:rPr>
              <a:t>Magnetic flux density on the axis of the current carrying circular ring </a:t>
            </a:r>
            <a:r>
              <a:rPr lang="zh-CN" altLang="en-US" sz="2400" b="1" dirty="0">
                <a:solidFill>
                  <a:srgbClr val="0000CC"/>
                </a:solidFill>
                <a:ea typeface="楷体_GB2312" pitchFamily="49" charset="-122"/>
              </a:rPr>
              <a:t>：</a:t>
            </a:r>
          </a:p>
        </p:txBody>
      </p:sp>
      <p:grpSp>
        <p:nvGrpSpPr>
          <p:cNvPr id="33796" name="Group 30"/>
          <p:cNvGrpSpPr/>
          <p:nvPr/>
        </p:nvGrpSpPr>
        <p:grpSpPr bwMode="auto">
          <a:xfrm>
            <a:off x="7680328" y="2054227"/>
            <a:ext cx="2447925" cy="2536825"/>
            <a:chOff x="3923" y="2337"/>
            <a:chExt cx="1542" cy="1598"/>
          </a:xfrm>
        </p:grpSpPr>
        <p:grpSp>
          <p:nvGrpSpPr>
            <p:cNvPr id="33797" name="Group 31"/>
            <p:cNvGrpSpPr/>
            <p:nvPr/>
          </p:nvGrpSpPr>
          <p:grpSpPr bwMode="auto">
            <a:xfrm>
              <a:off x="3923" y="2337"/>
              <a:ext cx="1542" cy="1598"/>
              <a:chOff x="3923" y="2296"/>
              <a:chExt cx="1542" cy="1598"/>
            </a:xfrm>
          </p:grpSpPr>
          <p:grpSp>
            <p:nvGrpSpPr>
              <p:cNvPr id="33800" name="Group 33"/>
              <p:cNvGrpSpPr/>
              <p:nvPr/>
            </p:nvGrpSpPr>
            <p:grpSpPr bwMode="auto">
              <a:xfrm>
                <a:off x="3923" y="2296"/>
                <a:ext cx="1542" cy="1435"/>
                <a:chOff x="3923" y="2296"/>
                <a:chExt cx="1542" cy="1435"/>
              </a:xfrm>
            </p:grpSpPr>
            <p:sp>
              <p:nvSpPr>
                <p:cNvPr id="33802" name="Line 34"/>
                <p:cNvSpPr>
                  <a:spLocks noChangeShapeType="1"/>
                </p:cNvSpPr>
                <p:nvPr/>
              </p:nvSpPr>
              <p:spPr bwMode="auto">
                <a:xfrm flipV="1">
                  <a:off x="4558" y="2341"/>
                  <a:ext cx="0" cy="907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3803" name="Line 35"/>
                <p:cNvSpPr>
                  <a:spLocks noChangeShapeType="1"/>
                </p:cNvSpPr>
                <p:nvPr/>
              </p:nvSpPr>
              <p:spPr bwMode="auto">
                <a:xfrm flipH="1">
                  <a:off x="4059" y="3248"/>
                  <a:ext cx="499" cy="363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3804" name="Line 36"/>
                <p:cNvSpPr>
                  <a:spLocks noChangeShapeType="1"/>
                </p:cNvSpPr>
                <p:nvPr/>
              </p:nvSpPr>
              <p:spPr bwMode="auto">
                <a:xfrm rot="5400000" flipV="1">
                  <a:off x="4932" y="2874"/>
                  <a:ext cx="0" cy="748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3805" name="Line 37"/>
                <p:cNvSpPr>
                  <a:spLocks noChangeShapeType="1"/>
                </p:cNvSpPr>
                <p:nvPr/>
              </p:nvSpPr>
              <p:spPr bwMode="auto">
                <a:xfrm flipH="1" flipV="1">
                  <a:off x="4558" y="2568"/>
                  <a:ext cx="272" cy="84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graphicFrame>
              <p:nvGraphicFramePr>
                <p:cNvPr id="33806" name="Object 38"/>
                <p:cNvGraphicFramePr>
                  <a:graphicFrameLocks noChangeAspect="1"/>
                </p:cNvGraphicFramePr>
                <p:nvPr/>
              </p:nvGraphicFramePr>
              <p:xfrm>
                <a:off x="4771" y="3421"/>
                <a:ext cx="161" cy="19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4" imgW="152400" imgH="203200" progId="Equation.DSMT4">
                        <p:embed/>
                      </p:oleObj>
                    </mc:Choice>
                    <mc:Fallback>
                      <p:oleObj name="Equation" r:id="rId4" imgW="152400" imgH="203200" progId="Equation.DSMT4">
                        <p:embed/>
                        <p:pic>
                          <p:nvPicPr>
                            <p:cNvPr id="0" name="图片 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771" y="3421"/>
                              <a:ext cx="161" cy="19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3807" name="Object 39"/>
                <p:cNvGraphicFramePr>
                  <a:graphicFrameLocks noChangeAspect="1"/>
                </p:cNvGraphicFramePr>
                <p:nvPr/>
              </p:nvGraphicFramePr>
              <p:xfrm>
                <a:off x="5288" y="3203"/>
                <a:ext cx="177" cy="19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6" imgW="177800" imgH="203200" progId="Equation.DSMT4">
                        <p:embed/>
                      </p:oleObj>
                    </mc:Choice>
                    <mc:Fallback>
                      <p:oleObj name="Equation" r:id="rId6" imgW="177800" imgH="203200" progId="Equation.DSMT4">
                        <p:embed/>
                        <p:pic>
                          <p:nvPicPr>
                            <p:cNvPr id="0" name="图片 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288" y="3203"/>
                              <a:ext cx="177" cy="19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3808" name="Object 40"/>
                <p:cNvGraphicFramePr>
                  <a:graphicFrameLocks noChangeAspect="1"/>
                </p:cNvGraphicFramePr>
                <p:nvPr/>
              </p:nvGraphicFramePr>
              <p:xfrm>
                <a:off x="3923" y="3566"/>
                <a:ext cx="161" cy="16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8" imgW="152400" imgH="177800" progId="Equation.DSMT4">
                        <p:embed/>
                      </p:oleObj>
                    </mc:Choice>
                    <mc:Fallback>
                      <p:oleObj name="Equation" r:id="rId8" imgW="152400" imgH="177800" progId="Equation.DSMT4">
                        <p:embed/>
                        <p:pic>
                          <p:nvPicPr>
                            <p:cNvPr id="0" name="图片 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923" y="3566"/>
                              <a:ext cx="161" cy="16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3809" name="Object 41"/>
                <p:cNvGraphicFramePr>
                  <a:graphicFrameLocks noChangeAspect="1"/>
                </p:cNvGraphicFramePr>
                <p:nvPr/>
              </p:nvGraphicFramePr>
              <p:xfrm>
                <a:off x="4558" y="2296"/>
                <a:ext cx="227" cy="21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0" imgW="152400" imgH="152400" progId="Equation.DSMT4">
                        <p:embed/>
                      </p:oleObj>
                    </mc:Choice>
                    <mc:Fallback>
                      <p:oleObj name="Equation" r:id="rId10" imgW="152400" imgH="152400" progId="Equation.DSMT4">
                        <p:embed/>
                        <p:pic>
                          <p:nvPicPr>
                            <p:cNvPr id="0" name="图片 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58" y="2296"/>
                              <a:ext cx="227" cy="21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3810" name="Object 42"/>
                <p:cNvGraphicFramePr>
                  <a:graphicFrameLocks noChangeAspect="1"/>
                </p:cNvGraphicFramePr>
                <p:nvPr/>
              </p:nvGraphicFramePr>
              <p:xfrm>
                <a:off x="4512" y="3248"/>
                <a:ext cx="161" cy="16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2" imgW="152400" imgH="177800" progId="Equation.DSMT4">
                        <p:embed/>
                      </p:oleObj>
                    </mc:Choice>
                    <mc:Fallback>
                      <p:oleObj name="Equation" r:id="rId12" imgW="152400" imgH="177800" progId="Equation.DSMT4">
                        <p:embed/>
                        <p:pic>
                          <p:nvPicPr>
                            <p:cNvPr id="0" name="图片 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12" y="3248"/>
                              <a:ext cx="161" cy="16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3811" name="Object 43"/>
                <p:cNvGraphicFramePr>
                  <a:graphicFrameLocks noChangeAspect="1"/>
                </p:cNvGraphicFramePr>
                <p:nvPr/>
              </p:nvGraphicFramePr>
              <p:xfrm>
                <a:off x="4299" y="2523"/>
                <a:ext cx="258" cy="19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4" imgW="254000" imgH="203200" progId="Equation.DSMT4">
                        <p:embed/>
                      </p:oleObj>
                    </mc:Choice>
                    <mc:Fallback>
                      <p:oleObj name="Equation" r:id="rId14" imgW="254000" imgH="203200" progId="Equation.DSMT4">
                        <p:embed/>
                        <p:pic>
                          <p:nvPicPr>
                            <p:cNvPr id="0" name="图片 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299" y="2523"/>
                              <a:ext cx="258" cy="19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3812" name="Line 44"/>
                <p:cNvSpPr>
                  <a:spLocks noChangeShapeType="1"/>
                </p:cNvSpPr>
                <p:nvPr/>
              </p:nvSpPr>
              <p:spPr bwMode="auto">
                <a:xfrm flipH="1" flipV="1">
                  <a:off x="4286" y="3067"/>
                  <a:ext cx="272" cy="18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graphicFrame>
              <p:nvGraphicFramePr>
                <p:cNvPr id="33813" name="Object 45"/>
                <p:cNvGraphicFramePr>
                  <a:graphicFrameLocks noChangeAspect="1"/>
                </p:cNvGraphicFramePr>
                <p:nvPr/>
              </p:nvGraphicFramePr>
              <p:xfrm>
                <a:off x="4286" y="3127"/>
                <a:ext cx="161" cy="16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6" imgW="152400" imgH="177800" progId="Equation.DSMT4">
                        <p:embed/>
                      </p:oleObj>
                    </mc:Choice>
                    <mc:Fallback>
                      <p:oleObj name="Equation" r:id="rId16" imgW="152400" imgH="177800" progId="Equation.DSMT4">
                        <p:embed/>
                        <p:pic>
                          <p:nvPicPr>
                            <p:cNvPr id="0" name="图片 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286" y="3127"/>
                              <a:ext cx="161" cy="16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3814" name="Oval 46"/>
                <p:cNvSpPr>
                  <a:spLocks noChangeArrowheads="1"/>
                </p:cNvSpPr>
                <p:nvPr/>
              </p:nvSpPr>
              <p:spPr bwMode="auto">
                <a:xfrm>
                  <a:off x="4123" y="3071"/>
                  <a:ext cx="870" cy="354"/>
                </a:xfrm>
                <a:prstGeom prst="ellipse">
                  <a:avLst/>
                </a:prstGeom>
                <a:noFill/>
                <a:ln w="349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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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15000"/>
                    </a:spcBef>
                    <a:buClrTx/>
                    <a:buSzTx/>
                    <a:buFontTx/>
                    <a:buNone/>
                  </a:pPr>
                  <a:endParaRPr lang="zh-CN" altLang="zh-CN" sz="2000">
                    <a:solidFill>
                      <a:schemeClr val="bg1"/>
                    </a:solidFill>
                    <a:ea typeface="楷体_GB2312" pitchFamily="49" charset="-122"/>
                  </a:endParaRPr>
                </a:p>
              </p:txBody>
            </p:sp>
            <p:sp>
              <p:nvSpPr>
                <p:cNvPr id="33815" name="Oval 47"/>
                <p:cNvSpPr>
                  <a:spLocks noChangeArrowheads="1"/>
                </p:cNvSpPr>
                <p:nvPr/>
              </p:nvSpPr>
              <p:spPr bwMode="auto">
                <a:xfrm>
                  <a:off x="4518" y="2425"/>
                  <a:ext cx="164" cy="354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Wingdings" panose="05000000000000000000" pitchFamily="2" charset="2"/>
                    <a:buChar char="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90000"/>
                    <a:buFont typeface="Wingdings" panose="05000000000000000000" pitchFamily="2" charset="2"/>
                    <a:buChar char="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SzPct val="85000"/>
                    <a:buFont typeface="Wingdings" panose="05000000000000000000" pitchFamily="2" charset="2"/>
                    <a:buChar char="v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15000"/>
                    </a:spcBef>
                    <a:buClrTx/>
                    <a:buSzTx/>
                    <a:buFontTx/>
                    <a:buNone/>
                  </a:pPr>
                  <a:endParaRPr lang="zh-CN" altLang="zh-CN" sz="2000">
                    <a:solidFill>
                      <a:schemeClr val="bg1"/>
                    </a:solidFill>
                    <a:ea typeface="楷体_GB2312" pitchFamily="49" charset="-122"/>
                  </a:endParaRPr>
                </a:p>
              </p:txBody>
            </p:sp>
          </p:grpSp>
          <p:sp>
            <p:nvSpPr>
              <p:cNvPr id="33801" name="Rectangle 48"/>
              <p:cNvSpPr>
                <a:spLocks noChangeArrowheads="1"/>
              </p:cNvSpPr>
              <p:nvPr/>
            </p:nvSpPr>
            <p:spPr bwMode="auto">
              <a:xfrm>
                <a:off x="3923" y="3702"/>
                <a:ext cx="145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15000"/>
                  </a:spcBef>
                  <a:buClrTx/>
                  <a:buSzTx/>
                  <a:buFontTx/>
                  <a:buNone/>
                </a:pPr>
                <a:r>
                  <a:rPr lang="en-US" altLang="zh-CN" sz="1400" b="1">
                    <a:solidFill>
                      <a:srgbClr val="000000"/>
                    </a:solidFill>
                    <a:ea typeface="楷体_GB2312" pitchFamily="49" charset="-122"/>
                  </a:rPr>
                  <a:t>Circular ring carrying </a:t>
                </a:r>
                <a:r>
                  <a:rPr lang="en-US" altLang="zh-CN" sz="1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I</a:t>
                </a:r>
              </a:p>
            </p:txBody>
          </p:sp>
        </p:grpSp>
        <p:sp>
          <p:nvSpPr>
            <p:cNvPr id="33798" name="Line 49"/>
            <p:cNvSpPr>
              <a:spLocks noChangeShapeType="1"/>
            </p:cNvSpPr>
            <p:nvPr/>
          </p:nvSpPr>
          <p:spPr bwMode="auto">
            <a:xfrm flipV="1">
              <a:off x="4801" y="3430"/>
              <a:ext cx="91" cy="45"/>
            </a:xfrm>
            <a:prstGeom prst="line">
              <a:avLst/>
            </a:prstGeom>
            <a:noFill/>
            <a:ln w="34925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1739265" y="857885"/>
            <a:ext cx="10008235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After medium is magnetized, net current distribution   could appear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internally</a:t>
            </a:r>
            <a:r>
              <a:rPr lang="en-US" altLang="zh-CN" sz="2400" b="1" dirty="0">
                <a:solidFill>
                  <a:srgbClr val="FF99FF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,that is the generation of volume magnetization current.</a:t>
            </a: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2424113" y="404813"/>
            <a:ext cx="7561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rgbClr val="0000CC"/>
                </a:solidFill>
                <a:ea typeface="楷体_GB2312" pitchFamily="49" charset="-122"/>
              </a:rPr>
              <a:t>Further discussion on magnetization phenomenon</a:t>
            </a:r>
          </a:p>
        </p:txBody>
      </p:sp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1739265" y="1851660"/>
            <a:ext cx="10240010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After medium is magnetized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net current distribution     could appear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at interface of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medium, that is the generation of surface magnetization current .</a:t>
            </a:r>
          </a:p>
        </p:txBody>
      </p:sp>
      <p:graphicFrame>
        <p:nvGraphicFramePr>
          <p:cNvPr id="34824" name="Object 460"/>
          <p:cNvGraphicFramePr>
            <a:graphicFrameLocks noChangeAspect="1"/>
          </p:cNvGraphicFramePr>
          <p:nvPr/>
        </p:nvGraphicFramePr>
        <p:xfrm>
          <a:off x="9033193" y="889953"/>
          <a:ext cx="41116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9400" imgH="330200" progId="Equation.DSMT4">
                  <p:embed/>
                </p:oleObj>
              </mc:Choice>
              <mc:Fallback>
                <p:oleObj name="Equation" r:id="rId2" imgW="279400" imgH="3302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33193" y="889953"/>
                        <a:ext cx="41116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5" name="Object 464"/>
          <p:cNvGraphicFramePr>
            <a:graphicFrameLocks noChangeAspect="1"/>
          </p:cNvGraphicFramePr>
          <p:nvPr/>
        </p:nvGraphicFramePr>
        <p:xfrm>
          <a:off x="9267509" y="2052321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900" imgH="330200" progId="Equation.DSMT4">
                  <p:embed/>
                </p:oleObj>
              </mc:Choice>
              <mc:Fallback>
                <p:oleObj name="Equation" r:id="rId4" imgW="342900" imgH="3302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67509" y="2052321"/>
                        <a:ext cx="4286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175" y="3429000"/>
            <a:ext cx="3691890" cy="22707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9465" y="3336290"/>
            <a:ext cx="2259330" cy="23634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7900" y="3429000"/>
            <a:ext cx="4651375" cy="200215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586" name="Text Box 2"/>
          <p:cNvSpPr txBox="1">
            <a:spLocks noChangeArrowheads="1"/>
          </p:cNvSpPr>
          <p:nvPr/>
        </p:nvSpPr>
        <p:spPr bwMode="auto">
          <a:xfrm>
            <a:off x="2309814" y="333375"/>
            <a:ext cx="7572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rgbClr val="0000CC"/>
                </a:solidFill>
                <a:ea typeface="楷体_GB2312" pitchFamily="49" charset="-122"/>
              </a:rPr>
              <a:t>Calculation of volume magnetic current density</a:t>
            </a:r>
          </a:p>
        </p:txBody>
      </p:sp>
      <p:graphicFrame>
        <p:nvGraphicFramePr>
          <p:cNvPr id="116740" name="Object 3"/>
          <p:cNvGraphicFramePr>
            <a:graphicFrameLocks noChangeAspect="1"/>
          </p:cNvGraphicFramePr>
          <p:nvPr/>
        </p:nvGraphicFramePr>
        <p:xfrm>
          <a:off x="5087144" y="976313"/>
          <a:ext cx="145891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65200" imgH="330200" progId="Equation.DSMT4">
                  <p:embed/>
                </p:oleObj>
              </mc:Choice>
              <mc:Fallback>
                <p:oleObj name="Equation" r:id="rId2" imgW="965200" imgH="3302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144" y="976313"/>
                        <a:ext cx="1458912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7588" name="Text Box 4"/>
          <p:cNvSpPr txBox="1">
            <a:spLocks noChangeArrowheads="1"/>
          </p:cNvSpPr>
          <p:nvPr/>
        </p:nvSpPr>
        <p:spPr bwMode="auto">
          <a:xfrm>
            <a:off x="1774825" y="2781301"/>
            <a:ext cx="1079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so</a:t>
            </a:r>
            <a:r>
              <a:rPr kumimoji="1"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，</a:t>
            </a:r>
          </a:p>
        </p:txBody>
      </p:sp>
      <p:graphicFrame>
        <p:nvGraphicFramePr>
          <p:cNvPr id="116742" name="Object 5"/>
          <p:cNvGraphicFramePr>
            <a:graphicFrameLocks noChangeAspect="1"/>
          </p:cNvGraphicFramePr>
          <p:nvPr/>
        </p:nvGraphicFramePr>
        <p:xfrm>
          <a:off x="3151188" y="2725739"/>
          <a:ext cx="2138362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44600" imgH="406400" progId="Equation.DSMT4">
                  <p:embed/>
                </p:oleObj>
              </mc:Choice>
              <mc:Fallback>
                <p:oleObj name="Equation" r:id="rId4" imgW="1244600" imgH="4064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1188" y="2725739"/>
                        <a:ext cx="2138362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7591" name="AutoShape 7"/>
          <p:cNvSpPr>
            <a:spLocks noChangeArrowheads="1"/>
          </p:cNvSpPr>
          <p:nvPr/>
        </p:nvSpPr>
        <p:spPr bwMode="auto">
          <a:xfrm rot="-5400000">
            <a:off x="2435226" y="3344863"/>
            <a:ext cx="265112" cy="576263"/>
          </a:xfrm>
          <a:prstGeom prst="downArrow">
            <a:avLst>
              <a:gd name="adj1" fmla="val 50000"/>
              <a:gd name="adj2" fmla="val 54341"/>
            </a:avLst>
          </a:prstGeom>
          <a:solidFill>
            <a:srgbClr val="FFCC99"/>
          </a:solidFill>
          <a:ln w="22225">
            <a:solidFill>
              <a:srgbClr val="FF6600"/>
            </a:solidFill>
            <a:miter lim="800000"/>
          </a:ln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5000"/>
              </a:spcBef>
              <a:buClrTx/>
              <a:buSzTx/>
              <a:buFontTx/>
              <a:buNone/>
            </a:pPr>
            <a:endParaRPr lang="zh-CN" altLang="zh-CN" sz="2000">
              <a:solidFill>
                <a:schemeClr val="bg1"/>
              </a:solidFill>
              <a:ea typeface="楷体_GB2312" pitchFamily="49" charset="-122"/>
            </a:endParaRPr>
          </a:p>
        </p:txBody>
      </p:sp>
      <p:sp>
        <p:nvSpPr>
          <p:cNvPr id="707802" name="Text Box 218"/>
          <p:cNvSpPr txBox="1">
            <a:spLocks noChangeArrowheads="1"/>
          </p:cNvSpPr>
          <p:nvPr/>
        </p:nvSpPr>
        <p:spPr bwMode="auto">
          <a:xfrm>
            <a:off x="1774826" y="942975"/>
            <a:ext cx="29829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u="sng" dirty="0">
                <a:solidFill>
                  <a:srgbClr val="000000"/>
                </a:solidFill>
                <a:ea typeface="仿宋_GB2312" pitchFamily="49" charset="-122"/>
              </a:rPr>
              <a:t>Calculation Principle </a:t>
            </a:r>
            <a:r>
              <a:rPr kumimoji="1" lang="zh-CN" altLang="en-US" sz="2800" b="1" dirty="0">
                <a:solidFill>
                  <a:srgbClr val="000000"/>
                </a:solidFill>
                <a:ea typeface="仿宋_GB2312" pitchFamily="49" charset="-122"/>
              </a:rPr>
              <a:t>：</a:t>
            </a:r>
          </a:p>
        </p:txBody>
      </p:sp>
      <p:graphicFrame>
        <p:nvGraphicFramePr>
          <p:cNvPr id="116745" name="Object 219"/>
          <p:cNvGraphicFramePr>
            <a:graphicFrameLocks noChangeAspect="1"/>
          </p:cNvGraphicFramePr>
          <p:nvPr/>
        </p:nvGraphicFramePr>
        <p:xfrm>
          <a:off x="2495551" y="1557338"/>
          <a:ext cx="1560513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41400" imgH="330200" progId="Equation.DSMT4">
                  <p:embed/>
                </p:oleObj>
              </mc:Choice>
              <mc:Fallback>
                <p:oleObj name="Equation" r:id="rId6" imgW="1041400" imgH="3302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1" y="1557338"/>
                        <a:ext cx="1560513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7804" name="Text Box 220"/>
          <p:cNvSpPr txBox="1">
            <a:spLocks noChangeArrowheads="1"/>
          </p:cNvSpPr>
          <p:nvPr/>
        </p:nvSpPr>
        <p:spPr bwMode="auto">
          <a:xfrm>
            <a:off x="1774825" y="1557339"/>
            <a:ext cx="10795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As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，</a:t>
            </a:r>
          </a:p>
        </p:txBody>
      </p:sp>
      <p:sp>
        <p:nvSpPr>
          <p:cNvPr id="707806" name="Text Box 222"/>
          <p:cNvSpPr txBox="1">
            <a:spLocks noChangeArrowheads="1"/>
          </p:cNvSpPr>
          <p:nvPr/>
        </p:nvSpPr>
        <p:spPr bwMode="auto">
          <a:xfrm>
            <a:off x="2166938" y="4005263"/>
            <a:ext cx="800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rgbClr val="0000CC"/>
                </a:solidFill>
                <a:ea typeface="楷体_GB2312" pitchFamily="49" charset="-122"/>
              </a:rPr>
              <a:t>Calculation of surface magnetic current density</a:t>
            </a:r>
          </a:p>
        </p:txBody>
      </p:sp>
      <p:graphicFrame>
        <p:nvGraphicFramePr>
          <p:cNvPr id="116749" name="Object 223"/>
          <p:cNvGraphicFramePr>
            <a:graphicFrameLocks noChangeAspect="1"/>
          </p:cNvGraphicFramePr>
          <p:nvPr/>
        </p:nvGraphicFramePr>
        <p:xfrm>
          <a:off x="3038475" y="5815301"/>
          <a:ext cx="17272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04900" imgH="330200" progId="Equation.DSMT4">
                  <p:embed/>
                </p:oleObj>
              </mc:Choice>
              <mc:Fallback>
                <p:oleObj name="Equation" r:id="rId8" imgW="1104900" imgH="3302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8475" y="5815301"/>
                        <a:ext cx="172720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7994" name="Text Box 410"/>
          <p:cNvSpPr txBox="1">
            <a:spLocks noChangeArrowheads="1"/>
          </p:cNvSpPr>
          <p:nvPr/>
        </p:nvSpPr>
        <p:spPr bwMode="auto">
          <a:xfrm>
            <a:off x="2189018" y="4471989"/>
            <a:ext cx="354979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dirty="0">
                <a:solidFill>
                  <a:srgbClr val="000000"/>
                </a:solidFill>
                <a:ea typeface="仿宋_GB2312" pitchFamily="49" charset="-122"/>
                <a:cs typeface="Arial" panose="020B0604020202020204" pitchFamily="34" charset="0"/>
              </a:rPr>
              <a:t>At the interface of media 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：</a:t>
            </a:r>
          </a:p>
        </p:txBody>
      </p:sp>
      <p:graphicFrame>
        <p:nvGraphicFramePr>
          <p:cNvPr id="116751" name="Object 411"/>
          <p:cNvGraphicFramePr>
            <a:graphicFrameLocks noChangeAspect="1"/>
          </p:cNvGraphicFramePr>
          <p:nvPr/>
        </p:nvGraphicFramePr>
        <p:xfrm>
          <a:off x="3181351" y="5341938"/>
          <a:ext cx="1660525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04900" imgH="330200" progId="Equation.DSMT4">
                  <p:embed/>
                </p:oleObj>
              </mc:Choice>
              <mc:Fallback>
                <p:oleObj name="Equation" r:id="rId10" imgW="1104900" imgH="3302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1351" y="5341938"/>
                        <a:ext cx="1660525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7996" name="Text Box 412"/>
          <p:cNvSpPr txBox="1">
            <a:spLocks noChangeArrowheads="1"/>
          </p:cNvSpPr>
          <p:nvPr/>
        </p:nvSpPr>
        <p:spPr bwMode="auto">
          <a:xfrm>
            <a:off x="2208213" y="5408614"/>
            <a:ext cx="1079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so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，</a:t>
            </a:r>
          </a:p>
        </p:txBody>
      </p:sp>
      <p:sp>
        <p:nvSpPr>
          <p:cNvPr id="707997" name="Text Box 413"/>
          <p:cNvSpPr txBox="1">
            <a:spLocks noChangeArrowheads="1"/>
          </p:cNvSpPr>
          <p:nvPr/>
        </p:nvSpPr>
        <p:spPr bwMode="auto">
          <a:xfrm>
            <a:off x="2208213" y="4941889"/>
            <a:ext cx="1079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As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，</a:t>
            </a:r>
          </a:p>
        </p:txBody>
      </p:sp>
      <p:sp>
        <p:nvSpPr>
          <p:cNvPr id="707998" name="AutoShape 414"/>
          <p:cNvSpPr>
            <a:spLocks noChangeArrowheads="1"/>
          </p:cNvSpPr>
          <p:nvPr/>
        </p:nvSpPr>
        <p:spPr bwMode="auto">
          <a:xfrm rot="-5400000">
            <a:off x="2506663" y="5865813"/>
            <a:ext cx="265112" cy="576262"/>
          </a:xfrm>
          <a:prstGeom prst="downArrow">
            <a:avLst>
              <a:gd name="adj1" fmla="val 50000"/>
              <a:gd name="adj2" fmla="val 54341"/>
            </a:avLst>
          </a:prstGeom>
          <a:solidFill>
            <a:srgbClr val="FFCC99"/>
          </a:solidFill>
          <a:ln w="22225">
            <a:solidFill>
              <a:srgbClr val="FF6600"/>
            </a:solidFill>
            <a:miter lim="800000"/>
          </a:ln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5000"/>
              </a:spcBef>
              <a:buClrTx/>
              <a:buSzTx/>
              <a:buFontTx/>
              <a:buNone/>
            </a:pPr>
            <a:endParaRPr lang="zh-CN" altLang="zh-CN" sz="2000">
              <a:solidFill>
                <a:schemeClr val="bg1"/>
              </a:solidFill>
              <a:ea typeface="楷体_GB2312" pitchFamily="49" charset="-122"/>
            </a:endParaRPr>
          </a:p>
        </p:txBody>
      </p:sp>
      <p:graphicFrame>
        <p:nvGraphicFramePr>
          <p:cNvPr id="116756" name="Object 416"/>
          <p:cNvGraphicFramePr>
            <a:graphicFrameLocks noChangeAspect="1"/>
          </p:cNvGraphicFramePr>
          <p:nvPr/>
        </p:nvGraphicFramePr>
        <p:xfrm>
          <a:off x="3216276" y="2047876"/>
          <a:ext cx="41497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781300" imgH="330200" progId="Equation.DSMT4">
                  <p:embed/>
                </p:oleObj>
              </mc:Choice>
              <mc:Fallback>
                <p:oleObj name="Equation" r:id="rId12" imgW="2781300" imgH="330200" progId="Equation.DSMT4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6" y="2047876"/>
                        <a:ext cx="414972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57" name="Object 417"/>
          <p:cNvGraphicFramePr>
            <a:graphicFrameLocks noChangeAspect="1"/>
          </p:cNvGraphicFramePr>
          <p:nvPr/>
        </p:nvGraphicFramePr>
        <p:xfrm>
          <a:off x="4151313" y="1628776"/>
          <a:ext cx="931862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09600" imgH="228600" progId="Equation.DSMT4">
                  <p:embed/>
                </p:oleObj>
              </mc:Choice>
              <mc:Fallback>
                <p:oleObj name="Equation" r:id="rId14" imgW="609600" imgH="228600" progId="Equation.DSMT4">
                  <p:embed/>
                  <p:pic>
                    <p:nvPicPr>
                      <p:cNvPr id="0" name="图片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313" y="1628776"/>
                        <a:ext cx="931862" cy="35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58" name="Object 418"/>
          <p:cNvGraphicFramePr>
            <a:graphicFrameLocks noChangeAspect="1"/>
          </p:cNvGraphicFramePr>
          <p:nvPr/>
        </p:nvGraphicFramePr>
        <p:xfrm>
          <a:off x="5076825" y="1654176"/>
          <a:ext cx="1811338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06500" imgH="228600" progId="Equation.DSMT4">
                  <p:embed/>
                </p:oleObj>
              </mc:Choice>
              <mc:Fallback>
                <p:oleObj name="Equation" r:id="rId16" imgW="1206500" imgH="228600" progId="Equation.DSMT4">
                  <p:embed/>
                  <p:pic>
                    <p:nvPicPr>
                      <p:cNvPr id="0" name="图片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1654176"/>
                        <a:ext cx="1811338" cy="35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864" name="Object 683"/>
          <p:cNvGraphicFramePr>
            <a:graphicFrameLocks noChangeAspect="1"/>
          </p:cNvGraphicFramePr>
          <p:nvPr/>
        </p:nvGraphicFramePr>
        <p:xfrm>
          <a:off x="3097213" y="3340100"/>
          <a:ext cx="1485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03300" imgH="330200" progId="Equation.DSMT4">
                  <p:embed/>
                </p:oleObj>
              </mc:Choice>
              <mc:Fallback>
                <p:oleObj name="Equation" r:id="rId18" imgW="1003300" imgH="330200" progId="Equation.DSMT4">
                  <p:embed/>
                  <p:pic>
                    <p:nvPicPr>
                      <p:cNvPr id="0" name="图片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7213" y="3340100"/>
                        <a:ext cx="14859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865" name="Object 694"/>
          <p:cNvGraphicFramePr>
            <a:graphicFrameLocks noChangeAspect="1"/>
          </p:cNvGraphicFramePr>
          <p:nvPr/>
        </p:nvGraphicFramePr>
        <p:xfrm>
          <a:off x="3143251" y="4868863"/>
          <a:ext cx="982663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647700" imgH="330200" progId="Equation.DSMT4">
                  <p:embed/>
                </p:oleObj>
              </mc:Choice>
              <mc:Fallback>
                <p:oleObj name="Equation" r:id="rId20" imgW="647700" imgH="330200" progId="Equation.DSMT4">
                  <p:embed/>
                  <p:pic>
                    <p:nvPicPr>
                      <p:cNvPr id="0" name="图片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1" y="4868863"/>
                        <a:ext cx="982663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866" name="Object 695"/>
          <p:cNvGraphicFramePr>
            <a:graphicFrameLocks noChangeAspect="1"/>
          </p:cNvGraphicFramePr>
          <p:nvPr/>
        </p:nvGraphicFramePr>
        <p:xfrm>
          <a:off x="4216401" y="4868863"/>
          <a:ext cx="804863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533400" imgH="279400" progId="Equation.DSMT4">
                  <p:embed/>
                </p:oleObj>
              </mc:Choice>
              <mc:Fallback>
                <p:oleObj name="Equation" r:id="rId22" imgW="533400" imgH="279400" progId="Equation.DSMT4">
                  <p:embed/>
                  <p:pic>
                    <p:nvPicPr>
                      <p:cNvPr id="0" name="图片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6401" y="4868863"/>
                        <a:ext cx="804863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867" name="Object 698"/>
          <p:cNvGraphicFramePr>
            <a:graphicFrameLocks noChangeAspect="1"/>
          </p:cNvGraphicFramePr>
          <p:nvPr/>
        </p:nvGraphicFramePr>
        <p:xfrm>
          <a:off x="5816600" y="5326063"/>
          <a:ext cx="1208088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800100" imgH="292100" progId="Equation.DSMT4">
                  <p:embed/>
                </p:oleObj>
              </mc:Choice>
              <mc:Fallback>
                <p:oleObj name="Equation" r:id="rId24" imgW="800100" imgH="292100" progId="Equation.DSMT4">
                  <p:embed/>
                  <p:pic>
                    <p:nvPicPr>
                      <p:cNvPr id="0" name="图片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6600" y="5326063"/>
                        <a:ext cx="1208088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图片 13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086726" y="1147300"/>
            <a:ext cx="3078328" cy="27083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07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07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07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6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6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16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16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707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707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16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707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707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707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16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1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707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116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11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707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116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7586" grpId="0"/>
      <p:bldP spid="707588" grpId="0"/>
      <p:bldP spid="707591" grpId="0" animBg="1"/>
      <p:bldP spid="707802" grpId="0"/>
      <p:bldP spid="707804" grpId="0"/>
      <p:bldP spid="707806" grpId="0"/>
      <p:bldP spid="707994" grpId="0"/>
      <p:bldP spid="707996" grpId="0"/>
      <p:bldP spid="707997" grpId="0"/>
      <p:bldP spid="70799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7" name="AutoShape 2"/>
          <p:cNvSpPr>
            <a:spLocks noChangeArrowheads="1"/>
          </p:cNvSpPr>
          <p:nvPr/>
        </p:nvSpPr>
        <p:spPr bwMode="auto">
          <a:xfrm>
            <a:off x="3699164" y="374072"/>
            <a:ext cx="8756073" cy="5763491"/>
          </a:xfrm>
          <a:prstGeom prst="cloudCallout">
            <a:avLst>
              <a:gd name="adj1" fmla="val -44236"/>
              <a:gd name="adj2" fmla="val 1463"/>
            </a:avLst>
          </a:prstGeom>
          <a:solidFill>
            <a:schemeClr val="tx2"/>
          </a:solidFill>
          <a:ln w="57150">
            <a:solidFill>
              <a:srgbClr val="FFFF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FFFF00"/>
                </a:solidFill>
                <a:ea typeface="黑体" panose="02010609060101010101" pitchFamily="49" charset="-122"/>
              </a:rPr>
              <a:t> 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FF00"/>
                </a:solidFill>
              </a:rPr>
              <a:t>Question</a:t>
            </a:r>
            <a:r>
              <a:rPr lang="zh-CN" altLang="en-US" sz="2800" b="1" dirty="0">
                <a:solidFill>
                  <a:srgbClr val="FFFF00"/>
                </a:solidFill>
              </a:rPr>
              <a:t>：</a:t>
            </a:r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When magnetized current exist, </a:t>
            </a:r>
            <a:r>
              <a:rPr lang="en-US" altLang="zh-CN" sz="2400" b="1" dirty="0">
                <a:solidFill>
                  <a:srgbClr val="FFFF00"/>
                </a:solidFill>
              </a:rPr>
              <a:t>additional magnetic field will be generated</a:t>
            </a:r>
            <a:r>
              <a:rPr lang="en-US" altLang="zh-CN" sz="2400" b="1" dirty="0">
                <a:solidFill>
                  <a:schemeClr val="bg1"/>
                </a:solidFill>
              </a:rPr>
              <a:t> and affect the total magnetic field distribution. Then when we calculate the total field, is it necessary to calculate the magnetic field generated by the magnetic current </a:t>
            </a:r>
            <a:r>
              <a:rPr lang="en-US" altLang="zh-CN" sz="2400" b="1" dirty="0">
                <a:solidFill>
                  <a:srgbClr val="FFFF00"/>
                </a:solidFill>
              </a:rPr>
              <a:t>in advance</a:t>
            </a:r>
            <a:r>
              <a:rPr lang="en-US" altLang="zh-CN" sz="2400" b="1" dirty="0">
                <a:solidFill>
                  <a:schemeClr val="bg1"/>
                </a:solidFill>
              </a:rPr>
              <a:t>?</a:t>
            </a:r>
          </a:p>
        </p:txBody>
      </p:sp>
      <p:graphicFrame>
        <p:nvGraphicFramePr>
          <p:cNvPr id="36867" name="Object 3"/>
          <p:cNvGraphicFramePr>
            <a:graphicFrameLocks noGrp="1" noChangeAspect="1"/>
          </p:cNvGraphicFramePr>
          <p:nvPr>
            <p:ph idx="4294967295"/>
          </p:nvPr>
        </p:nvGraphicFramePr>
        <p:xfrm>
          <a:off x="1524000" y="3775076"/>
          <a:ext cx="3492500" cy="289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剪辑" r:id="rId2" imgW="4046855" imgH="3352800" progId="MS_ClipArt_Gallery.2">
                  <p:embed/>
                </p:oleObj>
              </mc:Choice>
              <mc:Fallback>
                <p:oleObj name="剪辑" r:id="rId2" imgW="4046855" imgH="3352800" progId="MS_ClipArt_Gallery.2">
                  <p:embed/>
                  <p:pic>
                    <p:nvPicPr>
                      <p:cNvPr id="0" name="图片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775076"/>
                        <a:ext cx="3492500" cy="289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/>
          <p:cNvSpPr>
            <a:spLocks noChangeArrowheads="1"/>
          </p:cNvSpPr>
          <p:nvPr/>
        </p:nvSpPr>
        <p:spPr bwMode="auto">
          <a:xfrm>
            <a:off x="2486893" y="3121020"/>
            <a:ext cx="7620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5000"/>
              </a:spcBef>
              <a:buClrTx/>
              <a:buSzTx/>
              <a:buFontTx/>
              <a:buNone/>
            </a:pPr>
            <a:endParaRPr lang="zh-CN" altLang="zh-CN" sz="2000">
              <a:solidFill>
                <a:schemeClr val="bg1"/>
              </a:solidFill>
              <a:ea typeface="楷体_GB2312" pitchFamily="49" charset="-122"/>
            </a:endParaRPr>
          </a:p>
        </p:txBody>
      </p:sp>
      <p:sp>
        <p:nvSpPr>
          <p:cNvPr id="708614" name="AutoShape 6"/>
          <p:cNvSpPr>
            <a:spLocks noChangeArrowheads="1"/>
          </p:cNvSpPr>
          <p:nvPr/>
        </p:nvSpPr>
        <p:spPr bwMode="auto">
          <a:xfrm>
            <a:off x="6406432" y="2484434"/>
            <a:ext cx="719137" cy="288925"/>
          </a:xfrm>
          <a:prstGeom prst="rightArrow">
            <a:avLst>
              <a:gd name="adj1" fmla="val 50000"/>
              <a:gd name="adj2" fmla="val 62225"/>
            </a:avLst>
          </a:prstGeom>
          <a:solidFill>
            <a:srgbClr val="FFCC99"/>
          </a:solidFill>
          <a:ln w="22225">
            <a:solidFill>
              <a:srgbClr val="FF6600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5000"/>
              </a:spcBef>
              <a:buClrTx/>
              <a:buSzTx/>
              <a:buFontTx/>
              <a:buNone/>
            </a:pPr>
            <a:endParaRPr lang="zh-CN" altLang="zh-CN" sz="2000">
              <a:solidFill>
                <a:schemeClr val="bg1"/>
              </a:solidFill>
              <a:ea typeface="楷体_GB2312" pitchFamily="49" charset="-122"/>
            </a:endParaRPr>
          </a:p>
        </p:txBody>
      </p:sp>
      <p:sp>
        <p:nvSpPr>
          <p:cNvPr id="708620" name="Rectangle 12"/>
          <p:cNvSpPr>
            <a:spLocks noChangeArrowheads="1"/>
          </p:cNvSpPr>
          <p:nvPr/>
        </p:nvSpPr>
        <p:spPr bwMode="auto">
          <a:xfrm>
            <a:off x="1516498" y="4210477"/>
            <a:ext cx="3541858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Introduce magnetic field intensity:</a:t>
            </a:r>
          </a:p>
        </p:txBody>
      </p:sp>
      <p:sp>
        <p:nvSpPr>
          <p:cNvPr id="708622" name="Rectangle 14"/>
          <p:cNvSpPr>
            <a:spLocks noChangeArrowheads="1"/>
          </p:cNvSpPr>
          <p:nvPr/>
        </p:nvSpPr>
        <p:spPr bwMode="auto">
          <a:xfrm>
            <a:off x="2208214" y="5241926"/>
            <a:ext cx="11525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then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708628" name="Rectangle 20"/>
          <p:cNvSpPr>
            <a:spLocks noChangeArrowheads="1"/>
          </p:cNvSpPr>
          <p:nvPr/>
        </p:nvSpPr>
        <p:spPr bwMode="auto">
          <a:xfrm>
            <a:off x="2166939" y="5954861"/>
            <a:ext cx="28781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The integral form is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17771" name="Object 22"/>
          <p:cNvGraphicFramePr>
            <a:graphicFrameLocks noChangeAspect="1"/>
          </p:cNvGraphicFramePr>
          <p:nvPr/>
        </p:nvGraphicFramePr>
        <p:xfrm>
          <a:off x="7414494" y="2124071"/>
          <a:ext cx="2138363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00200" imgH="330200" progId="Equation.DSMT4">
                  <p:embed/>
                </p:oleObj>
              </mc:Choice>
              <mc:Fallback>
                <p:oleObj name="Equation" r:id="rId2" imgW="1600200" imgH="3302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4494" y="2124071"/>
                        <a:ext cx="2138363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72" name="Object 23"/>
          <p:cNvGraphicFramePr>
            <a:graphicFrameLocks noChangeAspect="1"/>
          </p:cNvGraphicFramePr>
          <p:nvPr/>
        </p:nvGraphicFramePr>
        <p:xfrm>
          <a:off x="2734543" y="2412995"/>
          <a:ext cx="3538538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24100" imgH="406400" progId="Equation.DSMT4">
                  <p:embed/>
                </p:oleObj>
              </mc:Choice>
              <mc:Fallback>
                <p:oleObj name="Equation" r:id="rId4" imgW="2324100" imgH="4064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4543" y="2412995"/>
                        <a:ext cx="3538538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73" name="Object 25"/>
          <p:cNvGraphicFramePr>
            <a:graphicFrameLocks noChangeAspect="1"/>
          </p:cNvGraphicFramePr>
          <p:nvPr/>
        </p:nvGraphicFramePr>
        <p:xfrm>
          <a:off x="7487518" y="2771771"/>
          <a:ext cx="2476500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54200" imgH="330200" progId="Equation.DSMT4">
                  <p:embed/>
                </p:oleObj>
              </mc:Choice>
              <mc:Fallback>
                <p:oleObj name="Equation" r:id="rId6" imgW="1854200" imgH="3302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7518" y="2771771"/>
                        <a:ext cx="2476500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74" name="Object 27"/>
          <p:cNvGraphicFramePr>
            <a:graphicFrameLocks noChangeAspect="1"/>
          </p:cNvGraphicFramePr>
          <p:nvPr/>
        </p:nvGraphicFramePr>
        <p:xfrm>
          <a:off x="7558956" y="3348033"/>
          <a:ext cx="1936750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47800" imgH="596900" progId="Equation.DSMT4">
                  <p:embed/>
                </p:oleObj>
              </mc:Choice>
              <mc:Fallback>
                <p:oleObj name="Equation" r:id="rId8" imgW="1447800" imgH="5969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8956" y="3348033"/>
                        <a:ext cx="1936750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75" name="Object 29"/>
          <p:cNvGraphicFramePr>
            <a:graphicFrameLocks noChangeAspect="1"/>
          </p:cNvGraphicFramePr>
          <p:nvPr/>
        </p:nvGraphicFramePr>
        <p:xfrm>
          <a:off x="4952501" y="4226570"/>
          <a:ext cx="1800225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054100" imgH="596900" progId="Equation.3">
                  <p:embed/>
                </p:oleObj>
              </mc:Choice>
              <mc:Fallback>
                <p:oleObj name="公式" r:id="rId10" imgW="1054100" imgH="596900" progId="Equation.3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2501" y="4226570"/>
                        <a:ext cx="1800225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76" name="Object 33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5003799" y="5959622"/>
          <a:ext cx="3318679" cy="660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20900" imgH="406400" progId="Equation.DSMT4">
                  <p:embed/>
                </p:oleObj>
              </mc:Choice>
              <mc:Fallback>
                <p:oleObj name="Equation" r:id="rId12" imgW="2120900" imgH="406400" progId="Equation.DSMT4">
                  <p:embed/>
                  <p:pic>
                    <p:nvPicPr>
                      <p:cNvPr id="0" name="图片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799" y="5959622"/>
                        <a:ext cx="3318679" cy="6602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77" name="Object 35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3287712" y="5280803"/>
          <a:ext cx="2254105" cy="470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358900" imgH="304800" progId="Equation.3">
                  <p:embed/>
                </p:oleObj>
              </mc:Choice>
              <mc:Fallback>
                <p:oleObj name="公式" r:id="rId14" imgW="1358900" imgH="304800" progId="Equation.3">
                  <p:embed/>
                  <p:pic>
                    <p:nvPicPr>
                      <p:cNvPr id="0" name="图片 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2" y="5280803"/>
                        <a:ext cx="2254105" cy="4707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43"/>
          <p:cNvGrpSpPr/>
          <p:nvPr/>
        </p:nvGrpSpPr>
        <p:grpSpPr bwMode="auto">
          <a:xfrm>
            <a:off x="7224139" y="4415265"/>
            <a:ext cx="2471737" cy="508000"/>
            <a:chOff x="3107" y="3609"/>
            <a:chExt cx="1557" cy="320"/>
          </a:xfrm>
        </p:grpSpPr>
        <p:graphicFrame>
          <p:nvGraphicFramePr>
            <p:cNvPr id="37906" name="Object 44"/>
            <p:cNvGraphicFramePr>
              <a:graphicFrameLocks noChangeAspect="1"/>
            </p:cNvGraphicFramePr>
            <p:nvPr/>
          </p:nvGraphicFramePr>
          <p:xfrm>
            <a:off x="3515" y="3609"/>
            <a:ext cx="1149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308100" imgH="330200" progId="Equation.DSMT4">
                    <p:embed/>
                  </p:oleObj>
                </mc:Choice>
                <mc:Fallback>
                  <p:oleObj name="Equation" r:id="rId16" imgW="1308100" imgH="330200" progId="Equation.DSMT4">
                    <p:embed/>
                    <p:pic>
                      <p:nvPicPr>
                        <p:cNvPr id="0" name="图片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5" y="3609"/>
                          <a:ext cx="1149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99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07" name="Rectangle 45"/>
            <p:cNvSpPr>
              <a:spLocks noChangeArrowheads="1"/>
            </p:cNvSpPr>
            <p:nvPr/>
          </p:nvSpPr>
          <p:spPr bwMode="auto">
            <a:xfrm>
              <a:off x="3107" y="3619"/>
              <a:ext cx="997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  so</a:t>
              </a:r>
            </a:p>
          </p:txBody>
        </p:sp>
      </p:grpSp>
      <p:sp>
        <p:nvSpPr>
          <p:cNvPr id="37903" name="Rectangle 21"/>
          <p:cNvSpPr>
            <a:spLocks noChangeArrowheads="1"/>
          </p:cNvSpPr>
          <p:nvPr/>
        </p:nvSpPr>
        <p:spPr bwMode="auto">
          <a:xfrm>
            <a:off x="2208214" y="115889"/>
            <a:ext cx="7920037" cy="1081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600" b="1" dirty="0">
                <a:solidFill>
                  <a:srgbClr val="800000"/>
                </a:solidFill>
              </a:rPr>
              <a:t>6.5 Magnetic Field Intensity and Relative Permeability</a:t>
            </a:r>
          </a:p>
        </p:txBody>
      </p:sp>
      <p:sp>
        <p:nvSpPr>
          <p:cNvPr id="37904" name="Rectangle 22"/>
          <p:cNvSpPr>
            <a:spLocks noRot="1" noChangeArrowheads="1"/>
          </p:cNvSpPr>
          <p:nvPr/>
        </p:nvSpPr>
        <p:spPr bwMode="auto">
          <a:xfrm>
            <a:off x="1847850" y="1484314"/>
            <a:ext cx="9970077" cy="935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ko-KR" sz="2400" b="1" dirty="0">
                <a:solidFill>
                  <a:srgbClr val="0000CC"/>
                </a:solidFill>
                <a:latin typeface="Times New Roman" panose="02020603050405020304" pitchFamily="18" charset="0"/>
                <a:ea typeface="Gulim" panose="020B0600000101010101" pitchFamily="34" charset="-127"/>
              </a:rPr>
              <a:t>The macroscopic effect of magnetization can be studied by incorporating the equivalent volume current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Gulim" panose="020B0600000101010101" pitchFamily="34" charset="-127"/>
              </a:rPr>
              <a:t> </a:t>
            </a:r>
            <a:r>
              <a:rPr lang="en-US" altLang="ko-KR" sz="2400" b="1" dirty="0">
                <a:solidFill>
                  <a:srgbClr val="0000CC"/>
                </a:solidFill>
                <a:latin typeface="Times New Roman" panose="02020603050405020304" pitchFamily="18" charset="0"/>
                <a:ea typeface="Gulim" panose="020B0600000101010101" pitchFamily="34" charset="-127"/>
              </a:rPr>
              <a:t>density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Gulim" panose="020B0600000101010101" pitchFamily="34" charset="-127"/>
              </a:rPr>
              <a:t>.</a:t>
            </a:r>
            <a:endParaRPr lang="en-US" altLang="ko-KR" sz="2400" b="1" dirty="0">
              <a:solidFill>
                <a:srgbClr val="0000CC"/>
              </a:solidFill>
              <a:latin typeface="Times New Roman" panose="02020603050405020304" pitchFamily="18" charset="0"/>
              <a:ea typeface="Gulim" panose="020B0600000101010101" pitchFamily="34" charset="-127"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076493" y="5703591"/>
            <a:ext cx="1122362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srgbClr val="FFC000">
                <a:alpha val="4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7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08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7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7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7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08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17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708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17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708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17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8614" grpId="0" animBg="1"/>
      <p:bldP spid="708620" grpId="0"/>
      <p:bldP spid="708622" grpId="0"/>
      <p:bldP spid="70862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706" name="Rectangle 2"/>
          <p:cNvSpPr>
            <a:spLocks noChangeArrowheads="1"/>
          </p:cNvSpPr>
          <p:nvPr/>
        </p:nvSpPr>
        <p:spPr bwMode="auto">
          <a:xfrm>
            <a:off x="2279650" y="765175"/>
            <a:ext cx="76342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r>
              <a:rPr lang="en-US" altLang="zh-CN" b="1" dirty="0">
                <a:solidFill>
                  <a:srgbClr val="0000CC"/>
                </a:solidFill>
                <a:ea typeface="楷体_GB2312" pitchFamily="49" charset="-122"/>
              </a:rPr>
              <a:t>Conclusion</a:t>
            </a:r>
          </a:p>
        </p:txBody>
      </p:sp>
      <p:sp>
        <p:nvSpPr>
          <p:cNvPr id="712713" name="Rectangle 9"/>
          <p:cNvSpPr>
            <a:spLocks noChangeArrowheads="1"/>
          </p:cNvSpPr>
          <p:nvPr/>
        </p:nvSpPr>
        <p:spPr bwMode="auto">
          <a:xfrm>
            <a:off x="1601361" y="1566070"/>
            <a:ext cx="998103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When there are medium in space </a:t>
            </a:r>
            <a:r>
              <a:rPr lang="zh-CN" altLang="en-US" sz="2400" b="1" dirty="0">
                <a:solidFill>
                  <a:srgbClr val="000000"/>
                </a:solidFill>
                <a:ea typeface="楷体_GB2312" pitchFamily="49" charset="-122"/>
              </a:rPr>
              <a:t>，</a:t>
            </a:r>
            <a:r>
              <a:rPr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the problems of</a:t>
            </a:r>
            <a:r>
              <a:rPr lang="en-US" altLang="zh-CN" sz="2400" b="1" dirty="0">
                <a:solidFill>
                  <a:schemeClr val="bg1"/>
                </a:solidFill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800000"/>
                </a:solidFill>
                <a:ea typeface="楷体_GB2312" pitchFamily="49" charset="-122"/>
              </a:rPr>
              <a:t>steady magnetic field</a:t>
            </a:r>
            <a:r>
              <a:rPr lang="en-US" altLang="zh-CN" sz="2400" b="1" dirty="0">
                <a:solidFill>
                  <a:srgbClr val="FFFF00"/>
                </a:solidFill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ea typeface="楷体_GB2312" pitchFamily="49" charset="-122"/>
              </a:rPr>
              <a:t>can be described by the following</a:t>
            </a:r>
            <a:r>
              <a:rPr lang="en-US" altLang="zh-CN" sz="2400" b="1" dirty="0">
                <a:solidFill>
                  <a:schemeClr val="bg1"/>
                </a:solidFill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800000"/>
                </a:solidFill>
                <a:ea typeface="楷体_GB2312" pitchFamily="49" charset="-122"/>
              </a:rPr>
              <a:t>basic equations</a:t>
            </a:r>
            <a:r>
              <a:rPr lang="en-US" altLang="zh-CN" sz="2400" b="1" dirty="0">
                <a:solidFill>
                  <a:srgbClr val="FFFF00"/>
                </a:solidFill>
                <a:ea typeface="楷体_GB2312" pitchFamily="49" charset="-122"/>
              </a:rPr>
              <a:t>.</a:t>
            </a:r>
            <a:endParaRPr lang="en-US" altLang="zh-CN" sz="2400" b="1" dirty="0">
              <a:solidFill>
                <a:schemeClr val="bg1"/>
              </a:solidFill>
            </a:endParaRPr>
          </a:p>
        </p:txBody>
      </p:sp>
      <p:sp>
        <p:nvSpPr>
          <p:cNvPr id="712714" name="Rectangle 10"/>
          <p:cNvSpPr>
            <a:spLocks noChangeArrowheads="1"/>
          </p:cNvSpPr>
          <p:nvPr/>
        </p:nvSpPr>
        <p:spPr bwMode="auto">
          <a:xfrm>
            <a:off x="1992314" y="3588514"/>
            <a:ext cx="184731" cy="400110"/>
          </a:xfrm>
          <a:prstGeom prst="rect">
            <a:avLst/>
          </a:prstGeom>
          <a:noFill/>
          <a:ln w="9525">
            <a:solidFill>
              <a:srgbClr val="FFFF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5000"/>
              </a:spcBef>
              <a:buClrTx/>
              <a:buSzTx/>
              <a:buFontTx/>
              <a:buNone/>
            </a:pPr>
            <a:endParaRPr lang="zh-CN" altLang="zh-CN" sz="2000">
              <a:solidFill>
                <a:schemeClr val="bg1"/>
              </a:solidFill>
              <a:ea typeface="楷体_GB2312" pitchFamily="49" charset="-122"/>
            </a:endParaRPr>
          </a:p>
        </p:txBody>
      </p:sp>
      <p:sp>
        <p:nvSpPr>
          <p:cNvPr id="712715" name="Rectangle 11"/>
          <p:cNvSpPr>
            <a:spLocks noChangeArrowheads="1"/>
          </p:cNvSpPr>
          <p:nvPr/>
        </p:nvSpPr>
        <p:spPr bwMode="auto">
          <a:xfrm>
            <a:off x="2279650" y="4695528"/>
            <a:ext cx="777514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ea typeface="楷体_GB2312" pitchFamily="49" charset="-122"/>
              </a:rPr>
              <a:t>The process of solving the problems can use following route </a:t>
            </a:r>
            <a:r>
              <a:rPr lang="zh-CN" altLang="en-US" sz="2400" b="1">
                <a:solidFill>
                  <a:srgbClr val="0000CC"/>
                </a:solidFill>
                <a:ea typeface="楷体_GB2312" pitchFamily="49" charset="-122"/>
              </a:rPr>
              <a:t>：</a:t>
            </a:r>
            <a:endParaRPr lang="zh-CN" altLang="en-US" sz="2400">
              <a:solidFill>
                <a:srgbClr val="0000CC"/>
              </a:solidFill>
            </a:endParaRPr>
          </a:p>
        </p:txBody>
      </p:sp>
      <p:graphicFrame>
        <p:nvGraphicFramePr>
          <p:cNvPr id="118791" name="Object 12"/>
          <p:cNvGraphicFramePr>
            <a:graphicFrameLocks noChangeAspect="1"/>
          </p:cNvGraphicFramePr>
          <p:nvPr/>
        </p:nvGraphicFramePr>
        <p:xfrm>
          <a:off x="3446464" y="5515549"/>
          <a:ext cx="338137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7800" imgH="279400" progId="Equation.DSMT4">
                  <p:embed/>
                </p:oleObj>
              </mc:Choice>
              <mc:Fallback>
                <p:oleObj name="Equation" r:id="rId2" imgW="177800" imgH="2794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6464" y="5515549"/>
                        <a:ext cx="338137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2717" name="AutoShape 13"/>
          <p:cNvSpPr>
            <a:spLocks noChangeArrowheads="1"/>
          </p:cNvSpPr>
          <p:nvPr/>
        </p:nvSpPr>
        <p:spPr bwMode="auto">
          <a:xfrm rot="16200000">
            <a:off x="4090988" y="5525074"/>
            <a:ext cx="265113" cy="576262"/>
          </a:xfrm>
          <a:prstGeom prst="downArrow">
            <a:avLst>
              <a:gd name="adj1" fmla="val 50000"/>
              <a:gd name="adj2" fmla="val 54341"/>
            </a:avLst>
          </a:prstGeom>
          <a:solidFill>
            <a:srgbClr val="FFCC99"/>
          </a:solidFill>
          <a:ln w="22225">
            <a:solidFill>
              <a:srgbClr val="FF6600"/>
            </a:solidFill>
            <a:miter lim="800000"/>
          </a:ln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5000"/>
              </a:spcBef>
              <a:buClrTx/>
              <a:buSzTx/>
              <a:buFontTx/>
              <a:buNone/>
            </a:pPr>
            <a:endParaRPr lang="zh-CN" altLang="zh-CN" sz="2000">
              <a:solidFill>
                <a:schemeClr val="bg1"/>
              </a:solidFill>
              <a:ea typeface="楷体_GB2312" pitchFamily="49" charset="-122"/>
            </a:endParaRPr>
          </a:p>
        </p:txBody>
      </p:sp>
      <p:graphicFrame>
        <p:nvGraphicFramePr>
          <p:cNvPr id="118793" name="Object 14"/>
          <p:cNvGraphicFramePr>
            <a:graphicFrameLocks noChangeAspect="1"/>
          </p:cNvGraphicFramePr>
          <p:nvPr/>
        </p:nvGraphicFramePr>
        <p:xfrm>
          <a:off x="4641851" y="5536187"/>
          <a:ext cx="42862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8600" imgH="254000" progId="Equation.DSMT4">
                  <p:embed/>
                </p:oleObj>
              </mc:Choice>
              <mc:Fallback>
                <p:oleObj name="Equation" r:id="rId4" imgW="228600" imgH="2540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1851" y="5536187"/>
                        <a:ext cx="428625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2719" name="AutoShape 15"/>
          <p:cNvSpPr>
            <a:spLocks noChangeArrowheads="1"/>
          </p:cNvSpPr>
          <p:nvPr/>
        </p:nvSpPr>
        <p:spPr bwMode="auto">
          <a:xfrm rot="16200000">
            <a:off x="5314951" y="5525074"/>
            <a:ext cx="265113" cy="576263"/>
          </a:xfrm>
          <a:prstGeom prst="downArrow">
            <a:avLst>
              <a:gd name="adj1" fmla="val 50000"/>
              <a:gd name="adj2" fmla="val 54341"/>
            </a:avLst>
          </a:prstGeom>
          <a:solidFill>
            <a:srgbClr val="FFCC99"/>
          </a:solidFill>
          <a:ln w="22225">
            <a:solidFill>
              <a:srgbClr val="FF6600"/>
            </a:solidFill>
            <a:miter lim="800000"/>
          </a:ln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5000"/>
              </a:spcBef>
              <a:buClrTx/>
              <a:buSzTx/>
              <a:buFontTx/>
              <a:buNone/>
            </a:pPr>
            <a:endParaRPr lang="zh-CN" altLang="zh-CN" sz="2000">
              <a:solidFill>
                <a:schemeClr val="bg1"/>
              </a:solidFill>
              <a:ea typeface="楷体_GB2312" pitchFamily="49" charset="-122"/>
            </a:endParaRPr>
          </a:p>
        </p:txBody>
      </p:sp>
      <p:graphicFrame>
        <p:nvGraphicFramePr>
          <p:cNvPr id="118795" name="Object 16"/>
          <p:cNvGraphicFramePr>
            <a:graphicFrameLocks noChangeAspect="1"/>
          </p:cNvGraphicFramePr>
          <p:nvPr/>
        </p:nvGraphicFramePr>
        <p:xfrm>
          <a:off x="5951538" y="5536187"/>
          <a:ext cx="3683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0500" imgH="254000" progId="Equation.DSMT4">
                  <p:embed/>
                </p:oleObj>
              </mc:Choice>
              <mc:Fallback>
                <p:oleObj name="Equation" r:id="rId6" imgW="190500" imgH="2540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1538" y="5536187"/>
                        <a:ext cx="36830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796" name="Object 17"/>
          <p:cNvGraphicFramePr>
            <a:graphicFrameLocks noChangeAspect="1"/>
          </p:cNvGraphicFramePr>
          <p:nvPr/>
        </p:nvGraphicFramePr>
        <p:xfrm>
          <a:off x="6626225" y="5536186"/>
          <a:ext cx="369888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4000" imgH="254000" progId="Equation.DSMT4">
                  <p:embed/>
                </p:oleObj>
              </mc:Choice>
              <mc:Fallback>
                <p:oleObj name="Equation" r:id="rId8" imgW="254000" imgH="2540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6225" y="5536186"/>
                        <a:ext cx="369888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2722" name="Rectangle 18"/>
          <p:cNvSpPr>
            <a:spLocks noChangeArrowheads="1"/>
          </p:cNvSpPr>
          <p:nvPr/>
        </p:nvSpPr>
        <p:spPr bwMode="auto">
          <a:xfrm>
            <a:off x="6311901" y="5609211"/>
            <a:ext cx="360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endParaRPr lang="en-US" altLang="zh-CN" sz="240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18798" name="Object 19"/>
          <p:cNvGraphicFramePr>
            <a:graphicFrameLocks noGrp="1" noChangeAspect="1"/>
          </p:cNvGraphicFramePr>
          <p:nvPr>
            <p:ph idx="4294967295"/>
          </p:nvPr>
        </p:nvGraphicFramePr>
        <p:xfrm>
          <a:off x="7453314" y="5563173"/>
          <a:ext cx="511175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04800" imgH="279400" progId="Equation.DSMT4">
                  <p:embed/>
                </p:oleObj>
              </mc:Choice>
              <mc:Fallback>
                <p:oleObj name="Equation" r:id="rId10" imgW="304800" imgH="279400" progId="Equation.DSMT4">
                  <p:embed/>
                  <p:pic>
                    <p:nvPicPr>
                      <p:cNvPr id="0" name="图片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3314" y="5563173"/>
                        <a:ext cx="511175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2724" name="Rectangle 20"/>
          <p:cNvSpPr>
            <a:spLocks noChangeArrowheads="1"/>
          </p:cNvSpPr>
          <p:nvPr/>
        </p:nvSpPr>
        <p:spPr bwMode="auto">
          <a:xfrm>
            <a:off x="7032626" y="5583811"/>
            <a:ext cx="360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endParaRPr lang="en-US" altLang="zh-CN" sz="240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118800" name="Object 21"/>
          <p:cNvGraphicFramePr>
            <a:graphicFrameLocks noChangeAspect="1"/>
          </p:cNvGraphicFramePr>
          <p:nvPr/>
        </p:nvGraphicFramePr>
        <p:xfrm>
          <a:off x="2782888" y="2708276"/>
          <a:ext cx="2495550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460500" imgH="660400" progId="Equation.3">
                  <p:embed/>
                </p:oleObj>
              </mc:Choice>
              <mc:Fallback>
                <p:oleObj name="公式" r:id="rId12" imgW="1460500" imgH="660400" progId="Equation.3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8" y="2708276"/>
                        <a:ext cx="2495550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801" name="Object 22"/>
          <p:cNvGraphicFramePr>
            <a:graphicFrameLocks noChangeAspect="1"/>
          </p:cNvGraphicFramePr>
          <p:nvPr/>
        </p:nvGraphicFramePr>
        <p:xfrm>
          <a:off x="6383339" y="2636838"/>
          <a:ext cx="3381375" cy="1363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159000" imgH="901700" progId="Equation.3">
                  <p:embed/>
                </p:oleObj>
              </mc:Choice>
              <mc:Fallback>
                <p:oleObj name="公式" r:id="rId14" imgW="2159000" imgH="901700" progId="Equation.3">
                  <p:embed/>
                  <p:pic>
                    <p:nvPicPr>
                      <p:cNvPr id="0" name="图片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339" y="2636838"/>
                        <a:ext cx="3381375" cy="1363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802" name="Rectangle 23"/>
          <p:cNvSpPr>
            <a:spLocks noChangeArrowheads="1"/>
          </p:cNvSpPr>
          <p:nvPr/>
        </p:nvSpPr>
        <p:spPr bwMode="auto">
          <a:xfrm>
            <a:off x="6419850" y="4076701"/>
            <a:ext cx="27003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integral form</a:t>
            </a:r>
            <a:r>
              <a:rPr lang="zh-CN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712728" name="Rectangle 24"/>
          <p:cNvSpPr>
            <a:spLocks noChangeArrowheads="1"/>
          </p:cNvSpPr>
          <p:nvPr/>
        </p:nvSpPr>
        <p:spPr bwMode="auto">
          <a:xfrm>
            <a:off x="2819401" y="4076701"/>
            <a:ext cx="31337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（ </a:t>
            </a:r>
            <a:r>
              <a:rPr lang="en-US" altLang="zh-CN" sz="2400" b="1" dirty="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Differential form </a:t>
            </a:r>
            <a:r>
              <a:rPr lang="zh-CN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endParaRPr lang="zh-CN" altLang="en-US" sz="2400" dirty="0">
              <a:solidFill>
                <a:srgbClr val="8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1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12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12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12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18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12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8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12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18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712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18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12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18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2000"/>
                                        <p:tgtEl>
                                          <p:spTgt spid="118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500"/>
                            </p:stCondLst>
                            <p:childTnLst>
                              <p:par>
                                <p:cTn id="5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2000"/>
                                        <p:tgtEl>
                                          <p:spTgt spid="118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500"/>
                            </p:stCondLst>
                            <p:childTnLst>
                              <p:par>
                                <p:cTn id="6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2000"/>
                                        <p:tgtEl>
                                          <p:spTgt spid="712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2000"/>
                                        <p:tgtEl>
                                          <p:spTgt spid="118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2706" grpId="0"/>
      <p:bldP spid="712713" grpId="0"/>
      <p:bldP spid="712714" grpId="0" animBg="1"/>
      <p:bldP spid="712715" grpId="0"/>
      <p:bldP spid="712717" grpId="0" animBg="1"/>
      <p:bldP spid="712719" grpId="0" animBg="1"/>
      <p:bldP spid="712722" grpId="0"/>
      <p:bldP spid="712724" grpId="0"/>
      <p:bldP spid="118802" grpId="0"/>
      <p:bldP spid="71272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0291" name="Object 4"/>
          <p:cNvGraphicFramePr>
            <a:graphicFrameLocks noChangeAspect="1"/>
          </p:cNvGraphicFramePr>
          <p:nvPr/>
        </p:nvGraphicFramePr>
        <p:xfrm>
          <a:off x="3948113" y="2341563"/>
          <a:ext cx="2508250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714500" imgH="381000" progId="Equation.3">
                  <p:embed/>
                </p:oleObj>
              </mc:Choice>
              <mc:Fallback>
                <p:oleObj name="公式" r:id="rId2" imgW="1714500" imgH="381000" progId="Equation.3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8113" y="2341563"/>
                        <a:ext cx="2508250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292" name="Text Box 5"/>
          <p:cNvSpPr txBox="1">
            <a:spLocks noChangeArrowheads="1"/>
          </p:cNvSpPr>
          <p:nvPr/>
        </p:nvSpPr>
        <p:spPr bwMode="auto">
          <a:xfrm>
            <a:off x="1846263" y="2997201"/>
            <a:ext cx="16573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dirty="0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Magnetic field intensity</a:t>
            </a:r>
          </a:p>
        </p:txBody>
      </p:sp>
      <p:graphicFrame>
        <p:nvGraphicFramePr>
          <p:cNvPr id="140293" name="Object 6"/>
          <p:cNvGraphicFramePr>
            <a:graphicFrameLocks noChangeAspect="1"/>
          </p:cNvGraphicFramePr>
          <p:nvPr/>
        </p:nvGraphicFramePr>
        <p:xfrm>
          <a:off x="3935414" y="2873376"/>
          <a:ext cx="2682875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17700" imgH="546100" progId="Equation.DSMT4">
                  <p:embed/>
                </p:oleObj>
              </mc:Choice>
              <mc:Fallback>
                <p:oleObj name="Equation" r:id="rId4" imgW="1917700" imgH="5461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414" y="2873376"/>
                        <a:ext cx="2682875" cy="842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8568" name="Text Box 8"/>
          <p:cNvSpPr txBox="1">
            <a:spLocks noChangeArrowheads="1"/>
          </p:cNvSpPr>
          <p:nvPr/>
        </p:nvSpPr>
        <p:spPr bwMode="auto">
          <a:xfrm>
            <a:off x="1847851" y="5589589"/>
            <a:ext cx="19669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Magnetization intensity</a:t>
            </a:r>
          </a:p>
        </p:txBody>
      </p:sp>
      <p:graphicFrame>
        <p:nvGraphicFramePr>
          <p:cNvPr id="140295" name="Object 9"/>
          <p:cNvGraphicFramePr>
            <a:graphicFrameLocks noChangeAspect="1"/>
          </p:cNvGraphicFramePr>
          <p:nvPr/>
        </p:nvGraphicFramePr>
        <p:xfrm>
          <a:off x="3863976" y="5300664"/>
          <a:ext cx="4987925" cy="1373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94100" imgH="901700" progId="Equation.DSMT4">
                  <p:embed/>
                </p:oleObj>
              </mc:Choice>
              <mc:Fallback>
                <p:oleObj name="Equation" r:id="rId6" imgW="3594100" imgH="9017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976" y="5300664"/>
                        <a:ext cx="4987925" cy="1373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8570" name="Text Box 10"/>
          <p:cNvSpPr txBox="1">
            <a:spLocks noChangeArrowheads="1"/>
          </p:cNvSpPr>
          <p:nvPr/>
        </p:nvSpPr>
        <p:spPr bwMode="auto">
          <a:xfrm>
            <a:off x="1847850" y="4149726"/>
            <a:ext cx="15303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Magnetic flux density</a:t>
            </a:r>
          </a:p>
        </p:txBody>
      </p:sp>
      <p:graphicFrame>
        <p:nvGraphicFramePr>
          <p:cNvPr id="140297" name="Object 11"/>
          <p:cNvGraphicFramePr>
            <a:graphicFrameLocks noChangeAspect="1"/>
          </p:cNvGraphicFramePr>
          <p:nvPr/>
        </p:nvGraphicFramePr>
        <p:xfrm>
          <a:off x="3878264" y="3733801"/>
          <a:ext cx="2865437" cy="178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32000" imgH="1168400" progId="Equation.DSMT4">
                  <p:embed/>
                </p:oleObj>
              </mc:Choice>
              <mc:Fallback>
                <p:oleObj name="Equation" r:id="rId8" imgW="2032000" imgH="11684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8264" y="3733801"/>
                        <a:ext cx="2865437" cy="178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945" name="Group 24"/>
          <p:cNvGrpSpPr/>
          <p:nvPr/>
        </p:nvGrpSpPr>
        <p:grpSpPr bwMode="auto">
          <a:xfrm>
            <a:off x="9073865" y="2492375"/>
            <a:ext cx="2663825" cy="2808288"/>
            <a:chOff x="4014" y="1570"/>
            <a:chExt cx="1678" cy="1769"/>
          </a:xfrm>
        </p:grpSpPr>
        <p:sp>
          <p:nvSpPr>
            <p:cNvPr id="39953" name="Rectangle 13"/>
            <p:cNvSpPr>
              <a:spLocks noChangeArrowheads="1"/>
            </p:cNvSpPr>
            <p:nvPr/>
          </p:nvSpPr>
          <p:spPr bwMode="auto">
            <a:xfrm>
              <a:off x="4014" y="1616"/>
              <a:ext cx="1678" cy="1723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rgbClr val="99330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  <a:buClrTx/>
                <a:buSzTx/>
                <a:buFontTx/>
                <a:buNone/>
              </a:pPr>
              <a:endParaRPr lang="zh-CN" altLang="zh-CN" sz="2000">
                <a:solidFill>
                  <a:schemeClr val="bg1"/>
                </a:solidFill>
                <a:ea typeface="楷体_GB2312" pitchFamily="49" charset="-122"/>
              </a:endParaRPr>
            </a:p>
          </p:txBody>
        </p:sp>
        <p:pic>
          <p:nvPicPr>
            <p:cNvPr id="39954" name="Picture 14" descr="图3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95" y="1570"/>
              <a:ext cx="1415" cy="1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9946" name="Group 23"/>
          <p:cNvGrpSpPr/>
          <p:nvPr/>
        </p:nvGrpSpPr>
        <p:grpSpPr bwMode="auto">
          <a:xfrm>
            <a:off x="1519816" y="258763"/>
            <a:ext cx="10783020" cy="1381125"/>
            <a:chOff x="0" y="45"/>
            <a:chExt cx="5534" cy="870"/>
          </a:xfrm>
        </p:grpSpPr>
        <p:graphicFrame>
          <p:nvGraphicFramePr>
            <p:cNvPr id="39949" name="Object 17"/>
            <p:cNvGraphicFramePr>
              <a:graphicFrameLocks noChangeAspect="1"/>
            </p:cNvGraphicFramePr>
            <p:nvPr/>
          </p:nvGraphicFramePr>
          <p:xfrm>
            <a:off x="315" y="675"/>
            <a:ext cx="22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228600" imgH="254000" progId="Equation.3">
                    <p:embed/>
                  </p:oleObj>
                </mc:Choice>
                <mc:Fallback>
                  <p:oleObj name="公式" r:id="rId11" imgW="228600" imgH="254000" progId="Equation.3">
                    <p:embed/>
                    <p:pic>
                      <p:nvPicPr>
                        <p:cNvPr id="0" name="图片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" y="675"/>
                          <a:ext cx="225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99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0" name="Object 18"/>
            <p:cNvGraphicFramePr>
              <a:graphicFrameLocks noChangeAspect="1"/>
            </p:cNvGraphicFramePr>
            <p:nvPr/>
          </p:nvGraphicFramePr>
          <p:xfrm>
            <a:off x="5130" y="495"/>
            <a:ext cx="241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254000" imgH="254000" progId="Equation.3">
                    <p:embed/>
                  </p:oleObj>
                </mc:Choice>
                <mc:Fallback>
                  <p:oleObj name="公式" r:id="rId13" imgW="254000" imgH="254000" progId="Equation.3">
                    <p:embed/>
                    <p:pic>
                      <p:nvPicPr>
                        <p:cNvPr id="0" name="图片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0" y="495"/>
                          <a:ext cx="241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99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1" name="Object 20"/>
            <p:cNvGraphicFramePr>
              <a:graphicFrameLocks noChangeAspect="1"/>
            </p:cNvGraphicFramePr>
            <p:nvPr/>
          </p:nvGraphicFramePr>
          <p:xfrm>
            <a:off x="4905" y="495"/>
            <a:ext cx="181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190500" imgH="254000" progId="Equation.3">
                    <p:embed/>
                  </p:oleObj>
                </mc:Choice>
                <mc:Fallback>
                  <p:oleObj name="公式" r:id="rId15" imgW="190500" imgH="254000" progId="Equation.3">
                    <p:embed/>
                    <p:pic>
                      <p:nvPicPr>
                        <p:cNvPr id="0" name="图片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05" y="495"/>
                          <a:ext cx="181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99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52" name="Rectangle 21"/>
            <p:cNvSpPr>
              <a:spLocks noChangeArrowheads="1"/>
            </p:cNvSpPr>
            <p:nvPr/>
          </p:nvSpPr>
          <p:spPr bwMode="auto">
            <a:xfrm>
              <a:off x="0" y="45"/>
              <a:ext cx="5534" cy="7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 b="1" dirty="0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Ex.</a:t>
              </a:r>
              <a:r>
                <a:rPr kumimoji="1"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</a:t>
              </a:r>
              <a:r>
                <a:rPr kumimoji="1" lang="en-US" altLang="zh-CN" sz="2400" b="1" dirty="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There is an infinite conducting magnetic cylinder, with permeability of </a:t>
              </a:r>
              <a:r>
                <a:rPr kumimoji="1" lang="en-US" altLang="zh-CN" sz="2400" i="1" dirty="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µ</a:t>
              </a:r>
              <a:r>
                <a:rPr kumimoji="1" lang="en-US" altLang="zh-CN" sz="2400" dirty="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kumimoji="1" lang="en-US" altLang="zh-CN" sz="2400" b="1" dirty="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and</a:t>
              </a:r>
              <a:r>
                <a:rPr kumimoji="1" lang="en-US" altLang="zh-CN" sz="2400" dirty="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kumimoji="1" lang="en-US" altLang="zh-CN" sz="2400" b="1" dirty="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radius of </a:t>
              </a:r>
              <a:r>
                <a:rPr kumimoji="1" lang="en-US" altLang="zh-CN" sz="2400" b="1" i="1" dirty="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 ,</a:t>
              </a:r>
              <a:r>
                <a:rPr kumimoji="1" lang="en-US" altLang="zh-CN" sz="2400" b="1" dirty="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and a line current </a:t>
              </a:r>
              <a:r>
                <a:rPr kumimoji="1" lang="en-US" altLang="zh-CN" sz="2400" i="1" dirty="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 </a:t>
              </a:r>
              <a:r>
                <a:rPr kumimoji="1" lang="en-US" altLang="zh-CN" sz="2400" b="1" dirty="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exist on the axis of it. Outside the cylinder is air </a:t>
              </a:r>
              <a:r>
                <a:rPr kumimoji="1" lang="zh-CN" altLang="en-US" sz="2400" b="1" dirty="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（</a:t>
              </a:r>
              <a:r>
                <a:rPr kumimoji="1" lang="en-US" altLang="zh-CN" sz="2400" i="1" dirty="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µ</a:t>
              </a:r>
              <a:r>
                <a:rPr kumimoji="1" lang="en-US" altLang="zh-CN" sz="2400" b="1" baseline="-25000" dirty="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0 </a:t>
              </a:r>
              <a:r>
                <a:rPr kumimoji="1" lang="zh-CN" altLang="en-US" sz="2400" b="1" dirty="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），</a:t>
              </a:r>
              <a:r>
                <a:rPr kumimoji="1" lang="en-US" altLang="zh-CN" sz="2400" b="1" dirty="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find the distribution of B , H and M outside the cylinder.</a:t>
              </a:r>
            </a:p>
          </p:txBody>
        </p:sp>
      </p:grpSp>
      <p:sp>
        <p:nvSpPr>
          <p:cNvPr id="140306" name="Rectangle 22"/>
          <p:cNvSpPr>
            <a:spLocks noChangeArrowheads="1"/>
          </p:cNvSpPr>
          <p:nvPr/>
        </p:nvSpPr>
        <p:spPr bwMode="auto">
          <a:xfrm>
            <a:off x="1774826" y="1628776"/>
            <a:ext cx="78851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Solution: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Applying Ampere's law, then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954459" y="5561309"/>
            <a:ext cx="1122362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srgbClr val="FFC000">
                <a:alpha val="4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40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140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140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140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578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140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578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2000"/>
                                        <p:tgtEl>
                                          <p:spTgt spid="140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2" grpId="0"/>
      <p:bldP spid="578568" grpId="0"/>
      <p:bldP spid="578570" grpId="0"/>
      <p:bldP spid="14030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4"/>
          <p:cNvSpPr>
            <a:spLocks noChangeArrowheads="1"/>
          </p:cNvSpPr>
          <p:nvPr/>
        </p:nvSpPr>
        <p:spPr bwMode="auto">
          <a:xfrm>
            <a:off x="1776413" y="404813"/>
            <a:ext cx="8462962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buClrTx/>
              <a:buSzTx/>
              <a:buFontTx/>
              <a:buChar char="•"/>
            </a:pP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 Classification and constitutive relation of magnetic medium</a:t>
            </a:r>
            <a:endParaRPr lang="en-US" altLang="zh-CN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3734" name="Rectangle 6"/>
          <p:cNvSpPr>
            <a:spLocks noChangeArrowheads="1"/>
          </p:cNvSpPr>
          <p:nvPr/>
        </p:nvSpPr>
        <p:spPr bwMode="auto">
          <a:xfrm>
            <a:off x="1919288" y="1052514"/>
            <a:ext cx="2819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500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rgbClr val="800000"/>
                </a:solidFill>
                <a:ea typeface="楷体_GB2312" pitchFamily="49" charset="-122"/>
              </a:rPr>
              <a:t>Classification :</a:t>
            </a:r>
          </a:p>
        </p:txBody>
      </p:sp>
      <p:sp>
        <p:nvSpPr>
          <p:cNvPr id="713735" name="Rectangle 7"/>
          <p:cNvSpPr>
            <a:spLocks noChangeArrowheads="1"/>
          </p:cNvSpPr>
          <p:nvPr/>
        </p:nvSpPr>
        <p:spPr bwMode="auto">
          <a:xfrm>
            <a:off x="1919289" y="3108326"/>
            <a:ext cx="2790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500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rgbClr val="800000"/>
                </a:solidFill>
                <a:ea typeface="楷体_GB2312" pitchFamily="49" charset="-122"/>
              </a:rPr>
              <a:t>Constitutive relation :</a:t>
            </a:r>
          </a:p>
        </p:txBody>
      </p:sp>
      <p:sp>
        <p:nvSpPr>
          <p:cNvPr id="713736" name="AutoShape 8"/>
          <p:cNvSpPr>
            <a:spLocks noChangeArrowheads="1"/>
          </p:cNvSpPr>
          <p:nvPr/>
        </p:nvSpPr>
        <p:spPr bwMode="auto">
          <a:xfrm rot="-5400000">
            <a:off x="4090988" y="3560763"/>
            <a:ext cx="265112" cy="576262"/>
          </a:xfrm>
          <a:prstGeom prst="downArrow">
            <a:avLst>
              <a:gd name="adj1" fmla="val 50000"/>
              <a:gd name="adj2" fmla="val 54341"/>
            </a:avLst>
          </a:prstGeom>
          <a:solidFill>
            <a:srgbClr val="FFCC99"/>
          </a:solidFill>
          <a:ln w="22225">
            <a:solidFill>
              <a:srgbClr val="FF6600"/>
            </a:solidFill>
            <a:miter lim="800000"/>
          </a:ln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5000"/>
              </a:spcBef>
              <a:buClrTx/>
              <a:buSzTx/>
              <a:buFontTx/>
              <a:buNone/>
            </a:pPr>
            <a:endParaRPr lang="zh-CN" altLang="zh-CN" sz="2000">
              <a:solidFill>
                <a:schemeClr val="bg1"/>
              </a:solidFill>
              <a:ea typeface="楷体_GB2312" pitchFamily="49" charset="-122"/>
            </a:endParaRPr>
          </a:p>
        </p:txBody>
      </p:sp>
      <p:sp>
        <p:nvSpPr>
          <p:cNvPr id="119815" name="Line 10"/>
          <p:cNvSpPr>
            <a:spLocks noChangeShapeType="1"/>
          </p:cNvSpPr>
          <p:nvPr/>
        </p:nvSpPr>
        <p:spPr bwMode="auto">
          <a:xfrm flipV="1">
            <a:off x="7464425" y="4149726"/>
            <a:ext cx="0" cy="1223963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13739" name="Rectangle 11"/>
          <p:cNvSpPr>
            <a:spLocks noChangeArrowheads="1"/>
          </p:cNvSpPr>
          <p:nvPr/>
        </p:nvSpPr>
        <p:spPr bwMode="auto">
          <a:xfrm>
            <a:off x="7319963" y="5373689"/>
            <a:ext cx="2705100" cy="871537"/>
          </a:xfrm>
          <a:prstGeom prst="rect">
            <a:avLst/>
          </a:prstGeom>
          <a:noFill/>
          <a:ln w="9525">
            <a:solidFill>
              <a:srgbClr val="FFCC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500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000000"/>
                </a:solidFill>
                <a:ea typeface="楷体_GB2312" pitchFamily="49" charset="-122"/>
              </a:rPr>
              <a:t>Relative magnetic permeability</a:t>
            </a:r>
          </a:p>
          <a:p>
            <a:pPr eaLnBrk="1" hangingPunct="1">
              <a:spcBef>
                <a:spcPct val="1500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000000"/>
                </a:solidFill>
                <a:ea typeface="楷体_GB2312" pitchFamily="49" charset="-122"/>
              </a:rPr>
              <a:t>(dimensionless)</a:t>
            </a:r>
          </a:p>
        </p:txBody>
      </p:sp>
      <p:sp>
        <p:nvSpPr>
          <p:cNvPr id="119817" name="Line 12"/>
          <p:cNvSpPr>
            <a:spLocks noChangeShapeType="1"/>
          </p:cNvSpPr>
          <p:nvPr/>
        </p:nvSpPr>
        <p:spPr bwMode="auto">
          <a:xfrm flipV="1">
            <a:off x="8328025" y="4149726"/>
            <a:ext cx="0" cy="57467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13741" name="Rectangle 13"/>
          <p:cNvSpPr>
            <a:spLocks noChangeArrowheads="1"/>
          </p:cNvSpPr>
          <p:nvPr/>
        </p:nvSpPr>
        <p:spPr bwMode="auto">
          <a:xfrm>
            <a:off x="8326438" y="4714876"/>
            <a:ext cx="2330450" cy="346075"/>
          </a:xfrm>
          <a:prstGeom prst="rect">
            <a:avLst/>
          </a:prstGeom>
          <a:noFill/>
          <a:ln w="9525">
            <a:solidFill>
              <a:srgbClr val="FFCC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500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000000"/>
                </a:solidFill>
                <a:ea typeface="楷体_GB2312" pitchFamily="49" charset="-122"/>
              </a:rPr>
              <a:t>Magnetic permeability</a:t>
            </a:r>
          </a:p>
        </p:txBody>
      </p:sp>
      <p:sp>
        <p:nvSpPr>
          <p:cNvPr id="119819" name="Rectangle 14"/>
          <p:cNvSpPr>
            <a:spLocks noChangeArrowheads="1"/>
          </p:cNvSpPr>
          <p:nvPr/>
        </p:nvSpPr>
        <p:spPr bwMode="auto">
          <a:xfrm>
            <a:off x="4872038" y="1268414"/>
            <a:ext cx="1871662" cy="2031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None/>
            </a:pPr>
            <a:r>
              <a:rPr kumimoji="1" lang="en-US" altLang="zh-CN" sz="18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Diamagnetic substance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18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Paramagnetic substance 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18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Ferromagnetic substance</a:t>
            </a:r>
          </a:p>
        </p:txBody>
      </p:sp>
      <p:graphicFrame>
        <p:nvGraphicFramePr>
          <p:cNvPr id="119820" name="Object 16"/>
          <p:cNvGraphicFramePr/>
          <p:nvPr/>
        </p:nvGraphicFramePr>
        <p:xfrm>
          <a:off x="3287713" y="2565400"/>
          <a:ext cx="98266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35000" imgH="279400" progId="Equation.3">
                  <p:embed/>
                </p:oleObj>
              </mc:Choice>
              <mc:Fallback>
                <p:oleObj name="公式" r:id="rId2" imgW="635000" imgH="279400" progId="Equation.3">
                  <p:embed/>
                  <p:pic>
                    <p:nvPicPr>
                      <p:cNvPr id="0" name="图片 1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3" y="2565400"/>
                        <a:ext cx="98266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21" name="Object 17"/>
          <p:cNvGraphicFramePr/>
          <p:nvPr/>
        </p:nvGraphicFramePr>
        <p:xfrm>
          <a:off x="3275735" y="2019115"/>
          <a:ext cx="8286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33400" imgH="279400" progId="Equation.3">
                  <p:embed/>
                </p:oleObj>
              </mc:Choice>
              <mc:Fallback>
                <p:oleObj name="公式" r:id="rId4" imgW="533400" imgH="279400" progId="Equation.3">
                  <p:embed/>
                  <p:pic>
                    <p:nvPicPr>
                      <p:cNvPr id="0" name="图片 2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735" y="2019115"/>
                        <a:ext cx="8286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22" name="Object 18"/>
          <p:cNvGraphicFramePr/>
          <p:nvPr/>
        </p:nvGraphicFramePr>
        <p:xfrm>
          <a:off x="3272488" y="1488899"/>
          <a:ext cx="8286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33400" imgH="279400" progId="Equation.3">
                  <p:embed/>
                </p:oleObj>
              </mc:Choice>
              <mc:Fallback>
                <p:oleObj name="公式" r:id="rId6" imgW="533400" imgH="279400" progId="Equation.3">
                  <p:embed/>
                  <p:pic>
                    <p:nvPicPr>
                      <p:cNvPr id="0" name="图片 3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2488" y="1488899"/>
                        <a:ext cx="8286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23" name="Object 19"/>
          <p:cNvGraphicFramePr>
            <a:graphicFrameLocks noChangeAspect="1"/>
          </p:cNvGraphicFramePr>
          <p:nvPr/>
        </p:nvGraphicFramePr>
        <p:xfrm>
          <a:off x="2473325" y="3573463"/>
          <a:ext cx="1231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889000" imgH="304800" progId="Equation.3">
                  <p:embed/>
                </p:oleObj>
              </mc:Choice>
              <mc:Fallback>
                <p:oleObj name="公式" r:id="rId8" imgW="889000" imgH="304800" progId="Equation.3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3325" y="3573463"/>
                        <a:ext cx="12319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24" name="Object 20"/>
          <p:cNvGraphicFramePr>
            <a:graphicFrameLocks noChangeAspect="1"/>
          </p:cNvGraphicFramePr>
          <p:nvPr/>
        </p:nvGraphicFramePr>
        <p:xfrm>
          <a:off x="4659314" y="3573464"/>
          <a:ext cx="4029075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79700" imgH="330200" progId="Equation.DSMT4">
                  <p:embed/>
                </p:oleObj>
              </mc:Choice>
              <mc:Fallback>
                <p:oleObj name="Equation" r:id="rId10" imgW="2679700" imgH="3302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9314" y="3573464"/>
                        <a:ext cx="4029075" cy="56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825" name="Line 21"/>
          <p:cNvSpPr>
            <a:spLocks noChangeShapeType="1"/>
          </p:cNvSpPr>
          <p:nvPr/>
        </p:nvSpPr>
        <p:spPr bwMode="auto">
          <a:xfrm flipV="1">
            <a:off x="3214688" y="4149726"/>
            <a:ext cx="0" cy="57467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13750" name="Rectangle 22"/>
          <p:cNvSpPr>
            <a:spLocks noChangeArrowheads="1"/>
          </p:cNvSpPr>
          <p:nvPr/>
        </p:nvSpPr>
        <p:spPr bwMode="auto">
          <a:xfrm>
            <a:off x="1666875" y="4718050"/>
            <a:ext cx="1714500" cy="871538"/>
          </a:xfrm>
          <a:prstGeom prst="rect">
            <a:avLst/>
          </a:prstGeom>
          <a:noFill/>
          <a:ln w="9525">
            <a:solidFill>
              <a:srgbClr val="FFCC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500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000000"/>
                </a:solidFill>
                <a:ea typeface="楷体_GB2312" pitchFamily="49" charset="-122"/>
              </a:rPr>
              <a:t>Magnetic susceptibility</a:t>
            </a:r>
          </a:p>
          <a:p>
            <a:pPr eaLnBrk="1" hangingPunct="1">
              <a:spcBef>
                <a:spcPct val="1500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000000"/>
                </a:solidFill>
                <a:ea typeface="楷体_GB2312" pitchFamily="49" charset="-122"/>
              </a:rPr>
              <a:t>(dimensionless</a:t>
            </a:r>
            <a:r>
              <a:rPr lang="en-US" altLang="zh-CN" sz="1600" b="1">
                <a:solidFill>
                  <a:schemeClr val="bg1"/>
                </a:solidFill>
                <a:ea typeface="楷体_GB2312" pitchFamily="49" charset="-122"/>
              </a:rPr>
              <a:t>)</a:t>
            </a:r>
          </a:p>
        </p:txBody>
      </p:sp>
      <p:sp>
        <p:nvSpPr>
          <p:cNvPr id="119827" name="AutoShape 23"/>
          <p:cNvSpPr>
            <a:spLocks noChangeArrowheads="1"/>
          </p:cNvSpPr>
          <p:nvPr/>
        </p:nvSpPr>
        <p:spPr bwMode="auto">
          <a:xfrm>
            <a:off x="1992630" y="3557905"/>
            <a:ext cx="6911975" cy="1492250"/>
          </a:xfrm>
          <a:prstGeom prst="downArrowCallout">
            <a:avLst>
              <a:gd name="adj1" fmla="val 74661"/>
              <a:gd name="adj2" fmla="val 152025"/>
              <a:gd name="adj3" fmla="val 18236"/>
              <a:gd name="adj4" fmla="val 33659"/>
            </a:avLst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no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5000"/>
              </a:spcBef>
              <a:buClrTx/>
              <a:buSzTx/>
              <a:buFontTx/>
              <a:buNone/>
            </a:pPr>
            <a:endParaRPr lang="zh-CN" altLang="zh-CN" sz="2000">
              <a:solidFill>
                <a:schemeClr val="bg1"/>
              </a:solidFill>
              <a:ea typeface="楷体_GB2312" pitchFamily="49" charset="-122"/>
            </a:endParaRPr>
          </a:p>
        </p:txBody>
      </p:sp>
      <p:graphicFrame>
        <p:nvGraphicFramePr>
          <p:cNvPr id="119828" name="Object 25"/>
          <p:cNvGraphicFramePr>
            <a:graphicFrameLocks noChangeAspect="1"/>
          </p:cNvGraphicFramePr>
          <p:nvPr/>
        </p:nvGraphicFramePr>
        <p:xfrm>
          <a:off x="4890136" y="5209540"/>
          <a:ext cx="10652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98500" imgH="304800" progId="Equation.DSMT4">
                  <p:embed/>
                </p:oleObj>
              </mc:Choice>
              <mc:Fallback>
                <p:oleObj name="Equation" r:id="rId12" imgW="698500" imgH="304800" progId="Equation.DSMT4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0136" y="5209540"/>
                        <a:ext cx="1065213" cy="5334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>
                            <a:lumMod val="75000"/>
                          </a:schemeClr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3756" name="Line 28"/>
          <p:cNvSpPr>
            <a:spLocks noChangeShapeType="1"/>
          </p:cNvSpPr>
          <p:nvPr/>
        </p:nvSpPr>
        <p:spPr bwMode="auto">
          <a:xfrm flipH="1">
            <a:off x="8328025" y="4724400"/>
            <a:ext cx="215900" cy="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19831" name="Rectangle 29"/>
          <p:cNvSpPr>
            <a:spLocks noChangeArrowheads="1"/>
          </p:cNvSpPr>
          <p:nvPr/>
        </p:nvSpPr>
        <p:spPr bwMode="auto">
          <a:xfrm>
            <a:off x="6672264" y="1484314"/>
            <a:ext cx="3240087" cy="1570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chemeClr val="bg1"/>
                </a:solidFill>
                <a:ea typeface="楷体_GB2312" pitchFamily="49" charset="-122"/>
              </a:rPr>
              <a:t>  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Water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：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0.99999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  Air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：     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1.0000004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  Iron</a:t>
            </a:r>
            <a:r>
              <a:rPr kumimoji="1" lang="zh-CN" altLang="en-US" sz="2400" b="1">
                <a:solidFill>
                  <a:srgbClr val="000000"/>
                </a:solidFill>
                <a:ea typeface="楷体_GB2312" pitchFamily="49" charset="-122"/>
              </a:rPr>
              <a:t>：    </a:t>
            </a:r>
            <a:r>
              <a:rPr kumimoji="1" lang="en-US" altLang="zh-CN" sz="2400" b="1">
                <a:solidFill>
                  <a:srgbClr val="000000"/>
                </a:solidFill>
                <a:ea typeface="楷体_GB2312" pitchFamily="49" charset="-122"/>
              </a:rPr>
              <a:t>4000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3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9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13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9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9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13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19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713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713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19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13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19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19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713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19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19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19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19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19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3734" grpId="0"/>
      <p:bldP spid="713735" grpId="0"/>
      <p:bldP spid="713736" grpId="0" animBg="1"/>
      <p:bldP spid="119815" grpId="0" animBg="1"/>
      <p:bldP spid="713739" grpId="0" animBg="1"/>
      <p:bldP spid="119817" grpId="0" animBg="1"/>
      <p:bldP spid="713741" grpId="0" animBg="1"/>
      <p:bldP spid="119819" grpId="0"/>
      <p:bldP spid="119825" grpId="0" animBg="1"/>
      <p:bldP spid="713750" grpId="0" animBg="1"/>
      <p:bldP spid="119827" grpId="0" bldLvl="0" animBg="1"/>
      <p:bldP spid="713756" grpId="0" animBg="1"/>
      <p:bldP spid="11983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E4DFE47-EF1A-21B0-4AE5-8EFD35FB0AA9}"/>
              </a:ext>
            </a:extLst>
          </p:cNvPr>
          <p:cNvSpPr txBox="1"/>
          <p:nvPr/>
        </p:nvSpPr>
        <p:spPr>
          <a:xfrm>
            <a:off x="1206348" y="2455856"/>
            <a:ext cx="60978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https://www.bilibili.com/video/BV1jA41137hh/?spm_id_from=333.337.search-card.all.click</a:t>
            </a:r>
          </a:p>
        </p:txBody>
      </p:sp>
      <p:pic>
        <p:nvPicPr>
          <p:cNvPr id="5" name="图片 4">
            <a:hlinkClick r:id="rId2"/>
            <a:extLst>
              <a:ext uri="{FF2B5EF4-FFF2-40B4-BE49-F238E27FC236}">
                <a16:creationId xmlns:a16="http://schemas.microsoft.com/office/drawing/2014/main" id="{58503958-A702-2943-C818-86C543DF7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558" y="1262005"/>
            <a:ext cx="4871062" cy="275894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9246FE8-7588-CB53-AF9E-79E89CD448B8}"/>
              </a:ext>
            </a:extLst>
          </p:cNvPr>
          <p:cNvSpPr txBox="1"/>
          <p:nvPr/>
        </p:nvSpPr>
        <p:spPr>
          <a:xfrm>
            <a:off x="6096000" y="2370046"/>
            <a:ext cx="60978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https://www.bilibili.com/video/BV1DV4y197N5/?spm_id_from=333.337.search-card.all.click&amp;vd_source=cbc26ac5a27dd541735237c7e8b5a6a4</a:t>
            </a:r>
          </a:p>
        </p:txBody>
      </p:sp>
      <p:pic>
        <p:nvPicPr>
          <p:cNvPr id="9" name="图片 8">
            <a:hlinkClick r:id="rId4"/>
            <a:extLst>
              <a:ext uri="{FF2B5EF4-FFF2-40B4-BE49-F238E27FC236}">
                <a16:creationId xmlns:a16="http://schemas.microsoft.com/office/drawing/2014/main" id="{14C23E03-D55A-8169-2D0C-BBB685B310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3054" y="888936"/>
            <a:ext cx="6078439" cy="350508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514BEEB-DE89-9249-FD51-F746A157F347}"/>
              </a:ext>
            </a:extLst>
          </p:cNvPr>
          <p:cNvSpPr txBox="1"/>
          <p:nvPr/>
        </p:nvSpPr>
        <p:spPr>
          <a:xfrm>
            <a:off x="1459735" y="5274966"/>
            <a:ext cx="63787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https://www.bilibili.com/video/BV1Lm421g7B9/?spm_id_from=333.337.search-card.all.click&amp;vd_source=cbc26ac5a27dd541735237c7e8b5a6a4</a:t>
            </a:r>
          </a:p>
        </p:txBody>
      </p:sp>
      <p:pic>
        <p:nvPicPr>
          <p:cNvPr id="13" name="图片 12">
            <a:hlinkClick r:id="rId6"/>
            <a:extLst>
              <a:ext uri="{FF2B5EF4-FFF2-40B4-BE49-F238E27FC236}">
                <a16:creationId xmlns:a16="http://schemas.microsoft.com/office/drawing/2014/main" id="{F94E2BE4-4B96-09F8-115D-6FED5F260D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609" y="3160772"/>
            <a:ext cx="7400925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5325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9" name="Rectangle 3"/>
          <p:cNvSpPr>
            <a:spLocks noChangeArrowheads="1"/>
          </p:cNvSpPr>
          <p:nvPr/>
        </p:nvSpPr>
        <p:spPr bwMode="auto">
          <a:xfrm>
            <a:off x="1720057" y="1658830"/>
            <a:ext cx="4752975" cy="792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77825" indent="-3778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1.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Magnetic flux density B</a:t>
            </a:r>
          </a:p>
        </p:txBody>
      </p:sp>
      <p:sp>
        <p:nvSpPr>
          <p:cNvPr id="157700" name="Rectangle 4"/>
          <p:cNvSpPr>
            <a:spLocks noChangeArrowheads="1"/>
          </p:cNvSpPr>
          <p:nvPr/>
        </p:nvSpPr>
        <p:spPr bwMode="auto">
          <a:xfrm>
            <a:off x="2135189" y="3860800"/>
            <a:ext cx="4752975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77825" indent="-3778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Since </a:t>
            </a:r>
            <a:r>
              <a:rPr lang="el-GR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Δ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h 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→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then</a:t>
            </a:r>
          </a:p>
        </p:txBody>
      </p:sp>
      <p:grpSp>
        <p:nvGrpSpPr>
          <p:cNvPr id="41988" name="Group 5"/>
          <p:cNvGrpSpPr/>
          <p:nvPr/>
        </p:nvGrpSpPr>
        <p:grpSpPr bwMode="auto">
          <a:xfrm>
            <a:off x="8037947" y="1773239"/>
            <a:ext cx="3887788" cy="2592387"/>
            <a:chOff x="3198" y="346"/>
            <a:chExt cx="2449" cy="1633"/>
          </a:xfrm>
        </p:grpSpPr>
        <p:sp>
          <p:nvSpPr>
            <p:cNvPr id="42001" name="Rectangle 6"/>
            <p:cNvSpPr>
              <a:spLocks noChangeArrowheads="1"/>
            </p:cNvSpPr>
            <p:nvPr/>
          </p:nvSpPr>
          <p:spPr bwMode="auto">
            <a:xfrm>
              <a:off x="3198" y="346"/>
              <a:ext cx="2449" cy="817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2002" name="Rectangle 7"/>
            <p:cNvSpPr>
              <a:spLocks noChangeArrowheads="1"/>
            </p:cNvSpPr>
            <p:nvPr/>
          </p:nvSpPr>
          <p:spPr bwMode="auto">
            <a:xfrm>
              <a:off x="3198" y="1163"/>
              <a:ext cx="2449" cy="816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42003" name="Object 8"/>
            <p:cNvGraphicFramePr>
              <a:graphicFrameLocks noChangeAspect="1"/>
            </p:cNvGraphicFramePr>
            <p:nvPr/>
          </p:nvGraphicFramePr>
          <p:xfrm>
            <a:off x="4059" y="690"/>
            <a:ext cx="28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28600" imgH="177800" progId="Equation.DSMT4">
                    <p:embed/>
                  </p:oleObj>
                </mc:Choice>
                <mc:Fallback>
                  <p:oleObj name="Equation" r:id="rId2" imgW="228600" imgH="177800" progId="Equation.DSMT4">
                    <p:embed/>
                    <p:pic>
                      <p:nvPicPr>
                        <p:cNvPr id="0" name="图片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9" y="690"/>
                          <a:ext cx="284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04" name="Object 9"/>
            <p:cNvGraphicFramePr>
              <a:graphicFrameLocks noChangeAspect="1"/>
            </p:cNvGraphicFramePr>
            <p:nvPr/>
          </p:nvGraphicFramePr>
          <p:xfrm>
            <a:off x="4795" y="474"/>
            <a:ext cx="251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03200" imgH="330200" progId="Equation.DSMT4">
                    <p:embed/>
                  </p:oleObj>
                </mc:Choice>
                <mc:Fallback>
                  <p:oleObj name="Equation" r:id="rId4" imgW="203200" imgH="330200" progId="Equation.DSMT4">
                    <p:embed/>
                    <p:pic>
                      <p:nvPicPr>
                        <p:cNvPr id="0" name="图片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5" y="474"/>
                          <a:ext cx="251" cy="3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05" name="Object 10"/>
            <p:cNvGraphicFramePr>
              <a:graphicFrameLocks noChangeAspect="1"/>
            </p:cNvGraphicFramePr>
            <p:nvPr/>
          </p:nvGraphicFramePr>
          <p:xfrm>
            <a:off x="3996" y="1471"/>
            <a:ext cx="290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41300" imgH="330200" progId="Equation.DSMT4">
                    <p:embed/>
                  </p:oleObj>
                </mc:Choice>
                <mc:Fallback>
                  <p:oleObj name="Equation" r:id="rId6" imgW="241300" imgH="330200" progId="Equation.DSMT4">
                    <p:embed/>
                    <p:pic>
                      <p:nvPicPr>
                        <p:cNvPr id="0" name="图片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6" y="1471"/>
                          <a:ext cx="290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006" name="Object 11"/>
            <p:cNvGraphicFramePr>
              <a:graphicFrameLocks noChangeAspect="1"/>
            </p:cNvGraphicFramePr>
            <p:nvPr/>
          </p:nvGraphicFramePr>
          <p:xfrm>
            <a:off x="4470" y="385"/>
            <a:ext cx="224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203200" imgH="292100" progId="Equation.3">
                    <p:embed/>
                  </p:oleObj>
                </mc:Choice>
                <mc:Fallback>
                  <p:oleObj name="公式" r:id="rId8" imgW="203200" imgH="292100" progId="Equation.3">
                    <p:embed/>
                    <p:pic>
                      <p:nvPicPr>
                        <p:cNvPr id="0" name="图片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70" y="385"/>
                          <a:ext cx="224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07" name="Text Box 12"/>
            <p:cNvSpPr txBox="1">
              <a:spLocks noChangeArrowheads="1"/>
            </p:cNvSpPr>
            <p:nvPr/>
          </p:nvSpPr>
          <p:spPr bwMode="auto">
            <a:xfrm>
              <a:off x="3334" y="845"/>
              <a:ext cx="52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Sub1</a:t>
              </a:r>
            </a:p>
          </p:txBody>
        </p:sp>
        <p:sp>
          <p:nvSpPr>
            <p:cNvPr id="42008" name="Text Box 13"/>
            <p:cNvSpPr txBox="1">
              <a:spLocks noChangeArrowheads="1"/>
            </p:cNvSpPr>
            <p:nvPr/>
          </p:nvSpPr>
          <p:spPr bwMode="auto">
            <a:xfrm>
              <a:off x="3334" y="1253"/>
              <a:ext cx="52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Sub2</a:t>
              </a:r>
            </a:p>
          </p:txBody>
        </p:sp>
        <p:sp>
          <p:nvSpPr>
            <p:cNvPr id="42009" name="Line 14"/>
            <p:cNvSpPr>
              <a:spLocks noChangeShapeType="1"/>
            </p:cNvSpPr>
            <p:nvPr/>
          </p:nvSpPr>
          <p:spPr bwMode="auto">
            <a:xfrm>
              <a:off x="4855" y="972"/>
              <a:ext cx="29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0" name="Line 15"/>
            <p:cNvSpPr>
              <a:spLocks noChangeShapeType="1"/>
            </p:cNvSpPr>
            <p:nvPr/>
          </p:nvSpPr>
          <p:spPr bwMode="auto">
            <a:xfrm>
              <a:off x="4855" y="1373"/>
              <a:ext cx="29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1" name="Line 16"/>
            <p:cNvSpPr>
              <a:spLocks noChangeShapeType="1"/>
            </p:cNvSpPr>
            <p:nvPr/>
          </p:nvSpPr>
          <p:spPr bwMode="auto">
            <a:xfrm>
              <a:off x="4926" y="965"/>
              <a:ext cx="0" cy="4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2012" name="Object 17"/>
            <p:cNvGraphicFramePr>
              <a:graphicFrameLocks noChangeAspect="1"/>
            </p:cNvGraphicFramePr>
            <p:nvPr/>
          </p:nvGraphicFramePr>
          <p:xfrm>
            <a:off x="4933" y="1071"/>
            <a:ext cx="260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15900" imgH="177800" progId="Equation.DSMT4">
                    <p:embed/>
                  </p:oleObj>
                </mc:Choice>
                <mc:Fallback>
                  <p:oleObj name="Equation" r:id="rId10" imgW="215900" imgH="177800" progId="Equation.DSMT4">
                    <p:embed/>
                    <p:pic>
                      <p:nvPicPr>
                        <p:cNvPr id="0" name="图片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3" y="1071"/>
                          <a:ext cx="260" cy="2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13" name="Oval 18"/>
            <p:cNvSpPr>
              <a:spLocks noChangeArrowheads="1"/>
            </p:cNvSpPr>
            <p:nvPr/>
          </p:nvSpPr>
          <p:spPr bwMode="auto">
            <a:xfrm>
              <a:off x="4195" y="1186"/>
              <a:ext cx="635" cy="327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2014" name="Oval 19"/>
            <p:cNvSpPr>
              <a:spLocks noChangeArrowheads="1"/>
            </p:cNvSpPr>
            <p:nvPr/>
          </p:nvSpPr>
          <p:spPr bwMode="auto">
            <a:xfrm>
              <a:off x="4195" y="1005"/>
              <a:ext cx="164" cy="327"/>
            </a:xfrm>
            <a:prstGeom prst="ellipse">
              <a:avLst/>
            </a:prstGeom>
            <a:noFill/>
            <a:ln w="9525">
              <a:solidFill>
                <a:srgbClr val="00FF00"/>
              </a:solidFill>
              <a:round/>
            </a:ln>
            <a:effectLst/>
            <a:scene3d>
              <a:camera prst="legacyObliqueBottom">
                <a:rot lat="20099998" lon="0" rev="0"/>
              </a:camera>
              <a:lightRig rig="legacyFlat3" dir="b"/>
            </a:scene3d>
            <a:sp3d extrusionH="277800" prstMaterial="legacyMatte">
              <a:bevelT w="13500" h="13500" prst="angle"/>
              <a:bevelB w="13500" h="13500" prst="angle"/>
              <a:extrusionClr>
                <a:srgbClr val="00FF00"/>
              </a:extrusionClr>
              <a:contourClr>
                <a:srgbClr val="00FF00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  <a:flatTx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2015" name="Oval 20"/>
            <p:cNvSpPr>
              <a:spLocks noChangeArrowheads="1"/>
            </p:cNvSpPr>
            <p:nvPr/>
          </p:nvSpPr>
          <p:spPr bwMode="auto">
            <a:xfrm>
              <a:off x="4195" y="824"/>
              <a:ext cx="164" cy="327"/>
            </a:xfrm>
            <a:prstGeom prst="ellipse">
              <a:avLst/>
            </a:prstGeom>
            <a:solidFill>
              <a:srgbClr val="FFFF00"/>
            </a:solidFill>
            <a:ln w="9525">
              <a:round/>
            </a:ln>
            <a:effectLst/>
            <a:scene3d>
              <a:camera prst="legacyObliqueBottom">
                <a:rot lat="20099998" lon="0" rev="0"/>
              </a:camera>
              <a:lightRig rig="legacyFlat3" dir="r"/>
            </a:scene3d>
            <a:sp3d extrusionH="277800" prstMaterial="legacyMatte">
              <a:bevelT w="13500" h="13500" prst="angle"/>
              <a:bevelB w="13500" h="13500" prst="angle"/>
              <a:extrusionClr>
                <a:srgbClr val="FFFF00"/>
              </a:extrusionClr>
              <a:contourClr>
                <a:srgbClr val="FFFF00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  <a:flatTx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2016" name="Oval 21"/>
            <p:cNvSpPr>
              <a:spLocks noChangeArrowheads="1"/>
            </p:cNvSpPr>
            <p:nvPr/>
          </p:nvSpPr>
          <p:spPr bwMode="auto">
            <a:xfrm>
              <a:off x="4195" y="823"/>
              <a:ext cx="635" cy="327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2017" name="Oval 22"/>
            <p:cNvSpPr>
              <a:spLocks noChangeArrowheads="1"/>
            </p:cNvSpPr>
            <p:nvPr/>
          </p:nvSpPr>
          <p:spPr bwMode="auto">
            <a:xfrm>
              <a:off x="4195" y="1005"/>
              <a:ext cx="635" cy="327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2018" name="Line 23"/>
            <p:cNvSpPr>
              <a:spLocks noChangeShapeType="1"/>
            </p:cNvSpPr>
            <p:nvPr/>
          </p:nvSpPr>
          <p:spPr bwMode="auto">
            <a:xfrm flipV="1">
              <a:off x="4526" y="598"/>
              <a:ext cx="0" cy="564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9" name="Line 24"/>
            <p:cNvSpPr>
              <a:spLocks noChangeShapeType="1"/>
            </p:cNvSpPr>
            <p:nvPr/>
          </p:nvSpPr>
          <p:spPr bwMode="auto">
            <a:xfrm flipV="1">
              <a:off x="3939" y="1146"/>
              <a:ext cx="612" cy="462"/>
            </a:xfrm>
            <a:prstGeom prst="line">
              <a:avLst/>
            </a:prstGeom>
            <a:noFill/>
            <a:ln w="34925">
              <a:solidFill>
                <a:srgbClr val="FF0000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20" name="Line 25"/>
            <p:cNvSpPr>
              <a:spLocks noChangeShapeType="1"/>
            </p:cNvSpPr>
            <p:nvPr/>
          </p:nvSpPr>
          <p:spPr bwMode="auto">
            <a:xfrm flipV="1">
              <a:off x="4537" y="688"/>
              <a:ext cx="268" cy="474"/>
            </a:xfrm>
            <a:prstGeom prst="line">
              <a:avLst/>
            </a:prstGeom>
            <a:noFill/>
            <a:ln w="34925">
              <a:solidFill>
                <a:srgbClr val="FF00FF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21" name="Line 26"/>
            <p:cNvSpPr>
              <a:spLocks noChangeShapeType="1"/>
            </p:cNvSpPr>
            <p:nvPr/>
          </p:nvSpPr>
          <p:spPr bwMode="auto">
            <a:xfrm>
              <a:off x="3198" y="1162"/>
              <a:ext cx="24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22" name="Line 27"/>
            <p:cNvSpPr>
              <a:spLocks noChangeShapeType="1"/>
            </p:cNvSpPr>
            <p:nvPr/>
          </p:nvSpPr>
          <p:spPr bwMode="auto">
            <a:xfrm>
              <a:off x="4830" y="994"/>
              <a:ext cx="0" cy="3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23" name="Line 28"/>
            <p:cNvSpPr>
              <a:spLocks noChangeShapeType="1"/>
            </p:cNvSpPr>
            <p:nvPr/>
          </p:nvSpPr>
          <p:spPr bwMode="auto">
            <a:xfrm>
              <a:off x="4195" y="986"/>
              <a:ext cx="0" cy="3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25" name="Line 30"/>
            <p:cNvSpPr>
              <a:spLocks noChangeShapeType="1"/>
            </p:cNvSpPr>
            <p:nvPr/>
          </p:nvSpPr>
          <p:spPr bwMode="auto">
            <a:xfrm>
              <a:off x="4241" y="890"/>
              <a:ext cx="181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2026" name="Rectangle 31"/>
            <p:cNvSpPr>
              <a:spLocks noChangeArrowheads="1"/>
            </p:cNvSpPr>
            <p:nvPr/>
          </p:nvSpPr>
          <p:spPr bwMode="auto">
            <a:xfrm>
              <a:off x="4468" y="1026"/>
              <a:ext cx="272" cy="4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77825" indent="-3778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40000"/>
                </a:lnSpc>
                <a:spcBef>
                  <a:spcPct val="20000"/>
                </a:spcBef>
              </a:pPr>
              <a:r>
                <a:rPr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P</a:t>
              </a:r>
            </a:p>
          </p:txBody>
        </p:sp>
        <p:sp>
          <p:nvSpPr>
            <p:cNvPr id="42027" name="Rectangle 32"/>
            <p:cNvSpPr>
              <a:spLocks noChangeArrowheads="1"/>
            </p:cNvSpPr>
            <p:nvPr/>
          </p:nvSpPr>
          <p:spPr bwMode="auto">
            <a:xfrm>
              <a:off x="3998" y="981"/>
              <a:ext cx="272" cy="4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77825" indent="-3778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40000"/>
                </a:lnSpc>
                <a:spcBef>
                  <a:spcPct val="20000"/>
                </a:spcBef>
              </a:pPr>
              <a:r>
                <a:rPr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S</a:t>
              </a:r>
            </a:p>
          </p:txBody>
        </p:sp>
      </p:grpSp>
      <p:graphicFrame>
        <p:nvGraphicFramePr>
          <p:cNvPr id="157729" name="Object 33"/>
          <p:cNvGraphicFramePr>
            <a:graphicFrameLocks noChangeAspect="1"/>
          </p:cNvGraphicFramePr>
          <p:nvPr/>
        </p:nvGraphicFramePr>
        <p:xfrm>
          <a:off x="2855914" y="4724401"/>
          <a:ext cx="2103437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66800" imgH="406400" progId="Equation.DSMT4">
                  <p:embed/>
                </p:oleObj>
              </mc:Choice>
              <mc:Fallback>
                <p:oleObj name="Equation" r:id="rId12" imgW="1066800" imgH="406400" progId="Equation.DSMT4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4" y="4724401"/>
                        <a:ext cx="2103437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7730" name="Group 34"/>
          <p:cNvGrpSpPr/>
          <p:nvPr/>
        </p:nvGrpSpPr>
        <p:grpSpPr bwMode="auto">
          <a:xfrm>
            <a:off x="5519738" y="4645026"/>
            <a:ext cx="3859212" cy="733425"/>
            <a:chOff x="2925" y="2428"/>
            <a:chExt cx="2431" cy="462"/>
          </a:xfrm>
        </p:grpSpPr>
        <p:graphicFrame>
          <p:nvGraphicFramePr>
            <p:cNvPr id="41999" name="Object 35"/>
            <p:cNvGraphicFramePr>
              <a:graphicFrameLocks noChangeAspect="1"/>
            </p:cNvGraphicFramePr>
            <p:nvPr/>
          </p:nvGraphicFramePr>
          <p:xfrm>
            <a:off x="3759" y="2478"/>
            <a:ext cx="1597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549400" imgH="330200" progId="Equation.DSMT4">
                    <p:embed/>
                  </p:oleObj>
                </mc:Choice>
                <mc:Fallback>
                  <p:oleObj name="Equation" r:id="rId14" imgW="1549400" imgH="330200" progId="Equation.DSMT4">
                    <p:embed/>
                    <p:pic>
                      <p:nvPicPr>
                        <p:cNvPr id="0" name="图片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59" y="2478"/>
                          <a:ext cx="1597" cy="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99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00" name="AutoShape 36"/>
            <p:cNvSpPr>
              <a:spLocks noChangeArrowheads="1"/>
            </p:cNvSpPr>
            <p:nvPr/>
          </p:nvSpPr>
          <p:spPr bwMode="auto">
            <a:xfrm>
              <a:off x="2925" y="2428"/>
              <a:ext cx="601" cy="462"/>
            </a:xfrm>
            <a:prstGeom prst="rightArrow">
              <a:avLst>
                <a:gd name="adj1" fmla="val 50000"/>
                <a:gd name="adj2" fmla="val 68544"/>
              </a:avLst>
            </a:prstGeom>
            <a:solidFill>
              <a:srgbClr val="FFCC99"/>
            </a:solidFill>
            <a:ln w="9525">
              <a:solidFill>
                <a:srgbClr val="FF66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57733" name="Group 37"/>
          <p:cNvGrpSpPr/>
          <p:nvPr/>
        </p:nvGrpSpPr>
        <p:grpSpPr bwMode="auto">
          <a:xfrm>
            <a:off x="2063750" y="5516564"/>
            <a:ext cx="3536950" cy="649287"/>
            <a:chOff x="113" y="2976"/>
            <a:chExt cx="2228" cy="409"/>
          </a:xfrm>
        </p:grpSpPr>
        <p:sp>
          <p:nvSpPr>
            <p:cNvPr id="41997" name="Rectangle 38"/>
            <p:cNvSpPr>
              <a:spLocks noChangeArrowheads="1"/>
            </p:cNvSpPr>
            <p:nvPr/>
          </p:nvSpPr>
          <p:spPr bwMode="auto">
            <a:xfrm>
              <a:off x="113" y="2976"/>
              <a:ext cx="1452" cy="4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77825" indent="-3778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40000"/>
                </a:lnSpc>
                <a:spcBef>
                  <a:spcPct val="20000"/>
                </a:spcBef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So</a:t>
              </a:r>
            </a:p>
          </p:txBody>
        </p:sp>
        <p:graphicFrame>
          <p:nvGraphicFramePr>
            <p:cNvPr id="41998" name="Object 39"/>
            <p:cNvGraphicFramePr>
              <a:graphicFrameLocks noChangeAspect="1"/>
            </p:cNvGraphicFramePr>
            <p:nvPr/>
          </p:nvGraphicFramePr>
          <p:xfrm>
            <a:off x="877" y="3019"/>
            <a:ext cx="1464" cy="3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308100" imgH="330200" progId="Equation.DSMT4">
                    <p:embed/>
                  </p:oleObj>
                </mc:Choice>
                <mc:Fallback>
                  <p:oleObj name="Equation" r:id="rId16" imgW="1308100" imgH="330200" progId="Equation.DSMT4">
                    <p:embed/>
                    <p:pic>
                      <p:nvPicPr>
                        <p:cNvPr id="0" name="图片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7" y="3019"/>
                          <a:ext cx="1464" cy="3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99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7739" name="Rectangle 43"/>
          <p:cNvSpPr>
            <a:spLocks noChangeArrowheads="1"/>
          </p:cNvSpPr>
          <p:nvPr/>
        </p:nvSpPr>
        <p:spPr bwMode="auto">
          <a:xfrm>
            <a:off x="1992313" y="2349501"/>
            <a:ext cx="4464050" cy="1532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Choose a point P on the interface, make a cylindrical surface S enclosed the point P</a:t>
            </a:r>
          </a:p>
        </p:txBody>
      </p:sp>
      <p:grpSp>
        <p:nvGrpSpPr>
          <p:cNvPr id="157747" name="Group 51"/>
          <p:cNvGrpSpPr/>
          <p:nvPr/>
        </p:nvGrpSpPr>
        <p:grpSpPr bwMode="auto">
          <a:xfrm>
            <a:off x="6167439" y="5516563"/>
            <a:ext cx="2473325" cy="647700"/>
            <a:chOff x="2743" y="2977"/>
            <a:chExt cx="1558" cy="408"/>
          </a:xfrm>
        </p:grpSpPr>
        <p:graphicFrame>
          <p:nvGraphicFramePr>
            <p:cNvPr id="41995" name="Object 52"/>
            <p:cNvGraphicFramePr>
              <a:graphicFrameLocks noChangeAspect="1"/>
            </p:cNvGraphicFramePr>
            <p:nvPr/>
          </p:nvGraphicFramePr>
          <p:xfrm>
            <a:off x="3425" y="3022"/>
            <a:ext cx="876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762000" imgH="292100" progId="Equation.DSMT4">
                    <p:embed/>
                  </p:oleObj>
                </mc:Choice>
                <mc:Fallback>
                  <p:oleObj name="Equation" r:id="rId18" imgW="762000" imgH="292100" progId="Equation.DSMT4">
                    <p:embed/>
                    <p:pic>
                      <p:nvPicPr>
                        <p:cNvPr id="0" name="图片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5" y="3022"/>
                          <a:ext cx="876" cy="3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99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996" name="Rectangle 53"/>
            <p:cNvSpPr>
              <a:spLocks noChangeArrowheads="1"/>
            </p:cNvSpPr>
            <p:nvPr/>
          </p:nvSpPr>
          <p:spPr bwMode="auto">
            <a:xfrm>
              <a:off x="2743" y="2977"/>
              <a:ext cx="863" cy="4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77825" indent="-3778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40000"/>
                </a:lnSpc>
                <a:spcBef>
                  <a:spcPct val="20000"/>
                </a:spcBef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Or</a:t>
              </a:r>
            </a:p>
          </p:txBody>
        </p:sp>
      </p:grpSp>
      <p:sp>
        <p:nvSpPr>
          <p:cNvPr id="41994" name="Rectangle 54"/>
          <p:cNvSpPr>
            <a:spLocks noChangeArrowheads="1"/>
          </p:cNvSpPr>
          <p:nvPr/>
        </p:nvSpPr>
        <p:spPr bwMode="auto">
          <a:xfrm>
            <a:off x="2207420" y="371510"/>
            <a:ext cx="7920038" cy="1081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600" b="1" dirty="0">
                <a:solidFill>
                  <a:srgbClr val="800000"/>
                </a:solidFill>
              </a:rPr>
              <a:t>6.6 Boundary Condition for </a:t>
            </a:r>
            <a:r>
              <a:rPr lang="en-US" altLang="zh-CN" sz="3600" b="1" dirty="0" err="1">
                <a:solidFill>
                  <a:srgbClr val="800000"/>
                </a:solidFill>
              </a:rPr>
              <a:t>Magnetostatic</a:t>
            </a:r>
            <a:r>
              <a:rPr lang="en-US" altLang="zh-CN" sz="3600" b="1" dirty="0">
                <a:solidFill>
                  <a:srgbClr val="800000"/>
                </a:solidFill>
              </a:rPr>
              <a:t> Fields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7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7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57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57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57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57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57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699" grpId="0"/>
      <p:bldP spid="157700" grpId="0"/>
      <p:bldP spid="15773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1774826" y="333375"/>
            <a:ext cx="4752975" cy="64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77825" indent="-3778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2.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Magnetic field intensity H</a:t>
            </a:r>
            <a:endParaRPr lang="en-US" altLang="zh-CN" sz="2400" b="1" i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58723" name="Group 3"/>
          <p:cNvGrpSpPr/>
          <p:nvPr/>
        </p:nvGrpSpPr>
        <p:grpSpPr bwMode="auto">
          <a:xfrm>
            <a:off x="6240464" y="1989138"/>
            <a:ext cx="3983037" cy="539750"/>
            <a:chOff x="2956" y="1117"/>
            <a:chExt cx="2509" cy="382"/>
          </a:xfrm>
        </p:grpSpPr>
        <p:graphicFrame>
          <p:nvGraphicFramePr>
            <p:cNvPr id="43049" name="Object 4"/>
            <p:cNvGraphicFramePr>
              <a:graphicFrameLocks noChangeAspect="1"/>
            </p:cNvGraphicFramePr>
            <p:nvPr/>
          </p:nvGraphicFramePr>
          <p:xfrm>
            <a:off x="3350" y="1117"/>
            <a:ext cx="2115" cy="3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032000" imgH="330200" progId="Equation.DSMT4">
                    <p:embed/>
                  </p:oleObj>
                </mc:Choice>
                <mc:Fallback>
                  <p:oleObj name="Equation" r:id="rId2" imgW="2032000" imgH="330200" progId="Equation.DSMT4">
                    <p:embed/>
                    <p:pic>
                      <p:nvPicPr>
                        <p:cNvPr id="0" name="图片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50" y="1117"/>
                          <a:ext cx="2115" cy="3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50" name="AutoShape 5"/>
            <p:cNvSpPr>
              <a:spLocks noChangeArrowheads="1"/>
            </p:cNvSpPr>
            <p:nvPr/>
          </p:nvSpPr>
          <p:spPr bwMode="auto">
            <a:xfrm>
              <a:off x="2956" y="1253"/>
              <a:ext cx="363" cy="144"/>
            </a:xfrm>
            <a:prstGeom prst="rightArrow">
              <a:avLst>
                <a:gd name="adj1" fmla="val 50000"/>
                <a:gd name="adj2" fmla="val 63021"/>
              </a:avLst>
            </a:prstGeom>
            <a:solidFill>
              <a:srgbClr val="FFCC99"/>
            </a:solidFill>
            <a:ln w="22225">
              <a:solidFill>
                <a:srgbClr val="FF66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58726" name="Rectangle 6"/>
          <p:cNvSpPr>
            <a:spLocks noChangeArrowheads="1"/>
          </p:cNvSpPr>
          <p:nvPr/>
        </p:nvSpPr>
        <p:spPr bwMode="auto">
          <a:xfrm>
            <a:off x="2063751" y="908051"/>
            <a:ext cx="8316913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2000" b="1">
                <a:solidFill>
                  <a:srgbClr val="0000CC"/>
                </a:solidFill>
                <a:ea typeface="楷体_GB2312" pitchFamily="49" charset="-122"/>
              </a:rPr>
              <a:t>Choose the closed path as the contour C at the both sides of the interface, Since</a:t>
            </a:r>
            <a:r>
              <a:rPr lang="el-GR" altLang="zh-CN" sz="2000" b="1">
                <a:solidFill>
                  <a:srgbClr val="0000CC"/>
                </a:solidFill>
                <a:ea typeface="楷体_GB2312" pitchFamily="49" charset="-122"/>
              </a:rPr>
              <a:t>Δ</a:t>
            </a:r>
            <a:r>
              <a:rPr lang="en-US" altLang="zh-CN" sz="2000" i="1">
                <a:solidFill>
                  <a:srgbClr val="0000CC"/>
                </a:solidFill>
                <a:ea typeface="楷体_GB2312" pitchFamily="49" charset="-122"/>
              </a:rPr>
              <a:t>h</a:t>
            </a:r>
            <a:r>
              <a:rPr lang="en-US" altLang="zh-CN" sz="2000" b="1" i="1">
                <a:solidFill>
                  <a:srgbClr val="0000CC"/>
                </a:solidFill>
                <a:ea typeface="楷体_GB2312" pitchFamily="49" charset="-122"/>
              </a:rPr>
              <a:t> </a:t>
            </a:r>
            <a:r>
              <a:rPr lang="en-US" altLang="zh-CN" sz="2000" b="1">
                <a:solidFill>
                  <a:srgbClr val="0000CC"/>
                </a:solidFill>
                <a:ea typeface="幼圆" panose="02010509060101010101" pitchFamily="49" charset="-122"/>
              </a:rPr>
              <a:t>→0</a:t>
            </a:r>
            <a:r>
              <a:rPr lang="zh-CN" altLang="en-US" sz="2000" b="1">
                <a:solidFill>
                  <a:srgbClr val="0000CC"/>
                </a:solidFill>
                <a:ea typeface="幼圆" panose="02010509060101010101" pitchFamily="49" charset="-122"/>
              </a:rPr>
              <a:t>，</a:t>
            </a:r>
            <a:r>
              <a:rPr lang="en-US" altLang="zh-CN" sz="2000" b="1">
                <a:solidFill>
                  <a:srgbClr val="0000CC"/>
                </a:solidFill>
                <a:ea typeface="楷体_GB2312" pitchFamily="49" charset="-122"/>
              </a:rPr>
              <a:t>then</a:t>
            </a:r>
            <a:endParaRPr lang="el-GR" altLang="zh-CN" sz="2000" b="1">
              <a:solidFill>
                <a:srgbClr val="0000CC"/>
              </a:solidFill>
              <a:ea typeface="楷体_GB2312" pitchFamily="49" charset="-122"/>
            </a:endParaRPr>
          </a:p>
        </p:txBody>
      </p:sp>
      <p:sp>
        <p:nvSpPr>
          <p:cNvPr id="43013" name="Rectangle 7"/>
          <p:cNvSpPr>
            <a:spLocks noChangeArrowheads="1"/>
          </p:cNvSpPr>
          <p:nvPr/>
        </p:nvSpPr>
        <p:spPr bwMode="auto">
          <a:xfrm>
            <a:off x="1847850" y="3716339"/>
            <a:ext cx="3663950" cy="126047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3014" name="Rectangle 8"/>
          <p:cNvSpPr>
            <a:spLocks noChangeArrowheads="1"/>
          </p:cNvSpPr>
          <p:nvPr/>
        </p:nvSpPr>
        <p:spPr bwMode="auto">
          <a:xfrm>
            <a:off x="1847850" y="4940300"/>
            <a:ext cx="3663950" cy="1258888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3015" name="Rectangle 9"/>
          <p:cNvSpPr>
            <a:spLocks noChangeArrowheads="1"/>
          </p:cNvSpPr>
          <p:nvPr/>
        </p:nvSpPr>
        <p:spPr bwMode="auto">
          <a:xfrm>
            <a:off x="2828926" y="4579938"/>
            <a:ext cx="1960563" cy="671512"/>
          </a:xfrm>
          <a:prstGeom prst="rect">
            <a:avLst/>
          </a:prstGeom>
          <a:noFill/>
          <a:ln w="38100">
            <a:solidFill>
              <a:srgbClr val="FF66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zh-CN" sz="2800" b="1">
              <a:solidFill>
                <a:srgbClr val="000000"/>
              </a:solidFill>
              <a:ea typeface="幼圆" panose="02010509060101010101" pitchFamily="49" charset="-122"/>
            </a:endParaRPr>
          </a:p>
        </p:txBody>
      </p:sp>
      <p:sp>
        <p:nvSpPr>
          <p:cNvPr id="43016" name="Line 10"/>
          <p:cNvSpPr>
            <a:spLocks noChangeShapeType="1"/>
          </p:cNvSpPr>
          <p:nvPr/>
        </p:nvSpPr>
        <p:spPr bwMode="auto">
          <a:xfrm flipV="1">
            <a:off x="3856039" y="3968750"/>
            <a:ext cx="3175" cy="973138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7" name="Line 11"/>
          <p:cNvSpPr>
            <a:spLocks noChangeShapeType="1"/>
          </p:cNvSpPr>
          <p:nvPr/>
        </p:nvSpPr>
        <p:spPr bwMode="auto">
          <a:xfrm flipV="1">
            <a:off x="3860801" y="4205288"/>
            <a:ext cx="360363" cy="735012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8" name="Line 12"/>
          <p:cNvSpPr>
            <a:spLocks noChangeShapeType="1"/>
          </p:cNvSpPr>
          <p:nvPr/>
        </p:nvSpPr>
        <p:spPr bwMode="auto">
          <a:xfrm>
            <a:off x="4838700" y="4567239"/>
            <a:ext cx="465138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19" name="Line 13"/>
          <p:cNvSpPr>
            <a:spLocks noChangeShapeType="1"/>
          </p:cNvSpPr>
          <p:nvPr/>
        </p:nvSpPr>
        <p:spPr bwMode="auto">
          <a:xfrm>
            <a:off x="4838700" y="5273675"/>
            <a:ext cx="465138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20" name="Line 14"/>
          <p:cNvSpPr>
            <a:spLocks noChangeShapeType="1"/>
          </p:cNvSpPr>
          <p:nvPr/>
        </p:nvSpPr>
        <p:spPr bwMode="auto">
          <a:xfrm>
            <a:off x="4945063" y="4556125"/>
            <a:ext cx="0" cy="673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3021" name="Object 15"/>
          <p:cNvGraphicFramePr>
            <a:graphicFrameLocks noChangeAspect="1"/>
          </p:cNvGraphicFramePr>
          <p:nvPr/>
        </p:nvGraphicFramePr>
        <p:xfrm>
          <a:off x="2927350" y="4652963"/>
          <a:ext cx="4127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900" imgH="215900" progId="Equation.DSMT4">
                  <p:embed/>
                </p:oleObj>
              </mc:Choice>
              <mc:Fallback>
                <p:oleObj name="Equation" r:id="rId4" imgW="215900" imgH="2159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0" y="4652963"/>
                        <a:ext cx="4127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2" name="Object 16"/>
          <p:cNvGraphicFramePr>
            <a:graphicFrameLocks noChangeAspect="1"/>
          </p:cNvGraphicFramePr>
          <p:nvPr/>
        </p:nvGraphicFramePr>
        <p:xfrm>
          <a:off x="4197350" y="3932238"/>
          <a:ext cx="38735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54000" imgH="304800" progId="Equation.3">
                  <p:embed/>
                </p:oleObj>
              </mc:Choice>
              <mc:Fallback>
                <p:oleObj name="公式" r:id="rId6" imgW="254000" imgH="304800" progId="Equation.3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7350" y="3932238"/>
                        <a:ext cx="38735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3" name="Object 17"/>
          <p:cNvGraphicFramePr>
            <a:graphicFrameLocks noChangeAspect="1"/>
          </p:cNvGraphicFramePr>
          <p:nvPr/>
        </p:nvGraphicFramePr>
        <p:xfrm>
          <a:off x="3284538" y="5300663"/>
          <a:ext cx="436562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92100" imgH="304800" progId="Equation.3">
                  <p:embed/>
                </p:oleObj>
              </mc:Choice>
              <mc:Fallback>
                <p:oleObj name="公式" r:id="rId8" imgW="292100" imgH="304800" progId="Equation.3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4538" y="5300663"/>
                        <a:ext cx="436562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4" name="Object 18"/>
          <p:cNvGraphicFramePr>
            <a:graphicFrameLocks noChangeAspect="1"/>
          </p:cNvGraphicFramePr>
          <p:nvPr/>
        </p:nvGraphicFramePr>
        <p:xfrm>
          <a:off x="3549651" y="3778251"/>
          <a:ext cx="314325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5100" imgH="228600" progId="Equation.DSMT4">
                  <p:embed/>
                </p:oleObj>
              </mc:Choice>
              <mc:Fallback>
                <p:oleObj name="Equation" r:id="rId10" imgW="165100" imgH="2286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9651" y="3778251"/>
                        <a:ext cx="314325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25" name="Text Box 19"/>
          <p:cNvSpPr txBox="1">
            <a:spLocks noChangeArrowheads="1"/>
          </p:cNvSpPr>
          <p:nvPr/>
        </p:nvSpPr>
        <p:spPr bwMode="auto">
          <a:xfrm>
            <a:off x="1847850" y="4365626"/>
            <a:ext cx="10239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Sub1</a:t>
            </a:r>
          </a:p>
        </p:txBody>
      </p:sp>
      <p:sp>
        <p:nvSpPr>
          <p:cNvPr id="43026" name="Text Box 20"/>
          <p:cNvSpPr txBox="1">
            <a:spLocks noChangeArrowheads="1"/>
          </p:cNvSpPr>
          <p:nvPr/>
        </p:nvSpPr>
        <p:spPr bwMode="auto">
          <a:xfrm>
            <a:off x="1847851" y="5157789"/>
            <a:ext cx="1095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Sub2</a:t>
            </a:r>
          </a:p>
        </p:txBody>
      </p:sp>
      <p:graphicFrame>
        <p:nvGraphicFramePr>
          <p:cNvPr id="43027" name="Object 21"/>
          <p:cNvGraphicFramePr>
            <a:graphicFrameLocks noChangeAspect="1"/>
          </p:cNvGraphicFramePr>
          <p:nvPr/>
        </p:nvGraphicFramePr>
        <p:xfrm>
          <a:off x="3719513" y="4797426"/>
          <a:ext cx="228600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65100" imgH="177800" progId="Equation.3">
                  <p:embed/>
                </p:oleObj>
              </mc:Choice>
              <mc:Fallback>
                <p:oleObj name="公式" r:id="rId12" imgW="165100" imgH="177800" progId="Equation.3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513" y="4797426"/>
                        <a:ext cx="228600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28" name="Line 22"/>
          <p:cNvSpPr>
            <a:spLocks noChangeShapeType="1"/>
          </p:cNvSpPr>
          <p:nvPr/>
        </p:nvSpPr>
        <p:spPr bwMode="auto">
          <a:xfrm>
            <a:off x="4079876" y="4579938"/>
            <a:ext cx="682625" cy="0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29" name="Line 23"/>
          <p:cNvSpPr>
            <a:spLocks noChangeShapeType="1"/>
          </p:cNvSpPr>
          <p:nvPr/>
        </p:nvSpPr>
        <p:spPr bwMode="auto">
          <a:xfrm flipH="1">
            <a:off x="3429000" y="5229225"/>
            <a:ext cx="723900" cy="0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3030" name="Object 24"/>
          <p:cNvGraphicFramePr>
            <a:graphicFrameLocks noChangeAspect="1"/>
          </p:cNvGraphicFramePr>
          <p:nvPr/>
        </p:nvGraphicFramePr>
        <p:xfrm>
          <a:off x="3863975" y="4724400"/>
          <a:ext cx="338138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77800" imgH="215900" progId="Equation.3">
                  <p:embed/>
                </p:oleObj>
              </mc:Choice>
              <mc:Fallback>
                <p:oleObj name="公式" r:id="rId14" imgW="177800" imgH="215900" progId="Equation.3">
                  <p:embed/>
                  <p:pic>
                    <p:nvPicPr>
                      <p:cNvPr id="0" name="图片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975" y="4724400"/>
                        <a:ext cx="338138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31" name="Object 25"/>
          <p:cNvGraphicFramePr>
            <a:graphicFrameLocks noChangeAspect="1"/>
          </p:cNvGraphicFramePr>
          <p:nvPr/>
        </p:nvGraphicFramePr>
        <p:xfrm>
          <a:off x="4956175" y="4724401"/>
          <a:ext cx="412750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15900" imgH="177800" progId="Equation.DSMT4">
                  <p:embed/>
                </p:oleObj>
              </mc:Choice>
              <mc:Fallback>
                <p:oleObj name="Equation" r:id="rId16" imgW="215900" imgH="177800" progId="Equation.DSMT4">
                  <p:embed/>
                  <p:pic>
                    <p:nvPicPr>
                      <p:cNvPr id="0" name="图片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4724401"/>
                        <a:ext cx="412750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33" name="Line 27"/>
          <p:cNvSpPr>
            <a:spLocks noChangeShapeType="1"/>
          </p:cNvSpPr>
          <p:nvPr/>
        </p:nvSpPr>
        <p:spPr bwMode="auto">
          <a:xfrm flipH="1">
            <a:off x="3033714" y="4940300"/>
            <a:ext cx="827087" cy="6286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34" name="Line 28"/>
          <p:cNvSpPr>
            <a:spLocks noChangeShapeType="1"/>
          </p:cNvSpPr>
          <p:nvPr/>
        </p:nvSpPr>
        <p:spPr bwMode="auto">
          <a:xfrm>
            <a:off x="3287713" y="4581525"/>
            <a:ext cx="215900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3035" name="Line 29"/>
          <p:cNvSpPr>
            <a:spLocks noChangeShapeType="1"/>
          </p:cNvSpPr>
          <p:nvPr/>
        </p:nvSpPr>
        <p:spPr bwMode="auto">
          <a:xfrm flipH="1">
            <a:off x="4194175" y="5249863"/>
            <a:ext cx="215900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158750" name="Object 30"/>
          <p:cNvGraphicFramePr>
            <a:graphicFrameLocks noChangeAspect="1"/>
          </p:cNvGraphicFramePr>
          <p:nvPr/>
        </p:nvGraphicFramePr>
        <p:xfrm>
          <a:off x="2746376" y="1981201"/>
          <a:ext cx="2835275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600200" imgH="381000" progId="Equation.DSMT4">
                  <p:embed/>
                </p:oleObj>
              </mc:Choice>
              <mc:Fallback>
                <p:oleObj name="Equation" r:id="rId18" imgW="1600200" imgH="381000" progId="Equation.DSMT4">
                  <p:embed/>
                  <p:pic>
                    <p:nvPicPr>
                      <p:cNvPr id="0" name="图片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6376" y="1981201"/>
                        <a:ext cx="2835275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rgbClr val="FF99FF"/>
                                </a:gs>
                                <a:gs pos="50000">
                                  <a:schemeClr val="bg1"/>
                                </a:gs>
                                <a:gs pos="100000">
                                  <a:srgbClr val="FF99FF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8751" name="Group 31"/>
          <p:cNvGrpSpPr/>
          <p:nvPr/>
        </p:nvGrpSpPr>
        <p:grpSpPr bwMode="auto">
          <a:xfrm>
            <a:off x="6096000" y="4508502"/>
            <a:ext cx="3703638" cy="572704"/>
            <a:chOff x="2868" y="2432"/>
            <a:chExt cx="2333" cy="384"/>
          </a:xfrm>
        </p:grpSpPr>
        <p:sp>
          <p:nvSpPr>
            <p:cNvPr id="43047" name="Text Box 32"/>
            <p:cNvSpPr txBox="1">
              <a:spLocks noChangeArrowheads="1"/>
            </p:cNvSpPr>
            <p:nvPr/>
          </p:nvSpPr>
          <p:spPr bwMode="auto">
            <a:xfrm>
              <a:off x="2868" y="2432"/>
              <a:ext cx="187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30000"/>
                </a:spcBef>
              </a:pPr>
              <a:r>
                <a:rPr lang="en-US" altLang="zh-CN" sz="24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So</a:t>
              </a:r>
            </a:p>
          </p:txBody>
        </p:sp>
        <p:graphicFrame>
          <p:nvGraphicFramePr>
            <p:cNvPr id="43048" name="Object 33"/>
            <p:cNvGraphicFramePr>
              <a:graphicFrameLocks noChangeAspect="1"/>
            </p:cNvGraphicFramePr>
            <p:nvPr/>
          </p:nvGraphicFramePr>
          <p:xfrm>
            <a:off x="3780" y="2432"/>
            <a:ext cx="1421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562100" imgH="330200" progId="Equation.DSMT4">
                    <p:embed/>
                  </p:oleObj>
                </mc:Choice>
                <mc:Fallback>
                  <p:oleObj name="Equation" r:id="rId20" imgW="1562100" imgH="330200" progId="Equation.DSMT4">
                    <p:embed/>
                    <p:pic>
                      <p:nvPicPr>
                        <p:cNvPr id="0" name="图片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0" y="2432"/>
                          <a:ext cx="1421" cy="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8754" name="Object 34"/>
          <p:cNvGraphicFramePr>
            <a:graphicFrameLocks noChangeAspect="1"/>
          </p:cNvGraphicFramePr>
          <p:nvPr/>
        </p:nvGraphicFramePr>
        <p:xfrm>
          <a:off x="2351088" y="2852738"/>
          <a:ext cx="159385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155700" imgH="330200" progId="Equation.DSMT4">
                  <p:embed/>
                </p:oleObj>
              </mc:Choice>
              <mc:Fallback>
                <p:oleObj name="Equation" r:id="rId22" imgW="1155700" imgH="330200" progId="Equation.DSMT4">
                  <p:embed/>
                  <p:pic>
                    <p:nvPicPr>
                      <p:cNvPr id="0" name="图片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2852738"/>
                        <a:ext cx="159385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55" name="Object 35"/>
          <p:cNvGraphicFramePr>
            <a:graphicFrameLocks noChangeAspect="1"/>
          </p:cNvGraphicFramePr>
          <p:nvPr/>
        </p:nvGraphicFramePr>
        <p:xfrm>
          <a:off x="7104064" y="3644900"/>
          <a:ext cx="2763837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879600" imgH="330200" progId="Equation.DSMT4">
                  <p:embed/>
                </p:oleObj>
              </mc:Choice>
              <mc:Fallback>
                <p:oleObj name="Equation" r:id="rId24" imgW="1879600" imgH="330200" progId="Equation.DSMT4">
                  <p:embed/>
                  <p:pic>
                    <p:nvPicPr>
                      <p:cNvPr id="0" name="图片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4064" y="3644900"/>
                        <a:ext cx="2763837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8756" name="Group 36"/>
          <p:cNvGrpSpPr/>
          <p:nvPr/>
        </p:nvGrpSpPr>
        <p:grpSpPr bwMode="auto">
          <a:xfrm>
            <a:off x="6167439" y="5300662"/>
            <a:ext cx="3316287" cy="572505"/>
            <a:chOff x="2868" y="2829"/>
            <a:chExt cx="2089" cy="397"/>
          </a:xfrm>
        </p:grpSpPr>
        <p:graphicFrame>
          <p:nvGraphicFramePr>
            <p:cNvPr id="43045" name="Object 37"/>
            <p:cNvGraphicFramePr>
              <a:graphicFrameLocks noChangeAspect="1"/>
            </p:cNvGraphicFramePr>
            <p:nvPr/>
          </p:nvGraphicFramePr>
          <p:xfrm>
            <a:off x="3787" y="2849"/>
            <a:ext cx="1170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193800" imgH="292100" progId="Equation.DSMT4">
                    <p:embed/>
                  </p:oleObj>
                </mc:Choice>
                <mc:Fallback>
                  <p:oleObj name="Equation" r:id="rId26" imgW="1193800" imgH="292100" progId="Equation.DSMT4">
                    <p:embed/>
                    <p:pic>
                      <p:nvPicPr>
                        <p:cNvPr id="0" name="图片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7" y="2849"/>
                          <a:ext cx="1170" cy="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99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46" name="Text Box 38"/>
            <p:cNvSpPr txBox="1">
              <a:spLocks noChangeArrowheads="1"/>
            </p:cNvSpPr>
            <p:nvPr/>
          </p:nvSpPr>
          <p:spPr bwMode="auto">
            <a:xfrm>
              <a:off x="2868" y="2829"/>
              <a:ext cx="1872" cy="3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30000"/>
                </a:spcBef>
              </a:pPr>
              <a:r>
                <a:rPr lang="en-US" altLang="zh-CN" sz="2400" b="1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Or</a:t>
              </a:r>
            </a:p>
          </p:txBody>
        </p:sp>
      </p:grpSp>
      <p:grpSp>
        <p:nvGrpSpPr>
          <p:cNvPr id="158765" name="Group 45"/>
          <p:cNvGrpSpPr/>
          <p:nvPr/>
        </p:nvGrpSpPr>
        <p:grpSpPr bwMode="auto">
          <a:xfrm>
            <a:off x="4367214" y="2852738"/>
            <a:ext cx="5786437" cy="539750"/>
            <a:chOff x="1730" y="1648"/>
            <a:chExt cx="3645" cy="376"/>
          </a:xfrm>
        </p:grpSpPr>
        <p:sp>
          <p:nvSpPr>
            <p:cNvPr id="43043" name="AutoShape 46"/>
            <p:cNvSpPr>
              <a:spLocks noChangeArrowheads="1"/>
            </p:cNvSpPr>
            <p:nvPr/>
          </p:nvSpPr>
          <p:spPr bwMode="auto">
            <a:xfrm>
              <a:off x="1730" y="1797"/>
              <a:ext cx="470" cy="136"/>
            </a:xfrm>
            <a:prstGeom prst="rightArrow">
              <a:avLst>
                <a:gd name="adj1" fmla="val 50000"/>
                <a:gd name="adj2" fmla="val 86397"/>
              </a:avLst>
            </a:prstGeom>
            <a:solidFill>
              <a:srgbClr val="FFCC99"/>
            </a:solidFill>
            <a:ln w="22225">
              <a:solidFill>
                <a:srgbClr val="FF66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43044" name="Object 47"/>
            <p:cNvGraphicFramePr>
              <a:graphicFrameLocks noChangeAspect="1"/>
            </p:cNvGraphicFramePr>
            <p:nvPr/>
          </p:nvGraphicFramePr>
          <p:xfrm>
            <a:off x="2245" y="1648"/>
            <a:ext cx="3130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3073400" imgH="330200" progId="Equation.DSMT4">
                    <p:embed/>
                  </p:oleObj>
                </mc:Choice>
                <mc:Fallback>
                  <p:oleObj name="Equation" r:id="rId28" imgW="3073400" imgH="330200" progId="Equation.DSMT4">
                    <p:embed/>
                    <p:pic>
                      <p:nvPicPr>
                        <p:cNvPr id="0" name="图片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45" y="1648"/>
                          <a:ext cx="3130" cy="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042" name="Line 48"/>
          <p:cNvSpPr>
            <a:spLocks noChangeShapeType="1"/>
          </p:cNvSpPr>
          <p:nvPr/>
        </p:nvSpPr>
        <p:spPr bwMode="auto">
          <a:xfrm>
            <a:off x="3287713" y="4941888"/>
            <a:ext cx="215900" cy="0"/>
          </a:xfrm>
          <a:prstGeom prst="line">
            <a:avLst/>
          </a:prstGeom>
          <a:noFill/>
          <a:ln w="38100">
            <a:solidFill>
              <a:srgbClr val="6600FF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8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8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58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58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58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58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58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58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1992313" y="765175"/>
            <a:ext cx="4248150" cy="503238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Two perfect dielectric </a:t>
            </a:r>
          </a:p>
        </p:txBody>
      </p:sp>
      <p:graphicFrame>
        <p:nvGraphicFramePr>
          <p:cNvPr id="189444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511676" y="1221900"/>
          <a:ext cx="2457160" cy="2099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18565" imgH="1040765" progId="Equation.DSMT4">
                  <p:embed/>
                </p:oleObj>
              </mc:Choice>
              <mc:Fallback>
                <p:oleObj name="Equation" r:id="rId2" imgW="1218565" imgH="1040765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676" y="1221900"/>
                        <a:ext cx="2457160" cy="2099151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9447" name="Rectangle 7"/>
          <p:cNvSpPr>
            <a:spLocks noRot="1" noChangeArrowheads="1"/>
          </p:cNvSpPr>
          <p:nvPr/>
        </p:nvSpPr>
        <p:spPr bwMode="auto">
          <a:xfrm>
            <a:off x="1992313" y="3500439"/>
            <a:ext cx="7416800" cy="58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dirty="0">
                <a:solidFill>
                  <a:srgbClr val="0000CC"/>
                </a:solidFill>
              </a:rPr>
              <a:t>Perfect dielectric and perfect conductor</a:t>
            </a:r>
          </a:p>
        </p:txBody>
      </p:sp>
      <p:graphicFrame>
        <p:nvGraphicFramePr>
          <p:cNvPr id="189448" name="Object 8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583112" y="4076700"/>
          <a:ext cx="2164051" cy="2773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12165" imgH="1040765" progId="Equation.DSMT4">
                  <p:embed/>
                </p:oleObj>
              </mc:Choice>
              <mc:Fallback>
                <p:oleObj name="Equation" r:id="rId4" imgW="812165" imgH="1040765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3112" y="4076700"/>
                        <a:ext cx="2164051" cy="277302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4038" name="Picture 11" descr="BD05546_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7343" y="5234279"/>
            <a:ext cx="1763712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9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9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89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4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Rectangle 18"/>
          <p:cNvSpPr>
            <a:spLocks noChangeArrowheads="1"/>
          </p:cNvSpPr>
          <p:nvPr/>
        </p:nvSpPr>
        <p:spPr bwMode="auto">
          <a:xfrm>
            <a:off x="1992313" y="765175"/>
            <a:ext cx="7199312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仿宋_GB2312" pitchFamily="49" charset="-122"/>
              </a:rPr>
              <a:t>Boundary conditions of Magnetic vector potential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</a:rPr>
              <a:t> </a:t>
            </a:r>
          </a:p>
        </p:txBody>
      </p:sp>
      <p:graphicFrame>
        <p:nvGraphicFramePr>
          <p:cNvPr id="169989" name="Object 26"/>
          <p:cNvGraphicFramePr>
            <a:graphicFrameLocks noChangeAspect="1"/>
          </p:cNvGraphicFramePr>
          <p:nvPr/>
        </p:nvGraphicFramePr>
        <p:xfrm>
          <a:off x="2344738" y="4279900"/>
          <a:ext cx="1398587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411200" imgH="5486400" progId="Equation.DSMT4">
                  <p:embed/>
                </p:oleObj>
              </mc:Choice>
              <mc:Fallback>
                <p:oleObj name="Equation" r:id="rId2" imgW="13411200" imgH="54864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4738" y="4279900"/>
                        <a:ext cx="1398587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8604" name="AutoShape 28"/>
          <p:cNvSpPr>
            <a:spLocks noChangeArrowheads="1"/>
          </p:cNvSpPr>
          <p:nvPr/>
        </p:nvSpPr>
        <p:spPr bwMode="auto">
          <a:xfrm>
            <a:off x="7570788" y="4195763"/>
            <a:ext cx="576262" cy="241300"/>
          </a:xfrm>
          <a:prstGeom prst="rightArrow">
            <a:avLst>
              <a:gd name="adj1" fmla="val 50000"/>
              <a:gd name="adj2" fmla="val 59704"/>
            </a:avLst>
          </a:prstGeom>
          <a:solidFill>
            <a:srgbClr val="FFCC99"/>
          </a:solidFill>
          <a:ln w="22225">
            <a:solidFill>
              <a:srgbClr val="FF66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b="1">
              <a:solidFill>
                <a:srgbClr val="00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169991" name="AutoShape 29"/>
          <p:cNvSpPr/>
          <p:nvPr/>
        </p:nvSpPr>
        <p:spPr bwMode="auto">
          <a:xfrm>
            <a:off x="7354889" y="3860800"/>
            <a:ext cx="71437" cy="865188"/>
          </a:xfrm>
          <a:prstGeom prst="rightBrace">
            <a:avLst>
              <a:gd name="adj1" fmla="val 100927"/>
              <a:gd name="adj2" fmla="val 50000"/>
            </a:avLst>
          </a:prstGeom>
          <a:noFill/>
          <a:ln w="2222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b="1">
              <a:solidFill>
                <a:srgbClr val="00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graphicFrame>
        <p:nvGraphicFramePr>
          <p:cNvPr id="169992" name="Object 30"/>
          <p:cNvGraphicFramePr>
            <a:graphicFrameLocks noChangeAspect="1"/>
          </p:cNvGraphicFramePr>
          <p:nvPr/>
        </p:nvGraphicFramePr>
        <p:xfrm>
          <a:off x="8248650" y="3949700"/>
          <a:ext cx="1163638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582400" imgH="6400800" progId="Equation.DSMT4">
                  <p:embed/>
                </p:oleObj>
              </mc:Choice>
              <mc:Fallback>
                <p:oleObj name="Equation" r:id="rId4" imgW="11582400" imgH="64008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48650" y="3949700"/>
                        <a:ext cx="1163638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9993" name="Object 31"/>
          <p:cNvGraphicFramePr>
            <a:graphicFrameLocks noChangeAspect="1"/>
          </p:cNvGraphicFramePr>
          <p:nvPr/>
        </p:nvGraphicFramePr>
        <p:xfrm>
          <a:off x="2424113" y="4927600"/>
          <a:ext cx="2555875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346400" imgH="6096000" progId="Equation.DSMT4">
                  <p:embed/>
                </p:oleObj>
              </mc:Choice>
              <mc:Fallback>
                <p:oleObj name="Equation" r:id="rId6" imgW="28346400" imgH="60960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4927600"/>
                        <a:ext cx="2555875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9994" name="Object 32"/>
          <p:cNvGraphicFramePr>
            <a:graphicFrameLocks noChangeAspect="1"/>
          </p:cNvGraphicFramePr>
          <p:nvPr/>
        </p:nvGraphicFramePr>
        <p:xfrm>
          <a:off x="2370138" y="5445125"/>
          <a:ext cx="2022475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726400" imgH="6096000" progId="Equation.DSMT4">
                  <p:embed/>
                </p:oleObj>
              </mc:Choice>
              <mc:Fallback>
                <p:oleObj name="Equation" r:id="rId8" imgW="20726400" imgH="60960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138" y="5445125"/>
                        <a:ext cx="2022475" cy="773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8610" name="AutoShape 34"/>
          <p:cNvSpPr>
            <a:spLocks noChangeArrowheads="1"/>
          </p:cNvSpPr>
          <p:nvPr/>
        </p:nvSpPr>
        <p:spPr bwMode="auto">
          <a:xfrm>
            <a:off x="5448301" y="5518150"/>
            <a:ext cx="576263" cy="241300"/>
          </a:xfrm>
          <a:prstGeom prst="rightArrow">
            <a:avLst>
              <a:gd name="adj1" fmla="val 50000"/>
              <a:gd name="adj2" fmla="val 59704"/>
            </a:avLst>
          </a:prstGeom>
          <a:solidFill>
            <a:srgbClr val="FFCC99"/>
          </a:solidFill>
          <a:ln w="22225">
            <a:solidFill>
              <a:srgbClr val="FF66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b="1">
              <a:solidFill>
                <a:srgbClr val="00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169996" name="AutoShape 35"/>
          <p:cNvSpPr/>
          <p:nvPr/>
        </p:nvSpPr>
        <p:spPr bwMode="auto">
          <a:xfrm>
            <a:off x="5232400" y="5183189"/>
            <a:ext cx="71438" cy="865187"/>
          </a:xfrm>
          <a:prstGeom prst="rightBrace">
            <a:avLst>
              <a:gd name="adj1" fmla="val 100925"/>
              <a:gd name="adj2" fmla="val 50000"/>
            </a:avLst>
          </a:prstGeom>
          <a:noFill/>
          <a:ln w="2222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b="1">
              <a:solidFill>
                <a:srgbClr val="00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graphicFrame>
        <p:nvGraphicFramePr>
          <p:cNvPr id="169997" name="Object 36"/>
          <p:cNvGraphicFramePr>
            <a:graphicFrameLocks noChangeAspect="1"/>
          </p:cNvGraphicFramePr>
          <p:nvPr/>
        </p:nvGraphicFramePr>
        <p:xfrm>
          <a:off x="6094413" y="4995863"/>
          <a:ext cx="4325937" cy="111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6634400" imgH="10363200" progId="Equation.DSMT4">
                  <p:embed/>
                </p:oleObj>
              </mc:Choice>
              <mc:Fallback>
                <p:oleObj name="Equation" r:id="rId10" imgW="46634400" imgH="103632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4413" y="4995863"/>
                        <a:ext cx="4325937" cy="1116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9998" name="Object 37"/>
          <p:cNvGraphicFramePr>
            <a:graphicFrameLocks noChangeAspect="1"/>
          </p:cNvGraphicFramePr>
          <p:nvPr/>
        </p:nvGraphicFramePr>
        <p:xfrm>
          <a:off x="2239963" y="3549650"/>
          <a:ext cx="291782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9870400" imgH="7924800" progId="Equation.DSMT4">
                  <p:embed/>
                </p:oleObj>
              </mc:Choice>
              <mc:Fallback>
                <p:oleObj name="Equation" r:id="rId12" imgW="29870400" imgH="7924800" progId="Equation.DSMT4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9963" y="3549650"/>
                        <a:ext cx="2917825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8618" name="AutoShape 42"/>
          <p:cNvSpPr>
            <a:spLocks noChangeArrowheads="1"/>
          </p:cNvSpPr>
          <p:nvPr/>
        </p:nvSpPr>
        <p:spPr bwMode="auto">
          <a:xfrm>
            <a:off x="5519738" y="3860800"/>
            <a:ext cx="576262" cy="215900"/>
          </a:xfrm>
          <a:prstGeom prst="rightArrow">
            <a:avLst>
              <a:gd name="adj1" fmla="val 50000"/>
              <a:gd name="adj2" fmla="val 66728"/>
            </a:avLst>
          </a:prstGeom>
          <a:solidFill>
            <a:srgbClr val="FFCC99"/>
          </a:solidFill>
          <a:ln w="22225">
            <a:solidFill>
              <a:srgbClr val="FF66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b="1">
              <a:solidFill>
                <a:srgbClr val="00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graphicFrame>
        <p:nvGraphicFramePr>
          <p:cNvPr id="170000" name="Object 43"/>
          <p:cNvGraphicFramePr>
            <a:graphicFrameLocks noChangeAspect="1"/>
          </p:cNvGraphicFramePr>
          <p:nvPr/>
        </p:nvGraphicFramePr>
        <p:xfrm>
          <a:off x="6024563" y="3584575"/>
          <a:ext cx="1382712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106400" imgH="5486400" progId="Equation.DSMT4">
                  <p:embed/>
                </p:oleObj>
              </mc:Choice>
              <mc:Fallback>
                <p:oleObj name="Equation" r:id="rId14" imgW="13106400" imgH="5486400" progId="Equation.DSMT4">
                  <p:embed/>
                  <p:pic>
                    <p:nvPicPr>
                      <p:cNvPr id="0" name="图片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4563" y="3584575"/>
                        <a:ext cx="1382712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8621" name="AutoShape 45"/>
          <p:cNvSpPr>
            <a:spLocks noChangeArrowheads="1"/>
          </p:cNvSpPr>
          <p:nvPr/>
        </p:nvSpPr>
        <p:spPr bwMode="auto">
          <a:xfrm>
            <a:off x="5519739" y="4581526"/>
            <a:ext cx="504825" cy="168275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CC99"/>
          </a:solidFill>
          <a:ln w="22225">
            <a:solidFill>
              <a:srgbClr val="FF66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b="1">
              <a:solidFill>
                <a:srgbClr val="00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graphicFrame>
        <p:nvGraphicFramePr>
          <p:cNvPr id="170002" name="Object 46"/>
          <p:cNvGraphicFramePr>
            <a:graphicFrameLocks noChangeAspect="1"/>
          </p:cNvGraphicFramePr>
          <p:nvPr/>
        </p:nvGraphicFramePr>
        <p:xfrm>
          <a:off x="5935663" y="4273550"/>
          <a:ext cx="1466850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4020800" imgH="5486400" progId="Equation.DSMT4">
                  <p:embed/>
                </p:oleObj>
              </mc:Choice>
              <mc:Fallback>
                <p:oleObj name="Equation" r:id="rId16" imgW="14020800" imgH="5486400" progId="Equation.DSMT4">
                  <p:embed/>
                  <p:pic>
                    <p:nvPicPr>
                      <p:cNvPr id="0" name="图片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5663" y="4273550"/>
                        <a:ext cx="1466850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03" name="Object 50"/>
          <p:cNvGraphicFramePr>
            <a:graphicFrameLocks noChangeAspect="1"/>
          </p:cNvGraphicFramePr>
          <p:nvPr/>
        </p:nvGraphicFramePr>
        <p:xfrm>
          <a:off x="2640014" y="1412875"/>
          <a:ext cx="1011237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58800" imgH="254000" progId="Equation.DSMT4">
                  <p:embed/>
                </p:oleObj>
              </mc:Choice>
              <mc:Fallback>
                <p:oleObj name="Equation" r:id="rId18" imgW="558800" imgH="254000" progId="Equation.DSMT4">
                  <p:embed/>
                  <p:pic>
                    <p:nvPicPr>
                      <p:cNvPr id="0" name="图片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4" y="1412875"/>
                        <a:ext cx="1011237" cy="5080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04" name="Object 54"/>
          <p:cNvGraphicFramePr>
            <a:graphicFrameLocks noChangeAspect="1"/>
          </p:cNvGraphicFramePr>
          <p:nvPr/>
        </p:nvGraphicFramePr>
        <p:xfrm>
          <a:off x="2640013" y="2205039"/>
          <a:ext cx="4176712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501900" imgH="482600" progId="Equation.DSMT4">
                  <p:embed/>
                </p:oleObj>
              </mc:Choice>
              <mc:Fallback>
                <p:oleObj name="Equation" r:id="rId20" imgW="2501900" imgH="482600" progId="Equation.DSMT4">
                  <p:embed/>
                  <p:pic>
                    <p:nvPicPr>
                      <p:cNvPr id="0" name="图片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2205039"/>
                        <a:ext cx="4176712" cy="935037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05" name="Object 55"/>
          <p:cNvGraphicFramePr>
            <a:graphicFrameLocks noGrp="1" noChangeAspect="1"/>
          </p:cNvGraphicFramePr>
          <p:nvPr>
            <p:ph idx="4294967295"/>
          </p:nvPr>
        </p:nvGraphicFramePr>
        <p:xfrm>
          <a:off x="7964489" y="2265363"/>
          <a:ext cx="2035175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889000" imgH="228600" progId="Equation.3">
                  <p:embed/>
                </p:oleObj>
              </mc:Choice>
              <mc:Fallback>
                <p:oleObj name="公式" r:id="rId22" imgW="889000" imgH="228600" progId="Equation.3">
                  <p:embed/>
                  <p:pic>
                    <p:nvPicPr>
                      <p:cNvPr id="0" name="图片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4489" y="2265363"/>
                        <a:ext cx="2035175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48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0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70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69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70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70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69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048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69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48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69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048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69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69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69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048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69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170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94" grpId="0"/>
      <p:bldP spid="1048604" grpId="0" animBg="1"/>
      <p:bldP spid="169991" grpId="0" animBg="1"/>
      <p:bldP spid="1048610" grpId="0" animBg="1"/>
      <p:bldP spid="169996" grpId="0" animBg="1"/>
      <p:bldP spid="1048618" grpId="0" animBg="1"/>
      <p:bldP spid="104862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082" name="Object 60"/>
          <p:cNvGraphicFramePr>
            <a:graphicFrameLocks noChangeAspect="1"/>
          </p:cNvGraphicFramePr>
          <p:nvPr/>
        </p:nvGraphicFramePr>
        <p:xfrm>
          <a:off x="3095625" y="1285876"/>
          <a:ext cx="5378450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97200" imgH="508000" progId="Equation.DSMT4">
                  <p:embed/>
                </p:oleObj>
              </mc:Choice>
              <mc:Fallback>
                <p:oleObj name="Equation" r:id="rId2" imgW="2997200" imgH="5080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25" y="1285876"/>
                        <a:ext cx="5378450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46"/>
          <p:cNvGrpSpPr/>
          <p:nvPr/>
        </p:nvGrpSpPr>
        <p:grpSpPr bwMode="auto">
          <a:xfrm>
            <a:off x="1524000" y="2852739"/>
            <a:ext cx="5327650" cy="873125"/>
            <a:chOff x="22" y="1710"/>
            <a:chExt cx="3356" cy="550"/>
          </a:xfrm>
        </p:grpSpPr>
        <p:graphicFrame>
          <p:nvGraphicFramePr>
            <p:cNvPr id="46104" name="Object 78"/>
            <p:cNvGraphicFramePr>
              <a:graphicFrameLocks noChangeAspect="1"/>
            </p:cNvGraphicFramePr>
            <p:nvPr/>
          </p:nvGraphicFramePr>
          <p:xfrm>
            <a:off x="1710" y="1710"/>
            <a:ext cx="1315" cy="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358900" imgH="546100" progId="Equation.DSMT4">
                    <p:embed/>
                  </p:oleObj>
                </mc:Choice>
                <mc:Fallback>
                  <p:oleObj name="Equation" r:id="rId4" imgW="1358900" imgH="546100" progId="Equation.DSMT4">
                    <p:embed/>
                    <p:pic>
                      <p:nvPicPr>
                        <p:cNvPr id="0" name="图片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0" y="1710"/>
                          <a:ext cx="1315" cy="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105" name="Text Box 79"/>
            <p:cNvSpPr txBox="1">
              <a:spLocks noChangeArrowheads="1"/>
            </p:cNvSpPr>
            <p:nvPr/>
          </p:nvSpPr>
          <p:spPr bwMode="auto">
            <a:xfrm>
              <a:off x="22" y="1817"/>
              <a:ext cx="33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       Solution (1) </a:t>
              </a: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As</a:t>
              </a:r>
            </a:p>
          </p:txBody>
        </p:sp>
      </p:grpSp>
      <p:graphicFrame>
        <p:nvGraphicFramePr>
          <p:cNvPr id="163847" name="Object 80"/>
          <p:cNvGraphicFramePr>
            <a:graphicFrameLocks noChangeAspect="1"/>
          </p:cNvGraphicFramePr>
          <p:nvPr/>
        </p:nvGraphicFramePr>
        <p:xfrm>
          <a:off x="3051176" y="5516564"/>
          <a:ext cx="7529513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965700" imgH="558800" progId="Equation.DSMT4">
                  <p:embed/>
                </p:oleObj>
              </mc:Choice>
              <mc:Fallback>
                <p:oleObj name="Equation" r:id="rId6" imgW="4965700" imgH="5588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1176" y="5516564"/>
                        <a:ext cx="7529513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085" name="Group 145"/>
          <p:cNvGrpSpPr/>
          <p:nvPr/>
        </p:nvGrpSpPr>
        <p:grpSpPr bwMode="auto">
          <a:xfrm>
            <a:off x="1882776" y="1989139"/>
            <a:ext cx="8785225" cy="885825"/>
            <a:chOff x="2317" y="1516"/>
            <a:chExt cx="5534" cy="558"/>
          </a:xfrm>
        </p:grpSpPr>
        <p:graphicFrame>
          <p:nvGraphicFramePr>
            <p:cNvPr id="46101" name="Object 62"/>
            <p:cNvGraphicFramePr>
              <a:graphicFrameLocks noChangeAspect="1"/>
            </p:cNvGraphicFramePr>
            <p:nvPr/>
          </p:nvGraphicFramePr>
          <p:xfrm>
            <a:off x="5465" y="1578"/>
            <a:ext cx="157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39700" imgH="228600" progId="Equation.DSMT4">
                    <p:embed/>
                  </p:oleObj>
                </mc:Choice>
                <mc:Fallback>
                  <p:oleObj name="Equation" r:id="rId8" imgW="139700" imgH="228600" progId="Equation.DSMT4">
                    <p:embed/>
                    <p:pic>
                      <p:nvPicPr>
                        <p:cNvPr id="0" name="图片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65" y="1578"/>
                          <a:ext cx="157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102" name="Object 63"/>
            <p:cNvGraphicFramePr>
              <a:graphicFrameLocks noChangeAspect="1"/>
            </p:cNvGraphicFramePr>
            <p:nvPr/>
          </p:nvGraphicFramePr>
          <p:xfrm>
            <a:off x="4522" y="1741"/>
            <a:ext cx="236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241300" imgH="330200" progId="Equation.3">
                    <p:embed/>
                  </p:oleObj>
                </mc:Choice>
                <mc:Fallback>
                  <p:oleObj name="公式" r:id="rId10" imgW="241300" imgH="330200" progId="Equation.3">
                    <p:embed/>
                    <p:pic>
                      <p:nvPicPr>
                        <p:cNvPr id="0" name="图片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22" y="1741"/>
                          <a:ext cx="236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103" name="Rectangle 64"/>
            <p:cNvSpPr>
              <a:spLocks noChangeArrowheads="1"/>
            </p:cNvSpPr>
            <p:nvPr/>
          </p:nvSpPr>
          <p:spPr bwMode="auto">
            <a:xfrm>
              <a:off x="2317" y="1516"/>
              <a:ext cx="5534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762000" indent="-762000"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Find: (1) Magnetic field intensity H </a:t>
              </a:r>
              <a:r>
                <a:rPr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；</a:t>
              </a:r>
            </a:p>
            <a:p>
              <a:pPr algn="just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      </a:t>
              </a: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(2)The </a:t>
              </a: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surface</a:t>
              </a:r>
              <a:r>
                <a:rPr lang="en-US" altLang="zh-CN" sz="2000">
                  <a:latin typeface="Times New Roman" panose="02020603050405020304" pitchFamily="18" charset="0"/>
                </a:rPr>
                <a:t> </a:t>
              </a: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current density </a:t>
              </a:r>
              <a:r>
                <a:rPr lang="en-US" altLang="zh-CN" sz="2000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Js</a:t>
              </a: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.</a:t>
              </a:r>
              <a:r>
                <a:rPr lang="en-US" altLang="zh-CN" sz="2000" b="1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 </a:t>
              </a:r>
            </a:p>
          </p:txBody>
        </p:sp>
      </p:grpSp>
      <p:sp>
        <p:nvSpPr>
          <p:cNvPr id="46086" name="Rectangle 131"/>
          <p:cNvSpPr>
            <a:spLocks noChangeArrowheads="1"/>
          </p:cNvSpPr>
          <p:nvPr/>
        </p:nvSpPr>
        <p:spPr bwMode="auto">
          <a:xfrm>
            <a:off x="1703389" y="333375"/>
            <a:ext cx="8569325" cy="1052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FF33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Ex.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T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he air between two conductor plate (</a:t>
            </a:r>
            <a:r>
              <a:rPr lang="en-US" altLang="zh-CN" sz="2400" b="1" i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z = 0 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and </a:t>
            </a:r>
            <a:r>
              <a:rPr lang="en-US" altLang="zh-CN" sz="2400" b="1" i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z = d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) , the electric field intensity is known as</a:t>
            </a:r>
          </a:p>
        </p:txBody>
      </p:sp>
      <p:graphicFrame>
        <p:nvGraphicFramePr>
          <p:cNvPr id="163853" name="Object 133"/>
          <p:cNvGraphicFramePr>
            <a:graphicFrameLocks noChangeAspect="1"/>
          </p:cNvGraphicFramePr>
          <p:nvPr/>
        </p:nvGraphicFramePr>
        <p:xfrm>
          <a:off x="2595564" y="3571876"/>
          <a:ext cx="3887787" cy="186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476500" imgH="1206500" progId="Equation.3">
                  <p:embed/>
                </p:oleObj>
              </mc:Choice>
              <mc:Fallback>
                <p:oleObj name="公式" r:id="rId12" imgW="2476500" imgH="1206500" progId="Equation.3">
                  <p:embed/>
                  <p:pic>
                    <p:nvPicPr>
                      <p:cNvPr id="0" name="图片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5564" y="3571876"/>
                        <a:ext cx="3887787" cy="186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088" name="Group 144"/>
          <p:cNvGrpSpPr/>
          <p:nvPr/>
        </p:nvGrpSpPr>
        <p:grpSpPr bwMode="auto">
          <a:xfrm>
            <a:off x="6972301" y="2797175"/>
            <a:ext cx="3214688" cy="1862138"/>
            <a:chOff x="3391" y="2030"/>
            <a:chExt cx="2025" cy="1173"/>
          </a:xfrm>
        </p:grpSpPr>
        <p:sp>
          <p:nvSpPr>
            <p:cNvPr id="46090" name="Rectangle 109"/>
            <p:cNvSpPr>
              <a:spLocks noChangeArrowheads="1"/>
            </p:cNvSpPr>
            <p:nvPr/>
          </p:nvSpPr>
          <p:spPr bwMode="auto">
            <a:xfrm>
              <a:off x="3529" y="2327"/>
              <a:ext cx="1574" cy="256"/>
            </a:xfrm>
            <a:prstGeom prst="rect">
              <a:avLst/>
            </a:prstGeom>
            <a:solidFill>
              <a:srgbClr val="FFCC99"/>
            </a:solidFill>
            <a:ln w="9525">
              <a:miter lim="800000"/>
            </a:ln>
            <a:scene3d>
              <a:camera prst="legacyObliqueTopRight">
                <a:rot lat="20999996" lon="0" rev="0"/>
              </a:camera>
              <a:lightRig rig="legacyFlat3" dir="b"/>
            </a:scene3d>
            <a:sp3d extrusionH="1801800" prstMaterial="legacyMatte">
              <a:bevelT w="13500" h="13500" prst="angle"/>
              <a:bevelB w="13500" h="13500" prst="angle"/>
              <a:extrusionClr>
                <a:srgbClr val="FFCC99"/>
              </a:extrusionClr>
              <a:contourClr>
                <a:srgbClr val="FFCC99"/>
              </a:contourClr>
            </a:sp3d>
          </p:spPr>
          <p:txBody>
            <a:bodyPr anchor="ctr">
              <a:spAutoFit/>
              <a:flatTx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  <a:buClrTx/>
                <a:buSzTx/>
                <a:buFontTx/>
                <a:buNone/>
              </a:pPr>
              <a:endParaRPr lang="zh-CN" altLang="zh-CN" sz="2000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sp>
          <p:nvSpPr>
            <p:cNvPr id="46091" name="Rectangle 110"/>
            <p:cNvSpPr>
              <a:spLocks noChangeArrowheads="1"/>
            </p:cNvSpPr>
            <p:nvPr/>
          </p:nvSpPr>
          <p:spPr bwMode="auto">
            <a:xfrm>
              <a:off x="3516" y="2916"/>
              <a:ext cx="1496" cy="256"/>
            </a:xfrm>
            <a:prstGeom prst="rect">
              <a:avLst/>
            </a:prstGeom>
            <a:solidFill>
              <a:srgbClr val="FFCC99"/>
            </a:solidFill>
            <a:ln w="9525">
              <a:miter lim="800000"/>
            </a:ln>
            <a:scene3d>
              <a:camera prst="legacyObliqueTopRight">
                <a:rot lat="20999996" lon="0" rev="0"/>
              </a:camera>
              <a:lightRig rig="legacyFlat4" dir="b"/>
            </a:scene3d>
            <a:sp3d extrusionH="1801800" prstMaterial="legacyMatte">
              <a:bevelT w="13500" h="13500" prst="angle"/>
              <a:bevelB w="13500" h="13500" prst="angle"/>
              <a:extrusionClr>
                <a:srgbClr val="FFCC99"/>
              </a:extrusionClr>
              <a:contourClr>
                <a:srgbClr val="FFCC99"/>
              </a:contourClr>
            </a:sp3d>
          </p:spPr>
          <p:txBody>
            <a:bodyPr anchor="ctr">
              <a:spAutoFit/>
              <a:flatTx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  <a:buClrTx/>
                <a:buSzTx/>
                <a:buFontTx/>
                <a:buNone/>
              </a:pPr>
              <a:endParaRPr lang="zh-CN" altLang="zh-CN" sz="2000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sp>
          <p:nvSpPr>
            <p:cNvPr id="46092" name="Line 111"/>
            <p:cNvSpPr>
              <a:spLocks noChangeShapeType="1"/>
            </p:cNvSpPr>
            <p:nvPr/>
          </p:nvSpPr>
          <p:spPr bwMode="auto">
            <a:xfrm>
              <a:off x="4694" y="2478"/>
              <a:ext cx="0" cy="544"/>
            </a:xfrm>
            <a:prstGeom prst="line">
              <a:avLst/>
            </a:prstGeom>
            <a:noFill/>
            <a:ln w="9525">
              <a:solidFill>
                <a:srgbClr val="CC33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3" name="Line 112"/>
            <p:cNvSpPr>
              <a:spLocks noChangeShapeType="1"/>
            </p:cNvSpPr>
            <p:nvPr/>
          </p:nvSpPr>
          <p:spPr bwMode="auto">
            <a:xfrm>
              <a:off x="3521" y="2053"/>
              <a:ext cx="0" cy="96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4" name="Line 113"/>
            <p:cNvSpPr>
              <a:spLocks noChangeShapeType="1"/>
            </p:cNvSpPr>
            <p:nvPr/>
          </p:nvSpPr>
          <p:spPr bwMode="auto">
            <a:xfrm>
              <a:off x="3521" y="3015"/>
              <a:ext cx="1763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5" name="Line 114"/>
            <p:cNvSpPr>
              <a:spLocks noChangeShapeType="1"/>
            </p:cNvSpPr>
            <p:nvPr/>
          </p:nvSpPr>
          <p:spPr bwMode="auto">
            <a:xfrm flipV="1">
              <a:off x="3521" y="2737"/>
              <a:ext cx="531" cy="27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6096" name="Object 115"/>
            <p:cNvGraphicFramePr>
              <a:graphicFrameLocks noChangeAspect="1"/>
            </p:cNvGraphicFramePr>
            <p:nvPr/>
          </p:nvGraphicFramePr>
          <p:xfrm>
            <a:off x="3552" y="2030"/>
            <a:ext cx="170" cy="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52400" imgH="152400" progId="Equation.3">
                    <p:embed/>
                  </p:oleObj>
                </mc:Choice>
                <mc:Fallback>
                  <p:oleObj name="公式" r:id="rId14" imgW="152400" imgH="152400" progId="Equation.3">
                    <p:embed/>
                    <p:pic>
                      <p:nvPicPr>
                        <p:cNvPr id="0" name="图片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2030"/>
                          <a:ext cx="170" cy="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097" name="Object 116"/>
            <p:cNvGraphicFramePr>
              <a:graphicFrameLocks noChangeAspect="1"/>
            </p:cNvGraphicFramePr>
            <p:nvPr/>
          </p:nvGraphicFramePr>
          <p:xfrm>
            <a:off x="5239" y="3021"/>
            <a:ext cx="177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77800" imgH="177800" progId="Equation.3">
                    <p:embed/>
                  </p:oleObj>
                </mc:Choice>
                <mc:Fallback>
                  <p:oleObj name="Equation" r:id="rId16" imgW="177800" imgH="177800" progId="Equation.3">
                    <p:embed/>
                    <p:pic>
                      <p:nvPicPr>
                        <p:cNvPr id="0" name="图片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9" y="3021"/>
                          <a:ext cx="177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098" name="Object 117"/>
            <p:cNvGraphicFramePr>
              <a:graphicFrameLocks noChangeAspect="1"/>
            </p:cNvGraphicFramePr>
            <p:nvPr/>
          </p:nvGraphicFramePr>
          <p:xfrm>
            <a:off x="4052" y="2625"/>
            <a:ext cx="139" cy="1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77800" imgH="203200" progId="Equation.3">
                    <p:embed/>
                  </p:oleObj>
                </mc:Choice>
                <mc:Fallback>
                  <p:oleObj name="Equation" r:id="rId18" imgW="177800" imgH="203200" progId="Equation.3">
                    <p:embed/>
                    <p:pic>
                      <p:nvPicPr>
                        <p:cNvPr id="0" name="图片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2" y="2625"/>
                          <a:ext cx="139" cy="1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099" name="Object 118"/>
            <p:cNvGraphicFramePr>
              <a:graphicFrameLocks noChangeAspect="1"/>
            </p:cNvGraphicFramePr>
            <p:nvPr/>
          </p:nvGraphicFramePr>
          <p:xfrm>
            <a:off x="4704" y="2568"/>
            <a:ext cx="172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77800" imgH="228600" progId="Equation.3">
                    <p:embed/>
                  </p:oleObj>
                </mc:Choice>
                <mc:Fallback>
                  <p:oleObj name="Equation" r:id="rId20" imgW="177800" imgH="228600" progId="Equation.3">
                    <p:embed/>
                    <p:pic>
                      <p:nvPicPr>
                        <p:cNvPr id="0" name="图片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4" y="2568"/>
                          <a:ext cx="172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100" name="Object 143"/>
            <p:cNvGraphicFramePr>
              <a:graphicFrameLocks noChangeAspect="1"/>
            </p:cNvGraphicFramePr>
            <p:nvPr/>
          </p:nvGraphicFramePr>
          <p:xfrm>
            <a:off x="3391" y="2956"/>
            <a:ext cx="151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90500" imgH="228600" progId="Equation.DSMT4">
                    <p:embed/>
                  </p:oleObj>
                </mc:Choice>
                <mc:Fallback>
                  <p:oleObj name="Equation" r:id="rId22" imgW="190500" imgH="228600" progId="Equation.DSMT4">
                    <p:embed/>
                    <p:pic>
                      <p:nvPicPr>
                        <p:cNvPr id="0" name="图片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91" y="2956"/>
                          <a:ext cx="151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63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63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2062"/>
          <p:cNvSpPr txBox="1">
            <a:spLocks noChangeArrowheads="1"/>
          </p:cNvSpPr>
          <p:nvPr/>
        </p:nvSpPr>
        <p:spPr bwMode="auto">
          <a:xfrm>
            <a:off x="2424114" y="549275"/>
            <a:ext cx="7386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Calculate the time integral of above equation</a:t>
            </a:r>
          </a:p>
        </p:txBody>
      </p:sp>
      <p:graphicFrame>
        <p:nvGraphicFramePr>
          <p:cNvPr id="164868" name="Object 2063"/>
          <p:cNvGraphicFramePr>
            <a:graphicFrameLocks noChangeAspect="1"/>
          </p:cNvGraphicFramePr>
          <p:nvPr/>
        </p:nvGraphicFramePr>
        <p:xfrm>
          <a:off x="3344863" y="4221163"/>
          <a:ext cx="61849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86200" imgH="558800" progId="Equation.DSMT4">
                  <p:embed/>
                </p:oleObj>
              </mc:Choice>
              <mc:Fallback>
                <p:oleObj name="Equation" r:id="rId2" imgW="3886200" imgH="5588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4863" y="4221163"/>
                        <a:ext cx="61849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69" name="Object 2065"/>
          <p:cNvGraphicFramePr>
            <a:graphicFrameLocks noChangeAspect="1"/>
          </p:cNvGraphicFramePr>
          <p:nvPr/>
        </p:nvGraphicFramePr>
        <p:xfrm>
          <a:off x="3278188" y="5589589"/>
          <a:ext cx="6202362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89400" imgH="558800" progId="Equation.DSMT4">
                  <p:embed/>
                </p:oleObj>
              </mc:Choice>
              <mc:Fallback>
                <p:oleObj name="Equation" r:id="rId4" imgW="4089400" imgH="5588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8188" y="5589589"/>
                        <a:ext cx="6202362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0277" name="Text Box 2069"/>
          <p:cNvSpPr txBox="1">
            <a:spLocks noChangeArrowheads="1"/>
          </p:cNvSpPr>
          <p:nvPr/>
        </p:nvSpPr>
        <p:spPr bwMode="auto">
          <a:xfrm>
            <a:off x="1631951" y="3716338"/>
            <a:ext cx="8893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    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）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The current density of the conductor surface at </a:t>
            </a:r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z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= 0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64871" name="Object 2070"/>
          <p:cNvGraphicFramePr>
            <a:graphicFrameLocks noChangeAspect="1"/>
          </p:cNvGraphicFramePr>
          <p:nvPr/>
        </p:nvGraphicFramePr>
        <p:xfrm>
          <a:off x="2565401" y="968375"/>
          <a:ext cx="6772275" cy="269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860800" imgH="1752600" progId="Equation.DSMT4">
                  <p:embed/>
                </p:oleObj>
              </mc:Choice>
              <mc:Fallback>
                <p:oleObj name="Equation" r:id="rId6" imgW="3860800" imgH="17526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5401" y="968375"/>
                        <a:ext cx="6772275" cy="269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0280" name="Rectangle 2072"/>
          <p:cNvSpPr>
            <a:spLocks noChangeArrowheads="1"/>
          </p:cNvSpPr>
          <p:nvPr/>
        </p:nvSpPr>
        <p:spPr bwMode="auto">
          <a:xfrm>
            <a:off x="2855914" y="5157788"/>
            <a:ext cx="75263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rPr>
              <a:t>The current density of the conductor surface at </a:t>
            </a:r>
            <a:r>
              <a:rPr lang="en-US" altLang="zh-CN" sz="2400" i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z </a:t>
            </a: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= </a:t>
            </a:r>
            <a:r>
              <a:rPr lang="en-US" altLang="zh-CN" sz="2400" i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endParaRPr lang="en-US" altLang="zh-CN" sz="2400" b="1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64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0277" grpId="0"/>
      <p:bldP spid="48028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ChangeArrowheads="1"/>
          </p:cNvSpPr>
          <p:nvPr/>
        </p:nvSpPr>
        <p:spPr bwMode="auto">
          <a:xfrm>
            <a:off x="1631951" y="620713"/>
            <a:ext cx="49688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1. Magnetic Flux and Flux linkage</a:t>
            </a:r>
            <a:endParaRPr kumimoji="1" lang="en-US" altLang="zh-CN" sz="2000" b="1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31" name="Rectangle 10"/>
          <p:cNvSpPr>
            <a:spLocks noChangeArrowheads="1"/>
          </p:cNvSpPr>
          <p:nvPr/>
        </p:nvSpPr>
        <p:spPr bwMode="auto">
          <a:xfrm>
            <a:off x="6672263" y="692151"/>
            <a:ext cx="3778250" cy="2232025"/>
          </a:xfrm>
          <a:prstGeom prst="rect">
            <a:avLst/>
          </a:prstGeom>
          <a:solidFill>
            <a:srgbClr val="CCFFFF"/>
          </a:solidFill>
          <a:ln w="9525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b="1">
              <a:solidFill>
                <a:srgbClr val="FF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48132" name="Freeform 11"/>
          <p:cNvSpPr/>
          <p:nvPr/>
        </p:nvSpPr>
        <p:spPr bwMode="auto">
          <a:xfrm flipV="1">
            <a:off x="9034463" y="1903413"/>
            <a:ext cx="304800" cy="762000"/>
          </a:xfrm>
          <a:custGeom>
            <a:avLst/>
            <a:gdLst>
              <a:gd name="T0" fmla="*/ 0 w 192"/>
              <a:gd name="T1" fmla="*/ 2147483646 h 480"/>
              <a:gd name="T2" fmla="*/ 2147483646 w 192"/>
              <a:gd name="T3" fmla="*/ 2147483646 h 480"/>
              <a:gd name="T4" fmla="*/ 2147483646 w 192"/>
              <a:gd name="T5" fmla="*/ 0 h 48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2" h="480">
                <a:moveTo>
                  <a:pt x="0" y="480"/>
                </a:moveTo>
                <a:cubicBezTo>
                  <a:pt x="8" y="400"/>
                  <a:pt x="16" y="320"/>
                  <a:pt x="48" y="240"/>
                </a:cubicBezTo>
                <a:cubicBezTo>
                  <a:pt x="80" y="160"/>
                  <a:pt x="168" y="40"/>
                  <a:pt x="192" y="0"/>
                </a:cubicBez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3" name="Freeform 12"/>
          <p:cNvSpPr/>
          <p:nvPr/>
        </p:nvSpPr>
        <p:spPr bwMode="auto">
          <a:xfrm flipH="1" flipV="1">
            <a:off x="8120063" y="1903413"/>
            <a:ext cx="304800" cy="762000"/>
          </a:xfrm>
          <a:custGeom>
            <a:avLst/>
            <a:gdLst>
              <a:gd name="T0" fmla="*/ 0 w 192"/>
              <a:gd name="T1" fmla="*/ 2147483646 h 480"/>
              <a:gd name="T2" fmla="*/ 2147483646 w 192"/>
              <a:gd name="T3" fmla="*/ 2147483646 h 480"/>
              <a:gd name="T4" fmla="*/ 2147483646 w 192"/>
              <a:gd name="T5" fmla="*/ 0 h 48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2" h="480">
                <a:moveTo>
                  <a:pt x="0" y="480"/>
                </a:moveTo>
                <a:cubicBezTo>
                  <a:pt x="8" y="400"/>
                  <a:pt x="16" y="320"/>
                  <a:pt x="48" y="240"/>
                </a:cubicBezTo>
                <a:cubicBezTo>
                  <a:pt x="80" y="160"/>
                  <a:pt x="168" y="40"/>
                  <a:pt x="192" y="0"/>
                </a:cubicBez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4" name="Line 13"/>
          <p:cNvSpPr>
            <a:spLocks noChangeShapeType="1"/>
          </p:cNvSpPr>
          <p:nvPr/>
        </p:nvSpPr>
        <p:spPr bwMode="auto">
          <a:xfrm flipV="1">
            <a:off x="8729663" y="1827213"/>
            <a:ext cx="0" cy="8382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5" name="Oval 14"/>
          <p:cNvSpPr>
            <a:spLocks noChangeArrowheads="1"/>
          </p:cNvSpPr>
          <p:nvPr/>
        </p:nvSpPr>
        <p:spPr bwMode="auto">
          <a:xfrm>
            <a:off x="7586663" y="1522413"/>
            <a:ext cx="2362200" cy="609600"/>
          </a:xfrm>
          <a:prstGeom prst="ellipse">
            <a:avLst/>
          </a:prstGeom>
          <a:solidFill>
            <a:srgbClr val="CCFFFF"/>
          </a:solidFill>
          <a:ln w="57150">
            <a:solidFill>
              <a:srgbClr val="0000CC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b="1">
              <a:solidFill>
                <a:srgbClr val="FF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48136" name="Line 15"/>
          <p:cNvSpPr>
            <a:spLocks noChangeShapeType="1"/>
          </p:cNvSpPr>
          <p:nvPr/>
        </p:nvSpPr>
        <p:spPr bwMode="auto">
          <a:xfrm flipV="1">
            <a:off x="8729663" y="989013"/>
            <a:ext cx="0" cy="8382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7" name="Freeform 16"/>
          <p:cNvSpPr/>
          <p:nvPr/>
        </p:nvSpPr>
        <p:spPr bwMode="auto">
          <a:xfrm>
            <a:off x="9034463" y="1065213"/>
            <a:ext cx="304800" cy="762000"/>
          </a:xfrm>
          <a:custGeom>
            <a:avLst/>
            <a:gdLst>
              <a:gd name="T0" fmla="*/ 0 w 192"/>
              <a:gd name="T1" fmla="*/ 2147483646 h 480"/>
              <a:gd name="T2" fmla="*/ 2147483646 w 192"/>
              <a:gd name="T3" fmla="*/ 2147483646 h 480"/>
              <a:gd name="T4" fmla="*/ 2147483646 w 192"/>
              <a:gd name="T5" fmla="*/ 0 h 48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2" h="480">
                <a:moveTo>
                  <a:pt x="0" y="480"/>
                </a:moveTo>
                <a:cubicBezTo>
                  <a:pt x="8" y="400"/>
                  <a:pt x="16" y="320"/>
                  <a:pt x="48" y="240"/>
                </a:cubicBezTo>
                <a:cubicBezTo>
                  <a:pt x="80" y="160"/>
                  <a:pt x="168" y="40"/>
                  <a:pt x="192" y="0"/>
                </a:cubicBez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8" name="Freeform 17"/>
          <p:cNvSpPr/>
          <p:nvPr/>
        </p:nvSpPr>
        <p:spPr bwMode="auto">
          <a:xfrm flipH="1">
            <a:off x="8120063" y="1065213"/>
            <a:ext cx="304800" cy="762000"/>
          </a:xfrm>
          <a:custGeom>
            <a:avLst/>
            <a:gdLst>
              <a:gd name="T0" fmla="*/ 0 w 192"/>
              <a:gd name="T1" fmla="*/ 2147483646 h 480"/>
              <a:gd name="T2" fmla="*/ 2147483646 w 192"/>
              <a:gd name="T3" fmla="*/ 2147483646 h 480"/>
              <a:gd name="T4" fmla="*/ 2147483646 w 192"/>
              <a:gd name="T5" fmla="*/ 0 h 48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2" h="480">
                <a:moveTo>
                  <a:pt x="0" y="480"/>
                </a:moveTo>
                <a:cubicBezTo>
                  <a:pt x="8" y="400"/>
                  <a:pt x="16" y="320"/>
                  <a:pt x="48" y="240"/>
                </a:cubicBezTo>
                <a:cubicBezTo>
                  <a:pt x="80" y="160"/>
                  <a:pt x="168" y="40"/>
                  <a:pt x="192" y="0"/>
                </a:cubicBez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9" name="Text Box 19"/>
          <p:cNvSpPr txBox="1">
            <a:spLocks noChangeArrowheads="1"/>
          </p:cNvSpPr>
          <p:nvPr/>
        </p:nvSpPr>
        <p:spPr bwMode="auto">
          <a:xfrm>
            <a:off x="7392988" y="18923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i="1">
                <a:solidFill>
                  <a:srgbClr val="000066"/>
                </a:solidFill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48140" name="Text Box 21"/>
          <p:cNvSpPr txBox="1">
            <a:spLocks noChangeArrowheads="1"/>
          </p:cNvSpPr>
          <p:nvPr/>
        </p:nvSpPr>
        <p:spPr bwMode="auto">
          <a:xfrm>
            <a:off x="9263063" y="836613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i="1">
                <a:solidFill>
                  <a:srgbClr val="000066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</a:t>
            </a:r>
          </a:p>
        </p:txBody>
      </p:sp>
      <p:sp>
        <p:nvSpPr>
          <p:cNvPr id="48141" name="Text Box 22"/>
          <p:cNvSpPr txBox="1">
            <a:spLocks noChangeArrowheads="1"/>
          </p:cNvSpPr>
          <p:nvPr/>
        </p:nvSpPr>
        <p:spPr bwMode="auto">
          <a:xfrm>
            <a:off x="6816725" y="1052514"/>
            <a:ext cx="1143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00CC"/>
                </a:solidFill>
                <a:latin typeface="Times New Roman" panose="02020603050405020304" pitchFamily="18" charset="0"/>
              </a:rPr>
              <a:t>loop</a:t>
            </a:r>
          </a:p>
        </p:txBody>
      </p:sp>
      <p:sp>
        <p:nvSpPr>
          <p:cNvPr id="179216" name="Rectangle 45"/>
          <p:cNvSpPr>
            <a:spLocks noChangeArrowheads="1"/>
          </p:cNvSpPr>
          <p:nvPr/>
        </p:nvSpPr>
        <p:spPr bwMode="auto">
          <a:xfrm>
            <a:off x="1776414" y="1125538"/>
            <a:ext cx="3887787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 typeface="Wingdings" panose="05000000000000000000" pitchFamily="2" charset="2"/>
              <a:buChar char="l"/>
            </a:pP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Magnetic Flux (</a:t>
            </a:r>
            <a:r>
              <a:rPr kumimoji="1"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磁通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graphicFrame>
        <p:nvGraphicFramePr>
          <p:cNvPr id="179217" name="Object 46"/>
          <p:cNvGraphicFramePr>
            <a:graphicFrameLocks noGrp="1" noChangeAspect="1"/>
          </p:cNvGraphicFramePr>
          <p:nvPr>
            <p:ph idx="4294967295"/>
          </p:nvPr>
        </p:nvGraphicFramePr>
        <p:xfrm>
          <a:off x="1847850" y="1700213"/>
          <a:ext cx="4483100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060700" imgH="330200" progId="Equation.3">
                  <p:embed/>
                </p:oleObj>
              </mc:Choice>
              <mc:Fallback>
                <p:oleObj name="公式" r:id="rId2" imgW="3060700" imgH="330200" progId="Equation.3">
                  <p:embed/>
                  <p:pic>
                    <p:nvPicPr>
                      <p:cNvPr id="0" name="图片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1700213"/>
                        <a:ext cx="4483100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9218" name="Rectangle 51"/>
          <p:cNvSpPr>
            <a:spLocks noChangeArrowheads="1"/>
          </p:cNvSpPr>
          <p:nvPr/>
        </p:nvSpPr>
        <p:spPr bwMode="auto">
          <a:xfrm>
            <a:off x="1703389" y="3213100"/>
            <a:ext cx="3887787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 typeface="Wingdings" panose="05000000000000000000" pitchFamily="2" charset="2"/>
              <a:buChar char="l"/>
            </a:pP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Flux linkage (</a:t>
            </a:r>
            <a:r>
              <a:rPr kumimoji="1"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磁链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sp>
        <p:nvSpPr>
          <p:cNvPr id="48145" name="Rectangle 53"/>
          <p:cNvSpPr>
            <a:spLocks noChangeArrowheads="1"/>
          </p:cNvSpPr>
          <p:nvPr/>
        </p:nvSpPr>
        <p:spPr bwMode="auto">
          <a:xfrm>
            <a:off x="6672263" y="3716339"/>
            <a:ext cx="3778250" cy="2232025"/>
          </a:xfrm>
          <a:prstGeom prst="rect">
            <a:avLst/>
          </a:prstGeom>
          <a:solidFill>
            <a:srgbClr val="CCFFFF"/>
          </a:solidFill>
          <a:ln w="9525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b="1">
              <a:solidFill>
                <a:srgbClr val="FF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48146" name="Freeform 54"/>
          <p:cNvSpPr/>
          <p:nvPr/>
        </p:nvSpPr>
        <p:spPr bwMode="auto">
          <a:xfrm flipV="1">
            <a:off x="9034463" y="4927600"/>
            <a:ext cx="304800" cy="762000"/>
          </a:xfrm>
          <a:custGeom>
            <a:avLst/>
            <a:gdLst>
              <a:gd name="T0" fmla="*/ 0 w 192"/>
              <a:gd name="T1" fmla="*/ 2147483646 h 480"/>
              <a:gd name="T2" fmla="*/ 2147483646 w 192"/>
              <a:gd name="T3" fmla="*/ 2147483646 h 480"/>
              <a:gd name="T4" fmla="*/ 2147483646 w 192"/>
              <a:gd name="T5" fmla="*/ 0 h 48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2" h="480">
                <a:moveTo>
                  <a:pt x="0" y="480"/>
                </a:moveTo>
                <a:cubicBezTo>
                  <a:pt x="8" y="400"/>
                  <a:pt x="16" y="320"/>
                  <a:pt x="48" y="240"/>
                </a:cubicBezTo>
                <a:cubicBezTo>
                  <a:pt x="80" y="160"/>
                  <a:pt x="168" y="40"/>
                  <a:pt x="192" y="0"/>
                </a:cubicBez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47" name="Freeform 55"/>
          <p:cNvSpPr/>
          <p:nvPr/>
        </p:nvSpPr>
        <p:spPr bwMode="auto">
          <a:xfrm flipH="1" flipV="1">
            <a:off x="8120063" y="4927600"/>
            <a:ext cx="304800" cy="762000"/>
          </a:xfrm>
          <a:custGeom>
            <a:avLst/>
            <a:gdLst>
              <a:gd name="T0" fmla="*/ 0 w 192"/>
              <a:gd name="T1" fmla="*/ 2147483646 h 480"/>
              <a:gd name="T2" fmla="*/ 2147483646 w 192"/>
              <a:gd name="T3" fmla="*/ 2147483646 h 480"/>
              <a:gd name="T4" fmla="*/ 2147483646 w 192"/>
              <a:gd name="T5" fmla="*/ 0 h 48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2" h="480">
                <a:moveTo>
                  <a:pt x="0" y="480"/>
                </a:moveTo>
                <a:cubicBezTo>
                  <a:pt x="8" y="400"/>
                  <a:pt x="16" y="320"/>
                  <a:pt x="48" y="240"/>
                </a:cubicBezTo>
                <a:cubicBezTo>
                  <a:pt x="80" y="160"/>
                  <a:pt x="168" y="40"/>
                  <a:pt x="192" y="0"/>
                </a:cubicBez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48" name="Line 56"/>
          <p:cNvSpPr>
            <a:spLocks noChangeShapeType="1"/>
          </p:cNvSpPr>
          <p:nvPr/>
        </p:nvSpPr>
        <p:spPr bwMode="auto">
          <a:xfrm flipV="1">
            <a:off x="8729663" y="4851400"/>
            <a:ext cx="0" cy="8382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49" name="Oval 57"/>
          <p:cNvSpPr>
            <a:spLocks noChangeArrowheads="1"/>
          </p:cNvSpPr>
          <p:nvPr/>
        </p:nvSpPr>
        <p:spPr bwMode="auto">
          <a:xfrm>
            <a:off x="7586663" y="4546600"/>
            <a:ext cx="2362200" cy="609600"/>
          </a:xfrm>
          <a:prstGeom prst="ellipse">
            <a:avLst/>
          </a:prstGeom>
          <a:solidFill>
            <a:srgbClr val="CCFFFF"/>
          </a:solidFill>
          <a:ln w="57150">
            <a:solidFill>
              <a:srgbClr val="0000CC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b="1">
              <a:solidFill>
                <a:srgbClr val="FF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48150" name="Arc 61"/>
          <p:cNvSpPr/>
          <p:nvPr/>
        </p:nvSpPr>
        <p:spPr bwMode="auto">
          <a:xfrm rot="21303359" flipV="1">
            <a:off x="9120188" y="5033964"/>
            <a:ext cx="595312" cy="73025"/>
          </a:xfrm>
          <a:custGeom>
            <a:avLst/>
            <a:gdLst>
              <a:gd name="T0" fmla="*/ 0 w 28121"/>
              <a:gd name="T1" fmla="*/ 5088774 h 21600"/>
              <a:gd name="T2" fmla="*/ 2147483646 w 28121"/>
              <a:gd name="T3" fmla="*/ 109038097 h 21600"/>
              <a:gd name="T4" fmla="*/ 2147483646 w 28121"/>
              <a:gd name="T5" fmla="*/ 10903809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8121" h="21600" fill="none" extrusionOk="0">
                <a:moveTo>
                  <a:pt x="-1" y="1007"/>
                </a:moveTo>
                <a:cubicBezTo>
                  <a:pt x="2109" y="339"/>
                  <a:pt x="4308" y="-1"/>
                  <a:pt x="6521" y="0"/>
                </a:cubicBezTo>
                <a:cubicBezTo>
                  <a:pt x="18450" y="0"/>
                  <a:pt x="28121" y="9670"/>
                  <a:pt x="28121" y="21600"/>
                </a:cubicBezTo>
              </a:path>
              <a:path w="28121" h="21600" stroke="0" extrusionOk="0">
                <a:moveTo>
                  <a:pt x="-1" y="1007"/>
                </a:moveTo>
                <a:cubicBezTo>
                  <a:pt x="2109" y="339"/>
                  <a:pt x="4308" y="-1"/>
                  <a:pt x="6521" y="0"/>
                </a:cubicBezTo>
                <a:cubicBezTo>
                  <a:pt x="18450" y="0"/>
                  <a:pt x="28121" y="9670"/>
                  <a:pt x="28121" y="21600"/>
                </a:cubicBezTo>
                <a:lnTo>
                  <a:pt x="6521" y="21600"/>
                </a:lnTo>
                <a:lnTo>
                  <a:pt x="-1" y="1007"/>
                </a:lnTo>
                <a:close/>
              </a:path>
            </a:pathLst>
          </a:custGeom>
          <a:noFill/>
          <a:ln w="47625">
            <a:solidFill>
              <a:srgbClr val="FF6600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51" name="Text Box 62"/>
          <p:cNvSpPr txBox="1">
            <a:spLocks noChangeArrowheads="1"/>
          </p:cNvSpPr>
          <p:nvPr/>
        </p:nvSpPr>
        <p:spPr bwMode="auto">
          <a:xfrm>
            <a:off x="7392988" y="4916488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i="1">
                <a:solidFill>
                  <a:srgbClr val="000066"/>
                </a:solidFill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48152" name="Text Box 63"/>
          <p:cNvSpPr txBox="1">
            <a:spLocks noChangeArrowheads="1"/>
          </p:cNvSpPr>
          <p:nvPr/>
        </p:nvSpPr>
        <p:spPr bwMode="auto">
          <a:xfrm>
            <a:off x="9409113" y="5013325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i="1">
                <a:solidFill>
                  <a:srgbClr val="000066"/>
                </a:solidFill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48153" name="Text Box 65"/>
          <p:cNvSpPr txBox="1">
            <a:spLocks noChangeArrowheads="1"/>
          </p:cNvSpPr>
          <p:nvPr/>
        </p:nvSpPr>
        <p:spPr bwMode="auto">
          <a:xfrm>
            <a:off x="6672263" y="4005264"/>
            <a:ext cx="1574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current loop</a:t>
            </a:r>
            <a:endParaRPr lang="en-US" altLang="zh-CN" sz="2000" b="1">
              <a:solidFill>
                <a:srgbClr val="0000CC"/>
              </a:solidFill>
              <a:latin typeface="Verdana" panose="020B0604030504040204" pitchFamily="34" charset="0"/>
            </a:endParaRPr>
          </a:p>
        </p:txBody>
      </p:sp>
      <p:sp>
        <p:nvSpPr>
          <p:cNvPr id="179228" name="Rectangle 66"/>
          <p:cNvSpPr>
            <a:spLocks noChangeArrowheads="1"/>
          </p:cNvSpPr>
          <p:nvPr/>
        </p:nvSpPr>
        <p:spPr bwMode="auto">
          <a:xfrm>
            <a:off x="1847850" y="2349500"/>
            <a:ext cx="4248150" cy="6477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 typeface="Wingdings" panose="05000000000000000000" pitchFamily="2" charset="2"/>
              <a:buNone/>
            </a:pPr>
            <a:r>
              <a:rPr kumimoji="1" lang="en-US" altLang="zh-CN" sz="20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     Features: the circuit can be any geometric loops</a:t>
            </a:r>
          </a:p>
        </p:txBody>
      </p:sp>
      <p:sp>
        <p:nvSpPr>
          <p:cNvPr id="179229" name="Rectangle 67"/>
          <p:cNvSpPr>
            <a:spLocks noChangeArrowheads="1"/>
          </p:cNvSpPr>
          <p:nvPr/>
        </p:nvSpPr>
        <p:spPr bwMode="auto">
          <a:xfrm>
            <a:off x="2063750" y="3716338"/>
            <a:ext cx="4249738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 typeface="Wingdings" panose="05000000000000000000" pitchFamily="2" charset="2"/>
              <a:buNone/>
            </a:pPr>
            <a:r>
              <a:rPr kumimoji="1"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Total flux of all current loop hinges</a:t>
            </a:r>
          </a:p>
        </p:txBody>
      </p:sp>
      <p:sp>
        <p:nvSpPr>
          <p:cNvPr id="48156" name="Oval 69"/>
          <p:cNvSpPr>
            <a:spLocks noChangeArrowheads="1"/>
          </p:cNvSpPr>
          <p:nvPr/>
        </p:nvSpPr>
        <p:spPr bwMode="auto">
          <a:xfrm>
            <a:off x="7608888" y="4437063"/>
            <a:ext cx="2362200" cy="609600"/>
          </a:xfrm>
          <a:prstGeom prst="ellipse">
            <a:avLst/>
          </a:prstGeom>
          <a:solidFill>
            <a:srgbClr val="CCFFFF"/>
          </a:solidFill>
          <a:ln w="57150">
            <a:solidFill>
              <a:srgbClr val="0000CC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b="1">
              <a:solidFill>
                <a:srgbClr val="FF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179231" name="Rectangle 68"/>
          <p:cNvSpPr>
            <a:spLocks noChangeArrowheads="1"/>
          </p:cNvSpPr>
          <p:nvPr/>
        </p:nvSpPr>
        <p:spPr bwMode="auto">
          <a:xfrm>
            <a:off x="1847851" y="4221164"/>
            <a:ext cx="4608513" cy="194468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 typeface="Wingdings" panose="05000000000000000000" pitchFamily="2" charset="2"/>
              <a:buNone/>
            </a:pPr>
            <a:r>
              <a:rPr kumimoji="1" lang="en-US" altLang="zh-CN" sz="2000" b="1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Features</a:t>
            </a:r>
            <a:r>
              <a:rPr kumimoji="1" lang="zh-CN" altLang="en-US" sz="2000" b="1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</a:p>
          <a:p>
            <a:pPr eaLnBrk="1" hangingPunct="1">
              <a:buClrTx/>
              <a:buSzTx/>
              <a:buFont typeface="Wingdings" panose="05000000000000000000" pitchFamily="2" charset="2"/>
              <a:buChar char="l"/>
            </a:pPr>
            <a:r>
              <a:rPr kumimoji="1" lang="en-US" altLang="zh-CN" sz="2000" b="1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The loop is current loop</a:t>
            </a:r>
          </a:p>
          <a:p>
            <a:pPr eaLnBrk="1" hangingPunct="1">
              <a:buClrTx/>
              <a:buSzTx/>
              <a:buFont typeface="Wingdings" panose="05000000000000000000" pitchFamily="2" charset="2"/>
              <a:buChar char="l"/>
            </a:pPr>
            <a:r>
              <a:rPr kumimoji="1" lang="en-US" altLang="zh-CN" sz="2000" b="1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Include all the current loops</a:t>
            </a:r>
          </a:p>
          <a:p>
            <a:pPr eaLnBrk="1" hangingPunct="1">
              <a:buClrTx/>
              <a:buSzTx/>
              <a:buFont typeface="Wingdings" panose="05000000000000000000" pitchFamily="2" charset="2"/>
              <a:buChar char="l"/>
            </a:pPr>
            <a:r>
              <a:rPr kumimoji="1" lang="en-US" altLang="zh-CN" sz="2000" b="1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Each loop includes the total magnetic flux linkage of the hinge</a:t>
            </a:r>
          </a:p>
        </p:txBody>
      </p:sp>
      <p:sp>
        <p:nvSpPr>
          <p:cNvPr id="48158" name="Line 58"/>
          <p:cNvSpPr>
            <a:spLocks noChangeShapeType="1"/>
          </p:cNvSpPr>
          <p:nvPr/>
        </p:nvSpPr>
        <p:spPr bwMode="auto">
          <a:xfrm flipV="1">
            <a:off x="8729663" y="4013200"/>
            <a:ext cx="0" cy="8382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59" name="Freeform 59"/>
          <p:cNvSpPr/>
          <p:nvPr/>
        </p:nvSpPr>
        <p:spPr bwMode="auto">
          <a:xfrm>
            <a:off x="9034463" y="4089400"/>
            <a:ext cx="304800" cy="762000"/>
          </a:xfrm>
          <a:custGeom>
            <a:avLst/>
            <a:gdLst>
              <a:gd name="T0" fmla="*/ 0 w 192"/>
              <a:gd name="T1" fmla="*/ 2147483646 h 480"/>
              <a:gd name="T2" fmla="*/ 2147483646 w 192"/>
              <a:gd name="T3" fmla="*/ 2147483646 h 480"/>
              <a:gd name="T4" fmla="*/ 2147483646 w 192"/>
              <a:gd name="T5" fmla="*/ 0 h 48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2" h="480">
                <a:moveTo>
                  <a:pt x="0" y="480"/>
                </a:moveTo>
                <a:cubicBezTo>
                  <a:pt x="8" y="400"/>
                  <a:pt x="16" y="320"/>
                  <a:pt x="48" y="240"/>
                </a:cubicBezTo>
                <a:cubicBezTo>
                  <a:pt x="80" y="160"/>
                  <a:pt x="168" y="40"/>
                  <a:pt x="192" y="0"/>
                </a:cubicBez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60" name="Freeform 60"/>
          <p:cNvSpPr/>
          <p:nvPr/>
        </p:nvSpPr>
        <p:spPr bwMode="auto">
          <a:xfrm flipH="1">
            <a:off x="8120063" y="4089400"/>
            <a:ext cx="304800" cy="762000"/>
          </a:xfrm>
          <a:custGeom>
            <a:avLst/>
            <a:gdLst>
              <a:gd name="T0" fmla="*/ 0 w 192"/>
              <a:gd name="T1" fmla="*/ 2147483646 h 480"/>
              <a:gd name="T2" fmla="*/ 2147483646 w 192"/>
              <a:gd name="T3" fmla="*/ 2147483646 h 480"/>
              <a:gd name="T4" fmla="*/ 2147483646 w 192"/>
              <a:gd name="T5" fmla="*/ 0 h 48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2" h="480">
                <a:moveTo>
                  <a:pt x="0" y="480"/>
                </a:moveTo>
                <a:cubicBezTo>
                  <a:pt x="8" y="400"/>
                  <a:pt x="16" y="320"/>
                  <a:pt x="48" y="240"/>
                </a:cubicBezTo>
                <a:cubicBezTo>
                  <a:pt x="80" y="160"/>
                  <a:pt x="168" y="40"/>
                  <a:pt x="192" y="0"/>
                </a:cubicBez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61" name="Text Box 64"/>
          <p:cNvSpPr txBox="1">
            <a:spLocks noChangeArrowheads="1"/>
          </p:cNvSpPr>
          <p:nvPr/>
        </p:nvSpPr>
        <p:spPr bwMode="auto">
          <a:xfrm>
            <a:off x="9263063" y="38608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i="1">
                <a:solidFill>
                  <a:srgbClr val="000066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</a:t>
            </a:r>
            <a:endParaRPr lang="en-US" altLang="zh-CN" sz="2400" b="1" i="1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62" name="Arc 70"/>
          <p:cNvSpPr/>
          <p:nvPr/>
        </p:nvSpPr>
        <p:spPr bwMode="auto">
          <a:xfrm rot="21303359" flipV="1">
            <a:off x="9120188" y="4940301"/>
            <a:ext cx="595312" cy="73025"/>
          </a:xfrm>
          <a:custGeom>
            <a:avLst/>
            <a:gdLst>
              <a:gd name="T0" fmla="*/ 0 w 28121"/>
              <a:gd name="T1" fmla="*/ 5088774 h 21600"/>
              <a:gd name="T2" fmla="*/ 2147483646 w 28121"/>
              <a:gd name="T3" fmla="*/ 109038097 h 21600"/>
              <a:gd name="T4" fmla="*/ 2147483646 w 28121"/>
              <a:gd name="T5" fmla="*/ 10903809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8121" h="21600" fill="none" extrusionOk="0">
                <a:moveTo>
                  <a:pt x="-1" y="1007"/>
                </a:moveTo>
                <a:cubicBezTo>
                  <a:pt x="2109" y="339"/>
                  <a:pt x="4308" y="-1"/>
                  <a:pt x="6521" y="0"/>
                </a:cubicBezTo>
                <a:cubicBezTo>
                  <a:pt x="18450" y="0"/>
                  <a:pt x="28121" y="9670"/>
                  <a:pt x="28121" y="21600"/>
                </a:cubicBezTo>
              </a:path>
              <a:path w="28121" h="21600" stroke="0" extrusionOk="0">
                <a:moveTo>
                  <a:pt x="-1" y="1007"/>
                </a:moveTo>
                <a:cubicBezTo>
                  <a:pt x="2109" y="339"/>
                  <a:pt x="4308" y="-1"/>
                  <a:pt x="6521" y="0"/>
                </a:cubicBezTo>
                <a:cubicBezTo>
                  <a:pt x="18450" y="0"/>
                  <a:pt x="28121" y="9670"/>
                  <a:pt x="28121" y="21600"/>
                </a:cubicBezTo>
                <a:lnTo>
                  <a:pt x="6521" y="21600"/>
                </a:lnTo>
                <a:lnTo>
                  <a:pt x="-1" y="1007"/>
                </a:lnTo>
                <a:close/>
              </a:path>
            </a:pathLst>
          </a:custGeom>
          <a:noFill/>
          <a:ln w="47625">
            <a:solidFill>
              <a:srgbClr val="FF6600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63" name="Text Box 71"/>
          <p:cNvSpPr txBox="1">
            <a:spLocks noChangeArrowheads="1"/>
          </p:cNvSpPr>
          <p:nvPr/>
        </p:nvSpPr>
        <p:spPr bwMode="auto">
          <a:xfrm>
            <a:off x="9455150" y="45085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i="1">
                <a:solidFill>
                  <a:srgbClr val="000066"/>
                </a:solidFill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48164" name="Rectangle 38"/>
          <p:cNvSpPr>
            <a:spLocks noChangeArrowheads="1"/>
          </p:cNvSpPr>
          <p:nvPr/>
        </p:nvSpPr>
        <p:spPr bwMode="auto">
          <a:xfrm>
            <a:off x="2279650" y="1"/>
            <a:ext cx="7920038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600" b="1">
                <a:solidFill>
                  <a:srgbClr val="800000"/>
                </a:solidFill>
              </a:rPr>
              <a:t>6.7 Inductances and Inductors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9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9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9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7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16" grpId="0"/>
      <p:bldP spid="179218" grpId="0"/>
      <p:bldP spid="179228" grpId="0" animBg="1"/>
      <p:bldP spid="179229" grpId="0"/>
      <p:bldP spid="17923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69" name="Text Box 49"/>
          <p:cNvSpPr txBox="1">
            <a:spLocks noChangeArrowheads="1"/>
          </p:cNvSpPr>
          <p:nvPr/>
        </p:nvSpPr>
        <p:spPr bwMode="auto">
          <a:xfrm>
            <a:off x="1919288" y="3068639"/>
            <a:ext cx="4248150" cy="152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1" lang="en-US" altLang="zh-CN" sz="1800" b="1" dirty="0">
                <a:solidFill>
                  <a:srgbClr val="000000"/>
                </a:solidFill>
                <a:ea typeface="楷体_GB2312" pitchFamily="49" charset="-122"/>
              </a:rPr>
              <a:t>n: is the ratio the current of the magnetic field hinge to the current of the circuit current I</a:t>
            </a:r>
            <a:r>
              <a:rPr kumimoji="1" lang="zh-CN" altLang="en-US" sz="1800" b="1" dirty="0">
                <a:solidFill>
                  <a:srgbClr val="000000"/>
                </a:solidFill>
                <a:ea typeface="楷体_GB2312" pitchFamily="49" charset="-122"/>
              </a:rPr>
              <a:t>（</a:t>
            </a:r>
            <a:r>
              <a:rPr kumimoji="1" lang="zh-CN" altLang="en-US" sz="1800" b="1" i="1" u="sng" dirty="0">
                <a:solidFill>
                  <a:srgbClr val="000000"/>
                </a:solidFill>
                <a:ea typeface="楷体_GB2312" pitchFamily="49" charset="-122"/>
              </a:rPr>
              <a:t> </a:t>
            </a:r>
            <a:r>
              <a:rPr kumimoji="1" lang="en-US" altLang="zh-CN" sz="1800" b="1" i="1" u="sng" dirty="0">
                <a:solidFill>
                  <a:srgbClr val="000000"/>
                </a:solidFill>
                <a:ea typeface="楷体_GB2312" pitchFamily="49" charset="-122"/>
              </a:rPr>
              <a:t>Not necessarily integer </a:t>
            </a:r>
            <a:r>
              <a:rPr kumimoji="1" lang="zh-CN" altLang="en-US" sz="1800" b="1" dirty="0">
                <a:solidFill>
                  <a:srgbClr val="000000"/>
                </a:solidFill>
                <a:ea typeface="楷体_GB2312" pitchFamily="49" charset="-122"/>
              </a:rPr>
              <a:t>）</a:t>
            </a:r>
          </a:p>
        </p:txBody>
      </p:sp>
      <p:sp>
        <p:nvSpPr>
          <p:cNvPr id="49155" name="Rectangle 3"/>
          <p:cNvSpPr>
            <a:spLocks noChangeArrowheads="1"/>
          </p:cNvSpPr>
          <p:nvPr/>
        </p:nvSpPr>
        <p:spPr bwMode="auto">
          <a:xfrm>
            <a:off x="1595438" y="2540000"/>
            <a:ext cx="89646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</a:p>
        </p:txBody>
      </p:sp>
      <p:graphicFrame>
        <p:nvGraphicFramePr>
          <p:cNvPr id="180229" name="Object 4"/>
          <p:cNvGraphicFramePr>
            <a:graphicFrameLocks noChangeAspect="1"/>
          </p:cNvGraphicFramePr>
          <p:nvPr/>
        </p:nvGraphicFramePr>
        <p:xfrm>
          <a:off x="3659261" y="1650874"/>
          <a:ext cx="968158" cy="3424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972800" imgH="3962400" progId="Equation.DSMT4">
                  <p:embed/>
                </p:oleObj>
              </mc:Choice>
              <mc:Fallback>
                <p:oleObj name="Equation" r:id="rId2" imgW="10972800" imgH="39624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9261" y="1650874"/>
                        <a:ext cx="968158" cy="3424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30" name="Object 5"/>
          <p:cNvGraphicFramePr>
            <a:graphicFrameLocks noChangeAspect="1"/>
          </p:cNvGraphicFramePr>
          <p:nvPr/>
        </p:nvGraphicFramePr>
        <p:xfrm>
          <a:off x="3140075" y="2658116"/>
          <a:ext cx="1487343" cy="435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801600" imgH="4267200" progId="Equation.DSMT4">
                  <p:embed/>
                </p:oleObj>
              </mc:Choice>
              <mc:Fallback>
                <p:oleObj name="Equation" r:id="rId4" imgW="12801600" imgH="42672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0075" y="2658116"/>
                        <a:ext cx="1487343" cy="4359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727" name="Text Box 7"/>
          <p:cNvSpPr txBox="1">
            <a:spLocks noChangeArrowheads="1"/>
          </p:cNvSpPr>
          <p:nvPr/>
        </p:nvSpPr>
        <p:spPr bwMode="auto">
          <a:xfrm>
            <a:off x="1919289" y="1052513"/>
            <a:ext cx="4776787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kumimoji="1" lang="en-US" altLang="zh-CN" sz="2000" b="1">
                <a:solidFill>
                  <a:srgbClr val="0000CC"/>
                </a:solidFill>
                <a:ea typeface="楷体_GB2312" pitchFamily="49" charset="-122"/>
              </a:rPr>
              <a:t>  Single turn coil</a:t>
            </a:r>
            <a:endParaRPr lang="en-US" altLang="zh-CN" sz="2000" b="1">
              <a:solidFill>
                <a:srgbClr val="0000CC"/>
              </a:solidFill>
              <a:ea typeface="楷体_GB2312" pitchFamily="49" charset="-122"/>
            </a:endParaRPr>
          </a:p>
        </p:txBody>
      </p:sp>
      <p:sp>
        <p:nvSpPr>
          <p:cNvPr id="1054728" name="Text Box 8"/>
          <p:cNvSpPr txBox="1">
            <a:spLocks noChangeArrowheads="1"/>
          </p:cNvSpPr>
          <p:nvPr/>
        </p:nvSpPr>
        <p:spPr bwMode="auto">
          <a:xfrm>
            <a:off x="1919288" y="2060575"/>
            <a:ext cx="4608512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kumimoji="1" lang="en-US" altLang="zh-CN" sz="2000" b="1">
                <a:solidFill>
                  <a:srgbClr val="0000CC"/>
                </a:solidFill>
                <a:ea typeface="楷体_GB2312" pitchFamily="49" charset="-122"/>
              </a:rPr>
              <a:t>  Multi turn coil</a:t>
            </a:r>
            <a:endParaRPr lang="en-US" altLang="zh-CN" sz="2000" b="1">
              <a:solidFill>
                <a:srgbClr val="0000CC"/>
              </a:solidFill>
              <a:ea typeface="楷体_GB2312" pitchFamily="49" charset="-122"/>
            </a:endParaRPr>
          </a:p>
        </p:txBody>
      </p:sp>
      <p:grpSp>
        <p:nvGrpSpPr>
          <p:cNvPr id="1054729" name="Group 9"/>
          <p:cNvGrpSpPr/>
          <p:nvPr/>
        </p:nvGrpSpPr>
        <p:grpSpPr bwMode="auto">
          <a:xfrm>
            <a:off x="6672263" y="692151"/>
            <a:ext cx="3778250" cy="2232025"/>
            <a:chOff x="3288" y="436"/>
            <a:chExt cx="2380" cy="1406"/>
          </a:xfrm>
        </p:grpSpPr>
        <p:sp>
          <p:nvSpPr>
            <p:cNvPr id="49186" name="Rectangle 10"/>
            <p:cNvSpPr>
              <a:spLocks noChangeArrowheads="1"/>
            </p:cNvSpPr>
            <p:nvPr/>
          </p:nvSpPr>
          <p:spPr bwMode="auto">
            <a:xfrm>
              <a:off x="3288" y="436"/>
              <a:ext cx="2380" cy="1406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b="1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  <p:sp>
          <p:nvSpPr>
            <p:cNvPr id="49187" name="Freeform 11"/>
            <p:cNvSpPr/>
            <p:nvPr/>
          </p:nvSpPr>
          <p:spPr bwMode="auto">
            <a:xfrm flipV="1">
              <a:off x="4776" y="1199"/>
              <a:ext cx="192" cy="480"/>
            </a:xfrm>
            <a:custGeom>
              <a:avLst/>
              <a:gdLst>
                <a:gd name="T0" fmla="*/ 0 w 192"/>
                <a:gd name="T1" fmla="*/ 480 h 480"/>
                <a:gd name="T2" fmla="*/ 48 w 192"/>
                <a:gd name="T3" fmla="*/ 240 h 480"/>
                <a:gd name="T4" fmla="*/ 192 w 192"/>
                <a:gd name="T5" fmla="*/ 0 h 4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" h="480">
                  <a:moveTo>
                    <a:pt x="0" y="480"/>
                  </a:moveTo>
                  <a:cubicBezTo>
                    <a:pt x="8" y="400"/>
                    <a:pt x="16" y="320"/>
                    <a:pt x="48" y="240"/>
                  </a:cubicBezTo>
                  <a:cubicBezTo>
                    <a:pt x="80" y="160"/>
                    <a:pt x="168" y="40"/>
                    <a:pt x="192" y="0"/>
                  </a:cubicBez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88" name="Freeform 12"/>
            <p:cNvSpPr/>
            <p:nvPr/>
          </p:nvSpPr>
          <p:spPr bwMode="auto">
            <a:xfrm flipH="1" flipV="1">
              <a:off x="4200" y="1199"/>
              <a:ext cx="192" cy="480"/>
            </a:xfrm>
            <a:custGeom>
              <a:avLst/>
              <a:gdLst>
                <a:gd name="T0" fmla="*/ 0 w 192"/>
                <a:gd name="T1" fmla="*/ 480 h 480"/>
                <a:gd name="T2" fmla="*/ 48 w 192"/>
                <a:gd name="T3" fmla="*/ 240 h 480"/>
                <a:gd name="T4" fmla="*/ 192 w 192"/>
                <a:gd name="T5" fmla="*/ 0 h 4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" h="480">
                  <a:moveTo>
                    <a:pt x="0" y="480"/>
                  </a:moveTo>
                  <a:cubicBezTo>
                    <a:pt x="8" y="400"/>
                    <a:pt x="16" y="320"/>
                    <a:pt x="48" y="240"/>
                  </a:cubicBezTo>
                  <a:cubicBezTo>
                    <a:pt x="80" y="160"/>
                    <a:pt x="168" y="40"/>
                    <a:pt x="192" y="0"/>
                  </a:cubicBez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89" name="Line 13"/>
            <p:cNvSpPr>
              <a:spLocks noChangeShapeType="1"/>
            </p:cNvSpPr>
            <p:nvPr/>
          </p:nvSpPr>
          <p:spPr bwMode="auto">
            <a:xfrm flipV="1">
              <a:off x="4584" y="1151"/>
              <a:ext cx="0" cy="52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90" name="Oval 14"/>
            <p:cNvSpPr>
              <a:spLocks noChangeArrowheads="1"/>
            </p:cNvSpPr>
            <p:nvPr/>
          </p:nvSpPr>
          <p:spPr bwMode="auto">
            <a:xfrm>
              <a:off x="3864" y="959"/>
              <a:ext cx="1488" cy="384"/>
            </a:xfrm>
            <a:prstGeom prst="ellipse">
              <a:avLst/>
            </a:prstGeom>
            <a:solidFill>
              <a:srgbClr val="CCFFFF"/>
            </a:solidFill>
            <a:ln w="57150">
              <a:solidFill>
                <a:srgbClr val="0000CC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b="1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  <p:sp>
          <p:nvSpPr>
            <p:cNvPr id="49191" name="Line 15"/>
            <p:cNvSpPr>
              <a:spLocks noChangeShapeType="1"/>
            </p:cNvSpPr>
            <p:nvPr/>
          </p:nvSpPr>
          <p:spPr bwMode="auto">
            <a:xfrm flipV="1">
              <a:off x="4584" y="623"/>
              <a:ext cx="0" cy="52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92" name="Freeform 16"/>
            <p:cNvSpPr/>
            <p:nvPr/>
          </p:nvSpPr>
          <p:spPr bwMode="auto">
            <a:xfrm>
              <a:off x="4776" y="671"/>
              <a:ext cx="192" cy="480"/>
            </a:xfrm>
            <a:custGeom>
              <a:avLst/>
              <a:gdLst>
                <a:gd name="T0" fmla="*/ 0 w 192"/>
                <a:gd name="T1" fmla="*/ 480 h 480"/>
                <a:gd name="T2" fmla="*/ 48 w 192"/>
                <a:gd name="T3" fmla="*/ 240 h 480"/>
                <a:gd name="T4" fmla="*/ 192 w 192"/>
                <a:gd name="T5" fmla="*/ 0 h 4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" h="480">
                  <a:moveTo>
                    <a:pt x="0" y="480"/>
                  </a:moveTo>
                  <a:cubicBezTo>
                    <a:pt x="8" y="400"/>
                    <a:pt x="16" y="320"/>
                    <a:pt x="48" y="240"/>
                  </a:cubicBezTo>
                  <a:cubicBezTo>
                    <a:pt x="80" y="160"/>
                    <a:pt x="168" y="40"/>
                    <a:pt x="192" y="0"/>
                  </a:cubicBez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93" name="Freeform 17"/>
            <p:cNvSpPr/>
            <p:nvPr/>
          </p:nvSpPr>
          <p:spPr bwMode="auto">
            <a:xfrm flipH="1">
              <a:off x="4200" y="671"/>
              <a:ext cx="192" cy="480"/>
            </a:xfrm>
            <a:custGeom>
              <a:avLst/>
              <a:gdLst>
                <a:gd name="T0" fmla="*/ 0 w 192"/>
                <a:gd name="T1" fmla="*/ 480 h 480"/>
                <a:gd name="T2" fmla="*/ 48 w 192"/>
                <a:gd name="T3" fmla="*/ 240 h 480"/>
                <a:gd name="T4" fmla="*/ 192 w 192"/>
                <a:gd name="T5" fmla="*/ 0 h 4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" h="480">
                  <a:moveTo>
                    <a:pt x="0" y="480"/>
                  </a:moveTo>
                  <a:cubicBezTo>
                    <a:pt x="8" y="400"/>
                    <a:pt x="16" y="320"/>
                    <a:pt x="48" y="240"/>
                  </a:cubicBezTo>
                  <a:cubicBezTo>
                    <a:pt x="80" y="160"/>
                    <a:pt x="168" y="40"/>
                    <a:pt x="192" y="0"/>
                  </a:cubicBez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94" name="Arc 18"/>
            <p:cNvSpPr/>
            <p:nvPr/>
          </p:nvSpPr>
          <p:spPr bwMode="auto">
            <a:xfrm rot="21303359" flipV="1">
              <a:off x="4830" y="1266"/>
              <a:ext cx="375" cy="46"/>
            </a:xfrm>
            <a:custGeom>
              <a:avLst/>
              <a:gdLst>
                <a:gd name="T0" fmla="*/ 0 w 28121"/>
                <a:gd name="T1" fmla="*/ 0 h 21600"/>
                <a:gd name="T2" fmla="*/ 0 w 28121"/>
                <a:gd name="T3" fmla="*/ 0 h 21600"/>
                <a:gd name="T4" fmla="*/ 0 w 28121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121" h="21600" fill="none" extrusionOk="0">
                  <a:moveTo>
                    <a:pt x="-1" y="1007"/>
                  </a:moveTo>
                  <a:cubicBezTo>
                    <a:pt x="2109" y="339"/>
                    <a:pt x="4308" y="-1"/>
                    <a:pt x="6521" y="0"/>
                  </a:cubicBezTo>
                  <a:cubicBezTo>
                    <a:pt x="18450" y="0"/>
                    <a:pt x="28121" y="9670"/>
                    <a:pt x="28121" y="21600"/>
                  </a:cubicBezTo>
                </a:path>
                <a:path w="28121" h="21600" stroke="0" extrusionOk="0">
                  <a:moveTo>
                    <a:pt x="-1" y="1007"/>
                  </a:moveTo>
                  <a:cubicBezTo>
                    <a:pt x="2109" y="339"/>
                    <a:pt x="4308" y="-1"/>
                    <a:pt x="6521" y="0"/>
                  </a:cubicBezTo>
                  <a:cubicBezTo>
                    <a:pt x="18450" y="0"/>
                    <a:pt x="28121" y="9670"/>
                    <a:pt x="28121" y="21600"/>
                  </a:cubicBezTo>
                  <a:lnTo>
                    <a:pt x="6521" y="21600"/>
                  </a:lnTo>
                  <a:lnTo>
                    <a:pt x="-1" y="1007"/>
                  </a:lnTo>
                  <a:close/>
                </a:path>
              </a:pathLst>
            </a:custGeom>
            <a:noFill/>
            <a:ln w="47625">
              <a:solidFill>
                <a:srgbClr val="FF6600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95" name="Text Box 19"/>
            <p:cNvSpPr txBox="1">
              <a:spLocks noChangeArrowheads="1"/>
            </p:cNvSpPr>
            <p:nvPr/>
          </p:nvSpPr>
          <p:spPr bwMode="auto">
            <a:xfrm>
              <a:off x="3742" y="11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66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49196" name="Text Box 20"/>
            <p:cNvSpPr txBox="1">
              <a:spLocks noChangeArrowheads="1"/>
            </p:cNvSpPr>
            <p:nvPr/>
          </p:nvSpPr>
          <p:spPr bwMode="auto">
            <a:xfrm>
              <a:off x="5012" y="1253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66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49197" name="Text Box 21"/>
            <p:cNvSpPr txBox="1">
              <a:spLocks noChangeArrowheads="1"/>
            </p:cNvSpPr>
            <p:nvPr/>
          </p:nvSpPr>
          <p:spPr bwMode="auto">
            <a:xfrm>
              <a:off x="4920" y="527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66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</a:t>
              </a:r>
              <a:endParaRPr lang="en-US" altLang="zh-CN" sz="2400" b="1" i="1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198" name="Text Box 22"/>
            <p:cNvSpPr txBox="1">
              <a:spLocks noChangeArrowheads="1"/>
            </p:cNvSpPr>
            <p:nvPr/>
          </p:nvSpPr>
          <p:spPr bwMode="auto">
            <a:xfrm>
              <a:off x="3385" y="821"/>
              <a:ext cx="72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400" b="1">
                  <a:solidFill>
                    <a:srgbClr val="0000CC"/>
                  </a:solidFill>
                </a:rPr>
                <a:t>thin loop</a:t>
              </a:r>
            </a:p>
          </p:txBody>
        </p:sp>
      </p:grpSp>
      <p:sp>
        <p:nvSpPr>
          <p:cNvPr id="1054743" name="Text Box 23"/>
          <p:cNvSpPr txBox="1">
            <a:spLocks noChangeArrowheads="1"/>
          </p:cNvSpPr>
          <p:nvPr/>
        </p:nvSpPr>
        <p:spPr bwMode="auto">
          <a:xfrm>
            <a:off x="1919288" y="4652963"/>
            <a:ext cx="3503612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kumimoji="1" lang="en-US" altLang="zh-CN" sz="2000" b="1">
                <a:solidFill>
                  <a:srgbClr val="0000CC"/>
                </a:solidFill>
                <a:ea typeface="楷体_GB2312" pitchFamily="49" charset="-122"/>
              </a:rPr>
              <a:t>   Thick wire loops</a:t>
            </a:r>
          </a:p>
        </p:txBody>
      </p:sp>
      <p:grpSp>
        <p:nvGrpSpPr>
          <p:cNvPr id="1054744" name="Group 24"/>
          <p:cNvGrpSpPr/>
          <p:nvPr/>
        </p:nvGrpSpPr>
        <p:grpSpPr bwMode="auto">
          <a:xfrm>
            <a:off x="6672263" y="3141664"/>
            <a:ext cx="3854450" cy="2232025"/>
            <a:chOff x="3310" y="1979"/>
            <a:chExt cx="2428" cy="1406"/>
          </a:xfrm>
        </p:grpSpPr>
        <p:sp>
          <p:nvSpPr>
            <p:cNvPr id="49166" name="Rectangle 25"/>
            <p:cNvSpPr>
              <a:spLocks noChangeArrowheads="1"/>
            </p:cNvSpPr>
            <p:nvPr/>
          </p:nvSpPr>
          <p:spPr bwMode="auto">
            <a:xfrm>
              <a:off x="3310" y="1979"/>
              <a:ext cx="2380" cy="1406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b="1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  <p:sp>
          <p:nvSpPr>
            <p:cNvPr id="49167" name="Text Box 26"/>
            <p:cNvSpPr txBox="1">
              <a:spLocks noChangeArrowheads="1"/>
            </p:cNvSpPr>
            <p:nvPr/>
          </p:nvSpPr>
          <p:spPr bwMode="auto">
            <a:xfrm>
              <a:off x="5306" y="2052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66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</a:t>
              </a:r>
              <a:r>
                <a:rPr lang="en-US" altLang="zh-CN" sz="2400" b="1" baseline="-25000">
                  <a:solidFill>
                    <a:srgbClr val="000066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endParaRPr lang="en-US" altLang="zh-CN" sz="2400" b="1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168" name="Freeform 27"/>
            <p:cNvSpPr/>
            <p:nvPr/>
          </p:nvSpPr>
          <p:spPr bwMode="auto">
            <a:xfrm flipV="1">
              <a:off x="5066" y="2580"/>
              <a:ext cx="192" cy="480"/>
            </a:xfrm>
            <a:custGeom>
              <a:avLst/>
              <a:gdLst>
                <a:gd name="T0" fmla="*/ 0 w 192"/>
                <a:gd name="T1" fmla="*/ 480 h 480"/>
                <a:gd name="T2" fmla="*/ 48 w 192"/>
                <a:gd name="T3" fmla="*/ 240 h 480"/>
                <a:gd name="T4" fmla="*/ 192 w 192"/>
                <a:gd name="T5" fmla="*/ 0 h 4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" h="480">
                  <a:moveTo>
                    <a:pt x="0" y="480"/>
                  </a:moveTo>
                  <a:cubicBezTo>
                    <a:pt x="8" y="400"/>
                    <a:pt x="16" y="320"/>
                    <a:pt x="48" y="240"/>
                  </a:cubicBezTo>
                  <a:cubicBezTo>
                    <a:pt x="80" y="160"/>
                    <a:pt x="168" y="40"/>
                    <a:pt x="192" y="0"/>
                  </a:cubicBezTo>
                </a:path>
              </a:pathLst>
            </a:custGeom>
            <a:noFill/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69" name="Freeform 28"/>
            <p:cNvSpPr/>
            <p:nvPr/>
          </p:nvSpPr>
          <p:spPr bwMode="auto">
            <a:xfrm flipV="1">
              <a:off x="5114" y="2580"/>
              <a:ext cx="192" cy="480"/>
            </a:xfrm>
            <a:custGeom>
              <a:avLst/>
              <a:gdLst>
                <a:gd name="T0" fmla="*/ 0 w 192"/>
                <a:gd name="T1" fmla="*/ 480 h 480"/>
                <a:gd name="T2" fmla="*/ 48 w 192"/>
                <a:gd name="T3" fmla="*/ 240 h 480"/>
                <a:gd name="T4" fmla="*/ 192 w 192"/>
                <a:gd name="T5" fmla="*/ 0 h 4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" h="480">
                  <a:moveTo>
                    <a:pt x="0" y="480"/>
                  </a:moveTo>
                  <a:cubicBezTo>
                    <a:pt x="8" y="400"/>
                    <a:pt x="16" y="320"/>
                    <a:pt x="48" y="240"/>
                  </a:cubicBezTo>
                  <a:cubicBezTo>
                    <a:pt x="80" y="160"/>
                    <a:pt x="168" y="40"/>
                    <a:pt x="192" y="0"/>
                  </a:cubicBezTo>
                </a:path>
              </a:pathLst>
            </a:custGeom>
            <a:noFill/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70" name="Freeform 29"/>
            <p:cNvSpPr/>
            <p:nvPr/>
          </p:nvSpPr>
          <p:spPr bwMode="auto">
            <a:xfrm flipV="1">
              <a:off x="5162" y="2580"/>
              <a:ext cx="192" cy="480"/>
            </a:xfrm>
            <a:custGeom>
              <a:avLst/>
              <a:gdLst>
                <a:gd name="T0" fmla="*/ 0 w 192"/>
                <a:gd name="T1" fmla="*/ 480 h 480"/>
                <a:gd name="T2" fmla="*/ 48 w 192"/>
                <a:gd name="T3" fmla="*/ 240 h 480"/>
                <a:gd name="T4" fmla="*/ 192 w 192"/>
                <a:gd name="T5" fmla="*/ 0 h 4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" h="480">
                  <a:moveTo>
                    <a:pt x="0" y="480"/>
                  </a:moveTo>
                  <a:cubicBezTo>
                    <a:pt x="8" y="400"/>
                    <a:pt x="16" y="320"/>
                    <a:pt x="48" y="240"/>
                  </a:cubicBezTo>
                  <a:cubicBezTo>
                    <a:pt x="80" y="160"/>
                    <a:pt x="168" y="40"/>
                    <a:pt x="192" y="0"/>
                  </a:cubicBezTo>
                </a:path>
              </a:pathLst>
            </a:custGeom>
            <a:noFill/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71" name="Freeform 30"/>
            <p:cNvSpPr/>
            <p:nvPr/>
          </p:nvSpPr>
          <p:spPr bwMode="auto">
            <a:xfrm flipV="1">
              <a:off x="4586" y="2724"/>
              <a:ext cx="192" cy="480"/>
            </a:xfrm>
            <a:custGeom>
              <a:avLst/>
              <a:gdLst>
                <a:gd name="T0" fmla="*/ 0 w 192"/>
                <a:gd name="T1" fmla="*/ 480 h 480"/>
                <a:gd name="T2" fmla="*/ 48 w 192"/>
                <a:gd name="T3" fmla="*/ 240 h 480"/>
                <a:gd name="T4" fmla="*/ 192 w 192"/>
                <a:gd name="T5" fmla="*/ 0 h 4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" h="480">
                  <a:moveTo>
                    <a:pt x="0" y="480"/>
                  </a:moveTo>
                  <a:cubicBezTo>
                    <a:pt x="8" y="400"/>
                    <a:pt x="16" y="320"/>
                    <a:pt x="48" y="240"/>
                  </a:cubicBezTo>
                  <a:cubicBezTo>
                    <a:pt x="80" y="160"/>
                    <a:pt x="168" y="40"/>
                    <a:pt x="192" y="0"/>
                  </a:cubicBez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72" name="Freeform 31"/>
            <p:cNvSpPr/>
            <p:nvPr/>
          </p:nvSpPr>
          <p:spPr bwMode="auto">
            <a:xfrm flipH="1" flipV="1">
              <a:off x="4010" y="2724"/>
              <a:ext cx="192" cy="480"/>
            </a:xfrm>
            <a:custGeom>
              <a:avLst/>
              <a:gdLst>
                <a:gd name="T0" fmla="*/ 0 w 192"/>
                <a:gd name="T1" fmla="*/ 480 h 480"/>
                <a:gd name="T2" fmla="*/ 48 w 192"/>
                <a:gd name="T3" fmla="*/ 240 h 480"/>
                <a:gd name="T4" fmla="*/ 192 w 192"/>
                <a:gd name="T5" fmla="*/ 0 h 4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" h="480">
                  <a:moveTo>
                    <a:pt x="0" y="480"/>
                  </a:moveTo>
                  <a:cubicBezTo>
                    <a:pt x="8" y="400"/>
                    <a:pt x="16" y="320"/>
                    <a:pt x="48" y="240"/>
                  </a:cubicBezTo>
                  <a:cubicBezTo>
                    <a:pt x="80" y="160"/>
                    <a:pt x="168" y="40"/>
                    <a:pt x="192" y="0"/>
                  </a:cubicBez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73" name="Line 32"/>
            <p:cNvSpPr>
              <a:spLocks noChangeShapeType="1"/>
            </p:cNvSpPr>
            <p:nvPr/>
          </p:nvSpPr>
          <p:spPr bwMode="auto">
            <a:xfrm flipV="1">
              <a:off x="4394" y="2676"/>
              <a:ext cx="0" cy="52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74" name="Oval 33"/>
            <p:cNvSpPr>
              <a:spLocks noChangeArrowheads="1"/>
            </p:cNvSpPr>
            <p:nvPr/>
          </p:nvSpPr>
          <p:spPr bwMode="auto">
            <a:xfrm>
              <a:off x="3674" y="2484"/>
              <a:ext cx="1488" cy="384"/>
            </a:xfrm>
            <a:prstGeom prst="ellipse">
              <a:avLst/>
            </a:prstGeom>
            <a:solidFill>
              <a:srgbClr val="CCFFFF"/>
            </a:solidFill>
            <a:ln w="254000">
              <a:solidFill>
                <a:srgbClr val="0000CC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b="1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  <p:sp>
          <p:nvSpPr>
            <p:cNvPr id="49175" name="Line 34"/>
            <p:cNvSpPr>
              <a:spLocks noChangeShapeType="1"/>
            </p:cNvSpPr>
            <p:nvPr/>
          </p:nvSpPr>
          <p:spPr bwMode="auto">
            <a:xfrm flipV="1">
              <a:off x="4394" y="2148"/>
              <a:ext cx="0" cy="52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76" name="Freeform 35"/>
            <p:cNvSpPr/>
            <p:nvPr/>
          </p:nvSpPr>
          <p:spPr bwMode="auto">
            <a:xfrm>
              <a:off x="4586" y="2196"/>
              <a:ext cx="192" cy="480"/>
            </a:xfrm>
            <a:custGeom>
              <a:avLst/>
              <a:gdLst>
                <a:gd name="T0" fmla="*/ 0 w 192"/>
                <a:gd name="T1" fmla="*/ 480 h 480"/>
                <a:gd name="T2" fmla="*/ 48 w 192"/>
                <a:gd name="T3" fmla="*/ 240 h 480"/>
                <a:gd name="T4" fmla="*/ 192 w 192"/>
                <a:gd name="T5" fmla="*/ 0 h 4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" h="480">
                  <a:moveTo>
                    <a:pt x="0" y="480"/>
                  </a:moveTo>
                  <a:cubicBezTo>
                    <a:pt x="8" y="400"/>
                    <a:pt x="16" y="320"/>
                    <a:pt x="48" y="240"/>
                  </a:cubicBezTo>
                  <a:cubicBezTo>
                    <a:pt x="80" y="160"/>
                    <a:pt x="168" y="40"/>
                    <a:pt x="192" y="0"/>
                  </a:cubicBez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77" name="Freeform 36"/>
            <p:cNvSpPr/>
            <p:nvPr/>
          </p:nvSpPr>
          <p:spPr bwMode="auto">
            <a:xfrm flipH="1">
              <a:off x="4010" y="2196"/>
              <a:ext cx="192" cy="480"/>
            </a:xfrm>
            <a:custGeom>
              <a:avLst/>
              <a:gdLst>
                <a:gd name="T0" fmla="*/ 0 w 192"/>
                <a:gd name="T1" fmla="*/ 480 h 480"/>
                <a:gd name="T2" fmla="*/ 48 w 192"/>
                <a:gd name="T3" fmla="*/ 240 h 480"/>
                <a:gd name="T4" fmla="*/ 192 w 192"/>
                <a:gd name="T5" fmla="*/ 0 h 4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" h="480">
                  <a:moveTo>
                    <a:pt x="0" y="480"/>
                  </a:moveTo>
                  <a:cubicBezTo>
                    <a:pt x="8" y="400"/>
                    <a:pt x="16" y="320"/>
                    <a:pt x="48" y="240"/>
                  </a:cubicBezTo>
                  <a:cubicBezTo>
                    <a:pt x="80" y="160"/>
                    <a:pt x="168" y="40"/>
                    <a:pt x="192" y="0"/>
                  </a:cubicBez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78" name="Arc 37"/>
            <p:cNvSpPr/>
            <p:nvPr/>
          </p:nvSpPr>
          <p:spPr bwMode="auto">
            <a:xfrm rot="21303359" flipV="1">
              <a:off x="4739" y="2727"/>
              <a:ext cx="375" cy="96"/>
            </a:xfrm>
            <a:custGeom>
              <a:avLst/>
              <a:gdLst>
                <a:gd name="T0" fmla="*/ 0 w 28121"/>
                <a:gd name="T1" fmla="*/ 0 h 21600"/>
                <a:gd name="T2" fmla="*/ 0 w 28121"/>
                <a:gd name="T3" fmla="*/ 0 h 21600"/>
                <a:gd name="T4" fmla="*/ 0 w 28121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121" h="21600" fill="none" extrusionOk="0">
                  <a:moveTo>
                    <a:pt x="-1" y="1007"/>
                  </a:moveTo>
                  <a:cubicBezTo>
                    <a:pt x="2109" y="339"/>
                    <a:pt x="4308" y="-1"/>
                    <a:pt x="6521" y="0"/>
                  </a:cubicBezTo>
                  <a:cubicBezTo>
                    <a:pt x="18450" y="0"/>
                    <a:pt x="28121" y="9670"/>
                    <a:pt x="28121" y="21600"/>
                  </a:cubicBezTo>
                </a:path>
                <a:path w="28121" h="21600" stroke="0" extrusionOk="0">
                  <a:moveTo>
                    <a:pt x="-1" y="1007"/>
                  </a:moveTo>
                  <a:cubicBezTo>
                    <a:pt x="2109" y="339"/>
                    <a:pt x="4308" y="-1"/>
                    <a:pt x="6521" y="0"/>
                  </a:cubicBezTo>
                  <a:cubicBezTo>
                    <a:pt x="18450" y="0"/>
                    <a:pt x="28121" y="9670"/>
                    <a:pt x="28121" y="21600"/>
                  </a:cubicBezTo>
                  <a:lnTo>
                    <a:pt x="6521" y="21600"/>
                  </a:lnTo>
                  <a:lnTo>
                    <a:pt x="-1" y="1007"/>
                  </a:lnTo>
                  <a:close/>
                </a:path>
              </a:pathLst>
            </a:custGeom>
            <a:noFill/>
            <a:ln w="47625">
              <a:solidFill>
                <a:srgbClr val="FF9900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79" name="Text Box 38"/>
            <p:cNvSpPr txBox="1">
              <a:spLocks noChangeArrowheads="1"/>
            </p:cNvSpPr>
            <p:nvPr/>
          </p:nvSpPr>
          <p:spPr bwMode="auto">
            <a:xfrm>
              <a:off x="3606" y="2795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66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49180" name="Text Box 39"/>
            <p:cNvSpPr txBox="1">
              <a:spLocks noChangeArrowheads="1"/>
            </p:cNvSpPr>
            <p:nvPr/>
          </p:nvSpPr>
          <p:spPr bwMode="auto">
            <a:xfrm>
              <a:off x="4830" y="284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66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49181" name="Text Box 40"/>
            <p:cNvSpPr txBox="1">
              <a:spLocks noChangeArrowheads="1"/>
            </p:cNvSpPr>
            <p:nvPr/>
          </p:nvSpPr>
          <p:spPr bwMode="auto">
            <a:xfrm>
              <a:off x="4394" y="2004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66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</a:t>
              </a:r>
              <a:r>
                <a:rPr lang="en-US" altLang="zh-CN" sz="2400" b="1" baseline="-25000">
                  <a:solidFill>
                    <a:srgbClr val="000066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o</a:t>
              </a:r>
              <a:endParaRPr lang="en-US" altLang="zh-CN" sz="2400" b="1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182" name="Text Box 41"/>
            <p:cNvSpPr txBox="1">
              <a:spLocks noChangeArrowheads="1"/>
            </p:cNvSpPr>
            <p:nvPr/>
          </p:nvSpPr>
          <p:spPr bwMode="auto">
            <a:xfrm>
              <a:off x="3339" y="2205"/>
              <a:ext cx="72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400" b="1">
                  <a:solidFill>
                    <a:srgbClr val="0000CC"/>
                  </a:solidFill>
                </a:rPr>
                <a:t>thick loop</a:t>
              </a:r>
            </a:p>
          </p:txBody>
        </p:sp>
        <p:sp>
          <p:nvSpPr>
            <p:cNvPr id="49183" name="Freeform 42"/>
            <p:cNvSpPr/>
            <p:nvPr/>
          </p:nvSpPr>
          <p:spPr bwMode="auto">
            <a:xfrm>
              <a:off x="5114" y="2196"/>
              <a:ext cx="192" cy="480"/>
            </a:xfrm>
            <a:custGeom>
              <a:avLst/>
              <a:gdLst>
                <a:gd name="T0" fmla="*/ 0 w 192"/>
                <a:gd name="T1" fmla="*/ 480 h 480"/>
                <a:gd name="T2" fmla="*/ 48 w 192"/>
                <a:gd name="T3" fmla="*/ 240 h 480"/>
                <a:gd name="T4" fmla="*/ 192 w 192"/>
                <a:gd name="T5" fmla="*/ 0 h 4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" h="480">
                  <a:moveTo>
                    <a:pt x="0" y="480"/>
                  </a:moveTo>
                  <a:cubicBezTo>
                    <a:pt x="8" y="400"/>
                    <a:pt x="16" y="320"/>
                    <a:pt x="48" y="240"/>
                  </a:cubicBezTo>
                  <a:cubicBezTo>
                    <a:pt x="80" y="160"/>
                    <a:pt x="168" y="40"/>
                    <a:pt x="192" y="0"/>
                  </a:cubicBezTo>
                </a:path>
              </a:pathLst>
            </a:custGeom>
            <a:noFill/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84" name="Freeform 43"/>
            <p:cNvSpPr/>
            <p:nvPr/>
          </p:nvSpPr>
          <p:spPr bwMode="auto">
            <a:xfrm>
              <a:off x="5066" y="2148"/>
              <a:ext cx="192" cy="480"/>
            </a:xfrm>
            <a:custGeom>
              <a:avLst/>
              <a:gdLst>
                <a:gd name="T0" fmla="*/ 0 w 192"/>
                <a:gd name="T1" fmla="*/ 480 h 480"/>
                <a:gd name="T2" fmla="*/ 48 w 192"/>
                <a:gd name="T3" fmla="*/ 240 h 480"/>
                <a:gd name="T4" fmla="*/ 192 w 192"/>
                <a:gd name="T5" fmla="*/ 0 h 4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" h="480">
                  <a:moveTo>
                    <a:pt x="0" y="480"/>
                  </a:moveTo>
                  <a:cubicBezTo>
                    <a:pt x="8" y="400"/>
                    <a:pt x="16" y="320"/>
                    <a:pt x="48" y="240"/>
                  </a:cubicBezTo>
                  <a:cubicBezTo>
                    <a:pt x="80" y="160"/>
                    <a:pt x="168" y="40"/>
                    <a:pt x="192" y="0"/>
                  </a:cubicBezTo>
                </a:path>
              </a:pathLst>
            </a:custGeom>
            <a:noFill/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85" name="Freeform 44"/>
            <p:cNvSpPr/>
            <p:nvPr/>
          </p:nvSpPr>
          <p:spPr bwMode="auto">
            <a:xfrm>
              <a:off x="5162" y="2244"/>
              <a:ext cx="192" cy="480"/>
            </a:xfrm>
            <a:custGeom>
              <a:avLst/>
              <a:gdLst>
                <a:gd name="T0" fmla="*/ 0 w 192"/>
                <a:gd name="T1" fmla="*/ 480 h 480"/>
                <a:gd name="T2" fmla="*/ 48 w 192"/>
                <a:gd name="T3" fmla="*/ 240 h 480"/>
                <a:gd name="T4" fmla="*/ 192 w 192"/>
                <a:gd name="T5" fmla="*/ 0 h 4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" h="480">
                  <a:moveTo>
                    <a:pt x="0" y="480"/>
                  </a:moveTo>
                  <a:cubicBezTo>
                    <a:pt x="8" y="400"/>
                    <a:pt x="16" y="320"/>
                    <a:pt x="48" y="240"/>
                  </a:cubicBezTo>
                  <a:cubicBezTo>
                    <a:pt x="80" y="160"/>
                    <a:pt x="168" y="40"/>
                    <a:pt x="192" y="0"/>
                  </a:cubicBezTo>
                </a:path>
              </a:pathLst>
            </a:custGeom>
            <a:noFill/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9163" name="Rectangle 45"/>
          <p:cNvSpPr>
            <a:spLocks noChangeArrowheads="1"/>
          </p:cNvSpPr>
          <p:nvPr/>
        </p:nvSpPr>
        <p:spPr bwMode="auto">
          <a:xfrm>
            <a:off x="1703388" y="620713"/>
            <a:ext cx="437515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 typeface="Wingdings" panose="05000000000000000000" pitchFamily="2" charset="2"/>
              <a:buChar char="l"/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Magnetic flux calculation</a:t>
            </a:r>
          </a:p>
        </p:txBody>
      </p:sp>
      <p:graphicFrame>
        <p:nvGraphicFramePr>
          <p:cNvPr id="180270" name="Object 46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3151188" y="5157788"/>
          <a:ext cx="147623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897600" imgH="5486400" progId="Equation.DSMT4">
                  <p:embed/>
                </p:oleObj>
              </mc:Choice>
              <mc:Fallback>
                <p:oleObj name="Equation" r:id="rId6" imgW="18897600" imgH="5486400" progId="Equation.DSMT4">
                  <p:embed/>
                  <p:pic>
                    <p:nvPicPr>
                      <p:cNvPr id="0" name="图片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1188" y="5157788"/>
                        <a:ext cx="1476230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0271" name="Text Box 48"/>
          <p:cNvSpPr txBox="1">
            <a:spLocks noChangeArrowheads="1"/>
          </p:cNvSpPr>
          <p:nvPr/>
        </p:nvSpPr>
        <p:spPr bwMode="auto">
          <a:xfrm>
            <a:off x="2208213" y="5589588"/>
            <a:ext cx="6697662" cy="488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</a:t>
            </a:r>
            <a:r>
              <a:rPr kumimoji="1" lang="en-US" altLang="zh-CN" sz="2000" b="1" baseline="-2500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o </a:t>
            </a:r>
            <a:r>
              <a:rPr kumimoji="1" lang="en-US" altLang="zh-CN" sz="2000" b="1">
                <a:solidFill>
                  <a:srgbClr val="8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:</a:t>
            </a:r>
            <a:r>
              <a:rPr kumimoji="1" lang="en-US" altLang="zh-CN" sz="20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 External magnetic flux </a:t>
            </a:r>
            <a:r>
              <a:rPr kumimoji="1" lang="zh-CN" altLang="en-US" sz="20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r>
              <a:rPr kumimoji="1" lang="zh-CN" altLang="en-US" sz="2000" b="1" i="1">
                <a:solidFill>
                  <a:srgbClr val="800000"/>
                </a:solidFill>
                <a:latin typeface="Times New Roman" panose="02020603050405020304" pitchFamily="18" charset="0"/>
                <a:ea typeface="幼圆" panose="02010509060101010101" pitchFamily="49" charset="-122"/>
                <a:sym typeface="Symbol" panose="05050102010706020507" pitchFamily="18" charset="2"/>
              </a:rPr>
              <a:t></a:t>
            </a:r>
            <a:r>
              <a:rPr kumimoji="1" lang="en-US" altLang="zh-CN" sz="2000" b="1" baseline="-25000">
                <a:solidFill>
                  <a:srgbClr val="800000"/>
                </a:solidFill>
                <a:latin typeface="Times New Roman" panose="02020603050405020304" pitchFamily="18" charset="0"/>
                <a:ea typeface="幼圆" panose="02010509060101010101" pitchFamily="49" charset="-122"/>
                <a:sym typeface="Symbol" panose="05050102010706020507" pitchFamily="18" charset="2"/>
              </a:rPr>
              <a:t>i</a:t>
            </a:r>
            <a:r>
              <a:rPr kumimoji="1" lang="en-US" altLang="zh-CN" sz="2000" b="1" baseline="-25000">
                <a:solidFill>
                  <a:srgbClr val="8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</a:t>
            </a:r>
            <a:r>
              <a:rPr kumimoji="1" lang="en-US" altLang="zh-CN" sz="2000" b="1">
                <a:solidFill>
                  <a:srgbClr val="8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:</a:t>
            </a:r>
            <a:r>
              <a:rPr kumimoji="1" lang="en-US" altLang="zh-CN" sz="20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Internal magnetic flux</a:t>
            </a:r>
            <a:r>
              <a:rPr kumimoji="1" lang="en-US" altLang="zh-CN" sz="1400" b="1">
                <a:solidFill>
                  <a:srgbClr val="FF0066"/>
                </a:solidFill>
                <a:ea typeface="楷体_GB2312" pitchFamily="49" charset="-122"/>
              </a:rPr>
              <a:t> </a:t>
            </a:r>
            <a:endParaRPr kumimoji="1" lang="en-US" altLang="zh-CN" sz="2400" b="1">
              <a:solidFill>
                <a:srgbClr val="FF0066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0"/>
                                        <p:tgtEl>
                                          <p:spTgt spid="1054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3000"/>
                                        <p:tgtEl>
                                          <p:spTgt spid="180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547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547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0"/>
                                        <p:tgtEl>
                                          <p:spTgt spid="1054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3000"/>
                                        <p:tgtEl>
                                          <p:spTgt spid="180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8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1054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3000"/>
                                        <p:tgtEl>
                                          <p:spTgt spid="1054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3000"/>
                                        <p:tgtEl>
                                          <p:spTgt spid="180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3000"/>
                                        <p:tgtEl>
                                          <p:spTgt spid="180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3000"/>
                                        <p:tgtEl>
                                          <p:spTgt spid="1054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69" grpId="0"/>
      <p:bldP spid="1054727" grpId="0"/>
      <p:bldP spid="1054728" grpId="0"/>
      <p:bldP spid="1054743" grpId="0"/>
      <p:bldP spid="18027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1251" name="Object 3"/>
          <p:cNvGraphicFramePr>
            <a:graphicFrameLocks noChangeAspect="1"/>
          </p:cNvGraphicFramePr>
          <p:nvPr/>
        </p:nvGraphicFramePr>
        <p:xfrm>
          <a:off x="4008439" y="836614"/>
          <a:ext cx="892175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08000" imgH="431800" progId="Equation.3">
                  <p:embed/>
                </p:oleObj>
              </mc:Choice>
              <mc:Fallback>
                <p:oleObj name="公式" r:id="rId2" imgW="508000" imgH="431800" progId="Equation.3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8439" y="836614"/>
                        <a:ext cx="892175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1252" name="Text Box 4"/>
          <p:cNvSpPr txBox="1">
            <a:spLocks noChangeArrowheads="1"/>
          </p:cNvSpPr>
          <p:nvPr/>
        </p:nvSpPr>
        <p:spPr bwMode="auto">
          <a:xfrm>
            <a:off x="2135189" y="1557338"/>
            <a:ext cx="432117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called the self inductance coefficient of circuit C, short for self-inductance </a:t>
            </a:r>
            <a:r>
              <a:rPr kumimoji="1" lang="zh-CN" altLang="en-US" sz="20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。</a:t>
            </a:r>
          </a:p>
        </p:txBody>
      </p:sp>
      <p:graphicFrame>
        <p:nvGraphicFramePr>
          <p:cNvPr id="181254" name="Object 6"/>
          <p:cNvGraphicFramePr>
            <a:graphicFrameLocks noChangeAspect="1"/>
          </p:cNvGraphicFramePr>
          <p:nvPr/>
        </p:nvGraphicFramePr>
        <p:xfrm>
          <a:off x="2894013" y="3933825"/>
          <a:ext cx="919332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496800" imgH="9448800" progId="Equation.DSMT4">
                  <p:embed/>
                </p:oleObj>
              </mc:Choice>
              <mc:Fallback>
                <p:oleObj name="Equation" r:id="rId4" imgW="12496800" imgH="94488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4013" y="3933825"/>
                        <a:ext cx="919332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55" name="Object 7"/>
          <p:cNvGraphicFramePr>
            <a:graphicFrameLocks noChangeAspect="1"/>
          </p:cNvGraphicFramePr>
          <p:nvPr/>
        </p:nvGraphicFramePr>
        <p:xfrm>
          <a:off x="6351588" y="3844927"/>
          <a:ext cx="1093101" cy="819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411200" imgH="9448800" progId="Equation.DSMT4">
                  <p:embed/>
                </p:oleObj>
              </mc:Choice>
              <mc:Fallback>
                <p:oleObj name="Equation" r:id="rId6" imgW="13411200" imgH="94488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1588" y="3844927"/>
                        <a:ext cx="1093101" cy="8191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2" name="Rectangle 8"/>
          <p:cNvSpPr>
            <a:spLocks noChangeArrowheads="1"/>
          </p:cNvSpPr>
          <p:nvPr/>
        </p:nvSpPr>
        <p:spPr bwMode="auto">
          <a:xfrm>
            <a:off x="1919288" y="404814"/>
            <a:ext cx="3522662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rPr>
              <a:t>2.  Self-inductance</a:t>
            </a:r>
            <a:endParaRPr kumimoji="1" lang="en-US" altLang="zh-CN" sz="2400" b="1">
              <a:solidFill>
                <a:srgbClr val="0000CC"/>
              </a:solidFill>
              <a:latin typeface="宋体" panose="02010600030101010101" pitchFamily="2" charset="-122"/>
            </a:endParaRPr>
          </a:p>
        </p:txBody>
      </p:sp>
      <p:sp>
        <p:nvSpPr>
          <p:cNvPr id="808969" name="Text Box 9"/>
          <p:cNvSpPr txBox="1">
            <a:spLocks noChangeArrowheads="1"/>
          </p:cNvSpPr>
          <p:nvPr/>
        </p:nvSpPr>
        <p:spPr bwMode="auto">
          <a:xfrm>
            <a:off x="4008438" y="3933826"/>
            <a:ext cx="2233612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16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—— </a:t>
            </a:r>
            <a:r>
              <a:rPr kumimoji="1" lang="en-US" altLang="zh-CN" sz="1600" b="1" dirty="0">
                <a:solidFill>
                  <a:srgbClr val="0000CC"/>
                </a:solidFill>
                <a:ea typeface="楷体_GB2312" pitchFamily="49" charset="-122"/>
              </a:rPr>
              <a:t>Internal  self inductance </a:t>
            </a:r>
            <a:r>
              <a:rPr kumimoji="1" lang="zh-CN" altLang="en-US" sz="16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；</a:t>
            </a:r>
            <a:endParaRPr kumimoji="1" lang="zh-CN" altLang="en-US" sz="1600" b="1" i="1" baseline="-25000" dirty="0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808970" name="Text Box 10"/>
          <p:cNvSpPr txBox="1">
            <a:spLocks noChangeArrowheads="1"/>
          </p:cNvSpPr>
          <p:nvPr/>
        </p:nvSpPr>
        <p:spPr bwMode="auto">
          <a:xfrm>
            <a:off x="1992314" y="2852739"/>
            <a:ext cx="5260975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Self-inductance of thick conductor loop </a:t>
            </a:r>
            <a:r>
              <a:rPr kumimoji="1" lang="zh-CN" altLang="en-US" sz="20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：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i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L = L</a:t>
            </a:r>
            <a:r>
              <a:rPr kumimoji="1" lang="en-US" altLang="zh-CN" sz="2000" baseline="-25000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i</a:t>
            </a:r>
            <a:r>
              <a:rPr kumimoji="1" lang="en-US" altLang="zh-CN" sz="2000" i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+ L</a:t>
            </a:r>
            <a:r>
              <a:rPr kumimoji="1" lang="en-US" altLang="zh-CN" sz="2000" baseline="-25000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o</a:t>
            </a:r>
          </a:p>
        </p:txBody>
      </p:sp>
      <p:sp>
        <p:nvSpPr>
          <p:cNvPr id="181259" name="Text Box 11"/>
          <p:cNvSpPr txBox="1">
            <a:spLocks noChangeArrowheads="1"/>
          </p:cNvSpPr>
          <p:nvPr/>
        </p:nvSpPr>
        <p:spPr bwMode="auto">
          <a:xfrm>
            <a:off x="2135187" y="5300663"/>
            <a:ext cx="8255721" cy="129266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self-inductance is related to geometry of loops , size and the surrounding magnetic medium, and not related the value of  the magnetic flux and current 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sp>
        <p:nvSpPr>
          <p:cNvPr id="181260" name="Text Box 12"/>
          <p:cNvSpPr txBox="1">
            <a:spLocks noChangeArrowheads="1"/>
          </p:cNvSpPr>
          <p:nvPr/>
        </p:nvSpPr>
        <p:spPr bwMode="auto">
          <a:xfrm>
            <a:off x="1992314" y="4652964"/>
            <a:ext cx="5616575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Blip>
                <a:blip r:embed="rId8"/>
              </a:buBlip>
            </a:pPr>
            <a:r>
              <a:rPr kumimoji="1" lang="en-US" altLang="zh-CN" sz="2000" b="1">
                <a:solidFill>
                  <a:srgbClr val="800000"/>
                </a:solidFill>
                <a:ea typeface="楷体_GB2312" pitchFamily="49" charset="-122"/>
              </a:rPr>
              <a:t> The characteristics of self-inductance</a:t>
            </a:r>
            <a:r>
              <a:rPr kumimoji="1" lang="zh-CN" altLang="en-US" sz="2000" b="1">
                <a:solidFill>
                  <a:srgbClr val="800000"/>
                </a:solidFill>
                <a:ea typeface="楷体_GB2312" pitchFamily="49" charset="-122"/>
              </a:rPr>
              <a:t>：</a:t>
            </a:r>
          </a:p>
        </p:txBody>
      </p:sp>
      <p:sp>
        <p:nvSpPr>
          <p:cNvPr id="181261" name="Rectangle 13"/>
          <p:cNvSpPr>
            <a:spLocks noChangeArrowheads="1"/>
          </p:cNvSpPr>
          <p:nvPr/>
        </p:nvSpPr>
        <p:spPr bwMode="auto">
          <a:xfrm>
            <a:off x="2063751" y="2276475"/>
            <a:ext cx="5107434" cy="3937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 typeface="Wingdings" panose="05000000000000000000" pitchFamily="2" charset="2"/>
              <a:buNone/>
            </a:pPr>
            <a:r>
              <a:rPr kumimoji="1" lang="en-US" altLang="zh-CN" sz="2000" b="1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Features: the magnetic flux is generated by I</a:t>
            </a:r>
            <a:r>
              <a:rPr kumimoji="1" lang="en-US" altLang="zh-CN" sz="2800" b="1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grpSp>
        <p:nvGrpSpPr>
          <p:cNvPr id="808974" name="Group 14"/>
          <p:cNvGrpSpPr/>
          <p:nvPr/>
        </p:nvGrpSpPr>
        <p:grpSpPr bwMode="auto">
          <a:xfrm>
            <a:off x="7608889" y="404814"/>
            <a:ext cx="3133725" cy="2879725"/>
            <a:chOff x="3310" y="1979"/>
            <a:chExt cx="2428" cy="1406"/>
          </a:xfrm>
        </p:grpSpPr>
        <p:sp>
          <p:nvSpPr>
            <p:cNvPr id="50190" name="Rectangle 15"/>
            <p:cNvSpPr>
              <a:spLocks noChangeArrowheads="1"/>
            </p:cNvSpPr>
            <p:nvPr/>
          </p:nvSpPr>
          <p:spPr bwMode="auto">
            <a:xfrm>
              <a:off x="3310" y="1979"/>
              <a:ext cx="2380" cy="1406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b="1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  <p:sp>
          <p:nvSpPr>
            <p:cNvPr id="50191" name="Text Box 16"/>
            <p:cNvSpPr txBox="1">
              <a:spLocks noChangeArrowheads="1"/>
            </p:cNvSpPr>
            <p:nvPr/>
          </p:nvSpPr>
          <p:spPr bwMode="auto">
            <a:xfrm>
              <a:off x="5306" y="2052"/>
              <a:ext cx="432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66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</a:t>
              </a:r>
              <a:r>
                <a:rPr lang="en-US" altLang="zh-CN" sz="2400" b="1" baseline="-25000">
                  <a:solidFill>
                    <a:srgbClr val="000066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endParaRPr lang="en-US" altLang="zh-CN" sz="2400" b="1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192" name="Freeform 17"/>
            <p:cNvSpPr/>
            <p:nvPr/>
          </p:nvSpPr>
          <p:spPr bwMode="auto">
            <a:xfrm flipV="1">
              <a:off x="5066" y="2580"/>
              <a:ext cx="192" cy="480"/>
            </a:xfrm>
            <a:custGeom>
              <a:avLst/>
              <a:gdLst>
                <a:gd name="T0" fmla="*/ 0 w 192"/>
                <a:gd name="T1" fmla="*/ 480 h 480"/>
                <a:gd name="T2" fmla="*/ 48 w 192"/>
                <a:gd name="T3" fmla="*/ 240 h 480"/>
                <a:gd name="T4" fmla="*/ 192 w 192"/>
                <a:gd name="T5" fmla="*/ 0 h 4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" h="480">
                  <a:moveTo>
                    <a:pt x="0" y="480"/>
                  </a:moveTo>
                  <a:cubicBezTo>
                    <a:pt x="8" y="400"/>
                    <a:pt x="16" y="320"/>
                    <a:pt x="48" y="240"/>
                  </a:cubicBezTo>
                  <a:cubicBezTo>
                    <a:pt x="80" y="160"/>
                    <a:pt x="168" y="40"/>
                    <a:pt x="192" y="0"/>
                  </a:cubicBezTo>
                </a:path>
              </a:pathLst>
            </a:custGeom>
            <a:noFill/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3" name="Freeform 18"/>
            <p:cNvSpPr/>
            <p:nvPr/>
          </p:nvSpPr>
          <p:spPr bwMode="auto">
            <a:xfrm flipV="1">
              <a:off x="5114" y="2580"/>
              <a:ext cx="192" cy="480"/>
            </a:xfrm>
            <a:custGeom>
              <a:avLst/>
              <a:gdLst>
                <a:gd name="T0" fmla="*/ 0 w 192"/>
                <a:gd name="T1" fmla="*/ 480 h 480"/>
                <a:gd name="T2" fmla="*/ 48 w 192"/>
                <a:gd name="T3" fmla="*/ 240 h 480"/>
                <a:gd name="T4" fmla="*/ 192 w 192"/>
                <a:gd name="T5" fmla="*/ 0 h 4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" h="480">
                  <a:moveTo>
                    <a:pt x="0" y="480"/>
                  </a:moveTo>
                  <a:cubicBezTo>
                    <a:pt x="8" y="400"/>
                    <a:pt x="16" y="320"/>
                    <a:pt x="48" y="240"/>
                  </a:cubicBezTo>
                  <a:cubicBezTo>
                    <a:pt x="80" y="160"/>
                    <a:pt x="168" y="40"/>
                    <a:pt x="192" y="0"/>
                  </a:cubicBezTo>
                </a:path>
              </a:pathLst>
            </a:custGeom>
            <a:noFill/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4" name="Freeform 19"/>
            <p:cNvSpPr/>
            <p:nvPr/>
          </p:nvSpPr>
          <p:spPr bwMode="auto">
            <a:xfrm flipV="1">
              <a:off x="5162" y="2580"/>
              <a:ext cx="192" cy="480"/>
            </a:xfrm>
            <a:custGeom>
              <a:avLst/>
              <a:gdLst>
                <a:gd name="T0" fmla="*/ 0 w 192"/>
                <a:gd name="T1" fmla="*/ 480 h 480"/>
                <a:gd name="T2" fmla="*/ 48 w 192"/>
                <a:gd name="T3" fmla="*/ 240 h 480"/>
                <a:gd name="T4" fmla="*/ 192 w 192"/>
                <a:gd name="T5" fmla="*/ 0 h 4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" h="480">
                  <a:moveTo>
                    <a:pt x="0" y="480"/>
                  </a:moveTo>
                  <a:cubicBezTo>
                    <a:pt x="8" y="400"/>
                    <a:pt x="16" y="320"/>
                    <a:pt x="48" y="240"/>
                  </a:cubicBezTo>
                  <a:cubicBezTo>
                    <a:pt x="80" y="160"/>
                    <a:pt x="168" y="40"/>
                    <a:pt x="192" y="0"/>
                  </a:cubicBezTo>
                </a:path>
              </a:pathLst>
            </a:custGeom>
            <a:noFill/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5" name="Freeform 20"/>
            <p:cNvSpPr/>
            <p:nvPr/>
          </p:nvSpPr>
          <p:spPr bwMode="auto">
            <a:xfrm flipV="1">
              <a:off x="4586" y="2724"/>
              <a:ext cx="192" cy="480"/>
            </a:xfrm>
            <a:custGeom>
              <a:avLst/>
              <a:gdLst>
                <a:gd name="T0" fmla="*/ 0 w 192"/>
                <a:gd name="T1" fmla="*/ 480 h 480"/>
                <a:gd name="T2" fmla="*/ 48 w 192"/>
                <a:gd name="T3" fmla="*/ 240 h 480"/>
                <a:gd name="T4" fmla="*/ 192 w 192"/>
                <a:gd name="T5" fmla="*/ 0 h 4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" h="480">
                  <a:moveTo>
                    <a:pt x="0" y="480"/>
                  </a:moveTo>
                  <a:cubicBezTo>
                    <a:pt x="8" y="400"/>
                    <a:pt x="16" y="320"/>
                    <a:pt x="48" y="240"/>
                  </a:cubicBezTo>
                  <a:cubicBezTo>
                    <a:pt x="80" y="160"/>
                    <a:pt x="168" y="40"/>
                    <a:pt x="192" y="0"/>
                  </a:cubicBez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6" name="Freeform 21"/>
            <p:cNvSpPr/>
            <p:nvPr/>
          </p:nvSpPr>
          <p:spPr bwMode="auto">
            <a:xfrm flipH="1" flipV="1">
              <a:off x="4010" y="2724"/>
              <a:ext cx="192" cy="480"/>
            </a:xfrm>
            <a:custGeom>
              <a:avLst/>
              <a:gdLst>
                <a:gd name="T0" fmla="*/ 0 w 192"/>
                <a:gd name="T1" fmla="*/ 480 h 480"/>
                <a:gd name="T2" fmla="*/ 48 w 192"/>
                <a:gd name="T3" fmla="*/ 240 h 480"/>
                <a:gd name="T4" fmla="*/ 192 w 192"/>
                <a:gd name="T5" fmla="*/ 0 h 4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" h="480">
                  <a:moveTo>
                    <a:pt x="0" y="480"/>
                  </a:moveTo>
                  <a:cubicBezTo>
                    <a:pt x="8" y="400"/>
                    <a:pt x="16" y="320"/>
                    <a:pt x="48" y="240"/>
                  </a:cubicBezTo>
                  <a:cubicBezTo>
                    <a:pt x="80" y="160"/>
                    <a:pt x="168" y="40"/>
                    <a:pt x="192" y="0"/>
                  </a:cubicBez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7" name="Line 22"/>
            <p:cNvSpPr>
              <a:spLocks noChangeShapeType="1"/>
            </p:cNvSpPr>
            <p:nvPr/>
          </p:nvSpPr>
          <p:spPr bwMode="auto">
            <a:xfrm flipV="1">
              <a:off x="4394" y="2676"/>
              <a:ext cx="0" cy="52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8" name="Oval 23"/>
            <p:cNvSpPr>
              <a:spLocks noChangeArrowheads="1"/>
            </p:cNvSpPr>
            <p:nvPr/>
          </p:nvSpPr>
          <p:spPr bwMode="auto">
            <a:xfrm>
              <a:off x="3674" y="2484"/>
              <a:ext cx="1488" cy="384"/>
            </a:xfrm>
            <a:prstGeom prst="ellipse">
              <a:avLst/>
            </a:prstGeom>
            <a:solidFill>
              <a:srgbClr val="CCFFFF"/>
            </a:solidFill>
            <a:ln w="254000">
              <a:solidFill>
                <a:srgbClr val="0000CC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b="1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  <p:sp>
          <p:nvSpPr>
            <p:cNvPr id="50199" name="Line 24"/>
            <p:cNvSpPr>
              <a:spLocks noChangeShapeType="1"/>
            </p:cNvSpPr>
            <p:nvPr/>
          </p:nvSpPr>
          <p:spPr bwMode="auto">
            <a:xfrm flipV="1">
              <a:off x="4394" y="2148"/>
              <a:ext cx="0" cy="52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0" name="Freeform 25"/>
            <p:cNvSpPr/>
            <p:nvPr/>
          </p:nvSpPr>
          <p:spPr bwMode="auto">
            <a:xfrm>
              <a:off x="4586" y="2196"/>
              <a:ext cx="192" cy="480"/>
            </a:xfrm>
            <a:custGeom>
              <a:avLst/>
              <a:gdLst>
                <a:gd name="T0" fmla="*/ 0 w 192"/>
                <a:gd name="T1" fmla="*/ 480 h 480"/>
                <a:gd name="T2" fmla="*/ 48 w 192"/>
                <a:gd name="T3" fmla="*/ 240 h 480"/>
                <a:gd name="T4" fmla="*/ 192 w 192"/>
                <a:gd name="T5" fmla="*/ 0 h 4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" h="480">
                  <a:moveTo>
                    <a:pt x="0" y="480"/>
                  </a:moveTo>
                  <a:cubicBezTo>
                    <a:pt x="8" y="400"/>
                    <a:pt x="16" y="320"/>
                    <a:pt x="48" y="240"/>
                  </a:cubicBezTo>
                  <a:cubicBezTo>
                    <a:pt x="80" y="160"/>
                    <a:pt x="168" y="40"/>
                    <a:pt x="192" y="0"/>
                  </a:cubicBez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1" name="Freeform 26"/>
            <p:cNvSpPr/>
            <p:nvPr/>
          </p:nvSpPr>
          <p:spPr bwMode="auto">
            <a:xfrm flipH="1">
              <a:off x="4010" y="2196"/>
              <a:ext cx="192" cy="480"/>
            </a:xfrm>
            <a:custGeom>
              <a:avLst/>
              <a:gdLst>
                <a:gd name="T0" fmla="*/ 0 w 192"/>
                <a:gd name="T1" fmla="*/ 480 h 480"/>
                <a:gd name="T2" fmla="*/ 48 w 192"/>
                <a:gd name="T3" fmla="*/ 240 h 480"/>
                <a:gd name="T4" fmla="*/ 192 w 192"/>
                <a:gd name="T5" fmla="*/ 0 h 4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" h="480">
                  <a:moveTo>
                    <a:pt x="0" y="480"/>
                  </a:moveTo>
                  <a:cubicBezTo>
                    <a:pt x="8" y="400"/>
                    <a:pt x="16" y="320"/>
                    <a:pt x="48" y="240"/>
                  </a:cubicBezTo>
                  <a:cubicBezTo>
                    <a:pt x="80" y="160"/>
                    <a:pt x="168" y="40"/>
                    <a:pt x="192" y="0"/>
                  </a:cubicBez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2" name="Arc 27"/>
            <p:cNvSpPr/>
            <p:nvPr/>
          </p:nvSpPr>
          <p:spPr bwMode="auto">
            <a:xfrm rot="21303359" flipV="1">
              <a:off x="4739" y="2727"/>
              <a:ext cx="375" cy="96"/>
            </a:xfrm>
            <a:custGeom>
              <a:avLst/>
              <a:gdLst>
                <a:gd name="T0" fmla="*/ 0 w 28121"/>
                <a:gd name="T1" fmla="*/ 0 h 21600"/>
                <a:gd name="T2" fmla="*/ 0 w 28121"/>
                <a:gd name="T3" fmla="*/ 0 h 21600"/>
                <a:gd name="T4" fmla="*/ 0 w 28121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121" h="21600" fill="none" extrusionOk="0">
                  <a:moveTo>
                    <a:pt x="-1" y="1007"/>
                  </a:moveTo>
                  <a:cubicBezTo>
                    <a:pt x="2109" y="339"/>
                    <a:pt x="4308" y="-1"/>
                    <a:pt x="6521" y="0"/>
                  </a:cubicBezTo>
                  <a:cubicBezTo>
                    <a:pt x="18450" y="0"/>
                    <a:pt x="28121" y="9670"/>
                    <a:pt x="28121" y="21600"/>
                  </a:cubicBezTo>
                </a:path>
                <a:path w="28121" h="21600" stroke="0" extrusionOk="0">
                  <a:moveTo>
                    <a:pt x="-1" y="1007"/>
                  </a:moveTo>
                  <a:cubicBezTo>
                    <a:pt x="2109" y="339"/>
                    <a:pt x="4308" y="-1"/>
                    <a:pt x="6521" y="0"/>
                  </a:cubicBezTo>
                  <a:cubicBezTo>
                    <a:pt x="18450" y="0"/>
                    <a:pt x="28121" y="9670"/>
                    <a:pt x="28121" y="21600"/>
                  </a:cubicBezTo>
                  <a:lnTo>
                    <a:pt x="6521" y="21600"/>
                  </a:lnTo>
                  <a:lnTo>
                    <a:pt x="-1" y="1007"/>
                  </a:lnTo>
                  <a:close/>
                </a:path>
              </a:pathLst>
            </a:custGeom>
            <a:noFill/>
            <a:ln w="47625">
              <a:solidFill>
                <a:srgbClr val="FF9900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03" name="Text Box 28"/>
            <p:cNvSpPr txBox="1">
              <a:spLocks noChangeArrowheads="1"/>
            </p:cNvSpPr>
            <p:nvPr/>
          </p:nvSpPr>
          <p:spPr bwMode="auto">
            <a:xfrm>
              <a:off x="3606" y="2795"/>
              <a:ext cx="288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66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50204" name="Text Box 29"/>
            <p:cNvSpPr txBox="1">
              <a:spLocks noChangeArrowheads="1"/>
            </p:cNvSpPr>
            <p:nvPr/>
          </p:nvSpPr>
          <p:spPr bwMode="auto">
            <a:xfrm>
              <a:off x="4830" y="2840"/>
              <a:ext cx="288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66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50205" name="Text Box 30"/>
            <p:cNvSpPr txBox="1">
              <a:spLocks noChangeArrowheads="1"/>
            </p:cNvSpPr>
            <p:nvPr/>
          </p:nvSpPr>
          <p:spPr bwMode="auto">
            <a:xfrm>
              <a:off x="4394" y="2004"/>
              <a:ext cx="432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 i="1">
                  <a:solidFill>
                    <a:srgbClr val="000066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</a:t>
              </a:r>
              <a:r>
                <a:rPr lang="en-US" altLang="zh-CN" sz="2400" b="1" baseline="-25000">
                  <a:solidFill>
                    <a:srgbClr val="000066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o</a:t>
              </a:r>
              <a:endParaRPr lang="en-US" altLang="zh-CN" sz="2400" b="1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206" name="Text Box 31"/>
            <p:cNvSpPr txBox="1">
              <a:spLocks noChangeArrowheads="1"/>
            </p:cNvSpPr>
            <p:nvPr/>
          </p:nvSpPr>
          <p:spPr bwMode="auto">
            <a:xfrm>
              <a:off x="3340" y="2205"/>
              <a:ext cx="719" cy="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900" b="1">
                  <a:solidFill>
                    <a:srgbClr val="CC0000"/>
                  </a:solidFill>
                  <a:latin typeface="Verdana" panose="020B0604030504040204" pitchFamily="34" charset="0"/>
                </a:rPr>
                <a:t>Thick loop</a:t>
              </a:r>
            </a:p>
          </p:txBody>
        </p:sp>
        <p:sp>
          <p:nvSpPr>
            <p:cNvPr id="50207" name="Freeform 32"/>
            <p:cNvSpPr/>
            <p:nvPr/>
          </p:nvSpPr>
          <p:spPr bwMode="auto">
            <a:xfrm>
              <a:off x="5114" y="2196"/>
              <a:ext cx="192" cy="480"/>
            </a:xfrm>
            <a:custGeom>
              <a:avLst/>
              <a:gdLst>
                <a:gd name="T0" fmla="*/ 0 w 192"/>
                <a:gd name="T1" fmla="*/ 480 h 480"/>
                <a:gd name="T2" fmla="*/ 48 w 192"/>
                <a:gd name="T3" fmla="*/ 240 h 480"/>
                <a:gd name="T4" fmla="*/ 192 w 192"/>
                <a:gd name="T5" fmla="*/ 0 h 4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" h="480">
                  <a:moveTo>
                    <a:pt x="0" y="480"/>
                  </a:moveTo>
                  <a:cubicBezTo>
                    <a:pt x="8" y="400"/>
                    <a:pt x="16" y="320"/>
                    <a:pt x="48" y="240"/>
                  </a:cubicBezTo>
                  <a:cubicBezTo>
                    <a:pt x="80" y="160"/>
                    <a:pt x="168" y="40"/>
                    <a:pt x="192" y="0"/>
                  </a:cubicBezTo>
                </a:path>
              </a:pathLst>
            </a:custGeom>
            <a:noFill/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8" name="Freeform 33"/>
            <p:cNvSpPr/>
            <p:nvPr/>
          </p:nvSpPr>
          <p:spPr bwMode="auto">
            <a:xfrm>
              <a:off x="5066" y="2148"/>
              <a:ext cx="192" cy="480"/>
            </a:xfrm>
            <a:custGeom>
              <a:avLst/>
              <a:gdLst>
                <a:gd name="T0" fmla="*/ 0 w 192"/>
                <a:gd name="T1" fmla="*/ 480 h 480"/>
                <a:gd name="T2" fmla="*/ 48 w 192"/>
                <a:gd name="T3" fmla="*/ 240 h 480"/>
                <a:gd name="T4" fmla="*/ 192 w 192"/>
                <a:gd name="T5" fmla="*/ 0 h 4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" h="480">
                  <a:moveTo>
                    <a:pt x="0" y="480"/>
                  </a:moveTo>
                  <a:cubicBezTo>
                    <a:pt x="8" y="400"/>
                    <a:pt x="16" y="320"/>
                    <a:pt x="48" y="240"/>
                  </a:cubicBezTo>
                  <a:cubicBezTo>
                    <a:pt x="80" y="160"/>
                    <a:pt x="168" y="40"/>
                    <a:pt x="192" y="0"/>
                  </a:cubicBezTo>
                </a:path>
              </a:pathLst>
            </a:custGeom>
            <a:noFill/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9" name="Freeform 34"/>
            <p:cNvSpPr/>
            <p:nvPr/>
          </p:nvSpPr>
          <p:spPr bwMode="auto">
            <a:xfrm>
              <a:off x="5162" y="2244"/>
              <a:ext cx="192" cy="480"/>
            </a:xfrm>
            <a:custGeom>
              <a:avLst/>
              <a:gdLst>
                <a:gd name="T0" fmla="*/ 0 w 192"/>
                <a:gd name="T1" fmla="*/ 480 h 480"/>
                <a:gd name="T2" fmla="*/ 48 w 192"/>
                <a:gd name="T3" fmla="*/ 240 h 480"/>
                <a:gd name="T4" fmla="*/ 192 w 192"/>
                <a:gd name="T5" fmla="*/ 0 h 4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" h="480">
                  <a:moveTo>
                    <a:pt x="0" y="480"/>
                  </a:moveTo>
                  <a:cubicBezTo>
                    <a:pt x="8" y="400"/>
                    <a:pt x="16" y="320"/>
                    <a:pt x="48" y="240"/>
                  </a:cubicBezTo>
                  <a:cubicBezTo>
                    <a:pt x="80" y="160"/>
                    <a:pt x="168" y="40"/>
                    <a:pt x="192" y="0"/>
                  </a:cubicBezTo>
                </a:path>
              </a:pathLst>
            </a:custGeom>
            <a:noFill/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7680326" y="3933826"/>
            <a:ext cx="2233613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16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—— </a:t>
            </a:r>
            <a:r>
              <a:rPr kumimoji="1" lang="en-US" altLang="zh-CN" sz="1600" b="1">
                <a:solidFill>
                  <a:srgbClr val="0000CC"/>
                </a:solidFill>
                <a:ea typeface="楷体_GB2312" pitchFamily="49" charset="-122"/>
              </a:rPr>
              <a:t>External  self inductance </a:t>
            </a:r>
            <a:r>
              <a:rPr kumimoji="1" lang="zh-CN" altLang="en-US" sz="16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；</a:t>
            </a:r>
            <a:endParaRPr kumimoji="1" lang="zh-CN" altLang="en-US" sz="1600" b="1" i="1" baseline="-25000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08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181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18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81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808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81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808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81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81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81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2" grpId="0"/>
      <p:bldP spid="808969" grpId="0"/>
      <p:bldP spid="808970" grpId="0"/>
      <p:bldP spid="181259" grpId="0" animBg="1"/>
      <p:bldP spid="181260" grpId="0"/>
      <p:bldP spid="18126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2275" name="Object 3"/>
          <p:cNvGraphicFramePr>
            <a:graphicFrameLocks noChangeAspect="1"/>
          </p:cNvGraphicFramePr>
          <p:nvPr/>
        </p:nvGraphicFramePr>
        <p:xfrm>
          <a:off x="5017169" y="452437"/>
          <a:ext cx="3079750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55800" imgH="482600" progId="Equation.DSMT4">
                  <p:embed/>
                </p:oleObj>
              </mc:Choice>
              <mc:Fallback>
                <p:oleObj name="Equation" r:id="rId2" imgW="1955800" imgH="4826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7169" y="452437"/>
                        <a:ext cx="3079750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276" name="Rectangle 4"/>
          <p:cNvSpPr>
            <a:spLocks noChangeArrowheads="1"/>
          </p:cNvSpPr>
          <p:nvPr/>
        </p:nvSpPr>
        <p:spPr bwMode="auto">
          <a:xfrm>
            <a:off x="1901825" y="1561119"/>
            <a:ext cx="50038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Mutual inductance coefficient of loop </a:t>
            </a:r>
            <a:r>
              <a:rPr kumimoji="1"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1" lang="en-US" altLang="zh-CN" sz="20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to loop </a:t>
            </a:r>
            <a:r>
              <a:rPr kumimoji="1"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1" lang="en-US" altLang="zh-CN" sz="20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,short for mutual inductance 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graphicFrame>
        <p:nvGraphicFramePr>
          <p:cNvPr id="182277" name="Object 5"/>
          <p:cNvGraphicFramePr>
            <a:graphicFrameLocks noChangeAspect="1"/>
          </p:cNvGraphicFramePr>
          <p:nvPr/>
        </p:nvGraphicFramePr>
        <p:xfrm>
          <a:off x="2689225" y="3778250"/>
          <a:ext cx="1822450" cy="103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812000" imgH="10363200" progId="Equation.DSMT4">
                  <p:embed/>
                </p:oleObj>
              </mc:Choice>
              <mc:Fallback>
                <p:oleObj name="Equation" r:id="rId4" imgW="19812000" imgH="103632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9225" y="3778250"/>
                        <a:ext cx="1822450" cy="1030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5" name="Rectangle 6"/>
          <p:cNvSpPr>
            <a:spLocks noChangeArrowheads="1"/>
          </p:cNvSpPr>
          <p:nvPr/>
        </p:nvSpPr>
        <p:spPr bwMode="auto">
          <a:xfrm>
            <a:off x="1663268" y="570449"/>
            <a:ext cx="30480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3. Mutual inductance</a:t>
            </a:r>
          </a:p>
        </p:txBody>
      </p:sp>
      <p:sp>
        <p:nvSpPr>
          <p:cNvPr id="1059847" name="Rectangle 7"/>
          <p:cNvSpPr>
            <a:spLocks noChangeArrowheads="1"/>
          </p:cNvSpPr>
          <p:nvPr/>
        </p:nvSpPr>
        <p:spPr bwMode="auto">
          <a:xfrm>
            <a:off x="1703388" y="3429001"/>
            <a:ext cx="6985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Similarly, the mutual inductance of the loop</a:t>
            </a:r>
            <a:r>
              <a:rPr kumimoji="1"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C</a:t>
            </a:r>
            <a:r>
              <a:rPr kumimoji="1" lang="en-US" altLang="zh-CN" sz="20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to the loop</a:t>
            </a:r>
            <a:r>
              <a:rPr kumimoji="1"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C</a:t>
            </a:r>
            <a:r>
              <a:rPr kumimoji="1" lang="en-US" altLang="zh-CN" sz="20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 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is</a:t>
            </a:r>
          </a:p>
        </p:txBody>
      </p:sp>
      <p:sp>
        <p:nvSpPr>
          <p:cNvPr id="51207" name="Rectangle 9"/>
          <p:cNvSpPr>
            <a:spLocks noChangeArrowheads="1"/>
          </p:cNvSpPr>
          <p:nvPr/>
        </p:nvSpPr>
        <p:spPr bwMode="auto">
          <a:xfrm>
            <a:off x="8738902" y="476250"/>
            <a:ext cx="3419475" cy="2952750"/>
          </a:xfrm>
          <a:prstGeom prst="rect">
            <a:avLst/>
          </a:prstGeom>
          <a:solidFill>
            <a:srgbClr val="CCFFFF"/>
          </a:solidFill>
          <a:ln w="9525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b="1">
              <a:solidFill>
                <a:srgbClr val="FF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51208" name="Freeform 10"/>
          <p:cNvSpPr/>
          <p:nvPr/>
        </p:nvSpPr>
        <p:spPr bwMode="auto">
          <a:xfrm rot="1251037">
            <a:off x="9746964" y="642938"/>
            <a:ext cx="684213" cy="1504950"/>
          </a:xfrm>
          <a:custGeom>
            <a:avLst/>
            <a:gdLst>
              <a:gd name="T0" fmla="*/ 2147483646 w 770"/>
              <a:gd name="T1" fmla="*/ 2147483646 h 1274"/>
              <a:gd name="T2" fmla="*/ 2147483646 w 770"/>
              <a:gd name="T3" fmla="*/ 2147483646 h 1274"/>
              <a:gd name="T4" fmla="*/ 2147483646 w 770"/>
              <a:gd name="T5" fmla="*/ 2147483646 h 1274"/>
              <a:gd name="T6" fmla="*/ 2147483646 w 770"/>
              <a:gd name="T7" fmla="*/ 2147483646 h 1274"/>
              <a:gd name="T8" fmla="*/ 2147483646 w 770"/>
              <a:gd name="T9" fmla="*/ 2147483646 h 1274"/>
              <a:gd name="T10" fmla="*/ 2147483646 w 770"/>
              <a:gd name="T11" fmla="*/ 2147483646 h 1274"/>
              <a:gd name="T12" fmla="*/ 2147483646 w 770"/>
              <a:gd name="T13" fmla="*/ 2147483646 h 1274"/>
              <a:gd name="T14" fmla="*/ 2147483646 w 770"/>
              <a:gd name="T15" fmla="*/ 2147483646 h 127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70" h="1274">
                <a:moveTo>
                  <a:pt x="35" y="546"/>
                </a:moveTo>
                <a:cubicBezTo>
                  <a:pt x="52" y="416"/>
                  <a:pt x="53" y="156"/>
                  <a:pt x="140" y="78"/>
                </a:cubicBezTo>
                <a:cubicBezTo>
                  <a:pt x="227" y="0"/>
                  <a:pt x="455" y="0"/>
                  <a:pt x="560" y="78"/>
                </a:cubicBezTo>
                <a:cubicBezTo>
                  <a:pt x="665" y="156"/>
                  <a:pt x="770" y="364"/>
                  <a:pt x="770" y="546"/>
                </a:cubicBezTo>
                <a:cubicBezTo>
                  <a:pt x="770" y="728"/>
                  <a:pt x="647" y="1066"/>
                  <a:pt x="560" y="1170"/>
                </a:cubicBezTo>
                <a:cubicBezTo>
                  <a:pt x="473" y="1274"/>
                  <a:pt x="333" y="1222"/>
                  <a:pt x="245" y="1170"/>
                </a:cubicBezTo>
                <a:cubicBezTo>
                  <a:pt x="157" y="1118"/>
                  <a:pt x="70" y="962"/>
                  <a:pt x="35" y="858"/>
                </a:cubicBezTo>
                <a:cubicBezTo>
                  <a:pt x="0" y="754"/>
                  <a:pt x="18" y="676"/>
                  <a:pt x="35" y="546"/>
                </a:cubicBezTo>
                <a:close/>
              </a:path>
            </a:pathLst>
          </a:custGeom>
          <a:noFill/>
          <a:ln w="317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09" name="Line 13"/>
          <p:cNvSpPr>
            <a:spLocks noChangeShapeType="1"/>
          </p:cNvSpPr>
          <p:nvPr/>
        </p:nvSpPr>
        <p:spPr bwMode="auto">
          <a:xfrm rot="7170631">
            <a:off x="9754901" y="1023938"/>
            <a:ext cx="2730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10" name="Freeform 15"/>
          <p:cNvSpPr/>
          <p:nvPr/>
        </p:nvSpPr>
        <p:spPr bwMode="auto">
          <a:xfrm rot="20332363">
            <a:off x="10845514" y="895351"/>
            <a:ext cx="1133475" cy="1165225"/>
          </a:xfrm>
          <a:custGeom>
            <a:avLst/>
            <a:gdLst>
              <a:gd name="T0" fmla="*/ 2147483646 w 831"/>
              <a:gd name="T1" fmla="*/ 2147483646 h 642"/>
              <a:gd name="T2" fmla="*/ 2147483646 w 831"/>
              <a:gd name="T3" fmla="*/ 2147483646 h 642"/>
              <a:gd name="T4" fmla="*/ 2147483646 w 831"/>
              <a:gd name="T5" fmla="*/ 2147483646 h 642"/>
              <a:gd name="T6" fmla="*/ 2147483646 w 831"/>
              <a:gd name="T7" fmla="*/ 2147483646 h 642"/>
              <a:gd name="T8" fmla="*/ 2147483646 w 831"/>
              <a:gd name="T9" fmla="*/ 2147483646 h 642"/>
              <a:gd name="T10" fmla="*/ 2147483646 w 831"/>
              <a:gd name="T11" fmla="*/ 2147483646 h 642"/>
              <a:gd name="T12" fmla="*/ 2147483646 w 831"/>
              <a:gd name="T13" fmla="*/ 2147483646 h 642"/>
              <a:gd name="T14" fmla="*/ 2147483646 w 831"/>
              <a:gd name="T15" fmla="*/ 2147483646 h 642"/>
              <a:gd name="T16" fmla="*/ 2147483646 w 831"/>
              <a:gd name="T17" fmla="*/ 2147483646 h 642"/>
              <a:gd name="T18" fmla="*/ 2147483646 w 831"/>
              <a:gd name="T19" fmla="*/ 2147483646 h 642"/>
              <a:gd name="T20" fmla="*/ 2147483646 w 831"/>
              <a:gd name="T21" fmla="*/ 2147483646 h 64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831" h="642">
                <a:moveTo>
                  <a:pt x="354" y="606"/>
                </a:moveTo>
                <a:cubicBezTo>
                  <a:pt x="299" y="626"/>
                  <a:pt x="225" y="642"/>
                  <a:pt x="172" y="637"/>
                </a:cubicBezTo>
                <a:cubicBezTo>
                  <a:pt x="120" y="631"/>
                  <a:pt x="61" y="631"/>
                  <a:pt x="36" y="571"/>
                </a:cubicBezTo>
                <a:cubicBezTo>
                  <a:pt x="11" y="511"/>
                  <a:pt x="0" y="358"/>
                  <a:pt x="23" y="275"/>
                </a:cubicBezTo>
                <a:cubicBezTo>
                  <a:pt x="46" y="192"/>
                  <a:pt x="109" y="120"/>
                  <a:pt x="175" y="75"/>
                </a:cubicBezTo>
                <a:cubicBezTo>
                  <a:pt x="241" y="30"/>
                  <a:pt x="318" y="0"/>
                  <a:pt x="416" y="3"/>
                </a:cubicBezTo>
                <a:cubicBezTo>
                  <a:pt x="514" y="6"/>
                  <a:pt x="699" y="34"/>
                  <a:pt x="765" y="93"/>
                </a:cubicBezTo>
                <a:cubicBezTo>
                  <a:pt x="831" y="151"/>
                  <a:pt x="822" y="295"/>
                  <a:pt x="810" y="352"/>
                </a:cubicBezTo>
                <a:cubicBezTo>
                  <a:pt x="798" y="409"/>
                  <a:pt x="745" y="407"/>
                  <a:pt x="695" y="435"/>
                </a:cubicBezTo>
                <a:cubicBezTo>
                  <a:pt x="645" y="463"/>
                  <a:pt x="563" y="493"/>
                  <a:pt x="506" y="521"/>
                </a:cubicBezTo>
                <a:cubicBezTo>
                  <a:pt x="449" y="549"/>
                  <a:pt x="410" y="587"/>
                  <a:pt x="354" y="606"/>
                </a:cubicBezTo>
                <a:close/>
              </a:path>
            </a:pathLst>
          </a:cu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11" name="Line 16"/>
          <p:cNvSpPr>
            <a:spLocks noChangeShapeType="1"/>
          </p:cNvSpPr>
          <p:nvPr/>
        </p:nvSpPr>
        <p:spPr bwMode="auto">
          <a:xfrm rot="18712363" flipH="1">
            <a:off x="11693238" y="1552575"/>
            <a:ext cx="280988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12" name="Rectangle 20"/>
          <p:cNvSpPr>
            <a:spLocks noChangeArrowheads="1"/>
          </p:cNvSpPr>
          <p:nvPr/>
        </p:nvSpPr>
        <p:spPr bwMode="auto">
          <a:xfrm>
            <a:off x="10440701" y="627063"/>
            <a:ext cx="4411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1" lang="en-US" altLang="zh-CN" sz="2000" b="1" baseline="-2500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kumimoji="1" lang="en-US" altLang="zh-CN" sz="2000" b="1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1213" name="Rectangle 21"/>
          <p:cNvSpPr>
            <a:spLocks noChangeArrowheads="1"/>
          </p:cNvSpPr>
          <p:nvPr/>
        </p:nvSpPr>
        <p:spPr bwMode="auto">
          <a:xfrm>
            <a:off x="11067763" y="485775"/>
            <a:ext cx="4411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1" lang="en-US" altLang="zh-CN" sz="2000" b="1" baseline="-2500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endParaRPr kumimoji="1" lang="en-US" altLang="zh-CN" sz="2000" b="1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1214" name="Rectangle 22"/>
          <p:cNvSpPr>
            <a:spLocks noChangeArrowheads="1"/>
          </p:cNvSpPr>
          <p:nvPr/>
        </p:nvSpPr>
        <p:spPr bwMode="auto">
          <a:xfrm>
            <a:off x="9526301" y="765175"/>
            <a:ext cx="3690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2000" b="1" baseline="-2500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kumimoji="1" lang="en-US" altLang="zh-CN" sz="2000" b="1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1215" name="Rectangle 23"/>
          <p:cNvSpPr>
            <a:spLocks noChangeArrowheads="1"/>
          </p:cNvSpPr>
          <p:nvPr/>
        </p:nvSpPr>
        <p:spPr bwMode="auto">
          <a:xfrm>
            <a:off x="11547188" y="1700213"/>
            <a:ext cx="3690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2000" b="1" baseline="-2500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endParaRPr kumimoji="1" lang="en-US" altLang="zh-CN" sz="2000" b="1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59870" name="Rectangle 30"/>
          <p:cNvSpPr>
            <a:spLocks noChangeArrowheads="1"/>
          </p:cNvSpPr>
          <p:nvPr/>
        </p:nvSpPr>
        <p:spPr bwMode="auto">
          <a:xfrm>
            <a:off x="1558925" y="2544505"/>
            <a:ext cx="5346700" cy="57626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 typeface="Wingdings" panose="05000000000000000000" pitchFamily="2" charset="2"/>
              <a:buNone/>
            </a:pPr>
            <a:r>
              <a:rPr kumimoji="1" lang="en-US" altLang="zh-CN" sz="1800" b="1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      </a:t>
            </a:r>
            <a:r>
              <a:rPr kumimoji="1" lang="en-US" altLang="zh-CN" sz="2000" b="1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Features: the magnetic flux in the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C</a:t>
            </a:r>
            <a:r>
              <a:rPr kumimoji="1" lang="en-US" altLang="zh-CN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2 </a:t>
            </a:r>
            <a:r>
              <a:rPr kumimoji="1" lang="en-US" altLang="zh-CN" sz="2000" b="1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is generated by 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I</a:t>
            </a:r>
            <a:r>
              <a:rPr kumimoji="1" lang="en-US" altLang="zh-CN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1</a:t>
            </a:r>
            <a:endParaRPr kumimoji="1" lang="en-US" altLang="zh-CN" sz="2000" b="1" dirty="0">
              <a:solidFill>
                <a:srgbClr val="FF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59871" name="Rectangle 31"/>
          <p:cNvSpPr>
            <a:spLocks noChangeArrowheads="1"/>
          </p:cNvSpPr>
          <p:nvPr/>
        </p:nvSpPr>
        <p:spPr bwMode="auto">
          <a:xfrm>
            <a:off x="1558925" y="4564928"/>
            <a:ext cx="4608512" cy="64928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kumimoji="1" lang="en-US" altLang="zh-CN" sz="1800" b="1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       </a:t>
            </a:r>
            <a:r>
              <a:rPr kumimoji="1" lang="en-US" altLang="zh-CN" sz="2000" b="1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Features: the magnetic flux in the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C</a:t>
            </a:r>
            <a:r>
              <a:rPr kumimoji="1" lang="en-US" altLang="zh-CN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1 </a:t>
            </a:r>
            <a:r>
              <a:rPr kumimoji="1" lang="en-US" altLang="zh-CN" sz="2000" b="1" dirty="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is generated by </a:t>
            </a:r>
            <a:r>
              <a:rPr kumimoji="1" lang="en-US" altLang="zh-CN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I</a:t>
            </a:r>
            <a:r>
              <a:rPr kumimoji="1" lang="en-US" altLang="zh-CN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endParaRPr kumimoji="1" lang="en-US" altLang="zh-CN" sz="2000" b="1" dirty="0">
              <a:solidFill>
                <a:srgbClr val="FF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59873" name="Rectangle 33"/>
          <p:cNvSpPr>
            <a:spLocks noChangeArrowheads="1"/>
          </p:cNvSpPr>
          <p:nvPr/>
        </p:nvSpPr>
        <p:spPr bwMode="auto">
          <a:xfrm>
            <a:off x="7319964" y="5661026"/>
            <a:ext cx="1512887" cy="911225"/>
          </a:xfrm>
          <a:prstGeom prst="rect">
            <a:avLst/>
          </a:prstGeom>
          <a:solidFill>
            <a:srgbClr val="CCFFFF"/>
          </a:solidFill>
          <a:ln w="25400">
            <a:solidFill>
              <a:srgbClr val="9933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rgbClr val="C60000"/>
                </a:solidFill>
                <a:latin typeface="Times New Roman" panose="02020603050405020304" pitchFamily="18" charset="0"/>
              </a:rPr>
              <a:t>Neumann’s formula</a:t>
            </a:r>
          </a:p>
        </p:txBody>
      </p:sp>
      <p:sp>
        <p:nvSpPr>
          <p:cNvPr id="1059874" name="Line 34"/>
          <p:cNvSpPr>
            <a:spLocks noChangeShapeType="1"/>
          </p:cNvSpPr>
          <p:nvPr/>
        </p:nvSpPr>
        <p:spPr bwMode="auto">
          <a:xfrm flipV="1">
            <a:off x="8832851" y="5373688"/>
            <a:ext cx="1008063" cy="792162"/>
          </a:xfrm>
          <a:prstGeom prst="line">
            <a:avLst/>
          </a:prstGeom>
          <a:noFill/>
          <a:ln w="28575">
            <a:solidFill>
              <a:srgbClr val="9933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9875" name="Rectangle 35"/>
          <p:cNvSpPr>
            <a:spLocks noChangeArrowheads="1"/>
          </p:cNvSpPr>
          <p:nvPr/>
        </p:nvSpPr>
        <p:spPr bwMode="auto">
          <a:xfrm>
            <a:off x="7464426" y="4437064"/>
            <a:ext cx="2987675" cy="936625"/>
          </a:xfrm>
          <a:prstGeom prst="rect">
            <a:avLst/>
          </a:prstGeom>
          <a:noFill/>
          <a:ln w="22225">
            <a:solidFill>
              <a:srgbClr val="FF9900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b="1">
              <a:solidFill>
                <a:srgbClr val="FF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graphicFrame>
        <p:nvGraphicFramePr>
          <p:cNvPr id="182294" name="Object 40"/>
          <p:cNvGraphicFramePr>
            <a:graphicFrameLocks noChangeAspect="1"/>
          </p:cNvGraphicFramePr>
          <p:nvPr/>
        </p:nvGraphicFramePr>
        <p:xfrm>
          <a:off x="7397750" y="3854450"/>
          <a:ext cx="3046413" cy="152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832800" imgH="15849600" progId="Equation.DSMT4">
                  <p:embed/>
                </p:oleObj>
              </mc:Choice>
              <mc:Fallback>
                <p:oleObj name="Equation" r:id="rId6" imgW="33832800" imgH="158496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7750" y="3854450"/>
                        <a:ext cx="3046413" cy="152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2" name="Object 41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0035889" y="908050"/>
          <a:ext cx="37782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700" imgH="520700" progId="Equation.DSMT4">
                  <p:embed/>
                </p:oleObj>
              </mc:Choice>
              <mc:Fallback>
                <p:oleObj name="Equation" r:id="rId8" imgW="266700" imgH="520700" progId="Equation.DSMT4">
                  <p:embed/>
                  <p:pic>
                    <p:nvPicPr>
                      <p:cNvPr id="0" name="图片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35889" y="908050"/>
                        <a:ext cx="377825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296" name="Rectangle 49"/>
          <p:cNvSpPr>
            <a:spLocks noChangeArrowheads="1"/>
          </p:cNvSpPr>
          <p:nvPr/>
        </p:nvSpPr>
        <p:spPr bwMode="auto">
          <a:xfrm>
            <a:off x="8810339" y="2640013"/>
            <a:ext cx="3097213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 baseline="-25000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en-US" altLang="zh-CN" sz="14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The total flux in the </a:t>
            </a:r>
            <a:r>
              <a:rPr kumimoji="1" lang="en-US" altLang="zh-CN" sz="1400" b="1" i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1" lang="en-US" altLang="zh-CN" sz="1400" b="1" baseline="-2500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en-US" altLang="zh-CN" sz="14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 :</a:t>
            </a:r>
            <a:r>
              <a:rPr kumimoji="1" lang="el-GR" altLang="zh-CN" sz="14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Ψ</a:t>
            </a:r>
            <a:r>
              <a:rPr kumimoji="1" lang="en-US" altLang="zh-CN" sz="1400" b="1" baseline="-2500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zh-CN" altLang="en-US" sz="1400" b="1" baseline="-2500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总</a:t>
            </a:r>
            <a:r>
              <a:rPr kumimoji="1" lang="zh-CN" altLang="en-US" sz="1400" b="1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</a:t>
            </a:r>
            <a:r>
              <a:rPr kumimoji="1" lang="en-US" altLang="zh-CN" sz="1400" b="1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=</a:t>
            </a:r>
            <a:r>
              <a:rPr kumimoji="1" lang="el-GR" altLang="zh-CN" sz="14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Ψ</a:t>
            </a:r>
            <a:r>
              <a:rPr kumimoji="1" lang="en-US" altLang="zh-CN" sz="1400" b="1" baseline="-2500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en-US" altLang="zh-CN" sz="14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+</a:t>
            </a:r>
            <a:r>
              <a:rPr kumimoji="1" lang="el-GR" altLang="zh-CN" sz="14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Ψ</a:t>
            </a:r>
            <a:r>
              <a:rPr kumimoji="1" lang="en-US" altLang="zh-CN" sz="1400" b="1" baseline="-2500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12</a:t>
            </a:r>
            <a:endParaRPr kumimoji="1" lang="el-GR" altLang="zh-CN" sz="1400" b="1" baseline="-25000">
              <a:solidFill>
                <a:srgbClr val="FF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51224" name="Object 50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1350338" y="981075"/>
          <a:ext cx="484188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6700" imgH="520700" progId="Equation.DSMT4">
                  <p:embed/>
                </p:oleObj>
              </mc:Choice>
              <mc:Fallback>
                <p:oleObj name="Equation" r:id="rId10" imgW="266700" imgH="520700" progId="Equation.DSMT4">
                  <p:embed/>
                  <p:pic>
                    <p:nvPicPr>
                      <p:cNvPr id="0" name="图片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50338" y="981075"/>
                        <a:ext cx="484188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298" name="Rectangle 53"/>
          <p:cNvSpPr>
            <a:spLocks noChangeArrowheads="1"/>
          </p:cNvSpPr>
          <p:nvPr/>
        </p:nvSpPr>
        <p:spPr bwMode="auto">
          <a:xfrm>
            <a:off x="8810339" y="2979738"/>
            <a:ext cx="34194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4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The total flux in the </a:t>
            </a:r>
            <a:r>
              <a:rPr kumimoji="1" lang="en-US" altLang="zh-CN" sz="1400" b="1" i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1" lang="en-US" altLang="zh-CN" sz="1400" b="1" baseline="-2500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2 </a:t>
            </a:r>
            <a:r>
              <a:rPr kumimoji="1" lang="en-US" altLang="zh-CN" sz="14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kumimoji="1" lang="el-GR" altLang="zh-CN" sz="14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Ψ</a:t>
            </a:r>
            <a:r>
              <a:rPr kumimoji="1" lang="en-US" altLang="zh-CN" sz="1400" b="1" baseline="-2500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zh-CN" altLang="en-US" sz="1400" b="1" baseline="-2500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总</a:t>
            </a:r>
            <a:r>
              <a:rPr kumimoji="1" lang="zh-CN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1400" b="1">
                <a:solidFill>
                  <a:srgbClr val="FF0000"/>
                </a:solidFill>
                <a:latin typeface="Times New Roman" panose="02020603050405020304" pitchFamily="18" charset="0"/>
              </a:rPr>
              <a:t>=</a:t>
            </a:r>
            <a:r>
              <a:rPr kumimoji="1" lang="el-GR" altLang="zh-CN" sz="14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Ψ</a:t>
            </a:r>
            <a:r>
              <a:rPr kumimoji="1" lang="en-US" altLang="zh-CN" sz="1400" b="1" baseline="-2500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2 </a:t>
            </a:r>
            <a:r>
              <a:rPr kumimoji="1" lang="en-US" altLang="zh-CN" sz="14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+</a:t>
            </a:r>
            <a:r>
              <a:rPr kumimoji="1" lang="el-GR" altLang="zh-CN" sz="14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Ψ</a:t>
            </a:r>
            <a:r>
              <a:rPr kumimoji="1" lang="en-US" altLang="zh-CN" sz="1400" b="1" baseline="-25000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49" charset="-122"/>
              </a:rPr>
              <a:t>21</a:t>
            </a:r>
            <a:endParaRPr kumimoji="1" lang="el-GR" altLang="zh-CN" sz="1400" b="1" baseline="-25000">
              <a:solidFill>
                <a:srgbClr val="FF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82299" name="Rectangle 54"/>
          <p:cNvSpPr>
            <a:spLocks noChangeArrowheads="1"/>
          </p:cNvSpPr>
          <p:nvPr/>
        </p:nvSpPr>
        <p:spPr bwMode="auto">
          <a:xfrm>
            <a:off x="1847850" y="5516563"/>
            <a:ext cx="5111750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i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Question </a:t>
            </a:r>
            <a:r>
              <a:rPr kumimoji="1" lang="zh-CN" altLang="en-US" sz="2400" b="1" i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kumimoji="1"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l-GR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Ψ</a:t>
            </a:r>
            <a:r>
              <a:rPr kumimoji="1" lang="en-US" altLang="zh-CN" sz="2400" b="1" baseline="-2500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1total</a:t>
            </a:r>
            <a:r>
              <a: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=</a:t>
            </a:r>
            <a:r>
              <a:rPr kumimoji="1"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？； </a:t>
            </a:r>
            <a:r>
              <a:rPr kumimoji="1" lang="el-GR" altLang="zh-CN" sz="2400" b="1" i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Ψ</a:t>
            </a:r>
            <a:r>
              <a:rPr kumimoji="1" lang="en-US" altLang="zh-CN" sz="2400" b="1" baseline="-2500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2total </a:t>
            </a:r>
            <a:r>
              <a: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=</a:t>
            </a:r>
            <a:r>
              <a:rPr kumimoji="1"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？</a:t>
            </a:r>
            <a:endParaRPr kumimoji="1" lang="zh-CN" altLang="el-GR" sz="2400" b="1">
              <a:solidFill>
                <a:srgbClr val="0000CC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2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2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59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59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82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59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8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059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059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59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8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8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8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6" grpId="0"/>
      <p:bldP spid="1059847" grpId="0"/>
      <p:bldP spid="1059870" grpId="0" animBg="1"/>
      <p:bldP spid="1059871" grpId="0" animBg="1"/>
      <p:bldP spid="1059873" grpId="0" animBg="1"/>
      <p:bldP spid="1059874" grpId="0" animBg="1"/>
      <p:bldP spid="1059875" grpId="0" animBg="1"/>
      <p:bldP spid="182296" grpId="0"/>
      <p:bldP spid="182298" grpId="0"/>
      <p:bldP spid="18229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ChangeArrowheads="1"/>
          </p:cNvSpPr>
          <p:nvPr/>
        </p:nvSpPr>
        <p:spPr bwMode="auto">
          <a:xfrm>
            <a:off x="1636713" y="476251"/>
            <a:ext cx="503555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</a:rPr>
              <a:t>4. Proof of the Newman’s formula</a:t>
            </a:r>
          </a:p>
        </p:txBody>
      </p:sp>
      <p:graphicFrame>
        <p:nvGraphicFramePr>
          <p:cNvPr id="183300" name="Object 4"/>
          <p:cNvGraphicFramePr>
            <a:graphicFrameLocks noChangeAspect="1"/>
          </p:cNvGraphicFramePr>
          <p:nvPr/>
        </p:nvGraphicFramePr>
        <p:xfrm>
          <a:off x="2686050" y="1679575"/>
          <a:ext cx="2632075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870400" imgH="10363200" progId="Equation.DSMT4">
                  <p:embed/>
                </p:oleObj>
              </mc:Choice>
              <mc:Fallback>
                <p:oleObj name="Equation" r:id="rId2" imgW="29870400" imgH="103632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6050" y="1679575"/>
                        <a:ext cx="2632075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228" name="Group 6"/>
          <p:cNvGrpSpPr/>
          <p:nvPr/>
        </p:nvGrpSpPr>
        <p:grpSpPr bwMode="auto">
          <a:xfrm>
            <a:off x="7177089" y="693738"/>
            <a:ext cx="3311525" cy="2374900"/>
            <a:chOff x="3561" y="346"/>
            <a:chExt cx="2086" cy="1496"/>
          </a:xfrm>
        </p:grpSpPr>
        <p:sp>
          <p:nvSpPr>
            <p:cNvPr id="52239" name="Rectangle 7"/>
            <p:cNvSpPr>
              <a:spLocks noChangeArrowheads="1"/>
            </p:cNvSpPr>
            <p:nvPr/>
          </p:nvSpPr>
          <p:spPr bwMode="auto">
            <a:xfrm>
              <a:off x="3561" y="346"/>
              <a:ext cx="2086" cy="1496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b="1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  <p:sp>
          <p:nvSpPr>
            <p:cNvPr id="52240" name="Freeform 8"/>
            <p:cNvSpPr/>
            <p:nvPr/>
          </p:nvSpPr>
          <p:spPr bwMode="auto">
            <a:xfrm rot="1251037">
              <a:off x="3833" y="477"/>
              <a:ext cx="501" cy="829"/>
            </a:xfrm>
            <a:custGeom>
              <a:avLst/>
              <a:gdLst>
                <a:gd name="T0" fmla="*/ 2 w 770"/>
                <a:gd name="T1" fmla="*/ 27 h 1274"/>
                <a:gd name="T2" fmla="*/ 7 w 770"/>
                <a:gd name="T3" fmla="*/ 4 h 1274"/>
                <a:gd name="T4" fmla="*/ 27 w 770"/>
                <a:gd name="T5" fmla="*/ 4 h 1274"/>
                <a:gd name="T6" fmla="*/ 38 w 770"/>
                <a:gd name="T7" fmla="*/ 27 h 1274"/>
                <a:gd name="T8" fmla="*/ 27 w 770"/>
                <a:gd name="T9" fmla="*/ 58 h 1274"/>
                <a:gd name="T10" fmla="*/ 12 w 770"/>
                <a:gd name="T11" fmla="*/ 58 h 1274"/>
                <a:gd name="T12" fmla="*/ 2 w 770"/>
                <a:gd name="T13" fmla="*/ 42 h 1274"/>
                <a:gd name="T14" fmla="*/ 2 w 770"/>
                <a:gd name="T15" fmla="*/ 27 h 12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70" h="1274">
                  <a:moveTo>
                    <a:pt x="35" y="546"/>
                  </a:moveTo>
                  <a:cubicBezTo>
                    <a:pt x="52" y="416"/>
                    <a:pt x="53" y="156"/>
                    <a:pt x="140" y="78"/>
                  </a:cubicBezTo>
                  <a:cubicBezTo>
                    <a:pt x="227" y="0"/>
                    <a:pt x="455" y="0"/>
                    <a:pt x="560" y="78"/>
                  </a:cubicBezTo>
                  <a:cubicBezTo>
                    <a:pt x="665" y="156"/>
                    <a:pt x="770" y="364"/>
                    <a:pt x="770" y="546"/>
                  </a:cubicBezTo>
                  <a:cubicBezTo>
                    <a:pt x="770" y="728"/>
                    <a:pt x="647" y="1066"/>
                    <a:pt x="560" y="1170"/>
                  </a:cubicBezTo>
                  <a:cubicBezTo>
                    <a:pt x="473" y="1274"/>
                    <a:pt x="333" y="1222"/>
                    <a:pt x="245" y="1170"/>
                  </a:cubicBezTo>
                  <a:cubicBezTo>
                    <a:pt x="157" y="1118"/>
                    <a:pt x="70" y="962"/>
                    <a:pt x="35" y="858"/>
                  </a:cubicBezTo>
                  <a:cubicBezTo>
                    <a:pt x="0" y="754"/>
                    <a:pt x="18" y="676"/>
                    <a:pt x="35" y="546"/>
                  </a:cubicBezTo>
                  <a:close/>
                </a:path>
              </a:pathLst>
            </a:custGeom>
            <a:noFill/>
            <a:ln w="317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41" name="Line 9"/>
            <p:cNvSpPr>
              <a:spLocks noChangeShapeType="1"/>
            </p:cNvSpPr>
            <p:nvPr/>
          </p:nvSpPr>
          <p:spPr bwMode="auto">
            <a:xfrm>
              <a:off x="4294" y="1018"/>
              <a:ext cx="590" cy="1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42" name="Line 10"/>
            <p:cNvSpPr>
              <a:spLocks noChangeShapeType="1"/>
            </p:cNvSpPr>
            <p:nvPr/>
          </p:nvSpPr>
          <p:spPr bwMode="auto">
            <a:xfrm rot="-3600000">
              <a:off x="4180" y="1006"/>
              <a:ext cx="23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43" name="Line 11"/>
            <p:cNvSpPr>
              <a:spLocks noChangeShapeType="1"/>
            </p:cNvSpPr>
            <p:nvPr/>
          </p:nvSpPr>
          <p:spPr bwMode="auto">
            <a:xfrm rot="7170631">
              <a:off x="3852" y="687"/>
              <a:ext cx="15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2244" name="Group 12"/>
            <p:cNvGrpSpPr/>
            <p:nvPr/>
          </p:nvGrpSpPr>
          <p:grpSpPr bwMode="auto">
            <a:xfrm rot="-1267637">
              <a:off x="4785" y="527"/>
              <a:ext cx="831" cy="642"/>
              <a:chOff x="4589" y="2341"/>
              <a:chExt cx="831" cy="642"/>
            </a:xfrm>
          </p:grpSpPr>
          <p:sp>
            <p:nvSpPr>
              <p:cNvPr id="52257" name="Freeform 13"/>
              <p:cNvSpPr/>
              <p:nvPr/>
            </p:nvSpPr>
            <p:spPr bwMode="auto">
              <a:xfrm>
                <a:off x="4589" y="2341"/>
                <a:ext cx="831" cy="642"/>
              </a:xfrm>
              <a:custGeom>
                <a:avLst/>
                <a:gdLst>
                  <a:gd name="T0" fmla="*/ 354 w 831"/>
                  <a:gd name="T1" fmla="*/ 606 h 642"/>
                  <a:gd name="T2" fmla="*/ 172 w 831"/>
                  <a:gd name="T3" fmla="*/ 637 h 642"/>
                  <a:gd name="T4" fmla="*/ 36 w 831"/>
                  <a:gd name="T5" fmla="*/ 571 h 642"/>
                  <a:gd name="T6" fmla="*/ 23 w 831"/>
                  <a:gd name="T7" fmla="*/ 275 h 642"/>
                  <a:gd name="T8" fmla="*/ 175 w 831"/>
                  <a:gd name="T9" fmla="*/ 75 h 642"/>
                  <a:gd name="T10" fmla="*/ 416 w 831"/>
                  <a:gd name="T11" fmla="*/ 3 h 642"/>
                  <a:gd name="T12" fmla="*/ 765 w 831"/>
                  <a:gd name="T13" fmla="*/ 93 h 642"/>
                  <a:gd name="T14" fmla="*/ 810 w 831"/>
                  <a:gd name="T15" fmla="*/ 352 h 642"/>
                  <a:gd name="T16" fmla="*/ 695 w 831"/>
                  <a:gd name="T17" fmla="*/ 435 h 642"/>
                  <a:gd name="T18" fmla="*/ 506 w 831"/>
                  <a:gd name="T19" fmla="*/ 521 h 642"/>
                  <a:gd name="T20" fmla="*/ 354 w 831"/>
                  <a:gd name="T21" fmla="*/ 606 h 64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831" h="642">
                    <a:moveTo>
                      <a:pt x="354" y="606"/>
                    </a:moveTo>
                    <a:cubicBezTo>
                      <a:pt x="299" y="626"/>
                      <a:pt x="225" y="642"/>
                      <a:pt x="172" y="637"/>
                    </a:cubicBezTo>
                    <a:cubicBezTo>
                      <a:pt x="120" y="631"/>
                      <a:pt x="61" y="631"/>
                      <a:pt x="36" y="571"/>
                    </a:cubicBezTo>
                    <a:cubicBezTo>
                      <a:pt x="11" y="511"/>
                      <a:pt x="0" y="358"/>
                      <a:pt x="23" y="275"/>
                    </a:cubicBezTo>
                    <a:cubicBezTo>
                      <a:pt x="46" y="192"/>
                      <a:pt x="109" y="120"/>
                      <a:pt x="175" y="75"/>
                    </a:cubicBezTo>
                    <a:cubicBezTo>
                      <a:pt x="241" y="30"/>
                      <a:pt x="318" y="0"/>
                      <a:pt x="416" y="3"/>
                    </a:cubicBezTo>
                    <a:cubicBezTo>
                      <a:pt x="514" y="6"/>
                      <a:pt x="699" y="34"/>
                      <a:pt x="765" y="93"/>
                    </a:cubicBezTo>
                    <a:cubicBezTo>
                      <a:pt x="831" y="151"/>
                      <a:pt x="822" y="295"/>
                      <a:pt x="810" y="352"/>
                    </a:cubicBezTo>
                    <a:cubicBezTo>
                      <a:pt x="798" y="409"/>
                      <a:pt x="745" y="407"/>
                      <a:pt x="695" y="435"/>
                    </a:cubicBezTo>
                    <a:cubicBezTo>
                      <a:pt x="645" y="463"/>
                      <a:pt x="563" y="493"/>
                      <a:pt x="506" y="521"/>
                    </a:cubicBezTo>
                    <a:cubicBezTo>
                      <a:pt x="449" y="549"/>
                      <a:pt x="410" y="587"/>
                      <a:pt x="354" y="606"/>
                    </a:cubicBez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58" name="Line 14"/>
              <p:cNvSpPr>
                <a:spLocks noChangeShapeType="1"/>
              </p:cNvSpPr>
              <p:nvPr/>
            </p:nvSpPr>
            <p:spPr bwMode="auto">
              <a:xfrm rot="19980000" flipH="1">
                <a:off x="5045" y="2837"/>
                <a:ext cx="206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59" name="Line 15"/>
              <p:cNvSpPr>
                <a:spLocks noChangeShapeType="1"/>
              </p:cNvSpPr>
              <p:nvPr/>
            </p:nvSpPr>
            <p:spPr bwMode="auto">
              <a:xfrm rot="15780000" flipV="1">
                <a:off x="4495" y="2807"/>
                <a:ext cx="227" cy="12"/>
              </a:xfrm>
              <a:prstGeom prst="line">
                <a:avLst/>
              </a:prstGeom>
              <a:noFill/>
              <a:ln w="28575">
                <a:solidFill>
                  <a:srgbClr val="FF00FF"/>
                </a:solidFill>
                <a:rou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2245" name="Line 16"/>
            <p:cNvSpPr>
              <a:spLocks noChangeShapeType="1"/>
            </p:cNvSpPr>
            <p:nvPr/>
          </p:nvSpPr>
          <p:spPr bwMode="auto">
            <a:xfrm flipV="1">
              <a:off x="4241" y="1162"/>
              <a:ext cx="635" cy="45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46" name="Line 17"/>
            <p:cNvSpPr>
              <a:spLocks noChangeShapeType="1"/>
            </p:cNvSpPr>
            <p:nvPr/>
          </p:nvSpPr>
          <p:spPr bwMode="auto">
            <a:xfrm flipV="1">
              <a:off x="4241" y="1026"/>
              <a:ext cx="45" cy="59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47" name="Rectangle 18"/>
            <p:cNvSpPr>
              <a:spLocks noChangeArrowheads="1"/>
            </p:cNvSpPr>
            <p:nvPr/>
          </p:nvSpPr>
          <p:spPr bwMode="auto">
            <a:xfrm>
              <a:off x="4281" y="468"/>
              <a:ext cx="27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 i="1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kumimoji="1" lang="en-US" altLang="zh-CN" sz="2000" b="1" baseline="-2500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kumimoji="1"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2248" name="Rectangle 19"/>
            <p:cNvSpPr>
              <a:spLocks noChangeArrowheads="1"/>
            </p:cNvSpPr>
            <p:nvPr/>
          </p:nvSpPr>
          <p:spPr bwMode="auto">
            <a:xfrm>
              <a:off x="4740" y="391"/>
              <a:ext cx="27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 i="1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r>
                <a:rPr kumimoji="1" lang="en-US" altLang="zh-CN" sz="2000" b="1" baseline="-2500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endParaRPr kumimoji="1"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2249" name="Rectangle 20"/>
            <p:cNvSpPr>
              <a:spLocks noChangeArrowheads="1"/>
            </p:cNvSpPr>
            <p:nvPr/>
          </p:nvSpPr>
          <p:spPr bwMode="auto">
            <a:xfrm>
              <a:off x="3652" y="527"/>
              <a:ext cx="23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 i="1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kumimoji="1" lang="en-US" altLang="zh-CN" sz="2000" b="1" baseline="-2500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kumimoji="1"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2250" name="Rectangle 21"/>
            <p:cNvSpPr>
              <a:spLocks noChangeArrowheads="1"/>
            </p:cNvSpPr>
            <p:nvPr/>
          </p:nvSpPr>
          <p:spPr bwMode="auto">
            <a:xfrm>
              <a:off x="5330" y="936"/>
              <a:ext cx="23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 i="1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r>
                <a:rPr kumimoji="1" lang="en-US" altLang="zh-CN" sz="2000" b="1" baseline="-25000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endParaRPr kumimoji="1"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2251" name="Rectangle 22"/>
            <p:cNvSpPr>
              <a:spLocks noChangeArrowheads="1"/>
            </p:cNvSpPr>
            <p:nvPr/>
          </p:nvSpPr>
          <p:spPr bwMode="auto">
            <a:xfrm>
              <a:off x="4423" y="1048"/>
              <a:ext cx="22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 i="1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R</a:t>
              </a:r>
              <a:endParaRPr kumimoji="1"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2252" name="Rectangle 23"/>
            <p:cNvSpPr>
              <a:spLocks noChangeArrowheads="1"/>
            </p:cNvSpPr>
            <p:nvPr/>
          </p:nvSpPr>
          <p:spPr bwMode="auto">
            <a:xfrm>
              <a:off x="4060" y="1547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 i="1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o</a:t>
              </a:r>
              <a:endParaRPr kumimoji="1"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52253" name="Object 24"/>
            <p:cNvGraphicFramePr>
              <a:graphicFrameLocks noChangeAspect="1"/>
            </p:cNvGraphicFramePr>
            <p:nvPr/>
          </p:nvGraphicFramePr>
          <p:xfrm>
            <a:off x="4339" y="794"/>
            <a:ext cx="247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77800" imgH="254000" progId="Equation.DSMT4">
                    <p:embed/>
                  </p:oleObj>
                </mc:Choice>
                <mc:Fallback>
                  <p:oleObj name="Equation" r:id="rId4" imgW="177800" imgH="254000" progId="Equation.DSMT4">
                    <p:embed/>
                    <p:pic>
                      <p:nvPicPr>
                        <p:cNvPr id="0" name="图片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9" y="794"/>
                          <a:ext cx="247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254" name="Object 25"/>
            <p:cNvGraphicFramePr>
              <a:graphicFrameLocks noChangeAspect="1"/>
            </p:cNvGraphicFramePr>
            <p:nvPr/>
          </p:nvGraphicFramePr>
          <p:xfrm>
            <a:off x="4869" y="936"/>
            <a:ext cx="262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03200" imgH="254000" progId="Equation.DSMT4">
                    <p:embed/>
                  </p:oleObj>
                </mc:Choice>
                <mc:Fallback>
                  <p:oleObj name="Equation" r:id="rId6" imgW="203200" imgH="254000" progId="Equation.DSMT4">
                    <p:embed/>
                    <p:pic>
                      <p:nvPicPr>
                        <p:cNvPr id="0" name="图片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69" y="936"/>
                          <a:ext cx="262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255" name="Object 26"/>
            <p:cNvGraphicFramePr>
              <a:graphicFrameLocks noChangeAspect="1"/>
            </p:cNvGraphicFramePr>
            <p:nvPr/>
          </p:nvGraphicFramePr>
          <p:xfrm>
            <a:off x="4559" y="1298"/>
            <a:ext cx="216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01600" imgH="215900" progId="Equation.DSMT4">
                    <p:embed/>
                  </p:oleObj>
                </mc:Choice>
                <mc:Fallback>
                  <p:oleObj name="Equation" r:id="rId8" imgW="101600" imgH="215900" progId="Equation.DSMT4">
                    <p:embed/>
                    <p:pic>
                      <p:nvPicPr>
                        <p:cNvPr id="0" name="图片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9" y="1298"/>
                          <a:ext cx="216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256" name="Object 27"/>
            <p:cNvGraphicFramePr>
              <a:graphicFrameLocks noChangeAspect="1"/>
            </p:cNvGraphicFramePr>
            <p:nvPr/>
          </p:nvGraphicFramePr>
          <p:xfrm>
            <a:off x="4099" y="1208"/>
            <a:ext cx="196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76200" imgH="215900" progId="Equation.DSMT4">
                    <p:embed/>
                  </p:oleObj>
                </mc:Choice>
                <mc:Fallback>
                  <p:oleObj name="Equation" r:id="rId10" imgW="76200" imgH="215900" progId="Equation.DSMT4">
                    <p:embed/>
                    <p:pic>
                      <p:nvPicPr>
                        <p:cNvPr id="0" name="图片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99" y="1208"/>
                          <a:ext cx="196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2229" name="Rectangle 29"/>
          <p:cNvSpPr>
            <a:spLocks noChangeArrowheads="1"/>
          </p:cNvSpPr>
          <p:nvPr/>
        </p:nvSpPr>
        <p:spPr bwMode="auto">
          <a:xfrm>
            <a:off x="8183564" y="3429001"/>
            <a:ext cx="1694727" cy="1052596"/>
          </a:xfrm>
          <a:prstGeom prst="rect">
            <a:avLst/>
          </a:prstGeom>
          <a:solidFill>
            <a:srgbClr val="CCFFFF"/>
          </a:solidFill>
          <a:ln w="25400">
            <a:solidFill>
              <a:srgbClr val="9933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Newman’s formula</a:t>
            </a:r>
          </a:p>
        </p:txBody>
      </p:sp>
      <p:graphicFrame>
        <p:nvGraphicFramePr>
          <p:cNvPr id="183324" name="Object 32"/>
          <p:cNvGraphicFramePr>
            <a:graphicFrameLocks noChangeAspect="1"/>
          </p:cNvGraphicFramePr>
          <p:nvPr/>
        </p:nvGraphicFramePr>
        <p:xfrm>
          <a:off x="2760663" y="1019175"/>
          <a:ext cx="2195512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4688800" imgH="7924800" progId="Equation.DSMT4">
                  <p:embed/>
                </p:oleObj>
              </mc:Choice>
              <mc:Fallback>
                <p:oleObj name="Equation" r:id="rId12" imgW="24688800" imgH="7924800" progId="Equation.DSMT4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0663" y="1019175"/>
                        <a:ext cx="2195512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1922" name="Rectangle 34"/>
          <p:cNvSpPr>
            <a:spLocks noChangeArrowheads="1"/>
          </p:cNvSpPr>
          <p:nvPr/>
        </p:nvSpPr>
        <p:spPr bwMode="auto">
          <a:xfrm>
            <a:off x="1630364" y="4662207"/>
            <a:ext cx="1296987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So</a:t>
            </a:r>
            <a:r>
              <a:rPr kumimoji="1" lang="zh-CN" altLang="en-US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</a:p>
        </p:txBody>
      </p:sp>
      <p:graphicFrame>
        <p:nvGraphicFramePr>
          <p:cNvPr id="183326" name="Object 35"/>
          <p:cNvGraphicFramePr>
            <a:graphicFrameLocks noChangeAspect="1"/>
          </p:cNvGraphicFramePr>
          <p:nvPr/>
        </p:nvGraphicFramePr>
        <p:xfrm>
          <a:off x="2570833" y="4619418"/>
          <a:ext cx="3944937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5720000" imgH="11277600" progId="Equation.DSMT4">
                  <p:embed/>
                </p:oleObj>
              </mc:Choice>
              <mc:Fallback>
                <p:oleObj name="Equation" r:id="rId14" imgW="45720000" imgH="11277600" progId="Equation.DSMT4">
                  <p:embed/>
                  <p:pic>
                    <p:nvPicPr>
                      <p:cNvPr id="0" name="图片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0833" y="4619418"/>
                        <a:ext cx="3944937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1925" name="Rectangle 37"/>
          <p:cNvSpPr>
            <a:spLocks noChangeArrowheads="1"/>
          </p:cNvSpPr>
          <p:nvPr/>
        </p:nvSpPr>
        <p:spPr bwMode="auto">
          <a:xfrm>
            <a:off x="1666875" y="5814732"/>
            <a:ext cx="1836738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Similarly</a:t>
            </a:r>
            <a:r>
              <a:rPr kumimoji="1" lang="zh-CN" altLang="en-US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</a:p>
        </p:txBody>
      </p:sp>
      <p:graphicFrame>
        <p:nvGraphicFramePr>
          <p:cNvPr id="183328" name="Object 38"/>
          <p:cNvGraphicFramePr>
            <a:graphicFrameLocks noChangeAspect="1"/>
          </p:cNvGraphicFramePr>
          <p:nvPr/>
        </p:nvGraphicFramePr>
        <p:xfrm>
          <a:off x="3003550" y="5579782"/>
          <a:ext cx="3867150" cy="1030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4805600" imgH="10363200" progId="Equation.DSMT4">
                  <p:embed/>
                </p:oleObj>
              </mc:Choice>
              <mc:Fallback>
                <p:oleObj name="Equation" r:id="rId16" imgW="44805600" imgH="10363200" progId="Equation.DSMT4">
                  <p:embed/>
                  <p:pic>
                    <p:nvPicPr>
                      <p:cNvPr id="0" name="图片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3550" y="5579782"/>
                        <a:ext cx="3867150" cy="1030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5" name="Object 43"/>
          <p:cNvGraphicFramePr>
            <a:graphicFrameLocks noChangeAspect="1"/>
          </p:cNvGraphicFramePr>
          <p:nvPr/>
        </p:nvGraphicFramePr>
        <p:xfrm>
          <a:off x="7319963" y="5359119"/>
          <a:ext cx="3046412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3832800" imgH="10363200" progId="Equation.DSMT4">
                  <p:embed/>
                </p:oleObj>
              </mc:Choice>
              <mc:Fallback>
                <p:oleObj name="Equation" r:id="rId18" imgW="33832800" imgH="10363200" progId="Equation.DSMT4">
                  <p:embed/>
                  <p:pic>
                    <p:nvPicPr>
                      <p:cNvPr id="0" name="图片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9963" y="5359119"/>
                        <a:ext cx="3046412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30" name="Object 44"/>
          <p:cNvGraphicFramePr>
            <a:graphicFrameLocks noGrp="1" noChangeAspect="1"/>
          </p:cNvGraphicFramePr>
          <p:nvPr>
            <p:ph idx="4294967295"/>
          </p:nvPr>
        </p:nvGraphicFramePr>
        <p:xfrm>
          <a:off x="2069412" y="3423956"/>
          <a:ext cx="5736751" cy="1065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55778400" imgH="10363200" progId="Equation.DSMT4">
                  <p:embed/>
                </p:oleObj>
              </mc:Choice>
              <mc:Fallback>
                <p:oleObj name="Equation" r:id="rId20" imgW="55778400" imgH="10363200" progId="Equation.DSMT4">
                  <p:embed/>
                  <p:pic>
                    <p:nvPicPr>
                      <p:cNvPr id="0" name="图片 1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9412" y="3423956"/>
                        <a:ext cx="5736751" cy="10656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1934" name="Rectangle 46"/>
          <p:cNvSpPr>
            <a:spLocks noChangeArrowheads="1"/>
          </p:cNvSpPr>
          <p:nvPr/>
        </p:nvSpPr>
        <p:spPr bwMode="auto">
          <a:xfrm>
            <a:off x="1919288" y="1916113"/>
            <a:ext cx="1008062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And</a:t>
            </a:r>
            <a:r>
              <a:rPr kumimoji="1" lang="zh-CN" altLang="en-US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</a:p>
        </p:txBody>
      </p:sp>
      <p:sp>
        <p:nvSpPr>
          <p:cNvPr id="1061935" name="Rectangle 47"/>
          <p:cNvSpPr>
            <a:spLocks noChangeArrowheads="1"/>
          </p:cNvSpPr>
          <p:nvPr/>
        </p:nvSpPr>
        <p:spPr bwMode="auto">
          <a:xfrm>
            <a:off x="1919288" y="2852738"/>
            <a:ext cx="97155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Then</a:t>
            </a:r>
            <a:r>
              <a:rPr kumimoji="1" lang="zh-CN" altLang="en-US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3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3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61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61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83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61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83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061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83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1922" grpId="0"/>
      <p:bldP spid="1061925" grpId="0"/>
      <p:bldP spid="1061934" grpId="0"/>
      <p:bldP spid="106193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5" name="Text Box 2"/>
          <p:cNvSpPr txBox="1">
            <a:spLocks noChangeArrowheads="1"/>
          </p:cNvSpPr>
          <p:nvPr/>
        </p:nvSpPr>
        <p:spPr bwMode="auto">
          <a:xfrm>
            <a:off x="1774826" y="1341438"/>
            <a:ext cx="540067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Solution</a:t>
            </a:r>
            <a:r>
              <a:rPr kumimoji="1"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kumimoji="1"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find the internal self-inductance first</a:t>
            </a:r>
          </a:p>
        </p:txBody>
      </p:sp>
      <p:graphicFrame>
        <p:nvGraphicFramePr>
          <p:cNvPr id="192516" name="Object 4"/>
          <p:cNvGraphicFramePr>
            <a:graphicFrameLocks noChangeAspect="1"/>
          </p:cNvGraphicFramePr>
          <p:nvPr/>
        </p:nvGraphicFramePr>
        <p:xfrm>
          <a:off x="2065338" y="2838450"/>
          <a:ext cx="3659187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9928800" imgH="9448800" progId="Equation.DSMT4">
                  <p:embed/>
                </p:oleObj>
              </mc:Choice>
              <mc:Fallback>
                <p:oleObj name="Equation" r:id="rId2" imgW="39928800" imgH="94488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5338" y="2838450"/>
                        <a:ext cx="3659187" cy="963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2517" name="Text Box 5"/>
          <p:cNvSpPr txBox="1">
            <a:spLocks noChangeArrowheads="1"/>
          </p:cNvSpPr>
          <p:nvPr/>
        </p:nvSpPr>
        <p:spPr bwMode="auto">
          <a:xfrm>
            <a:off x="1919289" y="3933825"/>
            <a:ext cx="496887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Magnetic Flux for surface element at 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</a:t>
            </a:r>
          </a:p>
        </p:txBody>
      </p:sp>
      <p:graphicFrame>
        <p:nvGraphicFramePr>
          <p:cNvPr id="192518" name="Object 6"/>
          <p:cNvGraphicFramePr>
            <a:graphicFrameLocks noChangeAspect="1"/>
          </p:cNvGraphicFramePr>
          <p:nvPr/>
        </p:nvGraphicFramePr>
        <p:xfrm>
          <a:off x="2574925" y="4352925"/>
          <a:ext cx="3402013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014400" imgH="9448800" progId="Equation.DSMT4">
                  <p:embed/>
                </p:oleObj>
              </mc:Choice>
              <mc:Fallback>
                <p:oleObj name="Equation" r:id="rId4" imgW="39014400" imgH="94488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4925" y="4352925"/>
                        <a:ext cx="3402013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19" name="Object 7"/>
          <p:cNvGraphicFramePr>
            <a:graphicFrameLocks noChangeAspect="1"/>
          </p:cNvGraphicFramePr>
          <p:nvPr/>
        </p:nvGraphicFramePr>
        <p:xfrm>
          <a:off x="5880101" y="3141663"/>
          <a:ext cx="1311275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63600" imgH="177800" progId="Equation.DSMT4">
                  <p:embed/>
                </p:oleObj>
              </mc:Choice>
              <mc:Fallback>
                <p:oleObj name="Equation" r:id="rId6" imgW="863600" imgH="1778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0101" y="3141663"/>
                        <a:ext cx="1311275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5" name="Text Box 8"/>
          <p:cNvSpPr txBox="1">
            <a:spLocks noChangeArrowheads="1"/>
          </p:cNvSpPr>
          <p:nvPr/>
        </p:nvSpPr>
        <p:spPr bwMode="auto">
          <a:xfrm>
            <a:off x="1774825" y="476250"/>
            <a:ext cx="7164388" cy="572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Ex.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Find the slef-inductance for coaxial line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  <p:sp>
        <p:nvSpPr>
          <p:cNvPr id="809993" name="Text Box 9"/>
          <p:cNvSpPr txBox="1">
            <a:spLocks noChangeArrowheads="1"/>
          </p:cNvSpPr>
          <p:nvPr/>
        </p:nvSpPr>
        <p:spPr bwMode="auto">
          <a:xfrm>
            <a:off x="1524000" y="2997200"/>
            <a:ext cx="165735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so</a:t>
            </a:r>
            <a:endParaRPr kumimoji="1" lang="en-US" altLang="zh-CN" sz="2000" b="1">
              <a:solidFill>
                <a:srgbClr val="00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809996" name="Text Box 12"/>
          <p:cNvSpPr txBox="1">
            <a:spLocks noChangeArrowheads="1"/>
          </p:cNvSpPr>
          <p:nvPr/>
        </p:nvSpPr>
        <p:spPr bwMode="auto">
          <a:xfrm>
            <a:off x="1703389" y="5445125"/>
            <a:ext cx="1800225" cy="572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Flux linkage:</a:t>
            </a:r>
          </a:p>
        </p:txBody>
      </p:sp>
      <p:graphicFrame>
        <p:nvGraphicFramePr>
          <p:cNvPr id="192523" name="Object 13"/>
          <p:cNvGraphicFramePr>
            <a:graphicFrameLocks noChangeAspect="1"/>
          </p:cNvGraphicFramePr>
          <p:nvPr/>
        </p:nvGraphicFramePr>
        <p:xfrm>
          <a:off x="3649663" y="5294313"/>
          <a:ext cx="3435350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19200" imgH="10058400" progId="Equation.DSMT4">
                  <p:embed/>
                </p:oleObj>
              </mc:Choice>
              <mc:Fallback>
                <p:oleObj name="Equation" r:id="rId8" imgW="39319200" imgH="100584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9663" y="5294313"/>
                        <a:ext cx="3435350" cy="99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259" name="Group 14"/>
          <p:cNvGrpSpPr/>
          <p:nvPr/>
        </p:nvGrpSpPr>
        <p:grpSpPr bwMode="auto">
          <a:xfrm>
            <a:off x="7535864" y="981076"/>
            <a:ext cx="3024187" cy="2519363"/>
            <a:chOff x="3742" y="618"/>
            <a:chExt cx="1905" cy="1587"/>
          </a:xfrm>
        </p:grpSpPr>
        <p:sp>
          <p:nvSpPr>
            <p:cNvPr id="53285" name="Rectangle 15"/>
            <p:cNvSpPr>
              <a:spLocks noChangeArrowheads="1"/>
            </p:cNvSpPr>
            <p:nvPr/>
          </p:nvSpPr>
          <p:spPr bwMode="auto">
            <a:xfrm>
              <a:off x="3742" y="618"/>
              <a:ext cx="1905" cy="1587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  <p:grpSp>
          <p:nvGrpSpPr>
            <p:cNvPr id="53286" name="Group 16"/>
            <p:cNvGrpSpPr/>
            <p:nvPr/>
          </p:nvGrpSpPr>
          <p:grpSpPr bwMode="auto">
            <a:xfrm>
              <a:off x="3878" y="1071"/>
              <a:ext cx="954" cy="953"/>
              <a:chOff x="3921" y="2522"/>
              <a:chExt cx="954" cy="953"/>
            </a:xfrm>
          </p:grpSpPr>
          <p:sp>
            <p:nvSpPr>
              <p:cNvPr id="53292" name="Oval 17"/>
              <p:cNvSpPr>
                <a:spLocks noChangeArrowheads="1"/>
              </p:cNvSpPr>
              <p:nvPr/>
            </p:nvSpPr>
            <p:spPr bwMode="auto">
              <a:xfrm>
                <a:off x="3923" y="2522"/>
                <a:ext cx="952" cy="953"/>
              </a:xfrm>
              <a:prstGeom prst="ellipse">
                <a:avLst/>
              </a:prstGeom>
              <a:solidFill>
                <a:srgbClr val="C2C2C2"/>
              </a:solidFill>
              <a:ln w="9525">
                <a:round/>
              </a:ln>
              <a:effectLst/>
              <a:scene3d>
                <a:camera prst="legacyPerspectiveTopRight">
                  <a:rot lat="600000" lon="1500000" rev="0"/>
                </a:camera>
                <a:lightRig rig="legacyFlat4" dir="b"/>
              </a:scene3d>
              <a:sp3d extrusionH="2767000" prstMaterial="legacyMatte">
                <a:bevelT w="13500" h="13500" prst="angle"/>
                <a:bevelB w="13500" h="13500" prst="angle"/>
                <a:extrusionClr>
                  <a:srgbClr val="C2C2C2"/>
                </a:extrusionClr>
                <a:contourClr>
                  <a:srgbClr val="C2C2C2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zh-CN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endParaRPr>
              </a:p>
            </p:txBody>
          </p:sp>
          <p:sp>
            <p:nvSpPr>
              <p:cNvPr id="53293" name="Oval 18"/>
              <p:cNvSpPr>
                <a:spLocks noChangeArrowheads="1"/>
              </p:cNvSpPr>
              <p:nvPr/>
            </p:nvSpPr>
            <p:spPr bwMode="auto">
              <a:xfrm>
                <a:off x="3921" y="2522"/>
                <a:ext cx="952" cy="952"/>
              </a:xfrm>
              <a:prstGeom prst="ellipse">
                <a:avLst/>
              </a:prstGeom>
              <a:solidFill>
                <a:srgbClr val="E4E4E4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zh-CN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endParaRPr>
              </a:p>
            </p:txBody>
          </p:sp>
          <p:sp>
            <p:nvSpPr>
              <p:cNvPr id="53294" name="Oval 19"/>
              <p:cNvSpPr>
                <a:spLocks noChangeAspect="1" noChangeArrowheads="1"/>
              </p:cNvSpPr>
              <p:nvPr/>
            </p:nvSpPr>
            <p:spPr bwMode="auto">
              <a:xfrm>
                <a:off x="3947" y="2547"/>
                <a:ext cx="907" cy="907"/>
              </a:xfrm>
              <a:prstGeom prst="ellipse">
                <a:avLst/>
              </a:prstGeom>
              <a:gradFill rotWithShape="1">
                <a:gsLst>
                  <a:gs pos="0">
                    <a:srgbClr val="4A4A4A"/>
                  </a:gs>
                  <a:gs pos="100000">
                    <a:srgbClr val="CDCDCD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zh-CN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endParaRPr>
              </a:p>
            </p:txBody>
          </p:sp>
          <p:sp>
            <p:nvSpPr>
              <p:cNvPr id="53295" name="Oval 20"/>
              <p:cNvSpPr>
                <a:spLocks noChangeAspect="1" noChangeArrowheads="1"/>
              </p:cNvSpPr>
              <p:nvPr/>
            </p:nvSpPr>
            <p:spPr bwMode="auto">
              <a:xfrm>
                <a:off x="4164" y="2750"/>
                <a:ext cx="485" cy="485"/>
              </a:xfrm>
              <a:prstGeom prst="ellipse">
                <a:avLst/>
              </a:prstGeom>
              <a:solidFill>
                <a:srgbClr val="A3A3A3"/>
              </a:solidFill>
              <a:ln w="9525">
                <a:round/>
              </a:ln>
              <a:effectLst/>
              <a:scene3d>
                <a:camera prst="legacyPerspectiveTopRight">
                  <a:rot lat="600000" lon="1500000" rev="0"/>
                </a:camera>
                <a:lightRig rig="legacyFlat4" dir="b"/>
              </a:scene3d>
              <a:sp3d extrusionH="709600" prstMaterial="legacyMatte">
                <a:bevelT w="13500" h="13500" prst="angle"/>
                <a:bevelB w="13500" h="13500" prst="angle"/>
                <a:extrusionClr>
                  <a:srgbClr val="A3A3A3"/>
                </a:extrusionClr>
                <a:contourClr>
                  <a:srgbClr val="A3A3A3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zh-CN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endParaRPr>
              </a:p>
            </p:txBody>
          </p:sp>
          <p:sp>
            <p:nvSpPr>
              <p:cNvPr id="53296" name="Oval 21"/>
              <p:cNvSpPr>
                <a:spLocks noChangeArrowheads="1"/>
              </p:cNvSpPr>
              <p:nvPr/>
            </p:nvSpPr>
            <p:spPr bwMode="auto">
              <a:xfrm>
                <a:off x="4166" y="2758"/>
                <a:ext cx="462" cy="476"/>
              </a:xfrm>
              <a:prstGeom prst="ellipse">
                <a:avLst/>
              </a:prstGeom>
              <a:solidFill>
                <a:srgbClr val="C7C7C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zh-CN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endParaRPr>
              </a:p>
            </p:txBody>
          </p:sp>
          <p:sp>
            <p:nvSpPr>
              <p:cNvPr id="53297" name="Oval 22"/>
              <p:cNvSpPr>
                <a:spLocks noChangeAspect="1" noChangeArrowheads="1"/>
              </p:cNvSpPr>
              <p:nvPr/>
            </p:nvSpPr>
            <p:spPr bwMode="auto">
              <a:xfrm>
                <a:off x="3939" y="2539"/>
                <a:ext cx="929" cy="928"/>
              </a:xfrm>
              <a:prstGeom prst="ellipse">
                <a:avLst/>
              </a:prstGeom>
              <a:noFill/>
              <a:ln w="50800">
                <a:solidFill>
                  <a:srgbClr val="B2B2B2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zh-CN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endParaRPr>
              </a:p>
            </p:txBody>
          </p:sp>
        </p:grpSp>
        <p:sp>
          <p:nvSpPr>
            <p:cNvPr id="53287" name="Freeform 23"/>
            <p:cNvSpPr/>
            <p:nvPr/>
          </p:nvSpPr>
          <p:spPr bwMode="auto">
            <a:xfrm>
              <a:off x="5155" y="653"/>
              <a:ext cx="432" cy="658"/>
            </a:xfrm>
            <a:custGeom>
              <a:avLst/>
              <a:gdLst>
                <a:gd name="T0" fmla="*/ 0 w 432"/>
                <a:gd name="T1" fmla="*/ 32 h 658"/>
                <a:gd name="T2" fmla="*/ 24 w 432"/>
                <a:gd name="T3" fmla="*/ 48 h 658"/>
                <a:gd name="T4" fmla="*/ 40 w 432"/>
                <a:gd name="T5" fmla="*/ 72 h 658"/>
                <a:gd name="T6" fmla="*/ 104 w 432"/>
                <a:gd name="T7" fmla="*/ 88 h 658"/>
                <a:gd name="T8" fmla="*/ 152 w 432"/>
                <a:gd name="T9" fmla="*/ 160 h 658"/>
                <a:gd name="T10" fmla="*/ 184 w 432"/>
                <a:gd name="T11" fmla="*/ 264 h 658"/>
                <a:gd name="T12" fmla="*/ 208 w 432"/>
                <a:gd name="T13" fmla="*/ 320 h 658"/>
                <a:gd name="T14" fmla="*/ 232 w 432"/>
                <a:gd name="T15" fmla="*/ 328 h 658"/>
                <a:gd name="T16" fmla="*/ 272 w 432"/>
                <a:gd name="T17" fmla="*/ 384 h 658"/>
                <a:gd name="T18" fmla="*/ 304 w 432"/>
                <a:gd name="T19" fmla="*/ 496 h 658"/>
                <a:gd name="T20" fmla="*/ 336 w 432"/>
                <a:gd name="T21" fmla="*/ 600 h 658"/>
                <a:gd name="T22" fmla="*/ 344 w 432"/>
                <a:gd name="T23" fmla="*/ 648 h 658"/>
                <a:gd name="T24" fmla="*/ 368 w 432"/>
                <a:gd name="T25" fmla="*/ 656 h 658"/>
                <a:gd name="T26" fmla="*/ 416 w 432"/>
                <a:gd name="T27" fmla="*/ 600 h 658"/>
                <a:gd name="T28" fmla="*/ 432 w 432"/>
                <a:gd name="T29" fmla="*/ 552 h 658"/>
                <a:gd name="T30" fmla="*/ 424 w 432"/>
                <a:gd name="T31" fmla="*/ 432 h 658"/>
                <a:gd name="T32" fmla="*/ 288 w 432"/>
                <a:gd name="T33" fmla="*/ 96 h 658"/>
                <a:gd name="T34" fmla="*/ 176 w 432"/>
                <a:gd name="T35" fmla="*/ 24 h 658"/>
                <a:gd name="T36" fmla="*/ 128 w 432"/>
                <a:gd name="T37" fmla="*/ 8 h 658"/>
                <a:gd name="T38" fmla="*/ 104 w 432"/>
                <a:gd name="T39" fmla="*/ 0 h 658"/>
                <a:gd name="T40" fmla="*/ 0 w 432"/>
                <a:gd name="T41" fmla="*/ 32 h 65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432" h="658">
                  <a:moveTo>
                    <a:pt x="0" y="32"/>
                  </a:moveTo>
                  <a:cubicBezTo>
                    <a:pt x="8" y="37"/>
                    <a:pt x="17" y="41"/>
                    <a:pt x="24" y="48"/>
                  </a:cubicBezTo>
                  <a:cubicBezTo>
                    <a:pt x="31" y="55"/>
                    <a:pt x="32" y="66"/>
                    <a:pt x="40" y="72"/>
                  </a:cubicBezTo>
                  <a:cubicBezTo>
                    <a:pt x="48" y="79"/>
                    <a:pt x="102" y="88"/>
                    <a:pt x="104" y="88"/>
                  </a:cubicBezTo>
                  <a:cubicBezTo>
                    <a:pt x="123" y="116"/>
                    <a:pt x="128" y="136"/>
                    <a:pt x="152" y="160"/>
                  </a:cubicBezTo>
                  <a:cubicBezTo>
                    <a:pt x="163" y="194"/>
                    <a:pt x="175" y="230"/>
                    <a:pt x="184" y="264"/>
                  </a:cubicBezTo>
                  <a:cubicBezTo>
                    <a:pt x="189" y="283"/>
                    <a:pt x="191" y="306"/>
                    <a:pt x="208" y="320"/>
                  </a:cubicBezTo>
                  <a:cubicBezTo>
                    <a:pt x="215" y="325"/>
                    <a:pt x="224" y="325"/>
                    <a:pt x="232" y="328"/>
                  </a:cubicBezTo>
                  <a:cubicBezTo>
                    <a:pt x="246" y="346"/>
                    <a:pt x="268" y="362"/>
                    <a:pt x="272" y="384"/>
                  </a:cubicBezTo>
                  <a:cubicBezTo>
                    <a:pt x="295" y="499"/>
                    <a:pt x="249" y="459"/>
                    <a:pt x="304" y="496"/>
                  </a:cubicBezTo>
                  <a:cubicBezTo>
                    <a:pt x="315" y="530"/>
                    <a:pt x="329" y="565"/>
                    <a:pt x="336" y="600"/>
                  </a:cubicBezTo>
                  <a:cubicBezTo>
                    <a:pt x="339" y="616"/>
                    <a:pt x="336" y="634"/>
                    <a:pt x="344" y="648"/>
                  </a:cubicBezTo>
                  <a:cubicBezTo>
                    <a:pt x="348" y="655"/>
                    <a:pt x="360" y="653"/>
                    <a:pt x="368" y="656"/>
                  </a:cubicBezTo>
                  <a:cubicBezTo>
                    <a:pt x="416" y="644"/>
                    <a:pt x="397" y="658"/>
                    <a:pt x="416" y="600"/>
                  </a:cubicBezTo>
                  <a:cubicBezTo>
                    <a:pt x="421" y="584"/>
                    <a:pt x="432" y="552"/>
                    <a:pt x="432" y="552"/>
                  </a:cubicBezTo>
                  <a:cubicBezTo>
                    <a:pt x="429" y="512"/>
                    <a:pt x="427" y="472"/>
                    <a:pt x="424" y="432"/>
                  </a:cubicBezTo>
                  <a:cubicBezTo>
                    <a:pt x="417" y="320"/>
                    <a:pt x="421" y="140"/>
                    <a:pt x="288" y="96"/>
                  </a:cubicBezTo>
                  <a:cubicBezTo>
                    <a:pt x="267" y="64"/>
                    <a:pt x="212" y="40"/>
                    <a:pt x="176" y="24"/>
                  </a:cubicBezTo>
                  <a:cubicBezTo>
                    <a:pt x="161" y="17"/>
                    <a:pt x="144" y="13"/>
                    <a:pt x="128" y="8"/>
                  </a:cubicBezTo>
                  <a:cubicBezTo>
                    <a:pt x="120" y="5"/>
                    <a:pt x="104" y="0"/>
                    <a:pt x="104" y="0"/>
                  </a:cubicBezTo>
                  <a:cubicBezTo>
                    <a:pt x="76" y="9"/>
                    <a:pt x="32" y="32"/>
                    <a:pt x="0" y="32"/>
                  </a:cubicBez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88" name="Line 24"/>
            <p:cNvSpPr>
              <a:spLocks noChangeShapeType="1"/>
            </p:cNvSpPr>
            <p:nvPr/>
          </p:nvSpPr>
          <p:spPr bwMode="auto">
            <a:xfrm>
              <a:off x="4340" y="1546"/>
              <a:ext cx="362" cy="2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89" name="Line 25"/>
            <p:cNvSpPr>
              <a:spLocks noChangeShapeType="1"/>
            </p:cNvSpPr>
            <p:nvPr/>
          </p:nvSpPr>
          <p:spPr bwMode="auto">
            <a:xfrm flipV="1">
              <a:off x="4340" y="1434"/>
              <a:ext cx="210" cy="1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3290" name="Object 26"/>
            <p:cNvGraphicFramePr>
              <a:graphicFrameLocks noChangeAspect="1"/>
            </p:cNvGraphicFramePr>
            <p:nvPr/>
          </p:nvGraphicFramePr>
          <p:xfrm>
            <a:off x="4332" y="1344"/>
            <a:ext cx="147" cy="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76200" imgH="101600" progId="Equation.DSMT4">
                    <p:embed/>
                  </p:oleObj>
                </mc:Choice>
                <mc:Fallback>
                  <p:oleObj name="Equation" r:id="rId10" imgW="76200" imgH="101600" progId="Equation.DSMT4">
                    <p:embed/>
                    <p:pic>
                      <p:nvPicPr>
                        <p:cNvPr id="0" name="图片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2" y="1344"/>
                          <a:ext cx="147" cy="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291" name="Object 27"/>
            <p:cNvGraphicFramePr>
              <a:graphicFrameLocks noChangeAspect="1"/>
            </p:cNvGraphicFramePr>
            <p:nvPr/>
          </p:nvGraphicFramePr>
          <p:xfrm>
            <a:off x="4468" y="1710"/>
            <a:ext cx="147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76200" imgH="152400" progId="Equation.DSMT4">
                    <p:embed/>
                  </p:oleObj>
                </mc:Choice>
                <mc:Fallback>
                  <p:oleObj name="Equation" r:id="rId12" imgW="76200" imgH="152400" progId="Equation.DSMT4">
                    <p:embed/>
                    <p:pic>
                      <p:nvPicPr>
                        <p:cNvPr id="0" name="图片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8" y="1710"/>
                          <a:ext cx="147" cy="2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10012" name="Group 28"/>
          <p:cNvGrpSpPr/>
          <p:nvPr/>
        </p:nvGrpSpPr>
        <p:grpSpPr bwMode="auto">
          <a:xfrm>
            <a:off x="7535864" y="3644901"/>
            <a:ext cx="3024187" cy="2016125"/>
            <a:chOff x="3742" y="2296"/>
            <a:chExt cx="1905" cy="1270"/>
          </a:xfrm>
        </p:grpSpPr>
        <p:sp>
          <p:nvSpPr>
            <p:cNvPr id="53262" name="Rectangle 29"/>
            <p:cNvSpPr>
              <a:spLocks noChangeArrowheads="1"/>
            </p:cNvSpPr>
            <p:nvPr/>
          </p:nvSpPr>
          <p:spPr bwMode="auto">
            <a:xfrm>
              <a:off x="3742" y="2296"/>
              <a:ext cx="1905" cy="127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  <p:sp>
          <p:nvSpPr>
            <p:cNvPr id="53263" name="Rectangle 30"/>
            <p:cNvSpPr>
              <a:spLocks noChangeArrowheads="1"/>
            </p:cNvSpPr>
            <p:nvPr/>
          </p:nvSpPr>
          <p:spPr bwMode="auto">
            <a:xfrm>
              <a:off x="4059" y="2614"/>
              <a:ext cx="1361" cy="817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endParaRPr lang="zh-CN" altLang="zh-CN" sz="2400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sp>
          <p:nvSpPr>
            <p:cNvPr id="53264" name="Rectangle 31"/>
            <p:cNvSpPr>
              <a:spLocks noChangeArrowheads="1"/>
            </p:cNvSpPr>
            <p:nvPr/>
          </p:nvSpPr>
          <p:spPr bwMode="auto">
            <a:xfrm>
              <a:off x="4059" y="2795"/>
              <a:ext cx="1361" cy="454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endParaRPr lang="zh-CN" altLang="zh-CN" sz="2400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sp>
          <p:nvSpPr>
            <p:cNvPr id="53265" name="Rectangle 32"/>
            <p:cNvSpPr>
              <a:spLocks noChangeArrowheads="1"/>
            </p:cNvSpPr>
            <p:nvPr/>
          </p:nvSpPr>
          <p:spPr bwMode="auto">
            <a:xfrm>
              <a:off x="4068" y="2704"/>
              <a:ext cx="1349" cy="91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  <p:sp>
          <p:nvSpPr>
            <p:cNvPr id="53266" name="Line 33"/>
            <p:cNvSpPr>
              <a:spLocks noChangeShapeType="1"/>
            </p:cNvSpPr>
            <p:nvPr/>
          </p:nvSpPr>
          <p:spPr bwMode="auto">
            <a:xfrm>
              <a:off x="4649" y="2795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7" name="Line 34"/>
            <p:cNvSpPr>
              <a:spLocks noChangeShapeType="1"/>
            </p:cNvSpPr>
            <p:nvPr/>
          </p:nvSpPr>
          <p:spPr bwMode="auto">
            <a:xfrm>
              <a:off x="4727" y="2795"/>
              <a:ext cx="0" cy="22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8" name="Line 35"/>
            <p:cNvSpPr>
              <a:spLocks noChangeShapeType="1"/>
            </p:cNvSpPr>
            <p:nvPr/>
          </p:nvSpPr>
          <p:spPr bwMode="auto">
            <a:xfrm>
              <a:off x="5444" y="2614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9" name="Line 36"/>
            <p:cNvSpPr>
              <a:spLocks noChangeShapeType="1"/>
            </p:cNvSpPr>
            <p:nvPr/>
          </p:nvSpPr>
          <p:spPr bwMode="auto">
            <a:xfrm flipH="1">
              <a:off x="5474" y="2614"/>
              <a:ext cx="0" cy="4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3270" name="Object 37"/>
            <p:cNvGraphicFramePr>
              <a:graphicFrameLocks noChangeAspect="1"/>
            </p:cNvGraphicFramePr>
            <p:nvPr/>
          </p:nvGraphicFramePr>
          <p:xfrm>
            <a:off x="5465" y="2750"/>
            <a:ext cx="147" cy="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76200" imgH="101600" progId="Equation.DSMT4">
                    <p:embed/>
                  </p:oleObj>
                </mc:Choice>
                <mc:Fallback>
                  <p:oleObj name="Equation" r:id="rId14" imgW="76200" imgH="101600" progId="Equation.DSMT4">
                    <p:embed/>
                    <p:pic>
                      <p:nvPicPr>
                        <p:cNvPr id="0" name="图片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65" y="2750"/>
                          <a:ext cx="147" cy="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271" name="Object 38"/>
            <p:cNvGraphicFramePr>
              <a:graphicFrameLocks noChangeAspect="1"/>
            </p:cNvGraphicFramePr>
            <p:nvPr/>
          </p:nvGraphicFramePr>
          <p:xfrm>
            <a:off x="4561" y="2824"/>
            <a:ext cx="176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14300" imgH="127000" progId="Equation.DSMT4">
                    <p:embed/>
                  </p:oleObj>
                </mc:Choice>
                <mc:Fallback>
                  <p:oleObj name="Equation" r:id="rId16" imgW="114300" imgH="127000" progId="Equation.DSMT4">
                    <p:embed/>
                    <p:pic>
                      <p:nvPicPr>
                        <p:cNvPr id="0" name="图片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1" y="2824"/>
                          <a:ext cx="176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272" name="Object 39"/>
            <p:cNvGraphicFramePr>
              <a:graphicFrameLocks noChangeAspect="1"/>
            </p:cNvGraphicFramePr>
            <p:nvPr/>
          </p:nvGraphicFramePr>
          <p:xfrm>
            <a:off x="4740" y="2296"/>
            <a:ext cx="250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203200" imgH="177800" progId="Equation.DSMT4">
                    <p:embed/>
                  </p:oleObj>
                </mc:Choice>
                <mc:Fallback>
                  <p:oleObj name="Equation" r:id="rId18" imgW="203200" imgH="177800" progId="Equation.DSMT4">
                    <p:embed/>
                    <p:pic>
                      <p:nvPicPr>
                        <p:cNvPr id="0" name="图片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0" y="2296"/>
                          <a:ext cx="250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73" name="Line 40"/>
            <p:cNvSpPr>
              <a:spLocks noChangeShapeType="1"/>
            </p:cNvSpPr>
            <p:nvPr/>
          </p:nvSpPr>
          <p:spPr bwMode="auto">
            <a:xfrm>
              <a:off x="4830" y="3113"/>
              <a:ext cx="408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3274" name="Object 41"/>
            <p:cNvGraphicFramePr>
              <a:graphicFrameLocks noChangeAspect="1"/>
            </p:cNvGraphicFramePr>
            <p:nvPr/>
          </p:nvGraphicFramePr>
          <p:xfrm>
            <a:off x="4641" y="3022"/>
            <a:ext cx="176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14300" imgH="127000" progId="Equation.DSMT4">
                    <p:embed/>
                  </p:oleObj>
                </mc:Choice>
                <mc:Fallback>
                  <p:oleObj name="Equation" r:id="rId20" imgW="114300" imgH="127000" progId="Equation.DSMT4">
                    <p:embed/>
                    <p:pic>
                      <p:nvPicPr>
                        <p:cNvPr id="0" name="图片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1" y="3022"/>
                          <a:ext cx="176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75" name="Line 42"/>
            <p:cNvSpPr>
              <a:spLocks noChangeShapeType="1"/>
            </p:cNvSpPr>
            <p:nvPr/>
          </p:nvSpPr>
          <p:spPr bwMode="auto">
            <a:xfrm flipH="1">
              <a:off x="4694" y="2523"/>
              <a:ext cx="136" cy="22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76" name="Arc 43"/>
            <p:cNvSpPr/>
            <p:nvPr/>
          </p:nvSpPr>
          <p:spPr bwMode="auto">
            <a:xfrm flipH="1">
              <a:off x="3858" y="2614"/>
              <a:ext cx="213" cy="812"/>
            </a:xfrm>
            <a:custGeom>
              <a:avLst/>
              <a:gdLst>
                <a:gd name="T0" fmla="*/ 0 w 22032"/>
                <a:gd name="T1" fmla="*/ 0 h 43200"/>
                <a:gd name="T2" fmla="*/ 0 w 22032"/>
                <a:gd name="T3" fmla="*/ 0 h 43200"/>
                <a:gd name="T4" fmla="*/ 0 w 22032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032" h="43200" fill="none" extrusionOk="0">
                  <a:moveTo>
                    <a:pt x="432" y="0"/>
                  </a:moveTo>
                  <a:cubicBezTo>
                    <a:pt x="12361" y="0"/>
                    <a:pt x="22032" y="9670"/>
                    <a:pt x="22032" y="21600"/>
                  </a:cubicBezTo>
                  <a:cubicBezTo>
                    <a:pt x="22032" y="33529"/>
                    <a:pt x="12361" y="43200"/>
                    <a:pt x="432" y="43200"/>
                  </a:cubicBezTo>
                  <a:cubicBezTo>
                    <a:pt x="287" y="43200"/>
                    <a:pt x="143" y="43198"/>
                    <a:pt x="0" y="43195"/>
                  </a:cubicBezTo>
                </a:path>
                <a:path w="22032" h="43200" stroke="0" extrusionOk="0">
                  <a:moveTo>
                    <a:pt x="432" y="0"/>
                  </a:moveTo>
                  <a:cubicBezTo>
                    <a:pt x="12361" y="0"/>
                    <a:pt x="22032" y="9670"/>
                    <a:pt x="22032" y="21600"/>
                  </a:cubicBezTo>
                  <a:cubicBezTo>
                    <a:pt x="22032" y="33529"/>
                    <a:pt x="12361" y="43200"/>
                    <a:pt x="432" y="43200"/>
                  </a:cubicBezTo>
                  <a:cubicBezTo>
                    <a:pt x="287" y="43200"/>
                    <a:pt x="143" y="43198"/>
                    <a:pt x="0" y="43195"/>
                  </a:cubicBezTo>
                  <a:lnTo>
                    <a:pt x="432" y="21600"/>
                  </a:lnTo>
                  <a:lnTo>
                    <a:pt x="432" y="0"/>
                  </a:lnTo>
                  <a:close/>
                </a:path>
              </a:pathLst>
            </a:custGeom>
            <a:solidFill>
              <a:srgbClr val="DCDCDC"/>
            </a:soli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77" name="Arc 44"/>
            <p:cNvSpPr/>
            <p:nvPr/>
          </p:nvSpPr>
          <p:spPr bwMode="auto">
            <a:xfrm flipH="1">
              <a:off x="3907" y="2708"/>
              <a:ext cx="159" cy="623"/>
            </a:xfrm>
            <a:custGeom>
              <a:avLst/>
              <a:gdLst>
                <a:gd name="T0" fmla="*/ 0 w 21600"/>
                <a:gd name="T1" fmla="*/ 0 h 43184"/>
                <a:gd name="T2" fmla="*/ 0 w 21600"/>
                <a:gd name="T3" fmla="*/ 0 h 43184"/>
                <a:gd name="T4" fmla="*/ 0 w 21600"/>
                <a:gd name="T5" fmla="*/ 0 h 431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3184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207"/>
                    <a:pt x="12426" y="42739"/>
                    <a:pt x="827" y="43184"/>
                  </a:cubicBezTo>
                </a:path>
                <a:path w="21600" h="43184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207"/>
                    <a:pt x="12426" y="42739"/>
                    <a:pt x="827" y="43184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05B"/>
            </a:soli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78" name="Arc 45"/>
            <p:cNvSpPr/>
            <p:nvPr/>
          </p:nvSpPr>
          <p:spPr bwMode="auto">
            <a:xfrm flipH="1">
              <a:off x="3962" y="2796"/>
              <a:ext cx="113" cy="452"/>
            </a:xfrm>
            <a:custGeom>
              <a:avLst/>
              <a:gdLst>
                <a:gd name="T0" fmla="*/ 0 w 21601"/>
                <a:gd name="T1" fmla="*/ 0 h 43200"/>
                <a:gd name="T2" fmla="*/ 0 w 21601"/>
                <a:gd name="T3" fmla="*/ 0 h 43200"/>
                <a:gd name="T4" fmla="*/ 0 w 21601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1" h="43200" fill="none" extrusionOk="0">
                  <a:moveTo>
                    <a:pt x="1" y="0"/>
                  </a:moveTo>
                  <a:cubicBezTo>
                    <a:pt x="11930" y="0"/>
                    <a:pt x="21601" y="9670"/>
                    <a:pt x="21601" y="21600"/>
                  </a:cubicBezTo>
                  <a:cubicBezTo>
                    <a:pt x="21601" y="33529"/>
                    <a:pt x="11930" y="43200"/>
                    <a:pt x="1" y="43200"/>
                  </a:cubicBezTo>
                  <a:cubicBezTo>
                    <a:pt x="0" y="43200"/>
                    <a:pt x="0" y="43199"/>
                    <a:pt x="0" y="43199"/>
                  </a:cubicBezTo>
                </a:path>
                <a:path w="21601" h="43200" stroke="0" extrusionOk="0">
                  <a:moveTo>
                    <a:pt x="1" y="0"/>
                  </a:moveTo>
                  <a:cubicBezTo>
                    <a:pt x="11930" y="0"/>
                    <a:pt x="21601" y="9670"/>
                    <a:pt x="21601" y="21600"/>
                  </a:cubicBezTo>
                  <a:cubicBezTo>
                    <a:pt x="21601" y="33529"/>
                    <a:pt x="11930" y="43200"/>
                    <a:pt x="1" y="43200"/>
                  </a:cubicBezTo>
                  <a:cubicBezTo>
                    <a:pt x="0" y="43200"/>
                    <a:pt x="0" y="43199"/>
                    <a:pt x="0" y="43199"/>
                  </a:cubicBezTo>
                  <a:lnTo>
                    <a:pt x="1" y="216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DDBB"/>
            </a:soli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79" name="Line 46"/>
            <p:cNvSpPr>
              <a:spLocks noChangeShapeType="1"/>
            </p:cNvSpPr>
            <p:nvPr/>
          </p:nvSpPr>
          <p:spPr bwMode="auto">
            <a:xfrm>
              <a:off x="3801" y="3022"/>
              <a:ext cx="181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80" name="Line 47"/>
            <p:cNvSpPr>
              <a:spLocks noChangeShapeType="1"/>
            </p:cNvSpPr>
            <p:nvPr/>
          </p:nvSpPr>
          <p:spPr bwMode="auto">
            <a:xfrm>
              <a:off x="4065" y="2614"/>
              <a:ext cx="0" cy="8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81" name="Rectangle 48"/>
            <p:cNvSpPr>
              <a:spLocks noChangeArrowheads="1"/>
            </p:cNvSpPr>
            <p:nvPr/>
          </p:nvSpPr>
          <p:spPr bwMode="auto">
            <a:xfrm>
              <a:off x="4067" y="3240"/>
              <a:ext cx="1349" cy="91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  <p:sp>
          <p:nvSpPr>
            <p:cNvPr id="53282" name="Oval 49"/>
            <p:cNvSpPr>
              <a:spLocks noChangeArrowheads="1"/>
            </p:cNvSpPr>
            <p:nvPr/>
          </p:nvSpPr>
          <p:spPr bwMode="auto">
            <a:xfrm>
              <a:off x="3931" y="2755"/>
              <a:ext cx="258" cy="530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b="1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  <p:sp>
          <p:nvSpPr>
            <p:cNvPr id="53283" name="Line 50"/>
            <p:cNvSpPr>
              <a:spLocks noChangeShapeType="1"/>
            </p:cNvSpPr>
            <p:nvPr/>
          </p:nvSpPr>
          <p:spPr bwMode="auto">
            <a:xfrm flipH="1">
              <a:off x="4187" y="2931"/>
              <a:ext cx="0" cy="9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3284" name="Object 51"/>
            <p:cNvGraphicFramePr>
              <a:graphicFrameLocks noChangeAspect="1"/>
            </p:cNvGraphicFramePr>
            <p:nvPr/>
          </p:nvGraphicFramePr>
          <p:xfrm>
            <a:off x="4174" y="2863"/>
            <a:ext cx="240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27000" imgH="254000" progId="Equation.DSMT4">
                    <p:embed/>
                  </p:oleObj>
                </mc:Choice>
                <mc:Fallback>
                  <p:oleObj name="Equation" r:id="rId22" imgW="127000" imgH="254000" progId="Equation.DSMT4">
                    <p:embed/>
                    <p:pic>
                      <p:nvPicPr>
                        <p:cNvPr id="0" name="图片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4" y="2863"/>
                          <a:ext cx="240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3261" name="Object 55"/>
          <p:cNvGraphicFramePr>
            <a:graphicFrameLocks noChangeAspect="1"/>
          </p:cNvGraphicFramePr>
          <p:nvPr/>
        </p:nvGraphicFramePr>
        <p:xfrm>
          <a:off x="2106613" y="1895475"/>
          <a:ext cx="4741862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49682400" imgH="9448800" progId="Equation.DSMT4">
                  <p:embed/>
                </p:oleObj>
              </mc:Choice>
              <mc:Fallback>
                <p:oleObj name="Equation" r:id="rId24" imgW="49682400" imgH="9448800" progId="Equation.DSMT4">
                  <p:embed/>
                  <p:pic>
                    <p:nvPicPr>
                      <p:cNvPr id="0" name="图片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6613" y="1895475"/>
                        <a:ext cx="4741862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92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809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192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192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192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192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810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2000"/>
                                        <p:tgtEl>
                                          <p:spTgt spid="809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192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15" grpId="0"/>
      <p:bldP spid="192517" grpId="0"/>
      <p:bldP spid="809993" grpId="0"/>
      <p:bldP spid="80999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9" name="Text Box 2"/>
          <p:cNvSpPr txBox="1">
            <a:spLocks noChangeArrowheads="1"/>
          </p:cNvSpPr>
          <p:nvPr/>
        </p:nvSpPr>
        <p:spPr bwMode="auto">
          <a:xfrm>
            <a:off x="1703388" y="476250"/>
            <a:ext cx="66976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Total flux linkage in inner conductor is</a:t>
            </a:r>
          </a:p>
        </p:txBody>
      </p:sp>
      <p:graphicFrame>
        <p:nvGraphicFramePr>
          <p:cNvPr id="193540" name="Object 3"/>
          <p:cNvGraphicFramePr>
            <a:graphicFrameLocks noChangeAspect="1"/>
          </p:cNvGraphicFramePr>
          <p:nvPr/>
        </p:nvGraphicFramePr>
        <p:xfrm>
          <a:off x="4014788" y="757238"/>
          <a:ext cx="4308475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0901600" imgH="10058400" progId="Equation.DSMT4">
                  <p:embed/>
                </p:oleObj>
              </mc:Choice>
              <mc:Fallback>
                <p:oleObj name="Equation" r:id="rId2" imgW="50901600" imgH="100584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4788" y="757238"/>
                        <a:ext cx="4308475" cy="99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3541" name="Object 4"/>
          <p:cNvGraphicFramePr>
            <a:graphicFrameLocks noChangeAspect="1"/>
          </p:cNvGraphicFramePr>
          <p:nvPr/>
        </p:nvGraphicFramePr>
        <p:xfrm>
          <a:off x="5013325" y="1616075"/>
          <a:ext cx="1933575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812000" imgH="9448800" progId="Equation.DSMT4">
                  <p:embed/>
                </p:oleObj>
              </mc:Choice>
              <mc:Fallback>
                <p:oleObj name="Equation" r:id="rId4" imgW="19812000" imgH="94488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3325" y="1616075"/>
                        <a:ext cx="1933575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3542" name="Text Box 5"/>
          <p:cNvSpPr txBox="1">
            <a:spLocks noChangeArrowheads="1"/>
          </p:cNvSpPr>
          <p:nvPr/>
        </p:nvSpPr>
        <p:spPr bwMode="auto">
          <a:xfrm>
            <a:off x="1919288" y="1773238"/>
            <a:ext cx="309721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1800" b="1">
                <a:solidFill>
                  <a:srgbClr val="0000CC"/>
                </a:solidFill>
              </a:rPr>
              <a:t>internal self-inductance per unit length</a:t>
            </a:r>
          </a:p>
        </p:txBody>
      </p:sp>
      <p:sp>
        <p:nvSpPr>
          <p:cNvPr id="193543" name="Text Box 6"/>
          <p:cNvSpPr txBox="1">
            <a:spLocks noChangeArrowheads="1"/>
          </p:cNvSpPr>
          <p:nvPr/>
        </p:nvSpPr>
        <p:spPr bwMode="auto">
          <a:xfrm>
            <a:off x="1919289" y="2636839"/>
            <a:ext cx="75596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Find the </a:t>
            </a:r>
            <a:r>
              <a:rPr kumimoji="1" lang="en-US" altLang="zh-CN" sz="2000" b="1">
                <a:solidFill>
                  <a:srgbClr val="800000"/>
                </a:solidFill>
                <a:latin typeface="Times New Roman" panose="02020603050405020304" pitchFamily="18" charset="0"/>
              </a:rPr>
              <a:t>external self-inductance between two conductors</a:t>
            </a:r>
            <a:endParaRPr kumimoji="1" lang="en-US" altLang="zh-CN" sz="2000" b="1">
              <a:solidFill>
                <a:srgbClr val="8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93544" name="Object 7"/>
          <p:cNvGraphicFramePr>
            <a:graphicFrameLocks noChangeAspect="1"/>
          </p:cNvGraphicFramePr>
          <p:nvPr/>
        </p:nvGraphicFramePr>
        <p:xfrm>
          <a:off x="3284538" y="3808413"/>
          <a:ext cx="4391025" cy="99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5168800" imgH="10058400" progId="Equation.DSMT4">
                  <p:embed/>
                </p:oleObj>
              </mc:Choice>
              <mc:Fallback>
                <p:oleObj name="Equation" r:id="rId6" imgW="55168800" imgH="100584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4538" y="3808413"/>
                        <a:ext cx="4391025" cy="995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3545" name="Object 8"/>
          <p:cNvGraphicFramePr>
            <a:graphicFrameLocks noChangeAspect="1"/>
          </p:cNvGraphicFramePr>
          <p:nvPr/>
        </p:nvGraphicFramePr>
        <p:xfrm>
          <a:off x="5237163" y="5649913"/>
          <a:ext cx="3100387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8709600" imgH="9448800" progId="Equation.DSMT4">
                  <p:embed/>
                </p:oleObj>
              </mc:Choice>
              <mc:Fallback>
                <p:oleObj name="Equation" r:id="rId8" imgW="38709600" imgH="94488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7163" y="5649913"/>
                        <a:ext cx="3100387" cy="957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3546" name="Object 9"/>
          <p:cNvGraphicFramePr>
            <a:graphicFrameLocks noChangeAspect="1"/>
          </p:cNvGraphicFramePr>
          <p:nvPr/>
        </p:nvGraphicFramePr>
        <p:xfrm>
          <a:off x="3359150" y="2917825"/>
          <a:ext cx="1298575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154400" imgH="10058400" progId="Equation.DSMT4">
                  <p:embed/>
                </p:oleObj>
              </mc:Choice>
              <mc:Fallback>
                <p:oleObj name="Equation" r:id="rId10" imgW="16154400" imgH="100584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0" y="2917825"/>
                        <a:ext cx="1298575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2" name="Object 10"/>
          <p:cNvGraphicFramePr>
            <a:graphicFrameLocks noChangeAspect="1"/>
          </p:cNvGraphicFramePr>
          <p:nvPr/>
        </p:nvGraphicFramePr>
        <p:xfrm>
          <a:off x="5534025" y="2917825"/>
          <a:ext cx="2963863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3832800" imgH="10058400" progId="Equation.DSMT4">
                  <p:embed/>
                </p:oleObj>
              </mc:Choice>
              <mc:Fallback>
                <p:oleObj name="Equation" r:id="rId12" imgW="33832800" imgH="10058400" progId="Equation.DSMT4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4025" y="2917825"/>
                        <a:ext cx="2963863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3" name="AutoShape 11"/>
          <p:cNvSpPr>
            <a:spLocks noChangeArrowheads="1"/>
          </p:cNvSpPr>
          <p:nvPr/>
        </p:nvSpPr>
        <p:spPr bwMode="auto">
          <a:xfrm>
            <a:off x="4800600" y="3284538"/>
            <a:ext cx="647700" cy="215900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CC99"/>
          </a:solidFill>
          <a:ln w="22225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b="1">
              <a:solidFill>
                <a:srgbClr val="00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193549" name="Text Box 12"/>
          <p:cNvSpPr txBox="1">
            <a:spLocks noChangeArrowheads="1"/>
          </p:cNvSpPr>
          <p:nvPr/>
        </p:nvSpPr>
        <p:spPr bwMode="auto">
          <a:xfrm>
            <a:off x="2279650" y="4076700"/>
            <a:ext cx="1081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so</a:t>
            </a:r>
          </a:p>
        </p:txBody>
      </p:sp>
      <p:graphicFrame>
        <p:nvGraphicFramePr>
          <p:cNvPr id="193550" name="Object 13"/>
          <p:cNvGraphicFramePr>
            <a:graphicFrameLocks noChangeAspect="1"/>
          </p:cNvGraphicFramePr>
          <p:nvPr/>
        </p:nvGraphicFramePr>
        <p:xfrm>
          <a:off x="5318125" y="4713288"/>
          <a:ext cx="2278063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736800" imgH="9448800" progId="Equation.DSMT4">
                  <p:embed/>
                </p:oleObj>
              </mc:Choice>
              <mc:Fallback>
                <p:oleObj name="Equation" r:id="rId14" imgW="27736800" imgH="9448800" progId="Equation.DSMT4">
                  <p:embed/>
                  <p:pic>
                    <p:nvPicPr>
                      <p:cNvPr id="0" name="图片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8125" y="4713288"/>
                        <a:ext cx="2278063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3551" name="Text Box 14"/>
          <p:cNvSpPr txBox="1">
            <a:spLocks noChangeArrowheads="1"/>
          </p:cNvSpPr>
          <p:nvPr/>
        </p:nvSpPr>
        <p:spPr bwMode="auto">
          <a:xfrm>
            <a:off x="2135188" y="4868863"/>
            <a:ext cx="31686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1800" b="1">
                <a:solidFill>
                  <a:srgbClr val="0000CC"/>
                </a:solidFill>
              </a:rPr>
              <a:t>External self-inductance per unit length</a:t>
            </a:r>
          </a:p>
        </p:txBody>
      </p:sp>
      <p:sp>
        <p:nvSpPr>
          <p:cNvPr id="193552" name="Text Box 15"/>
          <p:cNvSpPr txBox="1">
            <a:spLocks noChangeArrowheads="1"/>
          </p:cNvSpPr>
          <p:nvPr/>
        </p:nvSpPr>
        <p:spPr bwMode="auto">
          <a:xfrm>
            <a:off x="2135188" y="5805488"/>
            <a:ext cx="266541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1800" b="1">
                <a:solidFill>
                  <a:srgbClr val="0000CC"/>
                </a:solidFill>
              </a:rPr>
              <a:t>Total self-inductance per unit length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545638" y="5589588"/>
            <a:ext cx="1122362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srgbClr val="FFC000">
                <a:alpha val="4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93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93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193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193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193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193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0"/>
                                        <p:tgtEl>
                                          <p:spTgt spid="193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000"/>
                                        <p:tgtEl>
                                          <p:spTgt spid="193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2000"/>
                                        <p:tgtEl>
                                          <p:spTgt spid="193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2000"/>
                                        <p:tgtEl>
                                          <p:spTgt spid="193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2000"/>
                                        <p:tgtEl>
                                          <p:spTgt spid="193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2000"/>
                                        <p:tgtEl>
                                          <p:spTgt spid="193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39" grpId="0"/>
      <p:bldP spid="193542" grpId="0"/>
      <p:bldP spid="193543" grpId="0"/>
      <p:bldP spid="193549" grpId="0"/>
      <p:bldP spid="193551" grpId="0"/>
      <p:bldP spid="19355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2"/>
          <p:cNvSpPr txBox="1">
            <a:spLocks noChangeArrowheads="1"/>
          </p:cNvSpPr>
          <p:nvPr/>
        </p:nvSpPr>
        <p:spPr bwMode="auto">
          <a:xfrm>
            <a:off x="1919288" y="333375"/>
            <a:ext cx="8532812" cy="10525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Ex.</a:t>
            </a:r>
            <a:r>
              <a: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  Find the self-inductance per unit length of a two-wire transmission line.</a:t>
            </a:r>
            <a:r>
              <a:rPr kumimoji="1"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kumimoji="1" lang="en-US" altLang="zh-CN" sz="2400" i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D </a:t>
            </a:r>
            <a:r>
              <a:rPr kumimoji="1" lang="en-US" altLang="zh-CN" sz="240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&gt;&gt; </a:t>
            </a:r>
            <a:r>
              <a:rPr kumimoji="1" lang="en-US" altLang="zh-CN" sz="2400" i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a </a:t>
            </a:r>
            <a:r>
              <a:rPr kumimoji="1"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endParaRPr kumimoji="1" lang="zh-CN" altLang="en-US" sz="2400" b="1" baseline="-25000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94564" name="Object 3"/>
          <p:cNvGraphicFramePr>
            <a:graphicFrameLocks noChangeAspect="1"/>
          </p:cNvGraphicFramePr>
          <p:nvPr/>
        </p:nvGraphicFramePr>
        <p:xfrm>
          <a:off x="2417763" y="3921125"/>
          <a:ext cx="7591425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1686400" imgH="9448800" progId="Equation.DSMT4">
                  <p:embed/>
                </p:oleObj>
              </mc:Choice>
              <mc:Fallback>
                <p:oleObj name="Equation" r:id="rId2" imgW="81686400" imgH="94488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7763" y="3921125"/>
                        <a:ext cx="7591425" cy="957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65" name="Object 4"/>
          <p:cNvGraphicFramePr>
            <a:graphicFrameLocks noChangeAspect="1"/>
          </p:cNvGraphicFramePr>
          <p:nvPr/>
        </p:nvGraphicFramePr>
        <p:xfrm>
          <a:off x="2784475" y="2408238"/>
          <a:ext cx="3446463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8404800" imgH="9448800" progId="Equation.DSMT4">
                  <p:embed/>
                </p:oleObj>
              </mc:Choice>
              <mc:Fallback>
                <p:oleObj name="Equation" r:id="rId4" imgW="38404800" imgH="94488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4475" y="2408238"/>
                        <a:ext cx="3446463" cy="954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1" name="Object 5"/>
          <p:cNvGraphicFramePr>
            <a:graphicFrameLocks noChangeAspect="1"/>
          </p:cNvGraphicFramePr>
          <p:nvPr/>
        </p:nvGraphicFramePr>
        <p:xfrm>
          <a:off x="6107114" y="3168651"/>
          <a:ext cx="104775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14300" imgH="215900" progId="Equation.3">
                  <p:embed/>
                </p:oleObj>
              </mc:Choice>
              <mc:Fallback>
                <p:oleObj name="公式" r:id="rId6" imgW="114300" imgH="215900" progId="Equation.3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7114" y="3168651"/>
                        <a:ext cx="104775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67" name="Text Box 6"/>
          <p:cNvSpPr txBox="1">
            <a:spLocks noChangeArrowheads="1"/>
          </p:cNvSpPr>
          <p:nvPr/>
        </p:nvSpPr>
        <p:spPr bwMode="auto">
          <a:xfrm>
            <a:off x="1919289" y="3357563"/>
            <a:ext cx="3887787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rgbClr val="800000"/>
                </a:solidFill>
                <a:ea typeface="楷体_GB2312" pitchFamily="49" charset="-122"/>
              </a:rPr>
              <a:t>External flux linkage</a:t>
            </a:r>
            <a:r>
              <a:rPr kumimoji="1" lang="zh-CN" altLang="en-US" sz="2000" b="1">
                <a:solidFill>
                  <a:srgbClr val="800000"/>
                </a:solidFill>
                <a:ea typeface="楷体_GB2312" pitchFamily="49" charset="-122"/>
              </a:rPr>
              <a:t>，</a:t>
            </a:r>
          </a:p>
        </p:txBody>
      </p:sp>
      <p:sp>
        <p:nvSpPr>
          <p:cNvPr id="812039" name="Rectangle 7"/>
          <p:cNvSpPr>
            <a:spLocks noChangeArrowheads="1"/>
          </p:cNvSpPr>
          <p:nvPr/>
        </p:nvSpPr>
        <p:spPr bwMode="auto">
          <a:xfrm>
            <a:off x="1631950" y="1490664"/>
            <a:ext cx="5435600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rgbClr val="000000"/>
                </a:solidFill>
                <a:ea typeface="幼圆" panose="02010509060101010101" pitchFamily="49" charset="-122"/>
              </a:rPr>
              <a:t>Solution: Applying </a:t>
            </a:r>
            <a:r>
              <a:rPr lang="en-US" altLang="ko-KR" sz="2000" b="1">
                <a:solidFill>
                  <a:srgbClr val="000000"/>
                </a:solidFill>
              </a:rPr>
              <a:t>Ampere’s circuital law</a:t>
            </a:r>
            <a:r>
              <a:rPr lang="en-US" altLang="zh-CN" sz="2000" b="1">
                <a:solidFill>
                  <a:srgbClr val="000000"/>
                </a:solidFill>
              </a:rPr>
              <a:t> </a:t>
            </a:r>
            <a:r>
              <a:rPr lang="en-US" altLang="zh-CN" sz="2000" b="1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and  superposition</a:t>
            </a:r>
          </a:p>
        </p:txBody>
      </p:sp>
      <p:grpSp>
        <p:nvGrpSpPr>
          <p:cNvPr id="55304" name="Group 40"/>
          <p:cNvGrpSpPr/>
          <p:nvPr/>
        </p:nvGrpSpPr>
        <p:grpSpPr bwMode="auto">
          <a:xfrm>
            <a:off x="7032625" y="1268413"/>
            <a:ext cx="3384550" cy="2736850"/>
            <a:chOff x="3470" y="1071"/>
            <a:chExt cx="2132" cy="1724"/>
          </a:xfrm>
        </p:grpSpPr>
        <p:sp>
          <p:nvSpPr>
            <p:cNvPr id="55307" name="Rectangle 9"/>
            <p:cNvSpPr>
              <a:spLocks noChangeArrowheads="1"/>
            </p:cNvSpPr>
            <p:nvPr/>
          </p:nvSpPr>
          <p:spPr bwMode="auto">
            <a:xfrm>
              <a:off x="3470" y="1071"/>
              <a:ext cx="2132" cy="172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b="1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  <p:sp>
          <p:nvSpPr>
            <p:cNvPr id="55308" name="Oval 10"/>
            <p:cNvSpPr>
              <a:spLocks noChangeArrowheads="1"/>
            </p:cNvSpPr>
            <p:nvPr/>
          </p:nvSpPr>
          <p:spPr bwMode="auto">
            <a:xfrm>
              <a:off x="3750" y="2043"/>
              <a:ext cx="181" cy="175"/>
            </a:xfrm>
            <a:prstGeom prst="ellipse">
              <a:avLst/>
            </a:prstGeom>
            <a:solidFill>
              <a:srgbClr val="F49100"/>
            </a:solidFill>
            <a:ln w="9525">
              <a:round/>
            </a:ln>
            <a:effectLst/>
            <a:scene3d>
              <a:camera prst="legacyPerspectiveTopRight">
                <a:rot lat="1200000" lon="1500000" rev="0"/>
              </a:camera>
              <a:lightRig rig="legacyFlat4" dir="b"/>
            </a:scene3d>
            <a:sp3d extrusionH="2513000" prstMaterial="legacyMatte">
              <a:bevelT w="13500" h="13500" prst="angle"/>
              <a:bevelB w="13500" h="13500" prst="angle"/>
              <a:extrusionClr>
                <a:srgbClr val="F49100"/>
              </a:extrusionClr>
              <a:contourClr>
                <a:srgbClr val="F49100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b="1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  <p:graphicFrame>
          <p:nvGraphicFramePr>
            <p:cNvPr id="55309" name="Object 11"/>
            <p:cNvGraphicFramePr>
              <a:graphicFrameLocks noChangeAspect="1"/>
            </p:cNvGraphicFramePr>
            <p:nvPr/>
          </p:nvGraphicFramePr>
          <p:xfrm>
            <a:off x="5148" y="2131"/>
            <a:ext cx="173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76200" imgH="101600" progId="Equation.3">
                    <p:embed/>
                  </p:oleObj>
                </mc:Choice>
                <mc:Fallback>
                  <p:oleObj name="Equation" r:id="rId8" imgW="76200" imgH="101600" progId="Equation.3">
                    <p:embed/>
                    <p:pic>
                      <p:nvPicPr>
                        <p:cNvPr id="0" name="图片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48" y="2131"/>
                          <a:ext cx="173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10" name="Object 12"/>
            <p:cNvGraphicFramePr>
              <a:graphicFrameLocks noChangeAspect="1"/>
            </p:cNvGraphicFramePr>
            <p:nvPr/>
          </p:nvGraphicFramePr>
          <p:xfrm>
            <a:off x="3846" y="1340"/>
            <a:ext cx="181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01600" imgH="127000" progId="Equation.3">
                    <p:embed/>
                  </p:oleObj>
                </mc:Choice>
                <mc:Fallback>
                  <p:oleObj name="Equation" r:id="rId10" imgW="101600" imgH="127000" progId="Equation.3">
                    <p:embed/>
                    <p:pic>
                      <p:nvPicPr>
                        <p:cNvPr id="0" name="图片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6" y="1340"/>
                          <a:ext cx="181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11" name="Object 13"/>
            <p:cNvGraphicFramePr>
              <a:graphicFrameLocks noChangeAspect="1"/>
            </p:cNvGraphicFramePr>
            <p:nvPr/>
          </p:nvGraphicFramePr>
          <p:xfrm>
            <a:off x="3561" y="2351"/>
            <a:ext cx="153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76200" imgH="76200" progId="Equation.3">
                    <p:embed/>
                  </p:oleObj>
                </mc:Choice>
                <mc:Fallback>
                  <p:oleObj name="Equation" r:id="rId12" imgW="76200" imgH="76200" progId="Equation.3">
                    <p:embed/>
                    <p:pic>
                      <p:nvPicPr>
                        <p:cNvPr id="0" name="图片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1" y="2351"/>
                          <a:ext cx="153" cy="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12" name="Line 14"/>
            <p:cNvSpPr>
              <a:spLocks noChangeShapeType="1"/>
            </p:cNvSpPr>
            <p:nvPr/>
          </p:nvSpPr>
          <p:spPr bwMode="auto">
            <a:xfrm flipH="1">
              <a:off x="4809" y="2263"/>
              <a:ext cx="125" cy="0"/>
            </a:xfrm>
            <a:prstGeom prst="line">
              <a:avLst/>
            </a:prstGeom>
            <a:noFill/>
            <a:ln w="15875">
              <a:solidFill>
                <a:srgbClr val="FF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3" name="Line 15"/>
            <p:cNvSpPr>
              <a:spLocks noChangeShapeType="1"/>
            </p:cNvSpPr>
            <p:nvPr/>
          </p:nvSpPr>
          <p:spPr bwMode="auto">
            <a:xfrm flipV="1">
              <a:off x="3860" y="2483"/>
              <a:ext cx="827" cy="0"/>
            </a:xfrm>
            <a:prstGeom prst="line">
              <a:avLst/>
            </a:prstGeom>
            <a:noFill/>
            <a:ln w="15875">
              <a:solidFill>
                <a:srgbClr val="FF00FF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4" name="Line 16"/>
            <p:cNvSpPr>
              <a:spLocks noChangeShapeType="1"/>
            </p:cNvSpPr>
            <p:nvPr/>
          </p:nvSpPr>
          <p:spPr bwMode="auto">
            <a:xfrm flipV="1">
              <a:off x="3861" y="2263"/>
              <a:ext cx="517" cy="0"/>
            </a:xfrm>
            <a:prstGeom prst="line">
              <a:avLst/>
            </a:prstGeom>
            <a:noFill/>
            <a:ln w="15875">
              <a:solidFill>
                <a:srgbClr val="FF00FF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5315" name="Object 17"/>
            <p:cNvGraphicFramePr>
              <a:graphicFrameLocks noChangeAspect="1"/>
            </p:cNvGraphicFramePr>
            <p:nvPr/>
          </p:nvGraphicFramePr>
          <p:xfrm>
            <a:off x="4060" y="2113"/>
            <a:ext cx="160" cy="1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76200" imgH="101600" progId="Equation.DSMT4">
                    <p:embed/>
                  </p:oleObj>
                </mc:Choice>
                <mc:Fallback>
                  <p:oleObj name="Equation" r:id="rId14" imgW="76200" imgH="101600" progId="Equation.DSMT4">
                    <p:embed/>
                    <p:pic>
                      <p:nvPicPr>
                        <p:cNvPr id="0" name="图片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0" y="2113"/>
                          <a:ext cx="160" cy="1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16" name="Object 18"/>
            <p:cNvGraphicFramePr>
              <a:graphicFrameLocks noChangeAspect="1"/>
            </p:cNvGraphicFramePr>
            <p:nvPr/>
          </p:nvGraphicFramePr>
          <p:xfrm>
            <a:off x="4185" y="2306"/>
            <a:ext cx="184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27000" imgH="127000" progId="Equation.3">
                    <p:embed/>
                  </p:oleObj>
                </mc:Choice>
                <mc:Fallback>
                  <p:oleObj name="Equation" r:id="rId16" imgW="127000" imgH="127000" progId="Equation.3">
                    <p:embed/>
                    <p:pic>
                      <p:nvPicPr>
                        <p:cNvPr id="0" name="图片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5" y="2306"/>
                          <a:ext cx="184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17" name="Object 19"/>
            <p:cNvGraphicFramePr>
              <a:graphicFrameLocks noChangeAspect="1"/>
            </p:cNvGraphicFramePr>
            <p:nvPr/>
          </p:nvGraphicFramePr>
          <p:xfrm>
            <a:off x="4681" y="2218"/>
            <a:ext cx="127" cy="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76200" imgH="101600" progId="Equation.3">
                    <p:embed/>
                  </p:oleObj>
                </mc:Choice>
                <mc:Fallback>
                  <p:oleObj name="Equation" r:id="rId18" imgW="76200" imgH="101600" progId="Equation.3">
                    <p:embed/>
                    <p:pic>
                      <p:nvPicPr>
                        <p:cNvPr id="0" name="图片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1" y="2218"/>
                          <a:ext cx="127" cy="1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18" name="Oval 20"/>
            <p:cNvSpPr>
              <a:spLocks noChangeArrowheads="1"/>
            </p:cNvSpPr>
            <p:nvPr/>
          </p:nvSpPr>
          <p:spPr bwMode="auto">
            <a:xfrm>
              <a:off x="4595" y="2042"/>
              <a:ext cx="181" cy="175"/>
            </a:xfrm>
            <a:prstGeom prst="ellipse">
              <a:avLst/>
            </a:prstGeom>
            <a:solidFill>
              <a:srgbClr val="EC8C00"/>
            </a:solidFill>
            <a:ln w="9525">
              <a:round/>
            </a:ln>
            <a:effectLst/>
            <a:scene3d>
              <a:camera prst="legacyPerspectiveTopRight">
                <a:rot lat="1200000" lon="1500000" rev="0"/>
              </a:camera>
              <a:lightRig rig="legacyFlat4" dir="b"/>
            </a:scene3d>
            <a:sp3d extrusionH="2513000" prstMaterial="legacyMatte">
              <a:bevelT w="13500" h="13500" prst="angle"/>
              <a:bevelB w="13500" h="13500" prst="angle"/>
              <a:extrusionClr>
                <a:srgbClr val="EC8C00"/>
              </a:extrusionClr>
              <a:contourClr>
                <a:srgbClr val="EC8C00"/>
              </a:contour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b="1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  <p:sp>
          <p:nvSpPr>
            <p:cNvPr id="55319" name="Oval 21"/>
            <p:cNvSpPr>
              <a:spLocks noChangeArrowheads="1"/>
            </p:cNvSpPr>
            <p:nvPr/>
          </p:nvSpPr>
          <p:spPr bwMode="auto">
            <a:xfrm>
              <a:off x="3761" y="2044"/>
              <a:ext cx="181" cy="175"/>
            </a:xfrm>
            <a:prstGeom prst="ellipse">
              <a:avLst/>
            </a:prstGeom>
            <a:solidFill>
              <a:srgbClr val="FFBE82"/>
            </a:solidFill>
            <a:ln w="9525">
              <a:solidFill>
                <a:srgbClr val="FF66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b="1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  <p:sp>
          <p:nvSpPr>
            <p:cNvPr id="55320" name="Oval 22"/>
            <p:cNvSpPr>
              <a:spLocks noChangeAspect="1" noChangeArrowheads="1"/>
            </p:cNvSpPr>
            <p:nvPr/>
          </p:nvSpPr>
          <p:spPr bwMode="auto">
            <a:xfrm>
              <a:off x="4599" y="2038"/>
              <a:ext cx="186" cy="180"/>
            </a:xfrm>
            <a:prstGeom prst="ellipse">
              <a:avLst/>
            </a:prstGeom>
            <a:solidFill>
              <a:srgbClr val="FFC183"/>
            </a:solidFill>
            <a:ln w="9525">
              <a:solidFill>
                <a:srgbClr val="E874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zh-CN" b="1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  <p:sp>
          <p:nvSpPr>
            <p:cNvPr id="55321" name="Line 23"/>
            <p:cNvSpPr>
              <a:spLocks noChangeShapeType="1"/>
            </p:cNvSpPr>
            <p:nvPr/>
          </p:nvSpPr>
          <p:spPr bwMode="auto">
            <a:xfrm flipV="1">
              <a:off x="3854" y="1383"/>
              <a:ext cx="0" cy="741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2" name="Line 24"/>
            <p:cNvSpPr>
              <a:spLocks noChangeShapeType="1"/>
            </p:cNvSpPr>
            <p:nvPr/>
          </p:nvSpPr>
          <p:spPr bwMode="auto">
            <a:xfrm flipV="1">
              <a:off x="3854" y="2131"/>
              <a:ext cx="1385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3" name="Line 25"/>
            <p:cNvSpPr>
              <a:spLocks noChangeShapeType="1"/>
            </p:cNvSpPr>
            <p:nvPr/>
          </p:nvSpPr>
          <p:spPr bwMode="auto">
            <a:xfrm flipV="1">
              <a:off x="3854" y="1453"/>
              <a:ext cx="854" cy="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lgDash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4" name="Line 26"/>
            <p:cNvSpPr>
              <a:spLocks noChangeAspect="1" noChangeShapeType="1"/>
            </p:cNvSpPr>
            <p:nvPr/>
          </p:nvSpPr>
          <p:spPr bwMode="auto">
            <a:xfrm flipV="1">
              <a:off x="4688" y="1482"/>
              <a:ext cx="830" cy="65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lgDash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5" name="Line 27"/>
            <p:cNvSpPr>
              <a:spLocks noChangeShapeType="1"/>
            </p:cNvSpPr>
            <p:nvPr/>
          </p:nvSpPr>
          <p:spPr bwMode="auto">
            <a:xfrm>
              <a:off x="4697" y="2144"/>
              <a:ext cx="0" cy="412"/>
            </a:xfrm>
            <a:prstGeom prst="line">
              <a:avLst/>
            </a:prstGeom>
            <a:noFill/>
            <a:ln w="15875">
              <a:solidFill>
                <a:srgbClr val="FF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6" name="Line 28"/>
            <p:cNvSpPr>
              <a:spLocks noChangeShapeType="1"/>
            </p:cNvSpPr>
            <p:nvPr/>
          </p:nvSpPr>
          <p:spPr bwMode="auto">
            <a:xfrm>
              <a:off x="4801" y="2131"/>
              <a:ext cx="0" cy="212"/>
            </a:xfrm>
            <a:prstGeom prst="line">
              <a:avLst/>
            </a:prstGeom>
            <a:noFill/>
            <a:ln w="15875">
              <a:solidFill>
                <a:srgbClr val="FF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7" name="Line 29"/>
            <p:cNvSpPr>
              <a:spLocks noChangeAspect="1" noChangeShapeType="1"/>
            </p:cNvSpPr>
            <p:nvPr/>
          </p:nvSpPr>
          <p:spPr bwMode="auto">
            <a:xfrm flipH="1">
              <a:off x="3561" y="2124"/>
              <a:ext cx="293" cy="226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8" name="Line 30"/>
            <p:cNvSpPr>
              <a:spLocks noChangeShapeType="1"/>
            </p:cNvSpPr>
            <p:nvPr/>
          </p:nvSpPr>
          <p:spPr bwMode="auto">
            <a:xfrm>
              <a:off x="3854" y="2159"/>
              <a:ext cx="0" cy="412"/>
            </a:xfrm>
            <a:prstGeom prst="line">
              <a:avLst/>
            </a:prstGeom>
            <a:noFill/>
            <a:ln w="15875">
              <a:solidFill>
                <a:srgbClr val="FF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9" name="Line 31"/>
            <p:cNvSpPr>
              <a:spLocks noChangeShapeType="1"/>
            </p:cNvSpPr>
            <p:nvPr/>
          </p:nvSpPr>
          <p:spPr bwMode="auto">
            <a:xfrm>
              <a:off x="4572" y="2263"/>
              <a:ext cx="125" cy="0"/>
            </a:xfrm>
            <a:prstGeom prst="line">
              <a:avLst/>
            </a:prstGeom>
            <a:noFill/>
            <a:ln w="15875">
              <a:solidFill>
                <a:srgbClr val="FF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0" name="Line 32"/>
            <p:cNvSpPr>
              <a:spLocks noChangeShapeType="1"/>
            </p:cNvSpPr>
            <p:nvPr/>
          </p:nvSpPr>
          <p:spPr bwMode="auto">
            <a:xfrm flipH="1">
              <a:off x="4062" y="1779"/>
              <a:ext cx="227" cy="17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1" name="Line 33"/>
            <p:cNvSpPr>
              <a:spLocks noChangeShapeType="1"/>
            </p:cNvSpPr>
            <p:nvPr/>
          </p:nvSpPr>
          <p:spPr bwMode="auto">
            <a:xfrm rot="10800000" flipH="1">
              <a:off x="4924" y="1776"/>
              <a:ext cx="227" cy="17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2" name="Line 34"/>
            <p:cNvSpPr>
              <a:spLocks noChangeShapeType="1"/>
            </p:cNvSpPr>
            <p:nvPr/>
          </p:nvSpPr>
          <p:spPr bwMode="auto">
            <a:xfrm>
              <a:off x="4391" y="1691"/>
              <a:ext cx="8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3" name="Line 35"/>
            <p:cNvSpPr>
              <a:spLocks noChangeShapeType="1"/>
            </p:cNvSpPr>
            <p:nvPr/>
          </p:nvSpPr>
          <p:spPr bwMode="auto">
            <a:xfrm>
              <a:off x="4377" y="2124"/>
              <a:ext cx="0" cy="213"/>
            </a:xfrm>
            <a:prstGeom prst="line">
              <a:avLst/>
            </a:prstGeom>
            <a:noFill/>
            <a:ln w="15875">
              <a:solidFill>
                <a:srgbClr val="FF00FF"/>
              </a:solidFill>
              <a:round/>
              <a:head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4" name="Rectangle 36"/>
            <p:cNvSpPr>
              <a:spLocks noChangeArrowheads="1"/>
            </p:cNvSpPr>
            <p:nvPr/>
          </p:nvSpPr>
          <p:spPr bwMode="auto">
            <a:xfrm>
              <a:off x="4209" y="1896"/>
              <a:ext cx="2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kumimoji="1" lang="en-US" altLang="zh-CN" sz="2400" b="1" i="1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P</a:t>
              </a:r>
            </a:p>
          </p:txBody>
        </p:sp>
        <p:sp>
          <p:nvSpPr>
            <p:cNvPr id="55335" name="Freeform 37"/>
            <p:cNvSpPr/>
            <p:nvPr/>
          </p:nvSpPr>
          <p:spPr bwMode="auto">
            <a:xfrm>
              <a:off x="4333" y="1683"/>
              <a:ext cx="634" cy="440"/>
            </a:xfrm>
            <a:custGeom>
              <a:avLst/>
              <a:gdLst>
                <a:gd name="T0" fmla="*/ 0 w 1088"/>
                <a:gd name="T1" fmla="*/ 15 h 771"/>
                <a:gd name="T2" fmla="*/ 22 w 1088"/>
                <a:gd name="T3" fmla="*/ 0 h 771"/>
                <a:gd name="T4" fmla="*/ 25 w 1088"/>
                <a:gd name="T5" fmla="*/ 0 h 771"/>
                <a:gd name="T6" fmla="*/ 3 w 1088"/>
                <a:gd name="T7" fmla="*/ 15 h 771"/>
                <a:gd name="T8" fmla="*/ 0 w 1088"/>
                <a:gd name="T9" fmla="*/ 15 h 7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88" h="771">
                  <a:moveTo>
                    <a:pt x="0" y="771"/>
                  </a:moveTo>
                  <a:lnTo>
                    <a:pt x="952" y="0"/>
                  </a:lnTo>
                  <a:lnTo>
                    <a:pt x="1088" y="0"/>
                  </a:lnTo>
                  <a:lnTo>
                    <a:pt x="136" y="771"/>
                  </a:lnTo>
                  <a:lnTo>
                    <a:pt x="0" y="771"/>
                  </a:lnTo>
                  <a:close/>
                </a:path>
              </a:pathLst>
            </a:custGeom>
            <a:solidFill>
              <a:srgbClr val="FFADFF"/>
            </a:solidFill>
            <a:ln w="9525" cap="flat" cmpd="sng">
              <a:solidFill>
                <a:srgbClr val="FF00FF"/>
              </a:solidFill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6" name="Rectangle 38"/>
            <p:cNvSpPr>
              <a:spLocks noChangeArrowheads="1"/>
            </p:cNvSpPr>
            <p:nvPr/>
          </p:nvSpPr>
          <p:spPr bwMode="auto">
            <a:xfrm>
              <a:off x="4014" y="1604"/>
              <a:ext cx="1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kumimoji="1" lang="en-US" altLang="zh-CN" sz="2400" b="1" i="1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</a:p>
          </p:txBody>
        </p:sp>
        <p:sp>
          <p:nvSpPr>
            <p:cNvPr id="55337" name="Rectangle 39"/>
            <p:cNvSpPr>
              <a:spLocks noChangeArrowheads="1"/>
            </p:cNvSpPr>
            <p:nvPr/>
          </p:nvSpPr>
          <p:spPr bwMode="auto">
            <a:xfrm>
              <a:off x="5088" y="1779"/>
              <a:ext cx="1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ClrTx/>
                <a:buSzTx/>
                <a:buFontTx/>
                <a:buNone/>
              </a:pPr>
              <a:r>
                <a:rPr kumimoji="1" lang="en-US" altLang="zh-CN" sz="2400" b="1" i="1">
                  <a:solidFill>
                    <a:srgbClr val="0000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</a:p>
          </p:txBody>
        </p:sp>
      </p:grpSp>
      <p:sp>
        <p:nvSpPr>
          <p:cNvPr id="194601" name="Text Box 41"/>
          <p:cNvSpPr txBox="1">
            <a:spLocks noChangeArrowheads="1"/>
          </p:cNvSpPr>
          <p:nvPr/>
        </p:nvSpPr>
        <p:spPr bwMode="auto">
          <a:xfrm>
            <a:off x="1919289" y="4797425"/>
            <a:ext cx="518477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rgbClr val="0000CC"/>
                </a:solidFill>
              </a:rPr>
              <a:t>External self-inductance per unit length:</a:t>
            </a:r>
            <a:r>
              <a:rPr kumimoji="1" lang="en-US" altLang="zh-CN" sz="2000"/>
              <a:t> </a:t>
            </a:r>
          </a:p>
        </p:txBody>
      </p:sp>
      <p:graphicFrame>
        <p:nvGraphicFramePr>
          <p:cNvPr id="194602" name="Object 42"/>
          <p:cNvGraphicFramePr>
            <a:graphicFrameLocks noGrp="1" noChangeAspect="1"/>
          </p:cNvGraphicFramePr>
          <p:nvPr>
            <p:ph idx="4294967295"/>
          </p:nvPr>
        </p:nvGraphicFramePr>
        <p:xfrm>
          <a:off x="2568575" y="5373688"/>
          <a:ext cx="4246563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9072800" imgH="9448800" progId="Equation.DSMT4">
                  <p:embed/>
                </p:oleObj>
              </mc:Choice>
              <mc:Fallback>
                <p:oleObj name="Equation" r:id="rId20" imgW="49072800" imgH="9448800" progId="Equation.DSMT4">
                  <p:embed/>
                  <p:pic>
                    <p:nvPicPr>
                      <p:cNvPr id="0" name="图片 1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8575" y="5373688"/>
                        <a:ext cx="4246563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812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194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194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194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2000"/>
                                        <p:tgtEl>
                                          <p:spTgt spid="194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2000"/>
                                        <p:tgtEl>
                                          <p:spTgt spid="194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7" grpId="0"/>
      <p:bldP spid="812039" grpId="0"/>
      <p:bldP spid="19460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5587" name="Object 4"/>
          <p:cNvGraphicFramePr>
            <a:graphicFrameLocks noChangeAspect="1"/>
          </p:cNvGraphicFramePr>
          <p:nvPr/>
        </p:nvGraphicFramePr>
        <p:xfrm>
          <a:off x="3868738" y="4273550"/>
          <a:ext cx="3608387" cy="104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843200" imgH="9448800" progId="Equation.DSMT4">
                  <p:embed/>
                </p:oleObj>
              </mc:Choice>
              <mc:Fallback>
                <p:oleObj name="Equation" r:id="rId2" imgW="40843200" imgH="94488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8738" y="4273550"/>
                        <a:ext cx="3608387" cy="1049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588" name="Object 5"/>
          <p:cNvGraphicFramePr>
            <a:graphicFrameLocks noChangeAspect="1"/>
          </p:cNvGraphicFramePr>
          <p:nvPr/>
        </p:nvGraphicFramePr>
        <p:xfrm>
          <a:off x="4443413" y="2041525"/>
          <a:ext cx="2287587" cy="104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298400" imgH="9448800" progId="Equation.DSMT4">
                  <p:embed/>
                </p:oleObj>
              </mc:Choice>
              <mc:Fallback>
                <p:oleObj name="Equation" r:id="rId4" imgW="25298400" imgH="94488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3413" y="2041525"/>
                        <a:ext cx="2287587" cy="1049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589" name="Text Box 6"/>
          <p:cNvSpPr txBox="1">
            <a:spLocks noChangeArrowheads="1"/>
          </p:cNvSpPr>
          <p:nvPr/>
        </p:nvSpPr>
        <p:spPr bwMode="auto">
          <a:xfrm>
            <a:off x="2424113" y="1268413"/>
            <a:ext cx="65532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dirty="0">
                <a:solidFill>
                  <a:srgbClr val="0000CC"/>
                </a:solidFill>
              </a:rPr>
              <a:t>internal self-inductance per unit length for two wires</a:t>
            </a:r>
          </a:p>
        </p:txBody>
      </p:sp>
      <p:sp>
        <p:nvSpPr>
          <p:cNvPr id="813063" name="Text Box 7"/>
          <p:cNvSpPr txBox="1">
            <a:spLocks noChangeArrowheads="1"/>
          </p:cNvSpPr>
          <p:nvPr/>
        </p:nvSpPr>
        <p:spPr bwMode="auto">
          <a:xfrm>
            <a:off x="2351089" y="3213101"/>
            <a:ext cx="6696075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 dirty="0">
                <a:solidFill>
                  <a:srgbClr val="800000"/>
                </a:solidFill>
              </a:rPr>
              <a:t>The total self-inductance per unit length of a two-wire transmission line</a:t>
            </a:r>
          </a:p>
        </p:txBody>
      </p:sp>
      <p:pic>
        <p:nvPicPr>
          <p:cNvPr id="56326" name="Picture 7" descr="BD05546_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6951" y="5273676"/>
            <a:ext cx="1763713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95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95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813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195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9" grpId="0"/>
      <p:bldP spid="813063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Text Box 2"/>
          <p:cNvSpPr txBox="1">
            <a:spLocks noChangeArrowheads="1"/>
          </p:cNvSpPr>
          <p:nvPr/>
        </p:nvSpPr>
        <p:spPr bwMode="auto">
          <a:xfrm>
            <a:off x="1595438" y="333376"/>
            <a:ext cx="8964612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kumimoji="1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Ex.</a:t>
            </a:r>
            <a:r>
              <a:rPr kumimoji="1" lang="en-US" altLang="zh-CN" sz="20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Calculate the mutual inductance between an infinitely long straight line and a rectangular coil. The line and the coil are at the same plane, and in vacuum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grpSp>
        <p:nvGrpSpPr>
          <p:cNvPr id="202755" name="Group 3"/>
          <p:cNvGrpSpPr/>
          <p:nvPr/>
        </p:nvGrpSpPr>
        <p:grpSpPr bwMode="auto">
          <a:xfrm>
            <a:off x="1878013" y="1357313"/>
            <a:ext cx="2006600" cy="2501900"/>
            <a:chOff x="528" y="1208"/>
            <a:chExt cx="1264" cy="1576"/>
          </a:xfrm>
        </p:grpSpPr>
        <p:sp>
          <p:nvSpPr>
            <p:cNvPr id="57358" name="Rectangle 4"/>
            <p:cNvSpPr>
              <a:spLocks noChangeArrowheads="1"/>
            </p:cNvSpPr>
            <p:nvPr/>
          </p:nvSpPr>
          <p:spPr bwMode="auto">
            <a:xfrm>
              <a:off x="528" y="1852"/>
              <a:ext cx="116" cy="2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57359" name="Group 5"/>
            <p:cNvGrpSpPr/>
            <p:nvPr/>
          </p:nvGrpSpPr>
          <p:grpSpPr bwMode="auto">
            <a:xfrm>
              <a:off x="624" y="1208"/>
              <a:ext cx="1168" cy="1576"/>
              <a:chOff x="528" y="1104"/>
              <a:chExt cx="1168" cy="1576"/>
            </a:xfrm>
          </p:grpSpPr>
          <p:sp>
            <p:nvSpPr>
              <p:cNvPr id="57360" name="Rectangle 6" descr="浅色上对角线"/>
              <p:cNvSpPr>
                <a:spLocks noChangeArrowheads="1"/>
              </p:cNvSpPr>
              <p:nvPr/>
            </p:nvSpPr>
            <p:spPr bwMode="auto">
              <a:xfrm>
                <a:off x="1204" y="1619"/>
                <a:ext cx="66" cy="566"/>
              </a:xfrm>
              <a:prstGeom prst="rect">
                <a:avLst/>
              </a:prstGeom>
              <a:pattFill prst="ltUpDiag">
                <a:fgClr>
                  <a:srgbClr val="969696"/>
                </a:fgClr>
                <a:bgClr>
                  <a:srgbClr val="FFFFFF"/>
                </a:bgClr>
              </a:patt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57361" name="Line 7"/>
              <p:cNvSpPr>
                <a:spLocks noChangeShapeType="1"/>
              </p:cNvSpPr>
              <p:nvPr/>
            </p:nvSpPr>
            <p:spPr bwMode="auto">
              <a:xfrm flipH="1" flipV="1">
                <a:off x="750" y="1316"/>
                <a:ext cx="0" cy="1193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none" w="sm" len="med"/>
                <a:tail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62" name="Rectangle 8"/>
              <p:cNvSpPr>
                <a:spLocks noChangeArrowheads="1"/>
              </p:cNvSpPr>
              <p:nvPr/>
            </p:nvSpPr>
            <p:spPr bwMode="auto">
              <a:xfrm>
                <a:off x="1104" y="1619"/>
                <a:ext cx="366" cy="566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57363" name="Line 9"/>
              <p:cNvSpPr>
                <a:spLocks noChangeShapeType="1"/>
              </p:cNvSpPr>
              <p:nvPr/>
            </p:nvSpPr>
            <p:spPr bwMode="auto">
              <a:xfrm flipV="1">
                <a:off x="750" y="1741"/>
                <a:ext cx="0" cy="131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 type="none" w="sm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64" name="Line 10"/>
              <p:cNvSpPr>
                <a:spLocks noChangeShapeType="1"/>
              </p:cNvSpPr>
              <p:nvPr/>
            </p:nvSpPr>
            <p:spPr bwMode="auto">
              <a:xfrm flipV="1">
                <a:off x="1104" y="1619"/>
                <a:ext cx="0" cy="12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 type="none" w="sm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65" name="Line 11"/>
              <p:cNvSpPr>
                <a:spLocks noChangeShapeType="1"/>
              </p:cNvSpPr>
              <p:nvPr/>
            </p:nvSpPr>
            <p:spPr bwMode="auto">
              <a:xfrm>
                <a:off x="1470" y="2054"/>
                <a:ext cx="0" cy="121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 type="none" w="sm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66" name="Line 12"/>
              <p:cNvSpPr>
                <a:spLocks noChangeShapeType="1"/>
              </p:cNvSpPr>
              <p:nvPr/>
            </p:nvSpPr>
            <p:spPr bwMode="auto">
              <a:xfrm>
                <a:off x="1193" y="1629"/>
                <a:ext cx="0" cy="55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none" w="sm" len="med"/>
                <a:tail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67" name="Line 13"/>
              <p:cNvSpPr>
                <a:spLocks noChangeShapeType="1"/>
              </p:cNvSpPr>
              <p:nvPr/>
            </p:nvSpPr>
            <p:spPr bwMode="auto">
              <a:xfrm>
                <a:off x="1270" y="1629"/>
                <a:ext cx="0" cy="55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none" w="sm" len="med"/>
                <a:tail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68" name="Line 14"/>
              <p:cNvSpPr>
                <a:spLocks noChangeShapeType="1"/>
              </p:cNvSpPr>
              <p:nvPr/>
            </p:nvSpPr>
            <p:spPr bwMode="auto">
              <a:xfrm flipH="1">
                <a:off x="1104" y="2185"/>
                <a:ext cx="0" cy="15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none" w="sm" len="med"/>
                <a:tail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69" name="Line 15"/>
              <p:cNvSpPr>
                <a:spLocks noChangeShapeType="1"/>
              </p:cNvSpPr>
              <p:nvPr/>
            </p:nvSpPr>
            <p:spPr bwMode="auto">
              <a:xfrm>
                <a:off x="1193" y="2185"/>
                <a:ext cx="0" cy="30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none" w="sm" len="med"/>
                <a:tail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70" name="Line 16"/>
              <p:cNvSpPr>
                <a:spLocks noChangeShapeType="1"/>
              </p:cNvSpPr>
              <p:nvPr/>
            </p:nvSpPr>
            <p:spPr bwMode="auto">
              <a:xfrm>
                <a:off x="1270" y="2185"/>
                <a:ext cx="0" cy="30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none" w="sm" len="med"/>
                <a:tail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71" name="Line 17"/>
              <p:cNvSpPr>
                <a:spLocks noChangeShapeType="1"/>
              </p:cNvSpPr>
              <p:nvPr/>
            </p:nvSpPr>
            <p:spPr bwMode="auto">
              <a:xfrm>
                <a:off x="761" y="2256"/>
                <a:ext cx="34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sm" len="med"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72" name="Line 18"/>
              <p:cNvSpPr>
                <a:spLocks noChangeShapeType="1"/>
              </p:cNvSpPr>
              <p:nvPr/>
            </p:nvSpPr>
            <p:spPr bwMode="auto">
              <a:xfrm>
                <a:off x="750" y="2397"/>
                <a:ext cx="44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sm" len="med"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73" name="Line 19"/>
              <p:cNvSpPr>
                <a:spLocks noChangeShapeType="1"/>
              </p:cNvSpPr>
              <p:nvPr/>
            </p:nvSpPr>
            <p:spPr bwMode="auto">
              <a:xfrm flipH="1">
                <a:off x="1270" y="2397"/>
                <a:ext cx="2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none" w="sm" len="med"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74" name="Text Box 20"/>
              <p:cNvSpPr txBox="1">
                <a:spLocks noChangeArrowheads="1"/>
              </p:cNvSpPr>
              <p:nvPr/>
            </p:nvSpPr>
            <p:spPr bwMode="auto">
              <a:xfrm>
                <a:off x="949" y="1781"/>
                <a:ext cx="255" cy="2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 altLang="zh-CN" sz="1600" i="1"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57375" name="Text Box 21"/>
              <p:cNvSpPr txBox="1">
                <a:spLocks noChangeArrowheads="1"/>
              </p:cNvSpPr>
              <p:nvPr/>
            </p:nvSpPr>
            <p:spPr bwMode="auto">
              <a:xfrm>
                <a:off x="1214" y="1434"/>
                <a:ext cx="25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 altLang="zh-CN" sz="1600" i="1">
                    <a:latin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57376" name="Text Box 22"/>
              <p:cNvSpPr txBox="1">
                <a:spLocks noChangeArrowheads="1"/>
              </p:cNvSpPr>
              <p:nvPr/>
            </p:nvSpPr>
            <p:spPr bwMode="auto">
              <a:xfrm>
                <a:off x="1120" y="2427"/>
                <a:ext cx="310" cy="2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 altLang="zh-CN" sz="1600">
                    <a:latin typeface="Times New Roman" panose="02020603050405020304" pitchFamily="18" charset="0"/>
                  </a:rPr>
                  <a:t>d</a:t>
                </a:r>
                <a:r>
                  <a:rPr lang="en-US" altLang="zh-CN" sz="1600" i="1">
                    <a:latin typeface="Times New Roman" panose="02020603050405020304" pitchFamily="18" charset="0"/>
                  </a:rPr>
                  <a:t>r</a:t>
                </a:r>
              </a:p>
            </p:txBody>
          </p:sp>
          <p:sp>
            <p:nvSpPr>
              <p:cNvPr id="57377" name="Text Box 23"/>
              <p:cNvSpPr txBox="1">
                <a:spLocks noChangeArrowheads="1"/>
              </p:cNvSpPr>
              <p:nvPr/>
            </p:nvSpPr>
            <p:spPr bwMode="auto">
              <a:xfrm>
                <a:off x="857" y="2333"/>
                <a:ext cx="255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 altLang="zh-CN" sz="1600" i="1">
                    <a:latin typeface="Times New Roman" panose="02020603050405020304" pitchFamily="18" charset="0"/>
                  </a:rPr>
                  <a:t>r</a:t>
                </a:r>
              </a:p>
            </p:txBody>
          </p:sp>
          <p:sp>
            <p:nvSpPr>
              <p:cNvPr id="57378" name="Text Box 24"/>
              <p:cNvSpPr txBox="1">
                <a:spLocks noChangeArrowheads="1"/>
              </p:cNvSpPr>
              <p:nvPr/>
            </p:nvSpPr>
            <p:spPr bwMode="auto">
              <a:xfrm>
                <a:off x="816" y="2084"/>
                <a:ext cx="255" cy="2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 altLang="zh-CN" sz="1600" i="1"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57379" name="Text Box 25"/>
              <p:cNvSpPr txBox="1">
                <a:spLocks noChangeArrowheads="1"/>
              </p:cNvSpPr>
              <p:nvPr/>
            </p:nvSpPr>
            <p:spPr bwMode="auto">
              <a:xfrm>
                <a:off x="794" y="1629"/>
                <a:ext cx="299" cy="2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 altLang="zh-CN" sz="1600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</a:t>
                </a:r>
                <a:r>
                  <a:rPr lang="en-US" altLang="zh-CN" sz="1600" baseline="-25000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57380" name="Text Box 26"/>
              <p:cNvSpPr txBox="1">
                <a:spLocks noChangeArrowheads="1"/>
              </p:cNvSpPr>
              <p:nvPr/>
            </p:nvSpPr>
            <p:spPr bwMode="auto">
              <a:xfrm>
                <a:off x="528" y="1650"/>
                <a:ext cx="255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 altLang="zh-CN" sz="1600" i="1">
                    <a:latin typeface="Times New Roman" panose="02020603050405020304" pitchFamily="18" charset="0"/>
                  </a:rPr>
                  <a:t>I</a:t>
                </a:r>
                <a:r>
                  <a:rPr lang="en-US" altLang="zh-CN" sz="1600" baseline="-2500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57381" name="Text Box 27"/>
              <p:cNvSpPr txBox="1">
                <a:spLocks noChangeArrowheads="1"/>
              </p:cNvSpPr>
              <p:nvPr/>
            </p:nvSpPr>
            <p:spPr bwMode="auto">
              <a:xfrm>
                <a:off x="1441" y="1781"/>
                <a:ext cx="255" cy="2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 altLang="zh-CN" sz="1600" i="1">
                    <a:latin typeface="Times New Roman" panose="02020603050405020304" pitchFamily="18" charset="0"/>
                  </a:rPr>
                  <a:t>I</a:t>
                </a:r>
                <a:r>
                  <a:rPr lang="en-US" altLang="zh-CN" sz="1600" baseline="-2500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57382" name="Line 28"/>
              <p:cNvSpPr>
                <a:spLocks noChangeShapeType="1"/>
              </p:cNvSpPr>
              <p:nvPr/>
            </p:nvSpPr>
            <p:spPr bwMode="auto">
              <a:xfrm flipV="1">
                <a:off x="750" y="1144"/>
                <a:ext cx="0" cy="18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83" name="Text Box 29"/>
              <p:cNvSpPr txBox="1">
                <a:spLocks noChangeArrowheads="1"/>
              </p:cNvSpPr>
              <p:nvPr/>
            </p:nvSpPr>
            <p:spPr bwMode="auto">
              <a:xfrm>
                <a:off x="550" y="1104"/>
                <a:ext cx="266" cy="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 altLang="zh-CN" sz="1600" i="1">
                    <a:latin typeface="Times New Roman" panose="02020603050405020304" pitchFamily="18" charset="0"/>
                  </a:rPr>
                  <a:t>z</a:t>
                </a:r>
              </a:p>
            </p:txBody>
          </p:sp>
          <p:sp>
            <p:nvSpPr>
              <p:cNvPr id="57384" name="Text Box 30"/>
              <p:cNvSpPr txBox="1">
                <a:spLocks noChangeArrowheads="1"/>
              </p:cNvSpPr>
              <p:nvPr/>
            </p:nvSpPr>
            <p:spPr bwMode="auto">
              <a:xfrm>
                <a:off x="1237" y="1801"/>
                <a:ext cx="321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sm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/>
                <a:r>
                  <a:rPr lang="en-US" altLang="zh-CN" sz="1600" i="1">
                    <a:latin typeface="Times New Roman" panose="02020603050405020304" pitchFamily="18" charset="0"/>
                  </a:rPr>
                  <a:t>S</a:t>
                </a:r>
                <a:r>
                  <a:rPr lang="en-US" altLang="zh-CN" sz="1600" baseline="-25000">
                    <a:latin typeface="Times New Roman" panose="02020603050405020304" pitchFamily="18" charset="0"/>
                  </a:rPr>
                  <a:t>2</a:t>
                </a:r>
              </a:p>
            </p:txBody>
          </p:sp>
        </p:grpSp>
      </p:grpSp>
      <p:sp>
        <p:nvSpPr>
          <p:cNvPr id="202783" name="Text Box 31"/>
          <p:cNvSpPr txBox="1">
            <a:spLocks noChangeArrowheads="1"/>
          </p:cNvSpPr>
          <p:nvPr/>
        </p:nvSpPr>
        <p:spPr bwMode="auto">
          <a:xfrm>
            <a:off x="4151314" y="1268414"/>
            <a:ext cx="6192837" cy="1235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  <a:spcBef>
                <a:spcPct val="50000"/>
              </a:spcBef>
            </a:pPr>
            <a:r>
              <a:rPr kumimoji="1" lang="en-US" altLang="zh-CN" sz="2000" b="1">
                <a:solidFill>
                  <a:srgbClr val="FF0000"/>
                </a:solidFill>
                <a:latin typeface="Times New Roman" panose="02020603050405020304" pitchFamily="18" charset="0"/>
              </a:rPr>
              <a:t>  Solution: </a:t>
            </a:r>
            <a:r>
              <a:rPr kumimoji="1" lang="en-US" altLang="zh-CN" sz="2000" b="1">
                <a:solidFill>
                  <a:srgbClr val="3333FF"/>
                </a:solidFill>
                <a:latin typeface="Times New Roman" panose="02020603050405020304" pitchFamily="18" charset="0"/>
              </a:rPr>
              <a:t>Select cylindrical coordinate system, and let the infinitely long straight line to be at the </a:t>
            </a:r>
            <a:r>
              <a:rPr kumimoji="1" lang="en-US" altLang="zh-CN" sz="2000" i="1">
                <a:solidFill>
                  <a:srgbClr val="000000"/>
                </a:solidFill>
                <a:latin typeface="Times New Roman" panose="02020603050405020304" pitchFamily="18" charset="0"/>
              </a:rPr>
              <a:t>z</a:t>
            </a:r>
            <a:r>
              <a:rPr kumimoji="1" lang="en-US" altLang="zh-CN" sz="2000" b="1">
                <a:solidFill>
                  <a:srgbClr val="3333FF"/>
                </a:solidFill>
                <a:latin typeface="Times New Roman" panose="02020603050405020304" pitchFamily="18" charset="0"/>
              </a:rPr>
              <a:t>-axis. The magnetic flux density produced by current 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000" b="1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000" b="1">
                <a:solidFill>
                  <a:srgbClr val="3333FF"/>
                </a:solidFill>
                <a:latin typeface="Times New Roman" panose="02020603050405020304" pitchFamily="18" charset="0"/>
              </a:rPr>
              <a:t> is then</a:t>
            </a:r>
            <a:endParaRPr kumimoji="1" lang="en-US" altLang="zh-CN" sz="2000" b="1">
              <a:solidFill>
                <a:srgbClr val="3333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02784" name="Object 32"/>
          <p:cNvGraphicFramePr>
            <a:graphicFrameLocks noChangeAspect="1"/>
          </p:cNvGraphicFramePr>
          <p:nvPr/>
        </p:nvGraphicFramePr>
        <p:xfrm>
          <a:off x="6167439" y="2492375"/>
          <a:ext cx="1296987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74065" imgH="393700" progId="Equation.3">
                  <p:embed/>
                </p:oleObj>
              </mc:Choice>
              <mc:Fallback>
                <p:oleObj name="Equation" r:id="rId2" imgW="774065" imgH="393700" progId="Equation.3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7439" y="2492375"/>
                        <a:ext cx="1296987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2785" name="Text Box 33"/>
          <p:cNvSpPr txBox="1">
            <a:spLocks noChangeArrowheads="1"/>
          </p:cNvSpPr>
          <p:nvPr/>
        </p:nvSpPr>
        <p:spPr bwMode="auto">
          <a:xfrm>
            <a:off x="4151313" y="3068639"/>
            <a:ext cx="626586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kumimoji="1" lang="en-US" altLang="zh-CN" sz="2000" b="1">
                <a:solidFill>
                  <a:srgbClr val="3333FF"/>
                </a:solidFill>
                <a:latin typeface="Times New Roman" panose="02020603050405020304" pitchFamily="18" charset="0"/>
              </a:rPr>
              <a:t>The magnetic flux linkage </a:t>
            </a:r>
            <a:r>
              <a:rPr kumimoji="1" lang="en-US" altLang="zh-CN" sz="2000" i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</a:t>
            </a:r>
            <a:r>
              <a:rPr kumimoji="1" lang="en-US" altLang="zh-CN" sz="2000" baseline="-25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21</a:t>
            </a:r>
            <a:r>
              <a:rPr kumimoji="1" lang="en-US" altLang="zh-CN" sz="2000" baseline="-250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sz="2000" b="1">
                <a:solidFill>
                  <a:srgbClr val="3333FF"/>
                </a:solidFill>
                <a:latin typeface="Times New Roman" panose="02020603050405020304" pitchFamily="18" charset="0"/>
              </a:rPr>
              <a:t>with current 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000" b="1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000" b="1">
                <a:solidFill>
                  <a:srgbClr val="3333FF"/>
                </a:solidFill>
                <a:latin typeface="Times New Roman" panose="02020603050405020304" pitchFamily="18" charset="0"/>
              </a:rPr>
              <a:t> by current</a:t>
            </a:r>
            <a:r>
              <a:rPr kumimoji="1" lang="en-US" altLang="zh-CN" sz="2000">
                <a:latin typeface="Times New Roman" panose="02020603050405020304" pitchFamily="18" charset="0"/>
              </a:rPr>
              <a:t> 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000" b="1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000" b="1" baseline="-30000">
                <a:solidFill>
                  <a:srgbClr val="3333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000" b="1">
                <a:solidFill>
                  <a:srgbClr val="3333FF"/>
                </a:solidFill>
                <a:latin typeface="Times New Roman" panose="02020603050405020304" pitchFamily="18" charset="0"/>
              </a:rPr>
              <a:t>is</a:t>
            </a:r>
            <a:endParaRPr kumimoji="1" lang="en-US" altLang="zh-CN" sz="2000" b="1">
              <a:solidFill>
                <a:srgbClr val="3333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02786" name="Object 34"/>
          <p:cNvGraphicFramePr>
            <a:graphicFrameLocks noChangeAspect="1"/>
          </p:cNvGraphicFramePr>
          <p:nvPr/>
        </p:nvGraphicFramePr>
        <p:xfrm>
          <a:off x="6024563" y="3716339"/>
          <a:ext cx="172720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64565" imgH="317500" progId="Equation.3">
                  <p:embed/>
                </p:oleObj>
              </mc:Choice>
              <mc:Fallback>
                <p:oleObj name="Equation" r:id="rId4" imgW="964565" imgH="317500" progId="Equation.3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4563" y="3716339"/>
                        <a:ext cx="1727200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2787" name="Text Box 35"/>
          <p:cNvSpPr txBox="1">
            <a:spLocks noChangeArrowheads="1"/>
          </p:cNvSpPr>
          <p:nvPr/>
        </p:nvSpPr>
        <p:spPr bwMode="auto">
          <a:xfrm>
            <a:off x="1774826" y="4221164"/>
            <a:ext cx="8640763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  <a:spcBef>
                <a:spcPct val="50000"/>
              </a:spcBef>
            </a:pPr>
            <a:r>
              <a:rPr kumimoji="1" lang="en-US" altLang="zh-CN" sz="2000" b="1">
                <a:solidFill>
                  <a:srgbClr val="3333FF"/>
                </a:solidFill>
                <a:latin typeface="Times New Roman" panose="02020603050405020304" pitchFamily="18" charset="0"/>
              </a:rPr>
              <a:t>If the flowing direction of the current 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000" b="1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000" b="1" baseline="-30000">
                <a:solidFill>
                  <a:srgbClr val="3333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000" b="1">
                <a:solidFill>
                  <a:srgbClr val="3333FF"/>
                </a:solidFill>
                <a:latin typeface="Times New Roman" panose="02020603050405020304" pitchFamily="18" charset="0"/>
              </a:rPr>
              <a:t>is clockwise, 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kumimoji="1" lang="en-US" altLang="zh-CN" sz="2000" b="1">
                <a:latin typeface="Times New Roman" panose="02020603050405020304" pitchFamily="18" charset="0"/>
              </a:rPr>
              <a:t> </a:t>
            </a:r>
            <a:r>
              <a:rPr kumimoji="1" lang="en-US" altLang="zh-CN" sz="2000" b="1">
                <a:solidFill>
                  <a:srgbClr val="3333FF"/>
                </a:solidFill>
                <a:latin typeface="Times New Roman" panose="02020603050405020304" pitchFamily="18" charset="0"/>
              </a:rPr>
              <a:t>and </a:t>
            </a:r>
            <a:r>
              <a:rPr kumimoji="1" lang="en-US" altLang="zh-CN" sz="2000" b="1">
                <a:latin typeface="Times New Roman" panose="02020603050405020304" pitchFamily="18" charset="0"/>
              </a:rPr>
              <a:t> </a:t>
            </a:r>
            <a:r>
              <a:rPr kumimoji="1" lang="en-US" altLang="zh-CN" sz="2000" b="1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sz="2000" b="1" baseline="-30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000" b="1" baseline="-30000">
                <a:solidFill>
                  <a:srgbClr val="3333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000" b="1">
                <a:solidFill>
                  <a:srgbClr val="3333FF"/>
                </a:solidFill>
                <a:latin typeface="Times New Roman" panose="02020603050405020304" pitchFamily="18" charset="0"/>
              </a:rPr>
              <a:t>have the same direction. Then</a:t>
            </a:r>
            <a:endParaRPr kumimoji="1" lang="en-US" altLang="zh-CN" sz="2000" b="1">
              <a:solidFill>
                <a:srgbClr val="3333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02788" name="Object 36"/>
          <p:cNvGraphicFramePr>
            <a:graphicFrameLocks noChangeAspect="1"/>
          </p:cNvGraphicFramePr>
          <p:nvPr/>
        </p:nvGraphicFramePr>
        <p:xfrm>
          <a:off x="4008438" y="4797425"/>
          <a:ext cx="403225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63800" imgH="431800" progId="Equation.3">
                  <p:embed/>
                </p:oleObj>
              </mc:Choice>
              <mc:Fallback>
                <p:oleObj name="Equation" r:id="rId6" imgW="2463800" imgH="431800" progId="Equation.3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8438" y="4797425"/>
                        <a:ext cx="403225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2791" name="Group 39"/>
          <p:cNvGrpSpPr/>
          <p:nvPr/>
        </p:nvGrpSpPr>
        <p:grpSpPr bwMode="auto">
          <a:xfrm>
            <a:off x="1847850" y="5516563"/>
            <a:ext cx="4724400" cy="781050"/>
            <a:chOff x="2112" y="365"/>
            <a:chExt cx="2976" cy="492"/>
          </a:xfrm>
        </p:grpSpPr>
        <p:sp>
          <p:nvSpPr>
            <p:cNvPr id="57356" name="Text Box 40"/>
            <p:cNvSpPr txBox="1">
              <a:spLocks noChangeArrowheads="1"/>
            </p:cNvSpPr>
            <p:nvPr/>
          </p:nvSpPr>
          <p:spPr bwMode="auto">
            <a:xfrm>
              <a:off x="2112" y="384"/>
              <a:ext cx="768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50000"/>
                </a:spcBef>
              </a:pPr>
              <a:r>
                <a:rPr kumimoji="1" lang="en-US" altLang="zh-CN" sz="2000" b="1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We have</a:t>
              </a:r>
            </a:p>
          </p:txBody>
        </p:sp>
        <p:graphicFrame>
          <p:nvGraphicFramePr>
            <p:cNvPr id="57357" name="Object 41"/>
            <p:cNvGraphicFramePr>
              <a:graphicFrameLocks noChangeAspect="1"/>
            </p:cNvGraphicFramePr>
            <p:nvPr/>
          </p:nvGraphicFramePr>
          <p:xfrm>
            <a:off x="2966" y="365"/>
            <a:ext cx="2122" cy="4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943100" imgH="444500" progId="Equation.3">
                    <p:embed/>
                  </p:oleObj>
                </mc:Choice>
                <mc:Fallback>
                  <p:oleObj name="Equation" r:id="rId8" imgW="1943100" imgH="444500" progId="Equation.3">
                    <p:embed/>
                    <p:pic>
                      <p:nvPicPr>
                        <p:cNvPr id="0" name="图片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66" y="365"/>
                          <a:ext cx="2122" cy="4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2794" name="Text Box 42"/>
          <p:cNvSpPr txBox="1">
            <a:spLocks noChangeArrowheads="1"/>
          </p:cNvSpPr>
          <p:nvPr/>
        </p:nvSpPr>
        <p:spPr bwMode="auto">
          <a:xfrm>
            <a:off x="6888163" y="5426077"/>
            <a:ext cx="4953000" cy="1235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  <a:spcBef>
                <a:spcPct val="50000"/>
              </a:spcBef>
            </a:pPr>
            <a:r>
              <a:rPr kumimoji="1" lang="en-US" altLang="zh-CN" sz="20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      If the flowing direction of the current </a:t>
            </a:r>
            <a:r>
              <a:rPr kumimoji="1" lang="en-US" altLang="zh-CN" sz="2000" i="1" dirty="0">
                <a:latin typeface="Times New Roman" panose="02020603050405020304" pitchFamily="18" charset="0"/>
              </a:rPr>
              <a:t>I</a:t>
            </a:r>
            <a:r>
              <a:rPr kumimoji="1" lang="en-US" altLang="zh-CN" sz="2000" baseline="-30000" dirty="0">
                <a:latin typeface="Times New Roman" panose="02020603050405020304" pitchFamily="18" charset="0"/>
              </a:rPr>
              <a:t>2</a:t>
            </a:r>
            <a:r>
              <a:rPr kumimoji="1" lang="en-US" altLang="zh-CN" sz="2000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is </a:t>
            </a:r>
            <a:r>
              <a:rPr kumimoji="1"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counter</a:t>
            </a:r>
            <a:r>
              <a:rPr kumimoji="1" lang="en-US" altLang="zh-CN" sz="20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 clockwise, then the </a:t>
            </a:r>
            <a:r>
              <a:rPr kumimoji="1" lang="en-US" altLang="zh-CN" sz="2000" b="1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1" lang="en-US" altLang="zh-CN" sz="2000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en-US" altLang="zh-CN" sz="20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 and </a:t>
            </a:r>
            <a:r>
              <a:rPr kumimoji="1" lang="en-US" altLang="zh-CN" sz="2000" dirty="0" err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1" lang="en-US" altLang="zh-CN" sz="2000" b="1" i="1" dirty="0" err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kumimoji="1" lang="en-US" altLang="zh-CN" sz="20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 are opposite, and </a:t>
            </a:r>
            <a:r>
              <a:rPr kumimoji="1" lang="en-US" altLang="zh-CN" sz="2000" i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1" lang="en-US" altLang="zh-CN" sz="2000" baseline="-300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21</a:t>
            </a:r>
            <a:r>
              <a:rPr kumimoji="1"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&lt; 0</a:t>
            </a:r>
            <a:r>
              <a:rPr kumimoji="1" lang="en-US" altLang="zh-CN" sz="200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kumimoji="1" lang="en-US" altLang="zh-CN" sz="2000" b="1" dirty="0">
              <a:solidFill>
                <a:srgbClr val="3333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27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2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27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27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27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27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27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27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27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27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2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2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27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2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27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27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02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02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54" grpId="0" autoUpdateAnimBg="0"/>
      <p:bldP spid="202783" grpId="0" autoUpdateAnimBg="0"/>
      <p:bldP spid="202785" grpId="0" autoUpdateAnimBg="0"/>
      <p:bldP spid="202787" grpId="0" autoUpdateAnimBg="0"/>
      <p:bldP spid="202794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E414129-E9BA-4F69-BD07-06841213E693}"/>
              </a:ext>
            </a:extLst>
          </p:cNvPr>
          <p:cNvSpPr txBox="1"/>
          <p:nvPr/>
        </p:nvSpPr>
        <p:spPr>
          <a:xfrm>
            <a:off x="3048918" y="2831590"/>
            <a:ext cx="60978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https://www.bilibili.com/video/BV1t64y1C7o7/?spm_id_from=333.337.search-card.all.click&amp;vd_source=cbc26ac5a27dd541735237c7e8b5a6a4</a:t>
            </a:r>
          </a:p>
        </p:txBody>
      </p:sp>
    </p:spTree>
    <p:extLst>
      <p:ext uri="{BB962C8B-B14F-4D97-AF65-F5344CB8AC3E}">
        <p14:creationId xmlns:p14="http://schemas.microsoft.com/office/powerpoint/2010/main" val="162914087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2"/>
          <p:cNvSpPr txBox="1">
            <a:spLocks noChangeArrowheads="1"/>
          </p:cNvSpPr>
          <p:nvPr/>
        </p:nvSpPr>
        <p:spPr bwMode="auto">
          <a:xfrm>
            <a:off x="1595439" y="1125538"/>
            <a:ext cx="8893175" cy="1052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Blip>
                <a:blip r:embed="rId2"/>
              </a:buBlip>
            </a:pPr>
            <a:endParaRPr kumimoji="1" lang="en-US" altLang="zh-CN" sz="2400" b="1">
              <a:solidFill>
                <a:srgbClr val="0000CC"/>
              </a:solidFill>
              <a:ea typeface="楷体_GB2312" pitchFamily="49" charset="-122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0000CC"/>
                </a:solidFill>
                <a:ea typeface="楷体_GB2312" pitchFamily="49" charset="-122"/>
              </a:rPr>
              <a:t>       </a:t>
            </a:r>
          </a:p>
        </p:txBody>
      </p:sp>
      <p:sp>
        <p:nvSpPr>
          <p:cNvPr id="175108" name="Text Box 3"/>
          <p:cNvSpPr txBox="1">
            <a:spLocks noChangeArrowheads="1"/>
          </p:cNvSpPr>
          <p:nvPr/>
        </p:nvSpPr>
        <p:spPr bwMode="auto">
          <a:xfrm>
            <a:off x="2351088" y="3573463"/>
            <a:ext cx="6913562" cy="572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Blip>
                <a:blip r:embed="rId3"/>
              </a:buBlip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　</a:t>
            </a:r>
            <a:r>
              <a: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Distribution space of magnetic field energy</a:t>
            </a:r>
          </a:p>
        </p:txBody>
      </p:sp>
      <p:sp>
        <p:nvSpPr>
          <p:cNvPr id="175109" name="Text Box 4"/>
          <p:cNvSpPr txBox="1">
            <a:spLocks noChangeArrowheads="1"/>
          </p:cNvSpPr>
          <p:nvPr/>
        </p:nvSpPr>
        <p:spPr bwMode="auto">
          <a:xfrm>
            <a:off x="2279650" y="1628775"/>
            <a:ext cx="7056438" cy="572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Blip>
                <a:blip r:embed="rId3"/>
              </a:buBlip>
            </a:pPr>
            <a:r>
              <a:rPr kumimoji="1"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　</a:t>
            </a:r>
            <a:r>
              <a: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Experimental evidence of magnetic field energy</a:t>
            </a:r>
          </a:p>
        </p:txBody>
      </p:sp>
      <p:graphicFrame>
        <p:nvGraphicFramePr>
          <p:cNvPr id="175111" name="Object 8"/>
          <p:cNvGraphicFramePr>
            <a:graphicFrameLocks noGrp="1" noChangeAspect="1"/>
          </p:cNvGraphicFramePr>
          <p:nvPr>
            <p:ph idx="4294967295"/>
          </p:nvPr>
        </p:nvGraphicFramePr>
        <p:xfrm>
          <a:off x="4525963" y="2492375"/>
          <a:ext cx="1985962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421600" imgH="9144000" progId="Equation.DSMT4">
                  <p:embed/>
                </p:oleObj>
              </mc:Choice>
              <mc:Fallback>
                <p:oleObj name="Equation" r:id="rId4" imgW="20421600" imgH="9144000" progId="Equation.DSMT4">
                  <p:embed/>
                  <p:pic>
                    <p:nvPicPr>
                      <p:cNvPr id="0" name="图片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5963" y="2492375"/>
                        <a:ext cx="1985962" cy="8890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4186" name="Text Box 10"/>
          <p:cNvSpPr txBox="1">
            <a:spLocks noChangeArrowheads="1"/>
          </p:cNvSpPr>
          <p:nvPr/>
        </p:nvSpPr>
        <p:spPr bwMode="auto">
          <a:xfrm>
            <a:off x="3575051" y="4581526"/>
            <a:ext cx="4968875" cy="8858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 dirty="0">
                <a:solidFill>
                  <a:srgbClr val="000000"/>
                </a:solidFill>
                <a:ea typeface="楷体_GB2312" pitchFamily="49" charset="-122"/>
              </a:rPr>
              <a:t>Where there is a magnetic field, there is the energy of the magnetic field </a:t>
            </a:r>
            <a:r>
              <a:rPr kumimoji="1" lang="zh-CN" altLang="en-US" sz="2000" b="1" dirty="0">
                <a:solidFill>
                  <a:srgbClr val="000000"/>
                </a:solidFill>
                <a:ea typeface="楷体_GB2312" pitchFamily="49" charset="-122"/>
              </a:rPr>
              <a:t>！</a:t>
            </a:r>
          </a:p>
        </p:txBody>
      </p:sp>
      <p:sp>
        <p:nvSpPr>
          <p:cNvPr id="58375" name="Rectangle 9"/>
          <p:cNvSpPr>
            <a:spLocks noChangeArrowheads="1"/>
          </p:cNvSpPr>
          <p:nvPr/>
        </p:nvSpPr>
        <p:spPr bwMode="auto">
          <a:xfrm>
            <a:off x="2279650" y="476250"/>
            <a:ext cx="7920038" cy="1081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600" b="1">
                <a:solidFill>
                  <a:srgbClr val="800000"/>
                </a:solidFill>
              </a:rPr>
              <a:t>6.8 Magnetic Energy</a:t>
            </a:r>
          </a:p>
        </p:txBody>
      </p:sp>
      <p:graphicFrame>
        <p:nvGraphicFramePr>
          <p:cNvPr id="58376" name="Object 10">
            <a:hlinkClick r:id="" action="ppaction://ole?verb=0"/>
          </p:cNvPr>
          <p:cNvGraphicFramePr/>
          <p:nvPr/>
        </p:nvGraphicFramePr>
        <p:xfrm>
          <a:off x="9048751" y="4724401"/>
          <a:ext cx="1438275" cy="204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! Graphic" r:id="rId6" imgW="2304415" imgH="2689860" progId="CDraw">
                  <p:embed/>
                </p:oleObj>
              </mc:Choice>
              <mc:Fallback>
                <p:oleObj name="CorelDRAW! Graphic" r:id="rId6" imgW="2304415" imgH="2689860" progId="CDraw">
                  <p:embed/>
                  <p:pic>
                    <p:nvPicPr>
                      <p:cNvPr id="0" name="图片 2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8751" y="4724401"/>
                        <a:ext cx="1438275" cy="204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0"/>
                                        <p:tgtEl>
                                          <p:spTgt spid="175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75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175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1074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8" grpId="0"/>
      <p:bldP spid="175109" grpId="0"/>
      <p:bldP spid="1074186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2"/>
          <p:cNvSpPr txBox="1">
            <a:spLocks noChangeArrowheads="1"/>
          </p:cNvSpPr>
          <p:nvPr/>
        </p:nvSpPr>
        <p:spPr bwMode="auto">
          <a:xfrm>
            <a:off x="1642745" y="481965"/>
            <a:ext cx="9210040" cy="4603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1. Calculation of magnetic field energy by magnetic field distribution</a:t>
            </a:r>
          </a:p>
        </p:txBody>
      </p:sp>
      <p:sp>
        <p:nvSpPr>
          <p:cNvPr id="176132" name="Text Box 4"/>
          <p:cNvSpPr txBox="1">
            <a:spLocks noChangeArrowheads="1"/>
          </p:cNvSpPr>
          <p:nvPr/>
        </p:nvSpPr>
        <p:spPr bwMode="auto">
          <a:xfrm>
            <a:off x="1774826" y="1412875"/>
            <a:ext cx="48101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Blip>
                <a:blip r:embed="rId2"/>
              </a:buBlip>
            </a:pPr>
            <a:r>
              <a:rPr kumimoji="1" lang="en-US" altLang="zh-CN" sz="20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 Energy density of magnetic field </a:t>
            </a:r>
            <a:r>
              <a:rPr kumimoji="1" lang="zh-CN" altLang="en-US" sz="20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</a:p>
        </p:txBody>
      </p:sp>
      <p:sp>
        <p:nvSpPr>
          <p:cNvPr id="1080325" name="Text Box 5"/>
          <p:cNvSpPr txBox="1">
            <a:spLocks noChangeArrowheads="1"/>
          </p:cNvSpPr>
          <p:nvPr/>
        </p:nvSpPr>
        <p:spPr bwMode="auto">
          <a:xfrm>
            <a:off x="1774825" y="2579688"/>
            <a:ext cx="5761038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Blip>
                <a:blip r:embed="rId2"/>
              </a:buBlip>
            </a:pPr>
            <a:r>
              <a:rPr kumimoji="1" lang="en-US" altLang="zh-CN" sz="20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 Energy of magnetic field </a:t>
            </a:r>
            <a:r>
              <a:rPr kumimoji="1" lang="zh-CN" altLang="en-US" sz="20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</a:p>
        </p:txBody>
      </p:sp>
      <p:grpSp>
        <p:nvGrpSpPr>
          <p:cNvPr id="1080326" name="Group 6"/>
          <p:cNvGrpSpPr/>
          <p:nvPr/>
        </p:nvGrpSpPr>
        <p:grpSpPr bwMode="auto">
          <a:xfrm>
            <a:off x="7055685" y="2154237"/>
            <a:ext cx="4291597" cy="1320801"/>
            <a:chOff x="3003" y="1117"/>
            <a:chExt cx="2145" cy="832"/>
          </a:xfrm>
        </p:grpSpPr>
        <p:sp>
          <p:nvSpPr>
            <p:cNvPr id="59404" name="Text Box 7"/>
            <p:cNvSpPr txBox="1">
              <a:spLocks noChangeArrowheads="1"/>
            </p:cNvSpPr>
            <p:nvPr/>
          </p:nvSpPr>
          <p:spPr bwMode="auto">
            <a:xfrm>
              <a:off x="3537" y="1117"/>
              <a:ext cx="1611" cy="736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rgbClr val="FF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The magnetic field energy in the integral domain V</a:t>
              </a:r>
            </a:p>
          </p:txBody>
        </p:sp>
        <p:sp>
          <p:nvSpPr>
            <p:cNvPr id="59405" name="Line 8"/>
            <p:cNvSpPr>
              <a:spLocks noChangeShapeType="1"/>
            </p:cNvSpPr>
            <p:nvPr/>
          </p:nvSpPr>
          <p:spPr bwMode="auto">
            <a:xfrm flipH="1">
              <a:off x="3003" y="1631"/>
              <a:ext cx="589" cy="318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80329" name="Text Box 9"/>
          <p:cNvSpPr txBox="1">
            <a:spLocks noChangeArrowheads="1"/>
          </p:cNvSpPr>
          <p:nvPr/>
        </p:nvSpPr>
        <p:spPr bwMode="auto">
          <a:xfrm>
            <a:off x="1774826" y="3803650"/>
            <a:ext cx="626427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Blip>
                <a:blip r:embed="rId2"/>
              </a:buBlip>
            </a:pPr>
            <a:r>
              <a:rPr kumimoji="1" lang="en-US" altLang="zh-CN" sz="20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 For linear, isotropic medium it can be written as:</a:t>
            </a:r>
          </a:p>
        </p:txBody>
      </p:sp>
      <p:graphicFrame>
        <p:nvGraphicFramePr>
          <p:cNvPr id="176138" name="Object 10"/>
          <p:cNvGraphicFramePr>
            <a:graphicFrameLocks noChangeAspect="1"/>
          </p:cNvGraphicFramePr>
          <p:nvPr/>
        </p:nvGraphicFramePr>
        <p:xfrm>
          <a:off x="4940300" y="1689100"/>
          <a:ext cx="1774825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507200" imgH="9448800" progId="Equation.DSMT4">
                  <p:embed/>
                </p:oleObj>
              </mc:Choice>
              <mc:Fallback>
                <p:oleObj name="Equation" r:id="rId3" imgW="19507200" imgH="94488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0300" y="1689100"/>
                        <a:ext cx="1774825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39" name="Object 11"/>
          <p:cNvGraphicFramePr>
            <a:graphicFrameLocks noChangeAspect="1"/>
          </p:cNvGraphicFramePr>
          <p:nvPr/>
        </p:nvGraphicFramePr>
        <p:xfrm>
          <a:off x="4733925" y="2843213"/>
          <a:ext cx="2398713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127200" imgH="9448800" progId="Equation.DSMT4">
                  <p:embed/>
                </p:oleObj>
              </mc:Choice>
              <mc:Fallback>
                <p:oleObj name="Equation" r:id="rId5" imgW="27127200" imgH="94488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3925" y="2843213"/>
                        <a:ext cx="2398713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40" name="Object 12"/>
          <p:cNvGraphicFramePr>
            <a:graphicFrameLocks noChangeAspect="1"/>
          </p:cNvGraphicFramePr>
          <p:nvPr/>
        </p:nvGraphicFramePr>
        <p:xfrm>
          <a:off x="2571750" y="4281488"/>
          <a:ext cx="4318000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0292000" imgH="9448800" progId="Equation.DSMT4">
                  <p:embed/>
                </p:oleObj>
              </mc:Choice>
              <mc:Fallback>
                <p:oleObj name="Equation" r:id="rId7" imgW="50292000" imgH="94488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0" y="4281488"/>
                        <a:ext cx="4318000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141" name="Object 13"/>
          <p:cNvGraphicFramePr>
            <a:graphicFrameLocks noChangeAspect="1"/>
          </p:cNvGraphicFramePr>
          <p:nvPr/>
        </p:nvGraphicFramePr>
        <p:xfrm>
          <a:off x="2568575" y="5216525"/>
          <a:ext cx="6520007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3456800" imgH="9448800" progId="Equation.DSMT4">
                  <p:embed/>
                </p:oleObj>
              </mc:Choice>
              <mc:Fallback>
                <p:oleObj name="Equation" r:id="rId9" imgW="73456800" imgH="94488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8575" y="5216525"/>
                        <a:ext cx="6520007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9403" name="Picture 14" descr="感恩 中的图像 04"/>
          <p:cNvPicPr>
            <a:picLocks noChangeAspect="1" noChangeArrowheads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6173" y="4768850"/>
            <a:ext cx="1481137" cy="208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176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176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1080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1080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176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176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1080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3000" fill="hold"/>
                                        <p:tgtEl>
                                          <p:spTgt spid="1080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3000" fill="hold"/>
                                        <p:tgtEl>
                                          <p:spTgt spid="1080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2000" fill="hold"/>
                                        <p:tgtEl>
                                          <p:spTgt spid="176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2000" fill="hold"/>
                                        <p:tgtEl>
                                          <p:spTgt spid="176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0"/>
                            </p:stCondLst>
                            <p:childTnLst>
                              <p:par>
                                <p:cTn id="4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2000" fill="hold"/>
                                        <p:tgtEl>
                                          <p:spTgt spid="176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2000" fill="hold"/>
                                        <p:tgtEl>
                                          <p:spTgt spid="176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2" grpId="0"/>
      <p:bldP spid="1080325" grpId="0"/>
      <p:bldP spid="1080329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ChangeArrowheads="1"/>
          </p:cNvSpPr>
          <p:nvPr/>
        </p:nvSpPr>
        <p:spPr bwMode="auto">
          <a:xfrm>
            <a:off x="5867400" y="762000"/>
            <a:ext cx="4572000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FF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b="1">
              <a:solidFill>
                <a:srgbClr val="0000CC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177156" name="Text Box 3"/>
          <p:cNvSpPr txBox="1">
            <a:spLocks noChangeArrowheads="1"/>
          </p:cNvSpPr>
          <p:nvPr/>
        </p:nvSpPr>
        <p:spPr bwMode="auto">
          <a:xfrm>
            <a:off x="1919289" y="2060575"/>
            <a:ext cx="4681537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Volume current distribution</a:t>
            </a:r>
          </a:p>
        </p:txBody>
      </p:sp>
      <p:sp>
        <p:nvSpPr>
          <p:cNvPr id="177157" name="Text Box 4"/>
          <p:cNvSpPr txBox="1">
            <a:spLocks noChangeArrowheads="1"/>
          </p:cNvSpPr>
          <p:nvPr/>
        </p:nvSpPr>
        <p:spPr bwMode="auto">
          <a:xfrm>
            <a:off x="1919288" y="3284538"/>
            <a:ext cx="4824412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Surface current distribution</a:t>
            </a:r>
          </a:p>
        </p:txBody>
      </p:sp>
      <p:graphicFrame>
        <p:nvGraphicFramePr>
          <p:cNvPr id="177158" name="Object 5"/>
          <p:cNvGraphicFramePr>
            <a:graphicFrameLocks noChangeAspect="1"/>
          </p:cNvGraphicFramePr>
          <p:nvPr/>
        </p:nvGraphicFramePr>
        <p:xfrm>
          <a:off x="5853113" y="1893888"/>
          <a:ext cx="2625725" cy="107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212800" imgH="9448800" progId="Equation.DSMT4">
                  <p:embed/>
                </p:oleObj>
              </mc:Choice>
              <mc:Fallback>
                <p:oleObj name="Equation" r:id="rId2" imgW="26212800" imgH="94488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3113" y="1893888"/>
                        <a:ext cx="2625725" cy="1077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159" name="Object 6"/>
          <p:cNvGraphicFramePr>
            <a:graphicFrameLocks noGrp="1" noChangeAspect="1"/>
          </p:cNvGraphicFramePr>
          <p:nvPr>
            <p:ph idx="4294967295"/>
          </p:nvPr>
        </p:nvGraphicFramePr>
        <p:xfrm>
          <a:off x="6070600" y="3284538"/>
          <a:ext cx="2225675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822400" imgH="9448800" progId="Equation.DSMT4">
                  <p:embed/>
                </p:oleObj>
              </mc:Choice>
              <mc:Fallback>
                <p:oleObj name="Equation" r:id="rId4" imgW="26822400" imgH="9448800" progId="Equation.DSMT4">
                  <p:embed/>
                  <p:pic>
                    <p:nvPicPr>
                      <p:cNvPr id="0" name="图片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0600" y="3284538"/>
                        <a:ext cx="2225675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160" name="Text Box 7"/>
          <p:cNvSpPr txBox="1">
            <a:spLocks noChangeArrowheads="1"/>
          </p:cNvSpPr>
          <p:nvPr/>
        </p:nvSpPr>
        <p:spPr bwMode="auto">
          <a:xfrm>
            <a:off x="1992313" y="4581525"/>
            <a:ext cx="4392612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ü"/>
            </a:pP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Line current of a circuit loop</a:t>
            </a:r>
          </a:p>
        </p:txBody>
      </p:sp>
      <p:graphicFrame>
        <p:nvGraphicFramePr>
          <p:cNvPr id="177161" name="Object 8"/>
          <p:cNvGraphicFramePr>
            <a:graphicFrameLocks noChangeAspect="1"/>
          </p:cNvGraphicFramePr>
          <p:nvPr/>
        </p:nvGraphicFramePr>
        <p:xfrm>
          <a:off x="5951538" y="4508501"/>
          <a:ext cx="2940050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81200" imgH="584200" progId="Equation.DSMT4">
                  <p:embed/>
                </p:oleObj>
              </mc:Choice>
              <mc:Fallback>
                <p:oleObj name="Equation" r:id="rId6" imgW="1981200" imgH="5842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1538" y="4508501"/>
                        <a:ext cx="2940050" cy="95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5" name="Text Box 9"/>
          <p:cNvSpPr txBox="1">
            <a:spLocks noChangeArrowheads="1"/>
          </p:cNvSpPr>
          <p:nvPr/>
        </p:nvSpPr>
        <p:spPr bwMode="auto">
          <a:xfrm>
            <a:off x="1774825" y="692151"/>
            <a:ext cx="7164388" cy="8309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2. Calculation of magnetic field energy by magnetic vector potential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652125" y="5419725"/>
            <a:ext cx="1122362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srgbClr val="FFC000">
                <a:alpha val="4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77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7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77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7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77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7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6" grpId="0"/>
      <p:bldP spid="177157" grpId="0"/>
      <p:bldP spid="177160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2"/>
          <p:cNvSpPr txBox="1">
            <a:spLocks noChangeArrowheads="1"/>
          </p:cNvSpPr>
          <p:nvPr/>
        </p:nvSpPr>
        <p:spPr bwMode="auto">
          <a:xfrm>
            <a:off x="1703388" y="476251"/>
            <a:ext cx="5651500" cy="8309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3. Calculation of magnetic field energy by inductance</a:t>
            </a:r>
          </a:p>
        </p:txBody>
      </p:sp>
      <p:sp>
        <p:nvSpPr>
          <p:cNvPr id="178180" name="Text Box 3"/>
          <p:cNvSpPr txBox="1">
            <a:spLocks noChangeArrowheads="1"/>
          </p:cNvSpPr>
          <p:nvPr/>
        </p:nvSpPr>
        <p:spPr bwMode="auto">
          <a:xfrm>
            <a:off x="1774826" y="1484314"/>
            <a:ext cx="4392613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Blip>
                <a:blip r:embed="rId2"/>
              </a:buBlip>
            </a:pPr>
            <a:r>
              <a:rPr kumimoji="1" lang="en-US" altLang="zh-CN" sz="2000" b="1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Inductive energy storage 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kumimoji="1"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Single current-carrying loop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kumimoji="1" lang="zh-CN" altLang="en-US" sz="2000" b="1" dirty="0">
                <a:solidFill>
                  <a:srgbClr val="000000"/>
                </a:solidFill>
                <a:ea typeface="楷体_GB2312" pitchFamily="49" charset="-122"/>
              </a:rPr>
              <a:t>：</a:t>
            </a:r>
            <a:endParaRPr kumimoji="1" lang="zh-CN" alt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81348" name="Text Box 4"/>
          <p:cNvSpPr txBox="1">
            <a:spLocks noChangeArrowheads="1"/>
          </p:cNvSpPr>
          <p:nvPr/>
        </p:nvSpPr>
        <p:spPr bwMode="auto">
          <a:xfrm>
            <a:off x="1774826" y="2708276"/>
            <a:ext cx="4537075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Blip>
                <a:blip r:embed="rId2"/>
              </a:buBlip>
            </a:pP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Inductive energy storage 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kumimoji="1" lang="en-US" altLang="zh-CN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 current-carrying loops </a:t>
            </a:r>
            <a:r>
              <a:rPr kumimoji="1"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）：</a:t>
            </a:r>
          </a:p>
        </p:txBody>
      </p:sp>
      <p:graphicFrame>
        <p:nvGraphicFramePr>
          <p:cNvPr id="178182" name="Object 13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5880100" y="1484313"/>
          <a:ext cx="2665413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956000" imgH="9448800" progId="Equation.DSMT4">
                  <p:embed/>
                </p:oleObj>
              </mc:Choice>
              <mc:Fallback>
                <p:oleObj name="Equation" r:id="rId3" imgW="28956000" imgH="9448800" progId="Equation.DSMT4">
                  <p:embed/>
                  <p:pic>
                    <p:nvPicPr>
                      <p:cNvPr id="0" name="图片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0100" y="1484313"/>
                        <a:ext cx="2665413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183" name="Object 15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5735638" y="2781300"/>
          <a:ext cx="4498975" cy="197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9987200" imgH="21945600" progId="Equation.DSMT4">
                  <p:embed/>
                </p:oleObj>
              </mc:Choice>
              <mc:Fallback>
                <p:oleObj name="Equation" r:id="rId5" imgW="49987200" imgH="21945600" progId="Equation.DSMT4">
                  <p:embed/>
                  <p:pic>
                    <p:nvPicPr>
                      <p:cNvPr id="0" name="图片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5638" y="2781300"/>
                        <a:ext cx="4498975" cy="197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184" name="Object 19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2566988" y="5373689"/>
          <a:ext cx="5975350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771900" imgH="508000" progId="Equation.DSMT4">
                  <p:embed/>
                </p:oleObj>
              </mc:Choice>
              <mc:Fallback>
                <p:oleObj name="Equation" r:id="rId7" imgW="3771900" imgH="508000" progId="Equation.DSMT4">
                  <p:embed/>
                  <p:pic>
                    <p:nvPicPr>
                      <p:cNvPr id="0" name="图片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5373689"/>
                        <a:ext cx="5975350" cy="917575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8185" name="Text Box 18"/>
          <p:cNvSpPr txBox="1">
            <a:spLocks noChangeArrowheads="1"/>
          </p:cNvSpPr>
          <p:nvPr/>
        </p:nvSpPr>
        <p:spPr bwMode="auto">
          <a:xfrm>
            <a:off x="3216275" y="4797426"/>
            <a:ext cx="4679950" cy="449263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 b="1">
                <a:solidFill>
                  <a:srgbClr val="0000CC"/>
                </a:solidFill>
                <a:ea typeface="楷体_GB2312" pitchFamily="49" charset="-122"/>
              </a:rPr>
              <a:t>For example, two loops current-carrying</a:t>
            </a:r>
          </a:p>
        </p:txBody>
      </p:sp>
      <p:pic>
        <p:nvPicPr>
          <p:cNvPr id="61449" name="Picture 10" descr="BD05546_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4613" y="5373689"/>
            <a:ext cx="1763712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78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78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78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1081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1081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000"/>
                                        <p:tgtEl>
                                          <p:spTgt spid="178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178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2000" fill="hold"/>
                                        <p:tgtEl>
                                          <p:spTgt spid="178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000"/>
                                        <p:tgtEl>
                                          <p:spTgt spid="178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80" grpId="0"/>
      <p:bldP spid="1081348" grpId="0"/>
      <p:bldP spid="17818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Text Box 2"/>
          <p:cNvSpPr txBox="1">
            <a:spLocks noChangeArrowheads="1"/>
          </p:cNvSpPr>
          <p:nvPr/>
        </p:nvSpPr>
        <p:spPr bwMode="auto">
          <a:xfrm>
            <a:off x="1774825" y="333376"/>
            <a:ext cx="8675688" cy="8858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kumimoji="1" lang="en-US" altLang="zh-CN" sz="2000" b="1" dirty="0">
                <a:solidFill>
                  <a:srgbClr val="FF3300"/>
                </a:solidFill>
                <a:ea typeface="楷体_GB2312" pitchFamily="49" charset="-122"/>
              </a:rPr>
              <a:t>Ex.</a:t>
            </a:r>
            <a:r>
              <a:rPr kumimoji="1" lang="en-US" altLang="zh-CN" sz="2000" b="1" dirty="0">
                <a:solidFill>
                  <a:srgbClr val="000000"/>
                </a:solidFill>
                <a:ea typeface="楷体_GB2312" pitchFamily="49" charset="-122"/>
              </a:rPr>
              <a:t>   Find the </a:t>
            </a:r>
            <a:r>
              <a:rPr kumimoji="1" lang="en-US" altLang="zh-CN" sz="2000" b="1" dirty="0">
                <a:solidFill>
                  <a:srgbClr val="000000"/>
                </a:solidFill>
              </a:rPr>
              <a:t>magnetic energy and self inductance in a coaxial line per unit  length.</a:t>
            </a:r>
            <a:endParaRPr kumimoji="1" lang="en-US" altLang="zh-CN" sz="20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186371" name="Text Box 3"/>
          <p:cNvSpPr txBox="1">
            <a:spLocks noChangeArrowheads="1"/>
          </p:cNvSpPr>
          <p:nvPr/>
        </p:nvSpPr>
        <p:spPr bwMode="auto">
          <a:xfrm>
            <a:off x="1847851" y="1628776"/>
            <a:ext cx="45370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Solution</a:t>
            </a:r>
            <a:r>
              <a:rPr kumimoji="1" lang="zh-CN" altLang="en-US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kumimoji="1"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from </a:t>
            </a:r>
            <a:r>
              <a:rPr lang="en-US" altLang="ko-KR" sz="2000" b="1">
                <a:solidFill>
                  <a:srgbClr val="0000CC"/>
                </a:solidFill>
                <a:latin typeface="Times New Roman" panose="02020603050405020304" pitchFamily="18" charset="0"/>
              </a:rPr>
              <a:t>Ampere’s circuital law</a:t>
            </a:r>
            <a:endParaRPr lang="en-US" altLang="zh-CN" sz="2000" b="1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86372" name="Object 4"/>
          <p:cNvGraphicFramePr>
            <a:graphicFrameLocks noChangeAspect="1"/>
          </p:cNvGraphicFramePr>
          <p:nvPr/>
        </p:nvGraphicFramePr>
        <p:xfrm>
          <a:off x="1992313" y="2276476"/>
          <a:ext cx="4233862" cy="314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19400" imgH="2082800" progId="Equation.DSMT4">
                  <p:embed/>
                </p:oleObj>
              </mc:Choice>
              <mc:Fallback>
                <p:oleObj name="Equation" r:id="rId2" imgW="2819400" imgH="20828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2276476"/>
                        <a:ext cx="4233862" cy="314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6373" name="Group 5"/>
          <p:cNvGrpSpPr/>
          <p:nvPr/>
        </p:nvGrpSpPr>
        <p:grpSpPr bwMode="auto">
          <a:xfrm>
            <a:off x="7248525" y="2278063"/>
            <a:ext cx="3024188" cy="2519362"/>
            <a:chOff x="3606" y="1253"/>
            <a:chExt cx="1905" cy="1587"/>
          </a:xfrm>
        </p:grpSpPr>
        <p:grpSp>
          <p:nvGrpSpPr>
            <p:cNvPr id="62470" name="Group 6"/>
            <p:cNvGrpSpPr/>
            <p:nvPr/>
          </p:nvGrpSpPr>
          <p:grpSpPr bwMode="auto">
            <a:xfrm>
              <a:off x="3606" y="1253"/>
              <a:ext cx="1905" cy="1587"/>
              <a:chOff x="3742" y="754"/>
              <a:chExt cx="1905" cy="1587"/>
            </a:xfrm>
          </p:grpSpPr>
          <p:sp>
            <p:nvSpPr>
              <p:cNvPr id="62479" name="Rectangle 7"/>
              <p:cNvSpPr>
                <a:spLocks noChangeArrowheads="1"/>
              </p:cNvSpPr>
              <p:nvPr/>
            </p:nvSpPr>
            <p:spPr bwMode="auto">
              <a:xfrm>
                <a:off x="3742" y="754"/>
                <a:ext cx="1905" cy="1587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FF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2480" name="Oval 8"/>
              <p:cNvSpPr>
                <a:spLocks noChangeArrowheads="1"/>
              </p:cNvSpPr>
              <p:nvPr/>
            </p:nvSpPr>
            <p:spPr bwMode="auto">
              <a:xfrm>
                <a:off x="3856" y="1199"/>
                <a:ext cx="952" cy="953"/>
              </a:xfrm>
              <a:prstGeom prst="ellipse">
                <a:avLst/>
              </a:prstGeom>
              <a:gradFill rotWithShape="1">
                <a:gsLst>
                  <a:gs pos="0">
                    <a:srgbClr val="9A9A9A"/>
                  </a:gs>
                  <a:gs pos="50000">
                    <a:srgbClr val="474747"/>
                  </a:gs>
                  <a:gs pos="100000">
                    <a:srgbClr val="9A9A9A"/>
                  </a:gs>
                </a:gsLst>
                <a:lin ang="2700000" scaled="1"/>
              </a:gradFill>
              <a:ln w="9525">
                <a:round/>
              </a:ln>
              <a:effectLst/>
              <a:scene3d>
                <a:camera prst="legacyPerspectiveTopRight">
                  <a:rot lat="600000" lon="1500000" rev="0"/>
                </a:camera>
                <a:lightRig rig="legacyFlat4" dir="b"/>
              </a:scene3d>
              <a:sp3d extrusionH="2767000" prstMaterial="legacyMatte">
                <a:bevelT w="13500" h="13500" prst="angle"/>
                <a:bevelB w="13500" h="13500" prst="angle"/>
                <a:extrusionClr>
                  <a:srgbClr val="9A9A9A"/>
                </a:extrusionClr>
                <a:contourClr>
                  <a:srgbClr val="9A9A9A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2481" name="Oval 9"/>
              <p:cNvSpPr>
                <a:spLocks noChangeAspect="1" noChangeArrowheads="1"/>
              </p:cNvSpPr>
              <p:nvPr/>
            </p:nvSpPr>
            <p:spPr bwMode="auto">
              <a:xfrm>
                <a:off x="3914" y="1279"/>
                <a:ext cx="836" cy="836"/>
              </a:xfrm>
              <a:prstGeom prst="ellipse">
                <a:avLst/>
              </a:prstGeom>
              <a:gradFill rotWithShape="1">
                <a:gsLst>
                  <a:gs pos="0">
                    <a:srgbClr val="4A4A4A"/>
                  </a:gs>
                  <a:gs pos="100000">
                    <a:srgbClr val="CDCDCD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2482" name="Oval 10"/>
              <p:cNvSpPr>
                <a:spLocks noChangeAspect="1" noChangeArrowheads="1"/>
              </p:cNvSpPr>
              <p:nvPr/>
            </p:nvSpPr>
            <p:spPr bwMode="auto">
              <a:xfrm>
                <a:off x="4089" y="1434"/>
                <a:ext cx="485" cy="485"/>
              </a:xfrm>
              <a:prstGeom prst="ellipse">
                <a:avLst/>
              </a:prstGeom>
              <a:gradFill rotWithShape="1">
                <a:gsLst>
                  <a:gs pos="0">
                    <a:srgbClr val="4A4A4A"/>
                  </a:gs>
                  <a:gs pos="100000">
                    <a:srgbClr val="9F9F9F"/>
                  </a:gs>
                </a:gsLst>
                <a:lin ang="18900000" scaled="1"/>
              </a:gradFill>
              <a:ln w="9525">
                <a:round/>
              </a:ln>
              <a:effectLst/>
              <a:scene3d>
                <a:camera prst="legacyPerspectiveTopRight">
                  <a:rot lat="600000" lon="1500000" rev="0"/>
                </a:camera>
                <a:lightRig rig="legacyFlat4" dir="b"/>
              </a:scene3d>
              <a:sp3d extrusionH="709600" prstMaterial="legacyMatte">
                <a:bevelT w="13500" h="13500" prst="angle"/>
                <a:bevelB w="13500" h="13500" prst="angle"/>
                <a:extrusionClr>
                  <a:srgbClr val="9F9F9F"/>
                </a:extrusionClr>
                <a:contourClr>
                  <a:srgbClr val="4A4A4A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2483" name="Oval 11"/>
              <p:cNvSpPr>
                <a:spLocks noChangeArrowheads="1"/>
              </p:cNvSpPr>
              <p:nvPr/>
            </p:nvSpPr>
            <p:spPr bwMode="auto">
              <a:xfrm>
                <a:off x="4107" y="1443"/>
                <a:ext cx="462" cy="476"/>
              </a:xfrm>
              <a:prstGeom prst="ellipse">
                <a:avLst/>
              </a:prstGeom>
              <a:solidFill>
                <a:srgbClr val="DBDBDB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2484" name="Freeform 12"/>
              <p:cNvSpPr/>
              <p:nvPr/>
            </p:nvSpPr>
            <p:spPr bwMode="auto">
              <a:xfrm>
                <a:off x="5155" y="789"/>
                <a:ext cx="432" cy="658"/>
              </a:xfrm>
              <a:custGeom>
                <a:avLst/>
                <a:gdLst>
                  <a:gd name="T0" fmla="*/ 0 w 432"/>
                  <a:gd name="T1" fmla="*/ 32 h 658"/>
                  <a:gd name="T2" fmla="*/ 24 w 432"/>
                  <a:gd name="T3" fmla="*/ 48 h 658"/>
                  <a:gd name="T4" fmla="*/ 40 w 432"/>
                  <a:gd name="T5" fmla="*/ 72 h 658"/>
                  <a:gd name="T6" fmla="*/ 104 w 432"/>
                  <a:gd name="T7" fmla="*/ 88 h 658"/>
                  <a:gd name="T8" fmla="*/ 152 w 432"/>
                  <a:gd name="T9" fmla="*/ 160 h 658"/>
                  <a:gd name="T10" fmla="*/ 184 w 432"/>
                  <a:gd name="T11" fmla="*/ 264 h 658"/>
                  <a:gd name="T12" fmla="*/ 208 w 432"/>
                  <a:gd name="T13" fmla="*/ 320 h 658"/>
                  <a:gd name="T14" fmla="*/ 232 w 432"/>
                  <a:gd name="T15" fmla="*/ 328 h 658"/>
                  <a:gd name="T16" fmla="*/ 272 w 432"/>
                  <a:gd name="T17" fmla="*/ 384 h 658"/>
                  <a:gd name="T18" fmla="*/ 304 w 432"/>
                  <a:gd name="T19" fmla="*/ 496 h 658"/>
                  <a:gd name="T20" fmla="*/ 336 w 432"/>
                  <a:gd name="T21" fmla="*/ 600 h 658"/>
                  <a:gd name="T22" fmla="*/ 344 w 432"/>
                  <a:gd name="T23" fmla="*/ 648 h 658"/>
                  <a:gd name="T24" fmla="*/ 368 w 432"/>
                  <a:gd name="T25" fmla="*/ 656 h 658"/>
                  <a:gd name="T26" fmla="*/ 416 w 432"/>
                  <a:gd name="T27" fmla="*/ 600 h 658"/>
                  <a:gd name="T28" fmla="*/ 432 w 432"/>
                  <a:gd name="T29" fmla="*/ 552 h 658"/>
                  <a:gd name="T30" fmla="*/ 424 w 432"/>
                  <a:gd name="T31" fmla="*/ 432 h 658"/>
                  <a:gd name="T32" fmla="*/ 288 w 432"/>
                  <a:gd name="T33" fmla="*/ 96 h 658"/>
                  <a:gd name="T34" fmla="*/ 176 w 432"/>
                  <a:gd name="T35" fmla="*/ 24 h 658"/>
                  <a:gd name="T36" fmla="*/ 128 w 432"/>
                  <a:gd name="T37" fmla="*/ 8 h 658"/>
                  <a:gd name="T38" fmla="*/ 104 w 432"/>
                  <a:gd name="T39" fmla="*/ 0 h 658"/>
                  <a:gd name="T40" fmla="*/ 0 w 432"/>
                  <a:gd name="T41" fmla="*/ 32 h 65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432" h="658">
                    <a:moveTo>
                      <a:pt x="0" y="32"/>
                    </a:moveTo>
                    <a:cubicBezTo>
                      <a:pt x="8" y="37"/>
                      <a:pt x="17" y="41"/>
                      <a:pt x="24" y="48"/>
                    </a:cubicBezTo>
                    <a:cubicBezTo>
                      <a:pt x="31" y="55"/>
                      <a:pt x="32" y="66"/>
                      <a:pt x="40" y="72"/>
                    </a:cubicBezTo>
                    <a:cubicBezTo>
                      <a:pt x="48" y="79"/>
                      <a:pt x="102" y="88"/>
                      <a:pt x="104" y="88"/>
                    </a:cubicBezTo>
                    <a:cubicBezTo>
                      <a:pt x="123" y="116"/>
                      <a:pt x="128" y="136"/>
                      <a:pt x="152" y="160"/>
                    </a:cubicBezTo>
                    <a:cubicBezTo>
                      <a:pt x="163" y="194"/>
                      <a:pt x="175" y="230"/>
                      <a:pt x="184" y="264"/>
                    </a:cubicBezTo>
                    <a:cubicBezTo>
                      <a:pt x="189" y="283"/>
                      <a:pt x="191" y="306"/>
                      <a:pt x="208" y="320"/>
                    </a:cubicBezTo>
                    <a:cubicBezTo>
                      <a:pt x="215" y="325"/>
                      <a:pt x="224" y="325"/>
                      <a:pt x="232" y="328"/>
                    </a:cubicBezTo>
                    <a:cubicBezTo>
                      <a:pt x="246" y="346"/>
                      <a:pt x="268" y="362"/>
                      <a:pt x="272" y="384"/>
                    </a:cubicBezTo>
                    <a:cubicBezTo>
                      <a:pt x="295" y="499"/>
                      <a:pt x="249" y="459"/>
                      <a:pt x="304" y="496"/>
                    </a:cubicBezTo>
                    <a:cubicBezTo>
                      <a:pt x="315" y="530"/>
                      <a:pt x="329" y="565"/>
                      <a:pt x="336" y="600"/>
                    </a:cubicBezTo>
                    <a:cubicBezTo>
                      <a:pt x="339" y="616"/>
                      <a:pt x="336" y="634"/>
                      <a:pt x="344" y="648"/>
                    </a:cubicBezTo>
                    <a:cubicBezTo>
                      <a:pt x="348" y="655"/>
                      <a:pt x="360" y="653"/>
                      <a:pt x="368" y="656"/>
                    </a:cubicBezTo>
                    <a:cubicBezTo>
                      <a:pt x="416" y="644"/>
                      <a:pt x="397" y="658"/>
                      <a:pt x="416" y="600"/>
                    </a:cubicBezTo>
                    <a:cubicBezTo>
                      <a:pt x="421" y="584"/>
                      <a:pt x="432" y="552"/>
                      <a:pt x="432" y="552"/>
                    </a:cubicBezTo>
                    <a:cubicBezTo>
                      <a:pt x="429" y="512"/>
                      <a:pt x="427" y="472"/>
                      <a:pt x="424" y="432"/>
                    </a:cubicBezTo>
                    <a:cubicBezTo>
                      <a:pt x="417" y="320"/>
                      <a:pt x="421" y="140"/>
                      <a:pt x="288" y="96"/>
                    </a:cubicBezTo>
                    <a:cubicBezTo>
                      <a:pt x="267" y="64"/>
                      <a:pt x="212" y="40"/>
                      <a:pt x="176" y="24"/>
                    </a:cubicBezTo>
                    <a:cubicBezTo>
                      <a:pt x="161" y="17"/>
                      <a:pt x="144" y="13"/>
                      <a:pt x="128" y="8"/>
                    </a:cubicBezTo>
                    <a:cubicBezTo>
                      <a:pt x="120" y="5"/>
                      <a:pt x="104" y="0"/>
                      <a:pt x="104" y="0"/>
                    </a:cubicBezTo>
                    <a:cubicBezTo>
                      <a:pt x="76" y="9"/>
                      <a:pt x="32" y="32"/>
                      <a:pt x="0" y="32"/>
                    </a:cubicBezTo>
                    <a:close/>
                  </a:path>
                </a:pathLst>
              </a:cu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CC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485" name="Line 13"/>
              <p:cNvSpPr>
                <a:spLocks noChangeShapeType="1"/>
              </p:cNvSpPr>
              <p:nvPr/>
            </p:nvSpPr>
            <p:spPr bwMode="auto">
              <a:xfrm flipV="1">
                <a:off x="4340" y="1570"/>
                <a:ext cx="210" cy="11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62486" name="Object 14"/>
              <p:cNvGraphicFramePr>
                <a:graphicFrameLocks noChangeAspect="1"/>
              </p:cNvGraphicFramePr>
              <p:nvPr/>
            </p:nvGraphicFramePr>
            <p:xfrm>
              <a:off x="4332" y="1480"/>
              <a:ext cx="147" cy="1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52400" imgH="177800" progId="Equation.DSMT4">
                      <p:embed/>
                    </p:oleObj>
                  </mc:Choice>
                  <mc:Fallback>
                    <p:oleObj name="Equation" r:id="rId4" imgW="152400" imgH="177800" progId="Equation.DSMT4">
                      <p:embed/>
                      <p:pic>
                        <p:nvPicPr>
                          <p:cNvPr id="0" name="图片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32" y="1480"/>
                            <a:ext cx="147" cy="1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2487" name="Oval 15"/>
              <p:cNvSpPr>
                <a:spLocks noChangeArrowheads="1"/>
              </p:cNvSpPr>
              <p:nvPr/>
            </p:nvSpPr>
            <p:spPr bwMode="auto">
              <a:xfrm>
                <a:off x="3878" y="1229"/>
                <a:ext cx="907" cy="907"/>
              </a:xfrm>
              <a:prstGeom prst="ellipse">
                <a:avLst/>
              </a:prstGeom>
              <a:noFill/>
              <a:ln w="76200">
                <a:solidFill>
                  <a:srgbClr val="EEEEEE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4E4E4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2488" name="Oval 16"/>
              <p:cNvSpPr>
                <a:spLocks noChangeArrowheads="1"/>
              </p:cNvSpPr>
              <p:nvPr/>
            </p:nvSpPr>
            <p:spPr bwMode="auto">
              <a:xfrm>
                <a:off x="3915" y="1260"/>
                <a:ext cx="839" cy="839"/>
              </a:xfrm>
              <a:prstGeom prst="ellipse">
                <a:avLst/>
              </a:prstGeom>
              <a:noFill/>
              <a:ln w="76200">
                <a:solidFill>
                  <a:srgbClr val="EEEEEE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4E4E4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aphicFrame>
            <p:nvGraphicFramePr>
              <p:cNvPr id="62489" name="Object 17"/>
              <p:cNvGraphicFramePr>
                <a:graphicFrameLocks noChangeAspect="1"/>
              </p:cNvGraphicFramePr>
              <p:nvPr/>
            </p:nvGraphicFramePr>
            <p:xfrm>
              <a:off x="4059" y="1752"/>
              <a:ext cx="147" cy="22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152400" imgH="228600" progId="Equation.DSMT4">
                      <p:embed/>
                    </p:oleObj>
                  </mc:Choice>
                  <mc:Fallback>
                    <p:oleObj name="Equation" r:id="rId6" imgW="152400" imgH="228600" progId="Equation.DSMT4">
                      <p:embed/>
                      <p:pic>
                        <p:nvPicPr>
                          <p:cNvPr id="0" name="图片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59" y="1752"/>
                            <a:ext cx="147" cy="22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2490" name="Object 18"/>
              <p:cNvGraphicFramePr>
                <a:graphicFrameLocks noChangeAspect="1"/>
              </p:cNvGraphicFramePr>
              <p:nvPr/>
            </p:nvGraphicFramePr>
            <p:xfrm>
              <a:off x="4476" y="1894"/>
              <a:ext cx="132" cy="1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139700" imgH="177800" progId="Equation.DSMT4">
                      <p:embed/>
                    </p:oleObj>
                  </mc:Choice>
                  <mc:Fallback>
                    <p:oleObj name="Equation" r:id="rId8" imgW="139700" imgH="177800" progId="Equation.DSMT4">
                      <p:embed/>
                      <p:pic>
                        <p:nvPicPr>
                          <p:cNvPr id="0" name="图片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76" y="1894"/>
                            <a:ext cx="132" cy="17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2491" name="Line 19"/>
              <p:cNvSpPr>
                <a:spLocks noChangeShapeType="1"/>
              </p:cNvSpPr>
              <p:nvPr/>
            </p:nvSpPr>
            <p:spPr bwMode="auto">
              <a:xfrm flipH="1">
                <a:off x="4113" y="1682"/>
                <a:ext cx="227" cy="34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492" name="Line 20"/>
              <p:cNvSpPr>
                <a:spLocks noChangeShapeType="1"/>
              </p:cNvSpPr>
              <p:nvPr/>
            </p:nvSpPr>
            <p:spPr bwMode="auto">
              <a:xfrm>
                <a:off x="4340" y="1682"/>
                <a:ext cx="354" cy="32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2471" name="Group 21"/>
            <p:cNvGrpSpPr/>
            <p:nvPr/>
          </p:nvGrpSpPr>
          <p:grpSpPr bwMode="auto">
            <a:xfrm>
              <a:off x="4051" y="2023"/>
              <a:ext cx="136" cy="136"/>
              <a:chOff x="4232" y="1797"/>
              <a:chExt cx="136" cy="136"/>
            </a:xfrm>
          </p:grpSpPr>
          <p:sp>
            <p:nvSpPr>
              <p:cNvPr id="62477" name="Oval 22"/>
              <p:cNvSpPr>
                <a:spLocks noChangeArrowheads="1"/>
              </p:cNvSpPr>
              <p:nvPr/>
            </p:nvSpPr>
            <p:spPr bwMode="auto">
              <a:xfrm>
                <a:off x="4232" y="1797"/>
                <a:ext cx="136" cy="136"/>
              </a:xfrm>
              <a:prstGeom prst="ellipse">
                <a:avLst/>
              </a:prstGeom>
              <a:noFill/>
              <a:ln w="22225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2478" name="Oval 23"/>
              <p:cNvSpPr>
                <a:spLocks noChangeAspect="1" noChangeArrowheads="1"/>
              </p:cNvSpPr>
              <p:nvPr/>
            </p:nvSpPr>
            <p:spPr bwMode="auto">
              <a:xfrm>
                <a:off x="4268" y="1842"/>
                <a:ext cx="57" cy="5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2472" name="Group 24"/>
            <p:cNvGrpSpPr>
              <a:grpSpLocks noChangeAspect="1"/>
            </p:cNvGrpSpPr>
            <p:nvPr/>
          </p:nvGrpSpPr>
          <p:grpSpPr bwMode="auto">
            <a:xfrm>
              <a:off x="3720" y="2159"/>
              <a:ext cx="84" cy="80"/>
              <a:chOff x="3869" y="2387"/>
              <a:chExt cx="181" cy="181"/>
            </a:xfrm>
          </p:grpSpPr>
          <p:sp>
            <p:nvSpPr>
              <p:cNvPr id="62473" name="Oval 25"/>
              <p:cNvSpPr>
                <a:spLocks noChangeAspect="1" noChangeArrowheads="1"/>
              </p:cNvSpPr>
              <p:nvPr/>
            </p:nvSpPr>
            <p:spPr bwMode="auto">
              <a:xfrm>
                <a:off x="3869" y="2387"/>
                <a:ext cx="181" cy="181"/>
              </a:xfrm>
              <a:prstGeom prst="ellipse">
                <a:avLst/>
              </a:prstGeom>
              <a:noFill/>
              <a:ln w="22225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marL="3429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</a:pPr>
                <a:endParaRPr lang="zh-CN" altLang="zh-CN" sz="2400">
                  <a:ea typeface="楷体_GB2312" pitchFamily="49" charset="-122"/>
                </a:endParaRPr>
              </a:p>
            </p:txBody>
          </p:sp>
          <p:grpSp>
            <p:nvGrpSpPr>
              <p:cNvPr id="62474" name="Group 26"/>
              <p:cNvGrpSpPr>
                <a:grpSpLocks noChangeAspect="1"/>
              </p:cNvGrpSpPr>
              <p:nvPr/>
            </p:nvGrpSpPr>
            <p:grpSpPr bwMode="auto">
              <a:xfrm>
                <a:off x="3887" y="2404"/>
                <a:ext cx="136" cy="136"/>
                <a:chOff x="3878" y="2387"/>
                <a:chExt cx="136" cy="146"/>
              </a:xfrm>
            </p:grpSpPr>
            <p:sp>
              <p:nvSpPr>
                <p:cNvPr id="62475" name="Line 27"/>
                <p:cNvSpPr>
                  <a:spLocks noChangeAspect="1" noChangeShapeType="1"/>
                </p:cNvSpPr>
                <p:nvPr/>
              </p:nvSpPr>
              <p:spPr bwMode="auto">
                <a:xfrm>
                  <a:off x="3878" y="2387"/>
                  <a:ext cx="136" cy="136"/>
                </a:xfrm>
                <a:prstGeom prst="line">
                  <a:avLst/>
                </a:prstGeom>
                <a:noFill/>
                <a:ln w="22225">
                  <a:solidFill>
                    <a:srgbClr val="FF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2476" name="Line 28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3878" y="2397"/>
                  <a:ext cx="136" cy="136"/>
                </a:xfrm>
                <a:prstGeom prst="line">
                  <a:avLst/>
                </a:prstGeom>
                <a:noFill/>
                <a:ln w="22225">
                  <a:solidFill>
                    <a:srgbClr val="FF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0"/>
                                        <p:tgtEl>
                                          <p:spTgt spid="186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86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186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0"/>
                                        <p:tgtEl>
                                          <p:spTgt spid="186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0" grpId="0" animBg="1"/>
      <p:bldP spid="186371" grpId="0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7394" name="Object 2"/>
          <p:cNvGraphicFramePr>
            <a:graphicFrameLocks noChangeAspect="1"/>
          </p:cNvGraphicFramePr>
          <p:nvPr/>
        </p:nvGraphicFramePr>
        <p:xfrm>
          <a:off x="2855913" y="3500438"/>
          <a:ext cx="5529262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36900" imgH="584200" progId="Equation.DSMT4">
                  <p:embed/>
                </p:oleObj>
              </mc:Choice>
              <mc:Fallback>
                <p:oleObj name="Equation" r:id="rId2" imgW="3136900" imgH="5842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3500438"/>
                        <a:ext cx="5529262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395" name="Text Box 3"/>
          <p:cNvSpPr txBox="1">
            <a:spLocks noChangeArrowheads="1"/>
          </p:cNvSpPr>
          <p:nvPr/>
        </p:nvSpPr>
        <p:spPr bwMode="auto">
          <a:xfrm>
            <a:off x="1847850" y="620714"/>
            <a:ext cx="68405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b="1">
                <a:solidFill>
                  <a:srgbClr val="0000CC"/>
                </a:solidFill>
              </a:rPr>
              <a:t>The magnetic energy per unit  length in three area:</a:t>
            </a:r>
          </a:p>
        </p:txBody>
      </p:sp>
      <p:graphicFrame>
        <p:nvGraphicFramePr>
          <p:cNvPr id="187396" name="Object 4"/>
          <p:cNvGraphicFramePr>
            <a:graphicFrameLocks noChangeAspect="1"/>
          </p:cNvGraphicFramePr>
          <p:nvPr/>
        </p:nvGraphicFramePr>
        <p:xfrm>
          <a:off x="2705101" y="1125539"/>
          <a:ext cx="5630863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84500" imgH="546100" progId="Equation.DSMT4">
                  <p:embed/>
                </p:oleObj>
              </mc:Choice>
              <mc:Fallback>
                <p:oleObj name="Equation" r:id="rId4" imgW="2984500" imgH="5461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5101" y="1125539"/>
                        <a:ext cx="5630863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397" name="Object 5"/>
          <p:cNvGraphicFramePr>
            <a:graphicFrameLocks noChangeAspect="1"/>
          </p:cNvGraphicFramePr>
          <p:nvPr/>
        </p:nvGraphicFramePr>
        <p:xfrm>
          <a:off x="2914651" y="2420939"/>
          <a:ext cx="5788025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02000" imgH="584200" progId="Equation.DSMT4">
                  <p:embed/>
                </p:oleObj>
              </mc:Choice>
              <mc:Fallback>
                <p:oleObj name="Equation" r:id="rId6" imgW="3302000" imgH="5842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4651" y="2420939"/>
                        <a:ext cx="5788025" cy="1004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398" name="Object 6"/>
          <p:cNvGraphicFramePr>
            <a:graphicFrameLocks noChangeAspect="1"/>
          </p:cNvGraphicFramePr>
          <p:nvPr/>
        </p:nvGraphicFramePr>
        <p:xfrm>
          <a:off x="3575051" y="4652963"/>
          <a:ext cx="5262563" cy="109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984500" imgH="635000" progId="Equation.DSMT4">
                  <p:embed/>
                </p:oleObj>
              </mc:Choice>
              <mc:Fallback>
                <p:oleObj name="Equation" r:id="rId8" imgW="2984500" imgH="6350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1" y="4652963"/>
                        <a:ext cx="5262563" cy="1096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87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87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187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187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187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39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Text Box 2"/>
          <p:cNvSpPr txBox="1">
            <a:spLocks noChangeArrowheads="1"/>
          </p:cNvSpPr>
          <p:nvPr/>
        </p:nvSpPr>
        <p:spPr bwMode="auto">
          <a:xfrm>
            <a:off x="1774825" y="620714"/>
            <a:ext cx="61928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b="1" dirty="0">
                <a:solidFill>
                  <a:srgbClr val="0000CC"/>
                </a:solidFill>
                <a:ea typeface="楷体_GB2312" pitchFamily="49" charset="-122"/>
              </a:rPr>
              <a:t>The total </a:t>
            </a:r>
            <a:r>
              <a:rPr kumimoji="1" lang="en-US" altLang="zh-CN" sz="2000" b="1" dirty="0">
                <a:solidFill>
                  <a:srgbClr val="0000CC"/>
                </a:solidFill>
              </a:rPr>
              <a:t>magnetic energy per unit  length</a:t>
            </a:r>
            <a:r>
              <a:rPr kumimoji="1" lang="en-US" altLang="zh-CN" sz="2000" dirty="0">
                <a:solidFill>
                  <a:srgbClr val="0000CC"/>
                </a:solidFill>
              </a:rPr>
              <a:t> </a:t>
            </a:r>
          </a:p>
        </p:txBody>
      </p:sp>
      <p:graphicFrame>
        <p:nvGraphicFramePr>
          <p:cNvPr id="188419" name="Object 3"/>
          <p:cNvGraphicFramePr>
            <a:graphicFrameLocks noChangeAspect="1"/>
          </p:cNvGraphicFramePr>
          <p:nvPr/>
        </p:nvGraphicFramePr>
        <p:xfrm>
          <a:off x="1919288" y="1341438"/>
          <a:ext cx="8208962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64100" imgH="939800" progId="Equation.DSMT4">
                  <p:embed/>
                </p:oleObj>
              </mc:Choice>
              <mc:Fallback>
                <p:oleObj name="Equation" r:id="rId2" imgW="4864100" imgH="9398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8" y="1341438"/>
                        <a:ext cx="8208962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8420" name="Text Box 4"/>
          <p:cNvSpPr txBox="1">
            <a:spLocks noChangeArrowheads="1"/>
          </p:cNvSpPr>
          <p:nvPr/>
        </p:nvSpPr>
        <p:spPr bwMode="auto">
          <a:xfrm>
            <a:off x="1774825" y="3068639"/>
            <a:ext cx="61928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b="1">
                <a:solidFill>
                  <a:srgbClr val="0000CC"/>
                </a:solidFill>
                <a:ea typeface="楷体_GB2312" pitchFamily="49" charset="-122"/>
              </a:rPr>
              <a:t>The total self-inductance per unit length</a:t>
            </a:r>
          </a:p>
        </p:txBody>
      </p:sp>
      <p:graphicFrame>
        <p:nvGraphicFramePr>
          <p:cNvPr id="188421" name="Object 5"/>
          <p:cNvGraphicFramePr>
            <a:graphicFrameLocks noChangeAspect="1"/>
          </p:cNvGraphicFramePr>
          <p:nvPr/>
        </p:nvGraphicFramePr>
        <p:xfrm>
          <a:off x="1962150" y="3627439"/>
          <a:ext cx="8432800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26000" imgH="635000" progId="Equation.DSMT4">
                  <p:embed/>
                </p:oleObj>
              </mc:Choice>
              <mc:Fallback>
                <p:oleObj name="Equation" r:id="rId4" imgW="4826000" imgH="6350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2150" y="3627439"/>
                        <a:ext cx="8432800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8422" name="Rectangle 6"/>
          <p:cNvSpPr>
            <a:spLocks noChangeArrowheads="1"/>
          </p:cNvSpPr>
          <p:nvPr/>
        </p:nvSpPr>
        <p:spPr bwMode="auto">
          <a:xfrm>
            <a:off x="1774825" y="5084763"/>
            <a:ext cx="2552700" cy="658812"/>
          </a:xfrm>
          <a:prstGeom prst="rect">
            <a:avLst/>
          </a:prstGeom>
          <a:solidFill>
            <a:srgbClr val="CCFFFF"/>
          </a:solidFill>
          <a:ln w="28575">
            <a:solidFill>
              <a:srgbClr val="FF66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en-US" altLang="zh-CN" sz="1600" b="1">
                <a:solidFill>
                  <a:srgbClr val="800000"/>
                </a:solidFill>
              </a:rPr>
              <a:t>Internal self-inductance </a:t>
            </a:r>
          </a:p>
          <a:p>
            <a:pPr eaLnBrk="1" hangingPunct="1">
              <a:spcBef>
                <a:spcPct val="20000"/>
              </a:spcBef>
            </a:pPr>
            <a:r>
              <a:rPr kumimoji="1" lang="en-US" altLang="zh-CN" sz="1600" b="1">
                <a:solidFill>
                  <a:srgbClr val="800000"/>
                </a:solidFill>
              </a:rPr>
              <a:t>for inner conductor</a:t>
            </a:r>
          </a:p>
        </p:txBody>
      </p:sp>
      <p:sp>
        <p:nvSpPr>
          <p:cNvPr id="188423" name="Line 7"/>
          <p:cNvSpPr>
            <a:spLocks noChangeShapeType="1"/>
          </p:cNvSpPr>
          <p:nvPr/>
        </p:nvSpPr>
        <p:spPr bwMode="auto">
          <a:xfrm flipV="1">
            <a:off x="3263901" y="4581525"/>
            <a:ext cx="384175" cy="503238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8424" name="Rectangle 8"/>
          <p:cNvSpPr>
            <a:spLocks noChangeArrowheads="1"/>
          </p:cNvSpPr>
          <p:nvPr/>
        </p:nvSpPr>
        <p:spPr bwMode="auto">
          <a:xfrm>
            <a:off x="3648076" y="3789363"/>
            <a:ext cx="576263" cy="792162"/>
          </a:xfrm>
          <a:prstGeom prst="rect">
            <a:avLst/>
          </a:prstGeom>
          <a:noFill/>
          <a:ln w="15875">
            <a:solidFill>
              <a:srgbClr val="FF6600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8425" name="Rectangle 9"/>
          <p:cNvSpPr>
            <a:spLocks noChangeArrowheads="1"/>
          </p:cNvSpPr>
          <p:nvPr/>
        </p:nvSpPr>
        <p:spPr bwMode="auto">
          <a:xfrm>
            <a:off x="4519614" y="5413376"/>
            <a:ext cx="2962275" cy="760413"/>
          </a:xfrm>
          <a:prstGeom prst="rect">
            <a:avLst/>
          </a:prstGeom>
          <a:solidFill>
            <a:srgbClr val="CCFFFF"/>
          </a:solidFill>
          <a:ln w="28575">
            <a:solidFill>
              <a:srgbClr val="FF66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en-US" altLang="zh-CN" sz="1600" b="1">
                <a:solidFill>
                  <a:srgbClr val="800000"/>
                </a:solidFill>
              </a:rPr>
              <a:t>External </a:t>
            </a:r>
            <a:r>
              <a:rPr kumimoji="1" lang="en-US" altLang="zh-CN" b="1">
                <a:solidFill>
                  <a:srgbClr val="800000"/>
                </a:solidFill>
              </a:rPr>
              <a:t>self-inductance</a:t>
            </a:r>
          </a:p>
          <a:p>
            <a:pPr eaLnBrk="1" hangingPunct="1">
              <a:spcBef>
                <a:spcPct val="20000"/>
              </a:spcBef>
            </a:pPr>
            <a:r>
              <a:rPr kumimoji="1" lang="en-US" altLang="zh-CN" b="1">
                <a:solidFill>
                  <a:srgbClr val="800000"/>
                </a:solidFill>
              </a:rPr>
              <a:t>between two conductors</a:t>
            </a:r>
            <a:r>
              <a:rPr kumimoji="1" lang="en-US" altLang="zh-CN" sz="2000" b="1">
                <a:solidFill>
                  <a:srgbClr val="800000"/>
                </a:solidFill>
              </a:rPr>
              <a:t> </a:t>
            </a:r>
          </a:p>
        </p:txBody>
      </p:sp>
      <p:sp>
        <p:nvSpPr>
          <p:cNvPr id="188426" name="Line 10"/>
          <p:cNvSpPr>
            <a:spLocks noChangeShapeType="1"/>
          </p:cNvSpPr>
          <p:nvPr/>
        </p:nvSpPr>
        <p:spPr bwMode="auto">
          <a:xfrm flipH="1" flipV="1">
            <a:off x="5129213" y="4581526"/>
            <a:ext cx="74612" cy="792163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8427" name="Rectangle 11"/>
          <p:cNvSpPr>
            <a:spLocks noChangeArrowheads="1"/>
          </p:cNvSpPr>
          <p:nvPr/>
        </p:nvSpPr>
        <p:spPr bwMode="auto">
          <a:xfrm>
            <a:off x="4367213" y="3789363"/>
            <a:ext cx="1223962" cy="792162"/>
          </a:xfrm>
          <a:prstGeom prst="rect">
            <a:avLst/>
          </a:prstGeom>
          <a:noFill/>
          <a:ln w="15875">
            <a:solidFill>
              <a:srgbClr val="FF6600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88428" name="Group 12"/>
          <p:cNvGrpSpPr/>
          <p:nvPr/>
        </p:nvGrpSpPr>
        <p:grpSpPr bwMode="auto">
          <a:xfrm>
            <a:off x="5765800" y="3644900"/>
            <a:ext cx="4859338" cy="2947988"/>
            <a:chOff x="2699" y="2296"/>
            <a:chExt cx="2948" cy="1857"/>
          </a:xfrm>
        </p:grpSpPr>
        <p:sp>
          <p:nvSpPr>
            <p:cNvPr id="64525" name="Rectangle 13"/>
            <p:cNvSpPr>
              <a:spLocks noChangeArrowheads="1"/>
            </p:cNvSpPr>
            <p:nvPr/>
          </p:nvSpPr>
          <p:spPr bwMode="auto">
            <a:xfrm>
              <a:off x="3833" y="3385"/>
              <a:ext cx="1261" cy="768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FF66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b="1">
                  <a:solidFill>
                    <a:srgbClr val="800000"/>
                  </a:solidFill>
                </a:rPr>
                <a:t>Internal self-inductance </a:t>
              </a:r>
            </a:p>
            <a:p>
              <a:pPr eaLnBrk="1" hangingPunct="1"/>
              <a:r>
                <a:rPr kumimoji="1" lang="en-US" altLang="zh-CN" b="1">
                  <a:solidFill>
                    <a:srgbClr val="800000"/>
                  </a:solidFill>
                </a:rPr>
                <a:t>for outer conductor</a:t>
              </a:r>
              <a:endParaRPr kumimoji="1" lang="en-US" altLang="zh-CN" sz="2000" b="1">
                <a:solidFill>
                  <a:srgbClr val="800000"/>
                </a:solidFill>
              </a:endParaRPr>
            </a:p>
          </p:txBody>
        </p:sp>
        <p:sp>
          <p:nvSpPr>
            <p:cNvPr id="64526" name="Line 14"/>
            <p:cNvSpPr>
              <a:spLocks noChangeShapeType="1"/>
            </p:cNvSpPr>
            <p:nvPr/>
          </p:nvSpPr>
          <p:spPr bwMode="auto">
            <a:xfrm flipH="1" flipV="1">
              <a:off x="4195" y="2976"/>
              <a:ext cx="228" cy="408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27" name="Rectangle 15"/>
            <p:cNvSpPr>
              <a:spLocks noChangeArrowheads="1"/>
            </p:cNvSpPr>
            <p:nvPr/>
          </p:nvSpPr>
          <p:spPr bwMode="auto">
            <a:xfrm>
              <a:off x="2699" y="2296"/>
              <a:ext cx="2948" cy="680"/>
            </a:xfrm>
            <a:prstGeom prst="rect">
              <a:avLst/>
            </a:prstGeom>
            <a:noFill/>
            <a:ln w="15875">
              <a:solidFill>
                <a:srgbClr val="FF6600"/>
              </a:solidFill>
              <a:prstDash val="dash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88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0"/>
                                        <p:tgtEl>
                                          <p:spTgt spid="188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188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188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88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88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88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88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88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88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88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18" grpId="0"/>
      <p:bldP spid="188420" grpId="0"/>
      <p:bldP spid="188422" grpId="0" animBg="1"/>
      <p:bldP spid="188423" grpId="0" animBg="1"/>
      <p:bldP spid="188424" grpId="0" animBg="1"/>
      <p:bldP spid="188425" grpId="0" animBg="1"/>
      <p:bldP spid="188426" grpId="0" animBg="1"/>
      <p:bldP spid="188427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311275" y="305435"/>
            <a:ext cx="6211571" cy="661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4000" b="1" kern="0" dirty="0">
                <a:solidFill>
                  <a:srgbClr val="C00000"/>
                </a:solidFill>
                <a:ea typeface="黑体" panose="02010609060101010101" pitchFamily="49" charset="-122"/>
              </a:rPr>
              <a:t>知识拓展：电磁炮</a:t>
            </a:r>
          </a:p>
        </p:txBody>
      </p:sp>
      <p:pic>
        <p:nvPicPr>
          <p:cNvPr id="108" name="图片 107"/>
          <p:cNvPicPr/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11225" y="1990091"/>
            <a:ext cx="4674871" cy="3995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5890895" y="1990091"/>
            <a:ext cx="5517515" cy="22783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 anchor="t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1.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弹丸初速高，射程远；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2.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结构简单，没有弹壳、药筒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3.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安全可靠，无炸药不会出现储存不当的爆炸。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4.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成本低：仅需电力</a:t>
            </a:r>
            <a:r>
              <a:rPr lang="zh-CN" altLang="en-US" sz="2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</a:p>
          <a:p>
            <a:endParaRPr lang="zh-CN" altLang="en-US" sz="26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415415" y="1236345"/>
            <a:ext cx="4002405" cy="580391"/>
          </a:xfrm>
          <a:prstGeom prst="rect">
            <a:avLst/>
          </a:prstGeom>
          <a:noFill/>
          <a:ln w="38100">
            <a:noFill/>
          </a:ln>
        </p:spPr>
        <p:txBody>
          <a:bodyPr wrap="square" rtlCol="0" anchor="t">
            <a:noAutofit/>
          </a:bodyPr>
          <a:lstStyle/>
          <a:p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什么是电磁炮？</a:t>
            </a: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6456045" y="1249045"/>
            <a:ext cx="4249420" cy="656591"/>
          </a:xfrm>
          <a:prstGeom prst="rect">
            <a:avLst/>
          </a:prstGeom>
          <a:noFill/>
          <a:ln w="38100">
            <a:noFill/>
          </a:ln>
        </p:spPr>
        <p:txBody>
          <a:bodyPr wrap="square" rtlCol="0" anchor="t">
            <a:noAutofit/>
          </a:bodyPr>
          <a:lstStyle/>
          <a:p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电磁炮有什么优点？</a:t>
            </a:r>
          </a:p>
        </p:txBody>
      </p:sp>
      <p:pic>
        <p:nvPicPr>
          <p:cNvPr id="111" name="图片 110"/>
          <p:cNvPicPr/>
          <p:nvPr>
            <p:custDataLst>
              <p:tags r:id="rId6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880100" y="4366260"/>
            <a:ext cx="5540375" cy="1649731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4.2 电磁炮.mp4">
            <a:hlinkClick r:id="" action="ppaction://media"/>
          </p:cNvPr>
          <p:cNvPicPr>
            <a:picLocks noRot="1"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link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92617" y="1024467"/>
            <a:ext cx="11938000" cy="544406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3969" name="标题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92405" y="372110"/>
            <a:ext cx="10284460" cy="65214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54" tIns="45726" rIns="91454" bIns="45726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Garamond" panose="02020404030301010803" pitchFamily="18" charset="0"/>
                <a:ea typeface="隶书" panose="020105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Garamond" panose="02020404030301010803" pitchFamily="18" charset="0"/>
                <a:ea typeface="隶书" panose="020105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Garamond" panose="02020404030301010803" pitchFamily="18" charset="0"/>
                <a:ea typeface="隶书" panose="020105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Garamond" panose="02020404030301010803" pitchFamily="18" charset="0"/>
                <a:ea typeface="隶书" panose="020105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Garamond" panose="02020404030301010803" pitchFamily="18" charset="0"/>
                <a:ea typeface="隶书" panose="020105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Garamond" panose="02020404030301010803" pitchFamily="18" charset="0"/>
                <a:ea typeface="隶书" panose="020105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Garamond" panose="02020404030301010803" pitchFamily="18" charset="0"/>
                <a:ea typeface="隶书" panose="020105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Garamond" panose="02020404030301010803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zh-CN" altLang="en-US" sz="3600" dirty="0">
                <a:latin typeface="隶书" panose="02010509060101010101" pitchFamily="49" charset="-122"/>
                <a:ea typeface="隶书" panose="02010509060101010101" pitchFamily="49" charset="-122"/>
              </a:rPr>
              <a:t>静电场的应用：电磁线圈炮（线圈间相互作用力）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977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8050051-3D94-4F88-8929-0B59042EEF85}" type="slidenum">
              <a:rPr kumimoji="0" lang="en-US" altLang="zh-CN" sz="1335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63</a:t>
            </a:fld>
            <a:endParaRPr kumimoji="0" lang="en-US" altLang="zh-CN" sz="133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3969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35280" y="422276"/>
            <a:ext cx="10972800" cy="65193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54" tIns="45726" rIns="91454" bIns="45726"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Garamond" panose="02020404030301010803" pitchFamily="18" charset="0"/>
                <a:ea typeface="隶书" panose="020105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Garamond" panose="02020404030301010803" pitchFamily="18" charset="0"/>
                <a:ea typeface="隶书" panose="020105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Garamond" panose="02020404030301010803" pitchFamily="18" charset="0"/>
                <a:ea typeface="隶书" panose="020105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Garamond" panose="02020404030301010803" pitchFamily="18" charset="0"/>
                <a:ea typeface="隶书" panose="020105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Garamond" panose="02020404030301010803" pitchFamily="18" charset="0"/>
                <a:ea typeface="隶书" panose="020105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Garamond" panose="02020404030301010803" pitchFamily="18" charset="0"/>
                <a:ea typeface="隶书" panose="020105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Garamond" panose="02020404030301010803" pitchFamily="18" charset="0"/>
                <a:ea typeface="隶书" panose="020105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Garamond" panose="02020404030301010803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zh-CN" altLang="en-US" sz="3600" dirty="0">
                <a:latin typeface="隶书" panose="02010509060101010101" pitchFamily="49" charset="-122"/>
                <a:ea typeface="隶书" panose="02010509060101010101" pitchFamily="49" charset="-122"/>
              </a:rPr>
              <a:t>静电场的应用：电磁轨道炮（安培力）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920" y="1190625"/>
            <a:ext cx="11900535" cy="521906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8050051-3D94-4F88-8929-0B59042EEF85}" type="slidenum">
              <a:rPr kumimoji="0" lang="en-US" altLang="zh-CN" sz="1335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64</a:t>
            </a:fld>
            <a:endParaRPr kumimoji="0" lang="en-US" altLang="zh-CN" sz="133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695960" y="995045"/>
          <a:ext cx="10822940" cy="54927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4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7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7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20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30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934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国别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5B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舰种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5B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舰级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5B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现役数（艘）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5B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方式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5B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排水量（万吨）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5B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可载战斗机数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5B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航母战力评估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5B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405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重型核航母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福特级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电磁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60+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★★★★★+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40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重型核航母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尼米兹级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b="1">
                          <a:solidFill>
                            <a:srgbClr val="00B05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蒸汽</a:t>
                      </a: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9.5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60+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★★★★★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重型航母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福建号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电磁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8+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40+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★★★★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中型航母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山东号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滑越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24+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★★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中型航母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辽宁号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滑越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24+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★★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64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英国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中型航母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伊丽莎白女王级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滑越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6.5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★★★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法国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中型核航母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戴高乐号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r>
                        <a:rPr lang="zh-CN" altLang="en-US" sz="1800" b="1">
                          <a:solidFill>
                            <a:srgbClr val="00B05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蒸汽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4.2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36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★★+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64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俄罗斯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中型航母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库兹涅佐夫号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滑越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24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★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6405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印度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中型航母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维克拉马迪亚号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滑越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4.5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24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★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中型航母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维特兰特号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滑越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24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★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意大利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轻型航母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加富尔号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滑越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2.7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★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轻型航母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加里波第号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滑越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1.3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★</a:t>
                      </a:r>
                      <a:endParaRPr lang="en-US" altLang="en-US" sz="1800" b="1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合计</a:t>
                      </a:r>
                      <a:endParaRPr lang="en-US" altLang="en-US" sz="18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5B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800">
                        <a:solidFill>
                          <a:schemeClr val="bg1">
                            <a:lumMod val="5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5B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800">
                        <a:solidFill>
                          <a:schemeClr val="bg1">
                            <a:lumMod val="5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5B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22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5B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80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5B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endParaRPr lang="en-US" altLang="en-US" sz="180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5B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endParaRPr lang="en-US" altLang="en-US" sz="1800">
                        <a:solidFill>
                          <a:schemeClr val="bg1">
                            <a:lumMod val="50000"/>
                          </a:schemeClr>
                        </a:solidFill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5B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800">
                        <a:solidFill>
                          <a:schemeClr val="bg1">
                            <a:lumMod val="50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5B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Rectangle 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35915" y="333375"/>
            <a:ext cx="6969125" cy="661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3600" kern="0" dirty="0">
                <a:solidFill>
                  <a:srgbClr val="C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知识拓展：航母电磁弹射器</a:t>
            </a:r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8050051-3D94-4F88-8929-0B59042EEF85}" type="slidenum">
              <a:rPr kumimoji="0" lang="en-US" altLang="zh-CN" sz="1335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65</a:t>
            </a:fld>
            <a:endParaRPr kumimoji="0" lang="en-US" altLang="zh-CN" sz="133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63525" y="404495"/>
            <a:ext cx="6969125" cy="661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3600" kern="0" dirty="0">
                <a:solidFill>
                  <a:srgbClr val="C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知识拓展：航母电磁弹射器</a:t>
            </a:r>
          </a:p>
        </p:txBody>
      </p:sp>
      <p:pic>
        <p:nvPicPr>
          <p:cNvPr id="100" name="图片 99"/>
          <p:cNvPicPr/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767715" y="1124585"/>
            <a:ext cx="5362575" cy="31184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838835" y="4438015"/>
            <a:ext cx="4588511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>
                <a:solidFill>
                  <a:schemeClr val="tx1"/>
                </a:solidFill>
                <a:latin typeface="宋体" panose="02010600030101010101" pitchFamily="2" charset="-122"/>
              </a:rPr>
              <a:t>滑越式：山东号航空母舰</a:t>
            </a:r>
          </a:p>
        </p:txBody>
      </p:sp>
      <p:pic>
        <p:nvPicPr>
          <p:cNvPr id="9" name="图片 8" descr="微信图片_2022062118110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240145" y="1067435"/>
            <a:ext cx="5421631" cy="3115945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6744335" y="5032375"/>
            <a:ext cx="4653915" cy="12674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just"/>
            <a:r>
              <a:rPr lang="zh-CN" altLang="en-US" sz="2400" b="1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英国人搞出了</a:t>
            </a:r>
            <a:r>
              <a:rPr lang="zh-CN" altLang="en-US" sz="2400" b="1">
                <a:solidFill>
                  <a:srgbClr val="0000FF"/>
                </a:solidFill>
                <a:latin typeface="宋体" panose="02010600030101010101" pitchFamily="2" charset="-122"/>
                <a:sym typeface="+mn-ea"/>
              </a:rPr>
              <a:t>蒸汽弹射式</a:t>
            </a:r>
            <a:r>
              <a:rPr lang="zh-CN" altLang="en-US" sz="2400" b="1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。</a:t>
            </a:r>
          </a:p>
          <a:p>
            <a:pPr algn="just"/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sym typeface="+mn-ea"/>
              </a:rPr>
              <a:t>结构复杂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，英国人弃用，美国人发扬光大。</a:t>
            </a:r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7453631" y="4438651"/>
            <a:ext cx="309118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600" b="1">
                <a:solidFill>
                  <a:schemeClr val="tx1"/>
                </a:solidFill>
                <a:latin typeface="宋体" panose="02010600030101010101" pitchFamily="2" charset="-122"/>
              </a:rPr>
              <a:t>尼米兹级航空母舰</a:t>
            </a: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174961" y="5007187"/>
            <a:ext cx="4372611" cy="12674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优点：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简单</a:t>
            </a:r>
          </a:p>
          <a:p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缺点：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倾斜甲板不能放飞机</a:t>
            </a:r>
          </a:p>
          <a:p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可载飞机数少</a:t>
            </a:r>
          </a:p>
        </p:txBody>
      </p:sp>
    </p:spTree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8050051-3D94-4F88-8929-0B59042EEF85}" type="slidenum">
              <a:rPr kumimoji="0" lang="en-US" altLang="zh-CN" sz="1335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66</a:t>
            </a:fld>
            <a:endParaRPr kumimoji="0" lang="en-US" altLang="zh-CN" sz="133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" name="图片 3" descr="微信图片_2022062118114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320280" y="981711"/>
            <a:ext cx="4394835" cy="2680971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67715" y="1125855"/>
            <a:ext cx="6443980" cy="51695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采用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蒸汽弹射的国家</a:t>
            </a:r>
            <a:endParaRPr lang="en-US" altLang="zh-CN" sz="2400" b="1" dirty="0">
              <a:solidFill>
                <a:srgbClr val="0000FF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法国（夏尔戴高乐号，全套美国设备）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美国（10艘航母）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4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优点：</a:t>
            </a:r>
            <a:endParaRPr lang="en-US" altLang="zh-CN" sz="2400" b="1" dirty="0">
              <a:solidFill>
                <a:srgbClr val="0000FF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相对于滑越式</a:t>
            </a: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能多装载飞机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起飞距离短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缺点：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过载6G加速度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加速不均匀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无法调整弹射力度，不能适应多种机型</a:t>
            </a:r>
          </a:p>
        </p:txBody>
      </p:sp>
      <p:sp>
        <p:nvSpPr>
          <p:cNvPr id="7" name="Rectangle 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23570" y="464185"/>
            <a:ext cx="6969125" cy="661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3600" kern="0" dirty="0">
                <a:solidFill>
                  <a:srgbClr val="C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知识拓展：航母电磁弹射器</a:t>
            </a:r>
          </a:p>
        </p:txBody>
      </p:sp>
      <p:pic>
        <p:nvPicPr>
          <p:cNvPr id="108" name="图片 107"/>
          <p:cNvPicPr/>
          <p:nvPr>
            <p:custDataLst>
              <p:tags r:id="rId4"/>
            </p:custDataLst>
          </p:nvPr>
        </p:nvPicPr>
        <p:blipFill>
          <a:blip r:embed="rId9"/>
          <a:srcRect l="3091" t="-3659" r="4097" b="16224"/>
          <a:stretch>
            <a:fillRect/>
          </a:stretch>
        </p:blipFill>
        <p:spPr>
          <a:xfrm>
            <a:off x="7271385" y="3689985"/>
            <a:ext cx="4443731" cy="2411731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27"/>
          <p:cNvSpPr txBox="1"/>
          <p:nvPr>
            <p:custDataLst>
              <p:tags r:id="rId5"/>
            </p:custDataLst>
          </p:nvPr>
        </p:nvSpPr>
        <p:spPr>
          <a:xfrm>
            <a:off x="7343987" y="3236807"/>
            <a:ext cx="4400127" cy="420370"/>
          </a:xfrm>
          <a:prstGeom prst="rect">
            <a:avLst/>
          </a:prstGeom>
          <a:solidFill>
            <a:srgbClr val="0995DB">
              <a:alpha val="70195"/>
            </a:srgbClr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>
              <a:buClrTx/>
              <a:buFontTx/>
            </a:pPr>
            <a:r>
              <a:rPr lang="zh-CN" altLang="en-US" sz="213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蒸汽管</a:t>
            </a:r>
          </a:p>
        </p:txBody>
      </p:sp>
      <p:sp>
        <p:nvSpPr>
          <p:cNvPr id="8" name="文本框 27"/>
          <p:cNvSpPr txBox="1"/>
          <p:nvPr>
            <p:custDataLst>
              <p:tags r:id="rId6"/>
            </p:custDataLst>
          </p:nvPr>
        </p:nvSpPr>
        <p:spPr>
          <a:xfrm>
            <a:off x="7271173" y="6020647"/>
            <a:ext cx="4472940" cy="420370"/>
          </a:xfrm>
          <a:prstGeom prst="rect">
            <a:avLst/>
          </a:prstGeom>
          <a:solidFill>
            <a:srgbClr val="0995DB">
              <a:alpha val="70195"/>
            </a:srgbClr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>
              <a:buClrTx/>
              <a:buFontTx/>
            </a:pPr>
            <a:r>
              <a:rPr lang="zh-CN" altLang="en-US" sz="213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蒸汽弹射原理</a:t>
            </a:r>
          </a:p>
        </p:txBody>
      </p:sp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8050051-3D94-4F88-8929-0B59042EEF85}" type="slidenum">
              <a:rPr kumimoji="0" lang="en-US" altLang="zh-CN" sz="1335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67</a:t>
            </a:fld>
            <a:endParaRPr kumimoji="0" lang="en-US" altLang="zh-CN" sz="133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8537069" y="3503961"/>
            <a:ext cx="433071" cy="12331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弹射区</a:t>
            </a: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8129399" y="3648741"/>
            <a:ext cx="4692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弹射区</a:t>
            </a: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9119999" y="3576352"/>
            <a:ext cx="42989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弹射区</a:t>
            </a: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839471" y="1198245"/>
            <a:ext cx="4774565" cy="48875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>
                <a:solidFill>
                  <a:srgbClr val="0000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采用电磁</a:t>
            </a:r>
            <a:r>
              <a:rPr lang="zh-CN" altLang="en-US" sz="2400" b="1">
                <a:solidFill>
                  <a:srgbClr val="0000FF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弹射的国家：</a:t>
            </a:r>
            <a:endParaRPr lang="zh-CN" altLang="en-US" sz="2400" b="1">
              <a:solidFill>
                <a:srgbClr val="0000FF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2400" b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中国（福建号）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2400" b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美国（福特级）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>
                <a:solidFill>
                  <a:srgbClr val="0000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美国缺点：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cs typeface="宋体" panose="02010600030101010101" pitchFamily="2" charset="-122"/>
              </a:rPr>
              <a:t> 使用交流电，不好调功率，线圈重，故障率高，发热量大，散热难。储存释放和全舰电力系统直接连通，易造成瞬间系统过载造成全舰断电。特朗普甚至扬言拆掉它，改装老版的蒸汽弹射器</a:t>
            </a:r>
          </a:p>
        </p:txBody>
      </p:sp>
      <p:pic>
        <p:nvPicPr>
          <p:cNvPr id="109" name="图片 108"/>
          <p:cNvPicPr/>
          <p:nvPr>
            <p:custDataLst>
              <p:tags r:id="rId5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5952067" y="3649133"/>
            <a:ext cx="5555827" cy="263313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图片 7" descr="微信图片_2022062118145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5920740" y="953347"/>
            <a:ext cx="5550747" cy="2466340"/>
          </a:xfrm>
          <a:prstGeom prst="rect">
            <a:avLst/>
          </a:prstGeom>
        </p:spPr>
      </p:pic>
      <p:sp>
        <p:nvSpPr>
          <p:cNvPr id="10" name="Rectangle 2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91770" y="404495"/>
            <a:ext cx="6969125" cy="661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3600" kern="0" dirty="0">
                <a:solidFill>
                  <a:srgbClr val="C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知识拓展：航母电磁弹射器</a:t>
            </a:r>
          </a:p>
        </p:txBody>
      </p:sp>
      <p:sp>
        <p:nvSpPr>
          <p:cNvPr id="11" name="文本框 27"/>
          <p:cNvSpPr txBox="1"/>
          <p:nvPr>
            <p:custDataLst>
              <p:tags r:id="rId8"/>
            </p:custDataLst>
          </p:nvPr>
        </p:nvSpPr>
        <p:spPr>
          <a:xfrm>
            <a:off x="5952067" y="3011593"/>
            <a:ext cx="5521960" cy="420370"/>
          </a:xfrm>
          <a:prstGeom prst="rect">
            <a:avLst/>
          </a:prstGeom>
          <a:solidFill>
            <a:srgbClr val="0995DB">
              <a:alpha val="70195"/>
            </a:srgbClr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>
              <a:buClrTx/>
              <a:buFontTx/>
            </a:pPr>
            <a:r>
              <a:rPr lang="zh-CN" altLang="en-US" sz="213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福建号</a:t>
            </a:r>
          </a:p>
        </p:txBody>
      </p:sp>
      <p:sp>
        <p:nvSpPr>
          <p:cNvPr id="12" name="文本框 27"/>
          <p:cNvSpPr txBox="1"/>
          <p:nvPr>
            <p:custDataLst>
              <p:tags r:id="rId9"/>
            </p:custDataLst>
          </p:nvPr>
        </p:nvSpPr>
        <p:spPr>
          <a:xfrm>
            <a:off x="6000327" y="5830993"/>
            <a:ext cx="5471160" cy="420370"/>
          </a:xfrm>
          <a:prstGeom prst="rect">
            <a:avLst/>
          </a:prstGeom>
          <a:solidFill>
            <a:srgbClr val="0995DB">
              <a:alpha val="70195"/>
            </a:srgbClr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>
              <a:buClrTx/>
              <a:buFontTx/>
            </a:pPr>
            <a:r>
              <a:rPr lang="zh-CN" altLang="en-US" sz="213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福特级</a:t>
            </a:r>
          </a:p>
        </p:txBody>
      </p:sp>
    </p:spTree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8050051-3D94-4F88-8929-0B59042EEF85}" type="slidenum">
              <a:rPr kumimoji="0" lang="en-US" altLang="zh-CN" sz="1335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68</a:t>
            </a:fld>
            <a:endParaRPr kumimoji="0" lang="en-US" altLang="zh-CN" sz="133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35280" y="476250"/>
            <a:ext cx="10208260" cy="661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3600" kern="0" dirty="0">
                <a:solidFill>
                  <a:srgbClr val="C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知识拓展：航母电磁弹射器原理</a:t>
            </a:r>
          </a:p>
        </p:txBody>
      </p:sp>
      <p:pic>
        <p:nvPicPr>
          <p:cNvPr id="113" name="图片 112"/>
          <p:cNvPicPr/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01725" y="1269365"/>
            <a:ext cx="3966211" cy="31572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164455" y="1269365"/>
            <a:ext cx="6899911" cy="315722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055371" y="4653280"/>
            <a:ext cx="11008995" cy="1548765"/>
          </a:xfrm>
          <a:prstGeom prst="rect">
            <a:avLst/>
          </a:prstGeom>
          <a:noFill/>
          <a:ln w="38100">
            <a:noFill/>
          </a:ln>
        </p:spPr>
        <p:txBody>
          <a:bodyPr wrap="square" rtlCol="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sym typeface="+mn-ea"/>
              </a:rPr>
              <a:t>原理与电磁轨道炮类似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，实现的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sym typeface="+mn-ea"/>
              </a:rPr>
              <a:t>技术难度非常大</a:t>
            </a:r>
            <a:r>
              <a:rPr lang="zh-CN" altLang="en-US" sz="2800" b="1" dirty="0">
                <a:solidFill>
                  <a:srgbClr val="003399"/>
                </a:solidFill>
                <a:latin typeface="宋体" panose="02010600030101010101" pitchFamily="2" charset="-122"/>
                <a:sym typeface="+mn-ea"/>
              </a:rPr>
              <a:t>。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电磁线圈炮弹射出去的是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sym typeface="+mn-ea"/>
              </a:rPr>
              <a:t>几十克的子弹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或者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sym typeface="+mn-ea"/>
              </a:rPr>
              <a:t>几十公斤的炮弹。</a:t>
            </a:r>
            <a:endParaRPr lang="zh-CN" altLang="en-US" sz="2800" b="1" dirty="0">
              <a:solidFill>
                <a:srgbClr val="003399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电磁弹射器弹射出去的是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sym typeface="+mn-ea"/>
              </a:rPr>
              <a:t>几十吨的飞机</a:t>
            </a:r>
            <a:r>
              <a:rPr lang="zh-CN" altLang="en-US" sz="2800" b="1" dirty="0">
                <a:solidFill>
                  <a:srgbClr val="003399"/>
                </a:solidFill>
                <a:latin typeface="宋体" panose="02010600030101010101" pitchFamily="2" charset="-122"/>
                <a:sym typeface="+mn-ea"/>
              </a:rPr>
              <a:t>。</a:t>
            </a:r>
          </a:p>
        </p:txBody>
      </p:sp>
    </p:spTree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8050051-3D94-4F88-8929-0B59042EEF85}" type="slidenum">
              <a:rPr kumimoji="0" lang="en-US" altLang="zh-CN" sz="1335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69</a:t>
            </a:fld>
            <a:endParaRPr kumimoji="0" lang="en-US" altLang="zh-CN" sz="133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" name="图片 3">
            <a:hlinkClick r:id="rId3" action="ppaction://hlinkfil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290" y="1281430"/>
            <a:ext cx="11869420" cy="5104130"/>
          </a:xfrm>
          <a:prstGeom prst="rect">
            <a:avLst/>
          </a:prstGeom>
        </p:spPr>
      </p:pic>
      <p:sp>
        <p:nvSpPr>
          <p:cNvPr id="1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91770" y="479425"/>
            <a:ext cx="10208260" cy="661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3600" kern="0" dirty="0">
                <a:solidFill>
                  <a:srgbClr val="C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知识拓展：航母电磁弹射器原理</a:t>
            </a:r>
          </a:p>
        </p:txBody>
      </p:sp>
    </p:spTree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3" name="Text Box 2"/>
          <p:cNvSpPr txBox="1">
            <a:spLocks noChangeArrowheads="1"/>
          </p:cNvSpPr>
          <p:nvPr/>
        </p:nvSpPr>
        <p:spPr bwMode="auto">
          <a:xfrm>
            <a:off x="1774826" y="2349501"/>
            <a:ext cx="54006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2. Boundary conditions (general problems):</a:t>
            </a:r>
            <a:endParaRPr kumimoji="1" lang="en-US" altLang="zh-CN" sz="2000" b="1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68964" name="Text Box 5"/>
          <p:cNvSpPr txBox="1">
            <a:spLocks noChangeArrowheads="1"/>
          </p:cNvSpPr>
          <p:nvPr/>
        </p:nvSpPr>
        <p:spPr bwMode="auto">
          <a:xfrm>
            <a:off x="1847851" y="1125538"/>
            <a:ext cx="22320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Differential forms </a:t>
            </a:r>
            <a:r>
              <a:rPr kumimoji="1" lang="zh-CN" altLang="en-US" sz="1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</a:p>
        </p:txBody>
      </p:sp>
      <p:sp>
        <p:nvSpPr>
          <p:cNvPr id="168965" name="Text Box 8"/>
          <p:cNvSpPr txBox="1">
            <a:spLocks noChangeArrowheads="1"/>
          </p:cNvSpPr>
          <p:nvPr/>
        </p:nvSpPr>
        <p:spPr bwMode="auto">
          <a:xfrm>
            <a:off x="1847851" y="1844676"/>
            <a:ext cx="34194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Constitutive relations</a:t>
            </a:r>
            <a:r>
              <a:rPr kumimoji="1" lang="zh-CN" altLang="en-US" sz="1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</a:p>
        </p:txBody>
      </p:sp>
      <p:sp>
        <p:nvSpPr>
          <p:cNvPr id="168966" name="Text Box 9"/>
          <p:cNvSpPr txBox="1">
            <a:spLocks noChangeArrowheads="1"/>
          </p:cNvSpPr>
          <p:nvPr/>
        </p:nvSpPr>
        <p:spPr bwMode="auto">
          <a:xfrm>
            <a:off x="1774826" y="620714"/>
            <a:ext cx="59039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1. Basic equations (general problems):</a:t>
            </a:r>
          </a:p>
        </p:txBody>
      </p:sp>
      <p:sp>
        <p:nvSpPr>
          <p:cNvPr id="168967" name="Text Box 13"/>
          <p:cNvSpPr txBox="1">
            <a:spLocks noChangeArrowheads="1"/>
          </p:cNvSpPr>
          <p:nvPr/>
        </p:nvSpPr>
        <p:spPr bwMode="auto">
          <a:xfrm>
            <a:off x="5664201" y="1196976"/>
            <a:ext cx="20161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Integral forms</a:t>
            </a:r>
            <a:r>
              <a:rPr kumimoji="1" lang="zh-CN" altLang="en-US" sz="1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</a:p>
        </p:txBody>
      </p:sp>
      <p:graphicFrame>
        <p:nvGraphicFramePr>
          <p:cNvPr id="168969" name="Object 25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079875" y="981075"/>
          <a:ext cx="1354138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89000" imgH="584200" progId="Equation.DSMT4">
                  <p:embed/>
                </p:oleObj>
              </mc:Choice>
              <mc:Fallback>
                <p:oleObj name="Equation" r:id="rId2" imgW="889000" imgH="584200" progId="Equation.DSMT4">
                  <p:embed/>
                  <p:pic>
                    <p:nvPicPr>
                      <p:cNvPr id="0" name="图片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75" y="981075"/>
                        <a:ext cx="1354138" cy="833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70" name="Object 27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7535864" y="836613"/>
          <a:ext cx="2447925" cy="1274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536700" imgH="762000" progId="Equation.3">
                  <p:embed/>
                </p:oleObj>
              </mc:Choice>
              <mc:Fallback>
                <p:oleObj name="公式" r:id="rId4" imgW="1536700" imgH="762000" progId="Equation.3">
                  <p:embed/>
                  <p:pic>
                    <p:nvPicPr>
                      <p:cNvPr id="0" name="图片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5864" y="836613"/>
                        <a:ext cx="2447925" cy="1274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71" name="Object 31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4367214" y="1773238"/>
          <a:ext cx="119538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22300" imgH="228600" progId="Equation.DSMT4">
                  <p:embed/>
                </p:oleObj>
              </mc:Choice>
              <mc:Fallback>
                <p:oleObj name="Equation" r:id="rId6" imgW="622300" imgH="228600" progId="Equation.DSMT4">
                  <p:embed/>
                  <p:pic>
                    <p:nvPicPr>
                      <p:cNvPr id="0" name="图片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214" y="1773238"/>
                        <a:ext cx="1195387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72" name="Object 33"/>
          <p:cNvGraphicFramePr>
            <a:graphicFrameLocks noChangeAspect="1"/>
          </p:cNvGraphicFramePr>
          <p:nvPr/>
        </p:nvGraphicFramePr>
        <p:xfrm>
          <a:off x="3000375" y="2708275"/>
          <a:ext cx="2324100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625600" imgH="622300" progId="Equation.3">
                  <p:embed/>
                </p:oleObj>
              </mc:Choice>
              <mc:Fallback>
                <p:oleObj name="公式" r:id="rId8" imgW="1625600" imgH="622300" progId="Equation.3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2708275"/>
                        <a:ext cx="2324100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73" name="Object 34"/>
          <p:cNvGraphicFramePr>
            <a:graphicFrameLocks noChangeAspect="1"/>
          </p:cNvGraphicFramePr>
          <p:nvPr/>
        </p:nvGraphicFramePr>
        <p:xfrm>
          <a:off x="6527800" y="2708276"/>
          <a:ext cx="2128838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244600" imgH="558800" progId="Equation.3">
                  <p:embed/>
                </p:oleObj>
              </mc:Choice>
              <mc:Fallback>
                <p:oleObj name="公式" r:id="rId10" imgW="1244600" imgH="558800" progId="Equation.3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7800" y="2708276"/>
                        <a:ext cx="2128838" cy="874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8974" name="Text Box 35"/>
          <p:cNvSpPr txBox="1">
            <a:spLocks noChangeArrowheads="1"/>
          </p:cNvSpPr>
          <p:nvPr/>
        </p:nvSpPr>
        <p:spPr bwMode="auto">
          <a:xfrm>
            <a:off x="5591175" y="2852738"/>
            <a:ext cx="8270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OR</a:t>
            </a:r>
          </a:p>
        </p:txBody>
      </p:sp>
      <p:sp>
        <p:nvSpPr>
          <p:cNvPr id="65549" name="Rectangle 15"/>
          <p:cNvSpPr>
            <a:spLocks noRot="1" noChangeArrowheads="1"/>
          </p:cNvSpPr>
          <p:nvPr/>
        </p:nvSpPr>
        <p:spPr bwMode="auto">
          <a:xfrm>
            <a:off x="3143250" y="0"/>
            <a:ext cx="5976938" cy="71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4800" b="1">
                <a:solidFill>
                  <a:srgbClr val="800000"/>
                </a:solidFill>
              </a:rPr>
              <a:t>Summary</a:t>
            </a:r>
          </a:p>
        </p:txBody>
      </p:sp>
      <p:sp>
        <p:nvSpPr>
          <p:cNvPr id="168976" name="Text Box 2"/>
          <p:cNvSpPr txBox="1">
            <a:spLocks noChangeArrowheads="1"/>
          </p:cNvSpPr>
          <p:nvPr/>
        </p:nvSpPr>
        <p:spPr bwMode="auto">
          <a:xfrm>
            <a:off x="1774826" y="3716339"/>
            <a:ext cx="36734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3. Magnetized current density:</a:t>
            </a:r>
            <a:endParaRPr kumimoji="1" lang="en-US" altLang="zh-CN" sz="2000" b="1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68977" name="Object 683"/>
          <p:cNvGraphicFramePr>
            <a:graphicFrameLocks noChangeAspect="1"/>
          </p:cNvGraphicFramePr>
          <p:nvPr/>
        </p:nvGraphicFramePr>
        <p:xfrm>
          <a:off x="5448300" y="3644900"/>
          <a:ext cx="1485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03300" imgH="330200" progId="Equation.DSMT4">
                  <p:embed/>
                </p:oleObj>
              </mc:Choice>
              <mc:Fallback>
                <p:oleObj name="Equation" r:id="rId12" imgW="1003300" imgH="330200" progId="Equation.DSMT4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0" y="3644900"/>
                        <a:ext cx="14859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78" name="Object 223"/>
          <p:cNvGraphicFramePr>
            <a:graphicFrameLocks noChangeAspect="1"/>
          </p:cNvGraphicFramePr>
          <p:nvPr/>
        </p:nvGraphicFramePr>
        <p:xfrm>
          <a:off x="7391400" y="3644901"/>
          <a:ext cx="17272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04900" imgH="330200" progId="Equation.DSMT4">
                  <p:embed/>
                </p:oleObj>
              </mc:Choice>
              <mc:Fallback>
                <p:oleObj name="Equation" r:id="rId14" imgW="1104900" imgH="330200" progId="Equation.DSMT4">
                  <p:embed/>
                  <p:pic>
                    <p:nvPicPr>
                      <p:cNvPr id="0" name="图片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3644901"/>
                        <a:ext cx="172720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8979" name="Text Box 2"/>
          <p:cNvSpPr txBox="1">
            <a:spLocks noChangeArrowheads="1"/>
          </p:cNvSpPr>
          <p:nvPr/>
        </p:nvSpPr>
        <p:spPr bwMode="auto">
          <a:xfrm>
            <a:off x="1774826" y="4437064"/>
            <a:ext cx="18002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4. Inductance:</a:t>
            </a:r>
            <a:endParaRPr kumimoji="1" lang="en-US" altLang="zh-CN" sz="2000" b="1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68980" name="Text Box 2"/>
          <p:cNvSpPr txBox="1">
            <a:spLocks noChangeArrowheads="1"/>
          </p:cNvSpPr>
          <p:nvPr/>
        </p:nvSpPr>
        <p:spPr bwMode="auto">
          <a:xfrm>
            <a:off x="1774826" y="5157789"/>
            <a:ext cx="33131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5. Magnetic energy density:</a:t>
            </a:r>
            <a:endParaRPr kumimoji="1" lang="en-US" altLang="zh-CN" sz="2000" b="1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68981" name="Object 3"/>
          <p:cNvGraphicFramePr>
            <a:graphicFrameLocks noChangeAspect="1"/>
          </p:cNvGraphicFramePr>
          <p:nvPr/>
        </p:nvGraphicFramePr>
        <p:xfrm>
          <a:off x="3792539" y="4292601"/>
          <a:ext cx="892175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508000" imgH="431800" progId="Equation.3">
                  <p:embed/>
                </p:oleObj>
              </mc:Choice>
              <mc:Fallback>
                <p:oleObj name="公式" r:id="rId16" imgW="508000" imgH="431800" progId="Equation.3">
                  <p:embed/>
                  <p:pic>
                    <p:nvPicPr>
                      <p:cNvPr id="0" name="图片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2539" y="4292601"/>
                        <a:ext cx="892175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82" name="Object 10"/>
          <p:cNvGraphicFramePr>
            <a:graphicFrameLocks noChangeAspect="1"/>
          </p:cNvGraphicFramePr>
          <p:nvPr/>
        </p:nvGraphicFramePr>
        <p:xfrm>
          <a:off x="5165725" y="4938713"/>
          <a:ext cx="1576388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9507200" imgH="9448800" progId="Equation.DSMT4">
                  <p:embed/>
                </p:oleObj>
              </mc:Choice>
              <mc:Fallback>
                <p:oleObj name="Equation" r:id="rId18" imgW="19507200" imgH="9448800" progId="Equation.DSMT4">
                  <p:embed/>
                  <p:pic>
                    <p:nvPicPr>
                      <p:cNvPr id="0" name="图片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5725" y="4938713"/>
                        <a:ext cx="1576388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83" name="Object 13"/>
          <p:cNvGraphicFramePr>
            <a:graphicFrameLocks noChangeAspect="1"/>
          </p:cNvGraphicFramePr>
          <p:nvPr/>
        </p:nvGraphicFramePr>
        <p:xfrm>
          <a:off x="9369713" y="5605825"/>
          <a:ext cx="2157269" cy="75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8956000" imgH="9448800" progId="Equation.DSMT4">
                  <p:embed/>
                </p:oleObj>
              </mc:Choice>
              <mc:Fallback>
                <p:oleObj name="Equation" r:id="rId20" imgW="28956000" imgH="9448800" progId="Equation.DSMT4">
                  <p:embed/>
                  <p:pic>
                    <p:nvPicPr>
                      <p:cNvPr id="0" name="图片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69713" y="5605825"/>
                        <a:ext cx="2157269" cy="752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8984" name="Text Box 2"/>
          <p:cNvSpPr txBox="1">
            <a:spLocks noChangeArrowheads="1"/>
          </p:cNvSpPr>
          <p:nvPr/>
        </p:nvSpPr>
        <p:spPr bwMode="auto">
          <a:xfrm>
            <a:off x="1774825" y="5805489"/>
            <a:ext cx="23764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000" b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6. Magnetic energy:</a:t>
            </a:r>
            <a:endParaRPr kumimoji="1" lang="en-US" altLang="zh-CN" sz="2000" b="1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68985" name="Object 11"/>
          <p:cNvGraphicFramePr>
            <a:graphicFrameLocks noChangeAspect="1"/>
          </p:cNvGraphicFramePr>
          <p:nvPr/>
        </p:nvGraphicFramePr>
        <p:xfrm>
          <a:off x="4167187" y="5662613"/>
          <a:ext cx="2289177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7127200" imgH="9448800" progId="Equation.DSMT4">
                  <p:embed/>
                </p:oleObj>
              </mc:Choice>
              <mc:Fallback>
                <p:oleObj name="Equation" r:id="rId22" imgW="27127200" imgH="9448800" progId="Equation.DSMT4">
                  <p:embed/>
                  <p:pic>
                    <p:nvPicPr>
                      <p:cNvPr id="0" name="图片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7187" y="5662613"/>
                        <a:ext cx="2289177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86" name="Object 5"/>
          <p:cNvGraphicFramePr>
            <a:graphicFrameLocks noChangeAspect="1"/>
          </p:cNvGraphicFramePr>
          <p:nvPr/>
        </p:nvGraphicFramePr>
        <p:xfrm>
          <a:off x="6809365" y="5629999"/>
          <a:ext cx="2001838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6212800" imgH="9448800" progId="Equation.DSMT4">
                  <p:embed/>
                </p:oleObj>
              </mc:Choice>
              <mc:Fallback>
                <p:oleObj name="Equation" r:id="rId24" imgW="26212800" imgH="9448800" progId="Equation.DSMT4">
                  <p:embed/>
                  <p:pic>
                    <p:nvPicPr>
                      <p:cNvPr id="0" name="图片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9365" y="5629999"/>
                        <a:ext cx="2001838" cy="82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8987" name="Rectangle 27"/>
          <p:cNvSpPr>
            <a:spLocks noChangeArrowheads="1"/>
          </p:cNvSpPr>
          <p:nvPr/>
        </p:nvSpPr>
        <p:spPr bwMode="auto">
          <a:xfrm>
            <a:off x="5087939" y="4437063"/>
            <a:ext cx="15700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L = L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+ L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8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8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68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68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68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68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68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68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68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68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68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68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68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68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68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68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68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168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68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68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168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168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168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3" grpId="0"/>
      <p:bldP spid="168964" grpId="0"/>
      <p:bldP spid="168965" grpId="0"/>
      <p:bldP spid="168966" grpId="0"/>
      <p:bldP spid="168967" grpId="0"/>
      <p:bldP spid="168974" grpId="0"/>
      <p:bldP spid="168976" grpId="0"/>
      <p:bldP spid="168979" grpId="0"/>
      <p:bldP spid="168980" grpId="0"/>
      <p:bldP spid="168984" grpId="0"/>
      <p:bldP spid="168987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774825" y="1125538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6000" b="1">
                <a:effectLst>
                  <a:outerShdw blurRad="38100" dist="38100" dir="2700000" algn="tl">
                    <a:srgbClr val="C0C0C0"/>
                  </a:outerShdw>
                </a:effectLst>
              </a:rPr>
              <a:t>Homework</a:t>
            </a:r>
          </a:p>
        </p:txBody>
      </p:sp>
      <p:sp>
        <p:nvSpPr>
          <p:cNvPr id="6656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774825" y="4395099"/>
            <a:ext cx="7488237" cy="1873250"/>
          </a:xfrm>
        </p:spPr>
        <p:txBody>
          <a:bodyPr/>
          <a:lstStyle/>
          <a:p>
            <a:r>
              <a:rPr lang="en-US" altLang="zh-CN" sz="4800" b="1" dirty="0"/>
              <a:t>6-4, 6-6, 6-10, 6-15, 6-22, 6-27,6-36, 6-41</a:t>
            </a:r>
            <a:endParaRPr lang="zh-CN" altLang="zh-CN" sz="4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A593884-327A-5E72-1962-E4B51E2083BE}"/>
              </a:ext>
            </a:extLst>
          </p:cNvPr>
          <p:cNvSpPr txBox="1"/>
          <p:nvPr/>
        </p:nvSpPr>
        <p:spPr>
          <a:xfrm>
            <a:off x="2013333" y="3057811"/>
            <a:ext cx="60978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https://www.bilibili.com/video/BV1sP4y1X7gX/?spm_id_from=333.337.search-card.all.click&amp;vd_source=cbc26ac5a27dd541735237c7e8b5a6a4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F212520-2D5D-ECEE-0708-ABE0BA69200E}"/>
              </a:ext>
            </a:extLst>
          </p:cNvPr>
          <p:cNvSpPr txBox="1"/>
          <p:nvPr/>
        </p:nvSpPr>
        <p:spPr>
          <a:xfrm>
            <a:off x="2013333" y="2158334"/>
            <a:ext cx="77414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According to the following link, explain the mechanism of </a:t>
            </a:r>
            <a:r>
              <a:rPr lang="en-US" altLang="zh-CN" sz="2400" b="1" i="0" dirty="0">
                <a:solidFill>
                  <a:srgbClr val="404040"/>
                </a:solidFill>
                <a:effectLst/>
              </a:rPr>
              <a:t>Maglev train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8400068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mU1MDQ4NGJlYWMzNGNlNjc3NmUxZGM1ODU4MTU5NTA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8c522aa-dc7c-4a9d-964c-3844e5bf226a}"/>
  <p:tag name="TABLE_ENDDRAG_ORIGIN_RECT" val="850*391"/>
  <p:tag name="TABLE_ENDDRAG_RECT" val="61*110*850*391"/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丝状">
  <a:themeElements>
    <a:clrScheme name="丝状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丝状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丝状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347</TotalTime>
  <Words>3492</Words>
  <Application>Microsoft Office PowerPoint</Application>
  <PresentationFormat>宽屏</PresentationFormat>
  <Paragraphs>556</Paragraphs>
  <Slides>71</Slides>
  <Notes>2</Notes>
  <HiddenSlides>0</HiddenSlides>
  <MMClips>1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71</vt:i4>
      </vt:variant>
    </vt:vector>
  </HeadingPairs>
  <TitlesOfParts>
    <vt:vector size="95" baseType="lpstr">
      <vt:lpstr>DeepSeek-CJK-patch</vt:lpstr>
      <vt:lpstr>Gulim</vt:lpstr>
      <vt:lpstr>PMingLiU</vt:lpstr>
      <vt:lpstr>仿宋_GB2312</vt:lpstr>
      <vt:lpstr>黑体</vt:lpstr>
      <vt:lpstr>楷体_GB2312</vt:lpstr>
      <vt:lpstr>隶书</vt:lpstr>
      <vt:lpstr>宋体</vt:lpstr>
      <vt:lpstr>微软雅黑</vt:lpstr>
      <vt:lpstr>幼圆</vt:lpstr>
      <vt:lpstr>Arial</vt:lpstr>
      <vt:lpstr>Calibri</vt:lpstr>
      <vt:lpstr>Century Gothic</vt:lpstr>
      <vt:lpstr>Times New Roman</vt:lpstr>
      <vt:lpstr>Verdana</vt:lpstr>
      <vt:lpstr>Wingdings</vt:lpstr>
      <vt:lpstr>Wingdings 3</vt:lpstr>
      <vt:lpstr>丝状</vt:lpstr>
      <vt:lpstr>Equation</vt:lpstr>
      <vt:lpstr>MathType 6.0 Equation</vt:lpstr>
      <vt:lpstr>公式</vt:lpstr>
      <vt:lpstr>Microsoft Office Visio 绘图</vt:lpstr>
      <vt:lpstr>剪辑</vt:lpstr>
      <vt:lpstr>CorelDRAW! Graphic</vt:lpstr>
      <vt:lpstr>PowerPoint 演示文稿</vt:lpstr>
      <vt:lpstr>PowerPoint 演示文稿</vt:lpstr>
      <vt:lpstr>6.1 Fundamental Postulates of Magnetostatics in Free Space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Homework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lwq</dc:creator>
  <cp:lastModifiedBy>无穷 骆</cp:lastModifiedBy>
  <cp:revision>78</cp:revision>
  <dcterms:created xsi:type="dcterms:W3CDTF">2019-03-21T03:59:00Z</dcterms:created>
  <dcterms:modified xsi:type="dcterms:W3CDTF">2025-04-21T15:36:14Z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EB60709522A5425E8CCE91E43BBE438F_12</vt:lpwstr>
  </property>
  <property fmtid="{D5CDD505-2E9C-101B-9397-08002B2CF9AE}" pid="3" name="KSOProductBuildVer">
    <vt:lpwstr>2052-12.1.0.16729</vt:lpwstr>
  </property>
</Properties>
</file>