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handoutMasterIdLst>
    <p:handoutMasterId r:id="rId82"/>
  </p:handoutMasterIdLst>
  <p:sldIdLst>
    <p:sldId id="1040" r:id="rId2"/>
    <p:sldId id="1044" r:id="rId3"/>
    <p:sldId id="1045" r:id="rId4"/>
    <p:sldId id="1046" r:id="rId5"/>
    <p:sldId id="1047" r:id="rId6"/>
    <p:sldId id="1048" r:id="rId7"/>
    <p:sldId id="1049" r:id="rId8"/>
    <p:sldId id="1050" r:id="rId9"/>
    <p:sldId id="1051" r:id="rId10"/>
    <p:sldId id="1052" r:id="rId11"/>
    <p:sldId id="1053" r:id="rId12"/>
    <p:sldId id="1054" r:id="rId13"/>
    <p:sldId id="1117" r:id="rId14"/>
    <p:sldId id="1055" r:id="rId15"/>
    <p:sldId id="1056" r:id="rId16"/>
    <p:sldId id="1057" r:id="rId17"/>
    <p:sldId id="1058" r:id="rId18"/>
    <p:sldId id="1059" r:id="rId19"/>
    <p:sldId id="1060" r:id="rId20"/>
    <p:sldId id="1061" r:id="rId21"/>
    <p:sldId id="1062" r:id="rId22"/>
    <p:sldId id="1118" r:id="rId23"/>
    <p:sldId id="1063" r:id="rId24"/>
    <p:sldId id="1064" r:id="rId25"/>
    <p:sldId id="1065" r:id="rId26"/>
    <p:sldId id="1066" r:id="rId27"/>
    <p:sldId id="1067" r:id="rId28"/>
    <p:sldId id="1068" r:id="rId29"/>
    <p:sldId id="1069" r:id="rId30"/>
    <p:sldId id="1070" r:id="rId31"/>
    <p:sldId id="1071" r:id="rId32"/>
    <p:sldId id="1072" r:id="rId33"/>
    <p:sldId id="1123" r:id="rId34"/>
    <p:sldId id="1119" r:id="rId35"/>
    <p:sldId id="1073" r:id="rId36"/>
    <p:sldId id="1120" r:id="rId37"/>
    <p:sldId id="1074" r:id="rId38"/>
    <p:sldId id="1077" r:id="rId39"/>
    <p:sldId id="1078" r:id="rId40"/>
    <p:sldId id="1079" r:id="rId41"/>
    <p:sldId id="1080" r:id="rId42"/>
    <p:sldId id="1081" r:id="rId43"/>
    <p:sldId id="1082" r:id="rId44"/>
    <p:sldId id="1083" r:id="rId45"/>
    <p:sldId id="1084" r:id="rId46"/>
    <p:sldId id="1085" r:id="rId47"/>
    <p:sldId id="1086" r:id="rId48"/>
    <p:sldId id="1087" r:id="rId49"/>
    <p:sldId id="1088" r:id="rId50"/>
    <p:sldId id="1121" r:id="rId51"/>
    <p:sldId id="1089" r:id="rId52"/>
    <p:sldId id="1090" r:id="rId53"/>
    <p:sldId id="1091" r:id="rId54"/>
    <p:sldId id="1092" r:id="rId55"/>
    <p:sldId id="1093" r:id="rId56"/>
    <p:sldId id="1094" r:id="rId57"/>
    <p:sldId id="1095" r:id="rId58"/>
    <p:sldId id="1096" r:id="rId59"/>
    <p:sldId id="1097" r:id="rId60"/>
    <p:sldId id="1098" r:id="rId61"/>
    <p:sldId id="1099" r:id="rId62"/>
    <p:sldId id="1100" r:id="rId63"/>
    <p:sldId id="1101" r:id="rId64"/>
    <p:sldId id="1102" r:id="rId65"/>
    <p:sldId id="1103" r:id="rId66"/>
    <p:sldId id="1104" r:id="rId67"/>
    <p:sldId id="1105" r:id="rId68"/>
    <p:sldId id="1106" r:id="rId69"/>
    <p:sldId id="1108" r:id="rId70"/>
    <p:sldId id="1109" r:id="rId71"/>
    <p:sldId id="1110" r:id="rId72"/>
    <p:sldId id="1111" r:id="rId73"/>
    <p:sldId id="1112" r:id="rId74"/>
    <p:sldId id="1113" r:id="rId75"/>
    <p:sldId id="1122" r:id="rId76"/>
    <p:sldId id="1114" r:id="rId77"/>
    <p:sldId id="1115" r:id="rId78"/>
    <p:sldId id="1116" r:id="rId79"/>
    <p:sldId id="1005" r:id="rId80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CFF"/>
    <a:srgbClr val="000000"/>
    <a:srgbClr val="FF9966"/>
    <a:srgbClr val="FFCC66"/>
    <a:srgbClr val="CC3300"/>
    <a:srgbClr val="9E228F"/>
    <a:srgbClr val="FFFF00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246" autoAdjust="0"/>
  </p:normalViewPr>
  <p:slideViewPr>
    <p:cSldViewPr>
      <p:cViewPr varScale="1">
        <p:scale>
          <a:sx n="95" d="100"/>
          <a:sy n="95" d="100"/>
        </p:scale>
        <p:origin x="664" y="48"/>
      </p:cViewPr>
      <p:guideLst>
        <p:guide orient="horz" pos="2160"/>
        <p:guide pos="3848"/>
      </p:guideLst>
    </p:cSldViewPr>
  </p:slideViewPr>
  <p:outlineViewPr>
    <p:cViewPr>
      <p:scale>
        <a:sx n="33" d="100"/>
        <a:sy n="33" d="100"/>
      </p:scale>
      <p:origin x="0" y="-1356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30"/>
    </p:cViewPr>
  </p:sorterViewPr>
  <p:notesViewPr>
    <p:cSldViewPr>
      <p:cViewPr varScale="1">
        <p:scale>
          <a:sx n="58" d="100"/>
          <a:sy n="58" d="100"/>
        </p:scale>
        <p:origin x="-2520" y="-78"/>
      </p:cViewPr>
      <p:guideLst>
        <p:guide orient="horz" pos="2880"/>
        <p:guide pos="216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4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4" Type="http://schemas.openxmlformats.org/officeDocument/2006/relationships/image" Target="../media/image49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4" Type="http://schemas.openxmlformats.org/officeDocument/2006/relationships/image" Target="../media/image5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image" Target="../media/image7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9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9.wmf"/><Relationship Id="rId1" Type="http://schemas.openxmlformats.org/officeDocument/2006/relationships/image" Target="../media/image88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2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wmf"/><Relationship Id="rId1" Type="http://schemas.openxmlformats.org/officeDocument/2006/relationships/image" Target="../media/image93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wmf"/><Relationship Id="rId1" Type="http://schemas.openxmlformats.org/officeDocument/2006/relationships/image" Target="../media/image95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4" Type="http://schemas.openxmlformats.org/officeDocument/2006/relationships/image" Target="../media/image102.w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3.w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333F4567-50A4-4DD5-90C6-DD4A189C0410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36686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7D4E7B70-9D48-45D4-815F-908860892EDA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0787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24578" name="备注占位符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mtClean="0">
              <a:latin typeface="Arial" pitchFamily="34" charset="0"/>
            </a:endParaRPr>
          </a:p>
        </p:txBody>
      </p:sp>
      <p:sp>
        <p:nvSpPr>
          <p:cNvPr id="24579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fld id="{72F62753-FD50-4C66-BB63-4E4B180AFBE7}" type="slidenum">
              <a:rPr lang="en-US" altLang="zh-CN">
                <a:solidFill>
                  <a:schemeClr val="tx1"/>
                </a:solidFill>
              </a:rPr>
              <a:t>79</a:t>
            </a:fld>
            <a:endParaRPr lang="en-US" altLang="zh-C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2848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5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1628800"/>
            <a:ext cx="8690405" cy="468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reeform 94"/>
          <p:cNvSpPr/>
          <p:nvPr userDrawn="1"/>
        </p:nvSpPr>
        <p:spPr bwMode="gray">
          <a:xfrm>
            <a:off x="0" y="0"/>
            <a:ext cx="3962400" cy="5257800"/>
          </a:xfrm>
          <a:custGeom>
            <a:avLst/>
            <a:gdLst/>
            <a:ahLst/>
            <a:cxnLst>
              <a:cxn ang="0">
                <a:pos x="118" y="0"/>
              </a:cxn>
              <a:cxn ang="0">
                <a:pos x="0" y="118"/>
              </a:cxn>
              <a:cxn ang="0">
                <a:pos x="0" y="589"/>
              </a:cxn>
              <a:cxn ang="0">
                <a:pos x="161" y="174"/>
              </a:cxn>
              <a:cxn ang="0">
                <a:pos x="589" y="0"/>
              </a:cxn>
              <a:cxn ang="0">
                <a:pos x="118" y="0"/>
              </a:cxn>
            </a:cxnLst>
            <a:rect l="0" t="0" r="r" b="b"/>
            <a:pathLst>
              <a:path w="596" h="598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lnTo>
                  <a:pt x="0" y="589"/>
                </a:lnTo>
                <a:cubicBezTo>
                  <a:pt x="27" y="598"/>
                  <a:pt x="12" y="309"/>
                  <a:pt x="161" y="174"/>
                </a:cubicBezTo>
                <a:cubicBezTo>
                  <a:pt x="310" y="39"/>
                  <a:pt x="596" y="29"/>
                  <a:pt x="589" y="0"/>
                </a:cubicBezTo>
                <a:lnTo>
                  <a:pt x="118" y="0"/>
                </a:lnTo>
                <a:close/>
              </a:path>
            </a:pathLst>
          </a:custGeom>
          <a:gradFill rotWithShape="1">
            <a:gsLst>
              <a:gs pos="0">
                <a:srgbClr val="0066CC">
                  <a:gamma/>
                  <a:tint val="54510"/>
                  <a:invGamma/>
                </a:srgbClr>
              </a:gs>
              <a:gs pos="50000">
                <a:srgbClr val="0066CC">
                  <a:alpha val="0"/>
                </a:srgbClr>
              </a:gs>
              <a:gs pos="100000">
                <a:srgbClr val="0066CC">
                  <a:gamma/>
                  <a:tint val="54510"/>
                  <a:invGamma/>
                </a:srgbClr>
              </a:gs>
            </a:gsLst>
            <a:lin ang="2700000" scaled="1"/>
          </a:gradFill>
          <a:ln w="0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lang="zh-CN" altLang="en-US" b="1">
              <a:latin typeface="Arial" charset="0"/>
            </a:endParaRPr>
          </a:p>
        </p:txBody>
      </p:sp>
      <p:sp>
        <p:nvSpPr>
          <p:cNvPr id="7" name="标题占位符 6"/>
          <p:cNvSpPr/>
          <p:nvPr/>
        </p:nvSpPr>
        <p:spPr bwMode="auto">
          <a:xfrm>
            <a:off x="609600" y="2133600"/>
            <a:ext cx="10972800" cy="25908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0" hangingPunct="0">
              <a:defRPr/>
            </a:pPr>
            <a:endParaRPr lang="zh-CN" altLang="en-US" sz="4000" b="1" dirty="0">
              <a:solidFill>
                <a:srgbClr val="0070C0"/>
              </a:solidFill>
              <a:latin typeface="Arial Black" pitchFamily="34" charset="0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526A0E-0B12-4000-9673-47E912CF9A73}" type="datetimeFigureOut">
              <a:rPr lang="zh-CN" altLang="en-US"/>
              <a:t>2023/5/11</a:t>
            </a:fld>
            <a:endParaRPr lang="en-US" altLang="zh-CN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B68F1-3EF5-4BB8-89A8-286C7B7507AD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8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DE4AD-03E9-4E43-86F7-6CFF785A82BC}" type="datetimeFigureOut">
              <a:rPr lang="zh-CN" altLang="en-US"/>
              <a:t>2023/5/11</a:t>
            </a:fld>
            <a:endParaRPr lang="en-US" altLang="zh-CN"/>
          </a:p>
        </p:txBody>
      </p:sp>
      <p:sp>
        <p:nvSpPr>
          <p:cNvPr id="8" name="Rectangle 1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64A889-DE51-438E-B5F1-E4B20ECF4841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8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0321B-A45D-4DE2-BC49-6F857062B1EF}" type="datetimeFigureOut">
              <a:rPr lang="zh-CN" altLang="en-US"/>
              <a:t>2023/5/11</a:t>
            </a:fld>
            <a:endParaRPr lang="en-US" altLang="zh-CN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012D55-467C-44B8-A559-1CB315651AA8}" type="slidenum">
              <a:rPr lang="zh-CN" altLang="en-US"/>
              <a:t>‹#›</a:t>
            </a:fld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564217" y="6265863"/>
            <a:ext cx="2540000" cy="457200"/>
          </a:xfrm>
        </p:spPr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Arial" charset="0"/>
                <a:ea typeface="宋体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5"/>
            <a:ext cx="51816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0"/>
            <a:ext cx="51816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1564217" y="6265863"/>
            <a:ext cx="2540000" cy="457200"/>
          </a:xfrm>
        </p:spPr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Arial" charset="0"/>
                <a:ea typeface="宋体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564217" y="6265863"/>
            <a:ext cx="2540000" cy="457200"/>
          </a:xfrm>
        </p:spPr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Arial" charset="0"/>
                <a:ea typeface="宋体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825625"/>
            <a:ext cx="51816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5"/>
            <a:ext cx="51816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76700"/>
            <a:ext cx="51816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4076700"/>
            <a:ext cx="51816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1564217" y="6265863"/>
            <a:ext cx="2540000" cy="457200"/>
          </a:xfrm>
        </p:spPr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spcBef>
                <a:spcPct val="50000"/>
              </a:spcBef>
            </a:pPr>
            <a:fld id="{9A0DB2DC-4C9A-4742-B13C-FB6460FD3503}" type="slidenum">
              <a:rPr lang="zh-CN" altLang="en-US" strike="noStrike" noProof="1" dirty="0">
                <a:latin typeface="Arial" charset="0"/>
                <a:ea typeface="宋体" charset="-122"/>
                <a:cs typeface="+mn-ea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oleObject" Target="../embeddings/oleObject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7"/>
          <p:cNvSpPr txBox="1">
            <a:spLocks noChangeArrowheads="1"/>
          </p:cNvSpPr>
          <p:nvPr/>
        </p:nvSpPr>
        <p:spPr bwMode="auto">
          <a:xfrm>
            <a:off x="0" y="6172201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mtClean="0">
              <a:solidFill>
                <a:schemeClr val="tx1"/>
              </a:solidFill>
            </a:endParaRPr>
          </a:p>
        </p:txBody>
      </p:sp>
      <p:sp>
        <p:nvSpPr>
          <p:cNvPr id="2051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 smtClean="0"/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609600" y="6429376"/>
            <a:ext cx="7213600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b="1">
                <a:solidFill>
                  <a:srgbClr val="96969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电子科技大学 宽带通信网络实验室</a:t>
            </a:r>
          </a:p>
        </p:txBody>
      </p:sp>
      <p:sp>
        <p:nvSpPr>
          <p:cNvPr id="1030" name="Line 15"/>
          <p:cNvSpPr>
            <a:spLocks noChangeShapeType="1"/>
          </p:cNvSpPr>
          <p:nvPr/>
        </p:nvSpPr>
        <p:spPr bwMode="auto">
          <a:xfrm>
            <a:off x="101601" y="1066800"/>
            <a:ext cx="9596967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</a:ln>
        </p:spPr>
        <p:txBody>
          <a:bodyPr/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055" name="Text Box 16"/>
          <p:cNvSpPr txBox="1">
            <a:spLocks noChangeArrowheads="1"/>
          </p:cNvSpPr>
          <p:nvPr/>
        </p:nvSpPr>
        <p:spPr bwMode="auto">
          <a:xfrm>
            <a:off x="8229600" y="6415088"/>
            <a:ext cx="3860800" cy="3667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300">
                <a:solidFill>
                  <a:srgbClr val="969696"/>
                </a:solidFill>
                <a:latin typeface="Times New Roman" pitchFamily="18" charset="0"/>
              </a:rPr>
              <a:t>    </a:t>
            </a:r>
            <a:fld id="{8DB8C9FA-8BD9-4F68-AF75-5CA35DCE0429}" type="slidenum">
              <a:rPr lang="en-US" altLang="zh-CN" sz="1300" b="1">
                <a:solidFill>
                  <a:srgbClr val="969696"/>
                </a:solidFill>
                <a:latin typeface="Times New Roman" pitchFamily="18" charset="0"/>
              </a:rPr>
              <a:t>‹#›</a:t>
            </a:fld>
            <a:r>
              <a:rPr lang="en-US" altLang="zh-CN">
                <a:solidFill>
                  <a:srgbClr val="969696"/>
                </a:solidFill>
                <a:latin typeface="Times New Roman" pitchFamily="18" charset="0"/>
              </a:rPr>
              <a:t>                </a:t>
            </a:r>
            <a:fld id="{6E08A286-00C4-468E-AAB3-CAD5A8BEE2AA}" type="datetime1">
              <a:rPr lang="zh-CN" altLang="en-US" b="1">
                <a:solidFill>
                  <a:srgbClr val="969696"/>
                </a:solidFill>
                <a:latin typeface="Times New Roman" pitchFamily="18" charset="0"/>
              </a:rPr>
              <a:t>2023/5/11</a:t>
            </a:fld>
            <a:endParaRPr lang="en-US" altLang="zh-CN" b="1">
              <a:solidFill>
                <a:srgbClr val="969696"/>
              </a:solidFill>
              <a:latin typeface="Times New Roman" pitchFamily="18" charset="0"/>
            </a:endParaRPr>
          </a:p>
        </p:txBody>
      </p:sp>
      <p:graphicFrame>
        <p:nvGraphicFramePr>
          <p:cNvPr id="1059" name="Object 35"/>
          <p:cNvGraphicFramePr>
            <a:graphicFrameLocks noChangeAspect="1"/>
          </p:cNvGraphicFramePr>
          <p:nvPr/>
        </p:nvGraphicFramePr>
        <p:xfrm>
          <a:off x="3289301" y="18288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" name="Image" r:id="rId11" imgW="5664200" imgH="3327400" progId="">
                  <p:embed/>
                </p:oleObj>
              </mc:Choice>
              <mc:Fallback>
                <p:oleObj name="Image" r:id="rId11" imgW="5664200" imgH="3327400" progId="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1" y="1828800"/>
                        <a:ext cx="8879417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7" name="Text Box 7"/>
          <p:cNvSpPr txBox="1">
            <a:spLocks noChangeArrowheads="1"/>
          </p:cNvSpPr>
          <p:nvPr/>
        </p:nvSpPr>
        <p:spPr bwMode="auto">
          <a:xfrm>
            <a:off x="0" y="6172201"/>
            <a:ext cx="4775200" cy="3667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zh-CN" altLang="zh-CN" smtClean="0">
              <a:solidFill>
                <a:schemeClr val="tx1"/>
              </a:solidFill>
            </a:endParaRPr>
          </a:p>
        </p:txBody>
      </p:sp>
      <p:sp>
        <p:nvSpPr>
          <p:cNvPr id="2058" name="Rectangle 11"/>
          <p:cNvSpPr>
            <a:spLocks noChangeArrowheads="1"/>
          </p:cNvSpPr>
          <p:nvPr/>
        </p:nvSpPr>
        <p:spPr bwMode="auto">
          <a:xfrm>
            <a:off x="0" y="6324600"/>
            <a:ext cx="12192000" cy="5334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 smtClean="0"/>
          </a:p>
        </p:txBody>
      </p:sp>
      <p:sp>
        <p:nvSpPr>
          <p:cNvPr id="4" name="Text Box 12"/>
          <p:cNvSpPr txBox="1">
            <a:spLocks noChangeArrowheads="1"/>
          </p:cNvSpPr>
          <p:nvPr/>
        </p:nvSpPr>
        <p:spPr bwMode="auto">
          <a:xfrm>
            <a:off x="609600" y="6429376"/>
            <a:ext cx="7213600" cy="365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b="1" dirty="0">
                <a:solidFill>
                  <a:schemeClr val="bg1"/>
                </a:solidFill>
                <a:effectLst/>
                <a:latin typeface="黑体" charset="0"/>
                <a:ea typeface="黑体" charset="0"/>
              </a:rPr>
              <a:t>电子科技大学 </a:t>
            </a:r>
            <a:r>
              <a:rPr lang="zh-CN" altLang="en-US" b="1" dirty="0" smtClean="0">
                <a:solidFill>
                  <a:schemeClr val="bg1"/>
                </a:solidFill>
                <a:effectLst/>
                <a:latin typeface="黑体" charset="0"/>
                <a:ea typeface="黑体" charset="0"/>
              </a:rPr>
              <a:t>信息与通信工程</a:t>
            </a:r>
            <a:r>
              <a:rPr lang="zh-CN" altLang="en-US" b="1" dirty="0">
                <a:solidFill>
                  <a:schemeClr val="bg1"/>
                </a:solidFill>
                <a:effectLst/>
                <a:latin typeface="黑体" charset="0"/>
                <a:ea typeface="黑体" charset="0"/>
              </a:rPr>
              <a:t>学院</a:t>
            </a:r>
          </a:p>
        </p:txBody>
      </p:sp>
      <p:pic>
        <p:nvPicPr>
          <p:cNvPr id="1071" name="Picture 14" descr="未命名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6200" y="345284"/>
            <a:ext cx="1758752" cy="125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7" name="Line 15"/>
          <p:cNvSpPr>
            <a:spLocks noChangeShapeType="1"/>
          </p:cNvSpPr>
          <p:nvPr/>
        </p:nvSpPr>
        <p:spPr bwMode="auto">
          <a:xfrm>
            <a:off x="407368" y="1066800"/>
            <a:ext cx="9954839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</a:ln>
        </p:spPr>
        <p:txBody>
          <a:bodyPr/>
          <a:lstStyle/>
          <a:p>
            <a:pPr eaLnBrk="0" hangingPunct="0">
              <a:defRPr/>
            </a:pPr>
            <a:endParaRPr lang="zh-CN" altLang="en-US"/>
          </a:p>
        </p:txBody>
      </p:sp>
      <p:sp>
        <p:nvSpPr>
          <p:cNvPr id="2062" name="Text Box 16"/>
          <p:cNvSpPr txBox="1">
            <a:spLocks noChangeArrowheads="1"/>
          </p:cNvSpPr>
          <p:nvPr/>
        </p:nvSpPr>
        <p:spPr bwMode="auto">
          <a:xfrm>
            <a:off x="8229600" y="6415088"/>
            <a:ext cx="3860800" cy="3657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300">
                <a:solidFill>
                  <a:srgbClr val="969696"/>
                </a:solidFill>
                <a:latin typeface="Times New Roman" pitchFamily="18" charset="0"/>
              </a:rPr>
              <a:t>    </a:t>
            </a:r>
            <a:fld id="{DFB3E5B0-26F3-4E0E-B9AC-0B2EFB2A1498}" type="slidenum">
              <a:rPr lang="en-US" altLang="zh-CN" sz="1300" b="1">
                <a:solidFill>
                  <a:srgbClr val="969696"/>
                </a:solidFill>
                <a:latin typeface="Times New Roman" pitchFamily="18" charset="0"/>
              </a:rPr>
              <a:t>‹#›</a:t>
            </a:fld>
            <a:r>
              <a:rPr lang="en-US" altLang="zh-CN">
                <a:solidFill>
                  <a:srgbClr val="969696"/>
                </a:solidFill>
                <a:latin typeface="Times New Roman" pitchFamily="18" charset="0"/>
              </a:rPr>
              <a:t>                </a:t>
            </a:r>
            <a:endParaRPr lang="en-US" altLang="zh-CN" b="1">
              <a:solidFill>
                <a:srgbClr val="969696"/>
              </a:solidFill>
              <a:latin typeface="Times New Roman" pitchFamily="18" charset="0"/>
            </a:endParaRPr>
          </a:p>
        </p:txBody>
      </p:sp>
      <p:graphicFrame>
        <p:nvGraphicFramePr>
          <p:cNvPr id="1060" name="Object 36"/>
          <p:cNvGraphicFramePr>
            <a:graphicFrameLocks noChangeAspect="1"/>
          </p:cNvGraphicFramePr>
          <p:nvPr/>
        </p:nvGraphicFramePr>
        <p:xfrm>
          <a:off x="2946401" y="1752600"/>
          <a:ext cx="8879417" cy="450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6" name="Image" r:id="rId14" imgW="5664200" imgH="3327400" progId="">
                  <p:embed/>
                </p:oleObj>
              </mc:Choice>
              <mc:Fallback>
                <p:oleObj name="Image" r:id="rId14" imgW="5664200" imgH="3327400" progId="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1" y="1752600"/>
                        <a:ext cx="8879417" cy="450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BBE0E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4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0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75" name="Rectangle 17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1"/>
            <a:ext cx="11582400" cy="490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400"/>
            </a:lvl1pPr>
          </a:lstStyle>
          <a:p>
            <a:fld id="{613E7688-DE4D-426D-82C3-DF88435411F8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itchFamily="34" charset="0"/>
          <a:ea typeface="微软雅黑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itchFamily="34" charset="0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itchFamily="34" charset="0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itchFamily="34" charset="0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0070C0"/>
          </a:solidFill>
          <a:latin typeface="Arial Black" pitchFamily="34" charset="0"/>
          <a:ea typeface="微软雅黑" pitchFamily="34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rgbClr val="0070C0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png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0.wmf"/><Relationship Id="rId4" Type="http://schemas.openxmlformats.org/officeDocument/2006/relationships/audio" Target="../media/audio1.wav"/><Relationship Id="rId9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2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2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0.wmf"/><Relationship Id="rId4" Type="http://schemas.openxmlformats.org/officeDocument/2006/relationships/audio" Target="../media/audio2.wav"/><Relationship Id="rId9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6.png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audio" Target="../media/audio1.wav"/><Relationship Id="rId7" Type="http://schemas.openxmlformats.org/officeDocument/2006/relationships/image" Target="../media/image28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9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7" Type="http://schemas.openxmlformats.org/officeDocument/2006/relationships/image" Target="../media/image32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1.wmf"/><Relationship Id="rId4" Type="http://schemas.openxmlformats.org/officeDocument/2006/relationships/oleObject" Target="../embeddings/oleObject23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5.bin"/><Relationship Id="rId4" Type="http://schemas.openxmlformats.org/officeDocument/2006/relationships/audio" Target="../media/audio1.wav"/><Relationship Id="rId9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audio" Target="../media/audio1.wav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8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1.bin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4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45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audio" Target="../media/audio2.wav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49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6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48.wmf"/><Relationship Id="rId4" Type="http://schemas.openxmlformats.org/officeDocument/2006/relationships/audio" Target="../media/audio1.wav"/><Relationship Id="rId9" Type="http://schemas.openxmlformats.org/officeDocument/2006/relationships/oleObject" Target="../embeddings/oleObject37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audio" Target="../media/audio2.wav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52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42.bin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46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59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4" Type="http://schemas.openxmlformats.org/officeDocument/2006/relationships/image" Target="../media/image62.wmf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63.wmf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66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0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69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72.w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75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74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7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79.wmf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71.bin"/><Relationship Id="rId5" Type="http://schemas.openxmlformats.org/officeDocument/2006/relationships/oleObject" Target="../embeddings/oleObject68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0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86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85.wmf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89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88.wmf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5.vml"/><Relationship Id="rId4" Type="http://schemas.openxmlformats.org/officeDocument/2006/relationships/image" Target="../media/image92.wmf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93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95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83.bin"/><Relationship Id="rId4" Type="http://schemas.openxmlformats.org/officeDocument/2006/relationships/image" Target="../media/image97.wmf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87.bin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88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audio" Target="../media/audio3.wav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1.vml"/><Relationship Id="rId5" Type="http://schemas.openxmlformats.org/officeDocument/2006/relationships/image" Target="../media/image104.wmf"/><Relationship Id="rId4" Type="http://schemas.openxmlformats.org/officeDocument/2006/relationships/oleObject" Target="../embeddings/oleObject89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05.wmf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06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93.bin"/><Relationship Id="rId4" Type="http://schemas.openxmlformats.org/officeDocument/2006/relationships/image" Target="../media/image107.wmf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/>
        </p:nvSpPr>
        <p:spPr bwMode="auto">
          <a:xfrm>
            <a:off x="1518285" y="1339850"/>
            <a:ext cx="9067165" cy="21031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CN" sz="4400" b="1" dirty="0">
                <a:solidFill>
                  <a:srgbClr val="0033CC"/>
                </a:solidFill>
                <a:latin typeface="Times New Roman" pitchFamily="18" charset="0"/>
                <a:ea typeface="微软雅黑" charset="0"/>
                <a:sym typeface="+mn-ea"/>
              </a:rPr>
              <a:t>Chapter7 LTI Discrete-Time Systems in the Transform Domain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343953" y="3861544"/>
            <a:ext cx="8664575" cy="1737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defTabSz="914400" fontAlgn="base">
              <a:buNone/>
            </a:pPr>
            <a:r>
              <a:rPr lang="en-US" altLang="zh-CN" sz="3600" b="1">
                <a:solidFill>
                  <a:srgbClr val="0000CC"/>
                </a:solidFill>
                <a:latin typeface="Times New Roman" pitchFamily="18" charset="0"/>
                <a:ea typeface="宋体" charset="-122"/>
                <a:sym typeface="+mn-ea"/>
              </a:rPr>
              <a:t>--Transfer Function Classification</a:t>
            </a:r>
            <a:endParaRPr lang="en-US" altLang="zh-CN" sz="3600" b="1" strike="noStrike" kern="1200" baseline="0" noProof="1">
              <a:solidFill>
                <a:srgbClr val="0000CC"/>
              </a:solidFill>
              <a:latin typeface="Times New Roman" pitchFamily="18" charset="0"/>
              <a:ea typeface="宋体" charset="-122"/>
            </a:endParaRPr>
          </a:p>
          <a:p>
            <a:pPr algn="l" defTabSz="914400" fontAlgn="base">
              <a:buNone/>
            </a:pPr>
            <a:r>
              <a:rPr lang="en-US" altLang="zh-CN" sz="3600" b="1">
                <a:solidFill>
                  <a:srgbClr val="0000CC"/>
                </a:solidFill>
                <a:latin typeface="Times New Roman" pitchFamily="18" charset="0"/>
                <a:ea typeface="宋体" charset="-122"/>
                <a:sym typeface="+mn-ea"/>
              </a:rPr>
              <a:t>--Types of Linear-Phase Transfer Functions</a:t>
            </a:r>
          </a:p>
          <a:p>
            <a:pPr algn="l" defTabSz="914400" fontAlgn="base">
              <a:buNone/>
            </a:pPr>
            <a:r>
              <a:rPr lang="en-US" altLang="zh-CN" sz="3600" b="1">
                <a:solidFill>
                  <a:srgbClr val="0000CC"/>
                </a:solidFill>
                <a:latin typeface="Times New Roman" pitchFamily="18" charset="0"/>
                <a:ea typeface="宋体" charset="-122"/>
                <a:sym typeface="+mn-ea"/>
              </a:rPr>
              <a:t>--Simple Digital Filters </a:t>
            </a:r>
            <a:endParaRPr lang="en-US" altLang="zh-CN" sz="3600" b="1">
              <a:solidFill>
                <a:srgbClr val="0000CC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标题 5121"/>
          <p:cNvSpPr>
            <a:spLocks noGrp="1"/>
          </p:cNvSpPr>
          <p:nvPr>
            <p:ph type="title"/>
          </p:nvPr>
        </p:nvSpPr>
        <p:spPr>
          <a:xfrm>
            <a:off x="69532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solidFill>
                  <a:srgbClr val="0033CC"/>
                </a:solidFill>
                <a:latin typeface="Times New Roman" pitchFamily="18" charset="0"/>
              </a:rPr>
              <a:t>Types of Transfer Functions</a:t>
            </a:r>
          </a:p>
        </p:txBody>
      </p:sp>
      <p:sp>
        <p:nvSpPr>
          <p:cNvPr id="5123" name="内容占位符 5122"/>
          <p:cNvSpPr>
            <a:spLocks noGrp="1"/>
          </p:cNvSpPr>
          <p:nvPr>
            <p:ph idx="1"/>
          </p:nvPr>
        </p:nvSpPr>
        <p:spPr>
          <a:xfrm>
            <a:off x="839470" y="1269365"/>
            <a:ext cx="8371840" cy="43434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time-domain classification of a digital transfer function based on the length of its impulse response sequence: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	- Finite impulse response (FIR) transfer function.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	- Infinite impulse response (IIR) transfer function.</a:t>
            </a:r>
            <a:endParaRPr lang="zh-CN" altLang="en-US" sz="3200" dirty="0">
              <a:latin typeface="Times New Roman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712008" y="5304155"/>
            <a:ext cx="1920875" cy="76200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lstStyle/>
          <a:p>
            <a:pPr algn="ctr" fontAlgn="base"/>
            <a:r>
              <a:rPr lang="en-US" altLang="zh-CN" sz="4400" b="1" strike="noStrike" noProof="1">
                <a:ln w="25400">
                  <a:solidFill>
                    <a:srgbClr val="861E1D">
                      <a:alpha val="94000"/>
                    </a:srgbClr>
                  </a:solidFill>
                  <a:prstDash val="solid"/>
                </a:ln>
                <a:gradFill>
                  <a:gsLst>
                    <a:gs pos="0">
                      <a:srgbClr val="FFF9BB"/>
                    </a:gs>
                    <a:gs pos="64000">
                      <a:srgbClr val="FCE95F"/>
                    </a:gs>
                    <a:gs pos="100000">
                      <a:srgbClr val="F8AD1C"/>
                    </a:gs>
                  </a:gsLst>
                  <a:lin ang="5400000"/>
                </a:gradFill>
                <a:effectLst>
                  <a:outerShdw blurRad="177800" dist="12700" dir="10200000" sx="102000" sy="102000" algn="bl" rotWithShape="0">
                    <a:srgbClr val="480F08"/>
                  </a:outerShdw>
                </a:effectLst>
                <a:latin typeface="Arial" pitchFamily="34" charset="0"/>
                <a:ea typeface="宋体" pitchFamily="2" charset="-122"/>
                <a:cs typeface="+mn-ea"/>
              </a:rPr>
              <a:t>MOOC</a:t>
            </a:r>
            <a:endParaRPr lang="en-US" altLang="zh-CN" sz="4400" b="1" strike="noStrike" noProof="1">
              <a:ln w="25400">
                <a:solidFill>
                  <a:srgbClr val="861E1D">
                    <a:alpha val="94000"/>
                  </a:srgbClr>
                </a:solidFill>
                <a:prstDash val="solid"/>
              </a:ln>
              <a:gradFill>
                <a:gsLst>
                  <a:gs pos="0">
                    <a:srgbClr val="FFF9BB"/>
                  </a:gs>
                  <a:gs pos="64000">
                    <a:srgbClr val="FCE95F"/>
                  </a:gs>
                  <a:gs pos="100000">
                    <a:srgbClr val="F8AD1C"/>
                  </a:gs>
                </a:gsLst>
                <a:lin ang="5400000"/>
              </a:gradFill>
              <a:effectLst>
                <a:outerShdw blurRad="177800" dist="12700" dir="10200000" sx="102000" sy="102000" algn="bl" rotWithShape="0">
                  <a:srgbClr val="480F08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6145"/>
          <p:cNvSpPr>
            <a:spLocks noGrp="1"/>
          </p:cNvSpPr>
          <p:nvPr>
            <p:ph type="title"/>
          </p:nvPr>
        </p:nvSpPr>
        <p:spPr>
          <a:xfrm>
            <a:off x="69532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solidFill>
                  <a:srgbClr val="0033CC"/>
                </a:solidFill>
                <a:latin typeface="Times New Roman" pitchFamily="18" charset="0"/>
              </a:rPr>
              <a:t>Types of Transfer Functions</a:t>
            </a:r>
          </a:p>
        </p:txBody>
      </p:sp>
      <p:sp>
        <p:nvSpPr>
          <p:cNvPr id="6147" name="内容占位符 6146"/>
          <p:cNvSpPr>
            <a:spLocks noGrp="1"/>
          </p:cNvSpPr>
          <p:nvPr>
            <p:ph idx="1"/>
          </p:nvPr>
        </p:nvSpPr>
        <p:spPr>
          <a:xfrm>
            <a:off x="911225" y="1196975"/>
            <a:ext cx="8417560" cy="4495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In the case of digital transfer functions with frequency-selective frequency responses, there are two types of  classifications:</a:t>
            </a:r>
          </a:p>
          <a:p>
            <a:pPr>
              <a:buNone/>
            </a:pP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(1) Classification based on the shape of the magnitude function |H(e</a:t>
            </a:r>
            <a:r>
              <a:rPr lang="en-US" altLang="x-none" sz="3200" b="1" baseline="30000" dirty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x-none" sz="3200" b="1" baseline="30000" dirty="0">
                <a:solidFill>
                  <a:srgbClr val="FF0000"/>
                </a:solidFill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sym typeface="Symbol" pitchFamily="2" charset="2"/>
              </a:rPr>
              <a:t>)|.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(2) Classification based on the form of the phase function 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</a:rPr>
              <a:t>θ</a:t>
            </a:r>
            <a:r>
              <a:rPr lang="en-US" altLang="x-none" sz="3200" b="1" dirty="0">
                <a:latin typeface="Times New Roman" pitchFamily="18" charset="0"/>
              </a:rPr>
              <a:t>(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dirty="0">
                <a:latin typeface="Times New Roman" pitchFamily="18" charset="0"/>
              </a:rPr>
              <a:t>).</a:t>
            </a:r>
            <a:endParaRPr lang="zh-CN" altLang="en-US" sz="32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7169"/>
          <p:cNvSpPr>
            <a:spLocks noGrp="1"/>
          </p:cNvSpPr>
          <p:nvPr>
            <p:ph type="title"/>
          </p:nvPr>
        </p:nvSpPr>
        <p:spPr>
          <a:xfrm>
            <a:off x="766763" y="-317"/>
            <a:ext cx="7940675" cy="1089025"/>
          </a:xfrm>
        </p:spPr>
        <p:txBody>
          <a:bodyPr anchor="ctr"/>
          <a:lstStyle/>
          <a:p>
            <a:r>
              <a:rPr lang="en-US" altLang="x-none" b="1" i="1" dirty="0">
                <a:solidFill>
                  <a:srgbClr val="0033CC"/>
                </a:solidFill>
                <a:latin typeface="Times New Roman" pitchFamily="18" charset="0"/>
              </a:rPr>
              <a:t>7.1 Transfer Function Classification Based on Magnitude Characteristics</a:t>
            </a:r>
          </a:p>
        </p:txBody>
      </p:sp>
      <p:sp>
        <p:nvSpPr>
          <p:cNvPr id="7171" name="内容占位符 7170"/>
          <p:cNvSpPr>
            <a:spLocks noGrp="1"/>
          </p:cNvSpPr>
          <p:nvPr>
            <p:ph idx="1"/>
          </p:nvPr>
        </p:nvSpPr>
        <p:spPr>
          <a:xfrm>
            <a:off x="766763" y="1340485"/>
            <a:ext cx="7772400" cy="4191000"/>
          </a:xfrm>
        </p:spPr>
        <p:txBody>
          <a:bodyPr anchor="t"/>
          <a:lstStyle/>
          <a:p>
            <a:r>
              <a:rPr lang="en-US" altLang="x-none" sz="3200" b="1" dirty="0">
                <a:solidFill>
                  <a:srgbClr val="00B050"/>
                </a:solidFill>
                <a:latin typeface="Times New Roman" pitchFamily="18" charset="0"/>
              </a:rPr>
              <a:t>Digital Filters with Ideal Magnitude Responses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>
                <a:latin typeface="Times New Roman" pitchFamily="18" charset="0"/>
              </a:rPr>
              <a:t>Bounded Real Transfer Function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>
                <a:latin typeface="Times New Roman" pitchFamily="18" charset="0"/>
              </a:rPr>
              <a:t>Allpass Transfer Function</a:t>
            </a:r>
          </a:p>
          <a:p>
            <a:endParaRPr lang="en-US" altLang="x-none" sz="32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8193"/>
          <p:cNvSpPr>
            <a:spLocks noGrp="1"/>
          </p:cNvSpPr>
          <p:nvPr>
            <p:ph type="title"/>
          </p:nvPr>
        </p:nvSpPr>
        <p:spPr>
          <a:xfrm>
            <a:off x="681990" y="0"/>
            <a:ext cx="9526905" cy="1143000"/>
          </a:xfrm>
        </p:spPr>
        <p:txBody>
          <a:bodyPr anchor="ctr"/>
          <a:lstStyle/>
          <a:p>
            <a:r>
              <a:rPr lang="zh-CN" altLang="en-US" b="1" i="1" dirty="0">
                <a:latin typeface="Times New Roman" pitchFamily="18" charset="0"/>
              </a:rPr>
              <a:t>7.1.1 </a:t>
            </a:r>
            <a:r>
              <a:rPr lang="en-US" altLang="x-none" b="1" i="1" dirty="0">
                <a:latin typeface="Times New Roman" pitchFamily="18" charset="0"/>
              </a:rPr>
              <a:t>Digital Filters with Ideal Magnitude Responses</a:t>
            </a:r>
            <a:endParaRPr lang="zh-CN" altLang="en-US" b="1" i="1" dirty="0">
              <a:latin typeface="Times New Roman" pitchFamily="18" charset="0"/>
            </a:endParaRPr>
          </a:p>
        </p:txBody>
      </p:sp>
      <p:sp>
        <p:nvSpPr>
          <p:cNvPr id="8195" name="内容占位符 8194"/>
          <p:cNvSpPr>
            <a:spLocks noGrp="1"/>
          </p:cNvSpPr>
          <p:nvPr>
            <p:ph idx="1"/>
          </p:nvPr>
        </p:nvSpPr>
        <p:spPr>
          <a:xfrm>
            <a:off x="911225" y="1340803"/>
            <a:ext cx="7772400" cy="4114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A digital filter designed to pass signal components of certain frequencies without distortion should have a frequency response equal to 1 at these frequencies, and should have a frequency response equal to 0 at all other frequencies.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 9217"/>
          <p:cNvSpPr>
            <a:spLocks noGrp="1"/>
          </p:cNvSpPr>
          <p:nvPr>
            <p:ph type="title"/>
          </p:nvPr>
        </p:nvSpPr>
        <p:spPr>
          <a:xfrm>
            <a:off x="335280" y="-99060"/>
            <a:ext cx="9838055" cy="1312545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7.1.1 Digital Filters with Ideal Magnitude Responses</a:t>
            </a:r>
          </a:p>
        </p:txBody>
      </p:sp>
      <p:sp>
        <p:nvSpPr>
          <p:cNvPr id="9219" name="内容占位符 9218"/>
          <p:cNvSpPr>
            <a:spLocks noGrp="1"/>
          </p:cNvSpPr>
          <p:nvPr>
            <p:ph idx="1"/>
          </p:nvPr>
        </p:nvSpPr>
        <p:spPr>
          <a:xfrm>
            <a:off x="335280" y="1196975"/>
            <a:ext cx="8475980" cy="490728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range of frequencies where the frequency response takes the value of 1 is called the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passband</a:t>
            </a:r>
            <a:r>
              <a:rPr lang="en-US" altLang="x-none" sz="3200" b="1" dirty="0">
                <a:latin typeface="Times New Roman" pitchFamily="18" charset="0"/>
              </a:rPr>
              <a:t>.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The range of frequencies where the frequency response takes the value of 0 is called the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stopband</a:t>
            </a:r>
            <a:r>
              <a:rPr lang="en-US" altLang="x-none" sz="3200" b="1" dirty="0">
                <a:latin typeface="Times New Roman" pitchFamily="18" charset="0"/>
              </a:rPr>
              <a:t>.</a:t>
            </a:r>
            <a:endParaRPr lang="zh-CN" altLang="en-US" sz="32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内容占位符 10242"/>
          <p:cNvSpPr>
            <a:spLocks noGrp="1"/>
          </p:cNvSpPr>
          <p:nvPr>
            <p:ph idx="1"/>
          </p:nvPr>
        </p:nvSpPr>
        <p:spPr>
          <a:xfrm>
            <a:off x="479425" y="1269365"/>
            <a:ext cx="7772400" cy="4114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Magnitude responses of the four popular types of ideal digital filters with real impulse response coefficients are shown below:</a:t>
            </a:r>
          </a:p>
        </p:txBody>
      </p:sp>
      <p:pic>
        <p:nvPicPr>
          <p:cNvPr id="10244" name="图片 10243"/>
          <p:cNvPicPr>
            <a:picLocks noChangeAspect="1"/>
          </p:cNvPicPr>
          <p:nvPr/>
        </p:nvPicPr>
        <p:blipFill>
          <a:blip r:embed="rId4">
            <a:grayscl/>
            <a:lum bright="-39999" contrast="50000"/>
          </a:blip>
          <a:stretch>
            <a:fillRect/>
          </a:stretch>
        </p:blipFill>
        <p:spPr>
          <a:xfrm>
            <a:off x="2567305" y="2925445"/>
            <a:ext cx="5791200" cy="15827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10245" name="对象 10244"/>
          <p:cNvGraphicFramePr>
            <a:graphicFrameLocks noChangeAspect="1"/>
          </p:cNvGraphicFramePr>
          <p:nvPr/>
        </p:nvGraphicFramePr>
        <p:xfrm>
          <a:off x="2639695" y="4653280"/>
          <a:ext cx="5830888" cy="158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0" r:id="rId5" imgW="6210300" imgH="1714500" progId="">
                  <p:embed/>
                </p:oleObj>
              </mc:Choice>
              <mc:Fallback>
                <p:oleObj r:id="rId5" imgW="6210300" imgH="1714500" progId="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6">
                        <a:grayscl/>
                        <a:lum bright="-39999" contrast="50000"/>
                      </a:blip>
                      <a:stretch>
                        <a:fillRect/>
                      </a:stretch>
                    </p:blipFill>
                    <p:spPr>
                      <a:xfrm>
                        <a:off x="2639695" y="4653280"/>
                        <a:ext cx="5830888" cy="1589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7" name="标题 9217"/>
          <p:cNvSpPr>
            <a:spLocks noGrp="1"/>
          </p:cNvSpPr>
          <p:nvPr>
            <p:ph type="title"/>
          </p:nvPr>
        </p:nvSpPr>
        <p:spPr>
          <a:xfrm>
            <a:off x="335280" y="-99060"/>
            <a:ext cx="9838055" cy="1312545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7.1.1 Digital Filters with Ideal Magnitude Responses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11266"/>
          <p:cNvSpPr>
            <a:spLocks noGrp="1"/>
          </p:cNvSpPr>
          <p:nvPr>
            <p:ph idx="1"/>
          </p:nvPr>
        </p:nvSpPr>
        <p:spPr>
          <a:xfrm>
            <a:off x="1055053" y="1269365"/>
            <a:ext cx="9145403" cy="4114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frequencies 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baseline="-25000" dirty="0">
                <a:latin typeface="Times New Roman" pitchFamily="18" charset="0"/>
                <a:sym typeface="Symbol" pitchFamily="2" charset="2"/>
              </a:rPr>
              <a:t>c</a:t>
            </a:r>
            <a:r>
              <a:rPr lang="en-US" altLang="x-none" sz="3200" b="1" dirty="0">
                <a:latin typeface="Times New Roman" pitchFamily="18" charset="0"/>
              </a:rPr>
              <a:t>, 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baseline="-25000" dirty="0">
                <a:latin typeface="Times New Roman" pitchFamily="18" charset="0"/>
                <a:sym typeface="Symbol" pitchFamily="2" charset="2"/>
              </a:rPr>
              <a:t>c1</a:t>
            </a:r>
            <a:r>
              <a:rPr lang="en-US" altLang="x-none" sz="3200" b="1" dirty="0">
                <a:latin typeface="Times New Roman" pitchFamily="18" charset="0"/>
              </a:rPr>
              <a:t>, and 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baseline="-25000" dirty="0">
                <a:latin typeface="Times New Roman" pitchFamily="18" charset="0"/>
                <a:sym typeface="Symbol" pitchFamily="2" charset="2"/>
              </a:rPr>
              <a:t>c2</a:t>
            </a:r>
            <a:r>
              <a:rPr lang="en-US" altLang="x-none" sz="3200" b="1" dirty="0">
                <a:latin typeface="Times New Roman" pitchFamily="18" charset="0"/>
              </a:rPr>
              <a:t> are called the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cutoff frequencies</a:t>
            </a:r>
            <a:r>
              <a:rPr lang="en-US" altLang="x-none" sz="3200" b="1" dirty="0">
                <a:latin typeface="Times New Roman" pitchFamily="18" charset="0"/>
              </a:rPr>
              <a:t>.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An </a:t>
            </a:r>
            <a:r>
              <a:rPr lang="en-US" altLang="x-none" sz="3200" b="1" dirty="0">
                <a:latin typeface="Times New Roman" pitchFamily="18" charset="0"/>
              </a:rPr>
              <a:t>ideal filter has a magnitude response equal to 1 in the passband and 0 in the stopband, and has a 0 phase everywhere.</a:t>
            </a:r>
            <a:endParaRPr lang="zh-CN" altLang="en-US" sz="3200" b="1" dirty="0">
              <a:latin typeface="Times New Roman" pitchFamily="18" charset="0"/>
            </a:endParaRPr>
          </a:p>
        </p:txBody>
      </p:sp>
      <p:sp>
        <p:nvSpPr>
          <p:cNvPr id="9217" name="标题 9217"/>
          <p:cNvSpPr>
            <a:spLocks noGrp="1"/>
          </p:cNvSpPr>
          <p:nvPr>
            <p:ph type="title"/>
          </p:nvPr>
        </p:nvSpPr>
        <p:spPr>
          <a:xfrm>
            <a:off x="335280" y="-99060"/>
            <a:ext cx="9838055" cy="1312545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7.1.1 Digital Filters with Ideal Magnitude Responses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12290"/>
          <p:cNvSpPr>
            <a:spLocks noGrp="1"/>
          </p:cNvSpPr>
          <p:nvPr>
            <p:ph idx="1"/>
          </p:nvPr>
        </p:nvSpPr>
        <p:spPr>
          <a:xfrm>
            <a:off x="304800" y="1219200"/>
            <a:ext cx="10399712" cy="490728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Earlier in the course we derived the inverse DTFT of the frequency response  H</a:t>
            </a:r>
            <a:r>
              <a:rPr lang="en-US" altLang="x-none" sz="3200" b="1" baseline="-25000" dirty="0">
                <a:latin typeface="Times New Roman" pitchFamily="18" charset="0"/>
              </a:rPr>
              <a:t>LP</a:t>
            </a:r>
            <a:r>
              <a:rPr lang="en-US" altLang="x-none" sz="3200" b="1" dirty="0">
                <a:latin typeface="Times New Roman" pitchFamily="18" charset="0"/>
              </a:rPr>
              <a:t>(e</a:t>
            </a:r>
            <a:r>
              <a:rPr lang="en-US" altLang="x-none" sz="3200" b="1" baseline="30000" dirty="0">
                <a:latin typeface="Times New Roman" pitchFamily="18" charset="0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)</a:t>
            </a:r>
            <a:r>
              <a:rPr lang="en-US" altLang="x-none" sz="3200" b="1" dirty="0">
                <a:latin typeface="Times New Roman" pitchFamily="18" charset="0"/>
              </a:rPr>
              <a:t>of the ideal lowpass filter:</a:t>
            </a:r>
          </a:p>
          <a:p>
            <a:pPr algn="ctr">
              <a:lnSpc>
                <a:spcPct val="90000"/>
              </a:lnSpc>
              <a:buNone/>
            </a:pPr>
            <a:r>
              <a:rPr lang="en-US" altLang="x-none" sz="3200" b="1" dirty="0">
                <a:latin typeface="Times New Roman" pitchFamily="18" charset="0"/>
              </a:rPr>
              <a:t>        h</a:t>
            </a:r>
            <a:r>
              <a:rPr lang="en-US" altLang="x-none" sz="3200" b="1" baseline="-25000" dirty="0">
                <a:latin typeface="Times New Roman" pitchFamily="18" charset="0"/>
              </a:rPr>
              <a:t>LP</a:t>
            </a:r>
            <a:r>
              <a:rPr lang="en-US" altLang="x-none" sz="3200" b="1" dirty="0">
                <a:latin typeface="Times New Roman" pitchFamily="18" charset="0"/>
              </a:rPr>
              <a:t>[n]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=sin(</a:t>
            </a:r>
            <a:r>
              <a:rPr lang="en-US" altLang="x-none" sz="3200" b="1" baseline="-25000" dirty="0">
                <a:latin typeface="Times New Roman" pitchFamily="18" charset="0"/>
                <a:sym typeface="Symbol" pitchFamily="2" charset="2"/>
              </a:rPr>
              <a:t>c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n)/</a:t>
            </a:r>
            <a:r>
              <a:rPr lang="en-US" altLang="zh-CN" sz="3200" b="1" dirty="0">
                <a:latin typeface="Times New Roman" pitchFamily="18" charset="0"/>
                <a:sym typeface="Symbol" pitchFamily="2" charset="2"/>
              </a:rPr>
              <a:t>(</a:t>
            </a:r>
            <a:r>
              <a:rPr lang="en-US" altLang="x-none" sz="3200" dirty="0">
                <a:latin typeface="Times New Roman" pitchFamily="18" charset="0"/>
                <a:sym typeface="Symbol" pitchFamily="2" charset="2"/>
              </a:rPr>
              <a:t>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n),   -  &lt;n&lt; </a:t>
            </a:r>
            <a:r>
              <a:rPr lang="en-US" altLang="x-none" sz="3200" b="1" dirty="0" smtClean="0">
                <a:latin typeface="Times New Roman" pitchFamily="18" charset="0"/>
                <a:sym typeface="Symbol" pitchFamily="2" charset="2"/>
              </a:rPr>
              <a:t></a:t>
            </a:r>
            <a:endParaRPr lang="en-US" altLang="x-none" sz="3200" b="1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x-none" sz="3200" b="1" dirty="0" smtClean="0">
                <a:latin typeface="Times New Roman" pitchFamily="18" charset="0"/>
              </a:rPr>
              <a:t>We </a:t>
            </a:r>
            <a:r>
              <a:rPr lang="en-US" altLang="x-none" sz="3200" b="1" dirty="0">
                <a:latin typeface="Times New Roman" pitchFamily="18" charset="0"/>
              </a:rPr>
              <a:t>have also shown that the above impulse response is not absolutely summable, and hence, the corresponding transfer function is not BIBO </a:t>
            </a:r>
            <a:r>
              <a:rPr lang="en-US" altLang="x-none" sz="3200" b="1" dirty="0" smtClean="0">
                <a:latin typeface="Times New Roman" pitchFamily="18" charset="0"/>
              </a:rPr>
              <a:t>stable.</a:t>
            </a:r>
          </a:p>
          <a:p>
            <a:pPr>
              <a:lnSpc>
                <a:spcPct val="90000"/>
              </a:lnSpc>
            </a:pPr>
            <a:r>
              <a:rPr lang="en-US" altLang="x-none" sz="3200" dirty="0" smtClean="0">
                <a:latin typeface="Times New Roman" pitchFamily="18" charset="0"/>
              </a:rPr>
              <a:t>Also</a:t>
            </a:r>
            <a:r>
              <a:rPr lang="en-US" altLang="x-none" sz="3200" dirty="0">
                <a:latin typeface="Times New Roman" pitchFamily="18" charset="0"/>
              </a:rPr>
              <a:t>,  </a:t>
            </a:r>
            <a:r>
              <a:rPr lang="en-US" altLang="x-none" sz="3200" dirty="0" err="1">
                <a:latin typeface="Times New Roman" pitchFamily="18" charset="0"/>
              </a:rPr>
              <a:t>h</a:t>
            </a:r>
            <a:r>
              <a:rPr lang="en-US" altLang="x-none" sz="3200" baseline="-25000" dirty="0" err="1">
                <a:latin typeface="Times New Roman" pitchFamily="18" charset="0"/>
              </a:rPr>
              <a:t>LP</a:t>
            </a:r>
            <a:r>
              <a:rPr lang="en-US" altLang="x-none" sz="3200" dirty="0">
                <a:latin typeface="Times New Roman" pitchFamily="18" charset="0"/>
              </a:rPr>
              <a:t>[n] is not causal and is of doubly infinite length.</a:t>
            </a:r>
          </a:p>
          <a:p>
            <a:pPr>
              <a:lnSpc>
                <a:spcPct val="90000"/>
              </a:lnSpc>
            </a:pPr>
            <a:endParaRPr lang="zh-CN" altLang="en-US" sz="3200" dirty="0">
              <a:latin typeface="Times New Roman" pitchFamily="18" charset="0"/>
            </a:endParaRPr>
          </a:p>
        </p:txBody>
      </p:sp>
      <p:sp>
        <p:nvSpPr>
          <p:cNvPr id="9217" name="标题 9217"/>
          <p:cNvSpPr>
            <a:spLocks noGrp="1"/>
          </p:cNvSpPr>
          <p:nvPr>
            <p:ph type="title"/>
          </p:nvPr>
        </p:nvSpPr>
        <p:spPr>
          <a:xfrm>
            <a:off x="335280" y="-99060"/>
            <a:ext cx="9838055" cy="1312545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7.1.1 Digital Filters with Ideal Magnitude Responses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65373" y="5066020"/>
            <a:ext cx="66960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smtClean="0">
                <a:solidFill>
                  <a:srgbClr val="FF0000"/>
                </a:solidFill>
              </a:rPr>
              <a:t>Ideal LPF is not stable and realizable!!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内容占位符 13314"/>
          <p:cNvSpPr>
            <a:spLocks noGrp="1"/>
          </p:cNvSpPr>
          <p:nvPr>
            <p:ph idx="1"/>
          </p:nvPr>
        </p:nvSpPr>
        <p:spPr>
          <a:xfrm>
            <a:off x="695324" y="1269365"/>
            <a:ext cx="9577139" cy="4495800"/>
          </a:xfrm>
        </p:spPr>
        <p:txBody>
          <a:bodyPr anchor="t"/>
          <a:lstStyle/>
          <a:p>
            <a:r>
              <a:rPr lang="en-US" altLang="x-none" sz="3200" b="1" dirty="0" smtClean="0">
                <a:latin typeface="Times New Roman" pitchFamily="18" charset="0"/>
              </a:rPr>
              <a:t>The </a:t>
            </a:r>
            <a:r>
              <a:rPr lang="en-US" altLang="x-none" sz="3200" b="1" dirty="0">
                <a:latin typeface="Times New Roman" pitchFamily="18" charset="0"/>
              </a:rPr>
              <a:t>remaining three ideal filters are also characterized by doubly infinite, noncausal impulse responses and are not absolutely summable.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Thus</a:t>
            </a:r>
            <a:r>
              <a:rPr lang="en-US" altLang="x-none" sz="3200" b="1" dirty="0">
                <a:latin typeface="Times New Roman" pitchFamily="18" charset="0"/>
              </a:rPr>
              <a:t>, the ideal filters with the ideal “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brick wall”</a:t>
            </a:r>
            <a:r>
              <a:rPr lang="en-US" altLang="x-none" sz="3200" b="1" dirty="0">
                <a:latin typeface="Times New Roman" pitchFamily="18" charset="0"/>
              </a:rPr>
              <a:t> frequency responses cannot be realized with finite dimensional LTI filter.</a:t>
            </a:r>
            <a:endParaRPr lang="zh-CN" altLang="en-US" sz="3200" b="1" dirty="0">
              <a:latin typeface="Times New Roman" pitchFamily="18" charset="0"/>
            </a:endParaRPr>
          </a:p>
        </p:txBody>
      </p:sp>
      <p:sp>
        <p:nvSpPr>
          <p:cNvPr id="9217" name="标题 9217"/>
          <p:cNvSpPr>
            <a:spLocks noGrp="1"/>
          </p:cNvSpPr>
          <p:nvPr>
            <p:ph type="title"/>
          </p:nvPr>
        </p:nvSpPr>
        <p:spPr>
          <a:xfrm>
            <a:off x="335280" y="-99060"/>
            <a:ext cx="9838055" cy="1312545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7.1.1 Digital Filters with Ideal Magnitude Responses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内容占位符 14338"/>
          <p:cNvSpPr>
            <a:spLocks noGrp="1"/>
          </p:cNvSpPr>
          <p:nvPr>
            <p:ph idx="1"/>
          </p:nvPr>
        </p:nvSpPr>
        <p:spPr>
          <a:xfrm>
            <a:off x="508000" y="1622038"/>
            <a:ext cx="10340528" cy="3967202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To </a:t>
            </a:r>
            <a:r>
              <a:rPr lang="en-US" altLang="x-none" sz="3200" dirty="0">
                <a:latin typeface="Times New Roman" pitchFamily="18" charset="0"/>
              </a:rPr>
              <a:t>develop stable and realizable transfer </a:t>
            </a:r>
            <a:r>
              <a:rPr lang="en-US" altLang="x-none" sz="3200" b="1" dirty="0">
                <a:latin typeface="Times New Roman" pitchFamily="18" charset="0"/>
              </a:rPr>
              <a:t>functions, the ideal frequency response specifications are relaxed by including a </a:t>
            </a:r>
            <a:r>
              <a:rPr lang="en-US" altLang="x-none" sz="3200" b="1" i="1" dirty="0">
                <a:solidFill>
                  <a:srgbClr val="FF3300"/>
                </a:solidFill>
                <a:latin typeface="Times New Roman" pitchFamily="18" charset="0"/>
              </a:rPr>
              <a:t>transition band</a:t>
            </a:r>
            <a:r>
              <a:rPr lang="en-US" altLang="x-none" sz="3200" b="1" dirty="0">
                <a:latin typeface="Times New Roman" pitchFamily="18" charset="0"/>
              </a:rPr>
              <a:t> between the passband and the stopband.</a:t>
            </a:r>
          </a:p>
          <a:p>
            <a:pPr>
              <a:lnSpc>
                <a:spcPct val="90000"/>
              </a:lnSpc>
            </a:pPr>
            <a:endParaRPr lang="en-US" altLang="x-none" sz="3200" b="1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x-none" sz="3200" b="1" dirty="0" smtClean="0">
                <a:latin typeface="Times New Roman" pitchFamily="18" charset="0"/>
              </a:rPr>
              <a:t>This </a:t>
            </a:r>
            <a:r>
              <a:rPr lang="en-US" altLang="x-none" sz="3200" b="1" dirty="0">
                <a:latin typeface="Times New Roman" pitchFamily="18" charset="0"/>
              </a:rPr>
              <a:t>permits the magnitude response to decay slowly from its maximum value in the passband to the 0  value in the stopband.</a:t>
            </a:r>
            <a:endParaRPr lang="zh-CN" altLang="en-US" sz="3200" b="1" dirty="0">
              <a:latin typeface="Times New Roman" pitchFamily="18" charset="0"/>
            </a:endParaRPr>
          </a:p>
        </p:txBody>
      </p:sp>
      <p:sp>
        <p:nvSpPr>
          <p:cNvPr id="9217" name="标题 9217"/>
          <p:cNvSpPr>
            <a:spLocks noGrp="1"/>
          </p:cNvSpPr>
          <p:nvPr>
            <p:ph type="title"/>
          </p:nvPr>
        </p:nvSpPr>
        <p:spPr>
          <a:xfrm>
            <a:off x="335280" y="-99060"/>
            <a:ext cx="9838055" cy="1312545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7.1.1 Digital Filters with Ideal Magnitude Responses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内容占位符 15362"/>
          <p:cNvSpPr>
            <a:spLocks noGrp="1"/>
          </p:cNvSpPr>
          <p:nvPr>
            <p:ph idx="1"/>
          </p:nvPr>
        </p:nvSpPr>
        <p:spPr>
          <a:xfrm>
            <a:off x="766763" y="1196975"/>
            <a:ext cx="7772400" cy="43434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Moreover, the magnitude response is allowed to vary by a small amount both in the passband and the stopband.</a:t>
            </a:r>
          </a:p>
        </p:txBody>
      </p:sp>
      <p:pic>
        <p:nvPicPr>
          <p:cNvPr id="15364" name="图片 15363" descr="Fig7_1"/>
          <p:cNvPicPr>
            <a:picLocks noChangeAspect="1"/>
          </p:cNvPicPr>
          <p:nvPr/>
        </p:nvPicPr>
        <p:blipFill>
          <a:blip r:embed="rId3">
            <a:lum bright="-39999" contrast="50000"/>
          </a:blip>
          <a:stretch>
            <a:fillRect/>
          </a:stretch>
        </p:blipFill>
        <p:spPr>
          <a:xfrm>
            <a:off x="5231765" y="2781300"/>
            <a:ext cx="4383405" cy="3381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5" name="文本框 15364"/>
          <p:cNvSpPr txBox="1"/>
          <p:nvPr/>
        </p:nvSpPr>
        <p:spPr>
          <a:xfrm>
            <a:off x="695400" y="3573016"/>
            <a:ext cx="4305478" cy="16189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90000"/>
              </a:lnSpc>
              <a:spcBef>
                <a:spcPct val="20000"/>
              </a:spcBef>
            </a:pP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Typical magnitude </a:t>
            </a:r>
          </a:p>
          <a:p>
            <a:pPr lvl="0">
              <a:lnSpc>
                <a:spcPct val="90000"/>
              </a:lnSpc>
              <a:spcBef>
                <a:spcPct val="20000"/>
              </a:spcBef>
            </a:pP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response specifications </a:t>
            </a:r>
          </a:p>
          <a:p>
            <a:pPr lvl="0">
              <a:lnSpc>
                <a:spcPct val="90000"/>
              </a:lnSpc>
              <a:spcBef>
                <a:spcPct val="20000"/>
              </a:spcBef>
            </a:pP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of a </a:t>
            </a:r>
            <a:r>
              <a:rPr lang="en-US" altLang="x-none" sz="3200" b="1" dirty="0" err="1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lowpass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filter:</a:t>
            </a:r>
            <a:endParaRPr lang="en-US" altLang="x-none" sz="3200" b="1" dirty="0">
              <a:solidFill>
                <a:srgbClr val="FF000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9217" name="标题 9217"/>
          <p:cNvSpPr>
            <a:spLocks noGrp="1"/>
          </p:cNvSpPr>
          <p:nvPr>
            <p:ph type="title"/>
          </p:nvPr>
        </p:nvSpPr>
        <p:spPr>
          <a:xfrm>
            <a:off x="335280" y="-99060"/>
            <a:ext cx="9838055" cy="1312545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7.1.1 Digital Filters with Ideal Magnitude Responses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  <p:bldP spid="153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7169"/>
          <p:cNvSpPr>
            <a:spLocks noGrp="1"/>
          </p:cNvSpPr>
          <p:nvPr>
            <p:ph type="title"/>
          </p:nvPr>
        </p:nvSpPr>
        <p:spPr>
          <a:xfrm>
            <a:off x="766763" y="-317"/>
            <a:ext cx="7940675" cy="1089025"/>
          </a:xfrm>
        </p:spPr>
        <p:txBody>
          <a:bodyPr anchor="ctr"/>
          <a:lstStyle/>
          <a:p>
            <a:r>
              <a:rPr lang="en-US" altLang="x-none" b="1" i="1" dirty="0">
                <a:solidFill>
                  <a:srgbClr val="0033CC"/>
                </a:solidFill>
                <a:latin typeface="Times New Roman" pitchFamily="18" charset="0"/>
              </a:rPr>
              <a:t>7.1 Transfer Function Classification Based on Magnitude Characteristics</a:t>
            </a:r>
          </a:p>
        </p:txBody>
      </p:sp>
      <p:sp>
        <p:nvSpPr>
          <p:cNvPr id="7171" name="内容占位符 7170"/>
          <p:cNvSpPr>
            <a:spLocks noGrp="1"/>
          </p:cNvSpPr>
          <p:nvPr>
            <p:ph idx="1"/>
          </p:nvPr>
        </p:nvSpPr>
        <p:spPr>
          <a:xfrm>
            <a:off x="766763" y="1340485"/>
            <a:ext cx="7772400" cy="4191000"/>
          </a:xfrm>
        </p:spPr>
        <p:txBody>
          <a:bodyPr anchor="t"/>
          <a:lstStyle/>
          <a:p>
            <a:r>
              <a:rPr lang="en-US" altLang="x-none" sz="3200" dirty="0">
                <a:latin typeface="Times New Roman" pitchFamily="18" charset="0"/>
              </a:rPr>
              <a:t>Digital Filters with Ideal Magnitude Responses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>
                <a:solidFill>
                  <a:srgbClr val="00B050"/>
                </a:solidFill>
                <a:latin typeface="Times New Roman" pitchFamily="18" charset="0"/>
              </a:rPr>
              <a:t>Bounded Real Transfer Function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>
                <a:latin typeface="Times New Roman" pitchFamily="18" charset="0"/>
              </a:rPr>
              <a:t>Allpass Transfer Function</a:t>
            </a:r>
          </a:p>
          <a:p>
            <a:endParaRPr lang="en-US" altLang="x-none" sz="32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47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77062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  <p:sp>
        <p:nvSpPr>
          <p:cNvPr id="16387" name="内容占位符 16386"/>
          <p:cNvSpPr>
            <a:spLocks noGrp="1"/>
          </p:cNvSpPr>
          <p:nvPr>
            <p:ph idx="1"/>
          </p:nvPr>
        </p:nvSpPr>
        <p:spPr>
          <a:xfrm>
            <a:off x="623253" y="1269365"/>
            <a:ext cx="7772400" cy="16764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A </a:t>
            </a:r>
            <a:r>
              <a:rPr lang="en-US" altLang="x-none" sz="3200" b="1" u="sng" dirty="0">
                <a:solidFill>
                  <a:srgbClr val="00B050"/>
                </a:solidFill>
                <a:latin typeface="Times New Roman" pitchFamily="18" charset="0"/>
              </a:rPr>
              <a:t>causal stable real-coefficient </a:t>
            </a:r>
            <a:r>
              <a:rPr lang="en-US" altLang="x-none" sz="3200" b="1" dirty="0">
                <a:latin typeface="Times New Roman" pitchFamily="18" charset="0"/>
              </a:rPr>
              <a:t>transfer function </a:t>
            </a:r>
            <a:r>
              <a:rPr lang="en-US" altLang="x-none" sz="3200" b="1" i="1" dirty="0">
                <a:latin typeface="Times New Roman" pitchFamily="18" charset="0"/>
              </a:rPr>
              <a:t>H</a:t>
            </a:r>
            <a:r>
              <a:rPr lang="en-US" altLang="x-none" sz="3200" b="1" dirty="0">
                <a:latin typeface="Times New Roman" pitchFamily="18" charset="0"/>
              </a:rPr>
              <a:t>(</a:t>
            </a:r>
            <a:r>
              <a:rPr lang="en-US" altLang="x-none" sz="3200" b="1" i="1" dirty="0">
                <a:latin typeface="Times New Roman" pitchFamily="18" charset="0"/>
              </a:rPr>
              <a:t>z</a:t>
            </a:r>
            <a:r>
              <a:rPr lang="en-US" altLang="x-none" sz="3200" b="1" dirty="0">
                <a:latin typeface="Times New Roman" pitchFamily="18" charset="0"/>
              </a:rPr>
              <a:t>) is defined as a </a:t>
            </a:r>
            <a:r>
              <a:rPr lang="en-US" altLang="x-none" sz="3200" b="1" dirty="0">
                <a:solidFill>
                  <a:srgbClr val="FF3300"/>
                </a:solidFill>
                <a:latin typeface="Times New Roman" pitchFamily="18" charset="0"/>
              </a:rPr>
              <a:t>bounded real (BR) transfer function</a:t>
            </a:r>
            <a:r>
              <a:rPr lang="en-US" altLang="x-none" sz="3200" b="1" dirty="0">
                <a:latin typeface="Times New Roman" pitchFamily="18" charset="0"/>
              </a:rPr>
              <a:t> if:</a:t>
            </a:r>
            <a:endParaRPr lang="zh-CN" altLang="en-US" sz="3200" b="1" dirty="0">
              <a:latin typeface="Times New Roman" pitchFamily="18" charset="0"/>
            </a:endParaRPr>
          </a:p>
        </p:txBody>
      </p:sp>
      <p:grpSp>
        <p:nvGrpSpPr>
          <p:cNvPr id="16388" name="组合 16387"/>
          <p:cNvGrpSpPr/>
          <p:nvPr/>
        </p:nvGrpSpPr>
        <p:grpSpPr>
          <a:xfrm>
            <a:off x="2927648" y="2988821"/>
            <a:ext cx="5416550" cy="584201"/>
            <a:chOff x="0" y="0"/>
            <a:chExt cx="3412" cy="368"/>
          </a:xfrm>
        </p:grpSpPr>
        <p:graphicFrame>
          <p:nvGraphicFramePr>
            <p:cNvPr id="2" name="对象 16388"/>
            <p:cNvGraphicFramePr>
              <a:graphicFrameLocks noChangeAspect="1"/>
            </p:cNvGraphicFramePr>
            <p:nvPr/>
          </p:nvGraphicFramePr>
          <p:xfrm>
            <a:off x="0" y="4"/>
            <a:ext cx="119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9" r:id="rId4" imgW="1892300" imgH="558800" progId="Equation.3">
                    <p:embed/>
                  </p:oleObj>
                </mc:Choice>
                <mc:Fallback>
                  <p:oleObj r:id="rId4" imgW="1892300" imgH="5588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0" y="4"/>
                          <a:ext cx="119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89" name="文本框 16389"/>
            <p:cNvSpPr txBox="1"/>
            <p:nvPr/>
          </p:nvSpPr>
          <p:spPr>
            <a:xfrm>
              <a:off x="1376" y="0"/>
              <a:ext cx="203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algn="ctr" eaLnBrk="0" hangingPunct="0"/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for all values of </a:t>
              </a:r>
              <a:r>
                <a:rPr lang="en-US" altLang="x-none" sz="3200" b="1" dirty="0">
                  <a:solidFill>
                    <a:srgbClr val="3366CC"/>
                  </a:solidFill>
                  <a:latin typeface="Symbol" pitchFamily="2" charset="2"/>
                  <a:ea typeface="宋体" charset="-122"/>
                </a:rPr>
                <a:t>w</a:t>
              </a:r>
            </a:p>
          </p:txBody>
        </p:sp>
      </p:grpSp>
      <p:sp>
        <p:nvSpPr>
          <p:cNvPr id="16391" name="矩形 16390"/>
          <p:cNvSpPr/>
          <p:nvPr/>
        </p:nvSpPr>
        <p:spPr>
          <a:xfrm>
            <a:off x="623392" y="3717289"/>
            <a:ext cx="9577263" cy="25193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Let 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x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[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] and 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y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[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n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] denote, respectively, the input 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and output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of a digital filter characterized by a BR transfer function 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H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(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z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) with  X(e</a:t>
            </a:r>
            <a:r>
              <a:rPr lang="en-US" altLang="x-none" sz="3200" b="1" baseline="30000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j</a:t>
            </a:r>
            <a:r>
              <a:rPr lang="el-GR" altLang="en-US" sz="3200" b="1" baseline="30000" dirty="0">
                <a:solidFill>
                  <a:srgbClr val="3366CC"/>
                </a:solidFill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Gungsuh" pitchFamily="2" charset="-127"/>
              </a:rPr>
              <a:t>)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and Y(e</a:t>
            </a:r>
            <a:r>
              <a:rPr lang="en-US" altLang="x-none" sz="3200" b="1" baseline="30000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j</a:t>
            </a:r>
            <a:r>
              <a:rPr lang="el-GR" altLang="en-US" sz="3200" b="1" baseline="30000" dirty="0">
                <a:solidFill>
                  <a:srgbClr val="3366CC"/>
                </a:solidFill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Gungsuh" pitchFamily="2" charset="-127"/>
              </a:rPr>
              <a:t>)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denoting their DTFTs.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6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  <p:bldP spid="1639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内容占位符 17410"/>
          <p:cNvSpPr>
            <a:spLocks noGrp="1"/>
          </p:cNvSpPr>
          <p:nvPr>
            <p:ph idx="1"/>
          </p:nvPr>
        </p:nvSpPr>
        <p:spPr>
          <a:xfrm>
            <a:off x="1055370" y="3357245"/>
            <a:ext cx="9865166" cy="1143000"/>
          </a:xfrm>
        </p:spPr>
        <p:txBody>
          <a:bodyPr anchor="t"/>
          <a:lstStyle/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Integrating the above from-</a:t>
            </a:r>
            <a:r>
              <a:rPr lang="el-GR" altLang="en-US" sz="3200" b="1" dirty="0">
                <a:latin typeface="Times New Roman" pitchFamily="18" charset="0"/>
                <a:ea typeface="Gungsuh" pitchFamily="2" charset="-127"/>
              </a:rPr>
              <a:t>π</a:t>
            </a:r>
            <a:r>
              <a:rPr lang="en-US" altLang="x-none" sz="3200" b="1" dirty="0">
                <a:latin typeface="Times New Roman" pitchFamily="18" charset="0"/>
              </a:rPr>
              <a:t> to </a:t>
            </a:r>
            <a:r>
              <a:rPr lang="el-GR" altLang="en-US" sz="3200" b="1" dirty="0">
                <a:latin typeface="Times New Roman" pitchFamily="18" charset="0"/>
                <a:ea typeface="Gungsuh" pitchFamily="2" charset="-127"/>
              </a:rPr>
              <a:t>π</a:t>
            </a:r>
            <a:r>
              <a:rPr lang="en-US" altLang="x-none" sz="3200" b="1" dirty="0">
                <a:latin typeface="Times New Roman" pitchFamily="18" charset="0"/>
              </a:rPr>
              <a:t>, and </a:t>
            </a:r>
            <a:r>
              <a:rPr lang="en-US" altLang="x-none" sz="3200" b="1" dirty="0" smtClean="0">
                <a:latin typeface="Times New Roman" pitchFamily="18" charset="0"/>
              </a:rPr>
              <a:t>applying </a:t>
            </a:r>
            <a:r>
              <a:rPr lang="en-US" altLang="x-none" sz="3200" b="1" dirty="0" err="1" smtClean="0">
                <a:latin typeface="Times New Roman" pitchFamily="18" charset="0"/>
              </a:rPr>
              <a:t>Parseval’s</a:t>
            </a:r>
            <a:r>
              <a:rPr lang="en-US" altLang="x-none" sz="3200" b="1" dirty="0" smtClean="0">
                <a:latin typeface="Times New Roman" pitchFamily="18" charset="0"/>
              </a:rPr>
              <a:t> </a:t>
            </a:r>
            <a:r>
              <a:rPr lang="en-US" altLang="x-none" sz="3200" b="1" dirty="0">
                <a:latin typeface="Times New Roman" pitchFamily="18" charset="0"/>
              </a:rPr>
              <a:t>relation we get:</a:t>
            </a:r>
            <a:endParaRPr lang="zh-CN" altLang="en-US" sz="3200" dirty="0"/>
          </a:p>
        </p:txBody>
      </p:sp>
      <p:grpSp>
        <p:nvGrpSpPr>
          <p:cNvPr id="17412" name="组合 17411"/>
          <p:cNvGrpSpPr/>
          <p:nvPr/>
        </p:nvGrpSpPr>
        <p:grpSpPr>
          <a:xfrm>
            <a:off x="910908" y="1341120"/>
            <a:ext cx="8641413" cy="595313"/>
            <a:chOff x="-15" y="46"/>
            <a:chExt cx="5061" cy="375"/>
          </a:xfrm>
        </p:grpSpPr>
        <p:graphicFrame>
          <p:nvGraphicFramePr>
            <p:cNvPr id="2" name="对象 17412"/>
            <p:cNvGraphicFramePr>
              <a:graphicFrameLocks noChangeAspect="1"/>
            </p:cNvGraphicFramePr>
            <p:nvPr/>
          </p:nvGraphicFramePr>
          <p:xfrm>
            <a:off x="2268" y="46"/>
            <a:ext cx="119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47" r:id="rId5" imgW="1892300" imgH="558800" progId="Equation.3">
                    <p:embed/>
                  </p:oleObj>
                </mc:Choice>
                <mc:Fallback>
                  <p:oleObj r:id="rId5" imgW="1892300" imgH="558800" progId="Equation.3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68" y="46"/>
                          <a:ext cx="119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3" name="文本框 17413"/>
            <p:cNvSpPr txBox="1"/>
            <p:nvPr/>
          </p:nvSpPr>
          <p:spPr>
            <a:xfrm>
              <a:off x="-15" y="53"/>
              <a:ext cx="5061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20000"/>
                </a:spcBef>
                <a:buChar char="•"/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Then the condition </a:t>
              </a: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                       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implies that:</a:t>
              </a:r>
            </a:p>
          </p:txBody>
        </p:sp>
      </p:grpSp>
      <p:graphicFrame>
        <p:nvGraphicFramePr>
          <p:cNvPr id="17415" name="对象 17414"/>
          <p:cNvGraphicFramePr>
            <a:graphicFrameLocks noChangeAspect="1"/>
          </p:cNvGraphicFramePr>
          <p:nvPr/>
        </p:nvGraphicFramePr>
        <p:xfrm>
          <a:off x="2711450" y="2421255"/>
          <a:ext cx="2819400" cy="71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8" r:id="rId7" imgW="3263900" imgH="825500" progId="Equation.3">
                  <p:embed/>
                </p:oleObj>
              </mc:Choice>
              <mc:Fallback>
                <p:oleObj r:id="rId7" imgW="3263900" imgH="8255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1450" y="2421255"/>
                        <a:ext cx="2819400" cy="712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6" name="对象 17415"/>
          <p:cNvGraphicFramePr>
            <a:graphicFrameLocks noChangeAspect="1"/>
          </p:cNvGraphicFramePr>
          <p:nvPr/>
        </p:nvGraphicFramePr>
        <p:xfrm>
          <a:off x="2279650" y="4653280"/>
          <a:ext cx="3581400" cy="113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9" r:id="rId9" imgW="3554730" imgH="1129665" progId="Equation.3">
                  <p:embed/>
                </p:oleObj>
              </mc:Choice>
              <mc:Fallback>
                <p:oleObj r:id="rId9" imgW="3554730" imgH="1129665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79650" y="4653280"/>
                        <a:ext cx="3581400" cy="1138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975725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内容占位符 18434"/>
          <p:cNvSpPr>
            <a:spLocks noGrp="1"/>
          </p:cNvSpPr>
          <p:nvPr>
            <p:ph idx="1"/>
          </p:nvPr>
        </p:nvSpPr>
        <p:spPr>
          <a:xfrm>
            <a:off x="839152" y="1125220"/>
            <a:ext cx="9217287" cy="45720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Thus, for all finite-energy inputs, the output energy is less than or equal to the input energy.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It </a:t>
            </a:r>
            <a:r>
              <a:rPr lang="en-US" altLang="x-none" sz="3200" b="1" dirty="0">
                <a:latin typeface="Times New Roman" pitchFamily="18" charset="0"/>
              </a:rPr>
              <a:t>implies that a digital filter characterized by a BR transfer function can be viewed as a passive structure.</a:t>
            </a:r>
            <a:endParaRPr lang="zh-CN" altLang="en-US" sz="3200" b="1" dirty="0">
              <a:latin typeface="Times New Roman" pitchFamily="18" charset="0"/>
            </a:endParaRPr>
          </a:p>
        </p:txBody>
      </p:sp>
      <p:grpSp>
        <p:nvGrpSpPr>
          <p:cNvPr id="18436" name="组合 18435"/>
          <p:cNvGrpSpPr/>
          <p:nvPr/>
        </p:nvGrpSpPr>
        <p:grpSpPr>
          <a:xfrm>
            <a:off x="1271270" y="4581128"/>
            <a:ext cx="8785170" cy="1570038"/>
            <a:chOff x="0" y="0"/>
            <a:chExt cx="4808" cy="989"/>
          </a:xfrm>
        </p:grpSpPr>
        <p:graphicFrame>
          <p:nvGraphicFramePr>
            <p:cNvPr id="2" name="对象 18436"/>
            <p:cNvGraphicFramePr>
              <a:graphicFrameLocks noChangeAspect="1"/>
            </p:cNvGraphicFramePr>
            <p:nvPr/>
          </p:nvGraphicFramePr>
          <p:xfrm>
            <a:off x="272" y="0"/>
            <a:ext cx="119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87" r:id="rId3" imgW="1892300" imgH="558800" progId="Equation.3">
                    <p:embed/>
                  </p:oleObj>
                </mc:Choice>
                <mc:Fallback>
                  <p:oleObj r:id="rId3" imgW="1892300" imgH="558800" progId="Equation.3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2" y="0"/>
                          <a:ext cx="119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37" name="文本框 18437"/>
            <p:cNvSpPr txBox="1"/>
            <p:nvPr/>
          </p:nvSpPr>
          <p:spPr>
            <a:xfrm>
              <a:off x="0" y="0"/>
              <a:ext cx="4808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3200" b="1" dirty="0" smtClean="0">
                  <a:latin typeface="Times New Roman" pitchFamily="18" charset="0"/>
                  <a:ea typeface="宋体" charset="-122"/>
                </a:rPr>
                <a:t>If                       </a:t>
              </a: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,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then the output energy is equal to the input energy, and such a digital filter is therefore a </a:t>
              </a:r>
              <a:r>
                <a:rPr lang="en-US" altLang="x-none" sz="3200" b="1" dirty="0">
                  <a:solidFill>
                    <a:srgbClr val="FF3300"/>
                  </a:solidFill>
                  <a:latin typeface="Times New Roman" pitchFamily="18" charset="0"/>
                  <a:ea typeface="宋体" charset="-122"/>
                </a:rPr>
                <a:t>lossless system</a:t>
              </a:r>
              <a:r>
                <a:rPr lang="en-US" altLang="x-none" sz="3200" b="1" dirty="0">
                  <a:latin typeface="Times New Roman" pitchFamily="18" charset="0"/>
                  <a:ea typeface="宋体" charset="-122"/>
                </a:rPr>
                <a:t>.</a:t>
              </a:r>
              <a:endParaRPr lang="zh-CN" altLang="en-US" sz="3200" b="1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855075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内容占位符 19458"/>
          <p:cNvSpPr>
            <a:spLocks noGrp="1"/>
          </p:cNvSpPr>
          <p:nvPr>
            <p:ph idx="1"/>
          </p:nvPr>
        </p:nvSpPr>
        <p:spPr>
          <a:xfrm>
            <a:off x="910908" y="3573145"/>
            <a:ext cx="7772400" cy="19812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BR and LBR transfer functions are the keys to the realization of digital filters with low coefficient sensitivity.</a:t>
            </a:r>
          </a:p>
        </p:txBody>
      </p:sp>
      <p:grpSp>
        <p:nvGrpSpPr>
          <p:cNvPr id="19460" name="组合 19459"/>
          <p:cNvGrpSpPr/>
          <p:nvPr/>
        </p:nvGrpSpPr>
        <p:grpSpPr>
          <a:xfrm>
            <a:off x="911225" y="1269365"/>
            <a:ext cx="7488238" cy="2041525"/>
            <a:chOff x="0" y="0"/>
            <a:chExt cx="4717" cy="1286"/>
          </a:xfrm>
        </p:grpSpPr>
        <p:graphicFrame>
          <p:nvGraphicFramePr>
            <p:cNvPr id="2" name="对象 19460"/>
            <p:cNvGraphicFramePr>
              <a:graphicFrameLocks noChangeAspect="1"/>
            </p:cNvGraphicFramePr>
            <p:nvPr/>
          </p:nvGraphicFramePr>
          <p:xfrm>
            <a:off x="2087" y="318"/>
            <a:ext cx="1192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311" r:id="rId3" imgW="1892300" imgH="558800" progId="Equation.3">
                    <p:embed/>
                  </p:oleObj>
                </mc:Choice>
                <mc:Fallback>
                  <p:oleObj r:id="rId3" imgW="1892300" imgH="558800" progId="Equation.3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087" y="318"/>
                          <a:ext cx="1192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1" name="文本框 19461"/>
            <p:cNvSpPr txBox="1"/>
            <p:nvPr/>
          </p:nvSpPr>
          <p:spPr>
            <a:xfrm>
              <a:off x="0" y="0"/>
              <a:ext cx="4717" cy="128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20000"/>
                </a:spcBef>
                <a:buChar char="•"/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A causal stable real-coefficient transfer function </a:t>
              </a:r>
              <a:r>
                <a:rPr lang="en-US" altLang="x-none" sz="3200" b="1" i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H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(</a:t>
              </a:r>
              <a:r>
                <a:rPr lang="en-US" altLang="x-none" sz="3200" b="1" i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z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) with                     is thus called a</a:t>
              </a:r>
              <a:r>
                <a:rPr lang="en-US" altLang="x-none" sz="3200" b="1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x-none" sz="3200" b="1" dirty="0">
                  <a:solidFill>
                    <a:srgbClr val="FF3300"/>
                  </a:solidFill>
                  <a:latin typeface="Times New Roman" pitchFamily="18" charset="0"/>
                  <a:ea typeface="宋体" charset="-122"/>
                </a:rPr>
                <a:t>lossless bounded real (LBR) transfer function</a:t>
              </a:r>
              <a:r>
                <a:rPr lang="en-US" altLang="x-none" sz="3200" b="1" dirty="0">
                  <a:latin typeface="Times New Roman" pitchFamily="18" charset="0"/>
                  <a:ea typeface="宋体" charset="-122"/>
                </a:rPr>
                <a:t>.</a:t>
              </a:r>
              <a:endParaRPr lang="zh-CN" altLang="en-US" sz="3200" b="1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855075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内容占位符 20482"/>
          <p:cNvSpPr>
            <a:spLocks noGrp="1"/>
          </p:cNvSpPr>
          <p:nvPr>
            <p:ph idx="1"/>
          </p:nvPr>
        </p:nvSpPr>
        <p:spPr>
          <a:xfrm>
            <a:off x="910908" y="1268730"/>
            <a:ext cx="7772400" cy="1143000"/>
          </a:xfrm>
        </p:spPr>
        <p:txBody>
          <a:bodyPr anchor="t"/>
          <a:lstStyle/>
          <a:p>
            <a:r>
              <a:rPr lang="en-US" altLang="x-none" sz="3200" b="1" u="sng" dirty="0">
                <a:latin typeface="Times New Roman" pitchFamily="18" charset="0"/>
              </a:rPr>
              <a:t>Example:</a:t>
            </a:r>
            <a:r>
              <a:rPr lang="en-US" altLang="x-none" sz="3200" b="1" dirty="0">
                <a:latin typeface="Times New Roman" pitchFamily="18" charset="0"/>
              </a:rPr>
              <a:t> Consider the causal stable IIR transfer function:</a:t>
            </a:r>
            <a:endParaRPr lang="zh-CN" altLang="en-US" sz="3200" b="1" dirty="0">
              <a:latin typeface="Times New Roman" pitchFamily="18" charset="0"/>
            </a:endParaRPr>
          </a:p>
        </p:txBody>
      </p:sp>
      <p:sp>
        <p:nvSpPr>
          <p:cNvPr id="20485" name="文本框 20484"/>
          <p:cNvSpPr txBox="1"/>
          <p:nvPr/>
        </p:nvSpPr>
        <p:spPr>
          <a:xfrm>
            <a:off x="983432" y="3573145"/>
            <a:ext cx="8078470" cy="131064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    where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K is a real constant.</a:t>
            </a:r>
          </a:p>
          <a:p>
            <a:pPr marL="457200" lvl="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Its square-magnitude function is given by:</a:t>
            </a:r>
          </a:p>
        </p:txBody>
      </p:sp>
      <p:graphicFrame>
        <p:nvGraphicFramePr>
          <p:cNvPr id="20486" name="对象 20485"/>
          <p:cNvGraphicFramePr>
            <a:graphicFrameLocks noChangeAspect="1"/>
          </p:cNvGraphicFramePr>
          <p:nvPr/>
        </p:nvGraphicFramePr>
        <p:xfrm>
          <a:off x="1631315" y="5013325"/>
          <a:ext cx="756126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7" r:id="rId4" imgW="2894330" imgH="444500" progId="Equation.DSMT4">
                  <p:embed/>
                </p:oleObj>
              </mc:Choice>
              <mc:Fallback>
                <p:oleObj r:id="rId4" imgW="2894330" imgH="4445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31315" y="5013325"/>
                        <a:ext cx="7561263" cy="1162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855075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0458764"/>
              </p:ext>
            </p:extLst>
          </p:nvPr>
        </p:nvGraphicFramePr>
        <p:xfrm>
          <a:off x="3533775" y="2565400"/>
          <a:ext cx="40417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78" name="Equation" r:id="rId6" imgW="1841400" imgH="393480" progId="Equation.DSMT4">
                  <p:embed/>
                </p:oleObj>
              </mc:Choice>
              <mc:Fallback>
                <p:oleObj name="Equation" r:id="rId6" imgW="18414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533775" y="2565400"/>
                        <a:ext cx="4041775" cy="86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/>
      <p:bldP spid="2048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内容占位符 21506"/>
          <p:cNvSpPr>
            <a:spLocks noGrp="1"/>
          </p:cNvSpPr>
          <p:nvPr>
            <p:ph idx="1"/>
          </p:nvPr>
        </p:nvSpPr>
        <p:spPr>
          <a:xfrm>
            <a:off x="1055370" y="1268730"/>
            <a:ext cx="7467600" cy="4392518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Thus, for </a:t>
            </a:r>
            <a:r>
              <a:rPr lang="el-GR" altLang="en-US" sz="3200" b="1" dirty="0"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&gt;0, </a:t>
            </a:r>
          </a:p>
          <a:p>
            <a:pPr algn="ctr">
              <a:buNone/>
            </a:pP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( |H(e</a:t>
            </a:r>
            <a:r>
              <a:rPr lang="en-US" altLang="x-none" sz="3200" b="1" baseline="30000" dirty="0">
                <a:latin typeface="Times New Roman" pitchFamily="18" charset="0"/>
                <a:ea typeface="Gulim" pitchFamily="2" charset="-127"/>
              </a:rPr>
              <a:t>j</a:t>
            </a:r>
            <a:r>
              <a:rPr lang="el-GR" altLang="en-US" sz="3200" b="1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)|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 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max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= K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/(1- </a:t>
            </a:r>
            <a:r>
              <a:rPr lang="el-GR" altLang="en-US" sz="3200" b="1" dirty="0"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)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| </a:t>
            </a:r>
            <a:r>
              <a:rPr lang="el-GR" altLang="en-US" sz="3200" b="1" baseline="-25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=0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</a:t>
            </a:r>
          </a:p>
          <a:p>
            <a:pPr algn="ctr">
              <a:buNone/>
            </a:pP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( |H(e</a:t>
            </a:r>
            <a:r>
              <a:rPr lang="en-US" altLang="x-none" sz="3200" b="1" baseline="30000" dirty="0">
                <a:latin typeface="Times New Roman" pitchFamily="18" charset="0"/>
                <a:ea typeface="Gulim" pitchFamily="2" charset="-127"/>
              </a:rPr>
              <a:t>j</a:t>
            </a:r>
            <a:r>
              <a:rPr lang="el-GR" altLang="en-US" sz="3200" b="1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)|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 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 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min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= K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/(1+ </a:t>
            </a:r>
            <a:r>
              <a:rPr lang="el-GR" altLang="en-US" sz="3200" b="1" dirty="0"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)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| </a:t>
            </a:r>
            <a:r>
              <a:rPr lang="el-GR" altLang="en-US" sz="3200" b="1" baseline="-25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=</a:t>
            </a:r>
            <a:r>
              <a:rPr lang="el-GR" altLang="en-US" sz="3200" b="1" baseline="-25000" dirty="0">
                <a:latin typeface="Times New Roman" pitchFamily="18" charset="0"/>
                <a:ea typeface="Gungsuh" pitchFamily="2" charset="-127"/>
              </a:rPr>
              <a:t>π</a:t>
            </a:r>
            <a:endParaRPr lang="en-US" altLang="x-none" sz="3200" b="1" dirty="0">
              <a:latin typeface="Times New Roman" pitchFamily="18" charset="0"/>
              <a:ea typeface="Gungsuh" pitchFamily="2" charset="-127"/>
            </a:endParaRPr>
          </a:p>
          <a:p>
            <a:endParaRPr lang="en-US" altLang="x-none" sz="3200" b="1" dirty="0" smtClean="0">
              <a:latin typeface="Times New Roman" pitchFamily="18" charset="0"/>
              <a:ea typeface="Gungsuh" pitchFamily="2" charset="-127"/>
            </a:endParaRPr>
          </a:p>
          <a:p>
            <a:r>
              <a:rPr lang="en-US" altLang="x-none" sz="3200" b="1" dirty="0" smtClean="0">
                <a:latin typeface="Times New Roman" pitchFamily="18" charset="0"/>
                <a:ea typeface="Gungsuh" pitchFamily="2" charset="-127"/>
              </a:rPr>
              <a:t>On 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the other hand, for </a:t>
            </a:r>
            <a:r>
              <a:rPr lang="el-GR" altLang="en-US" sz="3200" b="1" dirty="0"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&lt;0, </a:t>
            </a:r>
          </a:p>
          <a:p>
            <a:pPr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 		 </a:t>
            </a:r>
            <a:r>
              <a:rPr lang="en-US" altLang="x-none" sz="3200" b="1" dirty="0" smtClean="0">
                <a:latin typeface="Times New Roman" pitchFamily="18" charset="0"/>
                <a:ea typeface="Gulim" pitchFamily="2" charset="-127"/>
              </a:rPr>
              <a:t>( </a:t>
            </a: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|H(e</a:t>
            </a:r>
            <a:r>
              <a:rPr lang="en-US" altLang="x-none" sz="3200" b="1" baseline="30000" dirty="0">
                <a:latin typeface="Times New Roman" pitchFamily="18" charset="0"/>
                <a:ea typeface="Gulim" pitchFamily="2" charset="-127"/>
              </a:rPr>
              <a:t>j</a:t>
            </a:r>
            <a:r>
              <a:rPr lang="el-GR" altLang="en-US" sz="3200" b="1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)|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 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max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= K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/(1+ </a:t>
            </a:r>
            <a:r>
              <a:rPr lang="el-GR" altLang="en-US" sz="3200" b="1" dirty="0"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)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| </a:t>
            </a:r>
            <a:r>
              <a:rPr lang="el-GR" altLang="en-US" sz="3200" b="1" baseline="-25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= </a:t>
            </a:r>
            <a:r>
              <a:rPr lang="el-GR" altLang="en-US" sz="3200" b="1" baseline="-25000" dirty="0">
                <a:latin typeface="Times New Roman" pitchFamily="18" charset="0"/>
                <a:ea typeface="Gungsuh" pitchFamily="2" charset="-127"/>
              </a:rPr>
              <a:t>π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          ( |H(e</a:t>
            </a:r>
            <a:r>
              <a:rPr lang="en-US" altLang="x-none" sz="3200" b="1" baseline="30000" dirty="0">
                <a:latin typeface="Times New Roman" pitchFamily="18" charset="0"/>
                <a:ea typeface="Gulim" pitchFamily="2" charset="-127"/>
              </a:rPr>
              <a:t>j</a:t>
            </a:r>
            <a:r>
              <a:rPr lang="el-GR" altLang="en-US" sz="3200" b="1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)|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 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min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= K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/(1- </a:t>
            </a:r>
            <a:r>
              <a:rPr lang="el-GR" altLang="en-US" sz="3200" b="1" dirty="0"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latin typeface="Times New Roman" pitchFamily="18" charset="0"/>
                <a:ea typeface="Gulim" pitchFamily="2" charset="-127"/>
              </a:rPr>
              <a:t>)</a:t>
            </a:r>
            <a:r>
              <a:rPr lang="en-US" altLang="x-none" sz="3200" b="1" baseline="30000" dirty="0">
                <a:latin typeface="Times New Roman" pitchFamily="18" charset="0"/>
                <a:ea typeface="Gungsuh" pitchFamily="2" charset="-127"/>
              </a:rPr>
              <a:t>2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 | </a:t>
            </a:r>
            <a:r>
              <a:rPr lang="el-GR" altLang="en-US" sz="3200" b="1" baseline="-25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baseline="-25000" dirty="0">
                <a:latin typeface="Times New Roman" pitchFamily="18" charset="0"/>
                <a:ea typeface="Gungsuh" pitchFamily="2" charset="-127"/>
              </a:rPr>
              <a:t>= 0</a:t>
            </a:r>
            <a:endParaRPr lang="en-US" altLang="x-none" sz="3200" b="1" dirty="0">
              <a:latin typeface="Times New Roman" pitchFamily="18" charset="0"/>
              <a:ea typeface="Gungsuh" pitchFamily="2" charset="-127"/>
            </a:endParaRPr>
          </a:p>
        </p:txBody>
      </p:sp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855075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内容占位符 22530"/>
          <p:cNvSpPr>
            <a:spLocks noGrp="1"/>
          </p:cNvSpPr>
          <p:nvPr>
            <p:ph idx="1"/>
          </p:nvPr>
        </p:nvSpPr>
        <p:spPr>
          <a:xfrm>
            <a:off x="766763" y="1196975"/>
            <a:ext cx="7772400" cy="13716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Hence,</a:t>
            </a:r>
          </a:p>
        </p:txBody>
      </p:sp>
      <p:graphicFrame>
        <p:nvGraphicFramePr>
          <p:cNvPr id="22532" name="对象 22531"/>
          <p:cNvGraphicFramePr>
            <a:graphicFrameLocks noChangeAspect="1"/>
          </p:cNvGraphicFramePr>
          <p:nvPr/>
        </p:nvGraphicFramePr>
        <p:xfrm>
          <a:off x="2639695" y="1628775"/>
          <a:ext cx="38862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59" r:id="rId4" imgW="1586865" imgH="393700" progId="Equation.DSMT4">
                  <p:embed/>
                </p:oleObj>
              </mc:Choice>
              <mc:Fallback>
                <p:oleObj r:id="rId4" imgW="1586865" imgH="3937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39695" y="1628775"/>
                        <a:ext cx="3886200" cy="963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矩形 22532"/>
          <p:cNvSpPr/>
          <p:nvPr/>
        </p:nvSpPr>
        <p:spPr>
          <a:xfrm>
            <a:off x="982980" y="2708910"/>
            <a:ext cx="5632247" cy="5847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is a BR function for 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K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Times New Roman" pitchFamily="18" charset="0"/>
              </a:rPr>
              <a:t>=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±(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1-</a:t>
            </a:r>
            <a:r>
              <a:rPr lang="el-GR" altLang="en-US" sz="3200" b="1" dirty="0">
                <a:solidFill>
                  <a:srgbClr val="3366CC"/>
                </a:solidFill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),</a:t>
            </a:r>
          </a:p>
        </p:txBody>
      </p:sp>
      <p:sp>
        <p:nvSpPr>
          <p:cNvPr id="22534" name="文本框 22533"/>
          <p:cNvSpPr txBox="1"/>
          <p:nvPr/>
        </p:nvSpPr>
        <p:spPr>
          <a:xfrm>
            <a:off x="1055370" y="3501390"/>
            <a:ext cx="8641030" cy="1554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Plots of the magnitude function for </a:t>
            </a:r>
            <a:r>
              <a:rPr lang="el-GR" altLang="en-US" sz="3200" b="1" dirty="0">
                <a:solidFill>
                  <a:srgbClr val="3366CC"/>
                </a:solidFill>
                <a:latin typeface="Times New Roman" pitchFamily="18" charset="0"/>
                <a:ea typeface="Gulim" pitchFamily="2" charset="-127"/>
              </a:rPr>
              <a:t>α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=±0.5 with values of K chosen to make H(z) a BR function are shown on the next page.</a:t>
            </a:r>
          </a:p>
        </p:txBody>
      </p:sp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855075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22533" grpId="0" build="p"/>
      <p:bldP spid="2253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图片 235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197610"/>
            <a:ext cx="4401820" cy="32397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6" name="图片 235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65" y="1196975"/>
            <a:ext cx="4226560" cy="31070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7" name="内容占位符 23556"/>
          <p:cNvSpPr>
            <a:spLocks noGrp="1"/>
          </p:cNvSpPr>
          <p:nvPr>
            <p:ph idx="1"/>
          </p:nvPr>
        </p:nvSpPr>
        <p:spPr>
          <a:xfrm>
            <a:off x="1847215" y="4653280"/>
            <a:ext cx="2941638" cy="685800"/>
          </a:xfrm>
        </p:spPr>
        <p:txBody>
          <a:bodyPr wrap="square" anchor="t"/>
          <a:lstStyle/>
          <a:p>
            <a:pPr>
              <a:spcBef>
                <a:spcPct val="50000"/>
              </a:spcBef>
              <a:buNone/>
            </a:pPr>
            <a:r>
              <a:rPr lang="en-US" altLang="x-none" sz="3200" b="1" dirty="0">
                <a:latin typeface="Times New Roman" pitchFamily="18" charset="0"/>
              </a:rPr>
              <a:t>Lowpass filter</a:t>
            </a:r>
          </a:p>
        </p:txBody>
      </p:sp>
      <p:sp>
        <p:nvSpPr>
          <p:cNvPr id="23558" name="文本框 23557"/>
          <p:cNvSpPr txBox="1"/>
          <p:nvPr/>
        </p:nvSpPr>
        <p:spPr>
          <a:xfrm>
            <a:off x="6527800" y="4725670"/>
            <a:ext cx="2808288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Highpass filter</a:t>
            </a:r>
          </a:p>
        </p:txBody>
      </p:sp>
      <p:sp>
        <p:nvSpPr>
          <p:cNvPr id="16385" name="标题 16385"/>
          <p:cNvSpPr>
            <a:spLocks noGrp="1"/>
          </p:cNvSpPr>
          <p:nvPr>
            <p:ph type="title"/>
          </p:nvPr>
        </p:nvSpPr>
        <p:spPr>
          <a:xfrm>
            <a:off x="695325" y="0"/>
            <a:ext cx="8855075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7.1.2 Bounded Real Transfer Functions</a:t>
            </a:r>
            <a:endParaRPr lang="zh-CN" altLang="en-US" b="1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7169"/>
          <p:cNvSpPr>
            <a:spLocks noGrp="1"/>
          </p:cNvSpPr>
          <p:nvPr>
            <p:ph type="title"/>
          </p:nvPr>
        </p:nvSpPr>
        <p:spPr>
          <a:xfrm>
            <a:off x="766763" y="-317"/>
            <a:ext cx="7940675" cy="1089025"/>
          </a:xfrm>
        </p:spPr>
        <p:txBody>
          <a:bodyPr anchor="ctr"/>
          <a:lstStyle/>
          <a:p>
            <a:r>
              <a:rPr lang="en-US" altLang="x-none" b="1" i="1" dirty="0">
                <a:solidFill>
                  <a:srgbClr val="0033CC"/>
                </a:solidFill>
                <a:latin typeface="Times New Roman" pitchFamily="18" charset="0"/>
              </a:rPr>
              <a:t>7.1 Transfer Function Classification Based on Magnitude Characteristics</a:t>
            </a:r>
          </a:p>
        </p:txBody>
      </p:sp>
      <p:sp>
        <p:nvSpPr>
          <p:cNvPr id="7171" name="内容占位符 7170"/>
          <p:cNvSpPr>
            <a:spLocks noGrp="1"/>
          </p:cNvSpPr>
          <p:nvPr>
            <p:ph idx="1"/>
          </p:nvPr>
        </p:nvSpPr>
        <p:spPr>
          <a:xfrm>
            <a:off x="766763" y="1340485"/>
            <a:ext cx="7772400" cy="4191000"/>
          </a:xfrm>
        </p:spPr>
        <p:txBody>
          <a:bodyPr anchor="t"/>
          <a:lstStyle/>
          <a:p>
            <a:r>
              <a:rPr lang="en-US" altLang="x-none" sz="3200" dirty="0">
                <a:latin typeface="Times New Roman" pitchFamily="18" charset="0"/>
              </a:rPr>
              <a:t>Digital Filters with Ideal Magnitude Responses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dirty="0">
                <a:latin typeface="Times New Roman" pitchFamily="18" charset="0"/>
              </a:rPr>
              <a:t>Bounded Real Transfer Function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>
                <a:solidFill>
                  <a:srgbClr val="00B050"/>
                </a:solidFill>
                <a:latin typeface="Times New Roman" pitchFamily="18" charset="0"/>
              </a:rPr>
              <a:t>Allpass Transfer Function</a:t>
            </a:r>
          </a:p>
          <a:p>
            <a:endParaRPr lang="en-US" altLang="x-none" sz="3200" b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42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Function  </a:t>
            </a:r>
            <a:r>
              <a:rPr lang="en-US" altLang="x-none" b="1" i="1" dirty="0" smtClean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x-none" b="1" dirty="0" smtClean="0">
                <a:solidFill>
                  <a:srgbClr val="FF0000"/>
                </a:solidFill>
                <a:latin typeface="Times New Roman" pitchFamily="18" charset="0"/>
              </a:rPr>
              <a:t>difficulty )</a:t>
            </a:r>
            <a:endParaRPr lang="en-US" altLang="x-none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4579" name="内容占位符 24578"/>
          <p:cNvSpPr>
            <a:spLocks noGrp="1"/>
          </p:cNvSpPr>
          <p:nvPr>
            <p:ph idx="1"/>
          </p:nvPr>
        </p:nvSpPr>
        <p:spPr>
          <a:xfrm>
            <a:off x="839470" y="1268730"/>
            <a:ext cx="9937050" cy="22860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magnitude response of </a:t>
            </a:r>
            <a:r>
              <a:rPr lang="en-US" altLang="x-none" sz="3200" b="1" i="1" dirty="0">
                <a:solidFill>
                  <a:srgbClr val="FF0000"/>
                </a:solidFill>
                <a:latin typeface="Times New Roman" pitchFamily="18" charset="0"/>
              </a:rPr>
              <a:t>allpass system</a:t>
            </a:r>
            <a:r>
              <a:rPr lang="en-US" altLang="x-none" sz="3200" b="1" dirty="0">
                <a:latin typeface="Times New Roman" pitchFamily="18" charset="0"/>
              </a:rPr>
              <a:t> satisfies:  </a:t>
            </a:r>
            <a:endParaRPr lang="en-US" altLang="x-none" sz="3200" b="1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|</a:t>
            </a:r>
            <a:r>
              <a:rPr lang="en-US" altLang="x-none" sz="3200" b="1" dirty="0">
                <a:latin typeface="Times New Roman" pitchFamily="18" charset="0"/>
              </a:rPr>
              <a:t>A(e</a:t>
            </a:r>
            <a:r>
              <a:rPr lang="en-US" altLang="x-none" sz="3200" b="1" baseline="30000" dirty="0">
                <a:latin typeface="Times New Roman" pitchFamily="18" charset="0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</a:rPr>
              <a:t>ω</a:t>
            </a:r>
            <a:r>
              <a:rPr lang="en-US" altLang="x-none" sz="3200" b="1" dirty="0">
                <a:latin typeface="Times New Roman" pitchFamily="18" charset="0"/>
              </a:rPr>
              <a:t>)|</a:t>
            </a:r>
            <a:r>
              <a:rPr lang="en-US" altLang="x-none" sz="3200" b="1" baseline="30000" dirty="0">
                <a:latin typeface="Times New Roman" pitchFamily="18" charset="0"/>
              </a:rPr>
              <a:t>2</a:t>
            </a:r>
            <a:r>
              <a:rPr lang="en-US" altLang="x-none" sz="3200" b="1" dirty="0">
                <a:latin typeface="Times New Roman" pitchFamily="18" charset="0"/>
              </a:rPr>
              <a:t>=1</a:t>
            </a:r>
            <a:r>
              <a:rPr lang="en-US" altLang="x-none" sz="3200" b="1" dirty="0" smtClean="0">
                <a:latin typeface="Times New Roman" pitchFamily="18" charset="0"/>
              </a:rPr>
              <a:t>, for </a:t>
            </a:r>
            <a:r>
              <a:rPr lang="en-US" altLang="x-none" sz="3200" b="1" dirty="0">
                <a:latin typeface="Times New Roman" pitchFamily="18" charset="0"/>
              </a:rPr>
              <a:t>all 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</a:rPr>
              <a:t>ω.</a:t>
            </a:r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Example:</a:t>
            </a:r>
          </a:p>
          <a:p>
            <a:pPr lvl="1"/>
            <a:r>
              <a:rPr lang="en-US" altLang="x-none" sz="3200" b="1" dirty="0" smtClean="0">
                <a:solidFill>
                  <a:srgbClr val="0070C0"/>
                </a:solidFill>
                <a:latin typeface="Times New Roman" pitchFamily="18" charset="0"/>
              </a:rPr>
              <a:t>The A(z</a:t>
            </a:r>
            <a:r>
              <a:rPr lang="en-US" altLang="x-none" sz="3200" b="1" dirty="0">
                <a:solidFill>
                  <a:srgbClr val="0070C0"/>
                </a:solidFill>
                <a:latin typeface="Times New Roman" pitchFamily="18" charset="0"/>
              </a:rPr>
              <a:t>) of a simple </a:t>
            </a:r>
            <a:r>
              <a:rPr lang="en-US" altLang="x-none" sz="3200" b="1" dirty="0" smtClean="0">
                <a:solidFill>
                  <a:srgbClr val="0070C0"/>
                </a:solidFill>
                <a:latin typeface="Times New Roman" pitchFamily="18" charset="0"/>
              </a:rPr>
              <a:t>1st-order </a:t>
            </a:r>
            <a:r>
              <a:rPr lang="en-US" altLang="x-none" sz="3200" b="1" dirty="0">
                <a:solidFill>
                  <a:srgbClr val="0070C0"/>
                </a:solidFill>
                <a:latin typeface="Times New Roman" pitchFamily="18" charset="0"/>
              </a:rPr>
              <a:t>allpass system is:</a:t>
            </a:r>
          </a:p>
          <a:p>
            <a:endParaRPr lang="zh-CN" altLang="en-US" sz="3200" dirty="0"/>
          </a:p>
        </p:txBody>
      </p:sp>
      <p:graphicFrame>
        <p:nvGraphicFramePr>
          <p:cNvPr id="24580" name="对象 245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677556"/>
              </p:ext>
            </p:extLst>
          </p:nvPr>
        </p:nvGraphicFramePr>
        <p:xfrm>
          <a:off x="4223791" y="3415994"/>
          <a:ext cx="3112628" cy="109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7" r:id="rId5" imgW="942975" imgH="420370" progId="Equation.DSMT4">
                  <p:embed/>
                </p:oleObj>
              </mc:Choice>
              <mc:Fallback>
                <p:oleObj r:id="rId5" imgW="942975" imgH="42037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3791" y="3415994"/>
                        <a:ext cx="3112628" cy="10931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581" name="组合 24580"/>
          <p:cNvGrpSpPr/>
          <p:nvPr/>
        </p:nvGrpSpPr>
        <p:grpSpPr>
          <a:xfrm>
            <a:off x="1127125" y="4439319"/>
            <a:ext cx="9793411" cy="1077913"/>
            <a:chOff x="0" y="0"/>
            <a:chExt cx="4656" cy="679"/>
          </a:xfrm>
        </p:grpSpPr>
        <p:sp>
          <p:nvSpPr>
            <p:cNvPr id="2" name="文本框 24581"/>
            <p:cNvSpPr txBox="1"/>
            <p:nvPr/>
          </p:nvSpPr>
          <p:spPr>
            <a:xfrm>
              <a:off x="0" y="0"/>
              <a:ext cx="4656" cy="67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charset="2"/>
                <a:buNone/>
              </a:pP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where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a is real, </a:t>
              </a: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and                . When a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is </a:t>
              </a: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complex, the A(z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) should be:</a:t>
              </a:r>
            </a:p>
          </p:txBody>
        </p:sp>
        <p:graphicFrame>
          <p:nvGraphicFramePr>
            <p:cNvPr id="24582" name="对象 245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6394046"/>
                </p:ext>
              </p:extLst>
            </p:nvPr>
          </p:nvGraphicFramePr>
          <p:xfrm>
            <a:off x="1643" y="45"/>
            <a:ext cx="816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668" r:id="rId7" imgW="598170" imgH="254635" progId="Equation.3">
                    <p:embed/>
                  </p:oleObj>
                </mc:Choice>
                <mc:Fallback>
                  <p:oleObj r:id="rId7" imgW="598170" imgH="254635" progId="Equation.3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43" y="45"/>
                          <a:ext cx="816" cy="36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584" name="对象 245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510152"/>
              </p:ext>
            </p:extLst>
          </p:nvPr>
        </p:nvGraphicFramePr>
        <p:xfrm>
          <a:off x="4223792" y="5085184"/>
          <a:ext cx="327660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9" r:id="rId9" imgW="968375" imgH="420370" progId="Equation.DSMT4">
                  <p:embed/>
                </p:oleObj>
              </mc:Choice>
              <mc:Fallback>
                <p:oleObj r:id="rId9" imgW="968375" imgH="42037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23792" y="5085184"/>
                        <a:ext cx="3276600" cy="1120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3" name="组合 25602"/>
          <p:cNvGrpSpPr/>
          <p:nvPr/>
        </p:nvGrpSpPr>
        <p:grpSpPr>
          <a:xfrm>
            <a:off x="1126808" y="1268730"/>
            <a:ext cx="7253922" cy="3031173"/>
            <a:chOff x="0" y="0"/>
            <a:chExt cx="11422" cy="4773"/>
          </a:xfrm>
        </p:grpSpPr>
        <p:pic>
          <p:nvPicPr>
            <p:cNvPr id="2" name="图片 25603" descr="6-003"/>
            <p:cNvPicPr>
              <a:picLocks noChangeAspect="1"/>
            </p:cNvPicPr>
            <p:nvPr/>
          </p:nvPicPr>
          <p:blipFill>
            <a:blip r:embed="rId2">
              <a:lum bright="89996" contrast="90000"/>
            </a:blip>
            <a:srcRect l="12280" r="14035" b="14015"/>
            <a:stretch>
              <a:fillRect/>
            </a:stretch>
          </p:blipFill>
          <p:spPr>
            <a:xfrm>
              <a:off x="0" y="0"/>
              <a:ext cx="5897" cy="4773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</p:pic>
        <p:sp>
          <p:nvSpPr>
            <p:cNvPr id="25604" name="文本框 25604"/>
            <p:cNvSpPr txBox="1"/>
            <p:nvPr/>
          </p:nvSpPr>
          <p:spPr>
            <a:xfrm>
              <a:off x="6235" y="565"/>
              <a:ext cx="5187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/>
              <a:r>
                <a:rPr lang="zh-CN" altLang="en-US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one real pole  </a:t>
              </a:r>
            </a:p>
          </p:txBody>
        </p:sp>
      </p:grpSp>
      <p:grpSp>
        <p:nvGrpSpPr>
          <p:cNvPr id="25606" name="组合 25605"/>
          <p:cNvGrpSpPr/>
          <p:nvPr/>
        </p:nvGrpSpPr>
        <p:grpSpPr>
          <a:xfrm>
            <a:off x="4511358" y="2781300"/>
            <a:ext cx="6769735" cy="3225800"/>
            <a:chOff x="-456" y="0"/>
            <a:chExt cx="10661" cy="5080"/>
          </a:xfrm>
        </p:grpSpPr>
        <p:pic>
          <p:nvPicPr>
            <p:cNvPr id="3" name="图片 25606" descr="6-004"/>
            <p:cNvPicPr>
              <a:picLocks noChangeAspect="1"/>
            </p:cNvPicPr>
            <p:nvPr/>
          </p:nvPicPr>
          <p:blipFill>
            <a:blip r:embed="rId3">
              <a:lum bright="53998" contrast="35999"/>
            </a:blip>
            <a:srcRect l="8333" r="10417" b="21898"/>
            <a:stretch>
              <a:fillRect/>
            </a:stretch>
          </p:blipFill>
          <p:spPr>
            <a:xfrm>
              <a:off x="4647" y="0"/>
              <a:ext cx="5558" cy="5080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</p:pic>
        <p:sp>
          <p:nvSpPr>
            <p:cNvPr id="25607" name="文本框 25607"/>
            <p:cNvSpPr txBox="1"/>
            <p:nvPr/>
          </p:nvSpPr>
          <p:spPr>
            <a:xfrm>
              <a:off x="-456" y="2495"/>
              <a:ext cx="5187" cy="9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/>
              <a:r>
                <a:rPr lang="zh-CN" altLang="en-US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  <a:sym typeface="Arial" charset="0"/>
                </a:rPr>
                <a:t>one complex pole</a:t>
              </a:r>
              <a:r>
                <a:rPr lang="zh-CN" altLang="en-US" sz="32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 </a:t>
              </a:r>
            </a:p>
          </p:txBody>
        </p:sp>
      </p:grpSp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</a:t>
            </a:r>
            <a:r>
              <a:rPr lang="en-US" altLang="x-none" b="1" i="1" dirty="0" smtClean="0">
                <a:latin typeface="Times New Roman" pitchFamily="18" charset="0"/>
              </a:rPr>
              <a:t>Function</a:t>
            </a:r>
            <a:endParaRPr lang="zh-CN" altLang="en-US" b="1" i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文本占位符 26626"/>
          <p:cNvSpPr>
            <a:spLocks noGrp="1"/>
          </p:cNvSpPr>
          <p:nvPr>
            <p:ph idx="1"/>
          </p:nvPr>
        </p:nvSpPr>
        <p:spPr>
          <a:xfrm>
            <a:off x="695325" y="1196976"/>
            <a:ext cx="11582400" cy="4906963"/>
          </a:xfrm>
        </p:spPr>
        <p:txBody>
          <a:bodyPr anchor="t"/>
          <a:lstStyle/>
          <a:p>
            <a:r>
              <a:rPr lang="en-US" altLang="zh-CN" sz="3200" dirty="0" smtClean="0">
                <a:latin typeface="Times New Roman" pitchFamily="18" charset="0"/>
              </a:rPr>
              <a:t>2</a:t>
            </a:r>
            <a:r>
              <a:rPr lang="en-US" altLang="zh-CN" sz="3200" baseline="30000" dirty="0" smtClean="0">
                <a:latin typeface="Times New Roman" pitchFamily="18" charset="0"/>
              </a:rPr>
              <a:t>nd</a:t>
            </a:r>
            <a:r>
              <a:rPr lang="en-US" altLang="zh-CN" sz="3200" dirty="0" smtClean="0">
                <a:latin typeface="Times New Roman" pitchFamily="18" charset="0"/>
              </a:rPr>
              <a:t>-</a:t>
            </a:r>
            <a:r>
              <a:rPr lang="zh-CN" altLang="en-US" sz="3200" b="1" dirty="0" smtClean="0">
                <a:latin typeface="Times New Roman" pitchFamily="18" charset="0"/>
              </a:rPr>
              <a:t>order </a:t>
            </a:r>
            <a:r>
              <a:rPr lang="zh-CN" altLang="en-US" sz="3200" b="1" dirty="0">
                <a:latin typeface="Times New Roman" pitchFamily="18" charset="0"/>
              </a:rPr>
              <a:t>allpass transfer function </a:t>
            </a:r>
          </a:p>
        </p:txBody>
      </p:sp>
      <p:pic>
        <p:nvPicPr>
          <p:cNvPr id="26628" name="图片 26627" descr="6-005"/>
          <p:cNvPicPr>
            <a:picLocks noChangeAspect="1"/>
          </p:cNvPicPr>
          <p:nvPr/>
        </p:nvPicPr>
        <p:blipFill>
          <a:blip r:embed="rId3"/>
          <a:srcRect l="3804" r="3889" b="17204"/>
          <a:stretch>
            <a:fillRect/>
          </a:stretch>
        </p:blipFill>
        <p:spPr>
          <a:xfrm>
            <a:off x="5663883" y="3212783"/>
            <a:ext cx="3505200" cy="2998787"/>
          </a:xfrm>
          <a:prstGeom prst="rect">
            <a:avLst/>
          </a:prstGeom>
          <a:solidFill>
            <a:srgbClr val="000000"/>
          </a:solidFill>
          <a:ln w="9525">
            <a:noFill/>
          </a:ln>
        </p:spPr>
      </p:pic>
      <p:graphicFrame>
        <p:nvGraphicFramePr>
          <p:cNvPr id="26629" name="对象 26628"/>
          <p:cNvGraphicFramePr>
            <a:graphicFrameLocks noChangeAspect="1"/>
          </p:cNvGraphicFramePr>
          <p:nvPr/>
        </p:nvGraphicFramePr>
        <p:xfrm>
          <a:off x="2711450" y="1917065"/>
          <a:ext cx="50292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4" r:id="rId4" imgW="4013200" imgH="889000" progId="Equation.DSMT4">
                  <p:embed/>
                </p:oleObj>
              </mc:Choice>
              <mc:Fallback>
                <p:oleObj r:id="rId4" imgW="4013200" imgH="8890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711450" y="1917065"/>
                        <a:ext cx="5029200" cy="1114425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0" name="对象 26629"/>
          <p:cNvGraphicFramePr>
            <a:graphicFrameLocks noChangeAspect="1"/>
          </p:cNvGraphicFramePr>
          <p:nvPr/>
        </p:nvGraphicFramePr>
        <p:xfrm>
          <a:off x="3288030" y="3428683"/>
          <a:ext cx="1531938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5" r:id="rId6" imgW="1350010" imgH="394970" progId="Equation.DSMT4">
                  <p:embed/>
                </p:oleObj>
              </mc:Choice>
              <mc:Fallback>
                <p:oleObj r:id="rId6" imgW="1350010" imgH="39497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88030" y="3428683"/>
                        <a:ext cx="1531938" cy="447675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文本框 26630"/>
          <p:cNvSpPr txBox="1"/>
          <p:nvPr/>
        </p:nvSpPr>
        <p:spPr>
          <a:xfrm>
            <a:off x="1703705" y="3356928"/>
            <a:ext cx="1625600" cy="5791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ploes：</a:t>
            </a:r>
          </a:p>
        </p:txBody>
      </p:sp>
      <p:graphicFrame>
        <p:nvGraphicFramePr>
          <p:cNvPr id="26632" name="对象 26631"/>
          <p:cNvGraphicFramePr>
            <a:graphicFrameLocks noChangeAspect="1"/>
          </p:cNvGraphicFramePr>
          <p:nvPr/>
        </p:nvGraphicFramePr>
        <p:xfrm>
          <a:off x="3143568" y="4508818"/>
          <a:ext cx="23320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696" r:id="rId8" imgW="2017395" imgH="405765" progId="Equation.DSMT4">
                  <p:embed/>
                </p:oleObj>
              </mc:Choice>
              <mc:Fallback>
                <p:oleObj r:id="rId8" imgW="2017395" imgH="405765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143568" y="4508818"/>
                        <a:ext cx="2332037" cy="469900"/>
                      </a:xfrm>
                      <a:prstGeom prst="rect">
                        <a:avLst/>
                      </a:prstGeom>
                      <a:solidFill>
                        <a:srgbClr val="0000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文本框 26632"/>
          <p:cNvSpPr txBox="1"/>
          <p:nvPr/>
        </p:nvSpPr>
        <p:spPr>
          <a:xfrm>
            <a:off x="1775143" y="4437063"/>
            <a:ext cx="2663825" cy="5791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3200" b="1" dirty="0">
                <a:solidFill>
                  <a:srgbClr val="000000"/>
                </a:solidFill>
                <a:latin typeface="Times New Roman" pitchFamily="18" charset="0"/>
                <a:ea typeface="黑体" pitchFamily="2" charset="-122"/>
              </a:rPr>
              <a:t>zeros：</a:t>
            </a:r>
          </a:p>
        </p:txBody>
      </p:sp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</a:t>
            </a:r>
            <a:r>
              <a:rPr lang="en-US" altLang="x-none" b="1" i="1" dirty="0" smtClean="0">
                <a:latin typeface="Times New Roman" pitchFamily="18" charset="0"/>
              </a:rPr>
              <a:t>Function</a:t>
            </a:r>
            <a:endParaRPr lang="zh-CN" altLang="en-US" b="1" i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/>
      <p:bldP spid="2663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内容占位符 27650"/>
          <p:cNvSpPr>
            <a:spLocks noGrp="1"/>
          </p:cNvSpPr>
          <p:nvPr>
            <p:ph idx="1"/>
          </p:nvPr>
        </p:nvSpPr>
        <p:spPr>
          <a:xfrm>
            <a:off x="479376" y="1196975"/>
            <a:ext cx="10297790" cy="1219200"/>
          </a:xfrm>
        </p:spPr>
        <p:txBody>
          <a:bodyPr anchor="t"/>
          <a:lstStyle/>
          <a:p>
            <a:r>
              <a:rPr lang="en-US" altLang="x-none" sz="3200" dirty="0">
                <a:latin typeface="Times New Roman" pitchFamily="18" charset="0"/>
              </a:rPr>
              <a:t>T</a:t>
            </a:r>
            <a:r>
              <a:rPr lang="en-US" altLang="x-none" sz="3200" b="1" dirty="0" smtClean="0">
                <a:latin typeface="Times New Roman" pitchFamily="18" charset="0"/>
              </a:rPr>
              <a:t>he </a:t>
            </a:r>
            <a:r>
              <a:rPr lang="en-US" altLang="x-none" sz="3200" b="1" i="1" dirty="0" err="1">
                <a:latin typeface="Times New Roman" pitchFamily="18" charset="0"/>
              </a:rPr>
              <a:t>M</a:t>
            </a:r>
            <a:r>
              <a:rPr lang="en-US" altLang="x-none" sz="3200" b="1" dirty="0" err="1">
                <a:latin typeface="Times New Roman" pitchFamily="18" charset="0"/>
              </a:rPr>
              <a:t>th</a:t>
            </a:r>
            <a:r>
              <a:rPr lang="en-US" altLang="x-none" sz="3200" b="1" dirty="0">
                <a:latin typeface="Times New Roman" pitchFamily="18" charset="0"/>
              </a:rPr>
              <a:t>-order </a:t>
            </a:r>
            <a:r>
              <a:rPr lang="en-US" altLang="x-none" sz="3200" b="1" dirty="0" smtClean="0">
                <a:latin typeface="Times New Roman" pitchFamily="18" charset="0"/>
              </a:rPr>
              <a:t>causal </a:t>
            </a:r>
            <a:r>
              <a:rPr lang="en-US" altLang="x-none" sz="3200" dirty="0" smtClean="0">
                <a:latin typeface="Times New Roman" pitchFamily="18" charset="0"/>
              </a:rPr>
              <a:t>real-coefficient </a:t>
            </a:r>
            <a:r>
              <a:rPr lang="en-US" altLang="x-none" sz="3200" b="1" dirty="0" err="1" smtClean="0">
                <a:latin typeface="Times New Roman" pitchFamily="18" charset="0"/>
              </a:rPr>
              <a:t>allpass</a:t>
            </a:r>
            <a:r>
              <a:rPr lang="en-US" altLang="x-none" sz="3200" b="1" dirty="0" smtClean="0">
                <a:latin typeface="Times New Roman" pitchFamily="18" charset="0"/>
              </a:rPr>
              <a:t> </a:t>
            </a:r>
            <a:r>
              <a:rPr lang="en-US" altLang="x-none" sz="3200" b="1" dirty="0">
                <a:latin typeface="Times New Roman" pitchFamily="18" charset="0"/>
              </a:rPr>
              <a:t>system </a:t>
            </a:r>
            <a:r>
              <a:rPr lang="en-US" altLang="x-none" sz="3200" b="1" dirty="0" smtClean="0">
                <a:latin typeface="Times New Roman" pitchFamily="18" charset="0"/>
              </a:rPr>
              <a:t>is</a:t>
            </a:r>
            <a:endParaRPr lang="en-US" altLang="x-none" sz="3200" b="1" dirty="0">
              <a:latin typeface="Times New Roman" pitchFamily="18" charset="0"/>
            </a:endParaRPr>
          </a:p>
        </p:txBody>
      </p:sp>
      <p:sp>
        <p:nvSpPr>
          <p:cNvPr id="27654" name="文本框 27653"/>
          <p:cNvSpPr txBox="1"/>
          <p:nvPr/>
        </p:nvSpPr>
        <p:spPr>
          <a:xfrm>
            <a:off x="500538" y="4496733"/>
            <a:ext cx="6400800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457200" lvl="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If we denote polynomial:</a:t>
            </a:r>
          </a:p>
        </p:txBody>
      </p:sp>
      <p:graphicFrame>
        <p:nvGraphicFramePr>
          <p:cNvPr id="27655" name="对象 276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280009"/>
              </p:ext>
            </p:extLst>
          </p:nvPr>
        </p:nvGraphicFramePr>
        <p:xfrm>
          <a:off x="5591944" y="4527953"/>
          <a:ext cx="6264696" cy="48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4" r:id="rId4" imgW="2603500" imgH="228600" progId="Equation.DSMT4">
                  <p:embed/>
                </p:oleObj>
              </mc:Choice>
              <mc:Fallback>
                <p:oleObj r:id="rId4" imgW="2603500" imgH="2286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91944" y="4527953"/>
                        <a:ext cx="6264696" cy="487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6" name="文本框 27655"/>
          <p:cNvSpPr txBox="1"/>
          <p:nvPr/>
        </p:nvSpPr>
        <p:spPr>
          <a:xfrm>
            <a:off x="3124200" y="5638800"/>
            <a:ext cx="1143000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20000"/>
              </a:spcBef>
              <a:buClr>
                <a:schemeClr val="hlink"/>
              </a:buClr>
              <a:buSzPct val="110000"/>
              <a:buFont typeface="Wingdings" charset="2"/>
              <a:buNone/>
            </a:pPr>
            <a:r>
              <a:rPr lang="en-US" altLang="x-none" sz="3200" b="1" dirty="0">
                <a:latin typeface="Times New Roman" pitchFamily="18" charset="0"/>
                <a:ea typeface="宋体" charset="-122"/>
              </a:rPr>
              <a:t>So:</a:t>
            </a:r>
            <a:endParaRPr lang="zh-CN" altLang="en-US" b="1" dirty="0"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27657" name="对象 276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9972752"/>
              </p:ext>
            </p:extLst>
          </p:nvPr>
        </p:nvGraphicFramePr>
        <p:xfrm>
          <a:off x="4511824" y="5105400"/>
          <a:ext cx="3429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5" r:id="rId6" imgW="1459865" imgH="457200" progId="Equation.DSMT4">
                  <p:embed/>
                </p:oleObj>
              </mc:Choice>
              <mc:Fallback>
                <p:oleObj r:id="rId6" imgW="1459865" imgH="457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11824" y="5105400"/>
                        <a:ext cx="34290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</a:t>
            </a:r>
            <a:r>
              <a:rPr lang="en-US" altLang="x-none" b="1" i="1" dirty="0" smtClean="0">
                <a:latin typeface="Times New Roman" pitchFamily="18" charset="0"/>
              </a:rPr>
              <a:t>Function</a:t>
            </a:r>
            <a:endParaRPr lang="zh-CN" altLang="en-US" b="1" i="1" dirty="0">
              <a:latin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524940"/>
              </p:ext>
            </p:extLst>
          </p:nvPr>
        </p:nvGraphicFramePr>
        <p:xfrm>
          <a:off x="2639616" y="1844824"/>
          <a:ext cx="6277698" cy="1013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6" name="Equation" r:id="rId8" imgW="2831760" imgH="457200" progId="Equation.DSMT4">
                  <p:embed/>
                </p:oleObj>
              </mc:Choice>
              <mc:Fallback>
                <p:oleObj name="Equation" r:id="rId8" imgW="28317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39616" y="1844824"/>
                        <a:ext cx="6277698" cy="10134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内容占位符 27650"/>
          <p:cNvSpPr txBox="1">
            <a:spLocks/>
          </p:cNvSpPr>
          <p:nvPr/>
        </p:nvSpPr>
        <p:spPr bwMode="auto">
          <a:xfrm>
            <a:off x="479376" y="3002280"/>
            <a:ext cx="9433694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x-none" sz="3200" dirty="0" smtClean="0">
                <a:latin typeface="Times New Roman" pitchFamily="18" charset="0"/>
              </a:rPr>
              <a:t>It can </a:t>
            </a:r>
            <a:r>
              <a:rPr lang="en-US" altLang="x-none" sz="3200" dirty="0">
                <a:latin typeface="Times New Roman" pitchFamily="18" charset="0"/>
              </a:rPr>
              <a:t>also </a:t>
            </a:r>
            <a:r>
              <a:rPr lang="en-US" altLang="x-none" sz="3200" dirty="0" smtClean="0">
                <a:latin typeface="Times New Roman" pitchFamily="18" charset="0"/>
              </a:rPr>
              <a:t>be expressed in a factored form </a:t>
            </a:r>
            <a:endParaRPr lang="en-US" altLang="x-none" sz="3200" dirty="0">
              <a:latin typeface="Times New Roman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9109829"/>
              </p:ext>
            </p:extLst>
          </p:nvPr>
        </p:nvGraphicFramePr>
        <p:xfrm>
          <a:off x="3479800" y="3476625"/>
          <a:ext cx="3411732" cy="10201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67" name="Equation" r:id="rId10" imgW="1612800" imgH="482400" progId="Equation.DSMT4">
                  <p:embed/>
                </p:oleObj>
              </mc:Choice>
              <mc:Fallback>
                <p:oleObj name="Equation" r:id="rId10" imgW="1612800" imgH="4824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9800" y="3476625"/>
                        <a:ext cx="3411732" cy="10201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76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  <p:bldP spid="27654" grpId="0" build="p"/>
      <p:bldP spid="27656" grpId="0" build="p"/>
      <p:bldP spid="11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内容占位符 28674"/>
          <p:cNvSpPr>
            <a:spLocks noGrp="1"/>
          </p:cNvSpPr>
          <p:nvPr>
            <p:ph idx="1"/>
          </p:nvPr>
        </p:nvSpPr>
        <p:spPr>
          <a:xfrm>
            <a:off x="695072" y="1196975"/>
            <a:ext cx="10441488" cy="21336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numerator of a real-coefficient allpass transfer function is said to be the mirror-image polynomial of the denominator, and vice versa.</a:t>
            </a:r>
          </a:p>
          <a:p>
            <a:endParaRPr lang="en-US" altLang="x-none" sz="3200" b="1" dirty="0">
              <a:latin typeface="Times New Roman" pitchFamily="18" charset="0"/>
            </a:endParaRPr>
          </a:p>
        </p:txBody>
      </p:sp>
      <p:grpSp>
        <p:nvGrpSpPr>
          <p:cNvPr id="28676" name="组合 28675"/>
          <p:cNvGrpSpPr/>
          <p:nvPr/>
        </p:nvGrpSpPr>
        <p:grpSpPr>
          <a:xfrm>
            <a:off x="767080" y="3285490"/>
            <a:ext cx="10729913" cy="1149350"/>
            <a:chOff x="0" y="0"/>
            <a:chExt cx="6759" cy="724"/>
          </a:xfrm>
        </p:grpSpPr>
        <p:graphicFrame>
          <p:nvGraphicFramePr>
            <p:cNvPr id="2" name="内容占位符 28676"/>
            <p:cNvGraphicFramePr>
              <a:graphicFrameLocks noGrp="1" noChangeAspect="1"/>
            </p:cNvGraphicFramePr>
            <p:nvPr>
              <p:ph sz="half" idx="4294967295"/>
            </p:nvPr>
          </p:nvGraphicFramePr>
          <p:xfrm>
            <a:off x="3085" y="0"/>
            <a:ext cx="771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99" r:id="rId4" imgW="447675" imgH="242570" progId="Equation.DSMT4">
                    <p:embed/>
                  </p:oleObj>
                </mc:Choice>
                <mc:Fallback>
                  <p:oleObj r:id="rId4" imgW="447675" imgH="242570" progId="Equation.DSMT4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085" y="0"/>
                          <a:ext cx="771" cy="418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677" name="文本框 28677"/>
            <p:cNvSpPr txBox="1"/>
            <p:nvPr/>
          </p:nvSpPr>
          <p:spPr>
            <a:xfrm>
              <a:off x="0" y="45"/>
              <a:ext cx="6759" cy="6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20000"/>
                </a:spcBef>
                <a:buChar char="•"/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We shall use the notation                 to denote the </a:t>
              </a:r>
              <a:r>
                <a:rPr lang="en-US" altLang="x-none" sz="32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mirror-image polynomial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of a degree-</a:t>
              </a:r>
              <a:r>
                <a:rPr lang="en-US" altLang="x-none" sz="3200" b="1" i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M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polynomial </a:t>
              </a:r>
              <a:r>
                <a:rPr lang="en-US" altLang="x-none" sz="3200" b="1" i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D</a:t>
              </a:r>
              <a:r>
                <a:rPr lang="en-US" altLang="x-none" sz="3200" b="1" i="1" baseline="-25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M</a:t>
              </a:r>
              <a:r>
                <a:rPr lang="en-US" altLang="x-none" sz="3200" b="1" i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(z)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, i.e.,</a:t>
              </a:r>
            </a:p>
          </p:txBody>
        </p:sp>
      </p:grpSp>
      <p:graphicFrame>
        <p:nvGraphicFramePr>
          <p:cNvPr id="28679" name="对象 28678"/>
          <p:cNvGraphicFramePr>
            <a:graphicFrameLocks noChangeAspect="1"/>
          </p:cNvGraphicFramePr>
          <p:nvPr/>
        </p:nvGraphicFramePr>
        <p:xfrm>
          <a:off x="3287078" y="5301615"/>
          <a:ext cx="3667125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00" r:id="rId6" imgW="1337310" imgH="241935" progId="Equation.DSMT4">
                  <p:embed/>
                </p:oleObj>
              </mc:Choice>
              <mc:Fallback>
                <p:oleObj r:id="rId6" imgW="1337310" imgH="241935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87078" y="5301615"/>
                        <a:ext cx="3667125" cy="660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</a:t>
            </a:r>
            <a:r>
              <a:rPr lang="en-US" altLang="x-none" b="1" i="1" dirty="0" smtClean="0">
                <a:latin typeface="Times New Roman" pitchFamily="18" charset="0"/>
              </a:rPr>
              <a:t>Function</a:t>
            </a:r>
            <a:endParaRPr lang="zh-CN" altLang="en-US" b="1" i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内容占位符 29698"/>
          <p:cNvSpPr>
            <a:spLocks noGrp="1"/>
          </p:cNvSpPr>
          <p:nvPr>
            <p:ph idx="1"/>
          </p:nvPr>
        </p:nvSpPr>
        <p:spPr>
          <a:xfrm>
            <a:off x="839470" y="1196975"/>
            <a:ext cx="7772400" cy="685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expression</a:t>
            </a:r>
          </a:p>
        </p:txBody>
      </p:sp>
      <p:graphicFrame>
        <p:nvGraphicFramePr>
          <p:cNvPr id="29700" name="对象 29699"/>
          <p:cNvGraphicFramePr>
            <a:graphicFrameLocks noChangeAspect="1"/>
          </p:cNvGraphicFramePr>
          <p:nvPr/>
        </p:nvGraphicFramePr>
        <p:xfrm>
          <a:off x="3215640" y="1701165"/>
          <a:ext cx="35814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3" r:id="rId5" imgW="3581400" imgH="914400" progId="Equation.3">
                  <p:embed/>
                </p:oleObj>
              </mc:Choice>
              <mc:Fallback>
                <p:oleObj r:id="rId5" imgW="3581400" imgH="9144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215640" y="1701165"/>
                        <a:ext cx="3581400" cy="914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文本框 29700"/>
          <p:cNvSpPr txBox="1"/>
          <p:nvPr/>
        </p:nvSpPr>
        <p:spPr>
          <a:xfrm>
            <a:off x="911225" y="2493010"/>
            <a:ext cx="8872220" cy="1554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implies that the poles and zeros of a real-coefficient allpass function exhibit mirror-image symmetry in the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z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-plane.</a:t>
            </a:r>
          </a:p>
        </p:txBody>
      </p:sp>
      <p:graphicFrame>
        <p:nvGraphicFramePr>
          <p:cNvPr id="29702" name="对象 29701"/>
          <p:cNvGraphicFramePr>
            <a:graphicFrameLocks noChangeAspect="1"/>
          </p:cNvGraphicFramePr>
          <p:nvPr/>
        </p:nvGraphicFramePr>
        <p:xfrm>
          <a:off x="982980" y="4293235"/>
          <a:ext cx="48006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24" r:id="rId7" imgW="6159500" imgH="1016000" progId="Equation.3">
                  <p:embed/>
                </p:oleObj>
              </mc:Choice>
              <mc:Fallback>
                <p:oleObj r:id="rId7" imgW="6159500" imgH="10160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82980" y="4293235"/>
                        <a:ext cx="4800600" cy="792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3" name="图片 2970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1900" y="3501390"/>
            <a:ext cx="3813810" cy="28695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</a:t>
            </a:r>
            <a:r>
              <a:rPr lang="en-US" altLang="x-none" b="1" i="1" dirty="0" smtClean="0">
                <a:latin typeface="Times New Roman" pitchFamily="18" charset="0"/>
              </a:rPr>
              <a:t>Function</a:t>
            </a:r>
            <a:endParaRPr lang="zh-CN" altLang="en-US" b="1" i="1" dirty="0">
              <a:latin typeface="Times New Roman" pitchFamily="18" charset="0"/>
            </a:endParaRPr>
          </a:p>
        </p:txBody>
      </p:sp>
      <p:sp>
        <p:nvSpPr>
          <p:cNvPr id="2" name="椭圆 1"/>
          <p:cNvSpPr/>
          <p:nvPr/>
        </p:nvSpPr>
        <p:spPr bwMode="auto">
          <a:xfrm>
            <a:off x="6972288" y="4221088"/>
            <a:ext cx="1368152" cy="1368152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Arial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3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  <p:bldP spid="2970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内容占位符 30722"/>
          <p:cNvSpPr>
            <a:spLocks noGrp="1"/>
          </p:cNvSpPr>
          <p:nvPr>
            <p:ph idx="1"/>
          </p:nvPr>
        </p:nvSpPr>
        <p:spPr>
          <a:xfrm>
            <a:off x="767080" y="1268730"/>
            <a:ext cx="8395970" cy="7620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To show that  |A</a:t>
            </a:r>
            <a:r>
              <a:rPr lang="en-US" altLang="x-none" sz="3200" b="1" baseline="-25000" dirty="0">
                <a:latin typeface="Times New Roman" pitchFamily="18" charset="0"/>
              </a:rPr>
              <a:t>M</a:t>
            </a:r>
            <a:r>
              <a:rPr lang="en-US" altLang="x-none" sz="3200" b="1" dirty="0">
                <a:latin typeface="Times New Roman" pitchFamily="18" charset="0"/>
              </a:rPr>
              <a:t>(e</a:t>
            </a:r>
            <a:r>
              <a:rPr lang="en-US" altLang="x-none" sz="3200" b="1" baseline="30000" dirty="0">
                <a:latin typeface="Times New Roman" pitchFamily="18" charset="0"/>
              </a:rPr>
              <a:t>j</a:t>
            </a:r>
            <a:r>
              <a:rPr lang="el-GR" altLang="en-US" sz="3200" b="1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dirty="0">
                <a:latin typeface="Times New Roman" pitchFamily="18" charset="0"/>
                <a:ea typeface="Gungsuh" pitchFamily="2" charset="-127"/>
              </a:rPr>
              <a:t>)|=1</a:t>
            </a:r>
            <a:r>
              <a:rPr lang="en-US" altLang="x-none" sz="3200" b="1" dirty="0">
                <a:latin typeface="Times New Roman" pitchFamily="18" charset="0"/>
              </a:rPr>
              <a:t> we observe that:</a:t>
            </a:r>
          </a:p>
          <a:p>
            <a:endParaRPr lang="zh-CN" altLang="en-US" sz="3200" dirty="0">
              <a:latin typeface="Times New Roman" pitchFamily="18" charset="0"/>
            </a:endParaRPr>
          </a:p>
        </p:txBody>
      </p:sp>
      <p:graphicFrame>
        <p:nvGraphicFramePr>
          <p:cNvPr id="30724" name="对象 30723"/>
          <p:cNvGraphicFramePr>
            <a:graphicFrameLocks noChangeAspect="1"/>
          </p:cNvGraphicFramePr>
          <p:nvPr/>
        </p:nvGraphicFramePr>
        <p:xfrm>
          <a:off x="2927350" y="1917065"/>
          <a:ext cx="35321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0" r:id="rId4" imgW="3505200" imgH="889000" progId="Equation.DSMT4">
                  <p:embed/>
                </p:oleObj>
              </mc:Choice>
              <mc:Fallback>
                <p:oleObj r:id="rId4" imgW="3505200" imgH="889000" progId="Equation.DSMT4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27350" y="1917065"/>
                        <a:ext cx="3532188" cy="895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文本框 30724"/>
          <p:cNvSpPr txBox="1"/>
          <p:nvPr/>
        </p:nvSpPr>
        <p:spPr>
          <a:xfrm>
            <a:off x="839470" y="2997200"/>
            <a:ext cx="4319588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20000"/>
              </a:spcBef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Therefore:</a:t>
            </a:r>
          </a:p>
        </p:txBody>
      </p:sp>
      <p:graphicFrame>
        <p:nvGraphicFramePr>
          <p:cNvPr id="30726" name="对象 30725"/>
          <p:cNvGraphicFramePr>
            <a:graphicFrameLocks noChangeAspect="1"/>
          </p:cNvGraphicFramePr>
          <p:nvPr/>
        </p:nvGraphicFramePr>
        <p:xfrm>
          <a:off x="2207260" y="3645535"/>
          <a:ext cx="61722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1" r:id="rId6" imgW="6172200" imgH="889000" progId="Equation.DSMT4">
                  <p:embed/>
                </p:oleObj>
              </mc:Choice>
              <mc:Fallback>
                <p:oleObj r:id="rId6" imgW="6172200" imgH="8890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207260" y="3645535"/>
                        <a:ext cx="617220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文本框 30726"/>
          <p:cNvSpPr txBox="1"/>
          <p:nvPr/>
        </p:nvSpPr>
        <p:spPr>
          <a:xfrm>
            <a:off x="982980" y="4581525"/>
            <a:ext cx="6985000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Hence:</a:t>
            </a:r>
          </a:p>
        </p:txBody>
      </p:sp>
      <p:graphicFrame>
        <p:nvGraphicFramePr>
          <p:cNvPr id="30728" name="对象 30727"/>
          <p:cNvGraphicFramePr>
            <a:graphicFrameLocks noChangeAspect="1"/>
          </p:cNvGraphicFramePr>
          <p:nvPr/>
        </p:nvGraphicFramePr>
        <p:xfrm>
          <a:off x="2495550" y="5301615"/>
          <a:ext cx="57912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2" r:id="rId8" imgW="6159500" imgH="698500" progId="Equation.DSMT4">
                  <p:embed/>
                </p:oleObj>
              </mc:Choice>
              <mc:Fallback>
                <p:oleObj r:id="rId8" imgW="6159500" imgH="698500" progId="Equation.DSMT4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95550" y="5301615"/>
                        <a:ext cx="5791200" cy="657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 smtClean="0">
                <a:latin typeface="Times New Roman" pitchFamily="18" charset="0"/>
              </a:rPr>
              <a:t>7.1.3 </a:t>
            </a:r>
            <a:r>
              <a:rPr lang="en-US" altLang="x-none" b="1" i="1" dirty="0" err="1" smtClean="0">
                <a:latin typeface="Times New Roman" pitchFamily="18" charset="0"/>
              </a:rPr>
              <a:t>Allpass</a:t>
            </a:r>
            <a:r>
              <a:rPr lang="en-US" altLang="x-none" b="1" i="1" dirty="0" smtClean="0">
                <a:latin typeface="Times New Roman" pitchFamily="18" charset="0"/>
              </a:rPr>
              <a:t> Transfer Function</a:t>
            </a:r>
            <a:endParaRPr lang="zh-CN" altLang="en-US" b="1" i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7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30725" grpId="0" build="p"/>
      <p:bldP spid="3072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内容占位符 31746"/>
          <p:cNvSpPr>
            <a:spLocks noGrp="1"/>
          </p:cNvSpPr>
          <p:nvPr>
            <p:ph idx="1"/>
          </p:nvPr>
        </p:nvSpPr>
        <p:spPr>
          <a:xfrm>
            <a:off x="839470" y="1196975"/>
            <a:ext cx="10225082" cy="4114800"/>
          </a:xfrm>
        </p:spPr>
        <p:txBody>
          <a:bodyPr anchor="t"/>
          <a:lstStyle/>
          <a:p>
            <a:pPr marL="609600" indent="-609600"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Properties:</a:t>
            </a:r>
          </a:p>
          <a:p>
            <a:pPr marL="609600" indent="-609600">
              <a:lnSpc>
                <a:spcPct val="90000"/>
              </a:lnSpc>
              <a:buAutoNum type="arabicParenBoth"/>
            </a:pPr>
            <a:r>
              <a:rPr lang="en-US" altLang="x-none" sz="3200" b="1" dirty="0">
                <a:latin typeface="Times New Roman" pitchFamily="18" charset="0"/>
              </a:rPr>
              <a:t>A causal stable real-coefficient allpass transfer function is a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lossless</a:t>
            </a:r>
            <a:r>
              <a:rPr lang="en-US" altLang="x-none" sz="3200" b="1" dirty="0">
                <a:latin typeface="Times New Roman" pitchFamily="18" charset="0"/>
              </a:rPr>
              <a:t> bounded real (LBR) function or, equivalently, a causal stable allpass filter is a lossless structure.</a:t>
            </a:r>
          </a:p>
          <a:p>
            <a:pPr marL="609600" indent="-609600">
              <a:lnSpc>
                <a:spcPct val="90000"/>
              </a:lnSpc>
              <a:buAutoNum type="arabicParenBoth"/>
            </a:pPr>
            <a:r>
              <a:rPr lang="en-US" altLang="x-none" sz="3200" b="1" dirty="0">
                <a:latin typeface="Times New Roman" pitchFamily="18" charset="0"/>
              </a:rPr>
              <a:t>The magnitude function of a stable allpass function </a:t>
            </a:r>
            <a:r>
              <a:rPr lang="en-US" altLang="x-none" sz="3200" b="1" i="1" dirty="0">
                <a:latin typeface="Times New Roman" pitchFamily="18" charset="0"/>
              </a:rPr>
              <a:t>A</a:t>
            </a:r>
            <a:r>
              <a:rPr lang="en-US" altLang="x-none" sz="3200" b="1" dirty="0">
                <a:latin typeface="Times New Roman" pitchFamily="18" charset="0"/>
              </a:rPr>
              <a:t>(</a:t>
            </a:r>
            <a:r>
              <a:rPr lang="en-US" altLang="x-none" sz="3200" b="1" i="1" dirty="0">
                <a:latin typeface="Times New Roman" pitchFamily="18" charset="0"/>
              </a:rPr>
              <a:t>z</a:t>
            </a:r>
            <a:r>
              <a:rPr lang="en-US" altLang="x-none" sz="3200" b="1" dirty="0">
                <a:latin typeface="Times New Roman" pitchFamily="18" charset="0"/>
              </a:rPr>
              <a:t>) satisfies:</a:t>
            </a:r>
            <a:endParaRPr lang="zh-CN" altLang="en-US" sz="3200" b="1" dirty="0">
              <a:latin typeface="Times New Roman" pitchFamily="18" charset="0"/>
            </a:endParaRPr>
          </a:p>
        </p:txBody>
      </p:sp>
      <p:graphicFrame>
        <p:nvGraphicFramePr>
          <p:cNvPr id="31748" name="对象 317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48521"/>
              </p:ext>
            </p:extLst>
          </p:nvPr>
        </p:nvGraphicFramePr>
        <p:xfrm>
          <a:off x="3863752" y="4552556"/>
          <a:ext cx="3124200" cy="148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5" r:id="rId4" imgW="3365500" imgH="1600200" progId="Equation.3">
                  <p:embed/>
                </p:oleObj>
              </mc:Choice>
              <mc:Fallback>
                <p:oleObj r:id="rId4" imgW="3365500" imgH="16002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63752" y="4552556"/>
                        <a:ext cx="3124200" cy="1484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</a:t>
            </a:r>
            <a:r>
              <a:rPr lang="en-US" altLang="x-none" b="1" i="1" dirty="0" smtClean="0">
                <a:latin typeface="Times New Roman" pitchFamily="18" charset="0"/>
              </a:rPr>
              <a:t>Function</a:t>
            </a:r>
            <a:endParaRPr lang="zh-CN" altLang="en-US" b="1" i="1" dirty="0">
              <a:latin typeface="Times New Roman" pitchFamily="18" charset="0"/>
            </a:endParaRPr>
          </a:p>
        </p:txBody>
      </p:sp>
      <p:sp>
        <p:nvSpPr>
          <p:cNvPr id="3" name="AutoShape 48" descr="“why”的图片搜索结果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50" descr="“why”的图片搜索结果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内容占位符 32770"/>
          <p:cNvSpPr>
            <a:spLocks noGrp="1"/>
          </p:cNvSpPr>
          <p:nvPr>
            <p:ph idx="1"/>
          </p:nvPr>
        </p:nvSpPr>
        <p:spPr>
          <a:xfrm>
            <a:off x="911225" y="1196975"/>
            <a:ext cx="8624570" cy="1143000"/>
          </a:xfrm>
        </p:spPr>
        <p:txBody>
          <a:bodyPr anchor="t"/>
          <a:lstStyle/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(3)  Let </a:t>
            </a:r>
            <a:r>
              <a:rPr lang="el-GR" altLang="en-US" sz="3200" b="1" dirty="0">
                <a:latin typeface="Microsoft Sans Serif" pitchFamily="2" charset="0"/>
                <a:ea typeface="Microsoft Sans Serif" pitchFamily="2" charset="0"/>
              </a:rPr>
              <a:t>τ</a:t>
            </a:r>
            <a:r>
              <a:rPr lang="en-US" altLang="x-none" sz="3200" b="1" baseline="-25000" dirty="0">
                <a:latin typeface="Microsoft Sans Serif" pitchFamily="2" charset="0"/>
                <a:ea typeface="Microsoft Sans Serif" pitchFamily="2" charset="0"/>
              </a:rPr>
              <a:t>g</a:t>
            </a:r>
            <a:r>
              <a:rPr lang="en-US" altLang="x-none" sz="3200" b="1" dirty="0">
                <a:latin typeface="Microsoft Sans Serif" pitchFamily="2" charset="0"/>
                <a:ea typeface="Gungsuh" pitchFamily="2" charset="-127"/>
              </a:rPr>
              <a:t>(</a:t>
            </a:r>
            <a:r>
              <a:rPr lang="el-GR" altLang="en-US" sz="3200" b="1" dirty="0">
                <a:latin typeface="Microsoft Sans Serif" pitchFamily="2" charset="0"/>
                <a:ea typeface="Gungsuh" pitchFamily="2" charset="-127"/>
              </a:rPr>
              <a:t>ω</a:t>
            </a:r>
            <a:r>
              <a:rPr lang="en-US" altLang="x-none" sz="3200" b="1" dirty="0">
                <a:latin typeface="Microsoft Sans Serif" pitchFamily="2" charset="0"/>
                <a:ea typeface="Gungsuh" pitchFamily="2" charset="-127"/>
              </a:rPr>
              <a:t>)</a:t>
            </a:r>
            <a:r>
              <a:rPr lang="en-US" altLang="x-none" sz="3200" b="1" dirty="0">
                <a:latin typeface="Times New Roman" pitchFamily="18" charset="0"/>
              </a:rPr>
              <a:t> denote the group delay function of an allpass filter </a:t>
            </a:r>
            <a:r>
              <a:rPr lang="en-US" altLang="x-none" sz="3200" b="1" i="1" dirty="0">
                <a:latin typeface="Times New Roman" pitchFamily="18" charset="0"/>
              </a:rPr>
              <a:t>A</a:t>
            </a:r>
            <a:r>
              <a:rPr lang="en-US" altLang="x-none" sz="3200" b="1" dirty="0">
                <a:latin typeface="Times New Roman" pitchFamily="18" charset="0"/>
              </a:rPr>
              <a:t>(</a:t>
            </a:r>
            <a:r>
              <a:rPr lang="en-US" altLang="x-none" sz="3200" b="1" i="1" dirty="0">
                <a:latin typeface="Times New Roman" pitchFamily="18" charset="0"/>
              </a:rPr>
              <a:t>z</a:t>
            </a:r>
            <a:r>
              <a:rPr lang="en-US" altLang="x-none" sz="3200" b="1" dirty="0">
                <a:latin typeface="Times New Roman" pitchFamily="18" charset="0"/>
              </a:rPr>
              <a:t>), i.e.,</a:t>
            </a:r>
            <a:endParaRPr lang="zh-CN" altLang="en-US" sz="3200" dirty="0">
              <a:latin typeface="Times New Roman" pitchFamily="18" charset="0"/>
            </a:endParaRPr>
          </a:p>
          <a:p>
            <a:endParaRPr lang="zh-CN" altLang="en-US" sz="3200" dirty="0"/>
          </a:p>
        </p:txBody>
      </p:sp>
      <p:graphicFrame>
        <p:nvGraphicFramePr>
          <p:cNvPr id="32772" name="对象 327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59289"/>
              </p:ext>
            </p:extLst>
          </p:nvPr>
        </p:nvGraphicFramePr>
        <p:xfrm>
          <a:off x="4799856" y="2420888"/>
          <a:ext cx="296227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2" r:id="rId4" imgW="1324610" imgH="394970" progId="Equation.DSMT4">
                  <p:embed/>
                </p:oleObj>
              </mc:Choice>
              <mc:Fallback>
                <p:oleObj r:id="rId4" imgW="1324610" imgH="39497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99856" y="2420888"/>
                        <a:ext cx="2962275" cy="88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文本框 32772"/>
          <p:cNvSpPr txBox="1"/>
          <p:nvPr/>
        </p:nvSpPr>
        <p:spPr>
          <a:xfrm>
            <a:off x="1127125" y="3501390"/>
            <a:ext cx="8721090" cy="2042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 unwrapped phase function </a:t>
            </a:r>
            <a:r>
              <a:rPr lang="el-GR" altLang="en-US" sz="3200" b="1" dirty="0">
                <a:solidFill>
                  <a:srgbClr val="3366CC"/>
                </a:solidFill>
                <a:latin typeface="Gulim" pitchFamily="2" charset="-127"/>
                <a:ea typeface="Gulim" pitchFamily="2" charset="-127"/>
              </a:rPr>
              <a:t>θ</a:t>
            </a:r>
            <a:r>
              <a:rPr lang="en-US" altLang="x-none" sz="3200" b="1" baseline="-25000" dirty="0">
                <a:solidFill>
                  <a:srgbClr val="3366CC"/>
                </a:solidFill>
                <a:latin typeface="Gulim" pitchFamily="2" charset="-127"/>
                <a:ea typeface="Gulim" pitchFamily="2" charset="-127"/>
              </a:rPr>
              <a:t>c</a:t>
            </a:r>
            <a:r>
              <a:rPr lang="en-US" altLang="x-none" sz="3200" b="1" dirty="0">
                <a:solidFill>
                  <a:srgbClr val="3366CC"/>
                </a:solidFill>
                <a:latin typeface="Gulim" pitchFamily="2" charset="-127"/>
                <a:ea typeface="Gulim" pitchFamily="2" charset="-127"/>
              </a:rPr>
              <a:t>(</a:t>
            </a:r>
            <a:r>
              <a:rPr lang="el-GR" altLang="en-US" sz="3200" b="1" dirty="0">
                <a:solidFill>
                  <a:srgbClr val="3366CC"/>
                </a:solidFill>
                <a:latin typeface="Gungsuh" pitchFamily="2" charset="-127"/>
                <a:ea typeface="Gungsuh" pitchFamily="2" charset="-127"/>
              </a:rPr>
              <a:t>ω</a:t>
            </a:r>
            <a:r>
              <a:rPr lang="en-US" altLang="x-none" sz="3200" b="1" dirty="0">
                <a:solidFill>
                  <a:srgbClr val="3366CC"/>
                </a:solidFill>
                <a:latin typeface="Gungsuh" pitchFamily="2" charset="-127"/>
                <a:ea typeface="Gungsuh" pitchFamily="2" charset="-127"/>
              </a:rPr>
              <a:t>)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of a stable allpass function is a </a:t>
            </a:r>
            <a:r>
              <a:rPr lang="en-US" altLang="x-none" sz="3200" b="1" i="1" dirty="0">
                <a:solidFill>
                  <a:srgbClr val="FF0000"/>
                </a:solidFill>
                <a:effectLst/>
                <a:latin typeface="Times New Roman" pitchFamily="18" charset="0"/>
                <a:ea typeface="宋体" charset="-122"/>
              </a:rPr>
              <a:t>monotonically decreasing function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of </a:t>
            </a:r>
            <a:r>
              <a:rPr lang="en-US" altLang="x-none" sz="3200" b="1" dirty="0">
                <a:solidFill>
                  <a:srgbClr val="3366CC"/>
                </a:solidFill>
                <a:latin typeface="Symbol" pitchFamily="2" charset="2"/>
                <a:ea typeface="宋体" charset="-122"/>
              </a:rPr>
              <a:t>w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so that </a:t>
            </a:r>
            <a:r>
              <a:rPr lang="el-GR" altLang="en-US" sz="3200" b="1" dirty="0">
                <a:solidFill>
                  <a:srgbClr val="3366CC"/>
                </a:solidFill>
                <a:latin typeface="Microsoft Sans Serif" pitchFamily="2" charset="0"/>
                <a:ea typeface="Microsoft Sans Serif" pitchFamily="2" charset="0"/>
              </a:rPr>
              <a:t>τ</a:t>
            </a:r>
            <a:r>
              <a:rPr lang="en-US" altLang="x-none" sz="3200" b="1" baseline="-25000" dirty="0">
                <a:solidFill>
                  <a:srgbClr val="3366CC"/>
                </a:solidFill>
                <a:latin typeface="Microsoft Sans Serif" pitchFamily="2" charset="0"/>
                <a:ea typeface="Microsoft Sans Serif" pitchFamily="2" charset="0"/>
              </a:rPr>
              <a:t>g</a:t>
            </a:r>
            <a:r>
              <a:rPr lang="en-US" altLang="x-none" sz="3200" b="1" dirty="0">
                <a:solidFill>
                  <a:srgbClr val="3366CC"/>
                </a:solidFill>
                <a:latin typeface="Microsoft Sans Serif" pitchFamily="2" charset="0"/>
                <a:ea typeface="Gungsuh" pitchFamily="2" charset="-127"/>
              </a:rPr>
              <a:t>(</a:t>
            </a:r>
            <a:r>
              <a:rPr lang="el-GR" altLang="en-US" sz="3200" b="1" dirty="0">
                <a:solidFill>
                  <a:srgbClr val="3366CC"/>
                </a:solidFill>
                <a:latin typeface="Microsoft Sans Serif" pitchFamily="2" charset="0"/>
                <a:ea typeface="Gungsuh" pitchFamily="2" charset="-127"/>
              </a:rPr>
              <a:t>ω</a:t>
            </a:r>
            <a:r>
              <a:rPr lang="en-US" altLang="x-none" sz="3200" b="1" dirty="0">
                <a:solidFill>
                  <a:srgbClr val="3366CC"/>
                </a:solidFill>
                <a:latin typeface="Microsoft Sans Serif" pitchFamily="2" charset="0"/>
                <a:ea typeface="Gungsuh" pitchFamily="2" charset="-127"/>
              </a:rPr>
              <a:t>)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is 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everywhere </a:t>
            </a:r>
            <a:r>
              <a:rPr lang="en-US" altLang="x-none" sz="3200" b="1" i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positive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in the range 0 &lt; </a:t>
            </a:r>
            <a:r>
              <a:rPr lang="en-US" altLang="x-none" sz="3200" b="1" dirty="0">
                <a:solidFill>
                  <a:srgbClr val="3366CC"/>
                </a:solidFill>
                <a:latin typeface="Symbol" pitchFamily="2" charset="2"/>
                <a:ea typeface="宋体" charset="-122"/>
              </a:rPr>
              <a:t>w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&lt; </a:t>
            </a:r>
            <a:r>
              <a:rPr lang="en-US" altLang="x-none" sz="3200" b="1" dirty="0">
                <a:solidFill>
                  <a:srgbClr val="3366CC"/>
                </a:solidFill>
                <a:latin typeface="Symbol" pitchFamily="2" charset="2"/>
                <a:ea typeface="宋体" charset="-122"/>
              </a:rPr>
              <a:t>p.</a:t>
            </a:r>
          </a:p>
        </p:txBody>
      </p:sp>
      <p:sp>
        <p:nvSpPr>
          <p:cNvPr id="24577" name="标题 24577"/>
          <p:cNvSpPr>
            <a:spLocks noGrp="1"/>
          </p:cNvSpPr>
          <p:nvPr>
            <p:ph type="title"/>
          </p:nvPr>
        </p:nvSpPr>
        <p:spPr>
          <a:xfrm>
            <a:off x="62293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7.1.3 Allpass Transfer </a:t>
            </a:r>
            <a:r>
              <a:rPr lang="en-US" altLang="x-none" b="1" i="1" dirty="0" smtClean="0">
                <a:latin typeface="Times New Roman" pitchFamily="18" charset="0"/>
              </a:rPr>
              <a:t>Function</a:t>
            </a:r>
            <a:endParaRPr lang="zh-CN" altLang="en-US" b="1" i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  <p:bldP spid="3277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33793"/>
          <p:cNvSpPr>
            <a:spLocks noGrp="1"/>
          </p:cNvSpPr>
          <p:nvPr>
            <p:ph type="title"/>
          </p:nvPr>
        </p:nvSpPr>
        <p:spPr>
          <a:xfrm>
            <a:off x="839470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Application of </a:t>
            </a:r>
            <a:r>
              <a:rPr lang="en-US" altLang="x-none" b="1" i="1" dirty="0" err="1">
                <a:latin typeface="Times New Roman" pitchFamily="18" charset="0"/>
              </a:rPr>
              <a:t>allpass</a:t>
            </a:r>
            <a:r>
              <a:rPr lang="en-US" altLang="x-none" b="1" i="1" dirty="0">
                <a:latin typeface="Times New Roman" pitchFamily="18" charset="0"/>
              </a:rPr>
              <a:t> </a:t>
            </a:r>
            <a:r>
              <a:rPr lang="en-US" altLang="x-none" b="1" i="1" dirty="0" smtClean="0">
                <a:latin typeface="Times New Roman" pitchFamily="18" charset="0"/>
              </a:rPr>
              <a:t>system</a:t>
            </a:r>
            <a:endParaRPr lang="zh-CN" altLang="en-US" b="1" i="1" dirty="0">
              <a:latin typeface="Times New Roman" pitchFamily="18" charset="0"/>
            </a:endParaRPr>
          </a:p>
        </p:txBody>
      </p:sp>
      <p:sp>
        <p:nvSpPr>
          <p:cNvPr id="33795" name="内容占位符 33794"/>
          <p:cNvSpPr>
            <a:spLocks noGrp="1"/>
          </p:cNvSpPr>
          <p:nvPr>
            <p:ph idx="1"/>
          </p:nvPr>
        </p:nvSpPr>
        <p:spPr>
          <a:xfrm>
            <a:off x="1055370" y="1196975"/>
            <a:ext cx="10297214" cy="50292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Any causal stable system can be denoted as: </a:t>
            </a:r>
            <a:endParaRPr lang="en-US" altLang="x-none" sz="3200" b="1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H(z</a:t>
            </a:r>
            <a:r>
              <a:rPr lang="en-US" altLang="x-none" sz="3200" b="1" dirty="0">
                <a:latin typeface="Times New Roman" pitchFamily="18" charset="0"/>
              </a:rPr>
              <a:t>)=H</a:t>
            </a:r>
            <a:r>
              <a:rPr lang="en-US" altLang="x-none" sz="3200" b="1" baseline="-25000" dirty="0">
                <a:latin typeface="Times New Roman" pitchFamily="18" charset="0"/>
              </a:rPr>
              <a:t>min</a:t>
            </a:r>
            <a:r>
              <a:rPr lang="en-US" altLang="x-none" sz="3200" b="1" dirty="0">
                <a:latin typeface="Times New Roman" pitchFamily="18" charset="0"/>
              </a:rPr>
              <a:t>(z)A(z)</a:t>
            </a:r>
          </a:p>
          <a:p>
            <a:pPr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	where </a:t>
            </a:r>
            <a:r>
              <a:rPr lang="en-US" altLang="x-none" sz="3200" b="1" dirty="0">
                <a:latin typeface="Times New Roman" pitchFamily="18" charset="0"/>
              </a:rPr>
              <a:t>H</a:t>
            </a:r>
            <a:r>
              <a:rPr lang="en-US" altLang="x-none" sz="3200" b="1" baseline="-25000" dirty="0">
                <a:latin typeface="Times New Roman" pitchFamily="18" charset="0"/>
              </a:rPr>
              <a:t>min</a:t>
            </a:r>
            <a:r>
              <a:rPr lang="en-US" altLang="x-none" sz="3200" b="1" dirty="0">
                <a:latin typeface="Times New Roman" pitchFamily="18" charset="0"/>
              </a:rPr>
              <a:t>(z) is a minimum phase-delay system.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Use </a:t>
            </a:r>
            <a:r>
              <a:rPr lang="en-US" altLang="x-none" sz="3200" b="1" dirty="0">
                <a:latin typeface="Times New Roman" pitchFamily="18" charset="0"/>
              </a:rPr>
              <a:t>allpass system to help design stable filters</a:t>
            </a:r>
            <a:r>
              <a:rPr lang="en-US" altLang="x-none" sz="3200" b="1" dirty="0" smtClean="0">
                <a:latin typeface="Times New Roman" pitchFamily="18" charset="0"/>
              </a:rPr>
              <a:t>.</a:t>
            </a:r>
          </a:p>
          <a:p>
            <a:r>
              <a:rPr lang="en-US" altLang="x-none" sz="3200" b="1" dirty="0" smtClean="0">
                <a:latin typeface="Times New Roman" pitchFamily="18" charset="0"/>
              </a:rPr>
              <a:t>Use </a:t>
            </a:r>
            <a:r>
              <a:rPr lang="en-US" altLang="x-none" sz="3200" b="1" dirty="0">
                <a:latin typeface="Times New Roman" pitchFamily="18" charset="0"/>
              </a:rPr>
              <a:t>allpass system to help design linear phase system.</a:t>
            </a:r>
          </a:p>
          <a:p>
            <a:r>
              <a:rPr lang="en-US" altLang="x-none" sz="3200" b="1" dirty="0" smtClean="0">
                <a:latin typeface="Times New Roman" pitchFamily="18" charset="0"/>
              </a:rPr>
              <a:t>A </a:t>
            </a:r>
            <a:r>
              <a:rPr lang="en-US" altLang="x-none" sz="3200" b="1" dirty="0">
                <a:latin typeface="Times New Roman" pitchFamily="18" charset="0"/>
              </a:rPr>
              <a:t>simple example</a:t>
            </a:r>
            <a:r>
              <a:rPr lang="en-US" altLang="x-none" sz="3200" b="1" dirty="0" smtClean="0">
                <a:latin typeface="Times New Roman" pitchFamily="18" charset="0"/>
              </a:rPr>
              <a:t>.(Fig7.7</a:t>
            </a:r>
            <a:r>
              <a:rPr lang="en-US" altLang="x-none" sz="3200" b="1" dirty="0">
                <a:latin typeface="Times New Roman" pitchFamily="18" charset="0"/>
              </a:rPr>
              <a:t>)</a:t>
            </a:r>
            <a:endParaRPr lang="zh-CN" altLang="en-US" sz="32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236" y="1443786"/>
            <a:ext cx="5855926" cy="17564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600" y="3356992"/>
            <a:ext cx="6743930" cy="2880320"/>
          </a:xfrm>
          <a:prstGeom prst="rect">
            <a:avLst/>
          </a:prstGeom>
        </p:spPr>
      </p:pic>
      <p:sp>
        <p:nvSpPr>
          <p:cNvPr id="6" name="标题 3379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Application of </a:t>
            </a:r>
            <a:r>
              <a:rPr lang="en-US" altLang="x-none" b="1" i="1" dirty="0" err="1">
                <a:latin typeface="Times New Roman" pitchFamily="18" charset="0"/>
              </a:rPr>
              <a:t>allpass</a:t>
            </a:r>
            <a:r>
              <a:rPr lang="en-US" altLang="x-none" b="1" i="1" dirty="0">
                <a:latin typeface="Times New Roman" pitchFamily="18" charset="0"/>
              </a:rPr>
              <a:t> </a:t>
            </a:r>
            <a:r>
              <a:rPr lang="en-US" altLang="x-none" b="1" i="1" dirty="0" smtClean="0">
                <a:latin typeface="Times New Roman" pitchFamily="18" charset="0"/>
              </a:rPr>
              <a:t>system</a:t>
            </a:r>
            <a:endParaRPr lang="zh-CN" altLang="en-US" b="1" i="1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4733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6145"/>
          <p:cNvSpPr>
            <a:spLocks noGrp="1"/>
          </p:cNvSpPr>
          <p:nvPr>
            <p:ph type="title"/>
          </p:nvPr>
        </p:nvSpPr>
        <p:spPr>
          <a:xfrm>
            <a:off x="69532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solidFill>
                  <a:srgbClr val="0033CC"/>
                </a:solidFill>
                <a:latin typeface="Times New Roman" pitchFamily="18" charset="0"/>
              </a:rPr>
              <a:t>Types of Transfer Functions</a:t>
            </a:r>
          </a:p>
        </p:txBody>
      </p:sp>
      <p:sp>
        <p:nvSpPr>
          <p:cNvPr id="6147" name="内容占位符 6146"/>
          <p:cNvSpPr>
            <a:spLocks noGrp="1"/>
          </p:cNvSpPr>
          <p:nvPr>
            <p:ph idx="1"/>
          </p:nvPr>
        </p:nvSpPr>
        <p:spPr>
          <a:xfrm>
            <a:off x="911225" y="1196975"/>
            <a:ext cx="8417560" cy="4495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In the case of digital transfer functions with frequency-selective frequency responses, there are two types of  classifications: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(1) Classification based on the shape of the magnitude function |H(e</a:t>
            </a:r>
            <a:r>
              <a:rPr lang="en-US" altLang="x-none" sz="3200" b="1" baseline="30000" dirty="0">
                <a:latin typeface="Times New Roman" pitchFamily="18" charset="0"/>
              </a:rPr>
              <a:t>i</a:t>
            </a:r>
            <a:r>
              <a:rPr lang="en-US" altLang="x-none" sz="3200" b="1" baseline="30000" dirty="0"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dirty="0">
                <a:latin typeface="Times New Roman" pitchFamily="18" charset="0"/>
                <a:sym typeface="Symbol" pitchFamily="2" charset="2"/>
              </a:rPr>
              <a:t>)|.</a:t>
            </a:r>
            <a:r>
              <a:rPr lang="en-US" altLang="x-none" sz="3200" b="1" dirty="0">
                <a:latin typeface="Times New Roman" pitchFamily="18" charset="0"/>
              </a:rPr>
              <a:t> </a:t>
            </a:r>
          </a:p>
          <a:p>
            <a:pPr>
              <a:buNone/>
            </a:pP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(2) Classification based on the form of the phase function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θ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sym typeface="Symbol" pitchFamily="2" charset="2"/>
              </a:rPr>
              <a:t>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).</a:t>
            </a:r>
            <a:endParaRPr lang="zh-CN" altLang="en-US" sz="32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52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34817"/>
          <p:cNvSpPr>
            <a:spLocks noGrp="1"/>
          </p:cNvSpPr>
          <p:nvPr>
            <p:ph type="title"/>
          </p:nvPr>
        </p:nvSpPr>
        <p:spPr>
          <a:xfrm>
            <a:off x="982980" y="0"/>
            <a:ext cx="8905240" cy="1143000"/>
          </a:xfrm>
        </p:spPr>
        <p:txBody>
          <a:bodyPr anchor="ctr"/>
          <a:lstStyle/>
          <a:p>
            <a:r>
              <a:rPr lang="zh-CN" altLang="en-US" b="1" i="1" dirty="0">
                <a:latin typeface="Times New Roman" pitchFamily="18" charset="0"/>
              </a:rPr>
              <a:t>7.2 </a:t>
            </a:r>
            <a:r>
              <a:rPr lang="en-US" altLang="x-none" b="1" i="1" dirty="0">
                <a:latin typeface="Times New Roman" pitchFamily="18" charset="0"/>
              </a:rPr>
              <a:t>Transfer Function Classification Based on Phase Characteristic</a:t>
            </a:r>
          </a:p>
        </p:txBody>
      </p:sp>
      <p:sp>
        <p:nvSpPr>
          <p:cNvPr id="34818" name="文本占位符 34818"/>
          <p:cNvSpPr>
            <a:spLocks noGrp="1"/>
          </p:cNvSpPr>
          <p:nvPr>
            <p:ph idx="1"/>
          </p:nvPr>
        </p:nvSpPr>
        <p:spPr>
          <a:xfrm>
            <a:off x="982980" y="1196658"/>
            <a:ext cx="7772400" cy="4322762"/>
          </a:xfrm>
        </p:spPr>
        <p:txBody>
          <a:bodyPr anchor="t"/>
          <a:lstStyle/>
          <a:p>
            <a:pPr>
              <a:buNone/>
            </a:pPr>
            <a:r>
              <a:rPr lang="zh-CN" altLang="en-US" sz="3200" b="1" dirty="0">
                <a:latin typeface="Times New Roman" pitchFamily="18" charset="0"/>
                <a:ea typeface="Times New Roman" pitchFamily="18" charset="0"/>
              </a:rPr>
              <a:t>1、</a:t>
            </a:r>
            <a:r>
              <a:rPr lang="zh-CN" altLang="en-US" sz="3200" b="1" dirty="0">
                <a:latin typeface="Times New Roman" pitchFamily="18" charset="0"/>
              </a:rPr>
              <a:t>The phase delay will cause the change of signal waveform</a:t>
            </a:r>
            <a:endParaRPr lang="zh-CN" altLang="en-US" sz="3200" b="1" dirty="0">
              <a:latin typeface="Times New Roman" pitchFamily="18" charset="0"/>
              <a:ea typeface="Times New Roman" pitchFamily="18" charset="0"/>
            </a:endParaRPr>
          </a:p>
        </p:txBody>
      </p:sp>
      <p:grpSp>
        <p:nvGrpSpPr>
          <p:cNvPr id="34820" name="组合 34819"/>
          <p:cNvGrpSpPr/>
          <p:nvPr/>
        </p:nvGrpSpPr>
        <p:grpSpPr>
          <a:xfrm>
            <a:off x="6133783" y="1912620"/>
            <a:ext cx="3657600" cy="4191000"/>
            <a:chOff x="0" y="0"/>
            <a:chExt cx="2304" cy="2640"/>
          </a:xfrm>
        </p:grpSpPr>
        <p:sp>
          <p:nvSpPr>
            <p:cNvPr id="2" name="直接连接符 34820"/>
            <p:cNvSpPr/>
            <p:nvPr/>
          </p:nvSpPr>
          <p:spPr>
            <a:xfrm>
              <a:off x="0" y="0"/>
              <a:ext cx="0" cy="26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21" name="直接连接符 34821"/>
            <p:cNvSpPr/>
            <p:nvPr/>
          </p:nvSpPr>
          <p:spPr>
            <a:xfrm>
              <a:off x="384" y="48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22" name="直接连接符 34822"/>
            <p:cNvSpPr/>
            <p:nvPr/>
          </p:nvSpPr>
          <p:spPr>
            <a:xfrm>
              <a:off x="1536" y="0"/>
              <a:ext cx="48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23" name="直接连接符 34823"/>
            <p:cNvSpPr/>
            <p:nvPr/>
          </p:nvSpPr>
          <p:spPr>
            <a:xfrm>
              <a:off x="1920" y="0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24" name="直接连接符 34824"/>
            <p:cNvSpPr/>
            <p:nvPr/>
          </p:nvSpPr>
          <p:spPr>
            <a:xfrm>
              <a:off x="768" y="0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25" name="直接连接符 34825"/>
            <p:cNvSpPr/>
            <p:nvPr/>
          </p:nvSpPr>
          <p:spPr>
            <a:xfrm>
              <a:off x="1152" y="0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26" name="直接连接符 34826"/>
            <p:cNvSpPr/>
            <p:nvPr/>
          </p:nvSpPr>
          <p:spPr>
            <a:xfrm>
              <a:off x="2304" y="0"/>
              <a:ext cx="0" cy="25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34828" name="组合 34827"/>
          <p:cNvGrpSpPr/>
          <p:nvPr/>
        </p:nvGrpSpPr>
        <p:grpSpPr>
          <a:xfrm>
            <a:off x="4931411" y="1844675"/>
            <a:ext cx="6484938" cy="1447800"/>
            <a:chOff x="-53" y="0"/>
            <a:chExt cx="4085" cy="912"/>
          </a:xfrm>
        </p:grpSpPr>
        <p:sp>
          <p:nvSpPr>
            <p:cNvPr id="3" name="直接连接符 34828"/>
            <p:cNvSpPr/>
            <p:nvPr/>
          </p:nvSpPr>
          <p:spPr>
            <a:xfrm flipV="1">
              <a:off x="336" y="0"/>
              <a:ext cx="0" cy="9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29" name="直接连接符 34829"/>
            <p:cNvSpPr/>
            <p:nvPr/>
          </p:nvSpPr>
          <p:spPr>
            <a:xfrm>
              <a:off x="336" y="528"/>
              <a:ext cx="32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30" name="未知"/>
            <p:cNvSpPr/>
            <p:nvPr/>
          </p:nvSpPr>
          <p:spPr>
            <a:xfrm>
              <a:off x="336" y="240"/>
              <a:ext cx="2832" cy="528"/>
            </a:xfrm>
            <a:custGeom>
              <a:avLst/>
              <a:gdLst/>
              <a:ahLst/>
              <a:cxnLst/>
              <a:rect l="0" t="0" r="0" b="0"/>
              <a:pathLst>
                <a:path w="2832" h="528">
                  <a:moveTo>
                    <a:pt x="0" y="528"/>
                  </a:moveTo>
                  <a:cubicBezTo>
                    <a:pt x="128" y="288"/>
                    <a:pt x="256" y="48"/>
                    <a:pt x="384" y="48"/>
                  </a:cubicBezTo>
                  <a:cubicBezTo>
                    <a:pt x="512" y="48"/>
                    <a:pt x="640" y="528"/>
                    <a:pt x="768" y="528"/>
                  </a:cubicBezTo>
                  <a:cubicBezTo>
                    <a:pt x="896" y="528"/>
                    <a:pt x="1024" y="48"/>
                    <a:pt x="1152" y="48"/>
                  </a:cubicBezTo>
                  <a:cubicBezTo>
                    <a:pt x="1280" y="48"/>
                    <a:pt x="1408" y="528"/>
                    <a:pt x="1536" y="528"/>
                  </a:cubicBezTo>
                  <a:cubicBezTo>
                    <a:pt x="1664" y="528"/>
                    <a:pt x="1792" y="48"/>
                    <a:pt x="1920" y="48"/>
                  </a:cubicBezTo>
                  <a:cubicBezTo>
                    <a:pt x="2048" y="48"/>
                    <a:pt x="2176" y="528"/>
                    <a:pt x="2304" y="528"/>
                  </a:cubicBezTo>
                  <a:cubicBezTo>
                    <a:pt x="2432" y="528"/>
                    <a:pt x="2600" y="96"/>
                    <a:pt x="2688" y="48"/>
                  </a:cubicBezTo>
                  <a:cubicBezTo>
                    <a:pt x="2776" y="0"/>
                    <a:pt x="2776" y="192"/>
                    <a:pt x="2832" y="240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文本框 34831"/>
            <p:cNvSpPr txBox="1"/>
            <p:nvPr/>
          </p:nvSpPr>
          <p:spPr>
            <a:xfrm>
              <a:off x="3311" y="643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时间 </a:t>
              </a: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t</a:t>
              </a:r>
            </a:p>
          </p:txBody>
        </p:sp>
        <p:sp>
          <p:nvSpPr>
            <p:cNvPr id="34832" name="文本框 34832"/>
            <p:cNvSpPr txBox="1"/>
            <p:nvPr/>
          </p:nvSpPr>
          <p:spPr>
            <a:xfrm>
              <a:off x="-53" y="144"/>
              <a:ext cx="293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zh-CN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幅度</a:t>
              </a:r>
            </a:p>
          </p:txBody>
        </p:sp>
        <p:sp>
          <p:nvSpPr>
            <p:cNvPr id="34833" name="文本框 34833"/>
            <p:cNvSpPr txBox="1"/>
            <p:nvPr/>
          </p:nvSpPr>
          <p:spPr>
            <a:xfrm>
              <a:off x="3216" y="230"/>
              <a:ext cx="8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原始信号</a:t>
              </a:r>
            </a:p>
          </p:txBody>
        </p:sp>
      </p:grpSp>
      <p:grpSp>
        <p:nvGrpSpPr>
          <p:cNvPr id="34835" name="组合 34834"/>
          <p:cNvGrpSpPr/>
          <p:nvPr/>
        </p:nvGrpSpPr>
        <p:grpSpPr>
          <a:xfrm>
            <a:off x="5015548" y="3357245"/>
            <a:ext cx="6248400" cy="1549400"/>
            <a:chOff x="0" y="0"/>
            <a:chExt cx="3936" cy="976"/>
          </a:xfrm>
        </p:grpSpPr>
        <p:sp>
          <p:nvSpPr>
            <p:cNvPr id="4" name="直接连接符 34835"/>
            <p:cNvSpPr/>
            <p:nvPr/>
          </p:nvSpPr>
          <p:spPr>
            <a:xfrm>
              <a:off x="336" y="528"/>
              <a:ext cx="3264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36" name="直接连接符 34836"/>
            <p:cNvSpPr/>
            <p:nvPr/>
          </p:nvSpPr>
          <p:spPr>
            <a:xfrm flipV="1">
              <a:off x="336" y="0"/>
              <a:ext cx="0" cy="9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37" name="未知"/>
            <p:cNvSpPr/>
            <p:nvPr/>
          </p:nvSpPr>
          <p:spPr>
            <a:xfrm>
              <a:off x="336" y="248"/>
              <a:ext cx="2880" cy="520"/>
            </a:xfrm>
            <a:custGeom>
              <a:avLst/>
              <a:gdLst/>
              <a:ahLst/>
              <a:cxnLst/>
              <a:rect l="0" t="0" r="0" b="0"/>
              <a:pathLst>
                <a:path w="2880" h="520">
                  <a:moveTo>
                    <a:pt x="0" y="280"/>
                  </a:moveTo>
                  <a:cubicBezTo>
                    <a:pt x="48" y="140"/>
                    <a:pt x="96" y="0"/>
                    <a:pt x="192" y="40"/>
                  </a:cubicBezTo>
                  <a:cubicBezTo>
                    <a:pt x="288" y="80"/>
                    <a:pt x="448" y="520"/>
                    <a:pt x="576" y="520"/>
                  </a:cubicBezTo>
                  <a:cubicBezTo>
                    <a:pt x="704" y="520"/>
                    <a:pt x="832" y="40"/>
                    <a:pt x="960" y="40"/>
                  </a:cubicBezTo>
                  <a:cubicBezTo>
                    <a:pt x="1088" y="40"/>
                    <a:pt x="1224" y="520"/>
                    <a:pt x="1344" y="520"/>
                  </a:cubicBezTo>
                  <a:cubicBezTo>
                    <a:pt x="1464" y="520"/>
                    <a:pt x="1552" y="40"/>
                    <a:pt x="1680" y="40"/>
                  </a:cubicBezTo>
                  <a:cubicBezTo>
                    <a:pt x="1808" y="40"/>
                    <a:pt x="1976" y="520"/>
                    <a:pt x="2112" y="520"/>
                  </a:cubicBezTo>
                  <a:cubicBezTo>
                    <a:pt x="2248" y="520"/>
                    <a:pt x="2368" y="40"/>
                    <a:pt x="2496" y="40"/>
                  </a:cubicBezTo>
                  <a:cubicBezTo>
                    <a:pt x="2624" y="40"/>
                    <a:pt x="2808" y="424"/>
                    <a:pt x="2880" y="520"/>
                  </a:cubicBezTo>
                </a:path>
              </a:pathLst>
            </a:custGeom>
            <a:noFill/>
            <a:ln w="38100" cap="flat" cmpd="sng">
              <a:solidFill>
                <a:srgbClr val="CC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文本框 34838"/>
            <p:cNvSpPr txBox="1"/>
            <p:nvPr/>
          </p:nvSpPr>
          <p:spPr>
            <a:xfrm>
              <a:off x="3311" y="726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时间 </a:t>
              </a: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t</a:t>
              </a:r>
            </a:p>
          </p:txBody>
        </p:sp>
        <p:sp>
          <p:nvSpPr>
            <p:cNvPr id="34839" name="文本框 34839"/>
            <p:cNvSpPr txBox="1"/>
            <p:nvPr/>
          </p:nvSpPr>
          <p:spPr>
            <a:xfrm>
              <a:off x="0" y="192"/>
              <a:ext cx="24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幅度</a:t>
              </a:r>
            </a:p>
          </p:txBody>
        </p:sp>
        <p:sp>
          <p:nvSpPr>
            <p:cNvPr id="34840" name="文本框 34840"/>
            <p:cNvSpPr txBox="1"/>
            <p:nvPr/>
          </p:nvSpPr>
          <p:spPr>
            <a:xfrm>
              <a:off x="3264" y="240"/>
              <a:ext cx="67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相移90</a:t>
              </a:r>
              <a:r>
                <a:rPr lang="en-US" altLang="x-none" sz="2000" b="1" baseline="300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o</a:t>
              </a:r>
            </a:p>
          </p:txBody>
        </p:sp>
      </p:grpSp>
      <p:grpSp>
        <p:nvGrpSpPr>
          <p:cNvPr id="34842" name="组合 34841"/>
          <p:cNvGrpSpPr/>
          <p:nvPr/>
        </p:nvGrpSpPr>
        <p:grpSpPr>
          <a:xfrm>
            <a:off x="5015548" y="4869180"/>
            <a:ext cx="6477000" cy="1447800"/>
            <a:chOff x="0" y="0"/>
            <a:chExt cx="4080" cy="912"/>
          </a:xfrm>
        </p:grpSpPr>
        <p:sp>
          <p:nvSpPr>
            <p:cNvPr id="5" name="直接连接符 34842"/>
            <p:cNvSpPr/>
            <p:nvPr/>
          </p:nvSpPr>
          <p:spPr>
            <a:xfrm flipV="1">
              <a:off x="336" y="0"/>
              <a:ext cx="0" cy="91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43" name="直接连接符 34843"/>
            <p:cNvSpPr/>
            <p:nvPr/>
          </p:nvSpPr>
          <p:spPr>
            <a:xfrm>
              <a:off x="336" y="480"/>
              <a:ext cx="321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4844" name="未知"/>
            <p:cNvSpPr/>
            <p:nvPr/>
          </p:nvSpPr>
          <p:spPr>
            <a:xfrm>
              <a:off x="336" y="240"/>
              <a:ext cx="3136" cy="528"/>
            </a:xfrm>
            <a:custGeom>
              <a:avLst/>
              <a:gdLst/>
              <a:ahLst/>
              <a:cxnLst/>
              <a:rect l="0" t="0" r="0" b="0"/>
              <a:pathLst>
                <a:path w="3136" h="528">
                  <a:moveTo>
                    <a:pt x="0" y="0"/>
                  </a:moveTo>
                  <a:cubicBezTo>
                    <a:pt x="128" y="240"/>
                    <a:pt x="256" y="480"/>
                    <a:pt x="384" y="480"/>
                  </a:cubicBezTo>
                  <a:cubicBezTo>
                    <a:pt x="512" y="480"/>
                    <a:pt x="640" y="0"/>
                    <a:pt x="768" y="0"/>
                  </a:cubicBezTo>
                  <a:cubicBezTo>
                    <a:pt x="896" y="0"/>
                    <a:pt x="1024" y="480"/>
                    <a:pt x="1152" y="480"/>
                  </a:cubicBezTo>
                  <a:cubicBezTo>
                    <a:pt x="1280" y="480"/>
                    <a:pt x="1408" y="0"/>
                    <a:pt x="1536" y="0"/>
                  </a:cubicBezTo>
                  <a:cubicBezTo>
                    <a:pt x="1664" y="0"/>
                    <a:pt x="1792" y="480"/>
                    <a:pt x="1920" y="480"/>
                  </a:cubicBezTo>
                  <a:cubicBezTo>
                    <a:pt x="2048" y="480"/>
                    <a:pt x="2176" y="0"/>
                    <a:pt x="2304" y="0"/>
                  </a:cubicBezTo>
                  <a:cubicBezTo>
                    <a:pt x="2432" y="0"/>
                    <a:pt x="2600" y="432"/>
                    <a:pt x="2688" y="480"/>
                  </a:cubicBezTo>
                  <a:cubicBezTo>
                    <a:pt x="2776" y="528"/>
                    <a:pt x="3136" y="144"/>
                    <a:pt x="2832" y="288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文本框 34845"/>
            <p:cNvSpPr txBox="1"/>
            <p:nvPr/>
          </p:nvSpPr>
          <p:spPr>
            <a:xfrm>
              <a:off x="3408" y="576"/>
              <a:ext cx="5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时间 </a:t>
              </a: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t</a:t>
              </a:r>
            </a:p>
          </p:txBody>
        </p:sp>
        <p:sp>
          <p:nvSpPr>
            <p:cNvPr id="34846" name="文本框 34846"/>
            <p:cNvSpPr txBox="1"/>
            <p:nvPr/>
          </p:nvSpPr>
          <p:spPr>
            <a:xfrm>
              <a:off x="0" y="134"/>
              <a:ext cx="24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幅度</a:t>
              </a:r>
            </a:p>
          </p:txBody>
        </p:sp>
        <p:sp>
          <p:nvSpPr>
            <p:cNvPr id="34847" name="文本框 34847"/>
            <p:cNvSpPr txBox="1"/>
            <p:nvPr/>
          </p:nvSpPr>
          <p:spPr>
            <a:xfrm>
              <a:off x="3264" y="192"/>
              <a:ext cx="8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相移 180</a:t>
              </a:r>
              <a:r>
                <a:rPr lang="en-US" altLang="x-none" sz="2000" b="1" baseline="30000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文本占位符 36865"/>
          <p:cNvSpPr>
            <a:spLocks noGrp="1"/>
          </p:cNvSpPr>
          <p:nvPr>
            <p:ph idx="1"/>
          </p:nvPr>
        </p:nvSpPr>
        <p:spPr>
          <a:xfrm>
            <a:off x="910908" y="332423"/>
            <a:ext cx="7775575" cy="533400"/>
          </a:xfrm>
        </p:spPr>
        <p:txBody>
          <a:bodyPr anchor="t"/>
          <a:lstStyle/>
          <a:p>
            <a:pPr>
              <a:lnSpc>
                <a:spcPct val="80000"/>
              </a:lnSpc>
              <a:buNone/>
            </a:pPr>
            <a:r>
              <a:rPr lang="en-US" altLang="zh-CN" sz="3200" b="1" dirty="0" smtClean="0">
                <a:latin typeface="Times New Roman" pitchFamily="18" charset="0"/>
                <a:ea typeface="Times New Roman" pitchFamily="18" charset="0"/>
              </a:rPr>
              <a:t>2</a:t>
            </a:r>
            <a:r>
              <a:rPr lang="zh-CN" altLang="en-US" sz="3200" b="1" dirty="0" smtClean="0">
                <a:latin typeface="Times New Roman" pitchFamily="18" charset="0"/>
                <a:ea typeface="Times New Roman" pitchFamily="18" charset="0"/>
              </a:rPr>
              <a:t>、</a:t>
            </a:r>
            <a:r>
              <a:rPr lang="zh-CN" altLang="en-US" sz="3200" b="1" dirty="0">
                <a:latin typeface="Times New Roman" pitchFamily="18" charset="0"/>
              </a:rPr>
              <a:t>If we ignore the phase information, then</a:t>
            </a:r>
            <a:endParaRPr lang="zh-CN" altLang="en-US" sz="3200" b="1" dirty="0">
              <a:latin typeface="Times New Roman" pitchFamily="18" charset="0"/>
              <a:ea typeface="Times New Roman" pitchFamily="18" charset="0"/>
            </a:endParaRPr>
          </a:p>
        </p:txBody>
      </p:sp>
      <p:grpSp>
        <p:nvGrpSpPr>
          <p:cNvPr id="36867" name="组合 36866"/>
          <p:cNvGrpSpPr/>
          <p:nvPr/>
        </p:nvGrpSpPr>
        <p:grpSpPr>
          <a:xfrm>
            <a:off x="7391400" y="1143000"/>
            <a:ext cx="2819400" cy="1981200"/>
            <a:chOff x="0" y="0"/>
            <a:chExt cx="1776" cy="1248"/>
          </a:xfrm>
        </p:grpSpPr>
        <p:sp>
          <p:nvSpPr>
            <p:cNvPr id="2" name="直接连接符 36867"/>
            <p:cNvSpPr/>
            <p:nvPr/>
          </p:nvSpPr>
          <p:spPr>
            <a:xfrm>
              <a:off x="0" y="624"/>
              <a:ext cx="17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68" name="直接连接符 36868"/>
            <p:cNvSpPr/>
            <p:nvPr/>
          </p:nvSpPr>
          <p:spPr>
            <a:xfrm>
              <a:off x="816" y="0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69" name="直接连接符 36869"/>
            <p:cNvSpPr/>
            <p:nvPr/>
          </p:nvSpPr>
          <p:spPr>
            <a:xfrm flipV="1">
              <a:off x="864" y="9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0" name="直接连接符 36870"/>
            <p:cNvSpPr/>
            <p:nvPr/>
          </p:nvSpPr>
          <p:spPr>
            <a:xfrm flipV="1">
              <a:off x="768" y="9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1" name="直接连接符 36871"/>
            <p:cNvSpPr/>
            <p:nvPr/>
          </p:nvSpPr>
          <p:spPr>
            <a:xfrm>
              <a:off x="960" y="62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2" name="直接连接符 36872"/>
            <p:cNvSpPr/>
            <p:nvPr/>
          </p:nvSpPr>
          <p:spPr>
            <a:xfrm>
              <a:off x="672" y="62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3" name="直接连接符 36873"/>
            <p:cNvSpPr/>
            <p:nvPr/>
          </p:nvSpPr>
          <p:spPr>
            <a:xfrm flipV="1">
              <a:off x="1056" y="336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4" name="直接连接符 36874"/>
            <p:cNvSpPr/>
            <p:nvPr/>
          </p:nvSpPr>
          <p:spPr>
            <a:xfrm flipV="1">
              <a:off x="528" y="336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5" name="直接连接符 36875"/>
            <p:cNvSpPr/>
            <p:nvPr/>
          </p:nvSpPr>
          <p:spPr>
            <a:xfrm>
              <a:off x="1152" y="62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6" name="直接连接符 36876"/>
            <p:cNvSpPr/>
            <p:nvPr/>
          </p:nvSpPr>
          <p:spPr>
            <a:xfrm>
              <a:off x="432" y="62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7" name="直接连接符 36877"/>
            <p:cNvSpPr/>
            <p:nvPr/>
          </p:nvSpPr>
          <p:spPr>
            <a:xfrm flipV="1">
              <a:off x="1248" y="52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8" name="直接连接符 36878"/>
            <p:cNvSpPr/>
            <p:nvPr/>
          </p:nvSpPr>
          <p:spPr>
            <a:xfrm flipV="1">
              <a:off x="336" y="52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79" name="直接连接符 36879"/>
            <p:cNvSpPr/>
            <p:nvPr/>
          </p:nvSpPr>
          <p:spPr>
            <a:xfrm flipV="1">
              <a:off x="1440" y="576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0" name="直接连接符 36880"/>
            <p:cNvSpPr/>
            <p:nvPr/>
          </p:nvSpPr>
          <p:spPr>
            <a:xfrm flipV="1">
              <a:off x="144" y="576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36882" name="组合 36881"/>
          <p:cNvGrpSpPr/>
          <p:nvPr/>
        </p:nvGrpSpPr>
        <p:grpSpPr>
          <a:xfrm>
            <a:off x="7391400" y="3810000"/>
            <a:ext cx="2819400" cy="1981200"/>
            <a:chOff x="0" y="0"/>
            <a:chExt cx="1776" cy="1248"/>
          </a:xfrm>
        </p:grpSpPr>
        <p:sp>
          <p:nvSpPr>
            <p:cNvPr id="3" name="直接连接符 36882"/>
            <p:cNvSpPr/>
            <p:nvPr/>
          </p:nvSpPr>
          <p:spPr>
            <a:xfrm>
              <a:off x="0" y="720"/>
              <a:ext cx="17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3" name="直接连接符 36883"/>
            <p:cNvSpPr/>
            <p:nvPr/>
          </p:nvSpPr>
          <p:spPr>
            <a:xfrm>
              <a:off x="816" y="0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4" name="直接连接符 36884"/>
            <p:cNvSpPr/>
            <p:nvPr/>
          </p:nvSpPr>
          <p:spPr>
            <a:xfrm flipV="1">
              <a:off x="864" y="192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5" name="直接连接符 36885"/>
            <p:cNvSpPr/>
            <p:nvPr/>
          </p:nvSpPr>
          <p:spPr>
            <a:xfrm flipV="1">
              <a:off x="768" y="192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6" name="直接连接符 36886"/>
            <p:cNvSpPr/>
            <p:nvPr/>
          </p:nvSpPr>
          <p:spPr>
            <a:xfrm>
              <a:off x="960" y="38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7" name="直接连接符 36887"/>
            <p:cNvSpPr/>
            <p:nvPr/>
          </p:nvSpPr>
          <p:spPr>
            <a:xfrm>
              <a:off x="672" y="38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8" name="直接连接符 36888"/>
            <p:cNvSpPr/>
            <p:nvPr/>
          </p:nvSpPr>
          <p:spPr>
            <a:xfrm flipV="1">
              <a:off x="1056" y="43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89" name="直接连接符 36889"/>
            <p:cNvSpPr/>
            <p:nvPr/>
          </p:nvSpPr>
          <p:spPr>
            <a:xfrm flipV="1">
              <a:off x="528" y="43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0" name="直接连接符 36890"/>
            <p:cNvSpPr/>
            <p:nvPr/>
          </p:nvSpPr>
          <p:spPr>
            <a:xfrm>
              <a:off x="1152" y="52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1" name="直接连接符 36891"/>
            <p:cNvSpPr/>
            <p:nvPr/>
          </p:nvSpPr>
          <p:spPr>
            <a:xfrm>
              <a:off x="432" y="528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2" name="直接连接符 36892"/>
            <p:cNvSpPr/>
            <p:nvPr/>
          </p:nvSpPr>
          <p:spPr>
            <a:xfrm flipV="1">
              <a:off x="1248" y="62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3" name="直接连接符 36893"/>
            <p:cNvSpPr/>
            <p:nvPr/>
          </p:nvSpPr>
          <p:spPr>
            <a:xfrm flipV="1">
              <a:off x="336" y="624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4" name="直接连接符 36894"/>
            <p:cNvSpPr/>
            <p:nvPr/>
          </p:nvSpPr>
          <p:spPr>
            <a:xfrm flipV="1">
              <a:off x="1440" y="672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5" name="直接连接符 36895"/>
            <p:cNvSpPr/>
            <p:nvPr/>
          </p:nvSpPr>
          <p:spPr>
            <a:xfrm flipV="1">
              <a:off x="1344" y="672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6" name="直接连接符 36896"/>
            <p:cNvSpPr/>
            <p:nvPr/>
          </p:nvSpPr>
          <p:spPr>
            <a:xfrm flipV="1">
              <a:off x="240" y="672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897" name="直接连接符 36897"/>
            <p:cNvSpPr/>
            <p:nvPr/>
          </p:nvSpPr>
          <p:spPr>
            <a:xfrm flipV="1">
              <a:off x="144" y="672"/>
              <a:ext cx="0" cy="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oval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36899" name="组合 36898"/>
          <p:cNvGrpSpPr/>
          <p:nvPr/>
        </p:nvGrpSpPr>
        <p:grpSpPr>
          <a:xfrm>
            <a:off x="1828800" y="1371600"/>
            <a:ext cx="4511675" cy="1660525"/>
            <a:chOff x="0" y="0"/>
            <a:chExt cx="2352" cy="1046"/>
          </a:xfrm>
        </p:grpSpPr>
        <p:grpSp>
          <p:nvGrpSpPr>
            <p:cNvPr id="4" name="组合 36899"/>
            <p:cNvGrpSpPr/>
            <p:nvPr/>
          </p:nvGrpSpPr>
          <p:grpSpPr>
            <a:xfrm>
              <a:off x="0" y="0"/>
              <a:ext cx="2352" cy="864"/>
              <a:chOff x="0" y="0"/>
              <a:chExt cx="2352" cy="864"/>
            </a:xfrm>
          </p:grpSpPr>
          <p:sp>
            <p:nvSpPr>
              <p:cNvPr id="36900" name="直接连接符 36900"/>
              <p:cNvSpPr/>
              <p:nvPr/>
            </p:nvSpPr>
            <p:spPr>
              <a:xfrm>
                <a:off x="0" y="480"/>
                <a:ext cx="235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6901" name="直接连接符 36901"/>
              <p:cNvSpPr/>
              <p:nvPr/>
            </p:nvSpPr>
            <p:spPr>
              <a:xfrm>
                <a:off x="1104" y="0"/>
                <a:ext cx="0" cy="8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Dot"/>
                <a:round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36902" name="未知"/>
              <p:cNvSpPr/>
              <p:nvPr/>
            </p:nvSpPr>
            <p:spPr>
              <a:xfrm>
                <a:off x="960" y="144"/>
                <a:ext cx="1296" cy="616"/>
              </a:xfrm>
              <a:custGeom>
                <a:avLst/>
                <a:gdLst/>
                <a:ahLst/>
                <a:cxnLst/>
                <a:rect l="0" t="0" r="0" b="0"/>
                <a:pathLst>
                  <a:path w="1696" h="664">
                    <a:moveTo>
                      <a:pt x="0" y="48"/>
                    </a:moveTo>
                    <a:cubicBezTo>
                      <a:pt x="16" y="72"/>
                      <a:pt x="32" y="96"/>
                      <a:pt x="48" y="96"/>
                    </a:cubicBezTo>
                    <a:cubicBezTo>
                      <a:pt x="64" y="96"/>
                      <a:pt x="80" y="48"/>
                      <a:pt x="96" y="48"/>
                    </a:cubicBezTo>
                    <a:cubicBezTo>
                      <a:pt x="112" y="48"/>
                      <a:pt x="128" y="96"/>
                      <a:pt x="144" y="96"/>
                    </a:cubicBezTo>
                    <a:cubicBezTo>
                      <a:pt x="160" y="96"/>
                      <a:pt x="176" y="48"/>
                      <a:pt x="192" y="48"/>
                    </a:cubicBezTo>
                    <a:cubicBezTo>
                      <a:pt x="208" y="48"/>
                      <a:pt x="224" y="96"/>
                      <a:pt x="240" y="96"/>
                    </a:cubicBezTo>
                    <a:cubicBezTo>
                      <a:pt x="256" y="96"/>
                      <a:pt x="272" y="48"/>
                      <a:pt x="288" y="48"/>
                    </a:cubicBezTo>
                    <a:cubicBezTo>
                      <a:pt x="304" y="48"/>
                      <a:pt x="320" y="96"/>
                      <a:pt x="336" y="96"/>
                    </a:cubicBezTo>
                    <a:cubicBezTo>
                      <a:pt x="352" y="96"/>
                      <a:pt x="368" y="0"/>
                      <a:pt x="384" y="48"/>
                    </a:cubicBezTo>
                    <a:cubicBezTo>
                      <a:pt x="400" y="96"/>
                      <a:pt x="416" y="288"/>
                      <a:pt x="432" y="384"/>
                    </a:cubicBezTo>
                    <a:cubicBezTo>
                      <a:pt x="448" y="480"/>
                      <a:pt x="464" y="592"/>
                      <a:pt x="480" y="624"/>
                    </a:cubicBezTo>
                    <a:cubicBezTo>
                      <a:pt x="496" y="656"/>
                      <a:pt x="512" y="576"/>
                      <a:pt x="528" y="576"/>
                    </a:cubicBezTo>
                    <a:cubicBezTo>
                      <a:pt x="544" y="576"/>
                      <a:pt x="560" y="624"/>
                      <a:pt x="576" y="624"/>
                    </a:cubicBezTo>
                    <a:cubicBezTo>
                      <a:pt x="592" y="624"/>
                      <a:pt x="608" y="576"/>
                      <a:pt x="624" y="576"/>
                    </a:cubicBezTo>
                    <a:cubicBezTo>
                      <a:pt x="640" y="576"/>
                      <a:pt x="656" y="624"/>
                      <a:pt x="672" y="624"/>
                    </a:cubicBezTo>
                    <a:cubicBezTo>
                      <a:pt x="688" y="624"/>
                      <a:pt x="704" y="576"/>
                      <a:pt x="720" y="576"/>
                    </a:cubicBezTo>
                    <a:cubicBezTo>
                      <a:pt x="736" y="576"/>
                      <a:pt x="752" y="664"/>
                      <a:pt x="768" y="624"/>
                    </a:cubicBezTo>
                    <a:cubicBezTo>
                      <a:pt x="784" y="584"/>
                      <a:pt x="800" y="432"/>
                      <a:pt x="816" y="336"/>
                    </a:cubicBezTo>
                    <a:cubicBezTo>
                      <a:pt x="832" y="240"/>
                      <a:pt x="848" y="88"/>
                      <a:pt x="864" y="48"/>
                    </a:cubicBezTo>
                    <a:cubicBezTo>
                      <a:pt x="880" y="8"/>
                      <a:pt x="896" y="96"/>
                      <a:pt x="912" y="96"/>
                    </a:cubicBezTo>
                    <a:cubicBezTo>
                      <a:pt x="928" y="96"/>
                      <a:pt x="944" y="48"/>
                      <a:pt x="960" y="48"/>
                    </a:cubicBezTo>
                    <a:cubicBezTo>
                      <a:pt x="976" y="48"/>
                      <a:pt x="992" y="96"/>
                      <a:pt x="1008" y="96"/>
                    </a:cubicBezTo>
                    <a:cubicBezTo>
                      <a:pt x="1024" y="96"/>
                      <a:pt x="1040" y="48"/>
                      <a:pt x="1056" y="48"/>
                    </a:cubicBezTo>
                    <a:cubicBezTo>
                      <a:pt x="1072" y="48"/>
                      <a:pt x="1088" y="96"/>
                      <a:pt x="1104" y="96"/>
                    </a:cubicBezTo>
                    <a:cubicBezTo>
                      <a:pt x="1120" y="96"/>
                      <a:pt x="1136" y="48"/>
                      <a:pt x="1152" y="48"/>
                    </a:cubicBezTo>
                    <a:cubicBezTo>
                      <a:pt x="1168" y="48"/>
                      <a:pt x="1184" y="96"/>
                      <a:pt x="1200" y="96"/>
                    </a:cubicBezTo>
                    <a:cubicBezTo>
                      <a:pt x="1216" y="96"/>
                      <a:pt x="1224" y="0"/>
                      <a:pt x="1248" y="48"/>
                    </a:cubicBezTo>
                    <a:cubicBezTo>
                      <a:pt x="1272" y="96"/>
                      <a:pt x="1320" y="288"/>
                      <a:pt x="1344" y="384"/>
                    </a:cubicBezTo>
                    <a:cubicBezTo>
                      <a:pt x="1368" y="480"/>
                      <a:pt x="1376" y="592"/>
                      <a:pt x="1392" y="624"/>
                    </a:cubicBezTo>
                    <a:cubicBezTo>
                      <a:pt x="1408" y="656"/>
                      <a:pt x="1424" y="576"/>
                      <a:pt x="1440" y="576"/>
                    </a:cubicBezTo>
                    <a:cubicBezTo>
                      <a:pt x="1456" y="576"/>
                      <a:pt x="1472" y="624"/>
                      <a:pt x="1488" y="624"/>
                    </a:cubicBezTo>
                    <a:cubicBezTo>
                      <a:pt x="1504" y="624"/>
                      <a:pt x="1696" y="568"/>
                      <a:pt x="1536" y="576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3" name="未知"/>
              <p:cNvSpPr/>
              <p:nvPr/>
            </p:nvSpPr>
            <p:spPr>
              <a:xfrm>
                <a:off x="288" y="144"/>
                <a:ext cx="624" cy="672"/>
              </a:xfrm>
              <a:custGeom>
                <a:avLst/>
                <a:gdLst/>
                <a:ahLst/>
                <a:cxnLst/>
                <a:rect l="0" t="0" r="0" b="0"/>
                <a:pathLst>
                  <a:path w="904" h="888">
                    <a:moveTo>
                      <a:pt x="904" y="208"/>
                    </a:moveTo>
                    <a:cubicBezTo>
                      <a:pt x="888" y="452"/>
                      <a:pt x="872" y="696"/>
                      <a:pt x="856" y="784"/>
                    </a:cubicBezTo>
                    <a:cubicBezTo>
                      <a:pt x="840" y="872"/>
                      <a:pt x="824" y="736"/>
                      <a:pt x="808" y="736"/>
                    </a:cubicBezTo>
                    <a:cubicBezTo>
                      <a:pt x="792" y="736"/>
                      <a:pt x="776" y="784"/>
                      <a:pt x="760" y="784"/>
                    </a:cubicBezTo>
                    <a:cubicBezTo>
                      <a:pt x="744" y="784"/>
                      <a:pt x="728" y="736"/>
                      <a:pt x="712" y="736"/>
                    </a:cubicBezTo>
                    <a:cubicBezTo>
                      <a:pt x="696" y="736"/>
                      <a:pt x="680" y="784"/>
                      <a:pt x="664" y="784"/>
                    </a:cubicBezTo>
                    <a:cubicBezTo>
                      <a:pt x="648" y="784"/>
                      <a:pt x="632" y="736"/>
                      <a:pt x="616" y="736"/>
                    </a:cubicBezTo>
                    <a:cubicBezTo>
                      <a:pt x="600" y="736"/>
                      <a:pt x="584" y="784"/>
                      <a:pt x="568" y="784"/>
                    </a:cubicBezTo>
                    <a:cubicBezTo>
                      <a:pt x="552" y="784"/>
                      <a:pt x="536" y="736"/>
                      <a:pt x="520" y="736"/>
                    </a:cubicBezTo>
                    <a:cubicBezTo>
                      <a:pt x="504" y="736"/>
                      <a:pt x="496" y="888"/>
                      <a:pt x="472" y="784"/>
                    </a:cubicBezTo>
                    <a:cubicBezTo>
                      <a:pt x="448" y="680"/>
                      <a:pt x="400" y="224"/>
                      <a:pt x="376" y="112"/>
                    </a:cubicBezTo>
                    <a:cubicBezTo>
                      <a:pt x="352" y="0"/>
                      <a:pt x="344" y="120"/>
                      <a:pt x="328" y="112"/>
                    </a:cubicBezTo>
                    <a:cubicBezTo>
                      <a:pt x="312" y="104"/>
                      <a:pt x="296" y="64"/>
                      <a:pt x="280" y="64"/>
                    </a:cubicBezTo>
                    <a:cubicBezTo>
                      <a:pt x="264" y="64"/>
                      <a:pt x="248" y="112"/>
                      <a:pt x="232" y="112"/>
                    </a:cubicBezTo>
                    <a:cubicBezTo>
                      <a:pt x="216" y="112"/>
                      <a:pt x="200" y="64"/>
                      <a:pt x="184" y="64"/>
                    </a:cubicBezTo>
                    <a:cubicBezTo>
                      <a:pt x="168" y="64"/>
                      <a:pt x="152" y="112"/>
                      <a:pt x="136" y="112"/>
                    </a:cubicBezTo>
                    <a:cubicBezTo>
                      <a:pt x="120" y="112"/>
                      <a:pt x="104" y="64"/>
                      <a:pt x="88" y="64"/>
                    </a:cubicBezTo>
                    <a:cubicBezTo>
                      <a:pt x="72" y="64"/>
                      <a:pt x="0" y="56"/>
                      <a:pt x="40" y="112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904" name="未知"/>
              <p:cNvSpPr/>
              <p:nvPr/>
            </p:nvSpPr>
            <p:spPr>
              <a:xfrm>
                <a:off x="901" y="192"/>
                <a:ext cx="59" cy="151"/>
              </a:xfrm>
              <a:custGeom>
                <a:avLst/>
                <a:gdLst/>
                <a:ahLst/>
                <a:cxnLst/>
                <a:rect l="0" t="0" r="0" b="0"/>
                <a:pathLst>
                  <a:path w="48" h="96">
                    <a:moveTo>
                      <a:pt x="0" y="96"/>
                    </a:moveTo>
                    <a:cubicBezTo>
                      <a:pt x="0" y="96"/>
                      <a:pt x="24" y="48"/>
                      <a:pt x="48" y="0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905" name="文本框 36905"/>
            <p:cNvSpPr txBox="1"/>
            <p:nvPr/>
          </p:nvSpPr>
          <p:spPr>
            <a:xfrm>
              <a:off x="768" y="816"/>
              <a:ext cx="864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ahoma" pitchFamily="2" charset="0"/>
                  <a:ea typeface="黑体" pitchFamily="2" charset="-122"/>
                </a:rPr>
                <a:t>输入波形</a:t>
              </a:r>
            </a:p>
          </p:txBody>
        </p:sp>
      </p:grpSp>
      <p:grpSp>
        <p:nvGrpSpPr>
          <p:cNvPr id="36907" name="组合 36906"/>
          <p:cNvGrpSpPr/>
          <p:nvPr/>
        </p:nvGrpSpPr>
        <p:grpSpPr>
          <a:xfrm>
            <a:off x="6167755" y="1722755"/>
            <a:ext cx="1473200" cy="1281113"/>
            <a:chOff x="0" y="0"/>
            <a:chExt cx="768" cy="807"/>
          </a:xfrm>
        </p:grpSpPr>
        <p:sp>
          <p:nvSpPr>
            <p:cNvPr id="5" name="右箭头 36907"/>
            <p:cNvSpPr/>
            <p:nvPr/>
          </p:nvSpPr>
          <p:spPr>
            <a:xfrm>
              <a:off x="96" y="0"/>
              <a:ext cx="384" cy="432"/>
            </a:xfrm>
            <a:prstGeom prst="righ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908" name="文本框 36908"/>
            <p:cNvSpPr txBox="1"/>
            <p:nvPr/>
          </p:nvSpPr>
          <p:spPr>
            <a:xfrm>
              <a:off x="0" y="576"/>
              <a:ext cx="768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b="1" dirty="0">
                  <a:solidFill>
                    <a:srgbClr val="FF0000"/>
                  </a:solidFill>
                  <a:latin typeface="Tahoma" pitchFamily="2" charset="0"/>
                  <a:ea typeface="黑体" pitchFamily="2" charset="-122"/>
                </a:rPr>
                <a:t>DFT</a:t>
              </a:r>
              <a:r>
                <a:rPr lang="zh-CN" altLang="en-US" b="1" dirty="0">
                  <a:solidFill>
                    <a:srgbClr val="FF0000"/>
                  </a:solidFill>
                  <a:latin typeface="Tahoma" pitchFamily="2" charset="0"/>
                  <a:ea typeface="黑体" pitchFamily="2" charset="-122"/>
                </a:rPr>
                <a:t>变换</a:t>
              </a:r>
            </a:p>
          </p:txBody>
        </p:sp>
      </p:grpSp>
      <p:grpSp>
        <p:nvGrpSpPr>
          <p:cNvPr id="36910" name="组合 36909"/>
          <p:cNvGrpSpPr/>
          <p:nvPr/>
        </p:nvGrpSpPr>
        <p:grpSpPr>
          <a:xfrm>
            <a:off x="8305800" y="3124200"/>
            <a:ext cx="2209800" cy="639763"/>
            <a:chOff x="0" y="0"/>
            <a:chExt cx="1152" cy="403"/>
          </a:xfrm>
        </p:grpSpPr>
        <p:sp>
          <p:nvSpPr>
            <p:cNvPr id="6" name="下箭头 36910"/>
            <p:cNvSpPr/>
            <p:nvPr/>
          </p:nvSpPr>
          <p:spPr>
            <a:xfrm>
              <a:off x="0" y="48"/>
              <a:ext cx="384" cy="336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911" name="文本框 36911"/>
            <p:cNvSpPr txBox="1"/>
            <p:nvPr/>
          </p:nvSpPr>
          <p:spPr>
            <a:xfrm>
              <a:off x="480" y="0"/>
              <a:ext cx="672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ahoma" pitchFamily="2" charset="0"/>
                  <a:ea typeface="黑体" pitchFamily="2" charset="-122"/>
                </a:rPr>
                <a:t>忽略相位信息</a:t>
              </a:r>
            </a:p>
          </p:txBody>
        </p:sp>
      </p:grpSp>
      <p:grpSp>
        <p:nvGrpSpPr>
          <p:cNvPr id="36913" name="组合 36912"/>
          <p:cNvGrpSpPr/>
          <p:nvPr/>
        </p:nvGrpSpPr>
        <p:grpSpPr>
          <a:xfrm>
            <a:off x="6248400" y="3962400"/>
            <a:ext cx="1565275" cy="1585913"/>
            <a:chOff x="0" y="0"/>
            <a:chExt cx="816" cy="999"/>
          </a:xfrm>
        </p:grpSpPr>
        <p:sp>
          <p:nvSpPr>
            <p:cNvPr id="7" name="左箭头 36913"/>
            <p:cNvSpPr/>
            <p:nvPr/>
          </p:nvSpPr>
          <p:spPr>
            <a:xfrm>
              <a:off x="48" y="0"/>
              <a:ext cx="384" cy="384"/>
            </a:xfrm>
            <a:prstGeom prst="leftArrow">
              <a:avLst>
                <a:gd name="adj1" fmla="val 50000"/>
                <a:gd name="adj2" fmla="val 25000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914" name="文本框 36914"/>
            <p:cNvSpPr txBox="1"/>
            <p:nvPr/>
          </p:nvSpPr>
          <p:spPr>
            <a:xfrm>
              <a:off x="0" y="768"/>
              <a:ext cx="81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b="1" dirty="0">
                  <a:solidFill>
                    <a:srgbClr val="FF0000"/>
                  </a:solidFill>
                  <a:latin typeface="Tahoma" pitchFamily="2" charset="0"/>
                  <a:ea typeface="黑体" pitchFamily="2" charset="-122"/>
                </a:rPr>
                <a:t>IDFT</a:t>
              </a:r>
              <a:r>
                <a:rPr lang="zh-CN" altLang="en-US" b="1" dirty="0">
                  <a:solidFill>
                    <a:srgbClr val="FF0000"/>
                  </a:solidFill>
                  <a:latin typeface="Tahoma" pitchFamily="2" charset="0"/>
                  <a:ea typeface="黑体" pitchFamily="2" charset="-122"/>
                </a:rPr>
                <a:t>变换</a:t>
              </a:r>
            </a:p>
          </p:txBody>
        </p:sp>
      </p:grpSp>
      <p:grpSp>
        <p:nvGrpSpPr>
          <p:cNvPr id="36916" name="组合 36915"/>
          <p:cNvGrpSpPr/>
          <p:nvPr/>
        </p:nvGrpSpPr>
        <p:grpSpPr>
          <a:xfrm>
            <a:off x="1876425" y="3886200"/>
            <a:ext cx="4524375" cy="1838325"/>
            <a:chOff x="0" y="0"/>
            <a:chExt cx="2359" cy="1158"/>
          </a:xfrm>
        </p:grpSpPr>
        <p:sp>
          <p:nvSpPr>
            <p:cNvPr id="8" name="直接连接符 36916"/>
            <p:cNvSpPr/>
            <p:nvPr/>
          </p:nvSpPr>
          <p:spPr>
            <a:xfrm>
              <a:off x="7" y="448"/>
              <a:ext cx="235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917" name="直接连接符 36917"/>
            <p:cNvSpPr/>
            <p:nvPr/>
          </p:nvSpPr>
          <p:spPr>
            <a:xfrm>
              <a:off x="1089" y="0"/>
              <a:ext cx="0" cy="86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6918" name="未知"/>
            <p:cNvSpPr/>
            <p:nvPr/>
          </p:nvSpPr>
          <p:spPr>
            <a:xfrm>
              <a:off x="862" y="0"/>
              <a:ext cx="480" cy="480"/>
            </a:xfrm>
            <a:custGeom>
              <a:avLst/>
              <a:gdLst/>
              <a:ahLst/>
              <a:cxnLst/>
              <a:rect l="0" t="0" r="0" b="0"/>
              <a:pathLst>
                <a:path w="872" h="488">
                  <a:moveTo>
                    <a:pt x="0" y="440"/>
                  </a:moveTo>
                  <a:cubicBezTo>
                    <a:pt x="16" y="444"/>
                    <a:pt x="32" y="448"/>
                    <a:pt x="48" y="440"/>
                  </a:cubicBezTo>
                  <a:cubicBezTo>
                    <a:pt x="64" y="432"/>
                    <a:pt x="80" y="408"/>
                    <a:pt x="96" y="392"/>
                  </a:cubicBezTo>
                  <a:cubicBezTo>
                    <a:pt x="112" y="376"/>
                    <a:pt x="120" y="360"/>
                    <a:pt x="144" y="344"/>
                  </a:cubicBezTo>
                  <a:cubicBezTo>
                    <a:pt x="168" y="328"/>
                    <a:pt x="208" y="320"/>
                    <a:pt x="240" y="296"/>
                  </a:cubicBezTo>
                  <a:cubicBezTo>
                    <a:pt x="272" y="272"/>
                    <a:pt x="304" y="248"/>
                    <a:pt x="336" y="200"/>
                  </a:cubicBezTo>
                  <a:cubicBezTo>
                    <a:pt x="368" y="152"/>
                    <a:pt x="400" y="0"/>
                    <a:pt x="432" y="8"/>
                  </a:cubicBezTo>
                  <a:cubicBezTo>
                    <a:pt x="464" y="16"/>
                    <a:pt x="488" y="192"/>
                    <a:pt x="528" y="248"/>
                  </a:cubicBezTo>
                  <a:cubicBezTo>
                    <a:pt x="568" y="304"/>
                    <a:pt x="640" y="320"/>
                    <a:pt x="672" y="344"/>
                  </a:cubicBezTo>
                  <a:cubicBezTo>
                    <a:pt x="704" y="368"/>
                    <a:pt x="688" y="368"/>
                    <a:pt x="720" y="392"/>
                  </a:cubicBezTo>
                  <a:cubicBezTo>
                    <a:pt x="752" y="416"/>
                    <a:pt x="872" y="480"/>
                    <a:pt x="864" y="488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9" name="未知"/>
            <p:cNvSpPr/>
            <p:nvPr/>
          </p:nvSpPr>
          <p:spPr>
            <a:xfrm>
              <a:off x="454" y="454"/>
              <a:ext cx="408" cy="480"/>
            </a:xfrm>
            <a:custGeom>
              <a:avLst/>
              <a:gdLst/>
              <a:ahLst/>
              <a:cxnLst/>
              <a:rect l="0" t="0" r="0" b="0"/>
              <a:pathLst>
                <a:path w="912" h="480">
                  <a:moveTo>
                    <a:pt x="912" y="0"/>
                  </a:moveTo>
                  <a:cubicBezTo>
                    <a:pt x="860" y="12"/>
                    <a:pt x="808" y="24"/>
                    <a:pt x="768" y="48"/>
                  </a:cubicBezTo>
                  <a:cubicBezTo>
                    <a:pt x="728" y="72"/>
                    <a:pt x="712" y="120"/>
                    <a:pt x="672" y="144"/>
                  </a:cubicBezTo>
                  <a:cubicBezTo>
                    <a:pt x="632" y="168"/>
                    <a:pt x="584" y="136"/>
                    <a:pt x="528" y="192"/>
                  </a:cubicBezTo>
                  <a:cubicBezTo>
                    <a:pt x="472" y="248"/>
                    <a:pt x="392" y="480"/>
                    <a:pt x="336" y="480"/>
                  </a:cubicBezTo>
                  <a:cubicBezTo>
                    <a:pt x="280" y="480"/>
                    <a:pt x="232" y="248"/>
                    <a:pt x="192" y="192"/>
                  </a:cubicBezTo>
                  <a:cubicBezTo>
                    <a:pt x="152" y="136"/>
                    <a:pt x="120" y="168"/>
                    <a:pt x="96" y="144"/>
                  </a:cubicBezTo>
                  <a:cubicBezTo>
                    <a:pt x="72" y="120"/>
                    <a:pt x="64" y="72"/>
                    <a:pt x="48" y="48"/>
                  </a:cubicBezTo>
                  <a:cubicBezTo>
                    <a:pt x="32" y="24"/>
                    <a:pt x="8" y="8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0" name="未知"/>
            <p:cNvSpPr/>
            <p:nvPr/>
          </p:nvSpPr>
          <p:spPr>
            <a:xfrm>
              <a:off x="1316" y="454"/>
              <a:ext cx="429" cy="480"/>
            </a:xfrm>
            <a:custGeom>
              <a:avLst/>
              <a:gdLst/>
              <a:ahLst/>
              <a:cxnLst/>
              <a:rect l="0" t="0" r="0" b="0"/>
              <a:pathLst>
                <a:path w="912" h="480">
                  <a:moveTo>
                    <a:pt x="912" y="0"/>
                  </a:moveTo>
                  <a:cubicBezTo>
                    <a:pt x="860" y="12"/>
                    <a:pt x="808" y="24"/>
                    <a:pt x="768" y="48"/>
                  </a:cubicBezTo>
                  <a:cubicBezTo>
                    <a:pt x="728" y="72"/>
                    <a:pt x="712" y="120"/>
                    <a:pt x="672" y="144"/>
                  </a:cubicBezTo>
                  <a:cubicBezTo>
                    <a:pt x="632" y="168"/>
                    <a:pt x="584" y="136"/>
                    <a:pt x="528" y="192"/>
                  </a:cubicBezTo>
                  <a:cubicBezTo>
                    <a:pt x="472" y="248"/>
                    <a:pt x="392" y="480"/>
                    <a:pt x="336" y="480"/>
                  </a:cubicBezTo>
                  <a:cubicBezTo>
                    <a:pt x="280" y="480"/>
                    <a:pt x="232" y="248"/>
                    <a:pt x="192" y="192"/>
                  </a:cubicBezTo>
                  <a:cubicBezTo>
                    <a:pt x="152" y="136"/>
                    <a:pt x="120" y="168"/>
                    <a:pt x="96" y="144"/>
                  </a:cubicBezTo>
                  <a:cubicBezTo>
                    <a:pt x="72" y="120"/>
                    <a:pt x="64" y="72"/>
                    <a:pt x="48" y="48"/>
                  </a:cubicBezTo>
                  <a:cubicBezTo>
                    <a:pt x="32" y="24"/>
                    <a:pt x="8" y="8"/>
                    <a:pt x="0" y="0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1" name="未知"/>
            <p:cNvSpPr/>
            <p:nvPr/>
          </p:nvSpPr>
          <p:spPr>
            <a:xfrm>
              <a:off x="1769" y="0"/>
              <a:ext cx="480" cy="480"/>
            </a:xfrm>
            <a:custGeom>
              <a:avLst/>
              <a:gdLst/>
              <a:ahLst/>
              <a:cxnLst/>
              <a:rect l="0" t="0" r="0" b="0"/>
              <a:pathLst>
                <a:path w="872" h="488">
                  <a:moveTo>
                    <a:pt x="0" y="440"/>
                  </a:moveTo>
                  <a:cubicBezTo>
                    <a:pt x="16" y="444"/>
                    <a:pt x="32" y="448"/>
                    <a:pt x="48" y="440"/>
                  </a:cubicBezTo>
                  <a:cubicBezTo>
                    <a:pt x="64" y="432"/>
                    <a:pt x="80" y="408"/>
                    <a:pt x="96" y="392"/>
                  </a:cubicBezTo>
                  <a:cubicBezTo>
                    <a:pt x="112" y="376"/>
                    <a:pt x="120" y="360"/>
                    <a:pt x="144" y="344"/>
                  </a:cubicBezTo>
                  <a:cubicBezTo>
                    <a:pt x="168" y="328"/>
                    <a:pt x="208" y="320"/>
                    <a:pt x="240" y="296"/>
                  </a:cubicBezTo>
                  <a:cubicBezTo>
                    <a:pt x="272" y="272"/>
                    <a:pt x="304" y="248"/>
                    <a:pt x="336" y="200"/>
                  </a:cubicBezTo>
                  <a:cubicBezTo>
                    <a:pt x="368" y="152"/>
                    <a:pt x="400" y="0"/>
                    <a:pt x="432" y="8"/>
                  </a:cubicBezTo>
                  <a:cubicBezTo>
                    <a:pt x="464" y="16"/>
                    <a:pt x="488" y="192"/>
                    <a:pt x="528" y="248"/>
                  </a:cubicBezTo>
                  <a:cubicBezTo>
                    <a:pt x="568" y="304"/>
                    <a:pt x="640" y="320"/>
                    <a:pt x="672" y="344"/>
                  </a:cubicBezTo>
                  <a:cubicBezTo>
                    <a:pt x="704" y="368"/>
                    <a:pt x="688" y="368"/>
                    <a:pt x="720" y="392"/>
                  </a:cubicBezTo>
                  <a:cubicBezTo>
                    <a:pt x="752" y="416"/>
                    <a:pt x="872" y="480"/>
                    <a:pt x="864" y="488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2" name="未知"/>
            <p:cNvSpPr/>
            <p:nvPr/>
          </p:nvSpPr>
          <p:spPr>
            <a:xfrm>
              <a:off x="0" y="0"/>
              <a:ext cx="480" cy="480"/>
            </a:xfrm>
            <a:custGeom>
              <a:avLst/>
              <a:gdLst/>
              <a:ahLst/>
              <a:cxnLst/>
              <a:rect l="0" t="0" r="0" b="0"/>
              <a:pathLst>
                <a:path w="872" h="488">
                  <a:moveTo>
                    <a:pt x="0" y="440"/>
                  </a:moveTo>
                  <a:cubicBezTo>
                    <a:pt x="16" y="444"/>
                    <a:pt x="32" y="448"/>
                    <a:pt x="48" y="440"/>
                  </a:cubicBezTo>
                  <a:cubicBezTo>
                    <a:pt x="64" y="432"/>
                    <a:pt x="80" y="408"/>
                    <a:pt x="96" y="392"/>
                  </a:cubicBezTo>
                  <a:cubicBezTo>
                    <a:pt x="112" y="376"/>
                    <a:pt x="120" y="360"/>
                    <a:pt x="144" y="344"/>
                  </a:cubicBezTo>
                  <a:cubicBezTo>
                    <a:pt x="168" y="328"/>
                    <a:pt x="208" y="320"/>
                    <a:pt x="240" y="296"/>
                  </a:cubicBezTo>
                  <a:cubicBezTo>
                    <a:pt x="272" y="272"/>
                    <a:pt x="304" y="248"/>
                    <a:pt x="336" y="200"/>
                  </a:cubicBezTo>
                  <a:cubicBezTo>
                    <a:pt x="368" y="152"/>
                    <a:pt x="400" y="0"/>
                    <a:pt x="432" y="8"/>
                  </a:cubicBezTo>
                  <a:cubicBezTo>
                    <a:pt x="464" y="16"/>
                    <a:pt x="488" y="192"/>
                    <a:pt x="528" y="248"/>
                  </a:cubicBezTo>
                  <a:cubicBezTo>
                    <a:pt x="568" y="304"/>
                    <a:pt x="640" y="320"/>
                    <a:pt x="672" y="344"/>
                  </a:cubicBezTo>
                  <a:cubicBezTo>
                    <a:pt x="704" y="368"/>
                    <a:pt x="688" y="368"/>
                    <a:pt x="720" y="392"/>
                  </a:cubicBezTo>
                  <a:cubicBezTo>
                    <a:pt x="752" y="416"/>
                    <a:pt x="872" y="480"/>
                    <a:pt x="864" y="488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23" name="文本框 36923"/>
            <p:cNvSpPr txBox="1"/>
            <p:nvPr/>
          </p:nvSpPr>
          <p:spPr>
            <a:xfrm>
              <a:off x="775" y="928"/>
              <a:ext cx="816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latin typeface="Tahoma" pitchFamily="2" charset="0"/>
                  <a:ea typeface="黑体" pitchFamily="2" charset="-122"/>
                </a:rPr>
                <a:t>输出波形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4864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内容占位符 35841"/>
          <p:cNvSpPr>
            <a:spLocks noGrp="1"/>
          </p:cNvSpPr>
          <p:nvPr>
            <p:ph idx="1"/>
          </p:nvPr>
        </p:nvSpPr>
        <p:spPr>
          <a:xfrm>
            <a:off x="1055370" y="260985"/>
            <a:ext cx="8153400" cy="609600"/>
          </a:xfrm>
        </p:spPr>
        <p:txBody>
          <a:bodyPr anchor="t"/>
          <a:lstStyle/>
          <a:p>
            <a:pPr>
              <a:lnSpc>
                <a:spcPct val="80000"/>
              </a:lnSpc>
              <a:buNone/>
            </a:pPr>
            <a:r>
              <a:rPr lang="en-US" altLang="zh-CN" sz="3200" b="1" dirty="0" smtClean="0">
                <a:latin typeface="Times New Roman" pitchFamily="18" charset="0"/>
                <a:ea typeface="Times New Roman" pitchFamily="18" charset="0"/>
              </a:rPr>
              <a:t>3</a:t>
            </a:r>
            <a:r>
              <a:rPr lang="zh-CN" altLang="en-US" sz="3200" b="1" dirty="0" smtClean="0">
                <a:latin typeface="Times New Roman" pitchFamily="18" charset="0"/>
                <a:ea typeface="Times New Roman" pitchFamily="18" charset="0"/>
              </a:rPr>
              <a:t>、</a:t>
            </a:r>
            <a:r>
              <a:rPr lang="zh-CN" altLang="en-US" sz="3200" b="1" dirty="0">
                <a:latin typeface="Times New Roman" pitchFamily="18" charset="0"/>
              </a:rPr>
              <a:t>The nonlinearity of system phase delay will cause the  signal distortion</a:t>
            </a:r>
            <a:endParaRPr lang="zh-CN" altLang="en-US" sz="3200" b="1" dirty="0">
              <a:latin typeface="Times New Roman" pitchFamily="18" charset="0"/>
              <a:ea typeface="Times New Roman" pitchFamily="18" charset="0"/>
            </a:endParaRPr>
          </a:p>
        </p:txBody>
      </p:sp>
      <p:grpSp>
        <p:nvGrpSpPr>
          <p:cNvPr id="35844" name="组合 35843"/>
          <p:cNvGrpSpPr/>
          <p:nvPr/>
        </p:nvGrpSpPr>
        <p:grpSpPr>
          <a:xfrm>
            <a:off x="6023992" y="2420452"/>
            <a:ext cx="2590800" cy="1920875"/>
            <a:chOff x="0" y="0"/>
            <a:chExt cx="1632" cy="1210"/>
          </a:xfrm>
        </p:grpSpPr>
        <p:sp>
          <p:nvSpPr>
            <p:cNvPr id="2" name="直接连接符 35844"/>
            <p:cNvSpPr/>
            <p:nvPr/>
          </p:nvSpPr>
          <p:spPr>
            <a:xfrm>
              <a:off x="240" y="0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45" name="直接连接符 35845"/>
            <p:cNvSpPr/>
            <p:nvPr/>
          </p:nvSpPr>
          <p:spPr>
            <a:xfrm>
              <a:off x="240" y="960"/>
              <a:ext cx="13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46" name="直接连接符 35846"/>
            <p:cNvSpPr/>
            <p:nvPr/>
          </p:nvSpPr>
          <p:spPr>
            <a:xfrm>
              <a:off x="240" y="480"/>
              <a:ext cx="1152" cy="0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47" name="直接连接符 35847"/>
            <p:cNvSpPr/>
            <p:nvPr/>
          </p:nvSpPr>
          <p:spPr>
            <a:xfrm flipV="1">
              <a:off x="624" y="480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48" name="直接连接符 35848"/>
            <p:cNvSpPr/>
            <p:nvPr/>
          </p:nvSpPr>
          <p:spPr>
            <a:xfrm flipV="1">
              <a:off x="1104" y="480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49" name="文本框 35849"/>
            <p:cNvSpPr txBox="1"/>
            <p:nvPr/>
          </p:nvSpPr>
          <p:spPr>
            <a:xfrm>
              <a:off x="576" y="960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f1        f2</a:t>
              </a:r>
            </a:p>
          </p:txBody>
        </p:sp>
        <p:sp>
          <p:nvSpPr>
            <p:cNvPr id="35850" name="文本框 35850"/>
            <p:cNvSpPr txBox="1"/>
            <p:nvPr/>
          </p:nvSpPr>
          <p:spPr>
            <a:xfrm>
              <a:off x="1392" y="960"/>
              <a:ext cx="19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f</a:t>
              </a:r>
            </a:p>
          </p:txBody>
        </p:sp>
        <p:sp>
          <p:nvSpPr>
            <p:cNvPr id="35851" name="文本框 35851"/>
            <p:cNvSpPr txBox="1"/>
            <p:nvPr/>
          </p:nvSpPr>
          <p:spPr>
            <a:xfrm>
              <a:off x="0" y="240"/>
              <a:ext cx="24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时延</a:t>
              </a:r>
            </a:p>
          </p:txBody>
        </p:sp>
      </p:grpSp>
      <p:grpSp>
        <p:nvGrpSpPr>
          <p:cNvPr id="35853" name="组合 35852"/>
          <p:cNvGrpSpPr/>
          <p:nvPr/>
        </p:nvGrpSpPr>
        <p:grpSpPr>
          <a:xfrm>
            <a:off x="6025897" y="4437112"/>
            <a:ext cx="2895600" cy="1935163"/>
            <a:chOff x="0" y="0"/>
            <a:chExt cx="1824" cy="1219"/>
          </a:xfrm>
        </p:grpSpPr>
        <p:sp>
          <p:nvSpPr>
            <p:cNvPr id="3" name="直接连接符 35853"/>
            <p:cNvSpPr/>
            <p:nvPr/>
          </p:nvSpPr>
          <p:spPr>
            <a:xfrm>
              <a:off x="240" y="0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54" name="直接连接符 35854"/>
            <p:cNvSpPr/>
            <p:nvPr/>
          </p:nvSpPr>
          <p:spPr>
            <a:xfrm>
              <a:off x="240" y="960"/>
              <a:ext cx="13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55" name="未知"/>
            <p:cNvSpPr/>
            <p:nvPr/>
          </p:nvSpPr>
          <p:spPr>
            <a:xfrm>
              <a:off x="240" y="336"/>
              <a:ext cx="1248" cy="720"/>
            </a:xfrm>
            <a:custGeom>
              <a:avLst/>
              <a:gdLst/>
              <a:ahLst/>
              <a:cxnLst/>
              <a:rect l="0" t="0" r="0" b="0"/>
              <a:pathLst>
                <a:path w="1248" h="720">
                  <a:moveTo>
                    <a:pt x="0" y="528"/>
                  </a:moveTo>
                  <a:cubicBezTo>
                    <a:pt x="92" y="520"/>
                    <a:pt x="184" y="512"/>
                    <a:pt x="288" y="432"/>
                  </a:cubicBezTo>
                  <a:cubicBezTo>
                    <a:pt x="392" y="352"/>
                    <a:pt x="464" y="0"/>
                    <a:pt x="624" y="48"/>
                  </a:cubicBezTo>
                  <a:cubicBezTo>
                    <a:pt x="784" y="96"/>
                    <a:pt x="1136" y="592"/>
                    <a:pt x="1248" y="720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56" name="直接连接符 35856"/>
            <p:cNvSpPr/>
            <p:nvPr/>
          </p:nvSpPr>
          <p:spPr>
            <a:xfrm flipV="1">
              <a:off x="624" y="624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57" name="直接连接符 35857"/>
            <p:cNvSpPr/>
            <p:nvPr/>
          </p:nvSpPr>
          <p:spPr>
            <a:xfrm flipV="1">
              <a:off x="1104" y="576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58" name="文本框 35858"/>
            <p:cNvSpPr txBox="1"/>
            <p:nvPr/>
          </p:nvSpPr>
          <p:spPr>
            <a:xfrm>
              <a:off x="576" y="969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f1        f2</a:t>
              </a:r>
            </a:p>
          </p:txBody>
        </p:sp>
        <p:sp>
          <p:nvSpPr>
            <p:cNvPr id="35859" name="文本框 35859"/>
            <p:cNvSpPr txBox="1"/>
            <p:nvPr/>
          </p:nvSpPr>
          <p:spPr>
            <a:xfrm>
              <a:off x="1632" y="921"/>
              <a:ext cx="19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f</a:t>
              </a:r>
            </a:p>
          </p:txBody>
        </p:sp>
        <p:sp>
          <p:nvSpPr>
            <p:cNvPr id="35860" name="矩形 35860"/>
            <p:cNvSpPr/>
            <p:nvPr/>
          </p:nvSpPr>
          <p:spPr>
            <a:xfrm>
              <a:off x="0" y="240"/>
              <a:ext cx="240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/>
              <a:r>
                <a:rPr lang="zh-CN" altLang="en-US" sz="2000" b="1" dirty="0">
                  <a:latin typeface="Times New Roman" pitchFamily="18" charset="0"/>
                  <a:ea typeface="宋体" charset="-122"/>
                </a:rPr>
                <a:t>时延</a:t>
              </a:r>
            </a:p>
          </p:txBody>
        </p:sp>
      </p:grpSp>
      <p:grpSp>
        <p:nvGrpSpPr>
          <p:cNvPr id="35862" name="组合 35861"/>
          <p:cNvGrpSpPr/>
          <p:nvPr/>
        </p:nvGrpSpPr>
        <p:grpSpPr>
          <a:xfrm>
            <a:off x="1342708" y="2492843"/>
            <a:ext cx="2895600" cy="1511300"/>
            <a:chOff x="0" y="0"/>
            <a:chExt cx="1872" cy="1210"/>
          </a:xfrm>
        </p:grpSpPr>
        <p:sp>
          <p:nvSpPr>
            <p:cNvPr id="4" name="直接连接符 35862"/>
            <p:cNvSpPr/>
            <p:nvPr/>
          </p:nvSpPr>
          <p:spPr>
            <a:xfrm>
              <a:off x="480" y="0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63" name="直接连接符 35863"/>
            <p:cNvSpPr/>
            <p:nvPr/>
          </p:nvSpPr>
          <p:spPr>
            <a:xfrm>
              <a:off x="480" y="960"/>
              <a:ext cx="13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64" name="直接连接符 35864"/>
            <p:cNvSpPr/>
            <p:nvPr/>
          </p:nvSpPr>
          <p:spPr>
            <a:xfrm flipV="1">
              <a:off x="480" y="192"/>
              <a:ext cx="1056" cy="768"/>
            </a:xfrm>
            <a:prstGeom prst="line">
              <a:avLst/>
            </a:prstGeom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65" name="直接连接符 35865"/>
            <p:cNvSpPr/>
            <p:nvPr/>
          </p:nvSpPr>
          <p:spPr>
            <a:xfrm>
              <a:off x="480" y="384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66" name="直接连接符 35866"/>
            <p:cNvSpPr/>
            <p:nvPr/>
          </p:nvSpPr>
          <p:spPr>
            <a:xfrm>
              <a:off x="1248" y="384"/>
              <a:ext cx="0" cy="57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67" name="直接连接符 35867"/>
            <p:cNvSpPr/>
            <p:nvPr/>
          </p:nvSpPr>
          <p:spPr>
            <a:xfrm>
              <a:off x="480" y="720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68" name="直接连接符 35868"/>
            <p:cNvSpPr/>
            <p:nvPr/>
          </p:nvSpPr>
          <p:spPr>
            <a:xfrm>
              <a:off x="816" y="72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69" name="文本框 35869"/>
            <p:cNvSpPr txBox="1"/>
            <p:nvPr/>
          </p:nvSpPr>
          <p:spPr>
            <a:xfrm>
              <a:off x="726" y="952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f1        f2</a:t>
              </a:r>
            </a:p>
          </p:txBody>
        </p:sp>
        <p:sp>
          <p:nvSpPr>
            <p:cNvPr id="35870" name="文本框 35870"/>
            <p:cNvSpPr txBox="1"/>
            <p:nvPr/>
          </p:nvSpPr>
          <p:spPr>
            <a:xfrm>
              <a:off x="1632" y="960"/>
              <a:ext cx="19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latin typeface="Times New Roman" pitchFamily="18" charset="0"/>
                  <a:ea typeface="宋体" charset="-122"/>
                </a:rPr>
                <a:t>f</a:t>
              </a:r>
            </a:p>
          </p:txBody>
        </p:sp>
        <p:sp>
          <p:nvSpPr>
            <p:cNvPr id="35871" name="文本框 35871"/>
            <p:cNvSpPr txBox="1"/>
            <p:nvPr/>
          </p:nvSpPr>
          <p:spPr>
            <a:xfrm>
              <a:off x="0" y="96"/>
              <a:ext cx="57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b="1" dirty="0">
                  <a:latin typeface="Times New Roman" pitchFamily="18" charset="0"/>
                  <a:ea typeface="宋体" charset="-122"/>
                  <a:sym typeface="Symbol" pitchFamily="2" charset="2"/>
                </a:rPr>
                <a:t>()</a:t>
              </a:r>
              <a:endParaRPr lang="zh-CN" altLang="en-US" b="1" dirty="0"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35873" name="组合 35872"/>
          <p:cNvGrpSpPr/>
          <p:nvPr/>
        </p:nvGrpSpPr>
        <p:grpSpPr>
          <a:xfrm>
            <a:off x="1271464" y="4725144"/>
            <a:ext cx="3248161" cy="1587818"/>
            <a:chOff x="0" y="0"/>
            <a:chExt cx="1872" cy="1219"/>
          </a:xfrm>
        </p:grpSpPr>
        <p:sp>
          <p:nvSpPr>
            <p:cNvPr id="5" name="直接连接符 35873"/>
            <p:cNvSpPr/>
            <p:nvPr/>
          </p:nvSpPr>
          <p:spPr>
            <a:xfrm>
              <a:off x="480" y="0"/>
              <a:ext cx="0" cy="96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triangle" w="med" len="lg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74" name="直接连接符 35874"/>
            <p:cNvSpPr/>
            <p:nvPr/>
          </p:nvSpPr>
          <p:spPr>
            <a:xfrm>
              <a:off x="480" y="960"/>
              <a:ext cx="139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75" name="未知"/>
            <p:cNvSpPr/>
            <p:nvPr/>
          </p:nvSpPr>
          <p:spPr>
            <a:xfrm>
              <a:off x="480" y="192"/>
              <a:ext cx="1200" cy="768"/>
            </a:xfrm>
            <a:custGeom>
              <a:avLst/>
              <a:gdLst/>
              <a:ahLst/>
              <a:cxnLst/>
              <a:rect l="0" t="0" r="0" b="0"/>
              <a:pathLst>
                <a:path w="1440" h="776">
                  <a:moveTo>
                    <a:pt x="0" y="776"/>
                  </a:moveTo>
                  <a:cubicBezTo>
                    <a:pt x="136" y="760"/>
                    <a:pt x="272" y="744"/>
                    <a:pt x="432" y="632"/>
                  </a:cubicBezTo>
                  <a:cubicBezTo>
                    <a:pt x="592" y="520"/>
                    <a:pt x="824" y="208"/>
                    <a:pt x="960" y="104"/>
                  </a:cubicBezTo>
                  <a:cubicBezTo>
                    <a:pt x="1096" y="0"/>
                    <a:pt x="1168" y="8"/>
                    <a:pt x="1248" y="8"/>
                  </a:cubicBezTo>
                  <a:cubicBezTo>
                    <a:pt x="1328" y="8"/>
                    <a:pt x="1384" y="56"/>
                    <a:pt x="1440" y="104"/>
                  </a:cubicBezTo>
                </a:path>
              </a:pathLst>
            </a:custGeom>
            <a:noFill/>
            <a:ln w="38100" cap="flat" cmpd="sng">
              <a:solidFill>
                <a:srgbClr val="FF0066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6" name="直接连接符 35876"/>
            <p:cNvSpPr/>
            <p:nvPr/>
          </p:nvSpPr>
          <p:spPr>
            <a:xfrm>
              <a:off x="480" y="288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77" name="直接连接符 35877"/>
            <p:cNvSpPr/>
            <p:nvPr/>
          </p:nvSpPr>
          <p:spPr>
            <a:xfrm>
              <a:off x="1248" y="288"/>
              <a:ext cx="0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78" name="直接连接符 35878"/>
            <p:cNvSpPr/>
            <p:nvPr/>
          </p:nvSpPr>
          <p:spPr>
            <a:xfrm>
              <a:off x="480" y="81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79" name="直接连接符 35879"/>
            <p:cNvSpPr/>
            <p:nvPr/>
          </p:nvSpPr>
          <p:spPr>
            <a:xfrm>
              <a:off x="816" y="81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Dot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35880" name="文本框 35880"/>
            <p:cNvSpPr txBox="1"/>
            <p:nvPr/>
          </p:nvSpPr>
          <p:spPr>
            <a:xfrm>
              <a:off x="720" y="969"/>
              <a:ext cx="72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f1        f2</a:t>
              </a:r>
            </a:p>
          </p:txBody>
        </p:sp>
        <p:sp>
          <p:nvSpPr>
            <p:cNvPr id="35881" name="文本框 35881"/>
            <p:cNvSpPr txBox="1"/>
            <p:nvPr/>
          </p:nvSpPr>
          <p:spPr>
            <a:xfrm>
              <a:off x="1632" y="960"/>
              <a:ext cx="19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20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f</a:t>
              </a:r>
            </a:p>
          </p:txBody>
        </p:sp>
        <p:sp>
          <p:nvSpPr>
            <p:cNvPr id="35882" name="文本框 35882"/>
            <p:cNvSpPr txBox="1"/>
            <p:nvPr/>
          </p:nvSpPr>
          <p:spPr>
            <a:xfrm>
              <a:off x="0" y="144"/>
              <a:ext cx="576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zh-CN" altLang="en-US" b="1" dirty="0">
                  <a:latin typeface="Times New Roman" pitchFamily="18" charset="0"/>
                  <a:ea typeface="宋体" charset="-122"/>
                  <a:sym typeface="Symbol" pitchFamily="2" charset="2"/>
                </a:rPr>
                <a:t>()</a:t>
              </a:r>
              <a:endParaRPr lang="zh-CN" altLang="en-US" b="1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35884" name="矩形 35883"/>
          <p:cNvSpPr/>
          <p:nvPr/>
        </p:nvSpPr>
        <p:spPr>
          <a:xfrm>
            <a:off x="191344" y="1214343"/>
            <a:ext cx="11449272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FF3300"/>
                </a:solidFill>
                <a:latin typeface="Times New Roman" pitchFamily="18" charset="0"/>
                <a:ea typeface="黑体" pitchFamily="2" charset="-122"/>
              </a:rPr>
              <a:t>Time delay of signal </a:t>
            </a:r>
            <a:r>
              <a:rPr lang="zh-CN" altLang="en-US" sz="3200" b="1" dirty="0" smtClean="0">
                <a:solidFill>
                  <a:srgbClr val="FF3300"/>
                </a:solidFill>
                <a:latin typeface="Times New Roman" pitchFamily="18" charset="0"/>
                <a:ea typeface="黑体" pitchFamily="2" charset="-122"/>
              </a:rPr>
              <a:t>depend</a:t>
            </a:r>
            <a:r>
              <a:rPr lang="en-US" altLang="zh-CN" sz="3200" b="1" dirty="0" smtClean="0">
                <a:solidFill>
                  <a:srgbClr val="FF3300"/>
                </a:solidFill>
                <a:latin typeface="Times New Roman" pitchFamily="18" charset="0"/>
                <a:ea typeface="黑体" pitchFamily="2" charset="-122"/>
              </a:rPr>
              <a:t>s</a:t>
            </a:r>
            <a:r>
              <a:rPr lang="zh-CN" altLang="en-US" sz="3200" b="1" dirty="0" smtClean="0">
                <a:solidFill>
                  <a:srgbClr val="FF3300"/>
                </a:solidFill>
                <a:latin typeface="Times New Roman" pitchFamily="18" charset="0"/>
                <a:ea typeface="黑体" pitchFamily="2" charset="-122"/>
              </a:rPr>
              <a:t> </a:t>
            </a:r>
            <a:r>
              <a:rPr lang="zh-CN" altLang="en-US" sz="3200" b="1" dirty="0">
                <a:solidFill>
                  <a:srgbClr val="FF3300"/>
                </a:solidFill>
                <a:latin typeface="Times New Roman" pitchFamily="18" charset="0"/>
                <a:ea typeface="黑体" pitchFamily="2" charset="-122"/>
              </a:rPr>
              <a:t>on </a:t>
            </a:r>
            <a:r>
              <a:rPr lang="zh-CN" altLang="en-US" sz="3200" b="1" dirty="0" smtClean="0">
                <a:solidFill>
                  <a:srgbClr val="FF3300"/>
                </a:solidFill>
                <a:latin typeface="Times New Roman" pitchFamily="18" charset="0"/>
                <a:ea typeface="黑体" pitchFamily="2" charset="-122"/>
              </a:rPr>
              <a:t>system phase characteristic</a:t>
            </a:r>
            <a:endParaRPr lang="zh-CN" altLang="en-US" sz="3200" b="1" dirty="0">
              <a:solidFill>
                <a:srgbClr val="FF3300"/>
              </a:solidFill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46" name="内容占位符 37889"/>
          <p:cNvSpPr txBox="1">
            <a:spLocks/>
          </p:cNvSpPr>
          <p:nvPr/>
        </p:nvSpPr>
        <p:spPr bwMode="auto">
          <a:xfrm>
            <a:off x="250776" y="1988840"/>
            <a:ext cx="2463532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zh-CN" altLang="en-US" dirty="0" smtClean="0">
                <a:latin typeface="Times New Roman" pitchFamily="18" charset="0"/>
                <a:ea typeface="Times New Roman" pitchFamily="18" charset="0"/>
              </a:rPr>
              <a:t>linear phas</a:t>
            </a:r>
            <a:r>
              <a:rPr lang="en-US" altLang="zh-CN" dirty="0" smtClean="0">
                <a:latin typeface="Times New Roman" pitchFamily="18" charset="0"/>
                <a:ea typeface="Times New Roman" pitchFamily="18" charset="0"/>
              </a:rPr>
              <a:t>e</a:t>
            </a:r>
            <a:endParaRPr lang="zh-CN" altLang="en-US" dirty="0">
              <a:latin typeface="Times New Roman" pitchFamily="18" charset="0"/>
              <a:ea typeface="Times New Roman" pitchFamily="18" charset="0"/>
            </a:endParaRPr>
          </a:p>
        </p:txBody>
      </p:sp>
      <p:graphicFrame>
        <p:nvGraphicFramePr>
          <p:cNvPr id="47" name="对象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91205"/>
              </p:ext>
            </p:extLst>
          </p:nvPr>
        </p:nvGraphicFramePr>
        <p:xfrm>
          <a:off x="8202042" y="2676525"/>
          <a:ext cx="317976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7" name="Equation" r:id="rId3" imgW="1854000" imgH="393480" progId="Equation.DSMT4">
                  <p:embed/>
                </p:oleObj>
              </mc:Choice>
              <mc:Fallback>
                <p:oleObj name="Equation" r:id="rId3" imgW="18540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2042" y="2676525"/>
                        <a:ext cx="3179763" cy="674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内容占位符 37889"/>
          <p:cNvSpPr txBox="1">
            <a:spLocks/>
          </p:cNvSpPr>
          <p:nvPr/>
        </p:nvSpPr>
        <p:spPr bwMode="auto">
          <a:xfrm>
            <a:off x="215476" y="4162733"/>
            <a:ext cx="4124334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en-US" altLang="zh-CN" dirty="0" smtClean="0">
                <a:latin typeface="Times New Roman" pitchFamily="18" charset="0"/>
                <a:ea typeface="Times New Roman" pitchFamily="18" charset="0"/>
              </a:rPr>
              <a:t>Non</a:t>
            </a:r>
            <a:r>
              <a:rPr lang="zh-CN" altLang="en-US" dirty="0" smtClean="0">
                <a:latin typeface="Times New Roman" pitchFamily="18" charset="0"/>
                <a:ea typeface="Times New Roman" pitchFamily="18" charset="0"/>
              </a:rPr>
              <a:t>linear phas</a:t>
            </a:r>
            <a:r>
              <a:rPr lang="en-US" altLang="zh-CN" dirty="0" smtClean="0">
                <a:latin typeface="Times New Roman" pitchFamily="18" charset="0"/>
                <a:ea typeface="Times New Roman" pitchFamily="18" charset="0"/>
              </a:rPr>
              <a:t>e</a:t>
            </a:r>
            <a:endParaRPr lang="zh-CN" altLang="en-US" dirty="0">
              <a:latin typeface="Times New Roman" pitchFamily="18" charset="0"/>
              <a:ea typeface="Times New Roman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443472"/>
              </p:ext>
            </p:extLst>
          </p:nvPr>
        </p:nvGraphicFramePr>
        <p:xfrm>
          <a:off x="8048055" y="4913313"/>
          <a:ext cx="3181350" cy="67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58" name="Equation" r:id="rId5" imgW="1854000" imgH="393480" progId="Equation.DSMT4">
                  <p:embed/>
                </p:oleObj>
              </mc:Choice>
              <mc:Fallback>
                <p:oleObj name="Equation" r:id="rId5" imgW="1854000" imgH="393480" progId="Equation.DSMT4">
                  <p:embed/>
                  <p:pic>
                    <p:nvPicPr>
                      <p:cNvPr id="0" name="对象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48055" y="4913313"/>
                        <a:ext cx="3181350" cy="674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 build="p"/>
      <p:bldP spid="35884" grpId="0"/>
      <p:bldP spid="46" grpId="0" build="p"/>
      <p:bldP spid="48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38913"/>
          <p:cNvSpPr>
            <a:spLocks noGrp="1"/>
          </p:cNvSpPr>
          <p:nvPr>
            <p:ph type="title"/>
          </p:nvPr>
        </p:nvSpPr>
        <p:spPr>
          <a:xfrm>
            <a:off x="911225" y="-27305"/>
            <a:ext cx="8725535" cy="1143000"/>
          </a:xfrm>
        </p:spPr>
        <p:txBody>
          <a:bodyPr anchor="ctr"/>
          <a:lstStyle/>
          <a:p>
            <a:r>
              <a:rPr lang="zh-CN" altLang="en-US" b="1" i="1" dirty="0">
                <a:latin typeface="Times New Roman" pitchFamily="18" charset="0"/>
              </a:rPr>
              <a:t>7.2 </a:t>
            </a:r>
            <a:r>
              <a:rPr lang="en-US" altLang="x-none" b="1" i="1" dirty="0">
                <a:latin typeface="Times New Roman" pitchFamily="18" charset="0"/>
              </a:rPr>
              <a:t>Transfer Function Classification Based on Phase Characteristic </a:t>
            </a:r>
          </a:p>
        </p:txBody>
      </p:sp>
      <p:sp>
        <p:nvSpPr>
          <p:cNvPr id="38915" name="内容占位符 38914"/>
          <p:cNvSpPr>
            <a:spLocks noGrp="1"/>
          </p:cNvSpPr>
          <p:nvPr>
            <p:ph idx="1"/>
          </p:nvPr>
        </p:nvSpPr>
        <p:spPr>
          <a:xfrm>
            <a:off x="1055053" y="1196975"/>
            <a:ext cx="7772400" cy="42672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Zero-Phase Transfer Function</a:t>
            </a:r>
          </a:p>
          <a:p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>
                <a:latin typeface="Times New Roman" pitchFamily="18" charset="0"/>
              </a:rPr>
              <a:t>Linear-Phase Transfer Function</a:t>
            </a:r>
          </a:p>
          <a:p>
            <a:endParaRPr lang="en-US" altLang="x-none" sz="3200" b="1" dirty="0">
              <a:latin typeface="Times New Roman" pitchFamily="18" charset="0"/>
            </a:endParaRPr>
          </a:p>
          <a:p>
            <a:r>
              <a:rPr lang="en-US" altLang="x-none" sz="3200" b="1" dirty="0">
                <a:latin typeface="Times New Roman" pitchFamily="18" charset="0"/>
              </a:rPr>
              <a:t>Minimum-Phase and Maximum-Phase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39937"/>
          <p:cNvSpPr>
            <a:spLocks noGrp="1"/>
          </p:cNvSpPr>
          <p:nvPr>
            <p:ph type="title"/>
          </p:nvPr>
        </p:nvSpPr>
        <p:spPr>
          <a:xfrm>
            <a:off x="767080" y="189230"/>
            <a:ext cx="7954963" cy="914400"/>
          </a:xfrm>
        </p:spPr>
        <p:txBody>
          <a:bodyPr anchor="ctr"/>
          <a:lstStyle/>
          <a:p>
            <a:r>
              <a:rPr lang="zh-CN" altLang="en-US" sz="4000" b="1" i="1" dirty="0">
                <a:latin typeface="Times New Roman" pitchFamily="18" charset="0"/>
              </a:rPr>
              <a:t>7.2.1 </a:t>
            </a:r>
            <a:r>
              <a:rPr lang="en-US" altLang="x-none" sz="4000" b="1" i="1" dirty="0">
                <a:latin typeface="Times New Roman" pitchFamily="18" charset="0"/>
              </a:rPr>
              <a:t>Zero-Phase Transfer Function</a:t>
            </a:r>
          </a:p>
        </p:txBody>
      </p:sp>
      <p:sp>
        <p:nvSpPr>
          <p:cNvPr id="39939" name="内容占位符 39938"/>
          <p:cNvSpPr>
            <a:spLocks noGrp="1"/>
          </p:cNvSpPr>
          <p:nvPr>
            <p:ph idx="1"/>
          </p:nvPr>
        </p:nvSpPr>
        <p:spPr>
          <a:xfrm>
            <a:off x="911225" y="1268730"/>
            <a:ext cx="8561070" cy="2209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One way to avoid any phase distortions is to make the frequency response of the filter real and nonnegative,to design the filter with a </a:t>
            </a:r>
            <a:r>
              <a:rPr lang="en-US" altLang="x-none" sz="3200" b="1" i="1" dirty="0">
                <a:solidFill>
                  <a:srgbClr val="FF0000"/>
                </a:solidFill>
                <a:latin typeface="Times New Roman" pitchFamily="18" charset="0"/>
              </a:rPr>
              <a:t>zero phase characteristic</a:t>
            </a:r>
            <a:r>
              <a:rPr lang="en-US" altLang="x-none" sz="3200" b="1" dirty="0">
                <a:latin typeface="Times New Roman" pitchFamily="18" charset="0"/>
              </a:rPr>
              <a:t>.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</p:txBody>
      </p:sp>
      <p:graphicFrame>
        <p:nvGraphicFramePr>
          <p:cNvPr id="39940" name="对象 39939"/>
          <p:cNvGraphicFramePr>
            <a:graphicFrameLocks noChangeAspect="1"/>
          </p:cNvGraphicFramePr>
          <p:nvPr/>
        </p:nvGraphicFramePr>
        <p:xfrm>
          <a:off x="3071495" y="3429000"/>
          <a:ext cx="3000375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4" r:id="rId3" imgW="1121410" imgH="280670" progId="Equation.DSMT4">
                  <p:embed/>
                </p:oleObj>
              </mc:Choice>
              <mc:Fallback>
                <p:oleObj r:id="rId3" imgW="1121410" imgH="280670" progId="Equation.DSMT4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1495" y="3429000"/>
                        <a:ext cx="3000375" cy="750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文本框 39940"/>
          <p:cNvSpPr txBox="1"/>
          <p:nvPr/>
        </p:nvSpPr>
        <p:spPr>
          <a:xfrm>
            <a:off x="911224" y="4365625"/>
            <a:ext cx="9073207" cy="132343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But for a causal digital filter it is 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impossible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.</a:t>
            </a:r>
          </a:p>
          <a:p>
            <a:pPr lvl="0">
              <a:spcBef>
                <a:spcPct val="50000"/>
              </a:spcBef>
            </a:pPr>
            <a:endParaRPr lang="en-US" altLang="x-none" sz="3200" b="1" dirty="0">
              <a:solidFill>
                <a:srgbClr val="3366CC"/>
              </a:solidFill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  <p:bldP spid="3994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内容占位符 40962"/>
          <p:cNvSpPr>
            <a:spLocks noGrp="1"/>
          </p:cNvSpPr>
          <p:nvPr>
            <p:ph idx="1"/>
          </p:nvPr>
        </p:nvSpPr>
        <p:spPr>
          <a:xfrm>
            <a:off x="335360" y="1268730"/>
            <a:ext cx="11017224" cy="42672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Only for non-real-time processing of real-valued input signals of finite length, the zero phase condition can be met.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Let </a:t>
            </a:r>
            <a:r>
              <a:rPr lang="en-US" altLang="x-none" sz="3200" b="1" dirty="0">
                <a:latin typeface="Times New Roman" pitchFamily="18" charset="0"/>
              </a:rPr>
              <a:t>H(z) be a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real-coefficient</a:t>
            </a:r>
            <a:r>
              <a:rPr lang="en-US" altLang="x-none" sz="3200" b="1" dirty="0">
                <a:latin typeface="Times New Roman" pitchFamily="18" charset="0"/>
              </a:rPr>
              <a:t> rational z-transform with no poles on the unit cycle, then F(z)=H(z)H(z</a:t>
            </a:r>
            <a:r>
              <a:rPr lang="en-US" altLang="x-none" sz="3200" b="1" baseline="30000" dirty="0">
                <a:latin typeface="Times New Roman" pitchFamily="18" charset="0"/>
              </a:rPr>
              <a:t>-1</a:t>
            </a:r>
            <a:r>
              <a:rPr lang="en-US" altLang="x-none" sz="3200" b="1" dirty="0">
                <a:latin typeface="Times New Roman" pitchFamily="18" charset="0"/>
              </a:rPr>
              <a:t>) has a zero phase on the unit cycle.</a:t>
            </a:r>
          </a:p>
        </p:txBody>
      </p:sp>
      <p:sp>
        <p:nvSpPr>
          <p:cNvPr id="39937" name="标题 39937"/>
          <p:cNvSpPr>
            <a:spLocks noGrp="1"/>
          </p:cNvSpPr>
          <p:nvPr>
            <p:ph type="title"/>
          </p:nvPr>
        </p:nvSpPr>
        <p:spPr>
          <a:xfrm>
            <a:off x="767080" y="189230"/>
            <a:ext cx="7954963" cy="914400"/>
          </a:xfrm>
        </p:spPr>
        <p:txBody>
          <a:bodyPr anchor="ctr"/>
          <a:lstStyle/>
          <a:p>
            <a:r>
              <a:rPr lang="zh-CN" altLang="en-US" sz="4000" b="1" i="1" dirty="0">
                <a:latin typeface="Times New Roman" pitchFamily="18" charset="0"/>
              </a:rPr>
              <a:t>7.2.1 </a:t>
            </a:r>
            <a:r>
              <a:rPr lang="en-US" altLang="x-none" sz="4000" b="1" i="1" dirty="0">
                <a:latin typeface="Times New Roman" pitchFamily="18" charset="0"/>
              </a:rPr>
              <a:t>Zero-Phase Transfer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内容占位符 41986"/>
          <p:cNvSpPr>
            <a:spLocks noGrp="1"/>
          </p:cNvSpPr>
          <p:nvPr>
            <p:ph idx="1"/>
          </p:nvPr>
        </p:nvSpPr>
        <p:spPr>
          <a:xfrm>
            <a:off x="551384" y="1344120"/>
            <a:ext cx="8497714" cy="576094"/>
          </a:xfrm>
        </p:spPr>
        <p:txBody>
          <a:bodyPr anchor="t"/>
          <a:lstStyle/>
          <a:p>
            <a:r>
              <a:rPr lang="en-US" altLang="zh-CN" sz="2400" dirty="0" smtClean="0"/>
              <a:t>A simple realization of zero-phase transfer function</a:t>
            </a:r>
            <a:endParaRPr lang="zh-CN" altLang="en-US" sz="2400" dirty="0"/>
          </a:p>
        </p:txBody>
      </p:sp>
      <p:grpSp>
        <p:nvGrpSpPr>
          <p:cNvPr id="41988" name="组合 41987"/>
          <p:cNvGrpSpPr/>
          <p:nvPr/>
        </p:nvGrpSpPr>
        <p:grpSpPr>
          <a:xfrm>
            <a:off x="695400" y="1924669"/>
            <a:ext cx="10364792" cy="774700"/>
            <a:chOff x="0" y="-146"/>
            <a:chExt cx="6529" cy="488"/>
          </a:xfrm>
        </p:grpSpPr>
        <p:grpSp>
          <p:nvGrpSpPr>
            <p:cNvPr id="2" name="组合 41988"/>
            <p:cNvGrpSpPr/>
            <p:nvPr/>
          </p:nvGrpSpPr>
          <p:grpSpPr>
            <a:xfrm>
              <a:off x="0" y="-140"/>
              <a:ext cx="6090" cy="482"/>
              <a:chOff x="0" y="-140"/>
              <a:chExt cx="6090" cy="482"/>
            </a:xfrm>
          </p:grpSpPr>
          <p:sp>
            <p:nvSpPr>
              <p:cNvPr id="41989" name="矩形 41989"/>
              <p:cNvSpPr/>
              <p:nvPr/>
            </p:nvSpPr>
            <p:spPr>
              <a:xfrm>
                <a:off x="719" y="0"/>
                <a:ext cx="554" cy="342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90" name="直接连接符 41990"/>
              <p:cNvSpPr/>
              <p:nvPr/>
            </p:nvSpPr>
            <p:spPr>
              <a:xfrm>
                <a:off x="368" y="171"/>
                <a:ext cx="35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91" name="直接连接符 41991"/>
              <p:cNvSpPr/>
              <p:nvPr/>
            </p:nvSpPr>
            <p:spPr>
              <a:xfrm>
                <a:off x="1273" y="171"/>
                <a:ext cx="35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92" name="矩形 41992"/>
              <p:cNvSpPr/>
              <p:nvPr/>
            </p:nvSpPr>
            <p:spPr>
              <a:xfrm>
                <a:off x="3704" y="0"/>
                <a:ext cx="552" cy="342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93" name="直接连接符 41993"/>
              <p:cNvSpPr/>
              <p:nvPr/>
            </p:nvSpPr>
            <p:spPr>
              <a:xfrm>
                <a:off x="2820" y="171"/>
                <a:ext cx="884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94" name="直接连接符 41994"/>
              <p:cNvSpPr/>
              <p:nvPr/>
            </p:nvSpPr>
            <p:spPr>
              <a:xfrm>
                <a:off x="4237" y="171"/>
                <a:ext cx="35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95" name="文本框 41995"/>
              <p:cNvSpPr txBox="1"/>
              <p:nvPr/>
            </p:nvSpPr>
            <p:spPr>
              <a:xfrm>
                <a:off x="0" y="19"/>
                <a:ext cx="39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eaLnBrk="0" hangingPunct="0"/>
                <a:r>
                  <a:rPr lang="en-US" altLang="x-none" sz="2000" b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x[n]</a:t>
                </a:r>
              </a:p>
            </p:txBody>
          </p:sp>
          <p:sp>
            <p:nvSpPr>
              <p:cNvPr id="41996" name="文本框 41996"/>
              <p:cNvSpPr txBox="1"/>
              <p:nvPr/>
            </p:nvSpPr>
            <p:spPr>
              <a:xfrm>
                <a:off x="1270" y="-129"/>
                <a:ext cx="39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eaLnBrk="0" hangingPunct="0"/>
                <a:r>
                  <a:rPr lang="en-US" altLang="x-none" sz="2000" b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v[n]</a:t>
                </a:r>
              </a:p>
            </p:txBody>
          </p:sp>
          <p:sp>
            <p:nvSpPr>
              <p:cNvPr id="41997" name="文本框 41997"/>
              <p:cNvSpPr txBox="1"/>
              <p:nvPr/>
            </p:nvSpPr>
            <p:spPr>
              <a:xfrm>
                <a:off x="2792" y="-140"/>
                <a:ext cx="826" cy="25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eaLnBrk="0" hangingPunct="0"/>
                <a:r>
                  <a:rPr lang="en-US" altLang="x-none" sz="2000" b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u[n]=v[-n</a:t>
                </a:r>
                <a:r>
                  <a:rPr lang="en-US" altLang="x-none" sz="2000" b="1" dirty="0" smtClean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]</a:t>
                </a:r>
                <a:endParaRPr lang="en-US" altLang="x-none" sz="2000" b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endParaRPr>
              </a:p>
            </p:txBody>
          </p:sp>
          <p:sp>
            <p:nvSpPr>
              <p:cNvPr id="41998" name="文本框 41998"/>
              <p:cNvSpPr txBox="1"/>
              <p:nvPr/>
            </p:nvSpPr>
            <p:spPr>
              <a:xfrm>
                <a:off x="4274" y="-117"/>
                <a:ext cx="42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eaLnBrk="0" hangingPunct="0"/>
                <a:r>
                  <a:rPr lang="en-US" altLang="x-none" sz="2000" b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w[n]</a:t>
                </a:r>
              </a:p>
            </p:txBody>
          </p:sp>
          <p:sp>
            <p:nvSpPr>
              <p:cNvPr id="41999" name="文本框 41999"/>
              <p:cNvSpPr txBox="1"/>
              <p:nvPr/>
            </p:nvSpPr>
            <p:spPr>
              <a:xfrm>
                <a:off x="812" y="28"/>
                <a:ext cx="41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eaLnBrk="0" hangingPunct="0"/>
                <a:r>
                  <a:rPr lang="en-US" altLang="x-none" sz="2000" b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H(z)</a:t>
                </a:r>
              </a:p>
            </p:txBody>
          </p:sp>
          <p:sp>
            <p:nvSpPr>
              <p:cNvPr id="42000" name="矩形 42000"/>
              <p:cNvSpPr/>
              <p:nvPr/>
            </p:nvSpPr>
            <p:spPr>
              <a:xfrm>
                <a:off x="3785" y="19"/>
                <a:ext cx="41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eaLnBrk="0" hangingPunct="0"/>
                <a:r>
                  <a:rPr lang="en-US" altLang="x-none" sz="2000" b="1" dirty="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rPr>
                  <a:t>H(z)</a:t>
                </a:r>
              </a:p>
            </p:txBody>
          </p:sp>
          <p:sp>
            <p:nvSpPr>
              <p:cNvPr id="24" name="直接连接符 41994"/>
              <p:cNvSpPr/>
              <p:nvPr/>
            </p:nvSpPr>
            <p:spPr>
              <a:xfrm>
                <a:off x="5738" y="171"/>
                <a:ext cx="35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anchor="t"/>
              <a:lstStyle/>
              <a:p>
                <a:pPr lvl="0"/>
                <a:endParaRPr lang="zh-CN" altLang="en-US">
                  <a:latin typeface="Times New Roman" pitchFamily="18" charset="0"/>
                  <a:ea typeface="宋体" charset="-122"/>
                </a:endParaRPr>
              </a:p>
            </p:txBody>
          </p:sp>
        </p:grpSp>
        <p:sp>
          <p:nvSpPr>
            <p:cNvPr id="42001" name="矩形 42001"/>
            <p:cNvSpPr/>
            <p:nvPr/>
          </p:nvSpPr>
          <p:spPr>
            <a:xfrm>
              <a:off x="5748" y="-146"/>
              <a:ext cx="781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b="1" dirty="0" smtClean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y[n</a:t>
              </a:r>
              <a:r>
                <a:rPr lang="en-US" altLang="x-none" b="1" dirty="0">
                  <a:solidFill>
                    <a:schemeClr val="tx1"/>
                  </a:solidFill>
                  <a:latin typeface="Times New Roman" pitchFamily="18" charset="0"/>
                  <a:ea typeface="宋体" charset="-122"/>
                </a:rPr>
                <a:t>]=w[-n]</a:t>
              </a:r>
            </a:p>
          </p:txBody>
        </p:sp>
      </p:grpSp>
      <p:sp>
        <p:nvSpPr>
          <p:cNvPr id="42003" name="文本框 42002"/>
          <p:cNvSpPr txBox="1"/>
          <p:nvPr/>
        </p:nvSpPr>
        <p:spPr>
          <a:xfrm>
            <a:off x="695400" y="4725144"/>
            <a:ext cx="10225136" cy="10772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function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filtfilt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implements the above zero-phase filtering scheme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.</a:t>
            </a:r>
            <a:endParaRPr lang="en-US" altLang="x-none" sz="3200" b="1" dirty="0">
              <a:solidFill>
                <a:srgbClr val="3366CC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39937" name="标题 39937"/>
          <p:cNvSpPr>
            <a:spLocks noGrp="1"/>
          </p:cNvSpPr>
          <p:nvPr>
            <p:ph type="title"/>
          </p:nvPr>
        </p:nvSpPr>
        <p:spPr>
          <a:xfrm>
            <a:off x="767080" y="189230"/>
            <a:ext cx="7954963" cy="914400"/>
          </a:xfrm>
        </p:spPr>
        <p:txBody>
          <a:bodyPr anchor="ctr"/>
          <a:lstStyle/>
          <a:p>
            <a:r>
              <a:rPr lang="zh-CN" altLang="en-US" sz="4000" b="1" i="1" dirty="0">
                <a:latin typeface="Times New Roman" pitchFamily="18" charset="0"/>
              </a:rPr>
              <a:t>7.2.1 </a:t>
            </a:r>
            <a:r>
              <a:rPr lang="en-US" altLang="x-none" sz="4000" b="1" i="1" dirty="0">
                <a:latin typeface="Times New Roman" pitchFamily="18" charset="0"/>
              </a:rPr>
              <a:t>Zero-Phase Transfer Function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4736337"/>
              </p:ext>
            </p:extLst>
          </p:nvPr>
        </p:nvGraphicFramePr>
        <p:xfrm>
          <a:off x="1440319" y="3505002"/>
          <a:ext cx="3106955" cy="482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8" name="Equation" r:id="rId5" imgW="1473120" imgH="228600" progId="Equation.DSMT4">
                  <p:embed/>
                </p:oleObj>
              </mc:Choice>
              <mc:Fallback>
                <p:oleObj name="Equation" r:id="rId5" imgW="1473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0319" y="3505002"/>
                        <a:ext cx="3106955" cy="4821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 bwMode="auto">
          <a:xfrm>
            <a:off x="3367031" y="2204887"/>
            <a:ext cx="1800200" cy="44603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>
                <a:solidFill>
                  <a:srgbClr val="0070C0"/>
                </a:solidFill>
                <a:latin typeface="Arial" charset="0"/>
                <a:ea typeface="宋体" pitchFamily="2" charset="-122"/>
              </a:rPr>
              <a:t>Time reversal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23" name="矩形 22"/>
          <p:cNvSpPr/>
          <p:nvPr/>
        </p:nvSpPr>
        <p:spPr bwMode="auto">
          <a:xfrm>
            <a:off x="8003527" y="2204887"/>
            <a:ext cx="1800200" cy="44603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 smtClean="0">
                <a:solidFill>
                  <a:srgbClr val="0070C0"/>
                </a:solidFill>
                <a:latin typeface="Arial" charset="0"/>
                <a:ea typeface="宋体" pitchFamily="2" charset="-122"/>
              </a:rPr>
              <a:t>Time reversal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5893986"/>
              </p:ext>
            </p:extLst>
          </p:nvPr>
        </p:nvGraphicFramePr>
        <p:xfrm>
          <a:off x="6704090" y="3432994"/>
          <a:ext cx="4635323" cy="482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39" name="Equation" r:id="rId7" imgW="2197080" imgH="228600" progId="Equation.DSMT4">
                  <p:embed/>
                </p:oleObj>
              </mc:Choice>
              <mc:Fallback>
                <p:oleObj name="Equation" r:id="rId7" imgW="2197080" imgH="22860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090" y="3432994"/>
                        <a:ext cx="4635323" cy="482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826388"/>
              </p:ext>
            </p:extLst>
          </p:nvPr>
        </p:nvGraphicFramePr>
        <p:xfrm>
          <a:off x="433421" y="4009058"/>
          <a:ext cx="5680160" cy="64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0" name="Equation" r:id="rId9" imgW="2692080" imgH="304560" progId="Equation.DSMT4">
                  <p:embed/>
                </p:oleObj>
              </mc:Choice>
              <mc:Fallback>
                <p:oleObj name="Equation" r:id="rId9" imgW="2692080" imgH="30456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21" y="4009058"/>
                        <a:ext cx="5680160" cy="644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547896"/>
              </p:ext>
            </p:extLst>
          </p:nvPr>
        </p:nvGraphicFramePr>
        <p:xfrm>
          <a:off x="6816080" y="4009058"/>
          <a:ext cx="4717109" cy="6440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41" name="Equation" r:id="rId11" imgW="2234880" imgH="304560" progId="Equation.DSMT4">
                  <p:embed/>
                </p:oleObj>
              </mc:Choice>
              <mc:Fallback>
                <p:oleObj name="Equation" r:id="rId11" imgW="2234880" imgH="30456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080" y="4009058"/>
                        <a:ext cx="4717109" cy="6440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41986"/>
          <p:cNvSpPr txBox="1">
            <a:spLocks/>
          </p:cNvSpPr>
          <p:nvPr/>
        </p:nvSpPr>
        <p:spPr bwMode="auto">
          <a:xfrm>
            <a:off x="1307929" y="2852936"/>
            <a:ext cx="5616624" cy="576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 b="1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US" altLang="zh-CN" sz="2400" dirty="0" smtClean="0"/>
              <a:t>h[n]: Causal and real-coefficient 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build="p"/>
      <p:bldP spid="42003" grpId="0" build="p"/>
      <p:bldP spid="28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43009"/>
          <p:cNvSpPr>
            <a:spLocks noGrp="1"/>
          </p:cNvSpPr>
          <p:nvPr>
            <p:ph type="title"/>
          </p:nvPr>
        </p:nvSpPr>
        <p:spPr>
          <a:xfrm>
            <a:off x="262890" y="0"/>
            <a:ext cx="10972800" cy="1143000"/>
          </a:xfrm>
        </p:spPr>
        <p:txBody>
          <a:bodyPr anchor="ctr"/>
          <a:lstStyle/>
          <a:p>
            <a:r>
              <a:rPr lang="zh-CN" altLang="en-US" b="1" i="1" dirty="0">
                <a:latin typeface="Times New Roman" pitchFamily="18" charset="0"/>
              </a:rPr>
              <a:t>7.2.2 </a:t>
            </a:r>
            <a:r>
              <a:rPr lang="en-US" altLang="x-none" b="1" i="1" dirty="0">
                <a:latin typeface="Times New Roman" pitchFamily="18" charset="0"/>
              </a:rPr>
              <a:t>Linear-Phase Transfer Function</a:t>
            </a:r>
          </a:p>
        </p:txBody>
      </p:sp>
      <p:sp>
        <p:nvSpPr>
          <p:cNvPr id="43011" name="内容占位符 43010"/>
          <p:cNvSpPr>
            <a:spLocks noGrp="1"/>
          </p:cNvSpPr>
          <p:nvPr>
            <p:ph idx="1"/>
          </p:nvPr>
        </p:nvSpPr>
        <p:spPr>
          <a:xfrm>
            <a:off x="551385" y="1268730"/>
            <a:ext cx="10297144" cy="48006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phase distortion can be avoided by ensuring that the transfer function has a unity magnitude and a linear-phase characteristic, that is:</a:t>
            </a:r>
          </a:p>
          <a:p>
            <a:pPr algn="ctr">
              <a:buNone/>
            </a:pPr>
            <a:r>
              <a:rPr lang="en-US" altLang="x-none" sz="3200" b="1" dirty="0">
                <a:latin typeface="Times New Roman" pitchFamily="18" charset="0"/>
              </a:rPr>
              <a:t>H(e</a:t>
            </a:r>
            <a:r>
              <a:rPr lang="en-US" altLang="x-none" sz="3200" b="1" baseline="30000" dirty="0">
                <a:latin typeface="Times New Roman" pitchFamily="18" charset="0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</a:rPr>
              <a:t>ω</a:t>
            </a:r>
            <a:r>
              <a:rPr lang="en-US" altLang="x-none" sz="3200" b="1" dirty="0">
                <a:latin typeface="Times New Roman" pitchFamily="18" charset="0"/>
              </a:rPr>
              <a:t>)=e</a:t>
            </a:r>
            <a:r>
              <a:rPr lang="en-US" altLang="x-none" sz="3200" b="1" baseline="30000" dirty="0">
                <a:latin typeface="Times New Roman" pitchFamily="18" charset="0"/>
              </a:rPr>
              <a:t>-j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</a:rPr>
              <a:t>ωD</a:t>
            </a:r>
            <a:endParaRPr lang="en-US" altLang="x-none" sz="3200" b="1" baseline="30000" dirty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How </a:t>
            </a:r>
            <a:r>
              <a:rPr lang="en-US" altLang="x-none" sz="3200" b="1" dirty="0">
                <a:latin typeface="Times New Roman" pitchFamily="18" charset="0"/>
              </a:rPr>
              <a:t>to perform the linear-phase filter?</a:t>
            </a:r>
          </a:p>
          <a:p>
            <a:pPr algn="ctr"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y[n</a:t>
            </a:r>
            <a:r>
              <a:rPr lang="en-US" altLang="x-none" sz="3200" b="1" dirty="0">
                <a:latin typeface="Times New Roman" pitchFamily="18" charset="0"/>
              </a:rPr>
              <a:t>]=x[n-D</a:t>
            </a:r>
            <a:r>
              <a:rPr lang="en-US" altLang="x-none" sz="3200" b="1" dirty="0" smtClean="0">
                <a:latin typeface="Times New Roman" pitchFamily="18" charset="0"/>
              </a:rPr>
              <a:t>]</a:t>
            </a:r>
          </a:p>
          <a:p>
            <a:pPr algn="ctr">
              <a:buNone/>
            </a:pPr>
            <a:r>
              <a:rPr lang="en-US" altLang="x-none" sz="3200" b="1" dirty="0" smtClean="0">
                <a:latin typeface="Times New Roman" pitchFamily="18" charset="0"/>
                <a:sym typeface="Wingdings" charset="2"/>
              </a:rPr>
              <a:t></a:t>
            </a:r>
            <a:r>
              <a:rPr lang="en-US" altLang="x-none" sz="3200" b="1" dirty="0">
                <a:latin typeface="Times New Roman" pitchFamily="18" charset="0"/>
                <a:sym typeface="Wingdings" charset="2"/>
              </a:rPr>
              <a:t>Y(e</a:t>
            </a:r>
            <a:r>
              <a:rPr lang="en-US" altLang="x-none" sz="3200" b="1" baseline="30000" dirty="0">
                <a:latin typeface="Times New Roman" pitchFamily="18" charset="0"/>
                <a:sym typeface="Wingdings" charset="2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  <a:sym typeface="Wingdings" charset="2"/>
              </a:rPr>
              <a:t>ω</a:t>
            </a:r>
            <a:r>
              <a:rPr lang="en-US" altLang="x-none" sz="3200" b="1" dirty="0">
                <a:latin typeface="Times New Roman" pitchFamily="18" charset="0"/>
                <a:sym typeface="Wingdings" charset="2"/>
              </a:rPr>
              <a:t>)= e</a:t>
            </a:r>
            <a:r>
              <a:rPr lang="en-US" altLang="x-none" sz="3200" b="1" baseline="30000" dirty="0">
                <a:latin typeface="Times New Roman" pitchFamily="18" charset="0"/>
                <a:sym typeface="Wingdings" charset="2"/>
              </a:rPr>
              <a:t>-j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  <a:sym typeface="Wingdings" charset="2"/>
              </a:rPr>
              <a:t>ωD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  <a:sym typeface="Wingdings" charset="2"/>
              </a:rPr>
              <a:t>X(</a:t>
            </a:r>
            <a:r>
              <a:rPr lang="en-US" altLang="x-none" sz="3200" b="1" dirty="0">
                <a:latin typeface="Times New Roman" pitchFamily="18" charset="0"/>
                <a:sym typeface="Wingdings" charset="2"/>
              </a:rPr>
              <a:t>e</a:t>
            </a:r>
            <a:r>
              <a:rPr lang="en-US" altLang="x-none" sz="3200" b="1" baseline="30000" dirty="0">
                <a:latin typeface="Times New Roman" pitchFamily="18" charset="0"/>
                <a:sym typeface="Wingdings" charset="2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  <a:sym typeface="Wingdings" charset="2"/>
              </a:rPr>
              <a:t>ω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  <a:sym typeface="Wingdings" charset="2"/>
              </a:rPr>
              <a:t>)</a:t>
            </a:r>
          </a:p>
          <a:p>
            <a:pPr algn="ctr">
              <a:buNone/>
            </a:pPr>
            <a:r>
              <a:rPr lang="en-US" altLang="x-none" sz="3200" b="1" dirty="0">
                <a:latin typeface="Times New Roman" pitchFamily="18" charset="0"/>
                <a:ea typeface="Times New Roman" pitchFamily="18" charset="0"/>
                <a:sym typeface="Wingdings" charset="2"/>
              </a:rPr>
              <a:t>H(</a:t>
            </a:r>
            <a:r>
              <a:rPr lang="en-US" altLang="x-none" sz="3200" b="1" dirty="0">
                <a:latin typeface="Times New Roman" pitchFamily="18" charset="0"/>
                <a:sym typeface="Wingdings" charset="2"/>
              </a:rPr>
              <a:t>e</a:t>
            </a:r>
            <a:r>
              <a:rPr lang="en-US" altLang="x-none" sz="3200" b="1" baseline="30000" dirty="0">
                <a:latin typeface="Times New Roman" pitchFamily="18" charset="0"/>
                <a:sym typeface="Wingdings" charset="2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  <a:sym typeface="Wingdings" charset="2"/>
              </a:rPr>
              <a:t>ω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  <a:sym typeface="Wingdings" charset="2"/>
              </a:rPr>
              <a:t>)= </a:t>
            </a:r>
            <a:r>
              <a:rPr lang="en-US" altLang="x-none" sz="3200" b="1" dirty="0">
                <a:latin typeface="Times New Roman" pitchFamily="18" charset="0"/>
                <a:sym typeface="Wingdings" charset="2"/>
              </a:rPr>
              <a:t>Y(e</a:t>
            </a:r>
            <a:r>
              <a:rPr lang="en-US" altLang="x-none" sz="3200" b="1" baseline="30000" dirty="0">
                <a:latin typeface="Times New Roman" pitchFamily="18" charset="0"/>
                <a:sym typeface="Wingdings" charset="2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  <a:sym typeface="Wingdings" charset="2"/>
              </a:rPr>
              <a:t>ω</a:t>
            </a:r>
            <a:r>
              <a:rPr lang="en-US" altLang="x-none" sz="3200" b="1" dirty="0">
                <a:latin typeface="Times New Roman" pitchFamily="18" charset="0"/>
                <a:sym typeface="Wingdings" charset="2"/>
              </a:rPr>
              <a:t>)/ X(e</a:t>
            </a:r>
            <a:r>
              <a:rPr lang="en-US" altLang="x-none" sz="3200" b="1" baseline="30000" dirty="0">
                <a:latin typeface="Times New Roman" pitchFamily="18" charset="0"/>
                <a:sym typeface="Wingdings" charset="2"/>
              </a:rPr>
              <a:t>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  <a:sym typeface="Wingdings" charset="2"/>
              </a:rPr>
              <a:t>ω</a:t>
            </a:r>
            <a:r>
              <a:rPr lang="en-US" altLang="x-none" sz="3200" b="1" dirty="0">
                <a:latin typeface="Times New Roman" pitchFamily="18" charset="0"/>
                <a:sym typeface="Wingdings" charset="2"/>
              </a:rPr>
              <a:t>)= e</a:t>
            </a:r>
            <a:r>
              <a:rPr lang="en-US" altLang="x-none" sz="3200" b="1" baseline="30000" dirty="0">
                <a:latin typeface="Times New Roman" pitchFamily="18" charset="0"/>
                <a:sym typeface="Wingdings" charset="2"/>
              </a:rPr>
              <a:t>-j</a:t>
            </a:r>
            <a:r>
              <a:rPr lang="en-US" altLang="x-none" sz="3200" b="1" baseline="30000" dirty="0">
                <a:latin typeface="Times New Roman" pitchFamily="18" charset="0"/>
                <a:ea typeface="Times New Roman" pitchFamily="18" charset="0"/>
                <a:sym typeface="Wingdings" charset="2"/>
              </a:rPr>
              <a:t>ωD</a:t>
            </a:r>
            <a:endParaRPr lang="en-US" altLang="x-none" sz="3200" b="1" dirty="0">
              <a:latin typeface="Times New Roman" pitchFamily="18" charset="0"/>
            </a:endParaRPr>
          </a:p>
          <a:p>
            <a:pPr>
              <a:buNone/>
            </a:pPr>
            <a:endParaRPr lang="zh-CN" altLang="en-US" sz="3200" b="1" dirty="0">
              <a:latin typeface="Times New Roman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72170" y="260985"/>
            <a:ext cx="1981200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key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内容占位符 44034"/>
          <p:cNvSpPr>
            <a:spLocks noGrp="1"/>
          </p:cNvSpPr>
          <p:nvPr>
            <p:ph idx="1"/>
          </p:nvPr>
        </p:nvSpPr>
        <p:spPr>
          <a:xfrm>
            <a:off x="982980" y="1196975"/>
            <a:ext cx="7772400" cy="1600200"/>
          </a:xfrm>
        </p:spPr>
        <p:txBody>
          <a:bodyPr anchor="t"/>
          <a:lstStyle/>
          <a:p>
            <a:r>
              <a:rPr lang="en-US" altLang="x-none" sz="3200" b="1" u="sng" dirty="0">
                <a:latin typeface="Times New Roman" pitchFamily="18" charset="0"/>
              </a:rPr>
              <a:t>Example</a:t>
            </a:r>
            <a:r>
              <a:rPr lang="en-US" altLang="x-none" sz="3200" b="1" dirty="0">
                <a:latin typeface="Times New Roman" pitchFamily="18" charset="0"/>
              </a:rPr>
              <a:t> - Determine the impulse response of an ideal lowpass filter with a linear phase response:</a:t>
            </a:r>
            <a:endParaRPr lang="zh-CN" altLang="en-US" sz="3200" b="1" dirty="0">
              <a:latin typeface="Times New Roman" pitchFamily="18" charset="0"/>
            </a:endParaRPr>
          </a:p>
        </p:txBody>
      </p:sp>
      <p:grpSp>
        <p:nvGrpSpPr>
          <p:cNvPr id="44036" name="组合 44035"/>
          <p:cNvGrpSpPr>
            <a:grpSpLocks noChangeAspect="1"/>
          </p:cNvGrpSpPr>
          <p:nvPr/>
        </p:nvGrpSpPr>
        <p:grpSpPr>
          <a:xfrm>
            <a:off x="2901315" y="2925445"/>
            <a:ext cx="5334000" cy="914400"/>
            <a:chOff x="0" y="0"/>
            <a:chExt cx="3552" cy="688"/>
          </a:xfrm>
        </p:grpSpPr>
        <p:graphicFrame>
          <p:nvGraphicFramePr>
            <p:cNvPr id="2" name="对象 44036"/>
            <p:cNvGraphicFramePr>
              <a:graphicFrameLocks noChangeAspect="1"/>
            </p:cNvGraphicFramePr>
            <p:nvPr/>
          </p:nvGraphicFramePr>
          <p:xfrm>
            <a:off x="0" y="40"/>
            <a:ext cx="1544" cy="6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34" r:id="rId4" imgW="2451100" imgH="965200" progId="Equation.3">
                    <p:embed/>
                  </p:oleObj>
                </mc:Choice>
                <mc:Fallback>
                  <p:oleObj r:id="rId4" imgW="2451100" imgH="965200" progId="Equation.3">
                    <p:embed/>
                    <p:pic>
                      <p:nvPicPr>
                        <p:cNvPr id="0" name="图片 3109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0" y="40"/>
                          <a:ext cx="1544" cy="6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4037" name="对象 44037"/>
            <p:cNvGraphicFramePr>
              <a:graphicFrameLocks noChangeAspect="1"/>
            </p:cNvGraphicFramePr>
            <p:nvPr/>
          </p:nvGraphicFramePr>
          <p:xfrm>
            <a:off x="1408" y="0"/>
            <a:ext cx="2144" cy="6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35" r:id="rId6" imgW="3402330" imgH="1091565" progId="Equation.3">
                    <p:embed/>
                  </p:oleObj>
                </mc:Choice>
                <mc:Fallback>
                  <p:oleObj r:id="rId6" imgW="3402330" imgH="1091565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1408" y="0"/>
                          <a:ext cx="2144" cy="68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39" name="文本框 44038"/>
          <p:cNvSpPr txBox="1"/>
          <p:nvPr/>
        </p:nvSpPr>
        <p:spPr>
          <a:xfrm>
            <a:off x="1199515" y="3717290"/>
            <a:ext cx="8856925" cy="1554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Applying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 frequency-shifting property of the DTFT to the impulse response of an ideal zero-phase lowpass filter we arrive at:</a:t>
            </a:r>
          </a:p>
        </p:txBody>
      </p:sp>
      <p:graphicFrame>
        <p:nvGraphicFramePr>
          <p:cNvPr id="44040" name="对象 44039"/>
          <p:cNvGraphicFramePr>
            <a:graphicFrameLocks noChangeAspect="1"/>
          </p:cNvGraphicFramePr>
          <p:nvPr/>
        </p:nvGraphicFramePr>
        <p:xfrm>
          <a:off x="2999740" y="5301615"/>
          <a:ext cx="53340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6" r:id="rId8" imgW="5979160" imgH="1040765" progId="Equation.DSMT4">
                  <p:embed/>
                </p:oleObj>
              </mc:Choice>
              <mc:Fallback>
                <p:oleObj r:id="rId8" imgW="5979160" imgH="1040765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99740" y="5301615"/>
                        <a:ext cx="5334000" cy="928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09" name="标题 43009"/>
          <p:cNvSpPr>
            <a:spLocks noGrp="1"/>
          </p:cNvSpPr>
          <p:nvPr>
            <p:ph type="title"/>
          </p:nvPr>
        </p:nvSpPr>
        <p:spPr>
          <a:xfrm>
            <a:off x="335280" y="0"/>
            <a:ext cx="10972800" cy="1143000"/>
          </a:xfrm>
        </p:spPr>
        <p:txBody>
          <a:bodyPr anchor="ctr"/>
          <a:lstStyle/>
          <a:p>
            <a:r>
              <a:rPr lang="zh-CN" altLang="en-US" b="1" i="1" dirty="0">
                <a:latin typeface="Times New Roman" pitchFamily="18" charset="0"/>
              </a:rPr>
              <a:t>7.2.2 </a:t>
            </a:r>
            <a:r>
              <a:rPr lang="en-US" altLang="x-none" b="1" i="1" dirty="0">
                <a:latin typeface="Times New Roman" pitchFamily="18" charset="0"/>
              </a:rPr>
              <a:t>Linear-Phase Transfer Function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72170" y="260985"/>
            <a:ext cx="1981200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key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4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  <p:bldP spid="44039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内容占位符 45058"/>
          <p:cNvSpPr>
            <a:spLocks noGrp="1"/>
          </p:cNvSpPr>
          <p:nvPr>
            <p:ph idx="1"/>
          </p:nvPr>
        </p:nvSpPr>
        <p:spPr>
          <a:xfrm>
            <a:off x="1055370" y="1125220"/>
            <a:ext cx="9098280" cy="502920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By truncating the impulse response to a finite number of terms, a realizable FIR approximation to the ideal lowpass filter can be developed.</a:t>
            </a:r>
          </a:p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The truncated approximation may or may not exhibit linear phase, depending on the value of  n</a:t>
            </a:r>
            <a:r>
              <a:rPr lang="en-US" altLang="x-none" sz="3200" b="1" baseline="-25000" dirty="0">
                <a:latin typeface="Times New Roman" pitchFamily="18" charset="0"/>
              </a:rPr>
              <a:t>0</a:t>
            </a:r>
            <a:r>
              <a:rPr lang="en-US" altLang="x-none" sz="3200" b="1" dirty="0">
                <a:latin typeface="Times New Roman" pitchFamily="18" charset="0"/>
              </a:rPr>
              <a:t> chosen.</a:t>
            </a:r>
          </a:p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If we choose n</a:t>
            </a:r>
            <a:r>
              <a:rPr lang="en-US" altLang="x-none" sz="3200" b="1" baseline="-25000" dirty="0">
                <a:latin typeface="Times New Roman" pitchFamily="18" charset="0"/>
              </a:rPr>
              <a:t>0</a:t>
            </a:r>
            <a:r>
              <a:rPr lang="en-US" altLang="x-none" sz="3200" b="1" dirty="0">
                <a:latin typeface="Times New Roman" pitchFamily="18" charset="0"/>
              </a:rPr>
              <a:t>= </a:t>
            </a:r>
            <a:r>
              <a:rPr lang="en-US" altLang="x-none" sz="3200" b="1" i="1" dirty="0">
                <a:latin typeface="Times New Roman" pitchFamily="18" charset="0"/>
              </a:rPr>
              <a:t>N</a:t>
            </a:r>
            <a:r>
              <a:rPr lang="en-US" altLang="x-none" sz="3200" b="1" dirty="0">
                <a:latin typeface="Times New Roman" pitchFamily="18" charset="0"/>
              </a:rPr>
              <a:t>/2 with </a:t>
            </a:r>
            <a:r>
              <a:rPr lang="en-US" altLang="x-none" sz="3200" b="1" i="1" dirty="0">
                <a:latin typeface="Times New Roman" pitchFamily="18" charset="0"/>
              </a:rPr>
              <a:t>N</a:t>
            </a:r>
            <a:r>
              <a:rPr lang="en-US" altLang="x-none" sz="3200" b="1" dirty="0">
                <a:latin typeface="Times New Roman" pitchFamily="18" charset="0"/>
              </a:rPr>
              <a:t> a positive integer, the truncated and shifted approximation:</a:t>
            </a:r>
            <a:endParaRPr lang="zh-CN" altLang="en-US" sz="3200" b="1" dirty="0">
              <a:latin typeface="Times New Roman" pitchFamily="18" charset="0"/>
            </a:endParaRPr>
          </a:p>
        </p:txBody>
      </p:sp>
      <p:grpSp>
        <p:nvGrpSpPr>
          <p:cNvPr id="45060" name="组合 45059"/>
          <p:cNvGrpSpPr/>
          <p:nvPr/>
        </p:nvGrpSpPr>
        <p:grpSpPr>
          <a:xfrm>
            <a:off x="3159760" y="5368290"/>
            <a:ext cx="5334000" cy="838200"/>
            <a:chOff x="0" y="0"/>
            <a:chExt cx="3825" cy="652"/>
          </a:xfrm>
        </p:grpSpPr>
        <p:graphicFrame>
          <p:nvGraphicFramePr>
            <p:cNvPr id="2" name="对象 45060"/>
            <p:cNvGraphicFramePr>
              <a:graphicFrameLocks noChangeAspect="1"/>
            </p:cNvGraphicFramePr>
            <p:nvPr/>
          </p:nvGraphicFramePr>
          <p:xfrm>
            <a:off x="40" y="4"/>
            <a:ext cx="3785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671" r:id="rId4" imgW="6007100" imgH="1028700" progId="Equation.3">
                    <p:embed/>
                  </p:oleObj>
                </mc:Choice>
                <mc:Fallback>
                  <p:oleObj r:id="rId4" imgW="6007100" imgH="10287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0" y="4"/>
                          <a:ext cx="3785" cy="6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5061" name="文本框 45061"/>
            <p:cNvSpPr txBox="1"/>
            <p:nvPr/>
          </p:nvSpPr>
          <p:spPr>
            <a:xfrm>
              <a:off x="0" y="0"/>
              <a:ext cx="226" cy="28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eaLnBrk="0" hangingPunct="0"/>
              <a:r>
                <a:rPr lang="zh-CN" altLang="en-US" b="1" dirty="0">
                  <a:latin typeface="Times New Roman" pitchFamily="18" charset="0"/>
                  <a:ea typeface="宋体" charset="-122"/>
                </a:rPr>
                <a:t>^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43009" name="标题 43009"/>
          <p:cNvSpPr>
            <a:spLocks noGrp="1"/>
          </p:cNvSpPr>
          <p:nvPr>
            <p:ph type="title"/>
          </p:nvPr>
        </p:nvSpPr>
        <p:spPr>
          <a:xfrm>
            <a:off x="335280" y="0"/>
            <a:ext cx="10972800" cy="1143000"/>
          </a:xfrm>
        </p:spPr>
        <p:txBody>
          <a:bodyPr anchor="ctr"/>
          <a:lstStyle/>
          <a:p>
            <a:r>
              <a:rPr lang="zh-CN" altLang="en-US" b="1" i="1" dirty="0">
                <a:latin typeface="Times New Roman" pitchFamily="18" charset="0"/>
              </a:rPr>
              <a:t>7.2.2 </a:t>
            </a:r>
            <a:r>
              <a:rPr lang="en-US" altLang="x-none" b="1" i="1" dirty="0">
                <a:latin typeface="Times New Roman" pitchFamily="18" charset="0"/>
              </a:rPr>
              <a:t>Linear-Phase Transfer Function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72170" y="260985"/>
            <a:ext cx="1981200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key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内容占位符 46082"/>
          <p:cNvSpPr>
            <a:spLocks noGrp="1"/>
          </p:cNvSpPr>
          <p:nvPr>
            <p:ph idx="1"/>
          </p:nvPr>
        </p:nvSpPr>
        <p:spPr>
          <a:xfrm>
            <a:off x="1126808" y="1196975"/>
            <a:ext cx="7772400" cy="4114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Figure below shows the filter coefficients obtained using the function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sinc</a:t>
            </a:r>
            <a:r>
              <a:rPr lang="en-US" altLang="x-none" sz="3200" b="1" dirty="0">
                <a:latin typeface="Times New Roman" pitchFamily="18" charset="0"/>
              </a:rPr>
              <a:t> for two different values of </a:t>
            </a:r>
            <a:r>
              <a:rPr lang="en-US" altLang="x-none" sz="3200" b="1" i="1" dirty="0">
                <a:latin typeface="Times New Roman" pitchFamily="18" charset="0"/>
              </a:rPr>
              <a:t>N.</a:t>
            </a:r>
            <a:endParaRPr lang="zh-CN" altLang="en-US" sz="3200" b="1" i="1" dirty="0">
              <a:latin typeface="Times New Roman" pitchFamily="18" charset="0"/>
            </a:endParaRPr>
          </a:p>
        </p:txBody>
      </p:sp>
      <p:pic>
        <p:nvPicPr>
          <p:cNvPr id="46084" name="图片 4608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15" y="2781300"/>
            <a:ext cx="8722360" cy="30626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009" name="标题 43009"/>
          <p:cNvSpPr>
            <a:spLocks noGrp="1"/>
          </p:cNvSpPr>
          <p:nvPr>
            <p:ph type="title"/>
          </p:nvPr>
        </p:nvSpPr>
        <p:spPr>
          <a:xfrm>
            <a:off x="335280" y="0"/>
            <a:ext cx="10972800" cy="1143000"/>
          </a:xfrm>
        </p:spPr>
        <p:txBody>
          <a:bodyPr anchor="ctr"/>
          <a:lstStyle/>
          <a:p>
            <a:r>
              <a:rPr lang="zh-CN" altLang="en-US" b="1" i="1" dirty="0">
                <a:latin typeface="Times New Roman" pitchFamily="18" charset="0"/>
              </a:rPr>
              <a:t>7.2.2 </a:t>
            </a:r>
            <a:r>
              <a:rPr lang="en-US" altLang="x-none" b="1" i="1" dirty="0">
                <a:latin typeface="Times New Roman" pitchFamily="18" charset="0"/>
              </a:rPr>
              <a:t>Linear-Phase Transfer Function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472170" y="260985"/>
            <a:ext cx="1981200" cy="57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>
                <a:solidFill>
                  <a:srgbClr val="FF0000"/>
                </a:solidFill>
              </a:rPr>
              <a:t>key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标题 47105"/>
          <p:cNvSpPr>
            <a:spLocks noGrp="1"/>
          </p:cNvSpPr>
          <p:nvPr>
            <p:ph type="title"/>
          </p:nvPr>
        </p:nvSpPr>
        <p:spPr>
          <a:xfrm>
            <a:off x="839470" y="-27305"/>
            <a:ext cx="874522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7.2.3 Minimum-Phase and Maximum-Phase Transfer Function </a:t>
            </a:r>
            <a:r>
              <a:rPr lang="en-US" altLang="x-none" b="1" i="1" dirty="0" smtClean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altLang="x-none" dirty="0" smtClean="0">
                <a:solidFill>
                  <a:srgbClr val="FF0000"/>
                </a:solidFill>
                <a:latin typeface="Times New Roman" pitchFamily="18" charset="0"/>
                <a:sym typeface="+mn-ea"/>
              </a:rPr>
              <a:t>difficulty)</a:t>
            </a:r>
            <a:endParaRPr lang="en-US" altLang="x-none" b="1" i="1" dirty="0">
              <a:latin typeface="Times New Roman" pitchFamily="18" charset="0"/>
            </a:endParaRPr>
          </a:p>
        </p:txBody>
      </p:sp>
      <p:sp>
        <p:nvSpPr>
          <p:cNvPr id="47107" name="文本占位符 47106"/>
          <p:cNvSpPr>
            <a:spLocks noGrp="1"/>
          </p:cNvSpPr>
          <p:nvPr>
            <p:ph type="body" sz="half" idx="1"/>
          </p:nvPr>
        </p:nvSpPr>
        <p:spPr>
          <a:xfrm>
            <a:off x="982663" y="1268730"/>
            <a:ext cx="7286625" cy="4114800"/>
          </a:xfrm>
        </p:spPr>
        <p:txBody>
          <a:bodyPr anchor="t"/>
          <a:lstStyle/>
          <a:p>
            <a:r>
              <a:rPr lang="en-US" altLang="x-none" sz="3200" b="1" kern="1200" dirty="0">
                <a:latin typeface="Times New Roman" pitchFamily="18" charset="0"/>
              </a:rPr>
              <a:t>Based on the expression:</a:t>
            </a:r>
          </a:p>
        </p:txBody>
      </p:sp>
      <p:graphicFrame>
        <p:nvGraphicFramePr>
          <p:cNvPr id="47108" name="内容占位符 4710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559560" y="1845310"/>
          <a:ext cx="5023485" cy="1227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5" r:id="rId3" imgW="2286000" imgH="558800" progId="Equation.DSMT4">
                  <p:embed/>
                </p:oleObj>
              </mc:Choice>
              <mc:Fallback>
                <p:oleObj r:id="rId3" imgW="2286000" imgH="5588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59560" y="1845310"/>
                        <a:ext cx="5023485" cy="122745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内容占位符 4710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6660357" y="2133442"/>
          <a:ext cx="3120390" cy="734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6" r:id="rId5" imgW="1244600" imgH="292100" progId="Equation.3">
                  <p:embed/>
                </p:oleObj>
              </mc:Choice>
              <mc:Fallback>
                <p:oleObj r:id="rId5" imgW="1244600" imgH="2921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60357" y="2133442"/>
                        <a:ext cx="3120390" cy="73406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文本框 47109"/>
          <p:cNvSpPr txBox="1"/>
          <p:nvPr/>
        </p:nvSpPr>
        <p:spPr>
          <a:xfrm>
            <a:off x="1271270" y="3429000"/>
            <a:ext cx="4103688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The phase function is:</a:t>
            </a:r>
          </a:p>
        </p:txBody>
      </p:sp>
      <p:graphicFrame>
        <p:nvGraphicFramePr>
          <p:cNvPr id="47111" name="对象 47110"/>
          <p:cNvGraphicFramePr>
            <a:graphicFrameLocks noChangeAspect="1"/>
          </p:cNvGraphicFramePr>
          <p:nvPr/>
        </p:nvGraphicFramePr>
        <p:xfrm>
          <a:off x="1775143" y="4293235"/>
          <a:ext cx="18161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7" r:id="rId7" imgW="725805" imgH="458470" progId="Equation.DSMT4">
                  <p:embed/>
                </p:oleObj>
              </mc:Choice>
              <mc:Fallback>
                <p:oleObj r:id="rId7" imgW="725805" imgH="45847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75143" y="4293235"/>
                        <a:ext cx="18161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2" name="对象 47111"/>
          <p:cNvGraphicFramePr>
            <a:graphicFrameLocks noChangeAspect="1"/>
          </p:cNvGraphicFramePr>
          <p:nvPr/>
        </p:nvGraphicFramePr>
        <p:xfrm>
          <a:off x="3575368" y="4365625"/>
          <a:ext cx="61023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128" r:id="rId9" imgW="2945130" imgH="431800" progId="Equation.DSMT4">
                  <p:embed/>
                </p:oleObj>
              </mc:Choice>
              <mc:Fallback>
                <p:oleObj r:id="rId9" imgW="2945130" imgH="4318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75368" y="4365625"/>
                        <a:ext cx="6102350" cy="936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文本框 47112"/>
          <p:cNvSpPr txBox="1"/>
          <p:nvPr/>
        </p:nvSpPr>
        <p:spPr>
          <a:xfrm>
            <a:off x="2351088" y="5516563"/>
            <a:ext cx="7993062" cy="518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2800" b="1" dirty="0">
                <a:latin typeface="Times New Roman" pitchFamily="18" charset="0"/>
                <a:ea typeface="宋体" charset="-122"/>
              </a:rPr>
              <a:t>Where, </a:t>
            </a:r>
            <a:r>
              <a:rPr lang="el-GR" altLang="en-US" sz="2800" b="1" dirty="0">
                <a:latin typeface="Times New Roman" pitchFamily="18" charset="0"/>
                <a:ea typeface="Times New Roman" pitchFamily="18" charset="0"/>
              </a:rPr>
              <a:t>ξ</a:t>
            </a:r>
            <a:r>
              <a:rPr lang="en-US" altLang="x-none" sz="2800" b="1" baseline="-25000" dirty="0">
                <a:latin typeface="Times New Roman" pitchFamily="18" charset="0"/>
                <a:ea typeface="Times New Roman" pitchFamily="18" charset="0"/>
              </a:rPr>
              <a:t>k </a:t>
            </a:r>
            <a:r>
              <a:rPr lang="en-US" altLang="x-none" sz="2800" b="1" dirty="0">
                <a:latin typeface="Times New Roman" pitchFamily="18" charset="0"/>
                <a:ea typeface="Times New Roman" pitchFamily="18" charset="0"/>
              </a:rPr>
              <a:t>and</a:t>
            </a:r>
            <a:r>
              <a:rPr lang="el-GR" altLang="en-US" sz="2800" b="1" dirty="0">
                <a:latin typeface="Times New Roman" pitchFamily="18" charset="0"/>
                <a:ea typeface="Times New Roman" pitchFamily="18" charset="0"/>
              </a:rPr>
              <a:t>λ</a:t>
            </a:r>
            <a:r>
              <a:rPr lang="en-US" altLang="x-none" sz="2800" b="1" baseline="-25000" dirty="0">
                <a:latin typeface="Times New Roman" pitchFamily="18" charset="0"/>
                <a:ea typeface="Times New Roman" pitchFamily="18" charset="0"/>
              </a:rPr>
              <a:t>k </a:t>
            </a:r>
            <a:r>
              <a:rPr lang="en-US" altLang="x-none" sz="2800" b="1" dirty="0">
                <a:latin typeface="Times New Roman" pitchFamily="18" charset="0"/>
                <a:ea typeface="Times New Roman" pitchFamily="18" charset="0"/>
              </a:rPr>
              <a:t>are zeros and poles, </a:t>
            </a:r>
            <a:r>
              <a:rPr lang="el-GR" altLang="en-US" sz="2800" b="1" dirty="0">
                <a:latin typeface="Times New Roman" pitchFamily="18" charset="0"/>
                <a:ea typeface="宋体" charset="-122"/>
              </a:rPr>
              <a:t>respectively</a:t>
            </a:r>
            <a:r>
              <a:rPr lang="en-US" altLang="x-none" sz="2800" b="1" dirty="0">
                <a:latin typeface="Times New Roman" pitchFamily="18" charset="0"/>
                <a:ea typeface="宋体" charset="-122"/>
              </a:rPr>
              <a:t>.</a:t>
            </a:r>
            <a:endParaRPr lang="el-GR" altLang="en-US" sz="2800" b="1" dirty="0">
              <a:latin typeface="Times New Roman" pitchFamily="18" charset="0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/>
      <p:bldP spid="47110" grpId="0"/>
      <p:bldP spid="471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内容占位符 48130"/>
          <p:cNvSpPr>
            <a:spLocks noGrp="1"/>
          </p:cNvSpPr>
          <p:nvPr>
            <p:ph idx="1"/>
          </p:nvPr>
        </p:nvSpPr>
        <p:spPr>
          <a:xfrm>
            <a:off x="263352" y="1404714"/>
            <a:ext cx="11449273" cy="440055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We define the expression </a:t>
            </a:r>
            <a:r>
              <a:rPr lang="en-US" altLang="x-none" sz="3200" b="1" i="1" dirty="0">
                <a:latin typeface="Times New Roman" pitchFamily="18" charset="0"/>
              </a:rPr>
              <a:t>(e</a:t>
            </a:r>
            <a:r>
              <a:rPr lang="en-US" altLang="x-none" sz="3200" b="1" i="1" baseline="30000" dirty="0">
                <a:latin typeface="Times New Roman" pitchFamily="18" charset="0"/>
              </a:rPr>
              <a:t>j</a:t>
            </a:r>
            <a:r>
              <a:rPr lang="el-GR" altLang="en-US" sz="3200" b="1" i="1" baseline="30000" dirty="0">
                <a:latin typeface="Times New Roman" pitchFamily="18" charset="0"/>
                <a:ea typeface="Times New Roman" pitchFamily="18" charset="0"/>
              </a:rPr>
              <a:t>ω</a:t>
            </a:r>
            <a:r>
              <a:rPr lang="en-US" altLang="x-none" sz="3200" b="1" i="1" dirty="0">
                <a:latin typeface="Times New Roman" pitchFamily="18" charset="0"/>
                <a:ea typeface="Times New Roman" pitchFamily="18" charset="0"/>
              </a:rPr>
              <a:t>- </a:t>
            </a:r>
            <a:r>
              <a:rPr lang="el-GR" altLang="en-US" sz="3200" b="1" i="1" dirty="0">
                <a:latin typeface="Times New Roman" pitchFamily="18" charset="0"/>
              </a:rPr>
              <a:t>ξ</a:t>
            </a:r>
            <a:r>
              <a:rPr lang="en-US" altLang="x-none" sz="3200" b="1" i="1" baseline="-25000" dirty="0">
                <a:latin typeface="Times New Roman" pitchFamily="18" charset="0"/>
              </a:rPr>
              <a:t>k</a:t>
            </a:r>
            <a:r>
              <a:rPr lang="en-US" altLang="x-none" sz="3200" b="1" i="1" dirty="0">
                <a:latin typeface="Times New Roman" pitchFamily="18" charset="0"/>
              </a:rPr>
              <a:t> )</a:t>
            </a:r>
            <a:r>
              <a:rPr lang="en-US" altLang="x-none" sz="3200" b="1" dirty="0">
                <a:latin typeface="Times New Roman" pitchFamily="18" charset="0"/>
              </a:rPr>
              <a:t>and </a:t>
            </a:r>
            <a:r>
              <a:rPr lang="en-US" altLang="x-none" sz="3200" b="1" i="1" dirty="0">
                <a:latin typeface="Times New Roman" pitchFamily="18" charset="0"/>
              </a:rPr>
              <a:t>(e</a:t>
            </a:r>
            <a:r>
              <a:rPr lang="en-US" altLang="x-none" sz="3200" b="1" i="1" baseline="30000" dirty="0">
                <a:latin typeface="Times New Roman" pitchFamily="18" charset="0"/>
              </a:rPr>
              <a:t>j</a:t>
            </a:r>
            <a:r>
              <a:rPr lang="el-GR" altLang="en-US" sz="3200" b="1" i="1" baseline="30000" dirty="0">
                <a:latin typeface="Times New Roman" pitchFamily="18" charset="0"/>
                <a:ea typeface="Times New Roman" pitchFamily="18" charset="0"/>
              </a:rPr>
              <a:t>ω</a:t>
            </a:r>
            <a:r>
              <a:rPr lang="el-GR" altLang="en-US" sz="3200" b="1" i="1" dirty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en-US" altLang="x-none" sz="3200" b="1" i="1" dirty="0">
                <a:latin typeface="Times New Roman" pitchFamily="18" charset="0"/>
                <a:ea typeface="Times New Roman" pitchFamily="18" charset="0"/>
              </a:rPr>
              <a:t>- </a:t>
            </a:r>
            <a:r>
              <a:rPr lang="el-GR" altLang="en-US" sz="3200" b="1" i="1" dirty="0">
                <a:latin typeface="Times New Roman" pitchFamily="18" charset="0"/>
              </a:rPr>
              <a:t>λ</a:t>
            </a:r>
            <a:r>
              <a:rPr lang="en-US" altLang="x-none" sz="3200" b="1" i="1" baseline="-25000" dirty="0">
                <a:latin typeface="Times New Roman" pitchFamily="18" charset="0"/>
              </a:rPr>
              <a:t>k</a:t>
            </a:r>
            <a:r>
              <a:rPr lang="en-US" altLang="x-none" sz="3200" b="1" i="1" dirty="0">
                <a:latin typeface="Times New Roman" pitchFamily="18" charset="0"/>
              </a:rPr>
              <a:t> )</a:t>
            </a:r>
            <a:r>
              <a:rPr lang="en-US" altLang="x-none" sz="3200" b="1" dirty="0">
                <a:latin typeface="Times New Roman" pitchFamily="18" charset="0"/>
              </a:rPr>
              <a:t> as </a:t>
            </a:r>
            <a:r>
              <a:rPr lang="en-US" altLang="x-none" sz="3200" b="1" i="1" dirty="0">
                <a:latin typeface="Times New Roman" pitchFamily="18" charset="0"/>
              </a:rPr>
              <a:t>zero vectors</a:t>
            </a:r>
            <a:r>
              <a:rPr lang="en-US" altLang="x-none" sz="3200" b="1" dirty="0">
                <a:latin typeface="Times New Roman" pitchFamily="18" charset="0"/>
              </a:rPr>
              <a:t> and </a:t>
            </a:r>
            <a:r>
              <a:rPr lang="en-US" altLang="x-none" sz="3200" b="1" i="1" dirty="0">
                <a:latin typeface="Times New Roman" pitchFamily="18" charset="0"/>
              </a:rPr>
              <a:t>pole vectors</a:t>
            </a:r>
            <a:r>
              <a:rPr lang="en-US" altLang="x-none" sz="3200" b="1" dirty="0">
                <a:latin typeface="Times New Roman" pitchFamily="18" charset="0"/>
              </a:rPr>
              <a:t>.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When </a:t>
            </a:r>
            <a:r>
              <a:rPr lang="el-GR" altLang="en-US" sz="3200" b="1" dirty="0">
                <a:latin typeface="Times New Roman" pitchFamily="18" charset="0"/>
              </a:rPr>
              <a:t>ξ</a:t>
            </a:r>
            <a:r>
              <a:rPr lang="en-US" altLang="x-none" sz="3200" b="1" baseline="-25000" dirty="0">
                <a:latin typeface="Times New Roman" pitchFamily="18" charset="0"/>
              </a:rPr>
              <a:t>k</a:t>
            </a:r>
            <a:r>
              <a:rPr lang="en-US" altLang="x-none" sz="3200" b="1" dirty="0">
                <a:latin typeface="Times New Roman" pitchFamily="18" charset="0"/>
              </a:rPr>
              <a:t> and </a:t>
            </a:r>
            <a:r>
              <a:rPr lang="el-GR" altLang="en-US" sz="3200" b="1" dirty="0">
                <a:latin typeface="Times New Roman" pitchFamily="18" charset="0"/>
              </a:rPr>
              <a:t>λ</a:t>
            </a:r>
            <a:r>
              <a:rPr lang="en-US" altLang="x-none" sz="3200" b="1" baseline="-25000" dirty="0">
                <a:latin typeface="Times New Roman" pitchFamily="18" charset="0"/>
              </a:rPr>
              <a:t>k</a:t>
            </a:r>
            <a:r>
              <a:rPr lang="en-US" altLang="x-none" sz="3200" dirty="0">
                <a:latin typeface="Times New Roman" pitchFamily="18" charset="0"/>
              </a:rPr>
              <a:t> </a:t>
            </a:r>
            <a:r>
              <a:rPr lang="en-US" altLang="x-none" sz="3200" b="1" dirty="0">
                <a:latin typeface="Times New Roman" pitchFamily="18" charset="0"/>
              </a:rPr>
              <a:t>are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 inside</a:t>
            </a:r>
            <a:r>
              <a:rPr lang="en-US" altLang="x-none" sz="3200" b="1" dirty="0">
                <a:latin typeface="Times New Roman" pitchFamily="18" charset="0"/>
              </a:rPr>
              <a:t> the unit </a:t>
            </a:r>
            <a:r>
              <a:rPr lang="en-US" altLang="x-none" sz="3200" b="1" dirty="0" smtClean="0">
                <a:latin typeface="Times New Roman" pitchFamily="18" charset="0"/>
              </a:rPr>
              <a:t>circle, and </a:t>
            </a:r>
            <a:r>
              <a:rPr lang="el-GR" altLang="en-US" sz="3200" b="1" dirty="0" smtClean="0">
                <a:latin typeface="Times New Roman" pitchFamily="18" charset="0"/>
                <a:ea typeface="Times New Roman" pitchFamily="18" charset="0"/>
              </a:rPr>
              <a:t>ω</a:t>
            </a:r>
            <a:r>
              <a:rPr lang="en-US" altLang="en-US" sz="3200" b="1" dirty="0" smtClean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en-US" altLang="x-none" sz="3200" b="1" dirty="0" smtClean="0">
                <a:latin typeface="Times New Roman" pitchFamily="18" charset="0"/>
                <a:ea typeface="Times New Roman" pitchFamily="18" charset="0"/>
              </a:rPr>
              <a:t>change 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</a:rPr>
              <a:t>from 0 to 2</a:t>
            </a:r>
            <a:r>
              <a:rPr lang="el-GR" altLang="en-US" sz="3200" b="1" dirty="0">
                <a:latin typeface="Times New Roman" pitchFamily="18" charset="0"/>
                <a:ea typeface="Times New Roman" pitchFamily="18" charset="0"/>
              </a:rPr>
              <a:t>π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</a:rPr>
              <a:t>, the change of phase of the zero (pole) vectors are 2</a:t>
            </a:r>
            <a:r>
              <a:rPr lang="el-GR" altLang="en-US" sz="3200" b="1" dirty="0">
                <a:latin typeface="Times New Roman" pitchFamily="18" charset="0"/>
                <a:ea typeface="Times New Roman" pitchFamily="18" charset="0"/>
              </a:rPr>
              <a:t>π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</a:rPr>
              <a:t>. 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r>
              <a:rPr lang="en-US" altLang="x-none" sz="3200" b="1" dirty="0" smtClean="0">
                <a:latin typeface="Times New Roman" pitchFamily="18" charset="0"/>
              </a:rPr>
              <a:t>When </a:t>
            </a:r>
            <a:r>
              <a:rPr lang="el-GR" altLang="en-US" sz="3200" b="1" dirty="0">
                <a:latin typeface="Times New Roman" pitchFamily="18" charset="0"/>
              </a:rPr>
              <a:t>ξ</a:t>
            </a:r>
            <a:r>
              <a:rPr lang="en-US" altLang="x-none" sz="3200" b="1" baseline="-25000" dirty="0">
                <a:latin typeface="Times New Roman" pitchFamily="18" charset="0"/>
              </a:rPr>
              <a:t>k</a:t>
            </a:r>
            <a:r>
              <a:rPr lang="en-US" altLang="x-none" sz="3200" b="1" dirty="0">
                <a:latin typeface="Times New Roman" pitchFamily="18" charset="0"/>
              </a:rPr>
              <a:t> and </a:t>
            </a:r>
            <a:r>
              <a:rPr lang="el-GR" altLang="en-US" sz="3200" b="1" dirty="0">
                <a:latin typeface="Times New Roman" pitchFamily="18" charset="0"/>
              </a:rPr>
              <a:t>λ</a:t>
            </a:r>
            <a:r>
              <a:rPr lang="en-US" altLang="x-none" sz="3200" b="1" baseline="-25000" dirty="0">
                <a:latin typeface="Times New Roman" pitchFamily="18" charset="0"/>
              </a:rPr>
              <a:t>k</a:t>
            </a:r>
            <a:r>
              <a:rPr lang="en-US" altLang="x-none" sz="3200" dirty="0">
                <a:latin typeface="Times New Roman" pitchFamily="18" charset="0"/>
              </a:rPr>
              <a:t> </a:t>
            </a:r>
            <a:r>
              <a:rPr lang="en-US" altLang="x-none" sz="3200" b="1" dirty="0">
                <a:latin typeface="Times New Roman" pitchFamily="18" charset="0"/>
              </a:rPr>
              <a:t>are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 outside</a:t>
            </a:r>
            <a:r>
              <a:rPr lang="en-US" altLang="x-none" sz="3200" b="1" dirty="0">
                <a:latin typeface="Times New Roman" pitchFamily="18" charset="0"/>
              </a:rPr>
              <a:t> the unit </a:t>
            </a:r>
            <a:r>
              <a:rPr lang="en-US" altLang="x-none" sz="3200" b="1" dirty="0" smtClean="0">
                <a:latin typeface="Times New Roman" pitchFamily="18" charset="0"/>
              </a:rPr>
              <a:t>circle, and </a:t>
            </a:r>
            <a:r>
              <a:rPr lang="el-GR" altLang="en-US" sz="3200" b="1" dirty="0" smtClean="0">
                <a:latin typeface="Times New Roman" pitchFamily="18" charset="0"/>
                <a:ea typeface="Times New Roman" pitchFamily="18" charset="0"/>
              </a:rPr>
              <a:t>ω</a:t>
            </a:r>
            <a:r>
              <a:rPr lang="en-US" altLang="en-US" sz="3200" b="1" dirty="0" smtClean="0">
                <a:latin typeface="Times New Roman" pitchFamily="18" charset="0"/>
                <a:ea typeface="Times New Roman" pitchFamily="18" charset="0"/>
              </a:rPr>
              <a:t> </a:t>
            </a:r>
            <a:r>
              <a:rPr lang="en-US" altLang="x-none" sz="3200" b="1" dirty="0" smtClean="0">
                <a:latin typeface="Times New Roman" pitchFamily="18" charset="0"/>
                <a:ea typeface="Times New Roman" pitchFamily="18" charset="0"/>
              </a:rPr>
              <a:t>change 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</a:rPr>
              <a:t>from 0 to 2</a:t>
            </a:r>
            <a:r>
              <a:rPr lang="el-GR" altLang="en-US" sz="3200" b="1" dirty="0">
                <a:latin typeface="Times New Roman" pitchFamily="18" charset="0"/>
                <a:ea typeface="Times New Roman" pitchFamily="18" charset="0"/>
              </a:rPr>
              <a:t>π</a:t>
            </a:r>
            <a:r>
              <a:rPr lang="en-US" altLang="x-none" sz="3200" b="1" dirty="0">
                <a:latin typeface="Times New Roman" pitchFamily="18" charset="0"/>
                <a:ea typeface="Times New Roman" pitchFamily="18" charset="0"/>
              </a:rPr>
              <a:t>, the change of phase of the zero (pole) vectors are 0. </a:t>
            </a:r>
            <a:endParaRPr lang="el-GR" altLang="en-US" sz="3200" b="1" dirty="0"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7105" name="标题 47105"/>
          <p:cNvSpPr>
            <a:spLocks noGrp="1"/>
          </p:cNvSpPr>
          <p:nvPr>
            <p:ph type="title"/>
          </p:nvPr>
        </p:nvSpPr>
        <p:spPr>
          <a:xfrm>
            <a:off x="839470" y="-27305"/>
            <a:ext cx="874522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7.2.3 Minimum-Phase and Maximum-Phase Transfer Function </a:t>
            </a:r>
            <a:r>
              <a:rPr lang="en-US" altLang="x-none" dirty="0">
                <a:solidFill>
                  <a:srgbClr val="FF0000"/>
                </a:solidFill>
                <a:latin typeface="Times New Roman" pitchFamily="18" charset="0"/>
                <a:sym typeface="+mn-ea"/>
              </a:rPr>
              <a:t>difficulty</a:t>
            </a:r>
            <a:endParaRPr lang="en-US" altLang="x-none" b="1" i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文本占位符 49154"/>
          <p:cNvSpPr>
            <a:spLocks noGrp="1"/>
          </p:cNvSpPr>
          <p:nvPr>
            <p:ph type="body" sz="half" idx="1"/>
          </p:nvPr>
        </p:nvSpPr>
        <p:spPr>
          <a:xfrm>
            <a:off x="982980" y="1268730"/>
            <a:ext cx="8263255" cy="1584325"/>
          </a:xfrm>
        </p:spPr>
        <p:txBody>
          <a:bodyPr anchor="t"/>
          <a:lstStyle/>
          <a:p>
            <a:r>
              <a:rPr lang="en-US" altLang="x-none" sz="3200" b="1" kern="1200" dirty="0">
                <a:latin typeface="Times New Roman" pitchFamily="18" charset="0"/>
              </a:rPr>
              <a:t>So, only zeros or poles inside the unit circle can affect phase function of H(e</a:t>
            </a:r>
            <a:r>
              <a:rPr lang="en-US" altLang="x-none" sz="3200" b="1" kern="1200" baseline="30000" dirty="0">
                <a:latin typeface="Times New Roman" pitchFamily="18" charset="0"/>
              </a:rPr>
              <a:t>j</a:t>
            </a:r>
            <a:r>
              <a:rPr lang="el-GR" altLang="en-US" sz="3200" b="1" kern="1200" baseline="30000" dirty="0">
                <a:latin typeface="Times New Roman" pitchFamily="18" charset="0"/>
                <a:ea typeface="Times New Roman" pitchFamily="18" charset="0"/>
              </a:rPr>
              <a:t>ω</a:t>
            </a:r>
            <a:r>
              <a:rPr lang="en-US" altLang="x-none" sz="3200" b="1" kern="1200" dirty="0">
                <a:latin typeface="Times New Roman" pitchFamily="18" charset="0"/>
              </a:rPr>
              <a:t>).</a:t>
            </a:r>
          </a:p>
          <a:p>
            <a:r>
              <a:rPr lang="en-US" altLang="x-none" sz="3200" b="1" kern="1200" dirty="0">
                <a:latin typeface="Times New Roman" pitchFamily="18" charset="0"/>
              </a:rPr>
              <a:t>For </a:t>
            </a:r>
            <a:r>
              <a:rPr lang="en-US" altLang="x-none" sz="3200" b="1" kern="1200" dirty="0">
                <a:solidFill>
                  <a:srgbClr val="FF0000"/>
                </a:solidFill>
                <a:latin typeface="Times New Roman" pitchFamily="18" charset="0"/>
              </a:rPr>
              <a:t>causal stable </a:t>
            </a:r>
            <a:r>
              <a:rPr lang="en-US" altLang="x-none" sz="3200" b="1" kern="1200" dirty="0">
                <a:latin typeface="Times New Roman" pitchFamily="18" charset="0"/>
              </a:rPr>
              <a:t>system, we can deduce:</a:t>
            </a:r>
          </a:p>
        </p:txBody>
      </p:sp>
      <p:graphicFrame>
        <p:nvGraphicFramePr>
          <p:cNvPr id="49156" name="内容占位符 4915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16142085"/>
              </p:ext>
            </p:extLst>
          </p:nvPr>
        </p:nvGraphicFramePr>
        <p:xfrm>
          <a:off x="4007768" y="2852936"/>
          <a:ext cx="3529012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3" r:id="rId3" imgW="1389380" imgH="459105" progId="Equation.DSMT4">
                  <p:embed/>
                </p:oleObj>
              </mc:Choice>
              <mc:Fallback>
                <p:oleObj r:id="rId3" imgW="1389380" imgH="459105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7768" y="2852936"/>
                        <a:ext cx="3529012" cy="11652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文本框 49156"/>
          <p:cNvSpPr txBox="1"/>
          <p:nvPr/>
        </p:nvSpPr>
        <p:spPr>
          <a:xfrm>
            <a:off x="1055370" y="3861435"/>
            <a:ext cx="9721150" cy="132343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	So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, it’s the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phase delay (lag)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system.</a:t>
            </a:r>
          </a:p>
          <a:p>
            <a:pPr marL="457200" lvl="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When all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zeros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are all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inside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the unit circle, we get:</a:t>
            </a:r>
          </a:p>
        </p:txBody>
      </p:sp>
      <p:graphicFrame>
        <p:nvGraphicFramePr>
          <p:cNvPr id="49158" name="内容占位符 4915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063115" y="5085398"/>
          <a:ext cx="3368675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4" r:id="rId5" imgW="1389380" imgH="459105" progId="Equation.DSMT4">
                  <p:embed/>
                </p:oleObj>
              </mc:Choice>
              <mc:Fallback>
                <p:oleObj r:id="rId5" imgW="1389380" imgH="459105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63115" y="5085398"/>
                        <a:ext cx="3368675" cy="111283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文本框 49158"/>
          <p:cNvSpPr txBox="1"/>
          <p:nvPr/>
        </p:nvSpPr>
        <p:spPr>
          <a:xfrm>
            <a:off x="5520055" y="5661025"/>
            <a:ext cx="7345363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It’s the </a:t>
            </a:r>
            <a:r>
              <a:rPr lang="en-US" altLang="x-none" sz="3200" b="1" i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minimum phase delay system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.</a:t>
            </a:r>
          </a:p>
        </p:txBody>
      </p:sp>
      <p:sp>
        <p:nvSpPr>
          <p:cNvPr id="47105" name="标题 47105"/>
          <p:cNvSpPr>
            <a:spLocks noGrp="1"/>
          </p:cNvSpPr>
          <p:nvPr>
            <p:ph type="title"/>
          </p:nvPr>
        </p:nvSpPr>
        <p:spPr>
          <a:xfrm>
            <a:off x="839470" y="-27305"/>
            <a:ext cx="874522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7.2.3 Minimum-Phase and Maximum-Phase Transfer Function </a:t>
            </a:r>
            <a:r>
              <a:rPr lang="en-US" altLang="x-none" dirty="0">
                <a:solidFill>
                  <a:srgbClr val="FF0000"/>
                </a:solidFill>
                <a:latin typeface="Times New Roman" pitchFamily="18" charset="0"/>
                <a:sym typeface="+mn-ea"/>
              </a:rPr>
              <a:t>difficulty</a:t>
            </a:r>
            <a:endParaRPr lang="en-US" altLang="x-none" b="1" i="1" dirty="0">
              <a:latin typeface="Times New Roman" pitchFamily="18" charset="0"/>
            </a:endParaRPr>
          </a:p>
        </p:txBody>
      </p:sp>
      <p:pic>
        <p:nvPicPr>
          <p:cNvPr id="8" name="Picture 5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684" y="2708920"/>
            <a:ext cx="936104" cy="1442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4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build="p"/>
      <p:bldP spid="49157" grpId="0"/>
      <p:bldP spid="4915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文本占位符 50178"/>
          <p:cNvSpPr>
            <a:spLocks noGrp="1"/>
          </p:cNvSpPr>
          <p:nvPr>
            <p:ph type="body" sz="half" idx="1"/>
          </p:nvPr>
        </p:nvSpPr>
        <p:spPr>
          <a:xfrm>
            <a:off x="982662" y="1340803"/>
            <a:ext cx="9577834" cy="584200"/>
          </a:xfrm>
        </p:spPr>
        <p:txBody>
          <a:bodyPr anchor="t"/>
          <a:lstStyle/>
          <a:p>
            <a:pPr>
              <a:spcBef>
                <a:spcPct val="50000"/>
              </a:spcBef>
            </a:pPr>
            <a:r>
              <a:rPr lang="en-US" altLang="x-none" sz="3200" b="1" kern="1200" dirty="0">
                <a:latin typeface="Times New Roman" pitchFamily="18" charset="0"/>
              </a:rPr>
              <a:t>When </a:t>
            </a:r>
            <a:r>
              <a:rPr lang="en-US" altLang="x-none" sz="3200" b="1" kern="1200" dirty="0">
                <a:solidFill>
                  <a:srgbClr val="FF0000"/>
                </a:solidFill>
                <a:latin typeface="Times New Roman" pitchFamily="18" charset="0"/>
              </a:rPr>
              <a:t>all</a:t>
            </a:r>
            <a:r>
              <a:rPr lang="en-US" altLang="x-none" sz="3200" b="1" kern="1200" dirty="0">
                <a:latin typeface="Times New Roman" pitchFamily="18" charset="0"/>
              </a:rPr>
              <a:t> </a:t>
            </a:r>
            <a:r>
              <a:rPr lang="en-US" altLang="x-none" sz="3200" b="1" kern="1200" dirty="0">
                <a:solidFill>
                  <a:srgbClr val="FF0000"/>
                </a:solidFill>
                <a:latin typeface="Times New Roman" pitchFamily="18" charset="0"/>
              </a:rPr>
              <a:t>zeros</a:t>
            </a:r>
            <a:r>
              <a:rPr lang="en-US" altLang="x-none" sz="3200" b="1" kern="1200" dirty="0">
                <a:latin typeface="Times New Roman" pitchFamily="18" charset="0"/>
              </a:rPr>
              <a:t> are all </a:t>
            </a:r>
            <a:r>
              <a:rPr lang="en-US" altLang="x-none" sz="3200" b="1" kern="1200" dirty="0">
                <a:solidFill>
                  <a:srgbClr val="FF0000"/>
                </a:solidFill>
                <a:latin typeface="Times New Roman" pitchFamily="18" charset="0"/>
              </a:rPr>
              <a:t>outside</a:t>
            </a:r>
            <a:r>
              <a:rPr lang="en-US" altLang="x-none" sz="3200" b="1" kern="1200" dirty="0">
                <a:latin typeface="Times New Roman" pitchFamily="18" charset="0"/>
              </a:rPr>
              <a:t> the unit circle, we get:</a:t>
            </a:r>
          </a:p>
          <a:p>
            <a:pPr>
              <a:buNone/>
            </a:pPr>
            <a:endParaRPr lang="en-US" altLang="x-none" sz="3200" b="1" kern="1200" dirty="0">
              <a:latin typeface="Times New Roman" pitchFamily="18" charset="0"/>
            </a:endParaRPr>
          </a:p>
        </p:txBody>
      </p:sp>
      <p:graphicFrame>
        <p:nvGraphicFramePr>
          <p:cNvPr id="50180" name="内容占位符 50179"/>
          <p:cNvGraphicFramePr>
            <a:graphicFrameLocks noGrp="1" noChangeAspect="1"/>
          </p:cNvGraphicFramePr>
          <p:nvPr>
            <p:ph sz="half" idx="2"/>
          </p:nvPr>
        </p:nvGraphicFramePr>
        <p:xfrm>
          <a:off x="2999423" y="1845310"/>
          <a:ext cx="4389437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4" r:id="rId3" imgW="1727200" imgH="457200" progId="Equation.DSMT4">
                  <p:embed/>
                </p:oleObj>
              </mc:Choice>
              <mc:Fallback>
                <p:oleObj r:id="rId3" imgW="1727200" imgH="4572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9423" y="1845310"/>
                        <a:ext cx="4389437" cy="11620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文本框 50180"/>
          <p:cNvSpPr txBox="1"/>
          <p:nvPr/>
        </p:nvSpPr>
        <p:spPr>
          <a:xfrm>
            <a:off x="1055440" y="2925445"/>
            <a:ext cx="10081061" cy="275152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where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M is the number of 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zeros. It’s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 </a:t>
            </a:r>
            <a:r>
              <a:rPr lang="en-US" altLang="x-none" sz="3200" b="1" i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maximum </a:t>
            </a:r>
            <a:r>
              <a:rPr lang="en-US" altLang="x-none" sz="3200" b="1" i="1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    phase </a:t>
            </a:r>
            <a:r>
              <a:rPr lang="en-US" altLang="x-none" sz="3200" b="1" i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delay system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.</a:t>
            </a:r>
          </a:p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A transfer function with zeros inside and outside the unit circle is called a </a:t>
            </a:r>
            <a:r>
              <a:rPr lang="en-US" altLang="x-none" sz="3200" b="1" i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mixed-phase transfer function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.</a:t>
            </a:r>
          </a:p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Example 7.4</a:t>
            </a:r>
            <a:endParaRPr lang="en-US" altLang="x-none" sz="3200" b="1" dirty="0">
              <a:solidFill>
                <a:srgbClr val="3366CC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7105" name="标题 47105"/>
          <p:cNvSpPr>
            <a:spLocks noGrp="1"/>
          </p:cNvSpPr>
          <p:nvPr>
            <p:ph type="title"/>
          </p:nvPr>
        </p:nvSpPr>
        <p:spPr>
          <a:xfrm>
            <a:off x="839470" y="-27305"/>
            <a:ext cx="874522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7.2.3 Minimum-Phase and Maximum-Phase Transfer Function </a:t>
            </a:r>
            <a:r>
              <a:rPr lang="en-US" altLang="x-none" dirty="0">
                <a:solidFill>
                  <a:srgbClr val="FF0000"/>
                </a:solidFill>
                <a:latin typeface="Times New Roman" pitchFamily="18" charset="0"/>
                <a:sym typeface="+mn-ea"/>
              </a:rPr>
              <a:t>difficulty</a:t>
            </a:r>
            <a:endParaRPr lang="en-US" altLang="x-none" b="1" i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5018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文本框 50180"/>
          <p:cNvSpPr txBox="1"/>
          <p:nvPr/>
        </p:nvSpPr>
        <p:spPr>
          <a:xfrm>
            <a:off x="623392" y="1268760"/>
            <a:ext cx="10081061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Example 7.4</a:t>
            </a:r>
            <a:endParaRPr lang="en-US" altLang="x-none" sz="3200" b="1" dirty="0">
              <a:solidFill>
                <a:srgbClr val="3366CC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47105" name="标题 47105"/>
          <p:cNvSpPr>
            <a:spLocks noGrp="1"/>
          </p:cNvSpPr>
          <p:nvPr>
            <p:ph type="title"/>
          </p:nvPr>
        </p:nvSpPr>
        <p:spPr>
          <a:xfrm>
            <a:off x="839470" y="-27305"/>
            <a:ext cx="874522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7.2.3 Minimum-Phase and Maximum-Phase Transfer Function </a:t>
            </a:r>
            <a:r>
              <a:rPr lang="en-US" altLang="x-none" dirty="0">
                <a:solidFill>
                  <a:srgbClr val="FF0000"/>
                </a:solidFill>
                <a:latin typeface="Times New Roman" pitchFamily="18" charset="0"/>
                <a:sym typeface="+mn-ea"/>
              </a:rPr>
              <a:t>difficulty</a:t>
            </a:r>
            <a:endParaRPr lang="en-US" altLang="x-none" b="1" i="1" dirty="0">
              <a:latin typeface="Times New Roman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4854309"/>
              </p:ext>
            </p:extLst>
          </p:nvPr>
        </p:nvGraphicFramePr>
        <p:xfrm>
          <a:off x="3827717" y="1700808"/>
          <a:ext cx="3420411" cy="798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21" name="Equation" r:id="rId3" imgW="1904760" imgH="444240" progId="Equation.DSMT4">
                  <p:embed/>
                </p:oleObj>
              </mc:Choice>
              <mc:Fallback>
                <p:oleObj name="Equation" r:id="rId3" imgW="190476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7717" y="1700808"/>
                        <a:ext cx="3420411" cy="798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50180"/>
          <p:cNvSpPr txBox="1"/>
          <p:nvPr/>
        </p:nvSpPr>
        <p:spPr>
          <a:xfrm>
            <a:off x="623392" y="2420888"/>
            <a:ext cx="10081061" cy="10772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200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It’s mixed-phase transfer function. On the other hand, notice that</a:t>
            </a:r>
            <a:endParaRPr lang="en-US" altLang="x-none" sz="3200" b="1" dirty="0">
              <a:solidFill>
                <a:srgbClr val="3366CC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5172919"/>
              </p:ext>
            </p:extLst>
          </p:nvPr>
        </p:nvGraphicFramePr>
        <p:xfrm>
          <a:off x="2787267" y="3284984"/>
          <a:ext cx="5753309" cy="1249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22" name="Equation" r:id="rId5" imgW="2984400" imgH="647640" progId="Equation.DSMT4">
                  <p:embed/>
                </p:oleObj>
              </mc:Choice>
              <mc:Fallback>
                <p:oleObj name="Equation" r:id="rId5" imgW="2984400" imgH="64764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267" y="3284984"/>
                        <a:ext cx="5753309" cy="1249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100927"/>
              </p:ext>
            </p:extLst>
          </p:nvPr>
        </p:nvGraphicFramePr>
        <p:xfrm>
          <a:off x="2783632" y="4869160"/>
          <a:ext cx="5606256" cy="125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23" name="Equation" r:id="rId7" imgW="2908080" imgH="647640" progId="Equation.DSMT4">
                  <p:embed/>
                </p:oleObj>
              </mc:Choice>
              <mc:Fallback>
                <p:oleObj name="Equation" r:id="rId7" imgW="2908080" imgH="6476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632" y="4869160"/>
                        <a:ext cx="5606256" cy="125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592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1" grpId="0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  <p:sp>
        <p:nvSpPr>
          <p:cNvPr id="51203" name="内容占位符 51202"/>
          <p:cNvSpPr>
            <a:spLocks noGrp="1"/>
          </p:cNvSpPr>
          <p:nvPr>
            <p:ph idx="1"/>
          </p:nvPr>
        </p:nvSpPr>
        <p:spPr>
          <a:xfrm>
            <a:off x="695325" y="1402040"/>
            <a:ext cx="10153203" cy="490728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It is nearly impossible to design a linear-phase IIR transfer function.</a:t>
            </a:r>
          </a:p>
          <a:p>
            <a:pPr>
              <a:lnSpc>
                <a:spcPct val="90000"/>
              </a:lnSpc>
            </a:pPr>
            <a:endParaRPr lang="en-US" altLang="x-none" sz="3200" b="1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x-none" sz="3200" b="1" dirty="0" smtClean="0">
                <a:latin typeface="Times New Roman" pitchFamily="18" charset="0"/>
              </a:rPr>
              <a:t>It </a:t>
            </a:r>
            <a:r>
              <a:rPr lang="en-US" altLang="x-none" sz="3200" b="1" dirty="0">
                <a:latin typeface="Times New Roman" pitchFamily="18" charset="0"/>
              </a:rPr>
              <a:t>is always possible to design an FIR transfer function with an exact linear-phase response.</a:t>
            </a:r>
          </a:p>
          <a:p>
            <a:pPr>
              <a:lnSpc>
                <a:spcPct val="90000"/>
              </a:lnSpc>
            </a:pPr>
            <a:endParaRPr lang="en-US" altLang="x-none" sz="3200" b="1" dirty="0" smtClean="0">
              <a:latin typeface="Times New Roman" pitchFamily="18" charset="0"/>
            </a:endParaRPr>
          </a:p>
        </p:txBody>
      </p:sp>
      <p:pic>
        <p:nvPicPr>
          <p:cNvPr id="4" name="Picture 5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4294953"/>
            <a:ext cx="1080120" cy="16649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631504" y="4294953"/>
            <a:ext cx="7032104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altLang="x-none" sz="3600" b="1" dirty="0">
                <a:solidFill>
                  <a:srgbClr val="FF0000"/>
                </a:solidFill>
                <a:latin typeface="Times New Roman" pitchFamily="18" charset="0"/>
              </a:rPr>
              <a:t>Under what conditions </a:t>
            </a:r>
            <a:r>
              <a:rPr lang="en-US" altLang="x-none" sz="3600" b="1" dirty="0" smtClean="0">
                <a:solidFill>
                  <a:srgbClr val="FF0000"/>
                </a:solidFill>
                <a:latin typeface="Times New Roman" pitchFamily="18" charset="0"/>
              </a:rPr>
              <a:t>an FIR </a:t>
            </a:r>
            <a:r>
              <a:rPr lang="en-US" altLang="x-none" sz="3600" b="1" dirty="0">
                <a:solidFill>
                  <a:srgbClr val="FF0000"/>
                </a:solidFill>
                <a:latin typeface="Times New Roman" pitchFamily="18" charset="0"/>
              </a:rPr>
              <a:t>transfer function </a:t>
            </a:r>
            <a:r>
              <a:rPr lang="en-US" altLang="x-none" sz="3600" b="1" dirty="0" smtClean="0">
                <a:solidFill>
                  <a:srgbClr val="FF0000"/>
                </a:solidFill>
                <a:latin typeface="Times New Roman" pitchFamily="18" charset="0"/>
              </a:rPr>
              <a:t>is linear-phase</a:t>
            </a:r>
            <a:r>
              <a:rPr lang="en-US" altLang="x-none" sz="3600" b="1" dirty="0">
                <a:solidFill>
                  <a:srgbClr val="FF0000"/>
                </a:solidFill>
                <a:latin typeface="Times New Roman" pitchFamily="18" charset="0"/>
              </a:rPr>
              <a:t>?</a:t>
            </a:r>
            <a:endParaRPr lang="zh-CN" altLang="en-US" sz="3600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文本占位符 52226"/>
          <p:cNvSpPr>
            <a:spLocks noGrp="1"/>
          </p:cNvSpPr>
          <p:nvPr>
            <p:ph type="body" sz="half" idx="1"/>
          </p:nvPr>
        </p:nvSpPr>
        <p:spPr>
          <a:xfrm>
            <a:off x="695325" y="2924810"/>
            <a:ext cx="10441235" cy="955675"/>
          </a:xfrm>
        </p:spPr>
        <p:txBody>
          <a:bodyPr anchor="t"/>
          <a:lstStyle/>
          <a:p>
            <a:r>
              <a:rPr lang="en-US" altLang="x-none" sz="3200" b="1" kern="1200" dirty="0">
                <a:solidFill>
                  <a:srgbClr val="3366CC"/>
                </a:solidFill>
                <a:latin typeface="Times New Roman" pitchFamily="18" charset="0"/>
              </a:rPr>
              <a:t>If H(z) is to have a linear-phase, its frequency response must be of the form</a:t>
            </a:r>
          </a:p>
        </p:txBody>
      </p:sp>
      <p:graphicFrame>
        <p:nvGraphicFramePr>
          <p:cNvPr id="52228" name="内容占位符 5222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602888670"/>
              </p:ext>
            </p:extLst>
          </p:nvPr>
        </p:nvGraphicFramePr>
        <p:xfrm>
          <a:off x="3863783" y="3901123"/>
          <a:ext cx="367188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1" r:id="rId3" imgW="1324610" imgH="229235" progId="Equation.DSMT4">
                  <p:embed/>
                </p:oleObj>
              </mc:Choice>
              <mc:Fallback>
                <p:oleObj r:id="rId3" imgW="1324610" imgH="229235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63783" y="3901123"/>
                        <a:ext cx="3671888" cy="6223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29" name="组合 52228"/>
          <p:cNvGrpSpPr/>
          <p:nvPr/>
        </p:nvGrpSpPr>
        <p:grpSpPr>
          <a:xfrm>
            <a:off x="767080" y="4523423"/>
            <a:ext cx="10297108" cy="1570038"/>
            <a:chOff x="0" y="145"/>
            <a:chExt cx="6835" cy="989"/>
          </a:xfrm>
        </p:grpSpPr>
        <p:sp>
          <p:nvSpPr>
            <p:cNvPr id="2" name="文本框 52229"/>
            <p:cNvSpPr txBox="1"/>
            <p:nvPr/>
          </p:nvSpPr>
          <p:spPr>
            <a:xfrm>
              <a:off x="0" y="145"/>
              <a:ext cx="6835" cy="98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where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c and </a:t>
              </a:r>
              <a:r>
                <a:rPr lang="el-GR" altLang="en-US" sz="3200" b="1" dirty="0" smtClean="0">
                  <a:solidFill>
                    <a:srgbClr val="3366CC"/>
                  </a:solidFill>
                  <a:latin typeface="Times New Roman" pitchFamily="18" charset="0"/>
                  <a:ea typeface="Times New Roman" pitchFamily="18" charset="0"/>
                </a:rPr>
                <a:t>β</a:t>
              </a:r>
              <a:r>
                <a:rPr lang="en-US" altLang="en-US" sz="3200" b="1" dirty="0" smtClean="0">
                  <a:solidFill>
                    <a:srgbClr val="3366CC"/>
                  </a:solidFill>
                  <a:latin typeface="Times New Roman" pitchFamily="18" charset="0"/>
                  <a:ea typeface="Times New Roman" pitchFamily="18" charset="0"/>
                </a:rPr>
                <a:t> </a:t>
              </a: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are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constants, and          , called the </a:t>
              </a:r>
              <a:r>
                <a:rPr lang="en-US" altLang="x-none" sz="32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amplitude response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, also called the </a:t>
              </a:r>
              <a:r>
                <a:rPr lang="en-US" altLang="x-none" sz="32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zero-phase response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, is a real function of </a:t>
              </a:r>
              <a:r>
                <a:rPr lang="el-GR" altLang="en-US" sz="3200" b="1" dirty="0">
                  <a:solidFill>
                    <a:srgbClr val="3366CC"/>
                  </a:solidFill>
                  <a:latin typeface="Gungsuh" pitchFamily="2" charset="-127"/>
                  <a:ea typeface="Gungsuh" pitchFamily="2" charset="-127"/>
                </a:rPr>
                <a:t>ω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.</a:t>
              </a:r>
            </a:p>
          </p:txBody>
        </p:sp>
        <p:graphicFrame>
          <p:nvGraphicFramePr>
            <p:cNvPr id="52230" name="内容占位符 52230"/>
            <p:cNvGraphicFramePr>
              <a:graphicFrameLocks noGrp="1" noChangeAspect="1"/>
            </p:cNvGraphicFramePr>
            <p:nvPr>
              <p:ph sz="quarter" idx="4294967295"/>
              <p:extLst>
                <p:ext uri="{D42A27DB-BD31-4B8C-83A1-F6EECF244321}">
                  <p14:modId xmlns:p14="http://schemas.microsoft.com/office/powerpoint/2010/main" val="556586892"/>
                </p:ext>
              </p:extLst>
            </p:nvPr>
          </p:nvGraphicFramePr>
          <p:xfrm>
            <a:off x="3938" y="181"/>
            <a:ext cx="555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052" r:id="rId5" imgW="370840" imgH="230505" progId="Equation.DSMT4">
                    <p:embed/>
                  </p:oleObj>
                </mc:Choice>
                <mc:Fallback>
                  <p:oleObj r:id="rId5" imgW="370840" imgH="230505" progId="Equation.DSMT4">
                    <p:embed/>
                    <p:pic>
                      <p:nvPicPr>
                        <p:cNvPr id="0" name="图片 312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938" y="181"/>
                          <a:ext cx="555" cy="338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2232" name="文本框 52231"/>
          <p:cNvSpPr txBox="1"/>
          <p:nvPr/>
        </p:nvSpPr>
        <p:spPr>
          <a:xfrm>
            <a:off x="622935" y="1268730"/>
            <a:ext cx="10153585" cy="172212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Consider a causal FIR transfer function H(z) of length N+1, i.e., of order N:</a:t>
            </a:r>
          </a:p>
          <a:p>
            <a:pPr lvl="0">
              <a:spcBef>
                <a:spcPct val="50000"/>
              </a:spcBef>
            </a:pPr>
            <a:endParaRPr lang="en-US" altLang="x-none" sz="3200" b="1" dirty="0">
              <a:solidFill>
                <a:srgbClr val="3366CC"/>
              </a:solidFill>
              <a:latin typeface="Times New Roman" pitchFamily="18" charset="0"/>
              <a:ea typeface="宋体" charset="-122"/>
            </a:endParaRPr>
          </a:p>
        </p:txBody>
      </p:sp>
      <p:graphicFrame>
        <p:nvGraphicFramePr>
          <p:cNvPr id="52233" name="对象 52232"/>
          <p:cNvGraphicFramePr>
            <a:graphicFrameLocks noChangeAspect="1"/>
          </p:cNvGraphicFramePr>
          <p:nvPr/>
        </p:nvGraphicFramePr>
        <p:xfrm>
          <a:off x="2711133" y="2204403"/>
          <a:ext cx="38163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3" r:id="rId7" imgW="3479800" imgH="647700" progId="Equation.3">
                  <p:embed/>
                </p:oleObj>
              </mc:Choice>
              <mc:Fallback>
                <p:oleObj r:id="rId7" imgW="3479800" imgH="6477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1133" y="2204403"/>
                        <a:ext cx="3816350" cy="603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5223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文本占位符 53250"/>
          <p:cNvSpPr>
            <a:spLocks noGrp="1"/>
          </p:cNvSpPr>
          <p:nvPr>
            <p:ph type="body" sz="half" idx="1"/>
          </p:nvPr>
        </p:nvSpPr>
        <p:spPr>
          <a:xfrm>
            <a:off x="695325" y="1268730"/>
            <a:ext cx="10441235" cy="1388745"/>
          </a:xfrm>
        </p:spPr>
        <p:txBody>
          <a:bodyPr anchor="t"/>
          <a:lstStyle/>
          <a:p>
            <a:r>
              <a:rPr lang="en-US" altLang="x-none" sz="3200" b="1" kern="1200" dirty="0">
                <a:latin typeface="Times New Roman" pitchFamily="18" charset="0"/>
              </a:rPr>
              <a:t>For a </a:t>
            </a:r>
            <a:r>
              <a:rPr lang="en-US" altLang="x-none" sz="3200" b="1" kern="1200" dirty="0">
                <a:solidFill>
                  <a:srgbClr val="FF0000"/>
                </a:solidFill>
                <a:latin typeface="Times New Roman" pitchFamily="18" charset="0"/>
              </a:rPr>
              <a:t>real</a:t>
            </a:r>
            <a:r>
              <a:rPr lang="en-US" altLang="x-none" sz="3200" b="1" kern="1200" dirty="0">
                <a:latin typeface="Times New Roman" pitchFamily="18" charset="0"/>
              </a:rPr>
              <a:t> impulse response, the magnitude response |H(e</a:t>
            </a:r>
            <a:r>
              <a:rPr lang="en-US" altLang="x-none" sz="3200" b="1" kern="1200" baseline="30000" dirty="0">
                <a:latin typeface="Times New Roman" pitchFamily="18" charset="0"/>
              </a:rPr>
              <a:t>j</a:t>
            </a:r>
            <a:r>
              <a:rPr lang="el-GR" altLang="en-US" sz="3200" b="1" kern="1200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kern="1200" dirty="0">
                <a:latin typeface="Times New Roman" pitchFamily="18" charset="0"/>
              </a:rPr>
              <a:t>)| is an even function of , i.e., </a:t>
            </a:r>
            <a:endParaRPr lang="en-US" altLang="x-none" sz="3200" b="1" kern="1200" dirty="0" smtClean="0"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x-none" sz="3200" b="1" kern="1200" dirty="0" smtClean="0">
                <a:latin typeface="Times New Roman" pitchFamily="18" charset="0"/>
              </a:rPr>
              <a:t>|</a:t>
            </a:r>
            <a:r>
              <a:rPr lang="en-US" altLang="x-none" sz="3200" b="1" kern="1200" dirty="0">
                <a:latin typeface="Times New Roman" pitchFamily="18" charset="0"/>
              </a:rPr>
              <a:t>H(e</a:t>
            </a:r>
            <a:r>
              <a:rPr lang="en-US" altLang="x-none" sz="3200" b="1" kern="1200" baseline="30000" dirty="0">
                <a:latin typeface="Times New Roman" pitchFamily="18" charset="0"/>
              </a:rPr>
              <a:t>j</a:t>
            </a:r>
            <a:r>
              <a:rPr lang="el-GR" altLang="en-US" sz="3200" b="1" kern="1200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kern="1200" dirty="0">
                <a:latin typeface="Times New Roman" pitchFamily="18" charset="0"/>
              </a:rPr>
              <a:t>)| = |H(e</a:t>
            </a:r>
            <a:r>
              <a:rPr lang="en-US" altLang="x-none" sz="3200" b="1" kern="1200" baseline="30000" dirty="0">
                <a:latin typeface="Times New Roman" pitchFamily="18" charset="0"/>
              </a:rPr>
              <a:t>-j</a:t>
            </a:r>
            <a:r>
              <a:rPr lang="el-GR" altLang="en-US" sz="3200" b="1" kern="1200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kern="1200" dirty="0">
                <a:latin typeface="Times New Roman" pitchFamily="18" charset="0"/>
              </a:rPr>
              <a:t>)|</a:t>
            </a:r>
            <a:r>
              <a:rPr lang="en-US" altLang="x-none" sz="3200" b="1" kern="1200" dirty="0"/>
              <a:t> </a:t>
            </a:r>
          </a:p>
        </p:txBody>
      </p:sp>
      <p:graphicFrame>
        <p:nvGraphicFramePr>
          <p:cNvPr id="53252" name="内容占位符 5325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573736593"/>
              </p:ext>
            </p:extLst>
          </p:nvPr>
        </p:nvGraphicFramePr>
        <p:xfrm>
          <a:off x="4799856" y="5157192"/>
          <a:ext cx="2865437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5" r:id="rId3" imgW="968375" imgH="229235" progId="Equation.DSMT4">
                  <p:embed/>
                </p:oleObj>
              </mc:Choice>
              <mc:Fallback>
                <p:oleObj r:id="rId3" imgW="968375" imgH="229235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9856" y="5157192"/>
                        <a:ext cx="2865437" cy="6635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3" name="组合 53252"/>
          <p:cNvGrpSpPr/>
          <p:nvPr/>
        </p:nvGrpSpPr>
        <p:grpSpPr>
          <a:xfrm>
            <a:off x="766438" y="3212976"/>
            <a:ext cx="10153651" cy="1668461"/>
            <a:chOff x="-91" y="-816"/>
            <a:chExt cx="6396" cy="1051"/>
          </a:xfrm>
        </p:grpSpPr>
        <p:graphicFrame>
          <p:nvGraphicFramePr>
            <p:cNvPr id="2" name="内容占位符 53253"/>
            <p:cNvGraphicFramePr>
              <a:graphicFrameLocks noGrp="1" noChangeAspect="1"/>
            </p:cNvGraphicFramePr>
            <p:nvPr>
              <p:ph sz="quarter" idx="4294967295"/>
            </p:nvPr>
          </p:nvGraphicFramePr>
          <p:xfrm>
            <a:off x="894" y="147"/>
            <a:ext cx="1694" cy="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76" r:id="rId5" imgW="1019810" imgH="229235" progId="Equation.DSMT4">
                    <p:embed/>
                  </p:oleObj>
                </mc:Choice>
                <mc:Fallback>
                  <p:oleObj r:id="rId5" imgW="1019810" imgH="229235" progId="Equation.DSMT4">
                    <p:embed/>
                    <p:pic>
                      <p:nvPicPr>
                        <p:cNvPr id="0" name="图片 312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94" y="147"/>
                          <a:ext cx="1694" cy="20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文本框 53254"/>
            <p:cNvSpPr txBox="1"/>
            <p:nvPr/>
          </p:nvSpPr>
          <p:spPr>
            <a:xfrm>
              <a:off x="-91" y="-816"/>
              <a:ext cx="6396" cy="10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20000"/>
                </a:spcBef>
                <a:buChar char="•"/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Since</a:t>
              </a:r>
            </a:p>
            <a:p>
              <a:pPr lvl="0">
                <a:spcBef>
                  <a:spcPct val="20000"/>
                </a:spcBef>
              </a:pP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the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amplitude response is then either an even function or an odd function of </a:t>
              </a:r>
              <a:r>
                <a:rPr lang="el-GR" altLang="en-US" sz="3200" b="1" dirty="0">
                  <a:solidFill>
                    <a:srgbClr val="3366CC"/>
                  </a:solidFill>
                  <a:latin typeface="Gungsuh" pitchFamily="2" charset="-127"/>
                  <a:ea typeface="Gungsuh" pitchFamily="2" charset="-127"/>
                </a:rPr>
                <a:t>ω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, i.e.</a:t>
              </a:r>
            </a:p>
          </p:txBody>
        </p:sp>
      </p:grp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0297867"/>
              </p:ext>
            </p:extLst>
          </p:nvPr>
        </p:nvGraphicFramePr>
        <p:xfrm>
          <a:off x="2535238" y="3242394"/>
          <a:ext cx="5503862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077" name="Equation" r:id="rId7" imgW="2654280" imgH="279360" progId="Equation.DSMT4">
                  <p:embed/>
                </p:oleObj>
              </mc:Choice>
              <mc:Fallback>
                <p:oleObj name="Equation" r:id="rId7" imgW="26542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35238" y="3242394"/>
                        <a:ext cx="5503862" cy="579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文本占位符 54274"/>
          <p:cNvSpPr>
            <a:spLocks noGrp="1"/>
          </p:cNvSpPr>
          <p:nvPr>
            <p:ph type="body" sz="half" idx="1"/>
          </p:nvPr>
        </p:nvSpPr>
        <p:spPr>
          <a:xfrm>
            <a:off x="407035" y="1196975"/>
            <a:ext cx="8407400" cy="955675"/>
          </a:xfrm>
        </p:spPr>
        <p:txBody>
          <a:bodyPr anchor="t"/>
          <a:lstStyle/>
          <a:p>
            <a:r>
              <a:rPr lang="en-US" altLang="x-none" sz="3200" b="1" kern="1200" dirty="0">
                <a:latin typeface="Times New Roman" pitchFamily="18" charset="0"/>
              </a:rPr>
              <a:t>The frequency response satisfies the relation H(e</a:t>
            </a:r>
            <a:r>
              <a:rPr lang="en-US" altLang="x-none" sz="3200" b="1" kern="1200" baseline="30000" dirty="0">
                <a:latin typeface="Times New Roman" pitchFamily="18" charset="0"/>
              </a:rPr>
              <a:t>j</a:t>
            </a:r>
            <a:r>
              <a:rPr lang="el-GR" altLang="en-US" sz="3200" b="1" kern="1200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kern="1200" dirty="0">
                <a:latin typeface="Times New Roman" pitchFamily="18" charset="0"/>
              </a:rPr>
              <a:t>)=H*(e</a:t>
            </a:r>
            <a:r>
              <a:rPr lang="en-US" altLang="x-none" sz="3200" b="1" kern="1200" baseline="30000" dirty="0">
                <a:latin typeface="Times New Roman" pitchFamily="18" charset="0"/>
              </a:rPr>
              <a:t>-j</a:t>
            </a:r>
            <a:r>
              <a:rPr lang="el-GR" altLang="en-US" sz="3200" b="1" kern="1200" baseline="300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kern="1200" dirty="0">
                <a:latin typeface="Times New Roman" pitchFamily="18" charset="0"/>
              </a:rPr>
              <a:t>), or equivalently, the relation</a:t>
            </a:r>
          </a:p>
        </p:txBody>
      </p:sp>
      <p:graphicFrame>
        <p:nvGraphicFramePr>
          <p:cNvPr id="54276" name="内容占位符 54275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069880771"/>
              </p:ext>
            </p:extLst>
          </p:nvPr>
        </p:nvGraphicFramePr>
        <p:xfrm>
          <a:off x="2422843" y="2583309"/>
          <a:ext cx="52133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7" r:id="rId3" imgW="1663700" imgH="228600" progId="Equation.DSMT4">
                  <p:embed/>
                </p:oleObj>
              </mc:Choice>
              <mc:Fallback>
                <p:oleObj r:id="rId3" imgW="1663700" imgH="2286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22843" y="2583309"/>
                        <a:ext cx="5213350" cy="7016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277" name="组合 54276"/>
          <p:cNvGrpSpPr/>
          <p:nvPr/>
        </p:nvGrpSpPr>
        <p:grpSpPr>
          <a:xfrm>
            <a:off x="479108" y="3647231"/>
            <a:ext cx="10009187" cy="1908176"/>
            <a:chOff x="-408" y="0"/>
            <a:chExt cx="6305" cy="1202"/>
          </a:xfrm>
        </p:grpSpPr>
        <p:sp>
          <p:nvSpPr>
            <p:cNvPr id="2" name="文本框 54277"/>
            <p:cNvSpPr txBox="1"/>
            <p:nvPr/>
          </p:nvSpPr>
          <p:spPr>
            <a:xfrm>
              <a:off x="-408" y="0"/>
              <a:ext cx="6305" cy="120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marL="457200" lvl="0" indent="-457200">
                <a:spcBef>
                  <a:spcPct val="50000"/>
                </a:spcBef>
                <a:buFont typeface="Arial" pitchFamily="34" charset="0"/>
                <a:buChar char="•"/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If           is an </a:t>
              </a:r>
              <a:r>
                <a:rPr lang="en-US" altLang="x-none" sz="32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even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function, then the above relation leads to e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j</a:t>
              </a:r>
              <a:r>
                <a:rPr lang="el-GR" altLang="en-US" sz="3200" b="1" baseline="30000" dirty="0">
                  <a:solidFill>
                    <a:srgbClr val="3366CC"/>
                  </a:solidFill>
                  <a:latin typeface="Times New Roman" pitchFamily="18" charset="0"/>
                  <a:ea typeface="Times New Roman" pitchFamily="18" charset="0"/>
                </a:rPr>
                <a:t>β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=e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-j</a:t>
              </a:r>
              <a:r>
                <a:rPr lang="el-GR" altLang="en-US" sz="3200" b="1" baseline="30000" dirty="0">
                  <a:solidFill>
                    <a:srgbClr val="3366CC"/>
                  </a:solidFill>
                  <a:latin typeface="Times New Roman" pitchFamily="18" charset="0"/>
                  <a:ea typeface="Times New Roman" pitchFamily="18" charset="0"/>
                </a:rPr>
                <a:t>β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implying that </a:t>
              </a:r>
              <a:endPara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endParaRPr>
            </a:p>
            <a:p>
              <a:pPr lvl="0" algn="ctr">
                <a:spcBef>
                  <a:spcPct val="50000"/>
                </a:spcBef>
              </a:pPr>
              <a:r>
                <a:rPr lang="el-GR" altLang="en-US" sz="3600" b="1" dirty="0" smtClean="0">
                  <a:solidFill>
                    <a:srgbClr val="3366CC"/>
                  </a:solidFill>
                  <a:latin typeface="Times New Roman" pitchFamily="18" charset="0"/>
                  <a:ea typeface="Gulim" pitchFamily="2" charset="-127"/>
                </a:rPr>
                <a:t>β</a:t>
              </a:r>
              <a:r>
                <a:rPr lang="en-US" altLang="x-none" sz="36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=0 or  </a:t>
              </a:r>
              <a:r>
                <a:rPr lang="el-GR" altLang="en-US" sz="3600" b="1" dirty="0">
                  <a:solidFill>
                    <a:srgbClr val="3366CC"/>
                  </a:solidFill>
                  <a:latin typeface="Gulim" pitchFamily="2" charset="-127"/>
                  <a:ea typeface="Gulim" pitchFamily="2" charset="-127"/>
                </a:rPr>
                <a:t>β</a:t>
              </a:r>
              <a:r>
                <a:rPr lang="en-US" altLang="x-none" sz="3600" b="1" dirty="0">
                  <a:solidFill>
                    <a:srgbClr val="3366CC"/>
                  </a:solidFill>
                  <a:latin typeface="Gulim" pitchFamily="2" charset="-127"/>
                  <a:ea typeface="Gulim" pitchFamily="2" charset="-127"/>
                </a:rPr>
                <a:t>=</a:t>
              </a:r>
              <a:r>
                <a:rPr lang="el-GR" altLang="en-US" sz="3600" b="1" dirty="0">
                  <a:solidFill>
                    <a:srgbClr val="3366CC"/>
                  </a:solidFill>
                  <a:latin typeface="Gulim" pitchFamily="2" charset="-127"/>
                  <a:ea typeface="Gulim" pitchFamily="2" charset="-127"/>
                </a:rPr>
                <a:t>π</a:t>
              </a:r>
            </a:p>
          </p:txBody>
        </p:sp>
        <p:graphicFrame>
          <p:nvGraphicFramePr>
            <p:cNvPr id="54278" name="内容占位符 54278"/>
            <p:cNvGraphicFramePr>
              <a:graphicFrameLocks noGrp="1" noChangeAspect="1"/>
            </p:cNvGraphicFramePr>
            <p:nvPr>
              <p:ph sz="quarter" idx="4294967295"/>
              <p:extLst>
                <p:ext uri="{D42A27DB-BD31-4B8C-83A1-F6EECF244321}">
                  <p14:modId xmlns:p14="http://schemas.microsoft.com/office/powerpoint/2010/main" val="2578220305"/>
                </p:ext>
              </p:extLst>
            </p:nvPr>
          </p:nvGraphicFramePr>
          <p:xfrm>
            <a:off x="182" y="30"/>
            <a:ext cx="621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958" r:id="rId5" imgW="370840" imgH="230505" progId="Equation.DSMT4">
                    <p:embed/>
                  </p:oleObj>
                </mc:Choice>
                <mc:Fallback>
                  <p:oleObj r:id="rId5" imgW="370840" imgH="230505" progId="Equation.DSMT4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82" y="30"/>
                          <a:ext cx="621" cy="378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文本占位符 55298"/>
          <p:cNvSpPr>
            <a:spLocks noGrp="1"/>
          </p:cNvSpPr>
          <p:nvPr>
            <p:ph type="body" sz="half" idx="1"/>
          </p:nvPr>
        </p:nvSpPr>
        <p:spPr>
          <a:xfrm>
            <a:off x="982980" y="1340485"/>
            <a:ext cx="3808413" cy="523875"/>
          </a:xfrm>
        </p:spPr>
        <p:txBody>
          <a:bodyPr anchor="t"/>
          <a:lstStyle/>
          <a:p>
            <a:r>
              <a:rPr lang="en-US" altLang="x-none" sz="3200" b="1" kern="1200" dirty="0">
                <a:latin typeface="Times New Roman" pitchFamily="18" charset="0"/>
              </a:rPr>
              <a:t>From </a:t>
            </a:r>
          </a:p>
        </p:txBody>
      </p:sp>
      <p:graphicFrame>
        <p:nvGraphicFramePr>
          <p:cNvPr id="55300" name="内容占位符 5529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27350" y="1844675"/>
          <a:ext cx="43322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3" r:id="rId3" imgW="1324610" imgH="229235" progId="Equation.DSMT4">
                  <p:embed/>
                </p:oleObj>
              </mc:Choice>
              <mc:Fallback>
                <p:oleObj r:id="rId3" imgW="1324610" imgH="229235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27350" y="1844675"/>
                        <a:ext cx="4332288" cy="7350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1" name="文本框 55300"/>
          <p:cNvSpPr txBox="1"/>
          <p:nvPr/>
        </p:nvSpPr>
        <p:spPr>
          <a:xfrm>
            <a:off x="2711450" y="2997200"/>
            <a:ext cx="7345363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latin typeface="Times New Roman" pitchFamily="18" charset="0"/>
                <a:ea typeface="宋体" charset="-122"/>
              </a:rPr>
              <a:t>We have</a:t>
            </a:r>
          </a:p>
        </p:txBody>
      </p:sp>
      <p:graphicFrame>
        <p:nvGraphicFramePr>
          <p:cNvPr id="55302" name="内容占位符 55301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782888" y="2780348"/>
          <a:ext cx="4259262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4" r:id="rId5" imgW="1273810" imgH="229235" progId="Equation.DSMT4">
                  <p:embed/>
                </p:oleObj>
              </mc:Choice>
              <mc:Fallback>
                <p:oleObj r:id="rId5" imgW="1273810" imgH="229235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82888" y="2780348"/>
                        <a:ext cx="4259262" cy="7524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303" name="文本框 55302"/>
          <p:cNvSpPr txBox="1"/>
          <p:nvPr/>
        </p:nvSpPr>
        <p:spPr>
          <a:xfrm>
            <a:off x="1270952" y="3644583"/>
            <a:ext cx="8209423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Substituting the value of </a:t>
            </a:r>
            <a:r>
              <a:rPr lang="el-GR" altLang="en-US" sz="3200" b="1" dirty="0">
                <a:solidFill>
                  <a:srgbClr val="3366CC"/>
                </a:solidFill>
                <a:latin typeface="Times New Roman" pitchFamily="18" charset="0"/>
                <a:ea typeface="Gulim" pitchFamily="2" charset="-127"/>
              </a:rPr>
              <a:t>β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in the above we get</a:t>
            </a:r>
          </a:p>
        </p:txBody>
      </p:sp>
      <p:graphicFrame>
        <p:nvGraphicFramePr>
          <p:cNvPr id="55304" name="对象 55303"/>
          <p:cNvGraphicFramePr>
            <a:graphicFrameLocks noChangeAspect="1"/>
          </p:cNvGraphicFramePr>
          <p:nvPr/>
        </p:nvGraphicFramePr>
        <p:xfrm>
          <a:off x="1919605" y="4652963"/>
          <a:ext cx="7056438" cy="131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" r:id="rId7" imgW="2310130" imgH="431800" progId="Equation.DSMT4">
                  <p:embed/>
                </p:oleObj>
              </mc:Choice>
              <mc:Fallback>
                <p:oleObj r:id="rId7" imgW="2310130" imgH="4318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9605" y="4652963"/>
                        <a:ext cx="7056438" cy="1317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5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3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  <p:bldP spid="55301" grpId="0"/>
      <p:bldP spid="5530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文本占位符 56322"/>
          <p:cNvSpPr>
            <a:spLocks noGrp="1"/>
          </p:cNvSpPr>
          <p:nvPr>
            <p:ph type="body" sz="half" idx="1"/>
          </p:nvPr>
        </p:nvSpPr>
        <p:spPr>
          <a:xfrm>
            <a:off x="695325" y="1268730"/>
            <a:ext cx="10297219" cy="955675"/>
          </a:xfrm>
        </p:spPr>
        <p:txBody>
          <a:bodyPr anchor="t"/>
          <a:lstStyle/>
          <a:p>
            <a:r>
              <a:rPr lang="en-US" altLang="x-none" sz="3200" b="1" kern="1200" dirty="0">
                <a:latin typeface="Times New Roman" pitchFamily="18" charset="0"/>
              </a:rPr>
              <a:t>Replacing </a:t>
            </a:r>
            <a:r>
              <a:rPr lang="el-GR" altLang="en-US" sz="3200" b="1" kern="12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kern="1200" dirty="0">
                <a:latin typeface="Times New Roman" pitchFamily="18" charset="0"/>
              </a:rPr>
              <a:t> with –</a:t>
            </a:r>
            <a:r>
              <a:rPr lang="el-GR" altLang="en-US" sz="3200" b="1" kern="1200" dirty="0">
                <a:latin typeface="Times New Roman" pitchFamily="18" charset="0"/>
                <a:ea typeface="Gungsuh" pitchFamily="2" charset="-127"/>
              </a:rPr>
              <a:t>ω</a:t>
            </a:r>
            <a:r>
              <a:rPr lang="en-US" altLang="x-none" sz="3200" b="1" kern="1200" dirty="0">
                <a:latin typeface="Times New Roman" pitchFamily="18" charset="0"/>
                <a:ea typeface="Gungsuh" pitchFamily="2" charset="-127"/>
              </a:rPr>
              <a:t> </a:t>
            </a:r>
            <a:r>
              <a:rPr lang="en-US" altLang="x-none" sz="3200" b="1" kern="1200" dirty="0">
                <a:latin typeface="Times New Roman" pitchFamily="18" charset="0"/>
              </a:rPr>
              <a:t>in the previous equation we get</a:t>
            </a:r>
          </a:p>
        </p:txBody>
      </p:sp>
      <p:graphicFrame>
        <p:nvGraphicFramePr>
          <p:cNvPr id="56324" name="内容占位符 56323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901161232"/>
              </p:ext>
            </p:extLst>
          </p:nvPr>
        </p:nvGraphicFramePr>
        <p:xfrm>
          <a:off x="2999656" y="2132856"/>
          <a:ext cx="4113212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5" r:id="rId3" imgW="1426845" imgH="433070" progId="Equation.DSMT4">
                  <p:embed/>
                </p:oleObj>
              </mc:Choice>
              <mc:Fallback>
                <p:oleObj r:id="rId3" imgW="1426845" imgH="43307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99656" y="2132856"/>
                        <a:ext cx="4113212" cy="12255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5" name="文本框 56324"/>
          <p:cNvSpPr txBox="1"/>
          <p:nvPr/>
        </p:nvSpPr>
        <p:spPr>
          <a:xfrm>
            <a:off x="982663" y="3789045"/>
            <a:ext cx="9649841" cy="1066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Making a change of variable </a:t>
            </a:r>
            <a:r>
              <a:rPr lang="en-US" altLang="x-none" sz="3200" b="1" i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l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=N-n, we rewrite the above equation as</a:t>
            </a:r>
          </a:p>
        </p:txBody>
      </p:sp>
      <p:graphicFrame>
        <p:nvGraphicFramePr>
          <p:cNvPr id="56326" name="内容占位符 5632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422843" y="4940935"/>
          <a:ext cx="5184775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6" r:id="rId5" imgW="1840865" imgH="431800" progId="Equation.DSMT4">
                  <p:embed/>
                </p:oleObj>
              </mc:Choice>
              <mc:Fallback>
                <p:oleObj r:id="rId5" imgW="1840865" imgH="4318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2843" y="4940935"/>
                        <a:ext cx="5184775" cy="1216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  <p:bldP spid="563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347" name="组合 57346"/>
          <p:cNvGrpSpPr/>
          <p:nvPr/>
        </p:nvGrpSpPr>
        <p:grpSpPr>
          <a:xfrm>
            <a:off x="695325" y="1268730"/>
            <a:ext cx="7561263" cy="1077913"/>
            <a:chOff x="0" y="0"/>
            <a:chExt cx="4763" cy="679"/>
          </a:xfrm>
        </p:grpSpPr>
        <p:graphicFrame>
          <p:nvGraphicFramePr>
            <p:cNvPr id="2" name="内容占位符 57347"/>
            <p:cNvGraphicFramePr>
              <a:graphicFrameLocks noGrp="1" noChangeAspect="1"/>
            </p:cNvGraphicFramePr>
            <p:nvPr>
              <p:ph sz="half" idx="4294967295"/>
            </p:nvPr>
          </p:nvGraphicFramePr>
          <p:xfrm>
            <a:off x="454" y="0"/>
            <a:ext cx="1302" cy="3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87" r:id="rId3" imgW="828675" imgH="229235" progId="Equation.DSMT4">
                    <p:embed/>
                  </p:oleObj>
                </mc:Choice>
                <mc:Fallback>
                  <p:oleObj r:id="rId3" imgW="828675" imgH="229235" progId="Equation.DSMT4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54" y="0"/>
                          <a:ext cx="1302" cy="361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348" name="文本框 57348"/>
            <p:cNvSpPr txBox="1"/>
            <p:nvPr/>
          </p:nvSpPr>
          <p:spPr>
            <a:xfrm>
              <a:off x="0" y="0"/>
              <a:ext cx="4763" cy="67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/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As                      , we </a:t>
              </a:r>
              <a:r>
                <a:rPr lang="en-US" altLang="x-none" sz="3200" b="1" dirty="0" smtClean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have</a:t>
              </a:r>
              <a:endPara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endParaRPr>
            </a:p>
            <a:p>
              <a:pPr lvl="0" algn="ctr"/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    h[n]e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-j</a:t>
              </a:r>
              <a:r>
                <a:rPr lang="el-GR" altLang="en-US" sz="3200" b="1" baseline="30000" dirty="0">
                  <a:solidFill>
                    <a:srgbClr val="3366CC"/>
                  </a:solidFill>
                  <a:latin typeface="Times New Roman" pitchFamily="18" charset="0"/>
                  <a:ea typeface="Gulim" pitchFamily="2" charset="-127"/>
                </a:rPr>
                <a:t>ω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(c+n)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= h[N-n]e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j</a:t>
              </a:r>
              <a:r>
                <a:rPr lang="el-GR" altLang="en-US" sz="3200" b="1" baseline="30000" dirty="0">
                  <a:solidFill>
                    <a:srgbClr val="3366CC"/>
                  </a:solidFill>
                  <a:latin typeface="Times New Roman" pitchFamily="18" charset="0"/>
                  <a:ea typeface="Gulim" pitchFamily="2" charset="-127"/>
                </a:rPr>
                <a:t>ω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(c+N-n)</a:t>
              </a:r>
            </a:p>
          </p:txBody>
        </p:sp>
      </p:grpSp>
      <p:sp>
        <p:nvSpPr>
          <p:cNvPr id="57350" name="文本框 57349"/>
          <p:cNvSpPr txBox="1"/>
          <p:nvPr/>
        </p:nvSpPr>
        <p:spPr>
          <a:xfrm>
            <a:off x="695008" y="2708910"/>
            <a:ext cx="8857376" cy="1323439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 above leads to the condition           </a:t>
            </a:r>
            <a:endParaRPr lang="en-US" altLang="x-none" sz="3200" b="1" dirty="0" smtClean="0">
              <a:solidFill>
                <a:srgbClr val="3366CC"/>
              </a:solidFill>
              <a:latin typeface="Times New Roman" pitchFamily="18" charset="0"/>
              <a:ea typeface="宋体" charset="-122"/>
            </a:endParaRPr>
          </a:p>
          <a:p>
            <a:pPr lvl="0" algn="ctr">
              <a:spcBef>
                <a:spcPct val="50000"/>
              </a:spcBef>
            </a:pP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c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=-N/2</a:t>
            </a:r>
            <a:r>
              <a:rPr lang="en-US" altLang="x-none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 </a:t>
            </a:r>
            <a:r>
              <a:rPr lang="en-US" altLang="x-none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  </a:t>
            </a:r>
            <a:r>
              <a:rPr lang="en-US" altLang="x-none" sz="3200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and   </a:t>
            </a: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h[n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]=h[N-n], </a:t>
            </a: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</a:rPr>
              <a:t>≤n≤N</a:t>
            </a:r>
          </a:p>
        </p:txBody>
      </p:sp>
      <p:sp>
        <p:nvSpPr>
          <p:cNvPr id="57351" name="文本框 57350"/>
          <p:cNvSpPr txBox="1"/>
          <p:nvPr/>
        </p:nvSpPr>
        <p:spPr>
          <a:xfrm>
            <a:off x="695325" y="4509135"/>
            <a:ext cx="10801275" cy="107721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Thus, the FIR filter with an even amplitude response will have a linear phase if it has a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ea typeface="宋体" charset="-122"/>
              </a:rPr>
              <a:t>symmetric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impulse response.</a:t>
            </a: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7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7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0" grpId="0"/>
      <p:bldP spid="5735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71" name="组合 58370"/>
          <p:cNvGrpSpPr/>
          <p:nvPr/>
        </p:nvGrpSpPr>
        <p:grpSpPr>
          <a:xfrm>
            <a:off x="622618" y="1340485"/>
            <a:ext cx="7777162" cy="660400"/>
            <a:chOff x="0" y="0"/>
            <a:chExt cx="4899" cy="416"/>
          </a:xfrm>
        </p:grpSpPr>
        <p:sp>
          <p:nvSpPr>
            <p:cNvPr id="2" name="文本框 58371"/>
            <p:cNvSpPr txBox="1"/>
            <p:nvPr/>
          </p:nvSpPr>
          <p:spPr>
            <a:xfrm>
              <a:off x="0" y="14"/>
              <a:ext cx="4899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If             is an </a:t>
              </a:r>
              <a:r>
                <a:rPr lang="en-US" altLang="x-none" sz="3200" b="1" dirty="0">
                  <a:solidFill>
                    <a:srgbClr val="FF0000"/>
                  </a:solidFill>
                  <a:latin typeface="Times New Roman" pitchFamily="18" charset="0"/>
                  <a:ea typeface="宋体" charset="-122"/>
                </a:rPr>
                <a:t>odd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function of</a:t>
              </a:r>
              <a:r>
                <a:rPr lang="en-US" altLang="x-none" sz="3200" b="1" dirty="0">
                  <a:solidFill>
                    <a:srgbClr val="3366CC"/>
                  </a:solidFill>
                  <a:latin typeface="Gulim" pitchFamily="2" charset="-127"/>
                  <a:ea typeface="Gulim" pitchFamily="2" charset="-127"/>
                </a:rPr>
                <a:t> </a:t>
              </a:r>
              <a:r>
                <a:rPr lang="el-GR" altLang="en-US" sz="3200" b="1" dirty="0">
                  <a:solidFill>
                    <a:srgbClr val="3366CC"/>
                  </a:solidFill>
                  <a:latin typeface="Gulim" pitchFamily="2" charset="-127"/>
                  <a:ea typeface="Gulim" pitchFamily="2" charset="-127"/>
                </a:rPr>
                <a:t>ω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, then from</a:t>
              </a:r>
            </a:p>
          </p:txBody>
        </p:sp>
        <p:graphicFrame>
          <p:nvGraphicFramePr>
            <p:cNvPr id="58372" name="内容占位符 58372"/>
            <p:cNvGraphicFramePr>
              <a:graphicFrameLocks noGrp="1" noChangeAspect="1"/>
            </p:cNvGraphicFramePr>
            <p:nvPr>
              <p:ph sz="quarter" idx="4294967295"/>
            </p:nvPr>
          </p:nvGraphicFramePr>
          <p:xfrm>
            <a:off x="363" y="0"/>
            <a:ext cx="635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79" r:id="rId3" imgW="370840" imgH="230505" progId="Equation.DSMT4">
                    <p:embed/>
                  </p:oleObj>
                </mc:Choice>
                <mc:Fallback>
                  <p:oleObj r:id="rId3" imgW="370840" imgH="230505" progId="Equation.DSMT4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3" y="0"/>
                          <a:ext cx="635" cy="416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8374" name="内容占位符 5837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351088" y="2060575"/>
          <a:ext cx="5140325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0" r:id="rId5" imgW="1663700" imgH="228600" progId="Equation.DSMT4">
                  <p:embed/>
                </p:oleObj>
              </mc:Choice>
              <mc:Fallback>
                <p:oleObj r:id="rId5" imgW="1663700" imgH="2286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1088" y="2060575"/>
                        <a:ext cx="5140325" cy="6921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375" name="组合 58374"/>
          <p:cNvGrpSpPr/>
          <p:nvPr/>
        </p:nvGrpSpPr>
        <p:grpSpPr>
          <a:xfrm>
            <a:off x="767080" y="2996883"/>
            <a:ext cx="7129463" cy="630237"/>
            <a:chOff x="0" y="0"/>
            <a:chExt cx="4491" cy="397"/>
          </a:xfrm>
        </p:grpSpPr>
        <p:sp>
          <p:nvSpPr>
            <p:cNvPr id="3" name="文本框 58375"/>
            <p:cNvSpPr txBox="1"/>
            <p:nvPr/>
          </p:nvSpPr>
          <p:spPr>
            <a:xfrm>
              <a:off x="0" y="0"/>
              <a:ext cx="4491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We get e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j</a:t>
              </a:r>
              <a:r>
                <a:rPr lang="el-GR" altLang="en-US" sz="3200" b="1" baseline="30000" dirty="0">
                  <a:solidFill>
                    <a:srgbClr val="3366CC"/>
                  </a:solidFill>
                  <a:latin typeface="Times New Roman" pitchFamily="18" charset="0"/>
                  <a:ea typeface="Gulim" pitchFamily="2" charset="-127"/>
                </a:rPr>
                <a:t>β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Times New Roman" pitchFamily="18" charset="0"/>
                </a:rPr>
                <a:t>= -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e</a:t>
              </a:r>
              <a:r>
                <a:rPr lang="en-US" altLang="x-none" sz="3200" b="1" baseline="30000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-j</a:t>
              </a:r>
              <a:r>
                <a:rPr lang="el-GR" altLang="en-US" sz="3200" b="1" baseline="30000" dirty="0">
                  <a:solidFill>
                    <a:srgbClr val="3366CC"/>
                  </a:solidFill>
                  <a:latin typeface="Times New Roman" pitchFamily="18" charset="0"/>
                  <a:ea typeface="Gulim" pitchFamily="2" charset="-127"/>
                </a:rPr>
                <a:t>β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as</a:t>
              </a:r>
              <a:r>
                <a:rPr lang="en-US" altLang="x-none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</a:t>
              </a:r>
            </a:p>
          </p:txBody>
        </p:sp>
        <p:graphicFrame>
          <p:nvGraphicFramePr>
            <p:cNvPr id="58376" name="内容占位符 58376"/>
            <p:cNvGraphicFramePr>
              <a:graphicFrameLocks noGrp="1" noChangeAspect="1"/>
            </p:cNvGraphicFramePr>
            <p:nvPr>
              <p:ph sz="quarter" idx="4294967295"/>
            </p:nvPr>
          </p:nvGraphicFramePr>
          <p:xfrm>
            <a:off x="2177" y="0"/>
            <a:ext cx="1666" cy="3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481" r:id="rId7" imgW="879475" imgH="229235" progId="Equation.DSMT4">
                    <p:embed/>
                  </p:oleObj>
                </mc:Choice>
                <mc:Fallback>
                  <p:oleObj r:id="rId7" imgW="879475" imgH="229235" progId="Equation.DSMT4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77" y="0"/>
                          <a:ext cx="1666" cy="397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378" name="文本框 58377"/>
          <p:cNvSpPr txBox="1"/>
          <p:nvPr/>
        </p:nvSpPr>
        <p:spPr>
          <a:xfrm>
            <a:off x="695324" y="3860483"/>
            <a:ext cx="9145091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 above is satisfied if </a:t>
            </a:r>
            <a:r>
              <a:rPr lang="el-GR" altLang="en-US" sz="3200" b="1" dirty="0">
                <a:solidFill>
                  <a:srgbClr val="3366CC"/>
                </a:solidFill>
                <a:latin typeface="Times New Roman" pitchFamily="18" charset="0"/>
                <a:ea typeface="Gulim" pitchFamily="2" charset="-127"/>
              </a:rPr>
              <a:t>β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Gulim" pitchFamily="2" charset="-127"/>
              </a:rPr>
              <a:t>=</a:t>
            </a:r>
            <a:r>
              <a:rPr lang="el-GR" altLang="en-US" sz="3200" b="1" dirty="0">
                <a:solidFill>
                  <a:srgbClr val="3366CC"/>
                </a:solidFill>
                <a:latin typeface="Gungsuh" pitchFamily="2" charset="-127"/>
                <a:ea typeface="Gulim" pitchFamily="2" charset="-127"/>
              </a:rPr>
              <a:t>π</a:t>
            </a:r>
            <a:r>
              <a:rPr lang="en-US" altLang="x-none" sz="3200" b="1" dirty="0">
                <a:solidFill>
                  <a:srgbClr val="3366CC"/>
                </a:solidFill>
                <a:latin typeface="Gungsuh" pitchFamily="2" charset="-127"/>
                <a:ea typeface="Gulim" pitchFamily="2" charset="-127"/>
              </a:rPr>
              <a:t>/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Times New Roman" pitchFamily="18" charset="0"/>
              </a:rPr>
              <a:t>2</a:t>
            </a:r>
            <a:r>
              <a:rPr lang="en-US" altLang="x-none" sz="3200" b="1" dirty="0">
                <a:solidFill>
                  <a:srgbClr val="3366CC"/>
                </a:solidFill>
                <a:latin typeface="Gungsuh" pitchFamily="2" charset="-127"/>
                <a:ea typeface="Gulim" pitchFamily="2" charset="-127"/>
              </a:rPr>
              <a:t>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Gulim" pitchFamily="2" charset="-127"/>
              </a:rPr>
              <a:t>or </a:t>
            </a:r>
            <a:r>
              <a:rPr lang="el-GR" altLang="en-US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β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=- </a:t>
            </a:r>
            <a:r>
              <a:rPr lang="el-GR" altLang="en-US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π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/2 </a:t>
            </a:r>
            <a:r>
              <a:rPr lang="zh-CN" altLang="en-US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，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Then</a:t>
            </a:r>
          </a:p>
        </p:txBody>
      </p:sp>
      <p:graphicFrame>
        <p:nvGraphicFramePr>
          <p:cNvPr id="58379" name="内容占位符 58378"/>
          <p:cNvGraphicFramePr>
            <a:graphicFrameLocks noGrp="1" noChangeAspect="1"/>
          </p:cNvGraphicFramePr>
          <p:nvPr>
            <p:ph sz="quarter" idx="4"/>
          </p:nvPr>
        </p:nvGraphicFramePr>
        <p:xfrm>
          <a:off x="2782888" y="4653280"/>
          <a:ext cx="4186237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2" r:id="rId9" imgW="1324610" imgH="229235" progId="Equation.DSMT4">
                  <p:embed/>
                </p:oleObj>
              </mc:Choice>
              <mc:Fallback>
                <p:oleObj r:id="rId9" imgW="1324610" imgH="229235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2888" y="4653280"/>
                        <a:ext cx="4186237" cy="711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0" name="文本框 58379"/>
          <p:cNvSpPr txBox="1"/>
          <p:nvPr/>
        </p:nvSpPr>
        <p:spPr>
          <a:xfrm>
            <a:off x="2782888" y="5229225"/>
            <a:ext cx="8424862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dirty="0">
                <a:latin typeface="Times New Roman" pitchFamily="18" charset="0"/>
                <a:ea typeface="宋体" charset="-122"/>
              </a:rPr>
              <a:t>Reduces to</a:t>
            </a:r>
          </a:p>
        </p:txBody>
      </p:sp>
      <p:graphicFrame>
        <p:nvGraphicFramePr>
          <p:cNvPr id="58381" name="对象 58380"/>
          <p:cNvGraphicFramePr>
            <a:graphicFrameLocks noChangeAspect="1"/>
          </p:cNvGraphicFramePr>
          <p:nvPr/>
        </p:nvGraphicFramePr>
        <p:xfrm>
          <a:off x="2855595" y="5445125"/>
          <a:ext cx="3787775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83" r:id="rId11" imgW="1223645" imgH="229235" progId="Equation.DSMT4">
                  <p:embed/>
                </p:oleObj>
              </mc:Choice>
              <mc:Fallback>
                <p:oleObj r:id="rId11" imgW="1223645" imgH="229235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855595" y="5445125"/>
                        <a:ext cx="3787775" cy="711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3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83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83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8" grpId="0"/>
      <p:bldP spid="5838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文本占位符 59394"/>
          <p:cNvSpPr>
            <a:spLocks noGrp="1"/>
          </p:cNvSpPr>
          <p:nvPr>
            <p:ph type="body" sz="half" idx="1"/>
          </p:nvPr>
        </p:nvSpPr>
        <p:spPr>
          <a:xfrm>
            <a:off x="550863" y="1268730"/>
            <a:ext cx="7761287" cy="596900"/>
          </a:xfrm>
        </p:spPr>
        <p:txBody>
          <a:bodyPr anchor="t"/>
          <a:lstStyle/>
          <a:p>
            <a:r>
              <a:rPr lang="en-US" altLang="x-none" sz="3200" b="1" kern="1200" dirty="0">
                <a:latin typeface="Times New Roman" pitchFamily="18" charset="0"/>
              </a:rPr>
              <a:t>The last equation can be rewritten as:</a:t>
            </a:r>
          </a:p>
        </p:txBody>
      </p:sp>
      <p:graphicFrame>
        <p:nvGraphicFramePr>
          <p:cNvPr id="59396" name="内容占位符 5939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062798" y="1844358"/>
          <a:ext cx="66833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9" r:id="rId3" imgW="2183765" imgH="431800" progId="Equation.DSMT4">
                  <p:embed/>
                </p:oleObj>
              </mc:Choice>
              <mc:Fallback>
                <p:oleObj r:id="rId3" imgW="2183765" imgH="4318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2798" y="1844358"/>
                        <a:ext cx="6683375" cy="12954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397" name="组合 59396"/>
          <p:cNvGrpSpPr/>
          <p:nvPr/>
        </p:nvGrpSpPr>
        <p:grpSpPr>
          <a:xfrm>
            <a:off x="1846898" y="2997200"/>
            <a:ext cx="7345362" cy="623888"/>
            <a:chOff x="0" y="0"/>
            <a:chExt cx="4627" cy="393"/>
          </a:xfrm>
        </p:grpSpPr>
        <p:sp>
          <p:nvSpPr>
            <p:cNvPr id="2" name="文本框 59397"/>
            <p:cNvSpPr txBox="1"/>
            <p:nvPr/>
          </p:nvSpPr>
          <p:spPr>
            <a:xfrm>
              <a:off x="0" y="0"/>
              <a:ext cx="462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lvl="0">
                <a:spcBef>
                  <a:spcPct val="50000"/>
                </a:spcBef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As                         , from the above we get</a:t>
              </a:r>
            </a:p>
          </p:txBody>
        </p:sp>
        <p:graphicFrame>
          <p:nvGraphicFramePr>
            <p:cNvPr id="59398" name="内容占位符 59398"/>
            <p:cNvGraphicFramePr>
              <a:graphicFrameLocks noGrp="1" noChangeAspect="1"/>
            </p:cNvGraphicFramePr>
            <p:nvPr>
              <p:ph sz="quarter" idx="4294967295"/>
            </p:nvPr>
          </p:nvGraphicFramePr>
          <p:xfrm>
            <a:off x="359" y="3"/>
            <a:ext cx="1526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20" r:id="rId5" imgW="879475" imgH="229235" progId="Equation.DSMT4">
                    <p:embed/>
                  </p:oleObj>
                </mc:Choice>
                <mc:Fallback>
                  <p:oleObj r:id="rId5" imgW="879475" imgH="229235" progId="Equation.DSMT4">
                    <p:embed/>
                    <p:pic>
                      <p:nvPicPr>
                        <p:cNvPr id="0" name="图片 314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9" y="3"/>
                          <a:ext cx="1526" cy="390"/>
                        </a:xfrm>
                        <a:prstGeom prst="rect">
                          <a:avLst/>
                        </a:prstGeom>
                        <a:noFill/>
                        <a:ln w="38100"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9400" name="对象 59399"/>
          <p:cNvGraphicFramePr>
            <a:graphicFrameLocks noChangeAspect="1"/>
          </p:cNvGraphicFramePr>
          <p:nvPr/>
        </p:nvGraphicFramePr>
        <p:xfrm>
          <a:off x="3071178" y="4004945"/>
          <a:ext cx="403225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1" r:id="rId7" imgW="1337310" imgH="433070" progId="Equation.DSMT4">
                  <p:embed/>
                </p:oleObj>
              </mc:Choice>
              <mc:Fallback>
                <p:oleObj r:id="rId7" imgW="1337310" imgH="43307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71178" y="4004945"/>
                        <a:ext cx="4032250" cy="1306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文本占位符 60418"/>
          <p:cNvSpPr>
            <a:spLocks noGrp="1"/>
          </p:cNvSpPr>
          <p:nvPr>
            <p:ph type="body" sz="half" idx="1"/>
          </p:nvPr>
        </p:nvSpPr>
        <p:spPr>
          <a:xfrm>
            <a:off x="839152" y="1340485"/>
            <a:ext cx="8569215" cy="884238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kern="1200" dirty="0">
                <a:solidFill>
                  <a:srgbClr val="3366CC"/>
                </a:solidFill>
                <a:latin typeface="Times New Roman" pitchFamily="18" charset="0"/>
              </a:rPr>
              <a:t>Making a change of variable </a:t>
            </a:r>
            <a:r>
              <a:rPr lang="en-US" altLang="x-none" sz="3200" b="1" i="1" kern="1200" dirty="0">
                <a:solidFill>
                  <a:srgbClr val="3366CC"/>
                </a:solidFill>
                <a:latin typeface="Times New Roman" pitchFamily="18" charset="0"/>
              </a:rPr>
              <a:t>l</a:t>
            </a:r>
            <a:r>
              <a:rPr lang="en-US" altLang="x-none" sz="3200" b="1" kern="1200" dirty="0">
                <a:solidFill>
                  <a:srgbClr val="3366CC"/>
                </a:solidFill>
                <a:latin typeface="Times New Roman" pitchFamily="18" charset="0"/>
              </a:rPr>
              <a:t>=N-n, we rewrite the last equation as:</a:t>
            </a:r>
          </a:p>
        </p:txBody>
      </p:sp>
      <p:graphicFrame>
        <p:nvGraphicFramePr>
          <p:cNvPr id="60420" name="内容占位符 60419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3957731793"/>
              </p:ext>
            </p:extLst>
          </p:nvPr>
        </p:nvGraphicFramePr>
        <p:xfrm>
          <a:off x="2495233" y="2132856"/>
          <a:ext cx="4608512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1" r:id="rId3" imgW="1777365" imgH="431800" progId="Equation.DSMT4">
                  <p:embed/>
                </p:oleObj>
              </mc:Choice>
              <mc:Fallback>
                <p:oleObj r:id="rId3" imgW="1777365" imgH="4318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95233" y="2132856"/>
                        <a:ext cx="4608512" cy="11191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1" name="文本框 60420"/>
          <p:cNvSpPr txBox="1"/>
          <p:nvPr/>
        </p:nvSpPr>
        <p:spPr>
          <a:xfrm>
            <a:off x="767408" y="3284984"/>
            <a:ext cx="7488237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457200" lvl="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Equating the above with</a:t>
            </a:r>
          </a:p>
        </p:txBody>
      </p:sp>
      <p:graphicFrame>
        <p:nvGraphicFramePr>
          <p:cNvPr id="60422" name="内容占位符 60421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2296798854"/>
              </p:ext>
            </p:extLst>
          </p:nvPr>
        </p:nvGraphicFramePr>
        <p:xfrm>
          <a:off x="2711624" y="3717032"/>
          <a:ext cx="4333875" cy="127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02" r:id="rId5" imgW="1452245" imgH="433070" progId="Equation.DSMT4">
                  <p:embed/>
                </p:oleObj>
              </mc:Choice>
              <mc:Fallback>
                <p:oleObj r:id="rId5" imgW="1452245" imgH="43307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11624" y="3717032"/>
                        <a:ext cx="4333875" cy="12700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/>
      <p:bldP spid="604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内容占位符 61442"/>
          <p:cNvSpPr>
            <a:spLocks noGrp="1"/>
          </p:cNvSpPr>
          <p:nvPr>
            <p:ph idx="1"/>
          </p:nvPr>
        </p:nvSpPr>
        <p:spPr>
          <a:xfrm>
            <a:off x="767408" y="2996952"/>
            <a:ext cx="9505315" cy="4114800"/>
          </a:xfrm>
        </p:spPr>
        <p:txBody>
          <a:bodyPr anchor="t"/>
          <a:lstStyle/>
          <a:p>
            <a:r>
              <a:rPr lang="en-US" altLang="x-none" sz="3200" b="1" dirty="0" smtClean="0">
                <a:latin typeface="Times New Roman" pitchFamily="18" charset="0"/>
              </a:rPr>
              <a:t>Therefore </a:t>
            </a:r>
            <a:r>
              <a:rPr lang="en-US" altLang="x-none" sz="3200" b="1" dirty="0">
                <a:latin typeface="Times New Roman" pitchFamily="18" charset="0"/>
              </a:rPr>
              <a:t>a FIR filter with an odd </a:t>
            </a:r>
            <a:r>
              <a:rPr lang="en-US" altLang="x-none" sz="3200" b="1" dirty="0" smtClean="0">
                <a:latin typeface="Times New Roman" pitchFamily="18" charset="0"/>
              </a:rPr>
              <a:t>amplitude response </a:t>
            </a:r>
            <a:r>
              <a:rPr lang="en-US" altLang="x-none" sz="3200" b="1" dirty="0">
                <a:latin typeface="Times New Roman" pitchFamily="18" charset="0"/>
              </a:rPr>
              <a:t>will have linear-phase response if it has an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antisymmetric</a:t>
            </a:r>
            <a:r>
              <a:rPr lang="en-US" altLang="x-none" sz="3200" b="1" dirty="0">
                <a:latin typeface="Times New Roman" pitchFamily="18" charset="0"/>
              </a:rPr>
              <a:t> impulse response.</a:t>
            </a:r>
            <a:endParaRPr lang="en-US" altLang="x-none" sz="3200" b="1" dirty="0">
              <a:latin typeface="Times New Roman" pitchFamily="18" charset="0"/>
              <a:sym typeface="Symbol" pitchFamily="2" charset="2"/>
            </a:endParaRP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  <p:sp>
        <p:nvSpPr>
          <p:cNvPr id="4" name="文本框 60422"/>
          <p:cNvSpPr txBox="1"/>
          <p:nvPr/>
        </p:nvSpPr>
        <p:spPr>
          <a:xfrm>
            <a:off x="773226" y="1340768"/>
            <a:ext cx="8712968" cy="5847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457200" lvl="0" indent="-45720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x-none" sz="3200" b="1" dirty="0">
                <a:solidFill>
                  <a:srgbClr val="0070C0"/>
                </a:solidFill>
                <a:latin typeface="Times New Roman" pitchFamily="18" charset="0"/>
                <a:ea typeface="宋体" charset="-122"/>
              </a:rPr>
              <a:t>We arrive at the condition for linear </a:t>
            </a:r>
            <a:r>
              <a:rPr lang="en-US" altLang="x-none" sz="3200" b="1" dirty="0" smtClean="0">
                <a:solidFill>
                  <a:srgbClr val="0070C0"/>
                </a:solidFill>
                <a:latin typeface="Times New Roman" pitchFamily="18" charset="0"/>
                <a:ea typeface="宋体" charset="-122"/>
              </a:rPr>
              <a:t>phase:</a:t>
            </a:r>
            <a:endParaRPr lang="en-US" altLang="x-none" sz="3200" b="1" dirty="0">
              <a:solidFill>
                <a:srgbClr val="0070C0"/>
              </a:solidFill>
              <a:latin typeface="Times New Roman" pitchFamily="18" charset="0"/>
              <a:ea typeface="宋体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41378" y="1925543"/>
            <a:ext cx="70804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 c=-</a:t>
            </a: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</a:rPr>
              <a:t>N/2</a:t>
            </a:r>
            <a:r>
              <a:rPr lang="zh-CN" altLang="en-US" sz="3200" dirty="0" smtClean="0">
                <a:solidFill>
                  <a:srgbClr val="FF0000"/>
                </a:solidFill>
              </a:rPr>
              <a:t> </a:t>
            </a:r>
            <a:r>
              <a:rPr lang="en-US" altLang="zh-CN" sz="3200" dirty="0" smtClean="0">
                <a:solidFill>
                  <a:srgbClr val="FF0000"/>
                </a:solidFill>
              </a:rPr>
              <a:t>and </a:t>
            </a: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</a:rPr>
              <a:t>h[n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]=-h[N-n],  0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  <a:sym typeface="Symbol" pitchFamily="2" charset="2"/>
              </a:rPr>
              <a:t>n</a:t>
            </a: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  <a:sym typeface="Symbol" pitchFamily="2" charset="2"/>
              </a:rPr>
              <a:t>N</a:t>
            </a:r>
            <a:endParaRPr lang="en-US" altLang="x-none" sz="3200" b="1" dirty="0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内容占位符 62466"/>
          <p:cNvSpPr>
            <a:spLocks noGrp="1"/>
          </p:cNvSpPr>
          <p:nvPr>
            <p:ph idx="1"/>
          </p:nvPr>
        </p:nvSpPr>
        <p:spPr>
          <a:xfrm>
            <a:off x="304800" y="1474048"/>
            <a:ext cx="11047784" cy="490728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Since the length of the impulse response can be either even or odd, we can define four types of linear-phase FIR transfer functions</a:t>
            </a:r>
          </a:p>
          <a:p>
            <a:pPr>
              <a:lnSpc>
                <a:spcPct val="90000"/>
              </a:lnSpc>
            </a:pPr>
            <a:endParaRPr lang="en-US" altLang="x-none" sz="3200" b="1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x-none" sz="3200" b="1" dirty="0" smtClean="0">
                <a:latin typeface="Times New Roman" pitchFamily="18" charset="0"/>
              </a:rPr>
              <a:t>For </a:t>
            </a:r>
            <a:r>
              <a:rPr lang="en-US" altLang="x-none" sz="3200" b="1" dirty="0">
                <a:latin typeface="Times New Roman" pitchFamily="18" charset="0"/>
              </a:rPr>
              <a:t>an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antisymmetric</a:t>
            </a:r>
            <a:r>
              <a:rPr lang="en-US" altLang="x-none" sz="3200" b="1" dirty="0">
                <a:latin typeface="Times New Roman" pitchFamily="18" charset="0"/>
              </a:rPr>
              <a:t> FIR filter of odd length, i.e., N even</a:t>
            </a:r>
          </a:p>
          <a:p>
            <a:pPr>
              <a:lnSpc>
                <a:spcPct val="90000"/>
              </a:lnSpc>
              <a:buNone/>
            </a:pPr>
            <a:r>
              <a:rPr lang="en-US" altLang="x-none" sz="3200" b="1" dirty="0">
                <a:latin typeface="Times New Roman" pitchFamily="18" charset="0"/>
              </a:rPr>
              <a:t>                		h[N/2] = 0</a:t>
            </a:r>
          </a:p>
          <a:p>
            <a:pPr>
              <a:lnSpc>
                <a:spcPct val="90000"/>
              </a:lnSpc>
            </a:pPr>
            <a:endParaRPr lang="en-US" altLang="x-none" sz="3200" b="1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x-none" sz="3200" b="1" dirty="0" smtClean="0">
                <a:latin typeface="Times New Roman" pitchFamily="18" charset="0"/>
              </a:rPr>
              <a:t>We </a:t>
            </a:r>
            <a:r>
              <a:rPr lang="en-US" altLang="x-none" sz="3200" b="1" dirty="0">
                <a:latin typeface="Times New Roman" pitchFamily="18" charset="0"/>
              </a:rPr>
              <a:t>examine next the each of the 4 cases</a:t>
            </a: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1" name="组合 63490"/>
          <p:cNvGrpSpPr/>
          <p:nvPr/>
        </p:nvGrpSpPr>
        <p:grpSpPr>
          <a:xfrm>
            <a:off x="2423160" y="1196975"/>
            <a:ext cx="5705475" cy="2428875"/>
            <a:chOff x="0" y="0"/>
            <a:chExt cx="3594" cy="1530"/>
          </a:xfrm>
        </p:grpSpPr>
        <p:sp>
          <p:nvSpPr>
            <p:cNvPr id="2" name="文本框 63491"/>
            <p:cNvSpPr txBox="1"/>
            <p:nvPr/>
          </p:nvSpPr>
          <p:spPr>
            <a:xfrm>
              <a:off x="256" y="1272"/>
              <a:ext cx="10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eaLnBrk="0" hangingPunct="0"/>
              <a:r>
                <a:rPr lang="en-US" altLang="x-none" sz="20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Type 1: N = 8</a:t>
              </a:r>
            </a:p>
          </p:txBody>
        </p:sp>
        <p:sp>
          <p:nvSpPr>
            <p:cNvPr id="63492" name="文本框 63492"/>
            <p:cNvSpPr txBox="1"/>
            <p:nvPr/>
          </p:nvSpPr>
          <p:spPr>
            <a:xfrm>
              <a:off x="2088" y="1280"/>
              <a:ext cx="10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eaLnBrk="0" hangingPunct="0"/>
              <a:r>
                <a:rPr lang="en-US" altLang="x-none" sz="20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Type 2: </a:t>
              </a:r>
              <a:r>
                <a:rPr lang="en-US" altLang="x-none" sz="2000" b="1" i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N</a:t>
              </a:r>
              <a:r>
                <a:rPr lang="en-US" altLang="x-none" sz="20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= 7</a:t>
              </a:r>
            </a:p>
          </p:txBody>
        </p:sp>
        <p:pic>
          <p:nvPicPr>
            <p:cNvPr id="63493" name="图片 63493"/>
            <p:cNvPicPr>
              <a:picLocks noChangeAspect="1"/>
            </p:cNvPicPr>
            <p:nvPr/>
          </p:nvPicPr>
          <p:blipFill>
            <a:blip r:embed="rId2">
              <a:grayscl/>
              <a:lum bright="-39999" contrast="50000"/>
            </a:blip>
            <a:stretch>
              <a:fillRect/>
            </a:stretch>
          </p:blipFill>
          <p:spPr>
            <a:xfrm>
              <a:off x="0" y="0"/>
              <a:ext cx="3594" cy="131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63495" name="组合 63494"/>
          <p:cNvGrpSpPr/>
          <p:nvPr/>
        </p:nvGrpSpPr>
        <p:grpSpPr>
          <a:xfrm>
            <a:off x="2340610" y="3832225"/>
            <a:ext cx="5724525" cy="2466975"/>
            <a:chOff x="0" y="0"/>
            <a:chExt cx="3606" cy="1554"/>
          </a:xfrm>
        </p:grpSpPr>
        <p:sp>
          <p:nvSpPr>
            <p:cNvPr id="3" name="文本框 63495"/>
            <p:cNvSpPr txBox="1"/>
            <p:nvPr/>
          </p:nvSpPr>
          <p:spPr>
            <a:xfrm>
              <a:off x="272" y="1304"/>
              <a:ext cx="10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eaLnBrk="0" hangingPunct="0"/>
              <a:r>
                <a:rPr lang="en-US" altLang="x-none" sz="20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Type 3: N = 8</a:t>
              </a:r>
            </a:p>
          </p:txBody>
        </p:sp>
        <p:sp>
          <p:nvSpPr>
            <p:cNvPr id="63496" name="文本框 63496"/>
            <p:cNvSpPr txBox="1"/>
            <p:nvPr/>
          </p:nvSpPr>
          <p:spPr>
            <a:xfrm>
              <a:off x="2048" y="1288"/>
              <a:ext cx="103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eaLnBrk="0" hangingPunct="0"/>
              <a:r>
                <a:rPr lang="en-US" altLang="x-none" sz="20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Type 4: N = 7</a:t>
              </a:r>
            </a:p>
          </p:txBody>
        </p:sp>
        <p:pic>
          <p:nvPicPr>
            <p:cNvPr id="63497" name="图片 63497"/>
            <p:cNvPicPr>
              <a:picLocks noChangeAspect="1"/>
            </p:cNvPicPr>
            <p:nvPr/>
          </p:nvPicPr>
          <p:blipFill>
            <a:blip r:embed="rId3">
              <a:grayscl/>
              <a:lum bright="-39999" contrast="50000"/>
            </a:blip>
            <a:stretch>
              <a:fillRect/>
            </a:stretch>
          </p:blipFill>
          <p:spPr>
            <a:xfrm>
              <a:off x="0" y="0"/>
              <a:ext cx="3606" cy="134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内容占位符 64514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Type 1: Symmetric Impulse Response with Odd Length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In this case, the degree N is even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Assume N = 8 for simplicity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The transfer function H(z) is given by</a:t>
            </a:r>
          </a:p>
          <a:p>
            <a:endParaRPr lang="zh-CN" altLang="en-US" sz="3200" b="1" dirty="0"/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351405" y="3860800"/>
          <a:ext cx="6565265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983" r:id="rId3" imgW="2819400" imgH="482600" progId="Equation.DSMT4">
                  <p:embed/>
                </p:oleObj>
              </mc:Choice>
              <mc:Fallback>
                <p:oleObj r:id="rId3" imgW="2819400" imgH="482600" progId="Equation.DSMT4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51405" y="3860800"/>
                        <a:ext cx="6565265" cy="1123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内容占位符 65538"/>
          <p:cNvSpPr>
            <a:spLocks noGrp="1"/>
          </p:cNvSpPr>
          <p:nvPr>
            <p:ph idx="1"/>
          </p:nvPr>
        </p:nvSpPr>
        <p:spPr>
          <a:xfrm>
            <a:off x="911225" y="1268730"/>
            <a:ext cx="8094980" cy="160020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Because of symmetry, we have h[0]=h[8], h[1] = h[7], h[2] = h[6], and h[3] = h[5]</a:t>
            </a:r>
          </a:p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Thus, we can write</a:t>
            </a:r>
            <a:endParaRPr lang="en-US" altLang="x-none" sz="3200" dirty="0">
              <a:latin typeface="Times New Roman" pitchFamily="18" charset="0"/>
            </a:endParaRP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67305" y="2924810"/>
          <a:ext cx="5840730" cy="1104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5" r:id="rId3" imgW="2552700" imgH="482600" progId="Equation.DSMT4">
                  <p:embed/>
                </p:oleObj>
              </mc:Choice>
              <mc:Fallback>
                <p:oleObj r:id="rId3" imgW="2552700" imgH="482600" progId="Equation.DSMT4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7305" y="2924810"/>
                        <a:ext cx="5840730" cy="11042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567305" y="4364990"/>
          <a:ext cx="5732780" cy="1217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6" r:id="rId5" imgW="2273300" imgH="482600" progId="Equation.DSMT4">
                  <p:embed/>
                </p:oleObj>
              </mc:Choice>
              <mc:Fallback>
                <p:oleObj r:id="rId5" imgW="2273300" imgH="482600" progId="Equation.DSMT4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67305" y="4364990"/>
                        <a:ext cx="5732780" cy="1217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内容占位符 66562"/>
          <p:cNvSpPr>
            <a:spLocks noGrp="1"/>
          </p:cNvSpPr>
          <p:nvPr>
            <p:ph idx="1"/>
          </p:nvPr>
        </p:nvSpPr>
        <p:spPr>
          <a:xfrm>
            <a:off x="479425" y="1268730"/>
            <a:ext cx="9304020" cy="1066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corresponding frequency response is then given by</a:t>
            </a:r>
          </a:p>
        </p:txBody>
      </p:sp>
      <p:grpSp>
        <p:nvGrpSpPr>
          <p:cNvPr id="66564" name="组合 66563"/>
          <p:cNvGrpSpPr>
            <a:grpSpLocks noChangeAspect="1"/>
          </p:cNvGrpSpPr>
          <p:nvPr/>
        </p:nvGrpSpPr>
        <p:grpSpPr>
          <a:xfrm>
            <a:off x="1415415" y="2493010"/>
            <a:ext cx="7462838" cy="1143000"/>
            <a:chOff x="0" y="0"/>
            <a:chExt cx="4701" cy="720"/>
          </a:xfrm>
        </p:grpSpPr>
        <p:graphicFrame>
          <p:nvGraphicFramePr>
            <p:cNvPr id="2" name="对象 66564"/>
            <p:cNvGraphicFramePr>
              <a:graphicFrameLocks noChangeAspect="1"/>
            </p:cNvGraphicFramePr>
            <p:nvPr/>
          </p:nvGraphicFramePr>
          <p:xfrm>
            <a:off x="0" y="0"/>
            <a:ext cx="4657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49" r:id="rId3" imgW="7391400" imgH="558800" progId="Equation.3">
                    <p:embed/>
                  </p:oleObj>
                </mc:Choice>
                <mc:Fallback>
                  <p:oleObj r:id="rId3" imgW="7391400" imgH="5588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0" y="0"/>
                          <a:ext cx="4657" cy="35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6565" name="对象 66565"/>
            <p:cNvGraphicFramePr>
              <a:graphicFrameLocks noChangeAspect="1"/>
            </p:cNvGraphicFramePr>
            <p:nvPr/>
          </p:nvGraphicFramePr>
          <p:xfrm>
            <a:off x="884" y="449"/>
            <a:ext cx="3817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50" r:id="rId5" imgW="6055360" imgH="431800" progId="Equation.3">
                    <p:embed/>
                  </p:oleObj>
                </mc:Choice>
                <mc:Fallback>
                  <p:oleObj r:id="rId5" imgW="6055360" imgH="431800" progId="Equation.3">
                    <p:embed/>
                    <p:pic>
                      <p:nvPicPr>
                        <p:cNvPr id="0" name="图片 315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84" y="449"/>
                          <a:ext cx="3817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567" name="文本框 66566"/>
          <p:cNvSpPr txBox="1"/>
          <p:nvPr/>
        </p:nvSpPr>
        <p:spPr>
          <a:xfrm>
            <a:off x="407035" y="4004945"/>
            <a:ext cx="9356725" cy="15544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spcBef>
                <a:spcPct val="50000"/>
              </a:spcBef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 The quantity inside the braces is a real function of </a:t>
            </a:r>
            <a:r>
              <a:rPr lang="en-US" altLang="x-none" sz="3200" b="1" dirty="0">
                <a:solidFill>
                  <a:srgbClr val="3366CC"/>
                </a:solidFill>
                <a:latin typeface="Symbol" pitchFamily="2" charset="2"/>
                <a:ea typeface="宋体" charset="-122"/>
              </a:rPr>
              <a:t>w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, and can assume positive or negative values in the range 0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  <a:sym typeface="Symbol" pitchFamily="2" charset="2"/>
              </a:rPr>
              <a:t>||</a:t>
            </a:r>
            <a:r>
              <a:rPr lang="en-US" altLang="zh-CN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  <a:sym typeface="Symbol" pitchFamily="2" charset="2"/>
              </a:rPr>
              <a:t>.</a:t>
            </a: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  <p:bldP spid="6656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内容占位符 67586"/>
          <p:cNvSpPr>
            <a:spLocks noGrp="1"/>
          </p:cNvSpPr>
          <p:nvPr>
            <p:ph idx="1"/>
          </p:nvPr>
        </p:nvSpPr>
        <p:spPr>
          <a:xfrm>
            <a:off x="982980" y="2493010"/>
            <a:ext cx="8274685" cy="1676400"/>
          </a:xfrm>
        </p:spPr>
        <p:txBody>
          <a:bodyPr anchor="t"/>
          <a:lstStyle/>
          <a:p>
            <a:pPr>
              <a:buNone/>
            </a:pPr>
            <a:r>
              <a:rPr lang="en-US" altLang="x-none" sz="3200" b="1" dirty="0"/>
              <a:t>	</a:t>
            </a:r>
            <a:r>
              <a:rPr lang="en-US" altLang="x-none" sz="3200" b="1" dirty="0">
                <a:latin typeface="Times New Roman" pitchFamily="18" charset="0"/>
              </a:rPr>
              <a:t>where </a:t>
            </a:r>
            <a:r>
              <a:rPr lang="en-US" altLang="x-none" sz="3200" b="1" dirty="0">
                <a:latin typeface="Times New Roman" pitchFamily="18" charset="0"/>
                <a:cs typeface="Arial" charset="0"/>
              </a:rPr>
              <a:t>β</a:t>
            </a:r>
            <a:r>
              <a:rPr lang="en-US" altLang="x-none" sz="3200" b="1" dirty="0">
                <a:latin typeface="Times New Roman" pitchFamily="18" charset="0"/>
              </a:rPr>
              <a:t> is either 0 or </a:t>
            </a:r>
            <a:r>
              <a:rPr lang="en-US" altLang="x-none" sz="3200" b="1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 altLang="x-none" sz="3200" b="1" dirty="0">
                <a:latin typeface="Times New Roman" pitchFamily="18" charset="0"/>
              </a:rPr>
              <a:t>, and hence, it is a linear function of </a:t>
            </a:r>
            <a:r>
              <a:rPr lang="en-US" altLang="x-none" sz="3200" b="1" dirty="0">
                <a:latin typeface="Times New Roman" pitchFamily="18" charset="0"/>
                <a:cs typeface="宋体" charset="0"/>
              </a:rPr>
              <a:t>ω</a:t>
            </a:r>
            <a:r>
              <a:rPr lang="en-US" altLang="x-none" sz="3200" b="1" dirty="0">
                <a:latin typeface="Times New Roman" pitchFamily="18" charset="0"/>
              </a:rPr>
              <a:t> in the generalized sense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The group delay is given by</a:t>
            </a:r>
            <a:endParaRPr lang="zh-CN" altLang="en-US" sz="3200" b="1" dirty="0">
              <a:latin typeface="Times New Roman" pitchFamily="18" charset="0"/>
            </a:endParaRPr>
          </a:p>
        </p:txBody>
      </p:sp>
      <p:graphicFrame>
        <p:nvGraphicFramePr>
          <p:cNvPr id="67588" name="对象 67587"/>
          <p:cNvGraphicFramePr>
            <a:graphicFrameLocks noChangeAspect="1"/>
          </p:cNvGraphicFramePr>
          <p:nvPr/>
        </p:nvGraphicFramePr>
        <p:xfrm>
          <a:off x="4007168" y="1917065"/>
          <a:ext cx="24892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3" r:id="rId3" imgW="2487930" imgH="444500" progId="Equation.3">
                  <p:embed/>
                </p:oleObj>
              </mc:Choice>
              <mc:Fallback>
                <p:oleObj r:id="rId3" imgW="2487930" imgH="4445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7168" y="1917065"/>
                        <a:ext cx="2489200" cy="44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对象 67588"/>
          <p:cNvGraphicFramePr>
            <a:graphicFrameLocks noChangeAspect="1"/>
          </p:cNvGraphicFramePr>
          <p:nvPr/>
        </p:nvGraphicFramePr>
        <p:xfrm>
          <a:off x="3143250" y="4580573"/>
          <a:ext cx="3097213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4" r:id="rId5" imgW="2792730" imgH="711200" progId="Equation.3">
                  <p:embed/>
                </p:oleObj>
              </mc:Choice>
              <mc:Fallback>
                <p:oleObj r:id="rId5" imgW="2792730" imgH="711200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3250" y="4580573"/>
                        <a:ext cx="3097213" cy="788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0" name="文本框 67589"/>
          <p:cNvSpPr txBox="1"/>
          <p:nvPr/>
        </p:nvSpPr>
        <p:spPr>
          <a:xfrm>
            <a:off x="2566988" y="5734050"/>
            <a:ext cx="7696200" cy="5181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2800" b="1" dirty="0">
                <a:latin typeface="Times New Roman" pitchFamily="18" charset="0"/>
                <a:ea typeface="宋体" charset="-122"/>
              </a:rPr>
              <a:t>  indicating a constant group delay of 4 samples</a:t>
            </a:r>
            <a:endParaRPr lang="zh-CN" altLang="en-US" sz="2800" b="1" dirty="0">
              <a:latin typeface="Times New Roman" pitchFamily="18" charset="0"/>
              <a:ea typeface="宋体" charset="-122"/>
            </a:endParaRPr>
          </a:p>
        </p:txBody>
      </p:sp>
      <p:sp>
        <p:nvSpPr>
          <p:cNvPr id="67591" name="文本框 67590"/>
          <p:cNvSpPr txBox="1"/>
          <p:nvPr/>
        </p:nvSpPr>
        <p:spPr>
          <a:xfrm>
            <a:off x="911225" y="1268730"/>
            <a:ext cx="7696200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 The phase function here is given by</a:t>
            </a: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7" grpId="0" build="p"/>
      <p:bldP spid="67590" grpId="0"/>
      <p:bldP spid="6759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内容占位符 68610"/>
          <p:cNvSpPr>
            <a:spLocks noGrp="1"/>
          </p:cNvSpPr>
          <p:nvPr>
            <p:ph idx="1"/>
          </p:nvPr>
        </p:nvSpPr>
        <p:spPr>
          <a:xfrm>
            <a:off x="479376" y="1268730"/>
            <a:ext cx="9433123" cy="10668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In the general case for Type 1 FIR filters, the frequency response is of the form	</a:t>
            </a:r>
          </a:p>
        </p:txBody>
      </p:sp>
      <p:graphicFrame>
        <p:nvGraphicFramePr>
          <p:cNvPr id="68612" name="对象 68611"/>
          <p:cNvGraphicFramePr>
            <a:graphicFrameLocks noChangeAspect="1"/>
          </p:cNvGraphicFramePr>
          <p:nvPr/>
        </p:nvGraphicFramePr>
        <p:xfrm>
          <a:off x="3071178" y="2492693"/>
          <a:ext cx="374332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81" r:id="rId3" imgW="1389380" imgH="229235" progId="Equation.DSMT4">
                  <p:embed/>
                </p:oleObj>
              </mc:Choice>
              <mc:Fallback>
                <p:oleObj r:id="rId3" imgW="1389380" imgH="229235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1178" y="2492693"/>
                        <a:ext cx="3743325" cy="617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13" name="组合 68612"/>
          <p:cNvGrpSpPr/>
          <p:nvPr/>
        </p:nvGrpSpPr>
        <p:grpSpPr>
          <a:xfrm>
            <a:off x="2178050" y="4524693"/>
            <a:ext cx="6045200" cy="1016000"/>
            <a:chOff x="44" y="-205"/>
            <a:chExt cx="3808" cy="640"/>
          </a:xfrm>
        </p:grpSpPr>
        <p:graphicFrame>
          <p:nvGraphicFramePr>
            <p:cNvPr id="2" name="对象 686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0937769"/>
                </p:ext>
              </p:extLst>
            </p:nvPr>
          </p:nvGraphicFramePr>
          <p:xfrm>
            <a:off x="223" y="-31"/>
            <a:ext cx="592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82" r:id="rId5" imgW="942975" imgH="433070" progId="Equation.3">
                    <p:embed/>
                  </p:oleObj>
                </mc:Choice>
                <mc:Fallback>
                  <p:oleObj r:id="rId5" imgW="942975" imgH="433070" progId="Equation.3">
                    <p:embed/>
                    <p:pic>
                      <p:nvPicPr>
                        <p:cNvPr id="0" name="图片 315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23" y="-31"/>
                          <a:ext cx="592" cy="27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8614" name="文本框 68614"/>
            <p:cNvSpPr txBox="1"/>
            <p:nvPr/>
          </p:nvSpPr>
          <p:spPr>
            <a:xfrm>
              <a:off x="44" y="0"/>
              <a:ext cx="190" cy="2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lvl="0" eaLnBrk="0" hangingPunct="0"/>
              <a:r>
                <a:rPr lang="zh-CN" altLang="en-US" b="1" dirty="0">
                  <a:latin typeface="Times New Roman" pitchFamily="18" charset="0"/>
                  <a:ea typeface="宋体" charset="-122"/>
                </a:rPr>
                <a:t>~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68615" name="对象 686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4487022"/>
                </p:ext>
              </p:extLst>
            </p:nvPr>
          </p:nvGraphicFramePr>
          <p:xfrm>
            <a:off x="788" y="-205"/>
            <a:ext cx="3064" cy="6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483" r:id="rId7" imgW="4864100" imgH="1016000" progId="Equation.3">
                    <p:embed/>
                  </p:oleObj>
                </mc:Choice>
                <mc:Fallback>
                  <p:oleObj r:id="rId7" imgW="4864100" imgH="1016000" progId="Equation.3">
                    <p:embed/>
                    <p:pic>
                      <p:nvPicPr>
                        <p:cNvPr id="0" name="图片 315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88" y="-205"/>
                          <a:ext cx="3064" cy="6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617" name="组合 68616"/>
          <p:cNvGrpSpPr/>
          <p:nvPr/>
        </p:nvGrpSpPr>
        <p:grpSpPr>
          <a:xfrm>
            <a:off x="1056007" y="3121025"/>
            <a:ext cx="8135938" cy="1314451"/>
            <a:chOff x="46" y="-58"/>
            <a:chExt cx="5125" cy="828"/>
          </a:xfrm>
        </p:grpSpPr>
        <p:grpSp>
          <p:nvGrpSpPr>
            <p:cNvPr id="3" name="组合 68617"/>
            <p:cNvGrpSpPr/>
            <p:nvPr/>
          </p:nvGrpSpPr>
          <p:grpSpPr>
            <a:xfrm>
              <a:off x="3360" y="-58"/>
              <a:ext cx="576" cy="490"/>
              <a:chOff x="0" y="-60"/>
              <a:chExt cx="592" cy="515"/>
            </a:xfrm>
          </p:grpSpPr>
          <p:graphicFrame>
            <p:nvGraphicFramePr>
              <p:cNvPr id="68618" name="对象 68618"/>
              <p:cNvGraphicFramePr>
                <a:graphicFrameLocks noChangeAspect="1"/>
              </p:cNvGraphicFramePr>
              <p:nvPr/>
            </p:nvGraphicFramePr>
            <p:xfrm>
              <a:off x="0" y="184"/>
              <a:ext cx="592" cy="27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484" r:id="rId9" imgW="942975" imgH="433070" progId="Equation.3">
                      <p:embed/>
                    </p:oleObj>
                  </mc:Choice>
                  <mc:Fallback>
                    <p:oleObj r:id="rId9" imgW="942975" imgH="433070" progId="Equation.3">
                      <p:embed/>
                      <p:pic>
                        <p:nvPicPr>
                          <p:cNvPr id="0" name="图片 3157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0" y="184"/>
                            <a:ext cx="592" cy="271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8619" name="文本框 68619"/>
              <p:cNvSpPr txBox="1"/>
              <p:nvPr/>
            </p:nvSpPr>
            <p:spPr>
              <a:xfrm>
                <a:off x="44" y="-60"/>
                <a:ext cx="240" cy="3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lstStyle/>
              <a:p>
                <a:pPr lvl="0" eaLnBrk="0" hangingPunct="0"/>
                <a:r>
                  <a:rPr lang="zh-CN" altLang="en-US" sz="2800" b="1" dirty="0">
                    <a:solidFill>
                      <a:srgbClr val="0070C0"/>
                    </a:solidFill>
                    <a:latin typeface="Times New Roman" pitchFamily="18" charset="0"/>
                    <a:ea typeface="宋体" charset="-122"/>
                  </a:rPr>
                  <a:t>~</a:t>
                </a:r>
              </a:p>
            </p:txBody>
          </p:sp>
        </p:grpSp>
        <p:sp>
          <p:nvSpPr>
            <p:cNvPr id="68620" name="文本框 68620"/>
            <p:cNvSpPr txBox="1"/>
            <p:nvPr/>
          </p:nvSpPr>
          <p:spPr>
            <a:xfrm>
              <a:off x="46" y="91"/>
              <a:ext cx="5125" cy="67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lvl="0">
                <a:spcBef>
                  <a:spcPct val="20000"/>
                </a:spcBef>
              </a:pP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where the amplitude response  </a:t>
              </a:r>
              <a:r>
                <a:rPr lang="en-US" altLang="x-none" sz="3200" b="1" dirty="0">
                  <a:solidFill>
                    <a:srgbClr val="0070C0"/>
                  </a:solidFill>
                  <a:latin typeface="Times New Roman" pitchFamily="18" charset="0"/>
                  <a:ea typeface="宋体" charset="-122"/>
                </a:rPr>
                <a:t>  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      , also called the</a:t>
              </a:r>
              <a:r>
                <a:rPr lang="en-US" altLang="x-none" sz="3200" b="1" dirty="0">
                  <a:latin typeface="Times New Roman" pitchFamily="18" charset="0"/>
                  <a:ea typeface="宋体" charset="-122"/>
                </a:rPr>
                <a:t> </a:t>
              </a:r>
              <a:r>
                <a:rPr lang="en-US" altLang="x-none" sz="3200" b="1" dirty="0">
                  <a:solidFill>
                    <a:srgbClr val="FF3300"/>
                  </a:solidFill>
                  <a:latin typeface="Times New Roman" pitchFamily="18" charset="0"/>
                  <a:ea typeface="宋体" charset="-122"/>
                </a:rPr>
                <a:t>zero-phase response</a:t>
              </a:r>
              <a:r>
                <a:rPr lang="en-US" altLang="x-none" sz="3200" b="1" dirty="0">
                  <a:solidFill>
                    <a:srgbClr val="3366CC"/>
                  </a:solidFill>
                  <a:latin typeface="Times New Roman" pitchFamily="18" charset="0"/>
                  <a:ea typeface="宋体" charset="-122"/>
                </a:rPr>
                <a:t>, is of the form</a:t>
              </a:r>
            </a:p>
          </p:txBody>
        </p:sp>
      </p:grp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  <p:sp>
        <p:nvSpPr>
          <p:cNvPr id="4" name="矩形 3"/>
          <p:cNvSpPr/>
          <p:nvPr/>
        </p:nvSpPr>
        <p:spPr>
          <a:xfrm>
            <a:off x="551384" y="5589240"/>
            <a:ext cx="113317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altLang="x-none" sz="2800" b="1" dirty="0">
                <a:solidFill>
                  <a:srgbClr val="0070C0"/>
                </a:solidFill>
                <a:latin typeface="Times New Roman" pitchFamily="18" charset="0"/>
              </a:rPr>
              <a:t>See </a:t>
            </a:r>
            <a:r>
              <a:rPr lang="en-US" altLang="x-none" sz="2800" b="1" dirty="0" smtClean="0">
                <a:solidFill>
                  <a:srgbClr val="0070C0"/>
                </a:solidFill>
                <a:latin typeface="Times New Roman" pitchFamily="18" charset="0"/>
              </a:rPr>
              <a:t>Section 7.3 </a:t>
            </a:r>
            <a:r>
              <a:rPr lang="en-US" altLang="x-none" sz="2800" b="1" dirty="0">
                <a:solidFill>
                  <a:srgbClr val="0070C0"/>
                </a:solidFill>
                <a:latin typeface="Times New Roman" pitchFamily="18" charset="0"/>
              </a:rPr>
              <a:t>for the forms of the </a:t>
            </a:r>
            <a:r>
              <a:rPr lang="en-US" altLang="x-none" sz="2800" b="1" dirty="0" smtClean="0">
                <a:solidFill>
                  <a:srgbClr val="0070C0"/>
                </a:solidFill>
                <a:latin typeface="Times New Roman" pitchFamily="18" charset="0"/>
              </a:rPr>
              <a:t>other 3 types of transfer functions.</a:t>
            </a:r>
            <a:endParaRPr lang="en-US" altLang="x-none" sz="2800" b="1" dirty="0">
              <a:solidFill>
                <a:srgbClr val="0070C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文本框 70657"/>
          <p:cNvSpPr txBox="1"/>
          <p:nvPr/>
        </p:nvSpPr>
        <p:spPr>
          <a:xfrm>
            <a:off x="3359150" y="260350"/>
            <a:ext cx="6127115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zh-CN" altLang="en-US" sz="3200" b="1" dirty="0">
                <a:latin typeface="Times New Roman" pitchFamily="18" charset="0"/>
                <a:ea typeface="宋体" charset="-122"/>
              </a:rPr>
              <a:t>Four Types of Linear Phase Filter </a:t>
            </a:r>
          </a:p>
        </p:txBody>
      </p:sp>
      <p:graphicFrame>
        <p:nvGraphicFramePr>
          <p:cNvPr id="70658" name="对象 70658"/>
          <p:cNvGraphicFramePr>
            <a:graphicFrameLocks noChangeAspect="1"/>
          </p:cNvGraphicFramePr>
          <p:nvPr/>
        </p:nvGraphicFramePr>
        <p:xfrm>
          <a:off x="767080" y="476885"/>
          <a:ext cx="9144000" cy="604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79" r:id="rId4" imgW="5212080" imgH="3451860" progId="">
                  <p:embed/>
                </p:oleObj>
              </mc:Choice>
              <mc:Fallback>
                <p:oleObj r:id="rId4" imgW="5212080" imgH="3451860" progId="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7080" y="476885"/>
                        <a:ext cx="9144000" cy="6049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  <p:sndAc>
      <p:stSnd>
        <p:snd r:embed="rId3" name="chimes.wav"/>
      </p:stSnd>
    </p:sndAc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文本框 71681"/>
          <p:cNvSpPr txBox="1"/>
          <p:nvPr/>
        </p:nvSpPr>
        <p:spPr>
          <a:xfrm>
            <a:off x="3576638" y="260350"/>
            <a:ext cx="6184265" cy="57912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zh-CN" altLang="en-US" sz="3200" b="1" dirty="0">
                <a:latin typeface="Times New Roman" pitchFamily="18" charset="0"/>
                <a:ea typeface="宋体" charset="-122"/>
              </a:rPr>
              <a:t>Four Types of Linear Phase Filter </a:t>
            </a:r>
            <a:r>
              <a:rPr lang="zh-CN" altLang="en-US" b="1" dirty="0">
                <a:latin typeface="Times New Roman" pitchFamily="18" charset="0"/>
                <a:ea typeface="宋体" charset="-122"/>
              </a:rPr>
              <a:t> </a:t>
            </a:r>
          </a:p>
        </p:txBody>
      </p:sp>
      <p:graphicFrame>
        <p:nvGraphicFramePr>
          <p:cNvPr id="71682" name="对象 71682"/>
          <p:cNvGraphicFramePr>
            <a:graphicFrameLocks noChangeAspect="1"/>
          </p:cNvGraphicFramePr>
          <p:nvPr/>
        </p:nvGraphicFramePr>
        <p:xfrm>
          <a:off x="622935" y="836930"/>
          <a:ext cx="9144000" cy="579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3" r:id="rId4" imgW="5212080" imgH="3307080" progId="">
                  <p:embed/>
                </p:oleObj>
              </mc:Choice>
              <mc:Fallback>
                <p:oleObj r:id="rId4" imgW="5212080" imgH="3307080" progId="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2935" y="836930"/>
                        <a:ext cx="9144000" cy="5795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  <p:sndAc>
      <p:stSnd>
        <p:snd r:embed="rId3" name="chimes.wav"/>
      </p:stSnd>
    </p:sndAc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内容占位符 72706"/>
          <p:cNvSpPr>
            <a:spLocks noGrp="1"/>
          </p:cNvSpPr>
          <p:nvPr>
            <p:ph idx="1"/>
          </p:nvPr>
        </p:nvSpPr>
        <p:spPr>
          <a:xfrm>
            <a:off x="1343024" y="2924493"/>
            <a:ext cx="10009560" cy="2819400"/>
          </a:xfrm>
        </p:spPr>
        <p:txBody>
          <a:bodyPr anchor="t"/>
          <a:lstStyle/>
          <a:p>
            <a:pPr>
              <a:lnSpc>
                <a:spcPct val="90000"/>
              </a:lnSpc>
              <a:buNone/>
            </a:pPr>
            <a:r>
              <a:rPr lang="en-US" altLang="x-none" sz="3200" b="1" dirty="0"/>
              <a:t>   </a:t>
            </a:r>
            <a:r>
              <a:rPr lang="en-US" altLang="x-none" sz="3200" b="1" dirty="0">
                <a:latin typeface="Times New Roman" pitchFamily="18" charset="0"/>
              </a:rPr>
              <a:t>which is seen to be a slightly modified version of a length-7 moving-average FIR filter</a:t>
            </a:r>
          </a:p>
          <a:p>
            <a:pPr>
              <a:lnSpc>
                <a:spcPct val="90000"/>
              </a:lnSpc>
            </a:pPr>
            <a:endParaRPr lang="en-US" altLang="x-none" sz="3200" b="1" dirty="0" smtClean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x-none" sz="3200" b="1" dirty="0" smtClean="0">
                <a:latin typeface="Times New Roman" pitchFamily="18" charset="0"/>
              </a:rPr>
              <a:t>The </a:t>
            </a:r>
            <a:r>
              <a:rPr lang="en-US" altLang="x-none" sz="3200" b="1" dirty="0">
                <a:latin typeface="Times New Roman" pitchFamily="18" charset="0"/>
              </a:rPr>
              <a:t>above transfer function has a symmetric impulse response and therefore a linear phase </a:t>
            </a:r>
            <a:r>
              <a:rPr lang="en-US" altLang="x-none" sz="3200" b="1" dirty="0" smtClean="0">
                <a:latin typeface="Times New Roman" pitchFamily="18" charset="0"/>
              </a:rPr>
              <a:t>response</a:t>
            </a:r>
          </a:p>
          <a:p>
            <a:pPr indent="547688">
              <a:lnSpc>
                <a:spcPct val="90000"/>
              </a:lnSpc>
              <a:buFont typeface="Wingdings" pitchFamily="2" charset="2"/>
              <a:buChar char="Ø"/>
            </a:pPr>
            <a:r>
              <a:rPr lang="en-US" altLang="x-none" sz="3200" b="1" dirty="0" smtClean="0">
                <a:latin typeface="Times New Roman" pitchFamily="18" charset="0"/>
              </a:rPr>
              <a:t>Type 1</a:t>
            </a:r>
            <a:endParaRPr lang="zh-CN" altLang="en-US" sz="3200" b="1" dirty="0">
              <a:latin typeface="Times New Roman" pitchFamily="18" charset="0"/>
            </a:endParaRPr>
          </a:p>
        </p:txBody>
      </p:sp>
      <p:graphicFrame>
        <p:nvGraphicFramePr>
          <p:cNvPr id="72708" name="对象 72707"/>
          <p:cNvGraphicFramePr>
            <a:graphicFrameLocks noChangeAspect="1"/>
          </p:cNvGraphicFramePr>
          <p:nvPr/>
        </p:nvGraphicFramePr>
        <p:xfrm>
          <a:off x="2135505" y="2060575"/>
          <a:ext cx="7253288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27" r:id="rId3" imgW="7937500" imgH="749300" progId="Equation.3">
                  <p:embed/>
                </p:oleObj>
              </mc:Choice>
              <mc:Fallback>
                <p:oleObj r:id="rId3" imgW="7937500" imgH="749300" progId="Equation.3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505" y="2060575"/>
                        <a:ext cx="7253288" cy="684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9" name="文本框 72708"/>
          <p:cNvSpPr txBox="1"/>
          <p:nvPr/>
        </p:nvSpPr>
        <p:spPr>
          <a:xfrm>
            <a:off x="767080" y="1268730"/>
            <a:ext cx="7543800" cy="57912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x-none" sz="3200" b="1" u="sng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Example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- Consider</a:t>
            </a: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2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/>
      <p:bldP spid="7270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内容占位符 73730"/>
          <p:cNvSpPr>
            <a:spLocks noGrp="1"/>
          </p:cNvSpPr>
          <p:nvPr>
            <p:ph idx="1"/>
          </p:nvPr>
        </p:nvSpPr>
        <p:spPr>
          <a:xfrm>
            <a:off x="767080" y="1268730"/>
            <a:ext cx="7772400" cy="160020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A plot of the magnitude respons  of H</a:t>
            </a:r>
            <a:r>
              <a:rPr lang="en-US" altLang="x-none" sz="3200" b="1" baseline="-25000" dirty="0">
                <a:solidFill>
                  <a:srgbClr val="0070C0"/>
                </a:solidFill>
                <a:uFillTx/>
                <a:latin typeface="Times New Roman" pitchFamily="18" charset="0"/>
              </a:rPr>
              <a:t>0</a:t>
            </a:r>
            <a:r>
              <a:rPr lang="en-US" altLang="x-none" sz="3200" b="1" dirty="0">
                <a:latin typeface="Times New Roman" pitchFamily="18" charset="0"/>
              </a:rPr>
              <a:t>(z) along with the 7-point moving-average filter is shown below</a:t>
            </a:r>
          </a:p>
        </p:txBody>
      </p:sp>
      <p:grpSp>
        <p:nvGrpSpPr>
          <p:cNvPr id="73732" name="组合 73731"/>
          <p:cNvGrpSpPr/>
          <p:nvPr/>
        </p:nvGrpSpPr>
        <p:grpSpPr>
          <a:xfrm>
            <a:off x="2432403" y="2896870"/>
            <a:ext cx="4373527" cy="3155447"/>
            <a:chOff x="2" y="0"/>
            <a:chExt cx="2695" cy="1888"/>
          </a:xfrm>
        </p:grpSpPr>
        <p:sp>
          <p:nvSpPr>
            <p:cNvPr id="2" name="矩形 73732"/>
            <p:cNvSpPr/>
            <p:nvPr/>
          </p:nvSpPr>
          <p:spPr>
            <a:xfrm>
              <a:off x="307" y="60"/>
              <a:ext cx="2365" cy="1557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33" name="矩形 73733"/>
            <p:cNvSpPr/>
            <p:nvPr/>
          </p:nvSpPr>
          <p:spPr>
            <a:xfrm>
              <a:off x="307" y="60"/>
              <a:ext cx="2365" cy="1557"/>
            </a:xfrm>
            <a:prstGeom prst="rect">
              <a:avLst/>
            </a:prstGeom>
            <a:noFill/>
            <a:ln w="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34" name="直接连接符 73734"/>
            <p:cNvSpPr/>
            <p:nvPr/>
          </p:nvSpPr>
          <p:spPr>
            <a:xfrm>
              <a:off x="307" y="60"/>
              <a:ext cx="236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35" name="未知"/>
            <p:cNvSpPr/>
            <p:nvPr/>
          </p:nvSpPr>
          <p:spPr>
            <a:xfrm>
              <a:off x="307" y="60"/>
              <a:ext cx="2365" cy="1557"/>
            </a:xfrm>
            <a:custGeom>
              <a:avLst/>
              <a:gdLst/>
              <a:ahLst/>
              <a:cxnLst/>
              <a:rect l="0" t="0" r="0" b="0"/>
              <a:pathLst>
                <a:path w="357" h="235">
                  <a:moveTo>
                    <a:pt x="0" y="235"/>
                  </a:moveTo>
                  <a:lnTo>
                    <a:pt x="357" y="235"/>
                  </a:lnTo>
                  <a:lnTo>
                    <a:pt x="357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6" name="直接连接符 73736"/>
            <p:cNvSpPr/>
            <p:nvPr/>
          </p:nvSpPr>
          <p:spPr>
            <a:xfrm flipV="1">
              <a:off x="307" y="60"/>
              <a:ext cx="1" cy="15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37" name="直接连接符 73737"/>
            <p:cNvSpPr/>
            <p:nvPr/>
          </p:nvSpPr>
          <p:spPr>
            <a:xfrm>
              <a:off x="307" y="1617"/>
              <a:ext cx="236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38" name="直接连接符 73738"/>
            <p:cNvSpPr/>
            <p:nvPr/>
          </p:nvSpPr>
          <p:spPr>
            <a:xfrm flipV="1">
              <a:off x="307" y="60"/>
              <a:ext cx="1" cy="15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39" name="直接连接符 73739"/>
            <p:cNvSpPr/>
            <p:nvPr/>
          </p:nvSpPr>
          <p:spPr>
            <a:xfrm flipV="1">
              <a:off x="307" y="1590"/>
              <a:ext cx="1" cy="2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0" name="直接连接符 73740"/>
            <p:cNvSpPr/>
            <p:nvPr/>
          </p:nvSpPr>
          <p:spPr>
            <a:xfrm>
              <a:off x="307" y="60"/>
              <a:ext cx="1" cy="2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1" name="矩形 73741"/>
            <p:cNvSpPr/>
            <p:nvPr/>
          </p:nvSpPr>
          <p:spPr>
            <a:xfrm>
              <a:off x="280" y="1637"/>
              <a:ext cx="52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2" name="直接连接符 73742"/>
            <p:cNvSpPr/>
            <p:nvPr/>
          </p:nvSpPr>
          <p:spPr>
            <a:xfrm flipV="1">
              <a:off x="777" y="1590"/>
              <a:ext cx="1" cy="2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3" name="直接连接符 73743"/>
            <p:cNvSpPr/>
            <p:nvPr/>
          </p:nvSpPr>
          <p:spPr>
            <a:xfrm>
              <a:off x="777" y="60"/>
              <a:ext cx="1" cy="2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4" name="矩形 73744"/>
            <p:cNvSpPr/>
            <p:nvPr/>
          </p:nvSpPr>
          <p:spPr>
            <a:xfrm>
              <a:off x="711" y="1637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0.2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5" name="直接连接符 73745"/>
            <p:cNvSpPr/>
            <p:nvPr/>
          </p:nvSpPr>
          <p:spPr>
            <a:xfrm flipV="1">
              <a:off x="1247" y="1590"/>
              <a:ext cx="1" cy="2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6" name="直接连接符 73746"/>
            <p:cNvSpPr/>
            <p:nvPr/>
          </p:nvSpPr>
          <p:spPr>
            <a:xfrm>
              <a:off x="1247" y="60"/>
              <a:ext cx="1" cy="2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7" name="矩形 73747"/>
            <p:cNvSpPr/>
            <p:nvPr/>
          </p:nvSpPr>
          <p:spPr>
            <a:xfrm>
              <a:off x="1181" y="1637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0.4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8" name="直接连接符 73748"/>
            <p:cNvSpPr/>
            <p:nvPr/>
          </p:nvSpPr>
          <p:spPr>
            <a:xfrm flipV="1">
              <a:off x="1724" y="1590"/>
              <a:ext cx="1" cy="2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49" name="直接连接符 73749"/>
            <p:cNvSpPr/>
            <p:nvPr/>
          </p:nvSpPr>
          <p:spPr>
            <a:xfrm>
              <a:off x="1724" y="60"/>
              <a:ext cx="1" cy="2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0" name="矩形 73750"/>
            <p:cNvSpPr/>
            <p:nvPr/>
          </p:nvSpPr>
          <p:spPr>
            <a:xfrm>
              <a:off x="1658" y="1637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0.6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1" name="直接连接符 73751"/>
            <p:cNvSpPr/>
            <p:nvPr/>
          </p:nvSpPr>
          <p:spPr>
            <a:xfrm flipV="1">
              <a:off x="2195" y="1590"/>
              <a:ext cx="1" cy="2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2" name="直接连接符 73752"/>
            <p:cNvSpPr/>
            <p:nvPr/>
          </p:nvSpPr>
          <p:spPr>
            <a:xfrm>
              <a:off x="2195" y="60"/>
              <a:ext cx="1" cy="2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3" name="矩形 73753"/>
            <p:cNvSpPr/>
            <p:nvPr/>
          </p:nvSpPr>
          <p:spPr>
            <a:xfrm>
              <a:off x="2128" y="1637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0.8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4" name="直接连接符 73754"/>
            <p:cNvSpPr/>
            <p:nvPr/>
          </p:nvSpPr>
          <p:spPr>
            <a:xfrm flipV="1">
              <a:off x="2672" y="1590"/>
              <a:ext cx="1" cy="2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5" name="直接连接符 73755"/>
            <p:cNvSpPr/>
            <p:nvPr/>
          </p:nvSpPr>
          <p:spPr>
            <a:xfrm>
              <a:off x="2672" y="60"/>
              <a:ext cx="1" cy="2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6" name="矩形 73756"/>
            <p:cNvSpPr/>
            <p:nvPr/>
          </p:nvSpPr>
          <p:spPr>
            <a:xfrm>
              <a:off x="2645" y="1637"/>
              <a:ext cx="52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1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7" name="直接连接符 73757"/>
            <p:cNvSpPr/>
            <p:nvPr/>
          </p:nvSpPr>
          <p:spPr>
            <a:xfrm>
              <a:off x="307" y="1617"/>
              <a:ext cx="19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8" name="直接连接符 73758"/>
            <p:cNvSpPr/>
            <p:nvPr/>
          </p:nvSpPr>
          <p:spPr>
            <a:xfrm flipH="1">
              <a:off x="2645" y="1617"/>
              <a:ext cx="27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59" name="矩形 73759"/>
            <p:cNvSpPr/>
            <p:nvPr/>
          </p:nvSpPr>
          <p:spPr>
            <a:xfrm>
              <a:off x="227" y="1557"/>
              <a:ext cx="52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0" name="直接连接符 73760"/>
            <p:cNvSpPr/>
            <p:nvPr/>
          </p:nvSpPr>
          <p:spPr>
            <a:xfrm>
              <a:off x="307" y="1305"/>
              <a:ext cx="19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1" name="直接连接符 73761"/>
            <p:cNvSpPr/>
            <p:nvPr/>
          </p:nvSpPr>
          <p:spPr>
            <a:xfrm flipH="1">
              <a:off x="2645" y="1305"/>
              <a:ext cx="27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2" name="矩形 73762"/>
            <p:cNvSpPr/>
            <p:nvPr/>
          </p:nvSpPr>
          <p:spPr>
            <a:xfrm>
              <a:off x="148" y="1246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0.2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3" name="直接连接符 73763"/>
            <p:cNvSpPr/>
            <p:nvPr/>
          </p:nvSpPr>
          <p:spPr>
            <a:xfrm>
              <a:off x="307" y="994"/>
              <a:ext cx="19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4" name="直接连接符 73764"/>
            <p:cNvSpPr/>
            <p:nvPr/>
          </p:nvSpPr>
          <p:spPr>
            <a:xfrm flipH="1">
              <a:off x="2645" y="994"/>
              <a:ext cx="27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5" name="矩形 73765"/>
            <p:cNvSpPr/>
            <p:nvPr/>
          </p:nvSpPr>
          <p:spPr>
            <a:xfrm>
              <a:off x="148" y="934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0.4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6" name="直接连接符 73766"/>
            <p:cNvSpPr/>
            <p:nvPr/>
          </p:nvSpPr>
          <p:spPr>
            <a:xfrm>
              <a:off x="307" y="676"/>
              <a:ext cx="19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7" name="直接连接符 73767"/>
            <p:cNvSpPr/>
            <p:nvPr/>
          </p:nvSpPr>
          <p:spPr>
            <a:xfrm flipH="1">
              <a:off x="2645" y="676"/>
              <a:ext cx="27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8" name="矩形 73768"/>
            <p:cNvSpPr/>
            <p:nvPr/>
          </p:nvSpPr>
          <p:spPr>
            <a:xfrm>
              <a:off x="148" y="616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0.6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69" name="直接连接符 73769"/>
            <p:cNvSpPr/>
            <p:nvPr/>
          </p:nvSpPr>
          <p:spPr>
            <a:xfrm>
              <a:off x="307" y="371"/>
              <a:ext cx="19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0" name="直接连接符 73770"/>
            <p:cNvSpPr/>
            <p:nvPr/>
          </p:nvSpPr>
          <p:spPr>
            <a:xfrm flipH="1">
              <a:off x="2645" y="371"/>
              <a:ext cx="27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1" name="矩形 73771"/>
            <p:cNvSpPr/>
            <p:nvPr/>
          </p:nvSpPr>
          <p:spPr>
            <a:xfrm>
              <a:off x="148" y="312"/>
              <a:ext cx="130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0.8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2" name="直接连接符 73772"/>
            <p:cNvSpPr/>
            <p:nvPr/>
          </p:nvSpPr>
          <p:spPr>
            <a:xfrm>
              <a:off x="307" y="60"/>
              <a:ext cx="19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3" name="直接连接符 73773"/>
            <p:cNvSpPr/>
            <p:nvPr/>
          </p:nvSpPr>
          <p:spPr>
            <a:xfrm flipH="1">
              <a:off x="2645" y="60"/>
              <a:ext cx="27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4" name="矩形 73774"/>
            <p:cNvSpPr/>
            <p:nvPr/>
          </p:nvSpPr>
          <p:spPr>
            <a:xfrm>
              <a:off x="227" y="0"/>
              <a:ext cx="52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1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5" name="直接连接符 73775"/>
            <p:cNvSpPr/>
            <p:nvPr/>
          </p:nvSpPr>
          <p:spPr>
            <a:xfrm>
              <a:off x="307" y="60"/>
              <a:ext cx="2365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6" name="未知"/>
            <p:cNvSpPr/>
            <p:nvPr/>
          </p:nvSpPr>
          <p:spPr>
            <a:xfrm>
              <a:off x="307" y="60"/>
              <a:ext cx="2365" cy="1557"/>
            </a:xfrm>
            <a:custGeom>
              <a:avLst/>
              <a:gdLst/>
              <a:ahLst/>
              <a:cxnLst/>
              <a:rect l="0" t="0" r="0" b="0"/>
              <a:pathLst>
                <a:path w="357" h="235">
                  <a:moveTo>
                    <a:pt x="0" y="235"/>
                  </a:moveTo>
                  <a:lnTo>
                    <a:pt x="357" y="235"/>
                  </a:lnTo>
                  <a:lnTo>
                    <a:pt x="357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7" name="直接连接符 73777"/>
            <p:cNvSpPr/>
            <p:nvPr/>
          </p:nvSpPr>
          <p:spPr>
            <a:xfrm flipV="1">
              <a:off x="307" y="60"/>
              <a:ext cx="1" cy="1557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78" name="未知"/>
            <p:cNvSpPr/>
            <p:nvPr/>
          </p:nvSpPr>
          <p:spPr>
            <a:xfrm>
              <a:off x="307" y="60"/>
              <a:ext cx="636" cy="1226"/>
            </a:xfrm>
            <a:custGeom>
              <a:avLst/>
              <a:gdLst/>
              <a:ahLst/>
              <a:cxnLst/>
              <a:rect l="0" t="0" r="0" b="0"/>
              <a:pathLst>
                <a:path w="636" h="1226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6" y="0"/>
                  </a:lnTo>
                  <a:lnTo>
                    <a:pt x="33" y="0"/>
                  </a:lnTo>
                  <a:lnTo>
                    <a:pt x="39" y="7"/>
                  </a:lnTo>
                  <a:lnTo>
                    <a:pt x="46" y="7"/>
                  </a:lnTo>
                  <a:lnTo>
                    <a:pt x="53" y="13"/>
                  </a:lnTo>
                  <a:lnTo>
                    <a:pt x="59" y="13"/>
                  </a:lnTo>
                  <a:lnTo>
                    <a:pt x="66" y="20"/>
                  </a:lnTo>
                  <a:lnTo>
                    <a:pt x="72" y="26"/>
                  </a:lnTo>
                  <a:lnTo>
                    <a:pt x="79" y="26"/>
                  </a:lnTo>
                  <a:lnTo>
                    <a:pt x="86" y="33"/>
                  </a:lnTo>
                  <a:lnTo>
                    <a:pt x="92" y="40"/>
                  </a:lnTo>
                  <a:lnTo>
                    <a:pt x="99" y="40"/>
                  </a:lnTo>
                  <a:lnTo>
                    <a:pt x="106" y="46"/>
                  </a:lnTo>
                  <a:lnTo>
                    <a:pt x="112" y="53"/>
                  </a:lnTo>
                  <a:lnTo>
                    <a:pt x="119" y="66"/>
                  </a:lnTo>
                  <a:lnTo>
                    <a:pt x="125" y="66"/>
                  </a:lnTo>
                  <a:lnTo>
                    <a:pt x="132" y="79"/>
                  </a:lnTo>
                  <a:lnTo>
                    <a:pt x="139" y="86"/>
                  </a:lnTo>
                  <a:lnTo>
                    <a:pt x="145" y="93"/>
                  </a:lnTo>
                  <a:lnTo>
                    <a:pt x="152" y="99"/>
                  </a:lnTo>
                  <a:lnTo>
                    <a:pt x="159" y="106"/>
                  </a:lnTo>
                  <a:lnTo>
                    <a:pt x="165" y="113"/>
                  </a:lnTo>
                  <a:lnTo>
                    <a:pt x="165" y="119"/>
                  </a:lnTo>
                  <a:lnTo>
                    <a:pt x="172" y="126"/>
                  </a:lnTo>
                  <a:lnTo>
                    <a:pt x="178" y="132"/>
                  </a:lnTo>
                  <a:lnTo>
                    <a:pt x="178" y="139"/>
                  </a:lnTo>
                  <a:lnTo>
                    <a:pt x="185" y="146"/>
                  </a:lnTo>
                  <a:lnTo>
                    <a:pt x="192" y="152"/>
                  </a:lnTo>
                  <a:lnTo>
                    <a:pt x="192" y="166"/>
                  </a:lnTo>
                  <a:lnTo>
                    <a:pt x="198" y="172"/>
                  </a:lnTo>
                  <a:lnTo>
                    <a:pt x="205" y="179"/>
                  </a:lnTo>
                  <a:lnTo>
                    <a:pt x="212" y="185"/>
                  </a:lnTo>
                  <a:lnTo>
                    <a:pt x="212" y="192"/>
                  </a:lnTo>
                  <a:lnTo>
                    <a:pt x="218" y="199"/>
                  </a:lnTo>
                  <a:lnTo>
                    <a:pt x="225" y="212"/>
                  </a:lnTo>
                  <a:lnTo>
                    <a:pt x="225" y="219"/>
                  </a:lnTo>
                  <a:lnTo>
                    <a:pt x="231" y="225"/>
                  </a:lnTo>
                  <a:lnTo>
                    <a:pt x="238" y="232"/>
                  </a:lnTo>
                  <a:lnTo>
                    <a:pt x="238" y="245"/>
                  </a:lnTo>
                  <a:lnTo>
                    <a:pt x="245" y="252"/>
                  </a:lnTo>
                  <a:lnTo>
                    <a:pt x="251" y="265"/>
                  </a:lnTo>
                  <a:lnTo>
                    <a:pt x="258" y="272"/>
                  </a:lnTo>
                  <a:lnTo>
                    <a:pt x="258" y="278"/>
                  </a:lnTo>
                  <a:lnTo>
                    <a:pt x="265" y="291"/>
                  </a:lnTo>
                  <a:lnTo>
                    <a:pt x="271" y="298"/>
                  </a:lnTo>
                  <a:lnTo>
                    <a:pt x="271" y="311"/>
                  </a:lnTo>
                  <a:lnTo>
                    <a:pt x="278" y="318"/>
                  </a:lnTo>
                  <a:lnTo>
                    <a:pt x="284" y="331"/>
                  </a:lnTo>
                  <a:lnTo>
                    <a:pt x="284" y="338"/>
                  </a:lnTo>
                  <a:lnTo>
                    <a:pt x="291" y="351"/>
                  </a:lnTo>
                  <a:lnTo>
                    <a:pt x="298" y="358"/>
                  </a:lnTo>
                  <a:lnTo>
                    <a:pt x="304" y="371"/>
                  </a:lnTo>
                  <a:lnTo>
                    <a:pt x="304" y="378"/>
                  </a:lnTo>
                  <a:lnTo>
                    <a:pt x="311" y="391"/>
                  </a:lnTo>
                  <a:lnTo>
                    <a:pt x="318" y="397"/>
                  </a:lnTo>
                  <a:lnTo>
                    <a:pt x="318" y="411"/>
                  </a:lnTo>
                  <a:lnTo>
                    <a:pt x="324" y="424"/>
                  </a:lnTo>
                  <a:lnTo>
                    <a:pt x="331" y="431"/>
                  </a:lnTo>
                  <a:lnTo>
                    <a:pt x="331" y="444"/>
                  </a:lnTo>
                  <a:lnTo>
                    <a:pt x="337" y="457"/>
                  </a:lnTo>
                  <a:lnTo>
                    <a:pt x="344" y="464"/>
                  </a:lnTo>
                  <a:lnTo>
                    <a:pt x="344" y="477"/>
                  </a:lnTo>
                  <a:lnTo>
                    <a:pt x="351" y="490"/>
                  </a:lnTo>
                  <a:lnTo>
                    <a:pt x="357" y="497"/>
                  </a:lnTo>
                  <a:lnTo>
                    <a:pt x="364" y="510"/>
                  </a:lnTo>
                  <a:lnTo>
                    <a:pt x="364" y="523"/>
                  </a:lnTo>
                  <a:lnTo>
                    <a:pt x="371" y="537"/>
                  </a:lnTo>
                  <a:lnTo>
                    <a:pt x="377" y="543"/>
                  </a:lnTo>
                  <a:lnTo>
                    <a:pt x="377" y="556"/>
                  </a:lnTo>
                  <a:lnTo>
                    <a:pt x="384" y="570"/>
                  </a:lnTo>
                  <a:lnTo>
                    <a:pt x="390" y="583"/>
                  </a:lnTo>
                  <a:lnTo>
                    <a:pt x="390" y="596"/>
                  </a:lnTo>
                  <a:lnTo>
                    <a:pt x="397" y="603"/>
                  </a:lnTo>
                  <a:lnTo>
                    <a:pt x="404" y="616"/>
                  </a:lnTo>
                  <a:lnTo>
                    <a:pt x="410" y="629"/>
                  </a:lnTo>
                  <a:lnTo>
                    <a:pt x="410" y="643"/>
                  </a:lnTo>
                  <a:lnTo>
                    <a:pt x="417" y="656"/>
                  </a:lnTo>
                  <a:lnTo>
                    <a:pt x="424" y="662"/>
                  </a:lnTo>
                  <a:lnTo>
                    <a:pt x="424" y="676"/>
                  </a:lnTo>
                  <a:lnTo>
                    <a:pt x="430" y="689"/>
                  </a:lnTo>
                  <a:lnTo>
                    <a:pt x="437" y="702"/>
                  </a:lnTo>
                  <a:lnTo>
                    <a:pt x="437" y="715"/>
                  </a:lnTo>
                  <a:lnTo>
                    <a:pt x="443" y="729"/>
                  </a:lnTo>
                  <a:lnTo>
                    <a:pt x="450" y="742"/>
                  </a:lnTo>
                  <a:lnTo>
                    <a:pt x="457" y="749"/>
                  </a:lnTo>
                  <a:lnTo>
                    <a:pt x="457" y="762"/>
                  </a:lnTo>
                  <a:lnTo>
                    <a:pt x="463" y="775"/>
                  </a:lnTo>
                  <a:lnTo>
                    <a:pt x="470" y="788"/>
                  </a:lnTo>
                  <a:lnTo>
                    <a:pt x="470" y="802"/>
                  </a:lnTo>
                  <a:lnTo>
                    <a:pt x="477" y="815"/>
                  </a:lnTo>
                  <a:lnTo>
                    <a:pt x="483" y="828"/>
                  </a:lnTo>
                  <a:lnTo>
                    <a:pt x="483" y="841"/>
                  </a:lnTo>
                  <a:lnTo>
                    <a:pt x="490" y="855"/>
                  </a:lnTo>
                  <a:lnTo>
                    <a:pt x="496" y="861"/>
                  </a:lnTo>
                  <a:lnTo>
                    <a:pt x="503" y="874"/>
                  </a:lnTo>
                  <a:lnTo>
                    <a:pt x="503" y="888"/>
                  </a:lnTo>
                  <a:lnTo>
                    <a:pt x="510" y="901"/>
                  </a:lnTo>
                  <a:lnTo>
                    <a:pt x="516" y="914"/>
                  </a:lnTo>
                  <a:lnTo>
                    <a:pt x="516" y="927"/>
                  </a:lnTo>
                  <a:lnTo>
                    <a:pt x="523" y="941"/>
                  </a:lnTo>
                  <a:lnTo>
                    <a:pt x="530" y="954"/>
                  </a:lnTo>
                  <a:lnTo>
                    <a:pt x="530" y="961"/>
                  </a:lnTo>
                  <a:lnTo>
                    <a:pt x="536" y="974"/>
                  </a:lnTo>
                  <a:lnTo>
                    <a:pt x="543" y="987"/>
                  </a:lnTo>
                  <a:lnTo>
                    <a:pt x="543" y="1000"/>
                  </a:lnTo>
                  <a:lnTo>
                    <a:pt x="549" y="1014"/>
                  </a:lnTo>
                  <a:lnTo>
                    <a:pt x="556" y="1027"/>
                  </a:lnTo>
                  <a:lnTo>
                    <a:pt x="563" y="1040"/>
                  </a:lnTo>
                  <a:lnTo>
                    <a:pt x="563" y="1047"/>
                  </a:lnTo>
                  <a:lnTo>
                    <a:pt x="569" y="1060"/>
                  </a:lnTo>
                  <a:lnTo>
                    <a:pt x="576" y="1073"/>
                  </a:lnTo>
                  <a:lnTo>
                    <a:pt x="576" y="1086"/>
                  </a:lnTo>
                  <a:lnTo>
                    <a:pt x="583" y="1100"/>
                  </a:lnTo>
                  <a:lnTo>
                    <a:pt x="589" y="1113"/>
                  </a:lnTo>
                  <a:lnTo>
                    <a:pt x="589" y="1120"/>
                  </a:lnTo>
                  <a:lnTo>
                    <a:pt x="596" y="1133"/>
                  </a:lnTo>
                  <a:lnTo>
                    <a:pt x="602" y="1146"/>
                  </a:lnTo>
                  <a:lnTo>
                    <a:pt x="609" y="1159"/>
                  </a:lnTo>
                  <a:lnTo>
                    <a:pt x="609" y="1173"/>
                  </a:lnTo>
                  <a:lnTo>
                    <a:pt x="616" y="1179"/>
                  </a:lnTo>
                  <a:lnTo>
                    <a:pt x="622" y="1192"/>
                  </a:lnTo>
                  <a:lnTo>
                    <a:pt x="622" y="1206"/>
                  </a:lnTo>
                  <a:lnTo>
                    <a:pt x="629" y="1219"/>
                  </a:lnTo>
                  <a:lnTo>
                    <a:pt x="636" y="1226"/>
                  </a:lnTo>
                </a:path>
              </a:pathLst>
            </a:custGeom>
            <a:noFill/>
            <a:ln w="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9" name="未知"/>
            <p:cNvSpPr/>
            <p:nvPr/>
          </p:nvSpPr>
          <p:spPr>
            <a:xfrm>
              <a:off x="943" y="1286"/>
              <a:ext cx="735" cy="324"/>
            </a:xfrm>
            <a:custGeom>
              <a:avLst/>
              <a:gdLst/>
              <a:ahLst/>
              <a:cxnLst/>
              <a:rect l="0" t="0" r="0" b="0"/>
              <a:pathLst>
                <a:path w="735" h="324">
                  <a:moveTo>
                    <a:pt x="0" y="0"/>
                  </a:moveTo>
                  <a:lnTo>
                    <a:pt x="0" y="13"/>
                  </a:lnTo>
                  <a:lnTo>
                    <a:pt x="6" y="26"/>
                  </a:lnTo>
                  <a:lnTo>
                    <a:pt x="13" y="33"/>
                  </a:lnTo>
                  <a:lnTo>
                    <a:pt x="19" y="46"/>
                  </a:lnTo>
                  <a:lnTo>
                    <a:pt x="19" y="59"/>
                  </a:lnTo>
                  <a:lnTo>
                    <a:pt x="26" y="66"/>
                  </a:lnTo>
                  <a:lnTo>
                    <a:pt x="33" y="79"/>
                  </a:lnTo>
                  <a:lnTo>
                    <a:pt x="33" y="92"/>
                  </a:lnTo>
                  <a:lnTo>
                    <a:pt x="39" y="99"/>
                  </a:lnTo>
                  <a:lnTo>
                    <a:pt x="46" y="112"/>
                  </a:lnTo>
                  <a:lnTo>
                    <a:pt x="46" y="125"/>
                  </a:lnTo>
                  <a:lnTo>
                    <a:pt x="53" y="132"/>
                  </a:lnTo>
                  <a:lnTo>
                    <a:pt x="59" y="145"/>
                  </a:lnTo>
                  <a:lnTo>
                    <a:pt x="59" y="152"/>
                  </a:lnTo>
                  <a:lnTo>
                    <a:pt x="66" y="165"/>
                  </a:lnTo>
                  <a:lnTo>
                    <a:pt x="72" y="172"/>
                  </a:lnTo>
                  <a:lnTo>
                    <a:pt x="79" y="185"/>
                  </a:lnTo>
                  <a:lnTo>
                    <a:pt x="79" y="192"/>
                  </a:lnTo>
                  <a:lnTo>
                    <a:pt x="86" y="205"/>
                  </a:lnTo>
                  <a:lnTo>
                    <a:pt x="92" y="212"/>
                  </a:lnTo>
                  <a:lnTo>
                    <a:pt x="92" y="225"/>
                  </a:lnTo>
                  <a:lnTo>
                    <a:pt x="99" y="231"/>
                  </a:lnTo>
                  <a:lnTo>
                    <a:pt x="106" y="245"/>
                  </a:lnTo>
                  <a:lnTo>
                    <a:pt x="106" y="251"/>
                  </a:lnTo>
                  <a:lnTo>
                    <a:pt x="112" y="258"/>
                  </a:lnTo>
                  <a:lnTo>
                    <a:pt x="119" y="271"/>
                  </a:lnTo>
                  <a:lnTo>
                    <a:pt x="125" y="278"/>
                  </a:lnTo>
                  <a:lnTo>
                    <a:pt x="125" y="284"/>
                  </a:lnTo>
                  <a:lnTo>
                    <a:pt x="132" y="298"/>
                  </a:lnTo>
                  <a:lnTo>
                    <a:pt x="139" y="304"/>
                  </a:lnTo>
                  <a:lnTo>
                    <a:pt x="139" y="311"/>
                  </a:lnTo>
                  <a:lnTo>
                    <a:pt x="152" y="324"/>
                  </a:lnTo>
                  <a:lnTo>
                    <a:pt x="152" y="318"/>
                  </a:lnTo>
                  <a:lnTo>
                    <a:pt x="159" y="311"/>
                  </a:lnTo>
                  <a:lnTo>
                    <a:pt x="165" y="298"/>
                  </a:lnTo>
                  <a:lnTo>
                    <a:pt x="172" y="291"/>
                  </a:lnTo>
                  <a:lnTo>
                    <a:pt x="172" y="284"/>
                  </a:lnTo>
                  <a:lnTo>
                    <a:pt x="178" y="278"/>
                  </a:lnTo>
                  <a:lnTo>
                    <a:pt x="185" y="271"/>
                  </a:lnTo>
                  <a:lnTo>
                    <a:pt x="185" y="265"/>
                  </a:lnTo>
                  <a:lnTo>
                    <a:pt x="192" y="258"/>
                  </a:lnTo>
                  <a:lnTo>
                    <a:pt x="198" y="251"/>
                  </a:lnTo>
                  <a:lnTo>
                    <a:pt x="198" y="245"/>
                  </a:lnTo>
                  <a:lnTo>
                    <a:pt x="205" y="231"/>
                  </a:lnTo>
                  <a:lnTo>
                    <a:pt x="218" y="218"/>
                  </a:lnTo>
                  <a:lnTo>
                    <a:pt x="212" y="218"/>
                  </a:lnTo>
                  <a:lnTo>
                    <a:pt x="218" y="218"/>
                  </a:lnTo>
                  <a:lnTo>
                    <a:pt x="225" y="212"/>
                  </a:lnTo>
                  <a:lnTo>
                    <a:pt x="231" y="205"/>
                  </a:lnTo>
                  <a:lnTo>
                    <a:pt x="231" y="198"/>
                  </a:lnTo>
                  <a:lnTo>
                    <a:pt x="238" y="192"/>
                  </a:lnTo>
                  <a:lnTo>
                    <a:pt x="245" y="185"/>
                  </a:lnTo>
                  <a:lnTo>
                    <a:pt x="245" y="178"/>
                  </a:lnTo>
                  <a:lnTo>
                    <a:pt x="251" y="172"/>
                  </a:lnTo>
                  <a:lnTo>
                    <a:pt x="258" y="165"/>
                  </a:lnTo>
                  <a:lnTo>
                    <a:pt x="265" y="159"/>
                  </a:lnTo>
                  <a:lnTo>
                    <a:pt x="271" y="152"/>
                  </a:lnTo>
                  <a:lnTo>
                    <a:pt x="278" y="145"/>
                  </a:lnTo>
                  <a:lnTo>
                    <a:pt x="284" y="139"/>
                  </a:lnTo>
                  <a:lnTo>
                    <a:pt x="291" y="132"/>
                  </a:lnTo>
                  <a:lnTo>
                    <a:pt x="298" y="125"/>
                  </a:lnTo>
                  <a:lnTo>
                    <a:pt x="304" y="119"/>
                  </a:lnTo>
                  <a:lnTo>
                    <a:pt x="318" y="112"/>
                  </a:lnTo>
                  <a:lnTo>
                    <a:pt x="331" y="99"/>
                  </a:lnTo>
                  <a:lnTo>
                    <a:pt x="324" y="99"/>
                  </a:lnTo>
                  <a:lnTo>
                    <a:pt x="331" y="99"/>
                  </a:lnTo>
                  <a:lnTo>
                    <a:pt x="337" y="92"/>
                  </a:lnTo>
                  <a:lnTo>
                    <a:pt x="344" y="92"/>
                  </a:lnTo>
                  <a:lnTo>
                    <a:pt x="351" y="86"/>
                  </a:lnTo>
                  <a:lnTo>
                    <a:pt x="357" y="79"/>
                  </a:lnTo>
                  <a:lnTo>
                    <a:pt x="364" y="79"/>
                  </a:lnTo>
                  <a:lnTo>
                    <a:pt x="371" y="72"/>
                  </a:lnTo>
                  <a:lnTo>
                    <a:pt x="377" y="72"/>
                  </a:lnTo>
                  <a:lnTo>
                    <a:pt x="384" y="66"/>
                  </a:lnTo>
                  <a:lnTo>
                    <a:pt x="390" y="66"/>
                  </a:lnTo>
                  <a:lnTo>
                    <a:pt x="397" y="66"/>
                  </a:lnTo>
                  <a:lnTo>
                    <a:pt x="404" y="59"/>
                  </a:lnTo>
                  <a:lnTo>
                    <a:pt x="410" y="59"/>
                  </a:lnTo>
                  <a:lnTo>
                    <a:pt x="417" y="59"/>
                  </a:lnTo>
                  <a:lnTo>
                    <a:pt x="424" y="59"/>
                  </a:lnTo>
                  <a:lnTo>
                    <a:pt x="430" y="53"/>
                  </a:lnTo>
                  <a:lnTo>
                    <a:pt x="437" y="53"/>
                  </a:lnTo>
                  <a:lnTo>
                    <a:pt x="443" y="53"/>
                  </a:lnTo>
                  <a:lnTo>
                    <a:pt x="450" y="53"/>
                  </a:lnTo>
                  <a:lnTo>
                    <a:pt x="457" y="53"/>
                  </a:lnTo>
                  <a:lnTo>
                    <a:pt x="463" y="53"/>
                  </a:lnTo>
                  <a:lnTo>
                    <a:pt x="470" y="53"/>
                  </a:lnTo>
                  <a:lnTo>
                    <a:pt x="477" y="53"/>
                  </a:lnTo>
                  <a:lnTo>
                    <a:pt x="483" y="53"/>
                  </a:lnTo>
                  <a:lnTo>
                    <a:pt x="490" y="53"/>
                  </a:lnTo>
                  <a:lnTo>
                    <a:pt x="496" y="59"/>
                  </a:lnTo>
                  <a:lnTo>
                    <a:pt x="503" y="59"/>
                  </a:lnTo>
                  <a:lnTo>
                    <a:pt x="510" y="59"/>
                  </a:lnTo>
                  <a:lnTo>
                    <a:pt x="516" y="59"/>
                  </a:lnTo>
                  <a:lnTo>
                    <a:pt x="523" y="59"/>
                  </a:lnTo>
                  <a:lnTo>
                    <a:pt x="530" y="66"/>
                  </a:lnTo>
                  <a:lnTo>
                    <a:pt x="536" y="66"/>
                  </a:lnTo>
                  <a:lnTo>
                    <a:pt x="543" y="66"/>
                  </a:lnTo>
                  <a:lnTo>
                    <a:pt x="549" y="72"/>
                  </a:lnTo>
                  <a:lnTo>
                    <a:pt x="556" y="72"/>
                  </a:lnTo>
                  <a:lnTo>
                    <a:pt x="563" y="79"/>
                  </a:lnTo>
                  <a:lnTo>
                    <a:pt x="569" y="79"/>
                  </a:lnTo>
                  <a:lnTo>
                    <a:pt x="576" y="79"/>
                  </a:lnTo>
                  <a:lnTo>
                    <a:pt x="583" y="86"/>
                  </a:lnTo>
                  <a:lnTo>
                    <a:pt x="589" y="86"/>
                  </a:lnTo>
                  <a:lnTo>
                    <a:pt x="596" y="92"/>
                  </a:lnTo>
                  <a:lnTo>
                    <a:pt x="602" y="92"/>
                  </a:lnTo>
                  <a:lnTo>
                    <a:pt x="609" y="99"/>
                  </a:lnTo>
                  <a:lnTo>
                    <a:pt x="616" y="106"/>
                  </a:lnTo>
                  <a:lnTo>
                    <a:pt x="622" y="106"/>
                  </a:lnTo>
                  <a:lnTo>
                    <a:pt x="629" y="112"/>
                  </a:lnTo>
                  <a:lnTo>
                    <a:pt x="636" y="112"/>
                  </a:lnTo>
                  <a:lnTo>
                    <a:pt x="642" y="119"/>
                  </a:lnTo>
                  <a:lnTo>
                    <a:pt x="649" y="125"/>
                  </a:lnTo>
                  <a:lnTo>
                    <a:pt x="655" y="125"/>
                  </a:lnTo>
                  <a:lnTo>
                    <a:pt x="662" y="132"/>
                  </a:lnTo>
                  <a:lnTo>
                    <a:pt x="669" y="132"/>
                  </a:lnTo>
                  <a:lnTo>
                    <a:pt x="675" y="139"/>
                  </a:lnTo>
                  <a:lnTo>
                    <a:pt x="682" y="145"/>
                  </a:lnTo>
                  <a:lnTo>
                    <a:pt x="689" y="152"/>
                  </a:lnTo>
                  <a:lnTo>
                    <a:pt x="695" y="152"/>
                  </a:lnTo>
                  <a:lnTo>
                    <a:pt x="702" y="159"/>
                  </a:lnTo>
                  <a:lnTo>
                    <a:pt x="708" y="165"/>
                  </a:lnTo>
                  <a:lnTo>
                    <a:pt x="715" y="172"/>
                  </a:lnTo>
                  <a:lnTo>
                    <a:pt x="722" y="172"/>
                  </a:lnTo>
                  <a:lnTo>
                    <a:pt x="728" y="178"/>
                  </a:lnTo>
                  <a:lnTo>
                    <a:pt x="735" y="185"/>
                  </a:lnTo>
                </a:path>
              </a:pathLst>
            </a:custGeom>
            <a:noFill/>
            <a:ln w="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0" name="未知"/>
            <p:cNvSpPr/>
            <p:nvPr/>
          </p:nvSpPr>
          <p:spPr>
            <a:xfrm>
              <a:off x="1678" y="1471"/>
              <a:ext cx="841" cy="139"/>
            </a:xfrm>
            <a:custGeom>
              <a:avLst/>
              <a:gdLst/>
              <a:ahLst/>
              <a:cxnLst/>
              <a:rect l="0" t="0" r="0" b="0"/>
              <a:pathLst>
                <a:path w="841" h="139">
                  <a:moveTo>
                    <a:pt x="0" y="0"/>
                  </a:moveTo>
                  <a:lnTo>
                    <a:pt x="7" y="0"/>
                  </a:lnTo>
                  <a:lnTo>
                    <a:pt x="13" y="7"/>
                  </a:lnTo>
                  <a:lnTo>
                    <a:pt x="20" y="13"/>
                  </a:lnTo>
                  <a:lnTo>
                    <a:pt x="26" y="20"/>
                  </a:lnTo>
                  <a:lnTo>
                    <a:pt x="33" y="27"/>
                  </a:lnTo>
                  <a:lnTo>
                    <a:pt x="40" y="27"/>
                  </a:lnTo>
                  <a:lnTo>
                    <a:pt x="46" y="33"/>
                  </a:lnTo>
                  <a:lnTo>
                    <a:pt x="53" y="40"/>
                  </a:lnTo>
                  <a:lnTo>
                    <a:pt x="60" y="46"/>
                  </a:lnTo>
                  <a:lnTo>
                    <a:pt x="66" y="46"/>
                  </a:lnTo>
                  <a:lnTo>
                    <a:pt x="73" y="53"/>
                  </a:lnTo>
                  <a:lnTo>
                    <a:pt x="79" y="60"/>
                  </a:lnTo>
                  <a:lnTo>
                    <a:pt x="86" y="60"/>
                  </a:lnTo>
                  <a:lnTo>
                    <a:pt x="93" y="66"/>
                  </a:lnTo>
                  <a:lnTo>
                    <a:pt x="99" y="73"/>
                  </a:lnTo>
                  <a:lnTo>
                    <a:pt x="106" y="80"/>
                  </a:lnTo>
                  <a:lnTo>
                    <a:pt x="113" y="86"/>
                  </a:lnTo>
                  <a:lnTo>
                    <a:pt x="119" y="93"/>
                  </a:lnTo>
                  <a:lnTo>
                    <a:pt x="126" y="93"/>
                  </a:lnTo>
                  <a:lnTo>
                    <a:pt x="132" y="93"/>
                  </a:lnTo>
                  <a:lnTo>
                    <a:pt x="139" y="99"/>
                  </a:lnTo>
                  <a:lnTo>
                    <a:pt x="146" y="106"/>
                  </a:lnTo>
                  <a:lnTo>
                    <a:pt x="152" y="113"/>
                  </a:lnTo>
                  <a:lnTo>
                    <a:pt x="159" y="113"/>
                  </a:lnTo>
                  <a:lnTo>
                    <a:pt x="166" y="119"/>
                  </a:lnTo>
                  <a:lnTo>
                    <a:pt x="172" y="126"/>
                  </a:lnTo>
                  <a:lnTo>
                    <a:pt x="179" y="133"/>
                  </a:lnTo>
                  <a:lnTo>
                    <a:pt x="185" y="133"/>
                  </a:lnTo>
                  <a:lnTo>
                    <a:pt x="192" y="139"/>
                  </a:lnTo>
                  <a:lnTo>
                    <a:pt x="199" y="139"/>
                  </a:lnTo>
                  <a:lnTo>
                    <a:pt x="205" y="139"/>
                  </a:lnTo>
                  <a:lnTo>
                    <a:pt x="212" y="133"/>
                  </a:lnTo>
                  <a:lnTo>
                    <a:pt x="219" y="133"/>
                  </a:lnTo>
                  <a:lnTo>
                    <a:pt x="225" y="126"/>
                  </a:lnTo>
                  <a:lnTo>
                    <a:pt x="232" y="126"/>
                  </a:lnTo>
                  <a:lnTo>
                    <a:pt x="238" y="119"/>
                  </a:lnTo>
                  <a:lnTo>
                    <a:pt x="245" y="119"/>
                  </a:lnTo>
                  <a:lnTo>
                    <a:pt x="252" y="113"/>
                  </a:lnTo>
                  <a:lnTo>
                    <a:pt x="258" y="113"/>
                  </a:lnTo>
                  <a:lnTo>
                    <a:pt x="265" y="106"/>
                  </a:lnTo>
                  <a:lnTo>
                    <a:pt x="272" y="106"/>
                  </a:lnTo>
                  <a:lnTo>
                    <a:pt x="278" y="99"/>
                  </a:lnTo>
                  <a:lnTo>
                    <a:pt x="285" y="99"/>
                  </a:lnTo>
                  <a:lnTo>
                    <a:pt x="291" y="99"/>
                  </a:lnTo>
                  <a:lnTo>
                    <a:pt x="298" y="93"/>
                  </a:lnTo>
                  <a:lnTo>
                    <a:pt x="305" y="93"/>
                  </a:lnTo>
                  <a:lnTo>
                    <a:pt x="311" y="86"/>
                  </a:lnTo>
                  <a:lnTo>
                    <a:pt x="318" y="86"/>
                  </a:lnTo>
                  <a:lnTo>
                    <a:pt x="325" y="86"/>
                  </a:lnTo>
                  <a:lnTo>
                    <a:pt x="331" y="80"/>
                  </a:lnTo>
                  <a:lnTo>
                    <a:pt x="338" y="80"/>
                  </a:lnTo>
                  <a:lnTo>
                    <a:pt x="344" y="80"/>
                  </a:lnTo>
                  <a:lnTo>
                    <a:pt x="351" y="80"/>
                  </a:lnTo>
                  <a:lnTo>
                    <a:pt x="358" y="73"/>
                  </a:lnTo>
                  <a:lnTo>
                    <a:pt x="364" y="73"/>
                  </a:lnTo>
                  <a:lnTo>
                    <a:pt x="371" y="73"/>
                  </a:lnTo>
                  <a:lnTo>
                    <a:pt x="378" y="73"/>
                  </a:lnTo>
                  <a:lnTo>
                    <a:pt x="384" y="66"/>
                  </a:lnTo>
                  <a:lnTo>
                    <a:pt x="391" y="66"/>
                  </a:lnTo>
                  <a:lnTo>
                    <a:pt x="397" y="66"/>
                  </a:lnTo>
                  <a:lnTo>
                    <a:pt x="404" y="66"/>
                  </a:lnTo>
                  <a:lnTo>
                    <a:pt x="411" y="66"/>
                  </a:lnTo>
                  <a:lnTo>
                    <a:pt x="417" y="66"/>
                  </a:lnTo>
                  <a:lnTo>
                    <a:pt x="424" y="60"/>
                  </a:lnTo>
                  <a:lnTo>
                    <a:pt x="431" y="60"/>
                  </a:lnTo>
                  <a:lnTo>
                    <a:pt x="437" y="60"/>
                  </a:lnTo>
                  <a:lnTo>
                    <a:pt x="444" y="60"/>
                  </a:lnTo>
                  <a:lnTo>
                    <a:pt x="450" y="60"/>
                  </a:lnTo>
                  <a:lnTo>
                    <a:pt x="457" y="60"/>
                  </a:lnTo>
                  <a:lnTo>
                    <a:pt x="464" y="60"/>
                  </a:lnTo>
                  <a:lnTo>
                    <a:pt x="470" y="60"/>
                  </a:lnTo>
                  <a:lnTo>
                    <a:pt x="477" y="60"/>
                  </a:lnTo>
                  <a:lnTo>
                    <a:pt x="484" y="60"/>
                  </a:lnTo>
                  <a:lnTo>
                    <a:pt x="490" y="60"/>
                  </a:lnTo>
                  <a:lnTo>
                    <a:pt x="497" y="60"/>
                  </a:lnTo>
                  <a:lnTo>
                    <a:pt x="503" y="60"/>
                  </a:lnTo>
                  <a:lnTo>
                    <a:pt x="510" y="60"/>
                  </a:lnTo>
                  <a:lnTo>
                    <a:pt x="517" y="60"/>
                  </a:lnTo>
                  <a:lnTo>
                    <a:pt x="523" y="60"/>
                  </a:lnTo>
                  <a:lnTo>
                    <a:pt x="530" y="66"/>
                  </a:lnTo>
                  <a:lnTo>
                    <a:pt x="537" y="66"/>
                  </a:lnTo>
                  <a:lnTo>
                    <a:pt x="543" y="66"/>
                  </a:lnTo>
                  <a:lnTo>
                    <a:pt x="550" y="66"/>
                  </a:lnTo>
                  <a:lnTo>
                    <a:pt x="556" y="66"/>
                  </a:lnTo>
                  <a:lnTo>
                    <a:pt x="563" y="66"/>
                  </a:lnTo>
                  <a:lnTo>
                    <a:pt x="570" y="66"/>
                  </a:lnTo>
                  <a:lnTo>
                    <a:pt x="576" y="73"/>
                  </a:lnTo>
                  <a:lnTo>
                    <a:pt x="583" y="73"/>
                  </a:lnTo>
                  <a:lnTo>
                    <a:pt x="590" y="73"/>
                  </a:lnTo>
                  <a:lnTo>
                    <a:pt x="596" y="73"/>
                  </a:lnTo>
                  <a:lnTo>
                    <a:pt x="603" y="73"/>
                  </a:lnTo>
                  <a:lnTo>
                    <a:pt x="609" y="73"/>
                  </a:lnTo>
                  <a:lnTo>
                    <a:pt x="616" y="80"/>
                  </a:lnTo>
                  <a:lnTo>
                    <a:pt x="623" y="80"/>
                  </a:lnTo>
                  <a:lnTo>
                    <a:pt x="629" y="80"/>
                  </a:lnTo>
                  <a:lnTo>
                    <a:pt x="636" y="80"/>
                  </a:lnTo>
                  <a:lnTo>
                    <a:pt x="643" y="80"/>
                  </a:lnTo>
                  <a:lnTo>
                    <a:pt x="649" y="86"/>
                  </a:lnTo>
                  <a:lnTo>
                    <a:pt x="656" y="86"/>
                  </a:lnTo>
                  <a:lnTo>
                    <a:pt x="662" y="86"/>
                  </a:lnTo>
                  <a:lnTo>
                    <a:pt x="669" y="86"/>
                  </a:lnTo>
                  <a:lnTo>
                    <a:pt x="676" y="93"/>
                  </a:lnTo>
                  <a:lnTo>
                    <a:pt x="682" y="93"/>
                  </a:lnTo>
                  <a:lnTo>
                    <a:pt x="689" y="93"/>
                  </a:lnTo>
                  <a:lnTo>
                    <a:pt x="696" y="93"/>
                  </a:lnTo>
                  <a:lnTo>
                    <a:pt x="702" y="99"/>
                  </a:lnTo>
                  <a:lnTo>
                    <a:pt x="709" y="99"/>
                  </a:lnTo>
                  <a:lnTo>
                    <a:pt x="715" y="99"/>
                  </a:lnTo>
                  <a:lnTo>
                    <a:pt x="722" y="99"/>
                  </a:lnTo>
                  <a:lnTo>
                    <a:pt x="729" y="106"/>
                  </a:lnTo>
                  <a:lnTo>
                    <a:pt x="735" y="106"/>
                  </a:lnTo>
                  <a:lnTo>
                    <a:pt x="742" y="106"/>
                  </a:lnTo>
                  <a:lnTo>
                    <a:pt x="749" y="106"/>
                  </a:lnTo>
                  <a:lnTo>
                    <a:pt x="755" y="113"/>
                  </a:lnTo>
                  <a:lnTo>
                    <a:pt x="762" y="113"/>
                  </a:lnTo>
                  <a:lnTo>
                    <a:pt x="768" y="113"/>
                  </a:lnTo>
                  <a:lnTo>
                    <a:pt x="775" y="113"/>
                  </a:lnTo>
                  <a:lnTo>
                    <a:pt x="782" y="113"/>
                  </a:lnTo>
                  <a:lnTo>
                    <a:pt x="788" y="119"/>
                  </a:lnTo>
                  <a:lnTo>
                    <a:pt x="795" y="119"/>
                  </a:lnTo>
                  <a:lnTo>
                    <a:pt x="802" y="119"/>
                  </a:lnTo>
                  <a:lnTo>
                    <a:pt x="808" y="119"/>
                  </a:lnTo>
                  <a:lnTo>
                    <a:pt x="815" y="126"/>
                  </a:lnTo>
                  <a:lnTo>
                    <a:pt x="821" y="126"/>
                  </a:lnTo>
                  <a:lnTo>
                    <a:pt x="828" y="126"/>
                  </a:lnTo>
                  <a:lnTo>
                    <a:pt x="835" y="126"/>
                  </a:lnTo>
                  <a:lnTo>
                    <a:pt x="841" y="126"/>
                  </a:lnTo>
                </a:path>
              </a:pathLst>
            </a:custGeom>
            <a:noFill/>
            <a:ln w="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1" name="未知"/>
            <p:cNvSpPr/>
            <p:nvPr/>
          </p:nvSpPr>
          <p:spPr>
            <a:xfrm>
              <a:off x="2519" y="1597"/>
              <a:ext cx="146" cy="13"/>
            </a:xfrm>
            <a:custGeom>
              <a:avLst/>
              <a:gdLst/>
              <a:ahLst/>
              <a:cxnLst/>
              <a:rect l="0" t="0" r="0" b="0"/>
              <a:pathLst>
                <a:path w="146" h="13">
                  <a:moveTo>
                    <a:pt x="0" y="0"/>
                  </a:moveTo>
                  <a:lnTo>
                    <a:pt x="7" y="0"/>
                  </a:lnTo>
                  <a:lnTo>
                    <a:pt x="14" y="7"/>
                  </a:lnTo>
                  <a:lnTo>
                    <a:pt x="20" y="7"/>
                  </a:lnTo>
                  <a:lnTo>
                    <a:pt x="27" y="7"/>
                  </a:lnTo>
                  <a:lnTo>
                    <a:pt x="33" y="7"/>
                  </a:lnTo>
                  <a:lnTo>
                    <a:pt x="40" y="7"/>
                  </a:lnTo>
                  <a:lnTo>
                    <a:pt x="47" y="7"/>
                  </a:lnTo>
                  <a:lnTo>
                    <a:pt x="53" y="13"/>
                  </a:lnTo>
                  <a:lnTo>
                    <a:pt x="60" y="13"/>
                  </a:lnTo>
                  <a:lnTo>
                    <a:pt x="67" y="13"/>
                  </a:lnTo>
                  <a:lnTo>
                    <a:pt x="73" y="13"/>
                  </a:lnTo>
                  <a:lnTo>
                    <a:pt x="80" y="13"/>
                  </a:lnTo>
                  <a:lnTo>
                    <a:pt x="86" y="13"/>
                  </a:lnTo>
                  <a:lnTo>
                    <a:pt x="93" y="13"/>
                  </a:lnTo>
                  <a:lnTo>
                    <a:pt x="100" y="13"/>
                  </a:lnTo>
                  <a:lnTo>
                    <a:pt x="106" y="13"/>
                  </a:lnTo>
                  <a:lnTo>
                    <a:pt x="113" y="13"/>
                  </a:lnTo>
                  <a:lnTo>
                    <a:pt x="120" y="13"/>
                  </a:lnTo>
                  <a:lnTo>
                    <a:pt x="126" y="13"/>
                  </a:lnTo>
                  <a:lnTo>
                    <a:pt x="133" y="13"/>
                  </a:lnTo>
                  <a:lnTo>
                    <a:pt x="139" y="13"/>
                  </a:lnTo>
                  <a:lnTo>
                    <a:pt x="146" y="13"/>
                  </a:lnTo>
                </a:path>
              </a:pathLst>
            </a:custGeom>
            <a:noFill/>
            <a:ln w="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2" name="未知"/>
            <p:cNvSpPr/>
            <p:nvPr/>
          </p:nvSpPr>
          <p:spPr>
            <a:xfrm>
              <a:off x="307" y="60"/>
              <a:ext cx="622" cy="1431"/>
            </a:xfrm>
            <a:custGeom>
              <a:avLst/>
              <a:gdLst/>
              <a:ahLst/>
              <a:cxnLst/>
              <a:rect l="0" t="0" r="0" b="0"/>
              <a:pathLst>
                <a:path w="622" h="1431">
                  <a:moveTo>
                    <a:pt x="0" y="0"/>
                  </a:moveTo>
                  <a:lnTo>
                    <a:pt x="6" y="0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6" y="0"/>
                  </a:lnTo>
                  <a:lnTo>
                    <a:pt x="33" y="7"/>
                  </a:lnTo>
                  <a:lnTo>
                    <a:pt x="39" y="7"/>
                  </a:lnTo>
                  <a:lnTo>
                    <a:pt x="46" y="13"/>
                  </a:lnTo>
                  <a:lnTo>
                    <a:pt x="53" y="13"/>
                  </a:lnTo>
                  <a:lnTo>
                    <a:pt x="59" y="20"/>
                  </a:lnTo>
                  <a:lnTo>
                    <a:pt x="66" y="20"/>
                  </a:lnTo>
                  <a:lnTo>
                    <a:pt x="72" y="33"/>
                  </a:lnTo>
                  <a:lnTo>
                    <a:pt x="79" y="33"/>
                  </a:lnTo>
                  <a:lnTo>
                    <a:pt x="86" y="46"/>
                  </a:lnTo>
                  <a:lnTo>
                    <a:pt x="92" y="46"/>
                  </a:lnTo>
                  <a:lnTo>
                    <a:pt x="99" y="53"/>
                  </a:lnTo>
                  <a:lnTo>
                    <a:pt x="106" y="66"/>
                  </a:lnTo>
                  <a:lnTo>
                    <a:pt x="112" y="66"/>
                  </a:lnTo>
                  <a:lnTo>
                    <a:pt x="119" y="79"/>
                  </a:lnTo>
                  <a:lnTo>
                    <a:pt x="125" y="86"/>
                  </a:lnTo>
                  <a:lnTo>
                    <a:pt x="132" y="93"/>
                  </a:lnTo>
                  <a:lnTo>
                    <a:pt x="132" y="99"/>
                  </a:lnTo>
                  <a:lnTo>
                    <a:pt x="139" y="106"/>
                  </a:lnTo>
                  <a:lnTo>
                    <a:pt x="145" y="113"/>
                  </a:lnTo>
                  <a:lnTo>
                    <a:pt x="152" y="119"/>
                  </a:lnTo>
                  <a:lnTo>
                    <a:pt x="152" y="126"/>
                  </a:lnTo>
                  <a:lnTo>
                    <a:pt x="159" y="139"/>
                  </a:lnTo>
                  <a:lnTo>
                    <a:pt x="165" y="146"/>
                  </a:lnTo>
                  <a:lnTo>
                    <a:pt x="165" y="152"/>
                  </a:lnTo>
                  <a:lnTo>
                    <a:pt x="172" y="159"/>
                  </a:lnTo>
                  <a:lnTo>
                    <a:pt x="178" y="172"/>
                  </a:lnTo>
                  <a:lnTo>
                    <a:pt x="178" y="179"/>
                  </a:lnTo>
                  <a:lnTo>
                    <a:pt x="185" y="185"/>
                  </a:lnTo>
                  <a:lnTo>
                    <a:pt x="192" y="199"/>
                  </a:lnTo>
                  <a:lnTo>
                    <a:pt x="192" y="205"/>
                  </a:lnTo>
                  <a:lnTo>
                    <a:pt x="198" y="212"/>
                  </a:lnTo>
                  <a:lnTo>
                    <a:pt x="205" y="225"/>
                  </a:lnTo>
                  <a:lnTo>
                    <a:pt x="212" y="232"/>
                  </a:lnTo>
                  <a:lnTo>
                    <a:pt x="212" y="245"/>
                  </a:lnTo>
                  <a:lnTo>
                    <a:pt x="218" y="252"/>
                  </a:lnTo>
                  <a:lnTo>
                    <a:pt x="225" y="265"/>
                  </a:lnTo>
                  <a:lnTo>
                    <a:pt x="225" y="272"/>
                  </a:lnTo>
                  <a:lnTo>
                    <a:pt x="231" y="285"/>
                  </a:lnTo>
                  <a:lnTo>
                    <a:pt x="238" y="298"/>
                  </a:lnTo>
                  <a:lnTo>
                    <a:pt x="238" y="305"/>
                  </a:lnTo>
                  <a:lnTo>
                    <a:pt x="245" y="318"/>
                  </a:lnTo>
                  <a:lnTo>
                    <a:pt x="251" y="331"/>
                  </a:lnTo>
                  <a:lnTo>
                    <a:pt x="258" y="338"/>
                  </a:lnTo>
                  <a:lnTo>
                    <a:pt x="258" y="351"/>
                  </a:lnTo>
                  <a:lnTo>
                    <a:pt x="265" y="364"/>
                  </a:lnTo>
                  <a:lnTo>
                    <a:pt x="271" y="378"/>
                  </a:lnTo>
                  <a:lnTo>
                    <a:pt x="271" y="384"/>
                  </a:lnTo>
                  <a:lnTo>
                    <a:pt x="278" y="397"/>
                  </a:lnTo>
                  <a:lnTo>
                    <a:pt x="284" y="411"/>
                  </a:lnTo>
                  <a:lnTo>
                    <a:pt x="284" y="424"/>
                  </a:lnTo>
                  <a:lnTo>
                    <a:pt x="291" y="437"/>
                  </a:lnTo>
                  <a:lnTo>
                    <a:pt x="298" y="450"/>
                  </a:lnTo>
                  <a:lnTo>
                    <a:pt x="304" y="464"/>
                  </a:lnTo>
                  <a:lnTo>
                    <a:pt x="304" y="470"/>
                  </a:lnTo>
                  <a:lnTo>
                    <a:pt x="311" y="484"/>
                  </a:lnTo>
                  <a:lnTo>
                    <a:pt x="318" y="497"/>
                  </a:lnTo>
                  <a:lnTo>
                    <a:pt x="318" y="510"/>
                  </a:lnTo>
                  <a:lnTo>
                    <a:pt x="324" y="523"/>
                  </a:lnTo>
                  <a:lnTo>
                    <a:pt x="331" y="537"/>
                  </a:lnTo>
                  <a:lnTo>
                    <a:pt x="331" y="550"/>
                  </a:lnTo>
                  <a:lnTo>
                    <a:pt x="337" y="563"/>
                  </a:lnTo>
                  <a:lnTo>
                    <a:pt x="344" y="576"/>
                  </a:lnTo>
                  <a:lnTo>
                    <a:pt x="344" y="590"/>
                  </a:lnTo>
                  <a:lnTo>
                    <a:pt x="351" y="609"/>
                  </a:lnTo>
                  <a:lnTo>
                    <a:pt x="357" y="623"/>
                  </a:lnTo>
                  <a:lnTo>
                    <a:pt x="364" y="636"/>
                  </a:lnTo>
                  <a:lnTo>
                    <a:pt x="364" y="649"/>
                  </a:lnTo>
                  <a:lnTo>
                    <a:pt x="371" y="662"/>
                  </a:lnTo>
                  <a:lnTo>
                    <a:pt x="377" y="676"/>
                  </a:lnTo>
                  <a:lnTo>
                    <a:pt x="377" y="689"/>
                  </a:lnTo>
                  <a:lnTo>
                    <a:pt x="384" y="702"/>
                  </a:lnTo>
                  <a:lnTo>
                    <a:pt x="390" y="715"/>
                  </a:lnTo>
                  <a:lnTo>
                    <a:pt x="390" y="735"/>
                  </a:lnTo>
                  <a:lnTo>
                    <a:pt x="397" y="749"/>
                  </a:lnTo>
                  <a:lnTo>
                    <a:pt x="404" y="762"/>
                  </a:lnTo>
                  <a:lnTo>
                    <a:pt x="410" y="775"/>
                  </a:lnTo>
                  <a:lnTo>
                    <a:pt x="410" y="788"/>
                  </a:lnTo>
                  <a:lnTo>
                    <a:pt x="417" y="808"/>
                  </a:lnTo>
                  <a:lnTo>
                    <a:pt x="424" y="821"/>
                  </a:lnTo>
                  <a:lnTo>
                    <a:pt x="424" y="835"/>
                  </a:lnTo>
                  <a:lnTo>
                    <a:pt x="430" y="848"/>
                  </a:lnTo>
                  <a:lnTo>
                    <a:pt x="437" y="861"/>
                  </a:lnTo>
                  <a:lnTo>
                    <a:pt x="437" y="881"/>
                  </a:lnTo>
                  <a:lnTo>
                    <a:pt x="443" y="894"/>
                  </a:lnTo>
                  <a:lnTo>
                    <a:pt x="450" y="908"/>
                  </a:lnTo>
                  <a:lnTo>
                    <a:pt x="457" y="921"/>
                  </a:lnTo>
                  <a:lnTo>
                    <a:pt x="457" y="934"/>
                  </a:lnTo>
                  <a:lnTo>
                    <a:pt x="463" y="954"/>
                  </a:lnTo>
                  <a:lnTo>
                    <a:pt x="470" y="967"/>
                  </a:lnTo>
                  <a:lnTo>
                    <a:pt x="470" y="980"/>
                  </a:lnTo>
                  <a:lnTo>
                    <a:pt x="477" y="994"/>
                  </a:lnTo>
                  <a:lnTo>
                    <a:pt x="483" y="1007"/>
                  </a:lnTo>
                  <a:lnTo>
                    <a:pt x="483" y="1027"/>
                  </a:lnTo>
                  <a:lnTo>
                    <a:pt x="490" y="1040"/>
                  </a:lnTo>
                  <a:lnTo>
                    <a:pt x="496" y="1053"/>
                  </a:lnTo>
                  <a:lnTo>
                    <a:pt x="503" y="1067"/>
                  </a:lnTo>
                  <a:lnTo>
                    <a:pt x="503" y="1080"/>
                  </a:lnTo>
                  <a:lnTo>
                    <a:pt x="510" y="1093"/>
                  </a:lnTo>
                  <a:lnTo>
                    <a:pt x="516" y="1113"/>
                  </a:lnTo>
                  <a:lnTo>
                    <a:pt x="516" y="1126"/>
                  </a:lnTo>
                  <a:lnTo>
                    <a:pt x="523" y="1139"/>
                  </a:lnTo>
                  <a:lnTo>
                    <a:pt x="530" y="1153"/>
                  </a:lnTo>
                  <a:lnTo>
                    <a:pt x="530" y="1166"/>
                  </a:lnTo>
                  <a:lnTo>
                    <a:pt x="536" y="1179"/>
                  </a:lnTo>
                  <a:lnTo>
                    <a:pt x="543" y="1192"/>
                  </a:lnTo>
                  <a:lnTo>
                    <a:pt x="543" y="1212"/>
                  </a:lnTo>
                  <a:lnTo>
                    <a:pt x="549" y="1226"/>
                  </a:lnTo>
                  <a:lnTo>
                    <a:pt x="556" y="1239"/>
                  </a:lnTo>
                  <a:lnTo>
                    <a:pt x="563" y="1252"/>
                  </a:lnTo>
                  <a:lnTo>
                    <a:pt x="563" y="1265"/>
                  </a:lnTo>
                  <a:lnTo>
                    <a:pt x="569" y="1279"/>
                  </a:lnTo>
                  <a:lnTo>
                    <a:pt x="576" y="1292"/>
                  </a:lnTo>
                  <a:lnTo>
                    <a:pt x="576" y="1305"/>
                  </a:lnTo>
                  <a:lnTo>
                    <a:pt x="583" y="1318"/>
                  </a:lnTo>
                  <a:lnTo>
                    <a:pt x="589" y="1332"/>
                  </a:lnTo>
                  <a:lnTo>
                    <a:pt x="589" y="1345"/>
                  </a:lnTo>
                  <a:lnTo>
                    <a:pt x="596" y="1358"/>
                  </a:lnTo>
                  <a:lnTo>
                    <a:pt x="602" y="1371"/>
                  </a:lnTo>
                  <a:lnTo>
                    <a:pt x="609" y="1385"/>
                  </a:lnTo>
                  <a:lnTo>
                    <a:pt x="609" y="1398"/>
                  </a:lnTo>
                  <a:lnTo>
                    <a:pt x="616" y="1411"/>
                  </a:lnTo>
                  <a:lnTo>
                    <a:pt x="622" y="1418"/>
                  </a:lnTo>
                  <a:lnTo>
                    <a:pt x="622" y="1431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3" name="未知"/>
            <p:cNvSpPr/>
            <p:nvPr/>
          </p:nvSpPr>
          <p:spPr>
            <a:xfrm>
              <a:off x="929" y="1252"/>
              <a:ext cx="703" cy="358"/>
            </a:xfrm>
            <a:custGeom>
              <a:avLst/>
              <a:gdLst/>
              <a:ahLst/>
              <a:cxnLst/>
              <a:rect l="0" t="0" r="0" b="0"/>
              <a:pathLst>
                <a:path w="703" h="358">
                  <a:moveTo>
                    <a:pt x="0" y="239"/>
                  </a:moveTo>
                  <a:lnTo>
                    <a:pt x="7" y="252"/>
                  </a:lnTo>
                  <a:lnTo>
                    <a:pt x="14" y="265"/>
                  </a:lnTo>
                  <a:lnTo>
                    <a:pt x="14" y="279"/>
                  </a:lnTo>
                  <a:lnTo>
                    <a:pt x="20" y="292"/>
                  </a:lnTo>
                  <a:lnTo>
                    <a:pt x="27" y="299"/>
                  </a:lnTo>
                  <a:lnTo>
                    <a:pt x="33" y="312"/>
                  </a:lnTo>
                  <a:lnTo>
                    <a:pt x="33" y="325"/>
                  </a:lnTo>
                  <a:lnTo>
                    <a:pt x="40" y="338"/>
                  </a:lnTo>
                  <a:lnTo>
                    <a:pt x="47" y="345"/>
                  </a:lnTo>
                  <a:lnTo>
                    <a:pt x="47" y="358"/>
                  </a:lnTo>
                  <a:lnTo>
                    <a:pt x="53" y="352"/>
                  </a:lnTo>
                  <a:lnTo>
                    <a:pt x="60" y="345"/>
                  </a:lnTo>
                  <a:lnTo>
                    <a:pt x="60" y="332"/>
                  </a:lnTo>
                  <a:lnTo>
                    <a:pt x="67" y="318"/>
                  </a:lnTo>
                  <a:lnTo>
                    <a:pt x="73" y="312"/>
                  </a:lnTo>
                  <a:lnTo>
                    <a:pt x="73" y="299"/>
                  </a:lnTo>
                  <a:lnTo>
                    <a:pt x="80" y="292"/>
                  </a:lnTo>
                  <a:lnTo>
                    <a:pt x="86" y="279"/>
                  </a:lnTo>
                  <a:lnTo>
                    <a:pt x="93" y="272"/>
                  </a:lnTo>
                  <a:lnTo>
                    <a:pt x="93" y="259"/>
                  </a:lnTo>
                  <a:lnTo>
                    <a:pt x="100" y="252"/>
                  </a:lnTo>
                  <a:lnTo>
                    <a:pt x="106" y="246"/>
                  </a:lnTo>
                  <a:lnTo>
                    <a:pt x="106" y="232"/>
                  </a:lnTo>
                  <a:lnTo>
                    <a:pt x="113" y="226"/>
                  </a:lnTo>
                  <a:lnTo>
                    <a:pt x="120" y="212"/>
                  </a:lnTo>
                  <a:lnTo>
                    <a:pt x="120" y="206"/>
                  </a:lnTo>
                  <a:lnTo>
                    <a:pt x="126" y="199"/>
                  </a:lnTo>
                  <a:lnTo>
                    <a:pt x="133" y="193"/>
                  </a:lnTo>
                  <a:lnTo>
                    <a:pt x="139" y="179"/>
                  </a:lnTo>
                  <a:lnTo>
                    <a:pt x="139" y="173"/>
                  </a:lnTo>
                  <a:lnTo>
                    <a:pt x="146" y="166"/>
                  </a:lnTo>
                  <a:lnTo>
                    <a:pt x="153" y="159"/>
                  </a:lnTo>
                  <a:lnTo>
                    <a:pt x="153" y="153"/>
                  </a:lnTo>
                  <a:lnTo>
                    <a:pt x="159" y="146"/>
                  </a:lnTo>
                  <a:lnTo>
                    <a:pt x="166" y="140"/>
                  </a:lnTo>
                  <a:lnTo>
                    <a:pt x="166" y="133"/>
                  </a:lnTo>
                  <a:lnTo>
                    <a:pt x="173" y="126"/>
                  </a:lnTo>
                  <a:lnTo>
                    <a:pt x="179" y="120"/>
                  </a:lnTo>
                  <a:lnTo>
                    <a:pt x="186" y="113"/>
                  </a:lnTo>
                  <a:lnTo>
                    <a:pt x="186" y="106"/>
                  </a:lnTo>
                  <a:lnTo>
                    <a:pt x="192" y="100"/>
                  </a:lnTo>
                  <a:lnTo>
                    <a:pt x="199" y="93"/>
                  </a:lnTo>
                  <a:lnTo>
                    <a:pt x="199" y="87"/>
                  </a:lnTo>
                  <a:lnTo>
                    <a:pt x="206" y="80"/>
                  </a:lnTo>
                  <a:lnTo>
                    <a:pt x="212" y="73"/>
                  </a:lnTo>
                  <a:lnTo>
                    <a:pt x="219" y="67"/>
                  </a:lnTo>
                  <a:lnTo>
                    <a:pt x="232" y="53"/>
                  </a:lnTo>
                  <a:lnTo>
                    <a:pt x="226" y="53"/>
                  </a:lnTo>
                  <a:lnTo>
                    <a:pt x="232" y="53"/>
                  </a:lnTo>
                  <a:lnTo>
                    <a:pt x="239" y="47"/>
                  </a:lnTo>
                  <a:lnTo>
                    <a:pt x="245" y="40"/>
                  </a:lnTo>
                  <a:lnTo>
                    <a:pt x="252" y="34"/>
                  </a:lnTo>
                  <a:lnTo>
                    <a:pt x="259" y="27"/>
                  </a:lnTo>
                  <a:lnTo>
                    <a:pt x="265" y="27"/>
                  </a:lnTo>
                  <a:lnTo>
                    <a:pt x="272" y="20"/>
                  </a:lnTo>
                  <a:lnTo>
                    <a:pt x="279" y="20"/>
                  </a:lnTo>
                  <a:lnTo>
                    <a:pt x="285" y="14"/>
                  </a:lnTo>
                  <a:lnTo>
                    <a:pt x="292" y="7"/>
                  </a:lnTo>
                  <a:lnTo>
                    <a:pt x="298" y="7"/>
                  </a:lnTo>
                  <a:lnTo>
                    <a:pt x="305" y="7"/>
                  </a:lnTo>
                  <a:lnTo>
                    <a:pt x="312" y="0"/>
                  </a:lnTo>
                  <a:lnTo>
                    <a:pt x="318" y="0"/>
                  </a:lnTo>
                  <a:lnTo>
                    <a:pt x="325" y="0"/>
                  </a:lnTo>
                  <a:lnTo>
                    <a:pt x="332" y="0"/>
                  </a:lnTo>
                  <a:lnTo>
                    <a:pt x="338" y="0"/>
                  </a:lnTo>
                  <a:lnTo>
                    <a:pt x="345" y="0"/>
                  </a:lnTo>
                  <a:lnTo>
                    <a:pt x="351" y="0"/>
                  </a:lnTo>
                  <a:lnTo>
                    <a:pt x="358" y="0"/>
                  </a:lnTo>
                  <a:lnTo>
                    <a:pt x="365" y="0"/>
                  </a:lnTo>
                  <a:lnTo>
                    <a:pt x="371" y="0"/>
                  </a:lnTo>
                  <a:lnTo>
                    <a:pt x="378" y="0"/>
                  </a:lnTo>
                  <a:lnTo>
                    <a:pt x="385" y="7"/>
                  </a:lnTo>
                  <a:lnTo>
                    <a:pt x="391" y="7"/>
                  </a:lnTo>
                  <a:lnTo>
                    <a:pt x="398" y="7"/>
                  </a:lnTo>
                  <a:lnTo>
                    <a:pt x="404" y="14"/>
                  </a:lnTo>
                  <a:lnTo>
                    <a:pt x="411" y="14"/>
                  </a:lnTo>
                  <a:lnTo>
                    <a:pt x="418" y="14"/>
                  </a:lnTo>
                  <a:lnTo>
                    <a:pt x="424" y="20"/>
                  </a:lnTo>
                  <a:lnTo>
                    <a:pt x="431" y="27"/>
                  </a:lnTo>
                  <a:lnTo>
                    <a:pt x="438" y="27"/>
                  </a:lnTo>
                  <a:lnTo>
                    <a:pt x="444" y="34"/>
                  </a:lnTo>
                  <a:lnTo>
                    <a:pt x="451" y="34"/>
                  </a:lnTo>
                  <a:lnTo>
                    <a:pt x="457" y="40"/>
                  </a:lnTo>
                  <a:lnTo>
                    <a:pt x="464" y="47"/>
                  </a:lnTo>
                  <a:lnTo>
                    <a:pt x="471" y="53"/>
                  </a:lnTo>
                  <a:lnTo>
                    <a:pt x="477" y="60"/>
                  </a:lnTo>
                  <a:lnTo>
                    <a:pt x="484" y="60"/>
                  </a:lnTo>
                  <a:lnTo>
                    <a:pt x="491" y="73"/>
                  </a:lnTo>
                  <a:lnTo>
                    <a:pt x="497" y="73"/>
                  </a:lnTo>
                  <a:lnTo>
                    <a:pt x="504" y="87"/>
                  </a:lnTo>
                  <a:lnTo>
                    <a:pt x="510" y="87"/>
                  </a:lnTo>
                  <a:lnTo>
                    <a:pt x="517" y="100"/>
                  </a:lnTo>
                  <a:lnTo>
                    <a:pt x="524" y="100"/>
                  </a:lnTo>
                  <a:lnTo>
                    <a:pt x="530" y="106"/>
                  </a:lnTo>
                  <a:lnTo>
                    <a:pt x="537" y="120"/>
                  </a:lnTo>
                  <a:lnTo>
                    <a:pt x="544" y="126"/>
                  </a:lnTo>
                  <a:lnTo>
                    <a:pt x="550" y="133"/>
                  </a:lnTo>
                  <a:lnTo>
                    <a:pt x="557" y="140"/>
                  </a:lnTo>
                  <a:lnTo>
                    <a:pt x="570" y="153"/>
                  </a:lnTo>
                  <a:lnTo>
                    <a:pt x="563" y="153"/>
                  </a:lnTo>
                  <a:lnTo>
                    <a:pt x="570" y="153"/>
                  </a:lnTo>
                  <a:lnTo>
                    <a:pt x="577" y="159"/>
                  </a:lnTo>
                  <a:lnTo>
                    <a:pt x="577" y="166"/>
                  </a:lnTo>
                  <a:lnTo>
                    <a:pt x="583" y="173"/>
                  </a:lnTo>
                  <a:lnTo>
                    <a:pt x="590" y="179"/>
                  </a:lnTo>
                  <a:lnTo>
                    <a:pt x="597" y="186"/>
                  </a:lnTo>
                  <a:lnTo>
                    <a:pt x="597" y="193"/>
                  </a:lnTo>
                  <a:lnTo>
                    <a:pt x="603" y="199"/>
                  </a:lnTo>
                  <a:lnTo>
                    <a:pt x="610" y="206"/>
                  </a:lnTo>
                  <a:lnTo>
                    <a:pt x="616" y="212"/>
                  </a:lnTo>
                  <a:lnTo>
                    <a:pt x="623" y="219"/>
                  </a:lnTo>
                  <a:lnTo>
                    <a:pt x="623" y="226"/>
                  </a:lnTo>
                  <a:lnTo>
                    <a:pt x="630" y="232"/>
                  </a:lnTo>
                  <a:lnTo>
                    <a:pt x="636" y="239"/>
                  </a:lnTo>
                  <a:lnTo>
                    <a:pt x="643" y="246"/>
                  </a:lnTo>
                  <a:lnTo>
                    <a:pt x="643" y="252"/>
                  </a:lnTo>
                  <a:lnTo>
                    <a:pt x="650" y="259"/>
                  </a:lnTo>
                  <a:lnTo>
                    <a:pt x="656" y="265"/>
                  </a:lnTo>
                  <a:lnTo>
                    <a:pt x="656" y="272"/>
                  </a:lnTo>
                  <a:lnTo>
                    <a:pt x="663" y="279"/>
                  </a:lnTo>
                  <a:lnTo>
                    <a:pt x="669" y="285"/>
                  </a:lnTo>
                  <a:lnTo>
                    <a:pt x="669" y="292"/>
                  </a:lnTo>
                  <a:lnTo>
                    <a:pt x="676" y="299"/>
                  </a:lnTo>
                  <a:lnTo>
                    <a:pt x="689" y="305"/>
                  </a:lnTo>
                  <a:lnTo>
                    <a:pt x="689" y="312"/>
                  </a:lnTo>
                  <a:lnTo>
                    <a:pt x="696" y="318"/>
                  </a:lnTo>
                  <a:lnTo>
                    <a:pt x="703" y="325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4" name="未知"/>
            <p:cNvSpPr/>
            <p:nvPr/>
          </p:nvSpPr>
          <p:spPr>
            <a:xfrm>
              <a:off x="1632" y="1365"/>
              <a:ext cx="781" cy="245"/>
            </a:xfrm>
            <a:custGeom>
              <a:avLst/>
              <a:gdLst/>
              <a:ahLst/>
              <a:cxnLst/>
              <a:rect l="0" t="0" r="0" b="0"/>
              <a:pathLst>
                <a:path w="781" h="245">
                  <a:moveTo>
                    <a:pt x="0" y="212"/>
                  </a:moveTo>
                  <a:lnTo>
                    <a:pt x="0" y="219"/>
                  </a:lnTo>
                  <a:lnTo>
                    <a:pt x="6" y="225"/>
                  </a:lnTo>
                  <a:lnTo>
                    <a:pt x="13" y="232"/>
                  </a:lnTo>
                  <a:lnTo>
                    <a:pt x="13" y="239"/>
                  </a:lnTo>
                  <a:lnTo>
                    <a:pt x="26" y="245"/>
                  </a:lnTo>
                  <a:lnTo>
                    <a:pt x="26" y="239"/>
                  </a:lnTo>
                  <a:lnTo>
                    <a:pt x="33" y="232"/>
                  </a:lnTo>
                  <a:lnTo>
                    <a:pt x="39" y="225"/>
                  </a:lnTo>
                  <a:lnTo>
                    <a:pt x="46" y="219"/>
                  </a:lnTo>
                  <a:lnTo>
                    <a:pt x="53" y="212"/>
                  </a:lnTo>
                  <a:lnTo>
                    <a:pt x="59" y="205"/>
                  </a:lnTo>
                  <a:lnTo>
                    <a:pt x="59" y="199"/>
                  </a:lnTo>
                  <a:lnTo>
                    <a:pt x="66" y="192"/>
                  </a:lnTo>
                  <a:lnTo>
                    <a:pt x="79" y="179"/>
                  </a:lnTo>
                  <a:lnTo>
                    <a:pt x="72" y="179"/>
                  </a:lnTo>
                  <a:lnTo>
                    <a:pt x="79" y="179"/>
                  </a:lnTo>
                  <a:lnTo>
                    <a:pt x="86" y="172"/>
                  </a:lnTo>
                  <a:lnTo>
                    <a:pt x="92" y="166"/>
                  </a:lnTo>
                  <a:lnTo>
                    <a:pt x="92" y="159"/>
                  </a:lnTo>
                  <a:lnTo>
                    <a:pt x="99" y="152"/>
                  </a:lnTo>
                  <a:lnTo>
                    <a:pt x="106" y="146"/>
                  </a:lnTo>
                  <a:lnTo>
                    <a:pt x="112" y="139"/>
                  </a:lnTo>
                  <a:lnTo>
                    <a:pt x="125" y="126"/>
                  </a:lnTo>
                  <a:lnTo>
                    <a:pt x="119" y="126"/>
                  </a:lnTo>
                  <a:lnTo>
                    <a:pt x="125" y="126"/>
                  </a:lnTo>
                  <a:lnTo>
                    <a:pt x="132" y="119"/>
                  </a:lnTo>
                  <a:lnTo>
                    <a:pt x="145" y="106"/>
                  </a:lnTo>
                  <a:lnTo>
                    <a:pt x="139" y="106"/>
                  </a:lnTo>
                  <a:lnTo>
                    <a:pt x="145" y="106"/>
                  </a:lnTo>
                  <a:lnTo>
                    <a:pt x="159" y="93"/>
                  </a:lnTo>
                  <a:lnTo>
                    <a:pt x="152" y="93"/>
                  </a:lnTo>
                  <a:lnTo>
                    <a:pt x="159" y="93"/>
                  </a:lnTo>
                  <a:lnTo>
                    <a:pt x="172" y="80"/>
                  </a:lnTo>
                  <a:lnTo>
                    <a:pt x="165" y="80"/>
                  </a:lnTo>
                  <a:lnTo>
                    <a:pt x="172" y="80"/>
                  </a:lnTo>
                  <a:lnTo>
                    <a:pt x="178" y="73"/>
                  </a:lnTo>
                  <a:lnTo>
                    <a:pt x="185" y="66"/>
                  </a:lnTo>
                  <a:lnTo>
                    <a:pt x="192" y="66"/>
                  </a:lnTo>
                  <a:lnTo>
                    <a:pt x="198" y="53"/>
                  </a:lnTo>
                  <a:lnTo>
                    <a:pt x="205" y="53"/>
                  </a:lnTo>
                  <a:lnTo>
                    <a:pt x="212" y="46"/>
                  </a:lnTo>
                  <a:lnTo>
                    <a:pt x="218" y="46"/>
                  </a:lnTo>
                  <a:lnTo>
                    <a:pt x="225" y="40"/>
                  </a:lnTo>
                  <a:lnTo>
                    <a:pt x="231" y="33"/>
                  </a:lnTo>
                  <a:lnTo>
                    <a:pt x="238" y="33"/>
                  </a:lnTo>
                  <a:lnTo>
                    <a:pt x="245" y="27"/>
                  </a:lnTo>
                  <a:lnTo>
                    <a:pt x="251" y="27"/>
                  </a:lnTo>
                  <a:lnTo>
                    <a:pt x="258" y="20"/>
                  </a:lnTo>
                  <a:lnTo>
                    <a:pt x="265" y="20"/>
                  </a:lnTo>
                  <a:lnTo>
                    <a:pt x="271" y="13"/>
                  </a:lnTo>
                  <a:lnTo>
                    <a:pt x="278" y="13"/>
                  </a:lnTo>
                  <a:lnTo>
                    <a:pt x="284" y="13"/>
                  </a:lnTo>
                  <a:lnTo>
                    <a:pt x="291" y="7"/>
                  </a:lnTo>
                  <a:lnTo>
                    <a:pt x="298" y="7"/>
                  </a:lnTo>
                  <a:lnTo>
                    <a:pt x="304" y="7"/>
                  </a:lnTo>
                  <a:lnTo>
                    <a:pt x="311" y="7"/>
                  </a:lnTo>
                  <a:lnTo>
                    <a:pt x="318" y="0"/>
                  </a:lnTo>
                  <a:lnTo>
                    <a:pt x="324" y="0"/>
                  </a:lnTo>
                  <a:lnTo>
                    <a:pt x="331" y="0"/>
                  </a:lnTo>
                  <a:lnTo>
                    <a:pt x="337" y="0"/>
                  </a:lnTo>
                  <a:lnTo>
                    <a:pt x="344" y="0"/>
                  </a:lnTo>
                  <a:lnTo>
                    <a:pt x="351" y="0"/>
                  </a:lnTo>
                  <a:lnTo>
                    <a:pt x="357" y="0"/>
                  </a:lnTo>
                  <a:lnTo>
                    <a:pt x="364" y="0"/>
                  </a:lnTo>
                  <a:lnTo>
                    <a:pt x="371" y="0"/>
                  </a:lnTo>
                  <a:lnTo>
                    <a:pt x="377" y="7"/>
                  </a:lnTo>
                  <a:lnTo>
                    <a:pt x="384" y="7"/>
                  </a:lnTo>
                  <a:lnTo>
                    <a:pt x="390" y="7"/>
                  </a:lnTo>
                  <a:lnTo>
                    <a:pt x="397" y="7"/>
                  </a:lnTo>
                  <a:lnTo>
                    <a:pt x="404" y="7"/>
                  </a:lnTo>
                  <a:lnTo>
                    <a:pt x="410" y="13"/>
                  </a:lnTo>
                  <a:lnTo>
                    <a:pt x="417" y="13"/>
                  </a:lnTo>
                  <a:lnTo>
                    <a:pt x="424" y="20"/>
                  </a:lnTo>
                  <a:lnTo>
                    <a:pt x="430" y="20"/>
                  </a:lnTo>
                  <a:lnTo>
                    <a:pt x="437" y="20"/>
                  </a:lnTo>
                  <a:lnTo>
                    <a:pt x="443" y="27"/>
                  </a:lnTo>
                  <a:lnTo>
                    <a:pt x="450" y="27"/>
                  </a:lnTo>
                  <a:lnTo>
                    <a:pt x="457" y="33"/>
                  </a:lnTo>
                  <a:lnTo>
                    <a:pt x="463" y="33"/>
                  </a:lnTo>
                  <a:lnTo>
                    <a:pt x="470" y="40"/>
                  </a:lnTo>
                  <a:lnTo>
                    <a:pt x="477" y="46"/>
                  </a:lnTo>
                  <a:lnTo>
                    <a:pt x="483" y="46"/>
                  </a:lnTo>
                  <a:lnTo>
                    <a:pt x="490" y="53"/>
                  </a:lnTo>
                  <a:lnTo>
                    <a:pt x="496" y="60"/>
                  </a:lnTo>
                  <a:lnTo>
                    <a:pt x="503" y="66"/>
                  </a:lnTo>
                  <a:lnTo>
                    <a:pt x="510" y="66"/>
                  </a:lnTo>
                  <a:lnTo>
                    <a:pt x="516" y="73"/>
                  </a:lnTo>
                  <a:lnTo>
                    <a:pt x="523" y="80"/>
                  </a:lnTo>
                  <a:lnTo>
                    <a:pt x="530" y="86"/>
                  </a:lnTo>
                  <a:lnTo>
                    <a:pt x="536" y="86"/>
                  </a:lnTo>
                  <a:lnTo>
                    <a:pt x="543" y="93"/>
                  </a:lnTo>
                  <a:lnTo>
                    <a:pt x="549" y="99"/>
                  </a:lnTo>
                  <a:lnTo>
                    <a:pt x="556" y="106"/>
                  </a:lnTo>
                  <a:lnTo>
                    <a:pt x="563" y="113"/>
                  </a:lnTo>
                  <a:lnTo>
                    <a:pt x="569" y="119"/>
                  </a:lnTo>
                  <a:lnTo>
                    <a:pt x="576" y="126"/>
                  </a:lnTo>
                  <a:lnTo>
                    <a:pt x="583" y="133"/>
                  </a:lnTo>
                  <a:lnTo>
                    <a:pt x="589" y="133"/>
                  </a:lnTo>
                  <a:lnTo>
                    <a:pt x="596" y="146"/>
                  </a:lnTo>
                  <a:lnTo>
                    <a:pt x="602" y="146"/>
                  </a:lnTo>
                  <a:lnTo>
                    <a:pt x="609" y="159"/>
                  </a:lnTo>
                  <a:lnTo>
                    <a:pt x="616" y="159"/>
                  </a:lnTo>
                  <a:lnTo>
                    <a:pt x="622" y="172"/>
                  </a:lnTo>
                  <a:lnTo>
                    <a:pt x="629" y="179"/>
                  </a:lnTo>
                  <a:lnTo>
                    <a:pt x="636" y="179"/>
                  </a:lnTo>
                  <a:lnTo>
                    <a:pt x="642" y="192"/>
                  </a:lnTo>
                  <a:lnTo>
                    <a:pt x="649" y="192"/>
                  </a:lnTo>
                  <a:lnTo>
                    <a:pt x="655" y="205"/>
                  </a:lnTo>
                  <a:lnTo>
                    <a:pt x="662" y="212"/>
                  </a:lnTo>
                  <a:lnTo>
                    <a:pt x="669" y="219"/>
                  </a:lnTo>
                  <a:lnTo>
                    <a:pt x="675" y="225"/>
                  </a:lnTo>
                  <a:lnTo>
                    <a:pt x="682" y="232"/>
                  </a:lnTo>
                  <a:lnTo>
                    <a:pt x="689" y="239"/>
                  </a:lnTo>
                  <a:lnTo>
                    <a:pt x="695" y="245"/>
                  </a:lnTo>
                  <a:lnTo>
                    <a:pt x="702" y="245"/>
                  </a:lnTo>
                  <a:lnTo>
                    <a:pt x="708" y="239"/>
                  </a:lnTo>
                  <a:lnTo>
                    <a:pt x="715" y="225"/>
                  </a:lnTo>
                  <a:lnTo>
                    <a:pt x="722" y="225"/>
                  </a:lnTo>
                  <a:lnTo>
                    <a:pt x="728" y="212"/>
                  </a:lnTo>
                  <a:lnTo>
                    <a:pt x="735" y="212"/>
                  </a:lnTo>
                  <a:lnTo>
                    <a:pt x="742" y="205"/>
                  </a:lnTo>
                  <a:lnTo>
                    <a:pt x="748" y="192"/>
                  </a:lnTo>
                  <a:lnTo>
                    <a:pt x="755" y="192"/>
                  </a:lnTo>
                  <a:lnTo>
                    <a:pt x="761" y="179"/>
                  </a:lnTo>
                  <a:lnTo>
                    <a:pt x="768" y="179"/>
                  </a:lnTo>
                  <a:lnTo>
                    <a:pt x="775" y="166"/>
                  </a:lnTo>
                  <a:lnTo>
                    <a:pt x="781" y="166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5" name="未知"/>
            <p:cNvSpPr/>
            <p:nvPr/>
          </p:nvSpPr>
          <p:spPr>
            <a:xfrm>
              <a:off x="2413" y="1392"/>
              <a:ext cx="252" cy="139"/>
            </a:xfrm>
            <a:custGeom>
              <a:avLst/>
              <a:gdLst/>
              <a:ahLst/>
              <a:cxnLst/>
              <a:rect l="0" t="0" r="0" b="0"/>
              <a:pathLst>
                <a:path w="252" h="139">
                  <a:moveTo>
                    <a:pt x="0" y="139"/>
                  </a:moveTo>
                  <a:lnTo>
                    <a:pt x="7" y="132"/>
                  </a:lnTo>
                  <a:lnTo>
                    <a:pt x="14" y="125"/>
                  </a:lnTo>
                  <a:lnTo>
                    <a:pt x="20" y="119"/>
                  </a:lnTo>
                  <a:lnTo>
                    <a:pt x="27" y="112"/>
                  </a:lnTo>
                  <a:lnTo>
                    <a:pt x="33" y="106"/>
                  </a:lnTo>
                  <a:lnTo>
                    <a:pt x="40" y="99"/>
                  </a:lnTo>
                  <a:lnTo>
                    <a:pt x="47" y="92"/>
                  </a:lnTo>
                  <a:lnTo>
                    <a:pt x="53" y="92"/>
                  </a:lnTo>
                  <a:lnTo>
                    <a:pt x="60" y="86"/>
                  </a:lnTo>
                  <a:lnTo>
                    <a:pt x="67" y="79"/>
                  </a:lnTo>
                  <a:lnTo>
                    <a:pt x="73" y="72"/>
                  </a:lnTo>
                  <a:lnTo>
                    <a:pt x="80" y="66"/>
                  </a:lnTo>
                  <a:lnTo>
                    <a:pt x="86" y="59"/>
                  </a:lnTo>
                  <a:lnTo>
                    <a:pt x="93" y="59"/>
                  </a:lnTo>
                  <a:lnTo>
                    <a:pt x="100" y="53"/>
                  </a:lnTo>
                  <a:lnTo>
                    <a:pt x="106" y="46"/>
                  </a:lnTo>
                  <a:lnTo>
                    <a:pt x="113" y="46"/>
                  </a:lnTo>
                  <a:lnTo>
                    <a:pt x="120" y="39"/>
                  </a:lnTo>
                  <a:lnTo>
                    <a:pt x="126" y="39"/>
                  </a:lnTo>
                  <a:lnTo>
                    <a:pt x="133" y="33"/>
                  </a:lnTo>
                  <a:lnTo>
                    <a:pt x="139" y="33"/>
                  </a:lnTo>
                  <a:lnTo>
                    <a:pt x="146" y="26"/>
                  </a:lnTo>
                  <a:lnTo>
                    <a:pt x="153" y="26"/>
                  </a:lnTo>
                  <a:lnTo>
                    <a:pt x="159" y="19"/>
                  </a:lnTo>
                  <a:lnTo>
                    <a:pt x="166" y="19"/>
                  </a:lnTo>
                  <a:lnTo>
                    <a:pt x="173" y="13"/>
                  </a:lnTo>
                  <a:lnTo>
                    <a:pt x="179" y="13"/>
                  </a:lnTo>
                  <a:lnTo>
                    <a:pt x="186" y="13"/>
                  </a:lnTo>
                  <a:lnTo>
                    <a:pt x="192" y="6"/>
                  </a:lnTo>
                  <a:lnTo>
                    <a:pt x="199" y="6"/>
                  </a:lnTo>
                  <a:lnTo>
                    <a:pt x="206" y="6"/>
                  </a:lnTo>
                  <a:lnTo>
                    <a:pt x="212" y="6"/>
                  </a:lnTo>
                  <a:lnTo>
                    <a:pt x="219" y="0"/>
                  </a:lnTo>
                  <a:lnTo>
                    <a:pt x="226" y="0"/>
                  </a:lnTo>
                  <a:lnTo>
                    <a:pt x="232" y="0"/>
                  </a:lnTo>
                  <a:lnTo>
                    <a:pt x="239" y="0"/>
                  </a:lnTo>
                  <a:lnTo>
                    <a:pt x="245" y="0"/>
                  </a:lnTo>
                  <a:lnTo>
                    <a:pt x="252" y="0"/>
                  </a:lnTo>
                </a:path>
              </a:pathLst>
            </a:custGeom>
            <a:noFill/>
            <a:ln w="0" cap="flat" cmpd="sng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86" name="矩形 73786"/>
            <p:cNvSpPr/>
            <p:nvPr/>
          </p:nvSpPr>
          <p:spPr>
            <a:xfrm>
              <a:off x="1393" y="1763"/>
              <a:ext cx="71" cy="1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en-US" altLang="x-none" sz="1300" dirty="0">
                  <a:solidFill>
                    <a:srgbClr val="000000"/>
                  </a:solidFill>
                  <a:latin typeface="Symbol" pitchFamily="2" charset="2"/>
                  <a:ea typeface="宋体" charset="-122"/>
                </a:rPr>
                <a:t>w</a:t>
              </a:r>
              <a:endParaRPr lang="en-US" altLang="x-none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87" name="矩形 73787"/>
            <p:cNvSpPr/>
            <p:nvPr/>
          </p:nvSpPr>
          <p:spPr>
            <a:xfrm>
              <a:off x="1466" y="1769"/>
              <a:ext cx="29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zh-CN" altLang="en-US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/</a:t>
              </a:r>
              <a:endParaRPr lang="zh-CN" altLang="en-US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88" name="矩形 73788"/>
            <p:cNvSpPr/>
            <p:nvPr/>
          </p:nvSpPr>
          <p:spPr>
            <a:xfrm>
              <a:off x="1492" y="1763"/>
              <a:ext cx="57" cy="1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en-US" altLang="x-none" sz="1300" dirty="0">
                  <a:solidFill>
                    <a:srgbClr val="000000"/>
                  </a:solidFill>
                  <a:latin typeface="Symbol" pitchFamily="2" charset="2"/>
                  <a:ea typeface="宋体" charset="-122"/>
                </a:rPr>
                <a:t>p</a:t>
              </a:r>
              <a:endParaRPr lang="en-US" altLang="x-none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89" name="矩形 73789"/>
            <p:cNvSpPr/>
            <p:nvPr/>
          </p:nvSpPr>
          <p:spPr>
            <a:xfrm rot="-5400000">
              <a:off x="-162" y="768"/>
              <a:ext cx="450" cy="1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en-US" altLang="x-none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Magnitude</a:t>
              </a:r>
              <a:endParaRPr lang="en-US" altLang="x-none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90" name="矩形 73790"/>
            <p:cNvSpPr/>
            <p:nvPr/>
          </p:nvSpPr>
          <p:spPr>
            <a:xfrm>
              <a:off x="1592" y="106"/>
              <a:ext cx="1033" cy="272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91" name="矩形 73791"/>
            <p:cNvSpPr/>
            <p:nvPr/>
          </p:nvSpPr>
          <p:spPr>
            <a:xfrm>
              <a:off x="1592" y="106"/>
              <a:ext cx="1033" cy="272"/>
            </a:xfrm>
            <a:prstGeom prst="rect">
              <a:avLst/>
            </a:prstGeom>
            <a:noFill/>
            <a:ln w="0" cap="flat" cmpd="sng">
              <a:solidFill>
                <a:srgbClr val="FFFF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92" name="直接连接符 73792"/>
            <p:cNvSpPr/>
            <p:nvPr/>
          </p:nvSpPr>
          <p:spPr>
            <a:xfrm>
              <a:off x="1592" y="106"/>
              <a:ext cx="1033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93" name="未知"/>
            <p:cNvSpPr/>
            <p:nvPr/>
          </p:nvSpPr>
          <p:spPr>
            <a:xfrm>
              <a:off x="1592" y="106"/>
              <a:ext cx="1033" cy="272"/>
            </a:xfrm>
            <a:custGeom>
              <a:avLst/>
              <a:gdLst/>
              <a:ahLst/>
              <a:cxnLst/>
              <a:rect l="0" t="0" r="0" b="0"/>
              <a:pathLst>
                <a:path w="156" h="41">
                  <a:moveTo>
                    <a:pt x="0" y="41"/>
                  </a:moveTo>
                  <a:lnTo>
                    <a:pt x="156" y="41"/>
                  </a:lnTo>
                  <a:lnTo>
                    <a:pt x="156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4" name="直接连接符 73794"/>
            <p:cNvSpPr/>
            <p:nvPr/>
          </p:nvSpPr>
          <p:spPr>
            <a:xfrm flipV="1">
              <a:off x="1592" y="106"/>
              <a:ext cx="1" cy="27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95" name="直接连接符 73795"/>
            <p:cNvSpPr/>
            <p:nvPr/>
          </p:nvSpPr>
          <p:spPr>
            <a:xfrm>
              <a:off x="1592" y="378"/>
              <a:ext cx="1033" cy="1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96" name="未知"/>
            <p:cNvSpPr/>
            <p:nvPr/>
          </p:nvSpPr>
          <p:spPr>
            <a:xfrm>
              <a:off x="1592" y="106"/>
              <a:ext cx="1033" cy="272"/>
            </a:xfrm>
            <a:custGeom>
              <a:avLst/>
              <a:gdLst/>
              <a:ahLst/>
              <a:cxnLst/>
              <a:rect l="0" t="0" r="0" b="0"/>
              <a:pathLst>
                <a:path w="156" h="41">
                  <a:moveTo>
                    <a:pt x="0" y="41"/>
                  </a:moveTo>
                  <a:lnTo>
                    <a:pt x="0" y="0"/>
                  </a:lnTo>
                  <a:lnTo>
                    <a:pt x="156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7" name="未知"/>
            <p:cNvSpPr/>
            <p:nvPr/>
          </p:nvSpPr>
          <p:spPr>
            <a:xfrm>
              <a:off x="1592" y="106"/>
              <a:ext cx="1033" cy="272"/>
            </a:xfrm>
            <a:custGeom>
              <a:avLst/>
              <a:gdLst/>
              <a:ahLst/>
              <a:cxnLst/>
              <a:rect l="0" t="0" r="0" b="0"/>
              <a:pathLst>
                <a:path w="156" h="41">
                  <a:moveTo>
                    <a:pt x="0" y="41"/>
                  </a:moveTo>
                  <a:lnTo>
                    <a:pt x="156" y="41"/>
                  </a:lnTo>
                  <a:lnTo>
                    <a:pt x="156" y="0"/>
                  </a:lnTo>
                </a:path>
              </a:pathLst>
            </a:custGeom>
            <a:noFill/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98" name="直接连接符 73798"/>
            <p:cNvSpPr/>
            <p:nvPr/>
          </p:nvSpPr>
          <p:spPr>
            <a:xfrm flipV="1">
              <a:off x="1592" y="106"/>
              <a:ext cx="1" cy="272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799" name="矩形 73799"/>
            <p:cNvSpPr/>
            <p:nvPr/>
          </p:nvSpPr>
          <p:spPr>
            <a:xfrm>
              <a:off x="1877" y="120"/>
              <a:ext cx="603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en-US" altLang="x-none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modified filter</a:t>
              </a:r>
              <a:endParaRPr lang="en-US" altLang="x-none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800" name="矩形 73800"/>
            <p:cNvSpPr/>
            <p:nvPr/>
          </p:nvSpPr>
          <p:spPr>
            <a:xfrm>
              <a:off x="1877" y="239"/>
              <a:ext cx="675" cy="11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>
              <a:spAutoFit/>
            </a:bodyPr>
            <a:lstStyle/>
            <a:p>
              <a:pPr lvl="0" eaLnBrk="0" hangingPunct="0"/>
              <a:r>
                <a:rPr lang="en-US" altLang="x-none" sz="1300" dirty="0">
                  <a:solidFill>
                    <a:srgbClr val="000000"/>
                  </a:solidFill>
                  <a:latin typeface="Times" charset="0"/>
                  <a:ea typeface="宋体" charset="-122"/>
                </a:rPr>
                <a:t>moving-average</a:t>
              </a:r>
              <a:endParaRPr lang="en-US" altLang="x-none" dirty="0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801" name="直接连接符 73801"/>
            <p:cNvSpPr/>
            <p:nvPr/>
          </p:nvSpPr>
          <p:spPr>
            <a:xfrm>
              <a:off x="1645" y="179"/>
              <a:ext cx="172" cy="1"/>
            </a:xfrm>
            <a:prstGeom prst="line">
              <a:avLst/>
            </a:prstGeom>
            <a:ln w="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3802" name="直接连接符 73802"/>
            <p:cNvSpPr/>
            <p:nvPr/>
          </p:nvSpPr>
          <p:spPr>
            <a:xfrm>
              <a:off x="1645" y="305"/>
              <a:ext cx="172" cy="1"/>
            </a:xfrm>
            <a:prstGeom prst="line">
              <a:avLst/>
            </a:prstGeom>
            <a:ln w="0" cap="flat" cmpd="sng">
              <a:solidFill>
                <a:srgbClr val="FF000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pPr lvl="0"/>
              <a:endParaRPr lang="zh-CN" altLang="en-US"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内容占位符 74754"/>
          <p:cNvSpPr>
            <a:spLocks noGrp="1"/>
          </p:cNvSpPr>
          <p:nvPr>
            <p:ph idx="1"/>
          </p:nvPr>
        </p:nvSpPr>
        <p:spPr>
          <a:xfrm>
            <a:off x="839469" y="1268730"/>
            <a:ext cx="10009057" cy="2362200"/>
          </a:xfrm>
        </p:spPr>
        <p:txBody>
          <a:bodyPr anchor="t"/>
          <a:lstStyle/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Note the improved magnitude response obtained by simply changing the first and the last impulse response coefficients of a moving-average (MA) filter</a:t>
            </a:r>
          </a:p>
          <a:p>
            <a:pPr>
              <a:lnSpc>
                <a:spcPct val="90000"/>
              </a:lnSpc>
            </a:pPr>
            <a:r>
              <a:rPr lang="en-US" altLang="x-none" sz="3200" b="1" dirty="0">
                <a:latin typeface="Times New Roman" pitchFamily="18" charset="0"/>
              </a:rPr>
              <a:t>It can be shown that we can express</a:t>
            </a:r>
            <a:r>
              <a:rPr lang="en-US" altLang="x-none" sz="3200" b="1" dirty="0"/>
              <a:t>    </a:t>
            </a:r>
          </a:p>
        </p:txBody>
      </p:sp>
      <p:graphicFrame>
        <p:nvGraphicFramePr>
          <p:cNvPr id="74756" name="对象 747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388767"/>
              </p:ext>
            </p:extLst>
          </p:nvPr>
        </p:nvGraphicFramePr>
        <p:xfrm>
          <a:off x="2135505" y="3429000"/>
          <a:ext cx="7380288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51" r:id="rId3" imgW="8445500" imgH="749300" progId="Equation.3">
                  <p:embed/>
                </p:oleObj>
              </mc:Choice>
              <mc:Fallback>
                <p:oleObj r:id="rId3" imgW="8445500" imgH="749300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35505" y="3429000"/>
                        <a:ext cx="7380288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7" name="文本框 74756"/>
          <p:cNvSpPr txBox="1"/>
          <p:nvPr/>
        </p:nvSpPr>
        <p:spPr>
          <a:xfrm>
            <a:off x="911424" y="4293096"/>
            <a:ext cx="9937104" cy="1520416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lvl="0">
              <a:lnSpc>
                <a:spcPct val="90000"/>
              </a:lnSpc>
              <a:spcBef>
                <a:spcPct val="20000"/>
              </a:spcBef>
            </a:pP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which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is seen to be a cascade of a 2-point MA filter </a:t>
            </a:r>
            <a:r>
              <a:rPr lang="en-US" altLang="x-none" sz="3200" b="1" dirty="0" smtClean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    with 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a 6-point MA filter</a:t>
            </a:r>
          </a:p>
          <a:p>
            <a:pPr lvl="0">
              <a:lnSpc>
                <a:spcPct val="90000"/>
              </a:lnSpc>
              <a:spcBef>
                <a:spcPct val="20000"/>
              </a:spcBef>
              <a:buChar char="•"/>
            </a:pP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 Thus, H</a:t>
            </a:r>
            <a:r>
              <a:rPr lang="en-US" altLang="x-none" sz="3200" b="1" baseline="-25000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0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(z)  has a double zero at z=-1, i.e.,  (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  <a:cs typeface="宋体" charset="0"/>
              </a:rPr>
              <a:t>ω</a:t>
            </a:r>
            <a:r>
              <a:rPr lang="en-US" altLang="x-none" sz="3200" b="1" dirty="0">
                <a:solidFill>
                  <a:srgbClr val="3366CC"/>
                </a:solidFill>
                <a:latin typeface="Times New Roman" pitchFamily="18" charset="0"/>
                <a:ea typeface="宋体" charset="-122"/>
              </a:rPr>
              <a:t> = π)</a:t>
            </a:r>
          </a:p>
        </p:txBody>
      </p:sp>
      <p:sp>
        <p:nvSpPr>
          <p:cNvPr id="51201" name="标题 51201"/>
          <p:cNvSpPr>
            <a:spLocks noGrp="1"/>
          </p:cNvSpPr>
          <p:nvPr>
            <p:ph type="title"/>
          </p:nvPr>
        </p:nvSpPr>
        <p:spPr>
          <a:xfrm>
            <a:off x="304800" y="0"/>
            <a:ext cx="966978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7.3 Types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/>
      <p:bldP spid="7475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75777"/>
          <p:cNvSpPr>
            <a:spLocks noGrp="1"/>
          </p:cNvSpPr>
          <p:nvPr>
            <p:ph type="title"/>
          </p:nvPr>
        </p:nvSpPr>
        <p:spPr>
          <a:xfrm>
            <a:off x="551180" y="0"/>
            <a:ext cx="10972800" cy="1143000"/>
          </a:xfrm>
        </p:spPr>
        <p:txBody>
          <a:bodyPr anchor="ctr"/>
          <a:lstStyle/>
          <a:p>
            <a:r>
              <a:rPr lang="en-US" altLang="x-none" sz="4000" b="1" i="1" dirty="0">
                <a:latin typeface="Times New Roman" pitchFamily="18" charset="0"/>
              </a:rPr>
              <a:t>7.3.1 Zero Locations of Linear-Phase FIR Transfer Functions</a:t>
            </a:r>
          </a:p>
        </p:txBody>
      </p:sp>
      <p:sp>
        <p:nvSpPr>
          <p:cNvPr id="75779" name="内容占位符 75778"/>
          <p:cNvSpPr>
            <a:spLocks noGrp="1"/>
          </p:cNvSpPr>
          <p:nvPr>
            <p:ph idx="1"/>
          </p:nvPr>
        </p:nvSpPr>
        <p:spPr>
          <a:xfrm>
            <a:off x="263352" y="1268760"/>
            <a:ext cx="11680482" cy="2736081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The zeros of the real-coefficient h[n] is in mirror-image pairs.</a:t>
            </a:r>
          </a:p>
          <a:p>
            <a:pPr lvl="1"/>
            <a:r>
              <a:rPr lang="en-US" altLang="x-none" sz="3200" b="1" dirty="0" smtClean="0">
                <a:latin typeface="Times New Roman" pitchFamily="18" charset="0"/>
              </a:rPr>
              <a:t>For types 1 &amp; 2 (symmetry)</a:t>
            </a:r>
          </a:p>
          <a:p>
            <a:endParaRPr lang="zh-CN" altLang="en-US" sz="3200" b="1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9609962"/>
              </p:ext>
            </p:extLst>
          </p:nvPr>
        </p:nvGraphicFramePr>
        <p:xfrm>
          <a:off x="479376" y="2636912"/>
          <a:ext cx="114808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4" name="Equation" r:id="rId3" imgW="5295600" imgH="431640" progId="Equation.DSMT4">
                  <p:embed/>
                </p:oleObj>
              </mc:Choice>
              <mc:Fallback>
                <p:oleObj name="Equation" r:id="rId3" imgW="529560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9376" y="2636912"/>
                        <a:ext cx="11480800" cy="936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603632"/>
              </p:ext>
            </p:extLst>
          </p:nvPr>
        </p:nvGraphicFramePr>
        <p:xfrm>
          <a:off x="4497702" y="3501008"/>
          <a:ext cx="2913554" cy="5760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5" name="Equation" r:id="rId5" imgW="1155600" imgH="228600" progId="Equation.DSMT4">
                  <p:embed/>
                </p:oleObj>
              </mc:Choice>
              <mc:Fallback>
                <p:oleObj name="Equation" r:id="rId5" imgW="1155600" imgH="228600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702" y="3501008"/>
                        <a:ext cx="2913554" cy="5760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47328" y="4098453"/>
            <a:ext cx="662610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2"/>
            <a:r>
              <a:rPr lang="en-US" altLang="x-none" sz="3200" b="1" dirty="0" smtClean="0">
                <a:solidFill>
                  <a:schemeClr val="tx1"/>
                </a:solidFill>
                <a:latin typeface="Times New Roman" pitchFamily="18" charset="0"/>
              </a:rPr>
              <a:t>For </a:t>
            </a:r>
            <a:r>
              <a:rPr lang="en-US" altLang="x-none" sz="3200" b="1" dirty="0">
                <a:solidFill>
                  <a:schemeClr val="tx1"/>
                </a:solidFill>
                <a:latin typeface="Times New Roman" pitchFamily="18" charset="0"/>
              </a:rPr>
              <a:t>types </a:t>
            </a:r>
            <a:r>
              <a:rPr lang="en-US" altLang="x-none" sz="3200" b="1" dirty="0" smtClean="0">
                <a:solidFill>
                  <a:schemeClr val="tx1"/>
                </a:solidFill>
                <a:latin typeface="Times New Roman" pitchFamily="18" charset="0"/>
              </a:rPr>
              <a:t>3 </a:t>
            </a:r>
            <a:r>
              <a:rPr lang="en-US" altLang="x-none" sz="3200" b="1" dirty="0">
                <a:solidFill>
                  <a:schemeClr val="tx1"/>
                </a:solidFill>
                <a:latin typeface="Times New Roman" pitchFamily="18" charset="0"/>
              </a:rPr>
              <a:t>&amp; </a:t>
            </a:r>
            <a:r>
              <a:rPr lang="en-US" altLang="x-none" sz="3200" b="1" dirty="0" smtClean="0">
                <a:solidFill>
                  <a:schemeClr val="tx1"/>
                </a:solidFill>
                <a:latin typeface="Times New Roman" pitchFamily="18" charset="0"/>
              </a:rPr>
              <a:t>4 (</a:t>
            </a:r>
            <a:r>
              <a:rPr lang="en-US" altLang="x-none" sz="3200" b="1" dirty="0" err="1" smtClean="0">
                <a:solidFill>
                  <a:schemeClr val="tx1"/>
                </a:solidFill>
                <a:latin typeface="Times New Roman" pitchFamily="18" charset="0"/>
              </a:rPr>
              <a:t>antisymmetry</a:t>
            </a:r>
            <a:r>
              <a:rPr lang="en-US" altLang="x-none" sz="3200" b="1" dirty="0">
                <a:solidFill>
                  <a:schemeClr val="tx1"/>
                </a:solidFill>
                <a:latin typeface="Times New Roman" pitchFamily="18" charset="0"/>
              </a:rPr>
              <a:t>)</a:t>
            </a:r>
          </a:p>
          <a:p>
            <a:pPr lvl="1"/>
            <a:endParaRPr lang="en-US" altLang="x-none" sz="3200" b="1" dirty="0">
              <a:solidFill>
                <a:schemeClr val="tx1"/>
              </a:solidFill>
              <a:latin typeface="Times New Roman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077443"/>
              </p:ext>
            </p:extLst>
          </p:nvPr>
        </p:nvGraphicFramePr>
        <p:xfrm>
          <a:off x="4367808" y="4725144"/>
          <a:ext cx="313690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6" name="Equation" r:id="rId7" imgW="1244520" imgH="228600" progId="Equation.DSMT4">
                  <p:embed/>
                </p:oleObj>
              </mc:Choice>
              <mc:Fallback>
                <p:oleObj name="Equation" r:id="rId7" imgW="1244520" imgH="2286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808" y="4725144"/>
                        <a:ext cx="313690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3528" y="5519479"/>
            <a:ext cx="10463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dirty="0" smtClean="0">
                <a:solidFill>
                  <a:srgbClr val="FF0000"/>
                </a:solidFill>
              </a:rPr>
              <a:t>If  H(z</a:t>
            </a:r>
            <a:r>
              <a:rPr lang="en-US" altLang="zh-CN" sz="3200" baseline="-25000" dirty="0" smtClean="0">
                <a:solidFill>
                  <a:srgbClr val="FF0000"/>
                </a:solidFill>
              </a:rPr>
              <a:t>0</a:t>
            </a:r>
            <a:r>
              <a:rPr lang="en-US" altLang="zh-CN" sz="3200" dirty="0" smtClean="0">
                <a:solidFill>
                  <a:srgbClr val="FF0000"/>
                </a:solidFill>
              </a:rPr>
              <a:t>)=0, then H(1/</a:t>
            </a:r>
            <a:r>
              <a:rPr lang="en-US" altLang="zh-CN" sz="3200" dirty="0">
                <a:solidFill>
                  <a:srgbClr val="FF0000"/>
                </a:solidFill>
              </a:rPr>
              <a:t>z</a:t>
            </a:r>
            <a:r>
              <a:rPr lang="en-US" altLang="zh-CN" sz="3200" baseline="-25000" dirty="0">
                <a:solidFill>
                  <a:srgbClr val="FF0000"/>
                </a:solidFill>
              </a:rPr>
              <a:t>0</a:t>
            </a:r>
            <a:r>
              <a:rPr lang="en-US" altLang="zh-CN" sz="3200" dirty="0" smtClean="0">
                <a:solidFill>
                  <a:srgbClr val="FF0000"/>
                </a:solidFill>
              </a:rPr>
              <a:t>)=0, i.e., zeros are in mirror image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75777"/>
          <p:cNvSpPr>
            <a:spLocks noGrp="1"/>
          </p:cNvSpPr>
          <p:nvPr>
            <p:ph type="title"/>
          </p:nvPr>
        </p:nvSpPr>
        <p:spPr>
          <a:xfrm>
            <a:off x="551180" y="0"/>
            <a:ext cx="10972800" cy="1143000"/>
          </a:xfrm>
        </p:spPr>
        <p:txBody>
          <a:bodyPr anchor="ctr"/>
          <a:lstStyle/>
          <a:p>
            <a:r>
              <a:rPr lang="en-US" altLang="x-none" sz="4000" b="1" i="1" dirty="0">
                <a:latin typeface="Times New Roman" pitchFamily="18" charset="0"/>
              </a:rPr>
              <a:t>7.3.1 Zero Locations of Linear-Phase FIR Transfer Functions</a:t>
            </a:r>
          </a:p>
        </p:txBody>
      </p:sp>
      <p:sp>
        <p:nvSpPr>
          <p:cNvPr id="75779" name="内容占位符 75778"/>
          <p:cNvSpPr>
            <a:spLocks noGrp="1"/>
          </p:cNvSpPr>
          <p:nvPr>
            <p:ph idx="1"/>
          </p:nvPr>
        </p:nvSpPr>
        <p:spPr>
          <a:xfrm>
            <a:off x="119336" y="1196752"/>
            <a:ext cx="11737304" cy="4907280"/>
          </a:xfrm>
        </p:spPr>
        <p:txBody>
          <a:bodyPr anchor="t"/>
          <a:lstStyle/>
          <a:p>
            <a:r>
              <a:rPr lang="en-US" altLang="x-none" sz="3200" b="1" dirty="0" smtClean="0">
                <a:latin typeface="Times New Roman" pitchFamily="18" charset="0"/>
              </a:rPr>
              <a:t>Moreover, for </a:t>
            </a:r>
            <a:r>
              <a:rPr lang="en-US" altLang="x-none" sz="3200" b="1" dirty="0" smtClean="0">
                <a:solidFill>
                  <a:srgbClr val="FF0000"/>
                </a:solidFill>
                <a:latin typeface="Times New Roman" pitchFamily="18" charset="0"/>
              </a:rPr>
              <a:t>real</a:t>
            </a:r>
            <a:r>
              <a:rPr lang="en-US" altLang="x-none" sz="3200" b="1" dirty="0" smtClean="0">
                <a:latin typeface="Times New Roman" pitchFamily="18" charset="0"/>
              </a:rPr>
              <a:t> </a:t>
            </a:r>
            <a:r>
              <a:rPr lang="en-US" altLang="x-none" sz="3200" b="1" dirty="0">
                <a:latin typeface="Times New Roman" pitchFamily="18" charset="0"/>
              </a:rPr>
              <a:t>impulse </a:t>
            </a:r>
            <a:r>
              <a:rPr lang="en-US" altLang="x-none" sz="3200" b="1" dirty="0" smtClean="0">
                <a:latin typeface="Times New Roman" pitchFamily="18" charset="0"/>
              </a:rPr>
              <a:t>h[n], </a:t>
            </a:r>
            <a:r>
              <a:rPr lang="en-US" altLang="x-none" sz="3200" b="1" dirty="0">
                <a:latin typeface="Times New Roman" pitchFamily="18" charset="0"/>
              </a:rPr>
              <a:t>the zeros </a:t>
            </a:r>
            <a:r>
              <a:rPr lang="en-US" altLang="x-none" sz="3200" b="1" dirty="0" smtClean="0">
                <a:latin typeface="Times New Roman" pitchFamily="18" charset="0"/>
              </a:rPr>
              <a:t>occur in </a:t>
            </a:r>
            <a:r>
              <a:rPr lang="en-US" altLang="x-none" sz="3200" b="1" dirty="0">
                <a:solidFill>
                  <a:srgbClr val="FF0000"/>
                </a:solidFill>
                <a:latin typeface="Times New Roman" pitchFamily="18" charset="0"/>
              </a:rPr>
              <a:t>complex conjugate</a:t>
            </a:r>
            <a:r>
              <a:rPr lang="en-US" altLang="x-none" sz="3200" b="1" dirty="0">
                <a:latin typeface="Times New Roman" pitchFamily="18" charset="0"/>
              </a:rPr>
              <a:t> pairs.   </a:t>
            </a:r>
          </a:p>
          <a:p>
            <a:endParaRPr lang="en-US" altLang="x-none" sz="3200" b="1" dirty="0" smtClean="0">
              <a:latin typeface="Times New Roman" pitchFamily="18" charset="0"/>
            </a:endParaRPr>
          </a:p>
          <a:p>
            <a:endParaRPr lang="zh-CN" altLang="en-US" sz="3200" b="1" dirty="0"/>
          </a:p>
        </p:txBody>
      </p:sp>
      <p:pic>
        <p:nvPicPr>
          <p:cNvPr id="47106" name="Picture 2" descr="C:\Users\qli\Desktop\FIRzeros_副本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712" y="1988840"/>
            <a:ext cx="6136379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279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内容占位符 76802"/>
          <p:cNvSpPr>
            <a:spLocks noGrp="1"/>
          </p:cNvSpPr>
          <p:nvPr>
            <p:ph idx="1"/>
          </p:nvPr>
        </p:nvSpPr>
        <p:spPr>
          <a:xfrm>
            <a:off x="983432" y="1484784"/>
            <a:ext cx="9000942" cy="4114800"/>
          </a:xfrm>
        </p:spPr>
        <p:txBody>
          <a:bodyPr anchor="t"/>
          <a:lstStyle/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(1)Type 1 :Either an even number or no zeros at z=1&amp; z=-1.</a:t>
            </a:r>
          </a:p>
          <a:p>
            <a:pPr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(</a:t>
            </a:r>
            <a:r>
              <a:rPr lang="en-US" altLang="x-none" sz="3200" b="1" dirty="0">
                <a:latin typeface="Times New Roman" pitchFamily="18" charset="0"/>
              </a:rPr>
              <a:t>2)Type 2 :Either an even number or no zeros at z=1,and an odd number of zeros at  z=-1.</a:t>
            </a:r>
          </a:p>
          <a:p>
            <a:pPr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(</a:t>
            </a:r>
            <a:r>
              <a:rPr lang="en-US" altLang="x-none" sz="3200" b="1" dirty="0">
                <a:latin typeface="Times New Roman" pitchFamily="18" charset="0"/>
              </a:rPr>
              <a:t>3)Type 3 :An odd number of zeros at z=1&amp; z=-1.</a:t>
            </a:r>
          </a:p>
          <a:p>
            <a:pPr>
              <a:buNone/>
            </a:pPr>
            <a:r>
              <a:rPr lang="en-US" altLang="x-none" sz="3200" b="1" dirty="0" smtClean="0">
                <a:latin typeface="Times New Roman" pitchFamily="18" charset="0"/>
              </a:rPr>
              <a:t>(</a:t>
            </a:r>
            <a:r>
              <a:rPr lang="en-US" altLang="x-none" sz="3200" b="1" dirty="0">
                <a:latin typeface="Times New Roman" pitchFamily="18" charset="0"/>
              </a:rPr>
              <a:t>4)Type 4 :An odd number of zeros at z=1, and either an even number or no zeros at z=-1.</a:t>
            </a:r>
            <a:endParaRPr lang="zh-CN" altLang="en-US" sz="3200" dirty="0"/>
          </a:p>
        </p:txBody>
      </p:sp>
      <p:sp>
        <p:nvSpPr>
          <p:cNvPr id="75777" name="标题 75777"/>
          <p:cNvSpPr>
            <a:spLocks noGrp="1"/>
          </p:cNvSpPr>
          <p:nvPr>
            <p:ph type="title"/>
          </p:nvPr>
        </p:nvSpPr>
        <p:spPr>
          <a:xfrm>
            <a:off x="551180" y="0"/>
            <a:ext cx="10972800" cy="1143000"/>
          </a:xfrm>
        </p:spPr>
        <p:txBody>
          <a:bodyPr anchor="ctr"/>
          <a:lstStyle/>
          <a:p>
            <a:r>
              <a:rPr lang="en-US" altLang="x-none" sz="4000" b="1" i="1" dirty="0">
                <a:latin typeface="Times New Roman" pitchFamily="18" charset="0"/>
              </a:rPr>
              <a:t>7.3.1 Zero Locations of Linear-Phase FIR Transfer Functions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500"/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500"/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500"/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500"/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77825"/>
          <p:cNvSpPr>
            <a:spLocks noGrp="1"/>
          </p:cNvSpPr>
          <p:nvPr>
            <p:ph type="title"/>
          </p:nvPr>
        </p:nvSpPr>
        <p:spPr>
          <a:xfrm>
            <a:off x="479425" y="4445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7.4 Simple Digital Filters</a:t>
            </a:r>
            <a:r>
              <a:rPr lang="en-US" altLang="x-none" dirty="0">
                <a:latin typeface="Times New Roman" pitchFamily="18" charset="0"/>
              </a:rPr>
              <a:t> </a:t>
            </a:r>
          </a:p>
        </p:txBody>
      </p:sp>
      <p:sp>
        <p:nvSpPr>
          <p:cNvPr id="77827" name="内容占位符 77826"/>
          <p:cNvSpPr>
            <a:spLocks noGrp="1"/>
          </p:cNvSpPr>
          <p:nvPr>
            <p:ph idx="1"/>
          </p:nvPr>
        </p:nvSpPr>
        <p:spPr>
          <a:xfrm>
            <a:off x="695325" y="1196976"/>
            <a:ext cx="11582400" cy="4906963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Simple FIR Digital Filters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Lowpass; Highpass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Simple IIR Digital Filters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Lowpass; Highpass; Bandpass; Bandstop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Comb Filters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FIR Comb Filters; IIR Comb Filters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7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7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78849"/>
          <p:cNvSpPr>
            <a:spLocks noGrp="1"/>
          </p:cNvSpPr>
          <p:nvPr>
            <p:ph type="title"/>
          </p:nvPr>
        </p:nvSpPr>
        <p:spPr>
          <a:xfrm>
            <a:off x="479425" y="0"/>
            <a:ext cx="10972800" cy="1143000"/>
          </a:xfrm>
        </p:spPr>
        <p:txBody>
          <a:bodyPr anchor="ctr"/>
          <a:lstStyle/>
          <a:p>
            <a:r>
              <a:rPr lang="en-US" altLang="x-none" b="1" i="1" dirty="0">
                <a:latin typeface="Times New Roman" pitchFamily="18" charset="0"/>
              </a:rPr>
              <a:t>Homework</a:t>
            </a:r>
          </a:p>
        </p:txBody>
      </p:sp>
      <p:sp>
        <p:nvSpPr>
          <p:cNvPr id="78851" name="内容占位符 78850"/>
          <p:cNvSpPr>
            <a:spLocks noGrp="1"/>
          </p:cNvSpPr>
          <p:nvPr>
            <p:ph idx="1"/>
          </p:nvPr>
        </p:nvSpPr>
        <p:spPr>
          <a:xfrm>
            <a:off x="440690" y="1219200"/>
            <a:ext cx="11446510" cy="4907280"/>
          </a:xfrm>
        </p:spPr>
        <p:txBody>
          <a:bodyPr anchor="t"/>
          <a:lstStyle/>
          <a:p>
            <a:r>
              <a:rPr lang="en-US" altLang="x-none" sz="3200" b="1" dirty="0">
                <a:latin typeface="Times New Roman" pitchFamily="18" charset="0"/>
              </a:rPr>
              <a:t>Read the textbook from p.351 to 378</a:t>
            </a:r>
          </a:p>
          <a:p>
            <a:r>
              <a:rPr lang="en-US" altLang="x-none" sz="3200" b="1" dirty="0">
                <a:latin typeface="Times New Roman" pitchFamily="18" charset="0"/>
              </a:rPr>
              <a:t>Problems</a:t>
            </a: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    7.4, 7.</a:t>
            </a:r>
            <a:r>
              <a:rPr lang="zh-CN" altLang="en-US" sz="3200" b="1" dirty="0">
                <a:latin typeface="Times New Roman" pitchFamily="18" charset="0"/>
              </a:rPr>
              <a:t>5</a:t>
            </a:r>
            <a:r>
              <a:rPr lang="en-US" altLang="x-none" sz="3200" b="1" dirty="0">
                <a:latin typeface="Times New Roman" pitchFamily="18" charset="0"/>
              </a:rPr>
              <a:t>, 7.</a:t>
            </a:r>
            <a:r>
              <a:rPr lang="zh-CN" altLang="en-US" sz="3200" b="1" dirty="0">
                <a:latin typeface="Times New Roman" pitchFamily="18" charset="0"/>
              </a:rPr>
              <a:t>10</a:t>
            </a:r>
            <a:r>
              <a:rPr lang="en-US" altLang="x-none" sz="3200" b="1" dirty="0">
                <a:latin typeface="Times New Roman" pitchFamily="18" charset="0"/>
              </a:rPr>
              <a:t>, 7. 2</a:t>
            </a:r>
            <a:r>
              <a:rPr lang="zh-CN" altLang="en-US" sz="3200" b="1" dirty="0">
                <a:latin typeface="Times New Roman" pitchFamily="18" charset="0"/>
              </a:rPr>
              <a:t>1</a:t>
            </a:r>
            <a:r>
              <a:rPr lang="en-US" altLang="x-none" sz="3200" b="1" dirty="0">
                <a:latin typeface="Times New Roman" pitchFamily="18" charset="0"/>
              </a:rPr>
              <a:t>, 7.</a:t>
            </a:r>
            <a:r>
              <a:rPr lang="zh-CN" altLang="en-US" sz="3200" b="1" dirty="0">
                <a:latin typeface="Times New Roman" pitchFamily="18" charset="0"/>
              </a:rPr>
              <a:t>28</a:t>
            </a:r>
            <a:r>
              <a:rPr lang="en-US" altLang="x-none" sz="3200" b="1" dirty="0">
                <a:latin typeface="Times New Roman" pitchFamily="18" charset="0"/>
              </a:rPr>
              <a:t>, 7.4</a:t>
            </a:r>
            <a:r>
              <a:rPr lang="zh-CN" altLang="en-US" sz="3200" b="1" dirty="0">
                <a:latin typeface="Times New Roman" pitchFamily="18" charset="0"/>
              </a:rPr>
              <a:t>1</a:t>
            </a:r>
            <a:r>
              <a:rPr lang="en-US" altLang="x-none" sz="3200" b="1" dirty="0">
                <a:latin typeface="Times New Roman" pitchFamily="18" charset="0"/>
              </a:rPr>
              <a:t>,7.</a:t>
            </a:r>
            <a:r>
              <a:rPr lang="zh-CN" altLang="en-US" sz="3200" b="1" dirty="0">
                <a:latin typeface="Times New Roman" pitchFamily="18" charset="0"/>
              </a:rPr>
              <a:t>43,7.60, 7.69</a:t>
            </a:r>
          </a:p>
          <a:p>
            <a:pPr>
              <a:buNone/>
            </a:pPr>
            <a:endParaRPr lang="en-US" altLang="x-none" sz="3200" b="1" dirty="0">
              <a:latin typeface="Times New Roman" pitchFamily="18" charset="0"/>
            </a:endParaRPr>
          </a:p>
          <a:p>
            <a:pPr>
              <a:buNone/>
            </a:pPr>
            <a:r>
              <a:rPr lang="en-US" altLang="x-none" sz="3200" b="1" dirty="0">
                <a:latin typeface="Times New Roman" pitchFamily="18" charset="0"/>
              </a:rPr>
              <a:t>M7.3, M7.5, M7.6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8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0" grpId="0"/>
      <p:bldP spid="78851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5"/>
          <p:cNvSpPr>
            <a:spLocks noChangeArrowheads="1"/>
          </p:cNvSpPr>
          <p:nvPr/>
        </p:nvSpPr>
        <p:spPr bwMode="auto">
          <a:xfrm>
            <a:off x="4953001" y="2819401"/>
            <a:ext cx="22717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en-US" altLang="zh-CN" sz="3600" b="1">
                <a:solidFill>
                  <a:srgbClr val="0070C0"/>
                </a:solidFill>
                <a:ea typeface="微软雅黑" pitchFamily="34" charset="-122"/>
              </a:rPr>
              <a:t>THANKS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prstShdw prst="shdw11">
            <a:schemeClr val="bg2">
              <a:alpha val="50000"/>
            </a:schemeClr>
          </a:prstShdw>
        </a:effectLst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10305</TotalTime>
  <Words>3250</Words>
  <Application>Microsoft Office PowerPoint</Application>
  <PresentationFormat>宽屏</PresentationFormat>
  <Paragraphs>387</Paragraphs>
  <Slides>79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79</vt:i4>
      </vt:variant>
    </vt:vector>
  </HeadingPairs>
  <TitlesOfParts>
    <vt:vector size="98" baseType="lpstr">
      <vt:lpstr>Gulim</vt:lpstr>
      <vt:lpstr>Gungsuh</vt:lpstr>
      <vt:lpstr>黑体</vt:lpstr>
      <vt:lpstr>楷体_GB2312</vt:lpstr>
      <vt:lpstr>宋体</vt:lpstr>
      <vt:lpstr>微软雅黑</vt:lpstr>
      <vt:lpstr>Arial</vt:lpstr>
      <vt:lpstr>Arial Black</vt:lpstr>
      <vt:lpstr>Microsoft Sans Serif</vt:lpstr>
      <vt:lpstr>Symbol</vt:lpstr>
      <vt:lpstr>Tahoma</vt:lpstr>
      <vt:lpstr>Times</vt:lpstr>
      <vt:lpstr>Times New Roman</vt:lpstr>
      <vt:lpstr>Wingdings</vt:lpstr>
      <vt:lpstr>默认设计模板</vt:lpstr>
      <vt:lpstr>Image</vt:lpstr>
      <vt:lpstr>MathType 6.0 Equation</vt:lpstr>
      <vt:lpstr>Equation.3</vt:lpstr>
      <vt:lpstr>Equation</vt:lpstr>
      <vt:lpstr>PowerPoint 演示文稿</vt:lpstr>
      <vt:lpstr>Types of Transfer Functions</vt:lpstr>
      <vt:lpstr>Types of Transfer Functions</vt:lpstr>
      <vt:lpstr>7.1 Transfer Function Classification Based on Magnitude Characteristics</vt:lpstr>
      <vt:lpstr>7.1.1 Digital Filters with Ideal Magnitude Responses</vt:lpstr>
      <vt:lpstr>7.1.1 Digital Filters with Ideal Magnitude Responses</vt:lpstr>
      <vt:lpstr>7.1.1 Digital Filters with Ideal Magnitude Responses</vt:lpstr>
      <vt:lpstr>7.1.1 Digital Filters with Ideal Magnitude Responses</vt:lpstr>
      <vt:lpstr>7.1.1 Digital Filters with Ideal Magnitude Responses</vt:lpstr>
      <vt:lpstr>7.1.1 Digital Filters with Ideal Magnitude Responses</vt:lpstr>
      <vt:lpstr>7.1.1 Digital Filters with Ideal Magnitude Responses</vt:lpstr>
      <vt:lpstr>7.1.1 Digital Filters with Ideal Magnitude Responses</vt:lpstr>
      <vt:lpstr>7.1 Transfer Function Classification Based on Magnitude Characteristics</vt:lpstr>
      <vt:lpstr>7.1.2 Bounded Real Transfer Functions</vt:lpstr>
      <vt:lpstr>7.1.2 Bounded Real Transfer Functions</vt:lpstr>
      <vt:lpstr>7.1.2 Bounded Real Transfer Functions</vt:lpstr>
      <vt:lpstr>7.1.2 Bounded Real Transfer Functions</vt:lpstr>
      <vt:lpstr>7.1.2 Bounded Real Transfer Functions</vt:lpstr>
      <vt:lpstr>7.1.2 Bounded Real Transfer Functions</vt:lpstr>
      <vt:lpstr>7.1.2 Bounded Real Transfer Functions</vt:lpstr>
      <vt:lpstr>7.1.2 Bounded Real Transfer Functions</vt:lpstr>
      <vt:lpstr>7.1 Transfer Function Classification Based on Magnitude Characteristics</vt:lpstr>
      <vt:lpstr>7.1.3 Allpass Transfer Function  (difficulty )</vt:lpstr>
      <vt:lpstr>7.1.3 Allpass Transfer Function</vt:lpstr>
      <vt:lpstr>7.1.3 Allpass Transfer Function</vt:lpstr>
      <vt:lpstr>7.1.3 Allpass Transfer Function</vt:lpstr>
      <vt:lpstr>7.1.3 Allpass Transfer Function</vt:lpstr>
      <vt:lpstr>7.1.3 Allpass Transfer Function</vt:lpstr>
      <vt:lpstr>7.1.3 Allpass Transfer Function</vt:lpstr>
      <vt:lpstr>7.1.3 Allpass Transfer Function</vt:lpstr>
      <vt:lpstr>7.1.3 Allpass Transfer Function</vt:lpstr>
      <vt:lpstr>Application of allpass system</vt:lpstr>
      <vt:lpstr>Application of allpass system</vt:lpstr>
      <vt:lpstr>Types of Transfer Functions</vt:lpstr>
      <vt:lpstr>7.2 Transfer Function Classification Based on Phase Characteristic</vt:lpstr>
      <vt:lpstr>PowerPoint 演示文稿</vt:lpstr>
      <vt:lpstr>PowerPoint 演示文稿</vt:lpstr>
      <vt:lpstr>7.2 Transfer Function Classification Based on Phase Characteristic </vt:lpstr>
      <vt:lpstr>7.2.1 Zero-Phase Transfer Function</vt:lpstr>
      <vt:lpstr>7.2.1 Zero-Phase Transfer Function</vt:lpstr>
      <vt:lpstr>7.2.1 Zero-Phase Transfer Function</vt:lpstr>
      <vt:lpstr>7.2.2 Linear-Phase Transfer Function</vt:lpstr>
      <vt:lpstr>7.2.2 Linear-Phase Transfer Function</vt:lpstr>
      <vt:lpstr>7.2.2 Linear-Phase Transfer Function</vt:lpstr>
      <vt:lpstr>7.2.2 Linear-Phase Transfer Function</vt:lpstr>
      <vt:lpstr>7.2.3 Minimum-Phase and Maximum-Phase Transfer Function (difficulty)</vt:lpstr>
      <vt:lpstr>7.2.3 Minimum-Phase and Maximum-Phase Transfer Function difficulty</vt:lpstr>
      <vt:lpstr>7.2.3 Minimum-Phase and Maximum-Phase Transfer Function difficulty</vt:lpstr>
      <vt:lpstr>7.2.3 Minimum-Phase and Maximum-Phase Transfer Function difficulty</vt:lpstr>
      <vt:lpstr>7.2.3 Minimum-Phase and Maximum-Phase Transfer Function difficulty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7.3 Types of Linear-Phase FIR Transfer Functions</vt:lpstr>
      <vt:lpstr>PowerPoint 演示文稿</vt:lpstr>
      <vt:lpstr>PowerPoint 演示文稿</vt:lpstr>
      <vt:lpstr>7.3 Types of Linear-Phase FIR Transfer Functions</vt:lpstr>
      <vt:lpstr>7.3 Types of Linear-Phase FIR Transfer Functions</vt:lpstr>
      <vt:lpstr>7.3 Types of Linear-Phase FIR Transfer Functions</vt:lpstr>
      <vt:lpstr>7.3.1 Zero Locations of Linear-Phase FIR Transfer Functions</vt:lpstr>
      <vt:lpstr>7.3.1 Zero Locations of Linear-Phase FIR Transfer Functions</vt:lpstr>
      <vt:lpstr>7.3.1 Zero Locations of Linear-Phase FIR Transfer Functions</vt:lpstr>
      <vt:lpstr>7.4 Simple Digital Filters </vt:lpstr>
      <vt:lpstr>Homework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Qiang Li</cp:lastModifiedBy>
  <cp:revision>212</cp:revision>
  <cp:lastPrinted>2113-01-01T00:00:00Z</cp:lastPrinted>
  <dcterms:created xsi:type="dcterms:W3CDTF">2016-01-09T14:47:00Z</dcterms:created>
  <dcterms:modified xsi:type="dcterms:W3CDTF">2023-05-11T03:27:29Z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2052-10.1.0.5740</vt:lpwstr>
  </property>
</Properties>
</file>