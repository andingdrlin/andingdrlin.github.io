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77" r:id="rId2"/>
    <p:sldId id="297" r:id="rId3"/>
    <p:sldId id="294" r:id="rId4"/>
    <p:sldId id="296" r:id="rId5"/>
    <p:sldId id="295" r:id="rId6"/>
    <p:sldId id="412" r:id="rId7"/>
    <p:sldId id="413" r:id="rId8"/>
    <p:sldId id="422" r:id="rId9"/>
    <p:sldId id="298" r:id="rId10"/>
    <p:sldId id="278" r:id="rId11"/>
    <p:sldId id="283" r:id="rId12"/>
    <p:sldId id="268" r:id="rId13"/>
    <p:sldId id="300" r:id="rId14"/>
    <p:sldId id="269" r:id="rId15"/>
    <p:sldId id="270" r:id="rId16"/>
    <p:sldId id="282" r:id="rId17"/>
    <p:sldId id="303" r:id="rId18"/>
    <p:sldId id="302" r:id="rId19"/>
    <p:sldId id="307" r:id="rId20"/>
    <p:sldId id="308" r:id="rId21"/>
    <p:sldId id="309" r:id="rId22"/>
    <p:sldId id="305" r:id="rId23"/>
    <p:sldId id="291" r:id="rId24"/>
    <p:sldId id="301" r:id="rId25"/>
    <p:sldId id="261" r:id="rId26"/>
    <p:sldId id="284" r:id="rId27"/>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7" autoAdjust="0"/>
    <p:restoredTop sz="94664"/>
  </p:normalViewPr>
  <p:slideViewPr>
    <p:cSldViewPr snapToGrid="0">
      <p:cViewPr varScale="1">
        <p:scale>
          <a:sx n="70" d="100"/>
          <a:sy n="70" d="100"/>
        </p:scale>
        <p:origin x="1224"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DD4EF88-DCA0-47EE-983F-657094D17A03}"/>
              </a:ext>
            </a:extLst>
          </p:cNvPr>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defRPr sz="1300"/>
            </a:lvl1pPr>
          </a:lstStyle>
          <a:p>
            <a:pPr>
              <a:defRPr/>
            </a:pPr>
            <a:endParaRPr lang="en-US" altLang="en-US"/>
          </a:p>
        </p:txBody>
      </p:sp>
      <p:sp>
        <p:nvSpPr>
          <p:cNvPr id="7171" name="Rectangle 3">
            <a:extLst>
              <a:ext uri="{FF2B5EF4-FFF2-40B4-BE49-F238E27FC236}">
                <a16:creationId xmlns:a16="http://schemas.microsoft.com/office/drawing/2014/main" id="{A9FA7ACF-29CD-4C66-8A86-0C5809EF6753}"/>
              </a:ext>
            </a:extLst>
          </p:cNvPr>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a:lvl1pPr>
          </a:lstStyle>
          <a:p>
            <a:pPr>
              <a:defRPr/>
            </a:pPr>
            <a:endParaRPr lang="en-US" altLang="en-US"/>
          </a:p>
        </p:txBody>
      </p:sp>
      <p:sp>
        <p:nvSpPr>
          <p:cNvPr id="2052" name="Rectangle 4">
            <a:extLst>
              <a:ext uri="{FF2B5EF4-FFF2-40B4-BE49-F238E27FC236}">
                <a16:creationId xmlns:a16="http://schemas.microsoft.com/office/drawing/2014/main" id="{1C33A91F-03BB-F543-8B1C-E60863AF0BED}"/>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a:extLst>
              <a:ext uri="{FF2B5EF4-FFF2-40B4-BE49-F238E27FC236}">
                <a16:creationId xmlns:a16="http://schemas.microsoft.com/office/drawing/2014/main" id="{06CBDAF5-9065-4336-9F55-D2AADB8D3F2D}"/>
              </a:ext>
            </a:extLst>
          </p:cNvPr>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7174" name="Rectangle 6">
            <a:extLst>
              <a:ext uri="{FF2B5EF4-FFF2-40B4-BE49-F238E27FC236}">
                <a16:creationId xmlns:a16="http://schemas.microsoft.com/office/drawing/2014/main" id="{DF1CAA6C-C73B-4438-9347-324CD4832976}"/>
              </a:ext>
            </a:extLst>
          </p:cNvPr>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defRPr sz="1300"/>
            </a:lvl1pPr>
          </a:lstStyle>
          <a:p>
            <a:pPr>
              <a:defRPr/>
            </a:pPr>
            <a:endParaRPr lang="en-US" altLang="en-US"/>
          </a:p>
        </p:txBody>
      </p:sp>
      <p:sp>
        <p:nvSpPr>
          <p:cNvPr id="7175" name="Rectangle 7">
            <a:extLst>
              <a:ext uri="{FF2B5EF4-FFF2-40B4-BE49-F238E27FC236}">
                <a16:creationId xmlns:a16="http://schemas.microsoft.com/office/drawing/2014/main" id="{3C5D3D05-5200-478B-BC3D-8EF0A8174B77}"/>
              </a:ext>
            </a:extLst>
          </p:cNvPr>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a:lvl1pPr>
          </a:lstStyle>
          <a:p>
            <a:fld id="{E80AF669-ACFE-D942-AAF4-46B993C76BA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Switched-mode_power_supply"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80AF669-ACFE-D942-AAF4-46B993C76BA5}" type="slidenum">
              <a:rPr lang="en-US" altLang="en-US" smtClean="0"/>
              <a:pPr/>
              <a:t>1</a:t>
            </a:fld>
            <a:endParaRPr lang="en-US" altLang="en-US"/>
          </a:p>
        </p:txBody>
      </p:sp>
    </p:spTree>
    <p:extLst>
      <p:ext uri="{BB962C8B-B14F-4D97-AF65-F5344CB8AC3E}">
        <p14:creationId xmlns:p14="http://schemas.microsoft.com/office/powerpoint/2010/main" val="3893319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3</a:t>
            </a:fld>
            <a:endParaRPr lang="en-US"/>
          </a:p>
        </p:txBody>
      </p:sp>
    </p:spTree>
    <p:extLst>
      <p:ext uri="{BB962C8B-B14F-4D97-AF65-F5344CB8AC3E}">
        <p14:creationId xmlns:p14="http://schemas.microsoft.com/office/powerpoint/2010/main" val="2426507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4</a:t>
            </a:fld>
            <a:endParaRPr lang="en-US"/>
          </a:p>
        </p:txBody>
      </p:sp>
    </p:spTree>
    <p:extLst>
      <p:ext uri="{BB962C8B-B14F-4D97-AF65-F5344CB8AC3E}">
        <p14:creationId xmlns:p14="http://schemas.microsoft.com/office/powerpoint/2010/main" val="4267547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5</a:t>
            </a:fld>
            <a:endParaRPr lang="en-US"/>
          </a:p>
        </p:txBody>
      </p:sp>
    </p:spTree>
    <p:extLst>
      <p:ext uri="{BB962C8B-B14F-4D97-AF65-F5344CB8AC3E}">
        <p14:creationId xmlns:p14="http://schemas.microsoft.com/office/powerpoint/2010/main" val="2794356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0AF669-ACFE-D942-AAF4-46B993C76BA5}" type="slidenum">
              <a:rPr lang="en-US" altLang="en-US" smtClean="0"/>
              <a:pPr/>
              <a:t>11</a:t>
            </a:fld>
            <a:endParaRPr lang="en-US" altLang="en-US"/>
          </a:p>
        </p:txBody>
      </p:sp>
    </p:spTree>
    <p:extLst>
      <p:ext uri="{BB962C8B-B14F-4D97-AF65-F5344CB8AC3E}">
        <p14:creationId xmlns:p14="http://schemas.microsoft.com/office/powerpoint/2010/main" val="2637931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439605DB-CC40-7C4A-A73E-07998D31E740}"/>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F2BD05D2-7013-1147-84D2-7E1358447F1E}"/>
              </a:ext>
            </a:extLst>
          </p:cNvPr>
          <p:cNvSpPr>
            <a:spLocks noGrp="1" noChangeArrowheads="1"/>
          </p:cNvSpPr>
          <p:nvPr>
            <p:ph type="body" idx="1"/>
          </p:nvPr>
        </p:nvSpPr>
        <p:spPr>
          <a:noFill/>
        </p:spPr>
        <p:txBody>
          <a:bodyPr/>
          <a:lstStyle/>
          <a:p>
            <a:r>
              <a:rPr lang="en-GB" altLang="en-US" u="sng">
                <a:hlinkClick r:id="rId3"/>
              </a:rPr>
              <a:t>Switched-mode power supply(SMPS)</a:t>
            </a:r>
          </a:p>
          <a:p>
            <a:endParaRPr lang="en-GB" altLang="en-US"/>
          </a:p>
        </p:txBody>
      </p:sp>
      <p:sp>
        <p:nvSpPr>
          <p:cNvPr id="23556" name="Slide Number Placeholder 3">
            <a:extLst>
              <a:ext uri="{FF2B5EF4-FFF2-40B4-BE49-F238E27FC236}">
                <a16:creationId xmlns:a16="http://schemas.microsoft.com/office/drawing/2014/main" id="{AB04884C-1F6B-D647-85C1-8F273795A6F8}"/>
              </a:ext>
            </a:extLst>
          </p:cNvPr>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6D56F342-A695-1E44-89FB-1195F8592DD3}" type="slidenum">
              <a:rPr lang="en-US" altLang="en-US"/>
              <a:pPr/>
              <a:t>14</a:t>
            </a:fld>
            <a:endParaRPr lang="en-US" altLang="en-US"/>
          </a:p>
        </p:txBody>
      </p:sp>
    </p:spTree>
    <p:extLst>
      <p:ext uri="{BB962C8B-B14F-4D97-AF65-F5344CB8AC3E}">
        <p14:creationId xmlns:p14="http://schemas.microsoft.com/office/powerpoint/2010/main" val="1825224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Rectangle 4">
            <a:extLst>
              <a:ext uri="{FF2B5EF4-FFF2-40B4-BE49-F238E27FC236}">
                <a16:creationId xmlns:a16="http://schemas.microsoft.com/office/drawing/2014/main" id="{DBD6E3E0-D7B8-944C-94D2-A5E6E1E824B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DDD99C9-6113-7640-9673-B9975065DA48}"/>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5E74B604-004C-AF4C-9D20-0DFDC11F2BDA}"/>
              </a:ext>
            </a:extLst>
          </p:cNvPr>
          <p:cNvSpPr>
            <a:spLocks noGrp="1" noChangeArrowheads="1"/>
          </p:cNvSpPr>
          <p:nvPr>
            <p:ph type="sldNum" sz="quarter" idx="12"/>
          </p:nvPr>
        </p:nvSpPr>
        <p:spPr>
          <a:ln/>
        </p:spPr>
        <p:txBody>
          <a:bodyPr/>
          <a:lstStyle>
            <a:lvl1pPr>
              <a:defRPr/>
            </a:lvl1pPr>
          </a:lstStyle>
          <a:p>
            <a:fld id="{F511E7FC-EB41-FB4D-A4CD-F1C124DEA202}" type="slidenum">
              <a:rPr lang="en-US" altLang="en-US"/>
              <a:pPr/>
              <a:t>‹#›</a:t>
            </a:fld>
            <a:endParaRPr lang="en-US" altLang="en-US"/>
          </a:p>
        </p:txBody>
      </p:sp>
    </p:spTree>
    <p:extLst>
      <p:ext uri="{BB962C8B-B14F-4D97-AF65-F5344CB8AC3E}">
        <p14:creationId xmlns:p14="http://schemas.microsoft.com/office/powerpoint/2010/main" val="1807129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EF598B84-50EA-3D4C-854E-33D12E4F8C5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3D441965-D376-1E42-B196-E3F44008AE1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17DAA1B-873D-AD48-95F4-D7F978A13757}"/>
              </a:ext>
            </a:extLst>
          </p:cNvPr>
          <p:cNvSpPr>
            <a:spLocks noGrp="1" noChangeArrowheads="1"/>
          </p:cNvSpPr>
          <p:nvPr>
            <p:ph type="sldNum" sz="quarter" idx="12"/>
          </p:nvPr>
        </p:nvSpPr>
        <p:spPr>
          <a:ln/>
        </p:spPr>
        <p:txBody>
          <a:bodyPr/>
          <a:lstStyle>
            <a:lvl1pPr>
              <a:defRPr/>
            </a:lvl1pPr>
          </a:lstStyle>
          <a:p>
            <a:fld id="{79749D8C-F057-834D-864A-7E703ADF0625}" type="slidenum">
              <a:rPr lang="en-US" altLang="en-US"/>
              <a:pPr/>
              <a:t>‹#›</a:t>
            </a:fld>
            <a:endParaRPr lang="en-US" altLang="en-US"/>
          </a:p>
        </p:txBody>
      </p:sp>
    </p:spTree>
    <p:extLst>
      <p:ext uri="{BB962C8B-B14F-4D97-AF65-F5344CB8AC3E}">
        <p14:creationId xmlns:p14="http://schemas.microsoft.com/office/powerpoint/2010/main" val="2886312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8D462EEF-AFDE-8F4D-86E6-F1F237799F9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7C83057A-6C79-BB4A-B483-4BFEA9C5619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8DBA807-6037-DC49-A887-39F4FDB84379}"/>
              </a:ext>
            </a:extLst>
          </p:cNvPr>
          <p:cNvSpPr>
            <a:spLocks noGrp="1" noChangeArrowheads="1"/>
          </p:cNvSpPr>
          <p:nvPr>
            <p:ph type="sldNum" sz="quarter" idx="12"/>
          </p:nvPr>
        </p:nvSpPr>
        <p:spPr>
          <a:ln/>
        </p:spPr>
        <p:txBody>
          <a:bodyPr/>
          <a:lstStyle>
            <a:lvl1pPr>
              <a:defRPr/>
            </a:lvl1pPr>
          </a:lstStyle>
          <a:p>
            <a:fld id="{027599AB-52D7-B54C-84DB-422779604166}" type="slidenum">
              <a:rPr lang="en-US" altLang="en-US"/>
              <a:pPr/>
              <a:t>‹#›</a:t>
            </a:fld>
            <a:endParaRPr lang="en-US" altLang="en-US"/>
          </a:p>
        </p:txBody>
      </p:sp>
    </p:spTree>
    <p:extLst>
      <p:ext uri="{BB962C8B-B14F-4D97-AF65-F5344CB8AC3E}">
        <p14:creationId xmlns:p14="http://schemas.microsoft.com/office/powerpoint/2010/main" val="2998312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C14D68F9-5157-E440-8025-98BF9B9FAE7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A07BE678-6F26-1B46-946F-E4F736A6680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9E94C607-9F3C-5B40-8831-3A4F80DFEC1F}"/>
              </a:ext>
            </a:extLst>
          </p:cNvPr>
          <p:cNvSpPr>
            <a:spLocks noGrp="1" noChangeArrowheads="1"/>
          </p:cNvSpPr>
          <p:nvPr>
            <p:ph type="sldNum" sz="quarter" idx="12"/>
          </p:nvPr>
        </p:nvSpPr>
        <p:spPr>
          <a:ln/>
        </p:spPr>
        <p:txBody>
          <a:bodyPr/>
          <a:lstStyle>
            <a:lvl1pPr>
              <a:defRPr/>
            </a:lvl1pPr>
          </a:lstStyle>
          <a:p>
            <a:fld id="{4E14D148-79B4-0342-B65F-B2AC13316991}" type="slidenum">
              <a:rPr lang="en-US" altLang="en-US"/>
              <a:pPr/>
              <a:t>‹#›</a:t>
            </a:fld>
            <a:endParaRPr lang="en-US" altLang="en-US"/>
          </a:p>
        </p:txBody>
      </p:sp>
    </p:spTree>
    <p:extLst>
      <p:ext uri="{BB962C8B-B14F-4D97-AF65-F5344CB8AC3E}">
        <p14:creationId xmlns:p14="http://schemas.microsoft.com/office/powerpoint/2010/main" val="2749700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28BC9CD4-2E7B-2647-9EA3-A0A87319CA4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6F24BEB4-385B-B34D-ADA0-2F2A5A51774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2D4F06D5-192C-E345-BFB2-7DA29983F644}"/>
              </a:ext>
            </a:extLst>
          </p:cNvPr>
          <p:cNvSpPr>
            <a:spLocks noGrp="1" noChangeArrowheads="1"/>
          </p:cNvSpPr>
          <p:nvPr>
            <p:ph type="sldNum" sz="quarter" idx="12"/>
          </p:nvPr>
        </p:nvSpPr>
        <p:spPr>
          <a:ln/>
        </p:spPr>
        <p:txBody>
          <a:bodyPr/>
          <a:lstStyle>
            <a:lvl1pPr>
              <a:defRPr/>
            </a:lvl1pPr>
          </a:lstStyle>
          <a:p>
            <a:fld id="{23ABB8CE-EE1D-0A48-80E9-1CC1CC967E46}" type="slidenum">
              <a:rPr lang="en-US" altLang="en-US"/>
              <a:pPr/>
              <a:t>‹#›</a:t>
            </a:fld>
            <a:endParaRPr lang="en-US" altLang="en-US"/>
          </a:p>
        </p:txBody>
      </p:sp>
    </p:spTree>
    <p:extLst>
      <p:ext uri="{BB962C8B-B14F-4D97-AF65-F5344CB8AC3E}">
        <p14:creationId xmlns:p14="http://schemas.microsoft.com/office/powerpoint/2010/main" val="1347102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7DC8124E-E841-C144-B9BD-93E647F3384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EA141DF6-B637-C142-A4ED-71B3CB42B0E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F4187D2E-FBAD-4E49-A47F-3195DAC2C52D}"/>
              </a:ext>
            </a:extLst>
          </p:cNvPr>
          <p:cNvSpPr>
            <a:spLocks noGrp="1" noChangeArrowheads="1"/>
          </p:cNvSpPr>
          <p:nvPr>
            <p:ph type="sldNum" sz="quarter" idx="12"/>
          </p:nvPr>
        </p:nvSpPr>
        <p:spPr>
          <a:ln/>
        </p:spPr>
        <p:txBody>
          <a:bodyPr/>
          <a:lstStyle>
            <a:lvl1pPr>
              <a:defRPr/>
            </a:lvl1pPr>
          </a:lstStyle>
          <a:p>
            <a:fld id="{47A7EADF-9A73-F840-9FD8-AD145B7BD77B}" type="slidenum">
              <a:rPr lang="en-US" altLang="en-US"/>
              <a:pPr/>
              <a:t>‹#›</a:t>
            </a:fld>
            <a:endParaRPr lang="en-US" altLang="en-US"/>
          </a:p>
        </p:txBody>
      </p:sp>
    </p:spTree>
    <p:extLst>
      <p:ext uri="{BB962C8B-B14F-4D97-AF65-F5344CB8AC3E}">
        <p14:creationId xmlns:p14="http://schemas.microsoft.com/office/powerpoint/2010/main" val="3808499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2FA826F-4101-A84F-B564-57746D77428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A4F8DE66-79A7-0A41-80B9-2A8741B83C8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7E3AEAB5-A2DE-AD41-94F2-A257A3E65C7C}"/>
              </a:ext>
            </a:extLst>
          </p:cNvPr>
          <p:cNvSpPr>
            <a:spLocks noGrp="1" noChangeArrowheads="1"/>
          </p:cNvSpPr>
          <p:nvPr>
            <p:ph type="sldNum" sz="quarter" idx="12"/>
          </p:nvPr>
        </p:nvSpPr>
        <p:spPr>
          <a:ln/>
        </p:spPr>
        <p:txBody>
          <a:bodyPr/>
          <a:lstStyle>
            <a:lvl1pPr>
              <a:defRPr/>
            </a:lvl1pPr>
          </a:lstStyle>
          <a:p>
            <a:fld id="{C398351E-2C11-9849-9B44-6122DA96ABF2}" type="slidenum">
              <a:rPr lang="en-US" altLang="en-US"/>
              <a:pPr/>
              <a:t>‹#›</a:t>
            </a:fld>
            <a:endParaRPr lang="en-US" altLang="en-US"/>
          </a:p>
        </p:txBody>
      </p:sp>
    </p:spTree>
    <p:extLst>
      <p:ext uri="{BB962C8B-B14F-4D97-AF65-F5344CB8AC3E}">
        <p14:creationId xmlns:p14="http://schemas.microsoft.com/office/powerpoint/2010/main" val="3478526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0F7D46DD-9EF8-9440-9FD5-E3FFBBB0D80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546B130F-D081-794E-A8F4-8B18B82CEE8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E0FC1BA8-8838-7B47-90E0-CD597304890B}"/>
              </a:ext>
            </a:extLst>
          </p:cNvPr>
          <p:cNvSpPr>
            <a:spLocks noGrp="1" noChangeArrowheads="1"/>
          </p:cNvSpPr>
          <p:nvPr>
            <p:ph type="sldNum" sz="quarter" idx="12"/>
          </p:nvPr>
        </p:nvSpPr>
        <p:spPr>
          <a:ln/>
        </p:spPr>
        <p:txBody>
          <a:bodyPr/>
          <a:lstStyle>
            <a:lvl1pPr>
              <a:defRPr/>
            </a:lvl1pPr>
          </a:lstStyle>
          <a:p>
            <a:fld id="{B070518D-585F-E244-895C-85B4743D18B6}" type="slidenum">
              <a:rPr lang="en-US" altLang="en-US"/>
              <a:pPr/>
              <a:t>‹#›</a:t>
            </a:fld>
            <a:endParaRPr lang="en-US" altLang="en-US"/>
          </a:p>
        </p:txBody>
      </p:sp>
    </p:spTree>
    <p:extLst>
      <p:ext uri="{BB962C8B-B14F-4D97-AF65-F5344CB8AC3E}">
        <p14:creationId xmlns:p14="http://schemas.microsoft.com/office/powerpoint/2010/main" val="1932387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F9F90A48-83F9-3344-B599-56EB212B247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3A56D0BC-1A57-D04C-9442-87447948C0E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84ADE243-7F98-0A42-9043-623387953812}"/>
              </a:ext>
            </a:extLst>
          </p:cNvPr>
          <p:cNvSpPr>
            <a:spLocks noGrp="1" noChangeArrowheads="1"/>
          </p:cNvSpPr>
          <p:nvPr>
            <p:ph type="sldNum" sz="quarter" idx="12"/>
          </p:nvPr>
        </p:nvSpPr>
        <p:spPr>
          <a:ln/>
        </p:spPr>
        <p:txBody>
          <a:bodyPr/>
          <a:lstStyle>
            <a:lvl1pPr>
              <a:defRPr/>
            </a:lvl1pPr>
          </a:lstStyle>
          <a:p>
            <a:fld id="{6664D042-8449-C943-9772-20B962FA51B9}" type="slidenum">
              <a:rPr lang="en-US" altLang="en-US"/>
              <a:pPr/>
              <a:t>‹#›</a:t>
            </a:fld>
            <a:endParaRPr lang="en-US" altLang="en-US"/>
          </a:p>
        </p:txBody>
      </p:sp>
    </p:spTree>
    <p:extLst>
      <p:ext uri="{BB962C8B-B14F-4D97-AF65-F5344CB8AC3E}">
        <p14:creationId xmlns:p14="http://schemas.microsoft.com/office/powerpoint/2010/main" val="376404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D6A9DF79-1D75-BA4A-9C41-81EE3189538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B45F6276-12D0-7540-B146-8EA46F41E7A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BC5664A-5B16-9643-B8EA-55BCB3FDB48C}"/>
              </a:ext>
            </a:extLst>
          </p:cNvPr>
          <p:cNvSpPr>
            <a:spLocks noGrp="1" noChangeArrowheads="1"/>
          </p:cNvSpPr>
          <p:nvPr>
            <p:ph type="sldNum" sz="quarter" idx="12"/>
          </p:nvPr>
        </p:nvSpPr>
        <p:spPr>
          <a:ln/>
        </p:spPr>
        <p:txBody>
          <a:bodyPr/>
          <a:lstStyle>
            <a:lvl1pPr>
              <a:defRPr/>
            </a:lvl1pPr>
          </a:lstStyle>
          <a:p>
            <a:fld id="{48323970-EE65-A346-9527-DFFA2120C408}" type="slidenum">
              <a:rPr lang="en-US" altLang="en-US"/>
              <a:pPr/>
              <a:t>‹#›</a:t>
            </a:fld>
            <a:endParaRPr lang="en-US" altLang="en-US"/>
          </a:p>
        </p:txBody>
      </p:sp>
    </p:spTree>
    <p:extLst>
      <p:ext uri="{BB962C8B-B14F-4D97-AF65-F5344CB8AC3E}">
        <p14:creationId xmlns:p14="http://schemas.microsoft.com/office/powerpoint/2010/main" val="1778502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71427943-44C4-AA47-9DCD-0D6C3540C43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7A6C65E-A71E-B44F-B932-5DF74E6AF1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3B9B3CA-7BB8-1A4B-AD0C-31AEAB0E61F0}"/>
              </a:ext>
            </a:extLst>
          </p:cNvPr>
          <p:cNvSpPr>
            <a:spLocks noGrp="1" noChangeArrowheads="1"/>
          </p:cNvSpPr>
          <p:nvPr>
            <p:ph type="sldNum" sz="quarter" idx="12"/>
          </p:nvPr>
        </p:nvSpPr>
        <p:spPr>
          <a:ln/>
        </p:spPr>
        <p:txBody>
          <a:bodyPr/>
          <a:lstStyle>
            <a:lvl1pPr>
              <a:defRPr/>
            </a:lvl1pPr>
          </a:lstStyle>
          <a:p>
            <a:fld id="{71F1467E-297B-044C-B256-BEA84360EE66}" type="slidenum">
              <a:rPr lang="en-US" altLang="en-US"/>
              <a:pPr/>
              <a:t>‹#›</a:t>
            </a:fld>
            <a:endParaRPr lang="en-US" altLang="en-US"/>
          </a:p>
        </p:txBody>
      </p:sp>
    </p:spTree>
    <p:extLst>
      <p:ext uri="{BB962C8B-B14F-4D97-AF65-F5344CB8AC3E}">
        <p14:creationId xmlns:p14="http://schemas.microsoft.com/office/powerpoint/2010/main" val="664461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5A0A204-A239-7F4F-AD20-94EEDBF5DA5D}"/>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FDC9ABA-B854-FE4E-805B-AA1AD132E7B1}"/>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83793C1B-92C5-45CE-AF58-ABC09A4DB3FD}"/>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en-US"/>
          </a:p>
        </p:txBody>
      </p:sp>
      <p:sp>
        <p:nvSpPr>
          <p:cNvPr id="1029" name="Rectangle 5">
            <a:extLst>
              <a:ext uri="{FF2B5EF4-FFF2-40B4-BE49-F238E27FC236}">
                <a16:creationId xmlns:a16="http://schemas.microsoft.com/office/drawing/2014/main" id="{36C8F067-46F5-43FE-B939-DD1FDA529DC2}"/>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en-US"/>
          </a:p>
        </p:txBody>
      </p:sp>
      <p:sp>
        <p:nvSpPr>
          <p:cNvPr id="1030" name="Rectangle 6">
            <a:extLst>
              <a:ext uri="{FF2B5EF4-FFF2-40B4-BE49-F238E27FC236}">
                <a16:creationId xmlns:a16="http://schemas.microsoft.com/office/drawing/2014/main" id="{0CF9745D-AB4F-4CF9-8C09-42CF68351C27}"/>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B8EB47C7-DABF-C347-AFE2-48A2F10C257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emf"/><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20.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7.emf"/><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130.png"/><Relationship Id="rId2" Type="http://schemas.openxmlformats.org/officeDocument/2006/relationships/image" Target="../media/image29.emf"/><Relationship Id="rId1" Type="http://schemas.openxmlformats.org/officeDocument/2006/relationships/slideLayout" Target="../slideLayouts/slideLayout7.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https://electrical.codidact.com/uploads/3rFDTsFvTPgrm1EKXbHYxby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https://electrical.codidact.com/uploads/3rFDTsFvTPgrm1EKXbHYxbyG" TargetMode="External"/><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180.png"/><Relationship Id="rId5" Type="http://schemas.openxmlformats.org/officeDocument/2006/relationships/image" Target="../media/image33.png"/><Relationship Id="rId4" Type="http://schemas.openxmlformats.org/officeDocument/2006/relationships/image" Target="../media/image31.emf"/></Relationships>
</file>

<file path=ppt/slides/_rels/slide14.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0.png"/><Relationship Id="rId3" Type="http://schemas.openxmlformats.org/officeDocument/2006/relationships/image" Target="../media/image32.emf"/><Relationship Id="rId7" Type="http://schemas.openxmlformats.org/officeDocument/2006/relationships/image" Target="../media/image210.png"/><Relationship Id="rId12" Type="http://schemas.openxmlformats.org/officeDocument/2006/relationships/image" Target="../media/image26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37.png"/><Relationship Id="rId5" Type="http://schemas.openxmlformats.org/officeDocument/2006/relationships/image" Target="../media/image35.emf"/><Relationship Id="rId10" Type="http://schemas.openxmlformats.org/officeDocument/2006/relationships/image" Target="../media/image240.png"/><Relationship Id="rId4" Type="http://schemas.openxmlformats.org/officeDocument/2006/relationships/image" Target="../media/image34.emf"/><Relationship Id="rId9" Type="http://schemas.openxmlformats.org/officeDocument/2006/relationships/image" Target="../media/image36.png"/><Relationship Id="rId14" Type="http://schemas.openxmlformats.org/officeDocument/2006/relationships/image" Target="../media/image38.png"/></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1.emf"/><Relationship Id="rId5" Type="http://schemas.openxmlformats.org/officeDocument/2006/relationships/oleObject" Target="../embeddings/oleObject2.bin"/><Relationship Id="rId4" Type="http://schemas.openxmlformats.org/officeDocument/2006/relationships/image" Target="../media/image40.emf"/><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390.png"/><Relationship Id="rId4" Type="http://schemas.openxmlformats.org/officeDocument/2006/relationships/image" Target="../media/image380.png"/></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AF1B502C-B4A1-564D-BFAD-ECFD17C92B3A}"/>
              </a:ext>
            </a:extLst>
          </p:cNvPr>
          <p:cNvSpPr>
            <a:spLocks noGrp="1" noChangeArrowheads="1"/>
          </p:cNvSpPr>
          <p:nvPr>
            <p:ph type="ctrTitle"/>
          </p:nvPr>
        </p:nvSpPr>
        <p:spPr>
          <a:xfrm>
            <a:off x="685800" y="1741488"/>
            <a:ext cx="7772400" cy="1111250"/>
          </a:xfrm>
        </p:spPr>
        <p:txBody>
          <a:bodyPr/>
          <a:lstStyle/>
          <a:p>
            <a:pPr eaLnBrk="1" hangingPunct="1"/>
            <a:r>
              <a:rPr lang="en-GB" altLang="en-US" b="1">
                <a:solidFill>
                  <a:srgbClr val="0066FF"/>
                </a:solidFill>
              </a:rPr>
              <a:t>Power Electronics</a:t>
            </a:r>
          </a:p>
        </p:txBody>
      </p:sp>
      <p:sp>
        <p:nvSpPr>
          <p:cNvPr id="3075" name="Subtitle 2">
            <a:extLst>
              <a:ext uri="{FF2B5EF4-FFF2-40B4-BE49-F238E27FC236}">
                <a16:creationId xmlns:a16="http://schemas.microsoft.com/office/drawing/2014/main" id="{D06D2ED2-EC67-7248-AF25-4CA45054E043}"/>
              </a:ext>
            </a:extLst>
          </p:cNvPr>
          <p:cNvSpPr>
            <a:spLocks noGrp="1" noChangeArrowheads="1"/>
          </p:cNvSpPr>
          <p:nvPr>
            <p:ph type="subTitle" idx="1"/>
          </p:nvPr>
        </p:nvSpPr>
        <p:spPr>
          <a:xfrm>
            <a:off x="179388" y="2852739"/>
            <a:ext cx="8713787" cy="1307280"/>
          </a:xfrm>
        </p:spPr>
        <p:txBody>
          <a:bodyPr/>
          <a:lstStyle/>
          <a:p>
            <a:pPr eaLnBrk="1" hangingPunct="1"/>
            <a:r>
              <a:rPr lang="en-GB" altLang="en-US" sz="3600" b="1" dirty="0">
                <a:solidFill>
                  <a:srgbClr val="FF0000"/>
                </a:solidFill>
              </a:rPr>
              <a:t>Flyback Converter and </a:t>
            </a:r>
          </a:p>
          <a:p>
            <a:pPr eaLnBrk="1" hangingPunct="1"/>
            <a:r>
              <a:rPr lang="en-GB" altLang="en-US" sz="3600" b="1" dirty="0">
                <a:solidFill>
                  <a:srgbClr val="FF0000"/>
                </a:solidFill>
              </a:rPr>
              <a:t>Snubber Circuit (</a:t>
            </a:r>
            <a:r>
              <a:rPr lang="zh-CN" altLang="en-US" sz="3600" b="1" dirty="0">
                <a:solidFill>
                  <a:srgbClr val="FF0000"/>
                </a:solidFill>
                <a:ea typeface="宋体" panose="02010600030101010101" pitchFamily="2" charset="-122"/>
              </a:rPr>
              <a:t>缓冲电路</a:t>
            </a:r>
            <a:r>
              <a:rPr lang="en-GB" altLang="zh-CN" sz="3600" b="1" dirty="0">
                <a:solidFill>
                  <a:srgbClr val="FF0000"/>
                </a:solidFill>
                <a:ea typeface="宋体" panose="02010600030101010101" pitchFamily="2" charset="-122"/>
              </a:rPr>
              <a:t>)</a:t>
            </a:r>
            <a:endParaRPr lang="en-GB" altLang="en-US" sz="3600" b="1" dirty="0">
              <a:solidFill>
                <a:srgbClr val="FF0000"/>
              </a:solidFill>
            </a:endParaRPr>
          </a:p>
        </p:txBody>
      </p:sp>
      <p:sp>
        <p:nvSpPr>
          <p:cNvPr id="3076" name="Slide Number Placeholder 3">
            <a:extLst>
              <a:ext uri="{FF2B5EF4-FFF2-40B4-BE49-F238E27FC236}">
                <a16:creationId xmlns:a16="http://schemas.microsoft.com/office/drawing/2014/main" id="{9CD9EE9E-BAFC-C54E-9B39-5D041AB7B1A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CD69D0D-B3EA-3346-8D3D-5EAB83A603FD}" type="slidenum">
              <a:rPr lang="en-US" altLang="en-US" sz="1400"/>
              <a:pPr>
                <a:spcBef>
                  <a:spcPct val="0"/>
                </a:spcBef>
                <a:buFontTx/>
                <a:buNone/>
              </a:pPr>
              <a:t>1</a:t>
            </a:fld>
            <a:endParaRPr lang="en-US" altLang="en-US" sz="1400"/>
          </a:p>
        </p:txBody>
      </p:sp>
      <p:pic>
        <p:nvPicPr>
          <p:cNvPr id="3077" name="Picture 4" descr="http://www.ranklogos.com/wp-content/uploads/2012/06/university-of-glasgow.gif">
            <a:extLst>
              <a:ext uri="{FF2B5EF4-FFF2-40B4-BE49-F238E27FC236}">
                <a16:creationId xmlns:a16="http://schemas.microsoft.com/office/drawing/2014/main" id="{2BD010EB-7DC6-3C48-9AA2-CF362429C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152400"/>
            <a:ext cx="3529012"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8" name="TextBox 2">
            <a:extLst>
              <a:ext uri="{FF2B5EF4-FFF2-40B4-BE49-F238E27FC236}">
                <a16:creationId xmlns:a16="http://schemas.microsoft.com/office/drawing/2014/main" id="{1AC343B6-D271-4148-8991-CB73C14FEC69}"/>
              </a:ext>
            </a:extLst>
          </p:cNvPr>
          <p:cNvSpPr txBox="1">
            <a:spLocks noChangeArrowheads="1"/>
          </p:cNvSpPr>
          <p:nvPr/>
        </p:nvSpPr>
        <p:spPr bwMode="auto">
          <a:xfrm>
            <a:off x="1188243" y="5463652"/>
            <a:ext cx="6767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dirty="0"/>
              <a:t>And </a:t>
            </a:r>
            <a:r>
              <a:rPr lang="en-GB" altLang="en-US" sz="2800" dirty="0">
                <a:solidFill>
                  <a:srgbClr val="0000FF"/>
                </a:solidFill>
              </a:rPr>
              <a:t>Chapter </a:t>
            </a:r>
            <a:r>
              <a:rPr lang="en-US" altLang="zh-CN" sz="2800" dirty="0">
                <a:solidFill>
                  <a:srgbClr val="0000FF"/>
                </a:solidFill>
                <a:ea typeface="宋体" panose="02010600030101010101" pitchFamily="2" charset="-122"/>
              </a:rPr>
              <a:t>27</a:t>
            </a:r>
            <a:r>
              <a:rPr lang="en-GB" altLang="en-US" sz="2800" dirty="0">
                <a:solidFill>
                  <a:srgbClr val="0000FF"/>
                </a:solidFill>
              </a:rPr>
              <a:t> </a:t>
            </a:r>
            <a:r>
              <a:rPr lang="en-US" altLang="zh-CN" sz="2800" dirty="0">
                <a:ea typeface="宋体" panose="02010600030101010101" pitchFamily="2" charset="-122"/>
              </a:rPr>
              <a:t>in</a:t>
            </a:r>
            <a:r>
              <a:rPr lang="en-GB" altLang="en-US" sz="2800" dirty="0"/>
              <a:t> the textbook</a:t>
            </a:r>
          </a:p>
        </p:txBody>
      </p:sp>
      <p:sp>
        <p:nvSpPr>
          <p:cNvPr id="2" name="TextBox 2">
            <a:extLst>
              <a:ext uri="{FF2B5EF4-FFF2-40B4-BE49-F238E27FC236}">
                <a16:creationId xmlns:a16="http://schemas.microsoft.com/office/drawing/2014/main" id="{B378F618-9AC7-BF9B-4418-8FD56B141577}"/>
              </a:ext>
            </a:extLst>
          </p:cNvPr>
          <p:cNvSpPr txBox="1">
            <a:spLocks noChangeArrowheads="1"/>
          </p:cNvSpPr>
          <p:nvPr/>
        </p:nvSpPr>
        <p:spPr bwMode="auto">
          <a:xfrm>
            <a:off x="541867" y="4944016"/>
            <a:ext cx="84158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dirty="0"/>
              <a:t>Please read section </a:t>
            </a:r>
            <a:r>
              <a:rPr lang="en-GB" altLang="en-US" sz="2800" dirty="0">
                <a:solidFill>
                  <a:srgbClr val="0000FF"/>
                </a:solidFill>
              </a:rPr>
              <a:t>10-4-2</a:t>
            </a:r>
            <a:r>
              <a:rPr lang="en-GB" altLang="en-US" sz="2800" dirty="0"/>
              <a:t> of </a:t>
            </a:r>
            <a:r>
              <a:rPr lang="en-GB" altLang="en-US" sz="2800" dirty="0">
                <a:solidFill>
                  <a:srgbClr val="0000FF"/>
                </a:solidFill>
              </a:rPr>
              <a:t>Chapter </a:t>
            </a:r>
            <a:r>
              <a:rPr lang="en-US" altLang="zh-CN" sz="2800" dirty="0">
                <a:solidFill>
                  <a:srgbClr val="0000FF"/>
                </a:solidFill>
                <a:ea typeface="宋体" panose="02010600030101010101" pitchFamily="2" charset="-122"/>
              </a:rPr>
              <a:t>10</a:t>
            </a:r>
            <a:endParaRPr lang="en-GB"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1">
            <a:extLst>
              <a:ext uri="{FF2B5EF4-FFF2-40B4-BE49-F238E27FC236}">
                <a16:creationId xmlns:a16="http://schemas.microsoft.com/office/drawing/2014/main" id="{01DD8114-7839-9847-8F4E-0D89A7672A95}"/>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AAF977-A7C2-964D-ABE7-462D1B9D80F2}" type="slidenum">
              <a:rPr lang="en-US" altLang="en-US" sz="1400">
                <a:latin typeface="+mj-lt"/>
              </a:rPr>
              <a:pPr>
                <a:spcBef>
                  <a:spcPct val="0"/>
                </a:spcBef>
                <a:buFontTx/>
                <a:buNone/>
              </a:pPr>
              <a:t>2</a:t>
            </a:fld>
            <a:endParaRPr lang="en-US" altLang="en-US" sz="1400">
              <a:latin typeface="+mj-lt"/>
            </a:endParaRPr>
          </a:p>
        </p:txBody>
      </p:sp>
      <p:sp>
        <p:nvSpPr>
          <p:cNvPr id="5123" name="Rectangle 2">
            <a:extLst>
              <a:ext uri="{FF2B5EF4-FFF2-40B4-BE49-F238E27FC236}">
                <a16:creationId xmlns:a16="http://schemas.microsoft.com/office/drawing/2014/main" id="{12668EEB-4112-4741-94B5-259C48C7A7BA}"/>
              </a:ext>
            </a:extLst>
          </p:cNvPr>
          <p:cNvSpPr>
            <a:spLocks noChangeArrowheads="1"/>
          </p:cNvSpPr>
          <p:nvPr/>
        </p:nvSpPr>
        <p:spPr bwMode="auto">
          <a:xfrm>
            <a:off x="468780" y="2905125"/>
            <a:ext cx="8388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dirty="0">
                <a:solidFill>
                  <a:srgbClr val="FF0000"/>
                </a:solidFill>
                <a:latin typeface="+mj-lt"/>
              </a:rPr>
              <a:t>Flyback Converter</a:t>
            </a:r>
          </a:p>
        </p:txBody>
      </p:sp>
    </p:spTree>
    <p:extLst>
      <p:ext uri="{BB962C8B-B14F-4D97-AF65-F5344CB8AC3E}">
        <p14:creationId xmlns:p14="http://schemas.microsoft.com/office/powerpoint/2010/main" val="20138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C9BFE4D5-BA85-7141-8AE7-2E2083F80A5D}"/>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8439E86-6448-C343-A13B-E8A14B50ADE2}" type="slidenum">
              <a:rPr lang="en-US" altLang="en-US" sz="1400"/>
              <a:pPr>
                <a:spcBef>
                  <a:spcPct val="0"/>
                </a:spcBef>
                <a:buFontTx/>
                <a:buNone/>
              </a:pPr>
              <a:t>3</a:t>
            </a:fld>
            <a:endParaRPr lang="en-US" altLang="en-US" sz="1400"/>
          </a:p>
        </p:txBody>
      </p:sp>
      <p:grpSp>
        <p:nvGrpSpPr>
          <p:cNvPr id="2" name="Group 1">
            <a:extLst>
              <a:ext uri="{FF2B5EF4-FFF2-40B4-BE49-F238E27FC236}">
                <a16:creationId xmlns:a16="http://schemas.microsoft.com/office/drawing/2014/main" id="{DB46F470-83FE-FB2D-3851-419B8DA8C35C}"/>
              </a:ext>
            </a:extLst>
          </p:cNvPr>
          <p:cNvGrpSpPr/>
          <p:nvPr/>
        </p:nvGrpSpPr>
        <p:grpSpPr>
          <a:xfrm>
            <a:off x="872597" y="1507161"/>
            <a:ext cx="7058025" cy="2303462"/>
            <a:chOff x="322263" y="1052513"/>
            <a:chExt cx="7058025" cy="2303462"/>
          </a:xfrm>
        </p:grpSpPr>
        <p:sp>
          <p:nvSpPr>
            <p:cNvPr id="35843" name="Rectangle 4">
              <a:extLst>
                <a:ext uri="{FF2B5EF4-FFF2-40B4-BE49-F238E27FC236}">
                  <a16:creationId xmlns:a16="http://schemas.microsoft.com/office/drawing/2014/main" id="{ABB5A55B-13C1-3B4A-A9EC-F6FB53B37D5E}"/>
                </a:ext>
              </a:extLst>
            </p:cNvPr>
            <p:cNvSpPr>
              <a:spLocks noChangeArrowheads="1"/>
            </p:cNvSpPr>
            <p:nvPr/>
          </p:nvSpPr>
          <p:spPr bwMode="auto">
            <a:xfrm>
              <a:off x="322263" y="2420938"/>
              <a:ext cx="433387" cy="714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44" name="Rectangle 5">
              <a:extLst>
                <a:ext uri="{FF2B5EF4-FFF2-40B4-BE49-F238E27FC236}">
                  <a16:creationId xmlns:a16="http://schemas.microsoft.com/office/drawing/2014/main" id="{40544449-9EA9-D14E-8208-18DE010F1056}"/>
                </a:ext>
              </a:extLst>
            </p:cNvPr>
            <p:cNvSpPr>
              <a:spLocks noChangeArrowheads="1"/>
            </p:cNvSpPr>
            <p:nvPr/>
          </p:nvSpPr>
          <p:spPr bwMode="auto">
            <a:xfrm>
              <a:off x="395288" y="2563813"/>
              <a:ext cx="287337"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45" name="Line 6">
              <a:extLst>
                <a:ext uri="{FF2B5EF4-FFF2-40B4-BE49-F238E27FC236}">
                  <a16:creationId xmlns:a16="http://schemas.microsoft.com/office/drawing/2014/main" id="{A4F8EA83-8BF5-D84A-9A1E-51A87CF846D7}"/>
                </a:ext>
              </a:extLst>
            </p:cNvPr>
            <p:cNvSpPr>
              <a:spLocks noChangeShapeType="1"/>
            </p:cNvSpPr>
            <p:nvPr/>
          </p:nvSpPr>
          <p:spPr bwMode="auto">
            <a:xfrm flipV="1">
              <a:off x="539750" y="1627188"/>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6" name="Line 7">
              <a:extLst>
                <a:ext uri="{FF2B5EF4-FFF2-40B4-BE49-F238E27FC236}">
                  <a16:creationId xmlns:a16="http://schemas.microsoft.com/office/drawing/2014/main" id="{66882A07-1405-5948-BBA9-73D342F26484}"/>
                </a:ext>
              </a:extLst>
            </p:cNvPr>
            <p:cNvSpPr>
              <a:spLocks noChangeShapeType="1"/>
            </p:cNvSpPr>
            <p:nvPr/>
          </p:nvSpPr>
          <p:spPr bwMode="auto">
            <a:xfrm flipV="1">
              <a:off x="539750" y="2636838"/>
              <a:ext cx="0" cy="646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7" name="Line 8">
              <a:extLst>
                <a:ext uri="{FF2B5EF4-FFF2-40B4-BE49-F238E27FC236}">
                  <a16:creationId xmlns:a16="http://schemas.microsoft.com/office/drawing/2014/main" id="{F10609C6-F3D5-D34D-B05F-5B57D2E8C797}"/>
                </a:ext>
              </a:extLst>
            </p:cNvPr>
            <p:cNvSpPr>
              <a:spLocks noChangeShapeType="1"/>
            </p:cNvSpPr>
            <p:nvPr/>
          </p:nvSpPr>
          <p:spPr bwMode="auto">
            <a:xfrm flipV="1">
              <a:off x="827088" y="227488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8" name="Text Box 9">
              <a:extLst>
                <a:ext uri="{FF2B5EF4-FFF2-40B4-BE49-F238E27FC236}">
                  <a16:creationId xmlns:a16="http://schemas.microsoft.com/office/drawing/2014/main" id="{22BD2272-2D57-DC43-9A46-3D7D592C6743}"/>
                </a:ext>
              </a:extLst>
            </p:cNvPr>
            <p:cNvSpPr txBox="1">
              <a:spLocks noChangeArrowheads="1"/>
            </p:cNvSpPr>
            <p:nvPr/>
          </p:nvSpPr>
          <p:spPr bwMode="auto">
            <a:xfrm>
              <a:off x="755650" y="2274888"/>
              <a:ext cx="48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V</a:t>
              </a:r>
              <a:r>
                <a:rPr lang="en-GB" altLang="en-US" sz="1800" baseline="-25000" dirty="0"/>
                <a:t>IN</a:t>
              </a:r>
              <a:endParaRPr lang="en-US" altLang="en-US" sz="1800" baseline="-25000" dirty="0"/>
            </a:p>
          </p:txBody>
        </p:sp>
        <p:sp>
          <p:nvSpPr>
            <p:cNvPr id="35849" name="Line 10">
              <a:extLst>
                <a:ext uri="{FF2B5EF4-FFF2-40B4-BE49-F238E27FC236}">
                  <a16:creationId xmlns:a16="http://schemas.microsoft.com/office/drawing/2014/main" id="{3272BC99-4419-984F-A93D-2F834EED99FB}"/>
                </a:ext>
              </a:extLst>
            </p:cNvPr>
            <p:cNvSpPr>
              <a:spLocks noChangeShapeType="1"/>
            </p:cNvSpPr>
            <p:nvPr/>
          </p:nvSpPr>
          <p:spPr bwMode="auto">
            <a:xfrm>
              <a:off x="539750" y="1627188"/>
              <a:ext cx="1368425" cy="1587"/>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5850" name="Group 11">
              <a:extLst>
                <a:ext uri="{FF2B5EF4-FFF2-40B4-BE49-F238E27FC236}">
                  <a16:creationId xmlns:a16="http://schemas.microsoft.com/office/drawing/2014/main" id="{E541F23D-A11D-D743-9606-FD9A063E8805}"/>
                </a:ext>
              </a:extLst>
            </p:cNvPr>
            <p:cNvGrpSpPr>
              <a:grpSpLocks/>
            </p:cNvGrpSpPr>
            <p:nvPr/>
          </p:nvGrpSpPr>
          <p:grpSpPr bwMode="auto">
            <a:xfrm>
              <a:off x="3059113" y="1628775"/>
              <a:ext cx="314325" cy="1655763"/>
              <a:chOff x="3211" y="2176"/>
              <a:chExt cx="198" cy="964"/>
            </a:xfrm>
          </p:grpSpPr>
          <p:sp>
            <p:nvSpPr>
              <p:cNvPr id="35889" name="Oval 12">
                <a:extLst>
                  <a:ext uri="{FF2B5EF4-FFF2-40B4-BE49-F238E27FC236}">
                    <a16:creationId xmlns:a16="http://schemas.microsoft.com/office/drawing/2014/main" id="{F372C4F0-62E6-2C45-A642-E3174AE58586}"/>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0" name="Oval 13">
                <a:extLst>
                  <a:ext uri="{FF2B5EF4-FFF2-40B4-BE49-F238E27FC236}">
                    <a16:creationId xmlns:a16="http://schemas.microsoft.com/office/drawing/2014/main" id="{139259AC-5A40-8A4E-A8C5-4A4E94854882}"/>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1" name="Oval 14">
                <a:extLst>
                  <a:ext uri="{FF2B5EF4-FFF2-40B4-BE49-F238E27FC236}">
                    <a16:creationId xmlns:a16="http://schemas.microsoft.com/office/drawing/2014/main" id="{77933FA4-E71D-F045-8CB6-2DC5769E2737}"/>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2" name="Oval 15">
                <a:extLst>
                  <a:ext uri="{FF2B5EF4-FFF2-40B4-BE49-F238E27FC236}">
                    <a16:creationId xmlns:a16="http://schemas.microsoft.com/office/drawing/2014/main" id="{FD74360F-922A-F043-A2DC-935FDDCA70D5}"/>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3" name="Oval 16">
                <a:extLst>
                  <a:ext uri="{FF2B5EF4-FFF2-40B4-BE49-F238E27FC236}">
                    <a16:creationId xmlns:a16="http://schemas.microsoft.com/office/drawing/2014/main" id="{4C13BBB7-03EA-0141-B297-7B4DDA85A65A}"/>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4" name="Oval 17">
                <a:extLst>
                  <a:ext uri="{FF2B5EF4-FFF2-40B4-BE49-F238E27FC236}">
                    <a16:creationId xmlns:a16="http://schemas.microsoft.com/office/drawing/2014/main" id="{9801D6C5-60AB-AB41-96C9-0E0E24FDC672}"/>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5" name="Rectangle 18">
                <a:extLst>
                  <a:ext uri="{FF2B5EF4-FFF2-40B4-BE49-F238E27FC236}">
                    <a16:creationId xmlns:a16="http://schemas.microsoft.com/office/drawing/2014/main" id="{54067FA0-F558-8A4A-987A-6E4405350B97}"/>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6" name="Line 19">
                <a:extLst>
                  <a:ext uri="{FF2B5EF4-FFF2-40B4-BE49-F238E27FC236}">
                    <a16:creationId xmlns:a16="http://schemas.microsoft.com/office/drawing/2014/main" id="{6149C7EA-2E72-3A4B-A2C0-A420CC0ABE8C}"/>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97" name="Line 20">
                <a:extLst>
                  <a:ext uri="{FF2B5EF4-FFF2-40B4-BE49-F238E27FC236}">
                    <a16:creationId xmlns:a16="http://schemas.microsoft.com/office/drawing/2014/main" id="{0DCC3863-7A7D-8C44-8A93-6A96DAB3ABB9}"/>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851" name="Line 21">
              <a:extLst>
                <a:ext uri="{FF2B5EF4-FFF2-40B4-BE49-F238E27FC236}">
                  <a16:creationId xmlns:a16="http://schemas.microsoft.com/office/drawing/2014/main" id="{202AF4B4-8F55-344D-A4E9-868D8E400C08}"/>
                </a:ext>
              </a:extLst>
            </p:cNvPr>
            <p:cNvSpPr>
              <a:spLocks noChangeShapeType="1"/>
            </p:cNvSpPr>
            <p:nvPr/>
          </p:nvSpPr>
          <p:spPr bwMode="auto">
            <a:xfrm flipH="1">
              <a:off x="2268538" y="1627188"/>
              <a:ext cx="2087562" cy="1587"/>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2" name="Line 22">
              <a:extLst>
                <a:ext uri="{FF2B5EF4-FFF2-40B4-BE49-F238E27FC236}">
                  <a16:creationId xmlns:a16="http://schemas.microsoft.com/office/drawing/2014/main" id="{1352D7A7-AF90-C94C-B8CC-88725356B800}"/>
                </a:ext>
              </a:extLst>
            </p:cNvPr>
            <p:cNvSpPr>
              <a:spLocks noChangeShapeType="1"/>
            </p:cNvSpPr>
            <p:nvPr/>
          </p:nvSpPr>
          <p:spPr bwMode="auto">
            <a:xfrm flipV="1">
              <a:off x="1908175" y="1484313"/>
              <a:ext cx="360363" cy="144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5853" name="Group 23">
              <a:extLst>
                <a:ext uri="{FF2B5EF4-FFF2-40B4-BE49-F238E27FC236}">
                  <a16:creationId xmlns:a16="http://schemas.microsoft.com/office/drawing/2014/main" id="{82FD49BA-33C8-654F-8FAF-74A0BA292780}"/>
                </a:ext>
              </a:extLst>
            </p:cNvPr>
            <p:cNvGrpSpPr>
              <a:grpSpLocks/>
            </p:cNvGrpSpPr>
            <p:nvPr/>
          </p:nvGrpSpPr>
          <p:grpSpPr bwMode="auto">
            <a:xfrm rot="10800000">
              <a:off x="4356100" y="1484313"/>
              <a:ext cx="215900" cy="287337"/>
              <a:chOff x="1973" y="2160"/>
              <a:chExt cx="136" cy="181"/>
            </a:xfrm>
          </p:grpSpPr>
          <p:sp>
            <p:nvSpPr>
              <p:cNvPr id="35885" name="Line 24">
                <a:extLst>
                  <a:ext uri="{FF2B5EF4-FFF2-40B4-BE49-F238E27FC236}">
                    <a16:creationId xmlns:a16="http://schemas.microsoft.com/office/drawing/2014/main" id="{824E189B-2B7D-7743-9219-C8669964ADCE}"/>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6" name="Line 25">
                <a:extLst>
                  <a:ext uri="{FF2B5EF4-FFF2-40B4-BE49-F238E27FC236}">
                    <a16:creationId xmlns:a16="http://schemas.microsoft.com/office/drawing/2014/main" id="{D354234B-384E-0141-891F-2909557935EA}"/>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7" name="Line 26">
                <a:extLst>
                  <a:ext uri="{FF2B5EF4-FFF2-40B4-BE49-F238E27FC236}">
                    <a16:creationId xmlns:a16="http://schemas.microsoft.com/office/drawing/2014/main" id="{B0EEE99B-E2A6-7140-9D78-1BC554DF579E}"/>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8" name="Line 27">
                <a:extLst>
                  <a:ext uri="{FF2B5EF4-FFF2-40B4-BE49-F238E27FC236}">
                    <a16:creationId xmlns:a16="http://schemas.microsoft.com/office/drawing/2014/main" id="{AE9B6EDC-38C9-8D4D-B180-0F79652B74A5}"/>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854" name="Rectangle 28">
              <a:extLst>
                <a:ext uri="{FF2B5EF4-FFF2-40B4-BE49-F238E27FC236}">
                  <a16:creationId xmlns:a16="http://schemas.microsoft.com/office/drawing/2014/main" id="{E210F805-B131-3F41-B978-8AAAEC2EC41F}"/>
                </a:ext>
              </a:extLst>
            </p:cNvPr>
            <p:cNvSpPr>
              <a:spLocks noChangeArrowheads="1"/>
            </p:cNvSpPr>
            <p:nvPr/>
          </p:nvSpPr>
          <p:spPr bwMode="auto">
            <a:xfrm>
              <a:off x="5219700" y="2203450"/>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55" name="Rectangle 29">
              <a:extLst>
                <a:ext uri="{FF2B5EF4-FFF2-40B4-BE49-F238E27FC236}">
                  <a16:creationId xmlns:a16="http://schemas.microsoft.com/office/drawing/2014/main" id="{1E1526B8-9EB0-B048-8004-308EC8A8992D}"/>
                </a:ext>
              </a:extLst>
            </p:cNvPr>
            <p:cNvSpPr>
              <a:spLocks noChangeArrowheads="1"/>
            </p:cNvSpPr>
            <p:nvPr/>
          </p:nvSpPr>
          <p:spPr bwMode="auto">
            <a:xfrm>
              <a:off x="5219700" y="2347913"/>
              <a:ext cx="431800" cy="7143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56" name="Line 30">
              <a:extLst>
                <a:ext uri="{FF2B5EF4-FFF2-40B4-BE49-F238E27FC236}">
                  <a16:creationId xmlns:a16="http://schemas.microsoft.com/office/drawing/2014/main" id="{E4CBA966-DBBE-334C-8A6D-FA4E02D79FA4}"/>
                </a:ext>
              </a:extLst>
            </p:cNvPr>
            <p:cNvSpPr>
              <a:spLocks noChangeShapeType="1"/>
            </p:cNvSpPr>
            <p:nvPr/>
          </p:nvSpPr>
          <p:spPr bwMode="auto">
            <a:xfrm flipV="1">
              <a:off x="5435600" y="2419350"/>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7" name="Line 31">
              <a:extLst>
                <a:ext uri="{FF2B5EF4-FFF2-40B4-BE49-F238E27FC236}">
                  <a16:creationId xmlns:a16="http://schemas.microsoft.com/office/drawing/2014/main" id="{E5479605-60A4-0F41-84A4-849F89452EDD}"/>
                </a:ext>
              </a:extLst>
            </p:cNvPr>
            <p:cNvSpPr>
              <a:spLocks noChangeShapeType="1"/>
            </p:cNvSpPr>
            <p:nvPr/>
          </p:nvSpPr>
          <p:spPr bwMode="auto">
            <a:xfrm>
              <a:off x="5435600" y="1627188"/>
              <a:ext cx="0" cy="576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8" name="Line 32">
              <a:extLst>
                <a:ext uri="{FF2B5EF4-FFF2-40B4-BE49-F238E27FC236}">
                  <a16:creationId xmlns:a16="http://schemas.microsoft.com/office/drawing/2014/main" id="{25885AAD-4C38-374E-8AAB-1D870A9EEE56}"/>
                </a:ext>
              </a:extLst>
            </p:cNvPr>
            <p:cNvSpPr>
              <a:spLocks noChangeShapeType="1"/>
            </p:cNvSpPr>
            <p:nvPr/>
          </p:nvSpPr>
          <p:spPr bwMode="auto">
            <a:xfrm>
              <a:off x="4572000" y="1627188"/>
              <a:ext cx="14398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9" name="Oval 33">
              <a:extLst>
                <a:ext uri="{FF2B5EF4-FFF2-40B4-BE49-F238E27FC236}">
                  <a16:creationId xmlns:a16="http://schemas.microsoft.com/office/drawing/2014/main" id="{B66DAA1E-C149-124D-9399-24EB0EA19C0D}"/>
                </a:ext>
              </a:extLst>
            </p:cNvPr>
            <p:cNvSpPr>
              <a:spLocks noChangeArrowheads="1"/>
            </p:cNvSpPr>
            <p:nvPr/>
          </p:nvSpPr>
          <p:spPr bwMode="auto">
            <a:xfrm>
              <a:off x="6011863" y="3213100"/>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60" name="Oval 34">
              <a:extLst>
                <a:ext uri="{FF2B5EF4-FFF2-40B4-BE49-F238E27FC236}">
                  <a16:creationId xmlns:a16="http://schemas.microsoft.com/office/drawing/2014/main" id="{2B2CA482-CB9C-A249-9D04-BD48BAAD37E4}"/>
                </a:ext>
              </a:extLst>
            </p:cNvPr>
            <p:cNvSpPr>
              <a:spLocks noChangeArrowheads="1"/>
            </p:cNvSpPr>
            <p:nvPr/>
          </p:nvSpPr>
          <p:spPr bwMode="auto">
            <a:xfrm>
              <a:off x="6011863" y="1555750"/>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61" name="Line 35">
              <a:extLst>
                <a:ext uri="{FF2B5EF4-FFF2-40B4-BE49-F238E27FC236}">
                  <a16:creationId xmlns:a16="http://schemas.microsoft.com/office/drawing/2014/main" id="{4E49EC93-44A9-7E4A-94DB-863CD7421909}"/>
                </a:ext>
              </a:extLst>
            </p:cNvPr>
            <p:cNvSpPr>
              <a:spLocks noChangeShapeType="1"/>
            </p:cNvSpPr>
            <p:nvPr/>
          </p:nvSpPr>
          <p:spPr bwMode="auto">
            <a:xfrm>
              <a:off x="539750" y="3282950"/>
              <a:ext cx="5472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2" name="Rectangle 38">
              <a:extLst>
                <a:ext uri="{FF2B5EF4-FFF2-40B4-BE49-F238E27FC236}">
                  <a16:creationId xmlns:a16="http://schemas.microsoft.com/office/drawing/2014/main" id="{4FBB2CFE-130D-384D-B341-2FFDAB8B9FF3}"/>
                </a:ext>
              </a:extLst>
            </p:cNvPr>
            <p:cNvSpPr>
              <a:spLocks noChangeArrowheads="1"/>
            </p:cNvSpPr>
            <p:nvPr/>
          </p:nvSpPr>
          <p:spPr bwMode="auto">
            <a:xfrm>
              <a:off x="1619250" y="1989138"/>
              <a:ext cx="914400" cy="3603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35863" name="Line 39">
              <a:extLst>
                <a:ext uri="{FF2B5EF4-FFF2-40B4-BE49-F238E27FC236}">
                  <a16:creationId xmlns:a16="http://schemas.microsoft.com/office/drawing/2014/main" id="{9DCEE052-7BE9-C64D-B928-458EFF28E9B8}"/>
                </a:ext>
              </a:extLst>
            </p:cNvPr>
            <p:cNvSpPr>
              <a:spLocks noChangeShapeType="1"/>
            </p:cNvSpPr>
            <p:nvPr/>
          </p:nvSpPr>
          <p:spPr bwMode="auto">
            <a:xfrm flipV="1">
              <a:off x="2051050" y="1700213"/>
              <a:ext cx="0" cy="2889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4" name="Freeform 40">
              <a:extLst>
                <a:ext uri="{FF2B5EF4-FFF2-40B4-BE49-F238E27FC236}">
                  <a16:creationId xmlns:a16="http://schemas.microsoft.com/office/drawing/2014/main" id="{93B6E212-255C-9C43-B2F0-CBD603F341BE}"/>
                </a:ext>
              </a:extLst>
            </p:cNvPr>
            <p:cNvSpPr>
              <a:spLocks/>
            </p:cNvSpPr>
            <p:nvPr/>
          </p:nvSpPr>
          <p:spPr bwMode="auto">
            <a:xfrm>
              <a:off x="6156325" y="1627188"/>
              <a:ext cx="431800" cy="1655762"/>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5" name="Rectangle 41">
              <a:extLst>
                <a:ext uri="{FF2B5EF4-FFF2-40B4-BE49-F238E27FC236}">
                  <a16:creationId xmlns:a16="http://schemas.microsoft.com/office/drawing/2014/main" id="{81B41FEA-9F25-7048-AC7A-A641F25F7A41}"/>
                </a:ext>
              </a:extLst>
            </p:cNvPr>
            <p:cNvSpPr>
              <a:spLocks noChangeArrowheads="1"/>
            </p:cNvSpPr>
            <p:nvPr/>
          </p:nvSpPr>
          <p:spPr bwMode="auto">
            <a:xfrm>
              <a:off x="6515100" y="1987550"/>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66" name="Text Box 42">
              <a:extLst>
                <a:ext uri="{FF2B5EF4-FFF2-40B4-BE49-F238E27FC236}">
                  <a16:creationId xmlns:a16="http://schemas.microsoft.com/office/drawing/2014/main" id="{93A42D22-BE82-674D-A42D-A6A135C32970}"/>
                </a:ext>
              </a:extLst>
            </p:cNvPr>
            <p:cNvSpPr txBox="1">
              <a:spLocks noChangeArrowheads="1"/>
            </p:cNvSpPr>
            <p:nvPr/>
          </p:nvSpPr>
          <p:spPr bwMode="auto">
            <a:xfrm>
              <a:off x="1619250" y="1052513"/>
              <a:ext cx="857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Switch</a:t>
              </a:r>
              <a:endParaRPr lang="en-US" altLang="en-US" sz="1800"/>
            </a:p>
          </p:txBody>
        </p:sp>
        <p:sp>
          <p:nvSpPr>
            <p:cNvPr id="35867" name="Text Box 43">
              <a:extLst>
                <a:ext uri="{FF2B5EF4-FFF2-40B4-BE49-F238E27FC236}">
                  <a16:creationId xmlns:a16="http://schemas.microsoft.com/office/drawing/2014/main" id="{1CBDA1A1-489B-8B4A-837C-CF3B828F5EBF}"/>
                </a:ext>
              </a:extLst>
            </p:cNvPr>
            <p:cNvSpPr txBox="1">
              <a:spLocks noChangeArrowheads="1"/>
            </p:cNvSpPr>
            <p:nvPr/>
          </p:nvSpPr>
          <p:spPr bwMode="auto">
            <a:xfrm>
              <a:off x="4283075" y="18430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D</a:t>
              </a:r>
              <a:endParaRPr lang="en-US" altLang="en-US" sz="1800"/>
            </a:p>
          </p:txBody>
        </p:sp>
        <p:sp>
          <p:nvSpPr>
            <p:cNvPr id="35868" name="Text Box 44">
              <a:extLst>
                <a:ext uri="{FF2B5EF4-FFF2-40B4-BE49-F238E27FC236}">
                  <a16:creationId xmlns:a16="http://schemas.microsoft.com/office/drawing/2014/main" id="{72141638-5E48-F94A-AB45-B004E71EEEFA}"/>
                </a:ext>
              </a:extLst>
            </p:cNvPr>
            <p:cNvSpPr txBox="1">
              <a:spLocks noChangeArrowheads="1"/>
            </p:cNvSpPr>
            <p:nvPr/>
          </p:nvSpPr>
          <p:spPr bwMode="auto">
            <a:xfrm>
              <a:off x="5075238" y="2419350"/>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sp>
          <p:nvSpPr>
            <p:cNvPr id="35869" name="Text Box 45">
              <a:extLst>
                <a:ext uri="{FF2B5EF4-FFF2-40B4-BE49-F238E27FC236}">
                  <a16:creationId xmlns:a16="http://schemas.microsoft.com/office/drawing/2014/main" id="{4A0F9B4B-D51B-4A41-B03F-F965216F8AC8}"/>
                </a:ext>
              </a:extLst>
            </p:cNvPr>
            <p:cNvSpPr txBox="1">
              <a:spLocks noChangeArrowheads="1"/>
            </p:cNvSpPr>
            <p:nvPr/>
          </p:nvSpPr>
          <p:spPr bwMode="auto">
            <a:xfrm>
              <a:off x="6083300" y="2203450"/>
              <a:ext cx="4333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a:t>
              </a:r>
              <a:r>
                <a:rPr lang="en-GB" altLang="en-US" sz="1800" baseline="-25000"/>
                <a:t>L</a:t>
              </a:r>
              <a:endParaRPr lang="en-US" altLang="en-US" sz="1800" baseline="-25000"/>
            </a:p>
          </p:txBody>
        </p:sp>
        <p:sp>
          <p:nvSpPr>
            <p:cNvPr id="35870" name="Text Box 46">
              <a:extLst>
                <a:ext uri="{FF2B5EF4-FFF2-40B4-BE49-F238E27FC236}">
                  <a16:creationId xmlns:a16="http://schemas.microsoft.com/office/drawing/2014/main" id="{A4E83F60-C000-0645-A753-435264C925C4}"/>
                </a:ext>
              </a:extLst>
            </p:cNvPr>
            <p:cNvSpPr txBox="1">
              <a:spLocks noChangeArrowheads="1"/>
            </p:cNvSpPr>
            <p:nvPr/>
          </p:nvSpPr>
          <p:spPr bwMode="auto">
            <a:xfrm>
              <a:off x="6797675" y="2274888"/>
              <a:ext cx="5826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Out</a:t>
              </a:r>
              <a:endParaRPr lang="en-US" altLang="en-US" sz="1800" baseline="-25000"/>
            </a:p>
          </p:txBody>
        </p:sp>
        <p:sp>
          <p:nvSpPr>
            <p:cNvPr id="35871" name="Line 47">
              <a:extLst>
                <a:ext uri="{FF2B5EF4-FFF2-40B4-BE49-F238E27FC236}">
                  <a16:creationId xmlns:a16="http://schemas.microsoft.com/office/drawing/2014/main" id="{B77ADE72-BA53-CA46-89B7-3414E07C1914}"/>
                </a:ext>
              </a:extLst>
            </p:cNvPr>
            <p:cNvSpPr>
              <a:spLocks noChangeShapeType="1"/>
            </p:cNvSpPr>
            <p:nvPr/>
          </p:nvSpPr>
          <p:spPr bwMode="auto">
            <a:xfrm>
              <a:off x="6791324" y="1627187"/>
              <a:ext cx="23813" cy="165576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872" name="Text Box 48">
            <a:extLst>
              <a:ext uri="{FF2B5EF4-FFF2-40B4-BE49-F238E27FC236}">
                <a16:creationId xmlns:a16="http://schemas.microsoft.com/office/drawing/2014/main" id="{078A092D-6A42-0748-8094-1383D7617532}"/>
              </a:ext>
            </a:extLst>
          </p:cNvPr>
          <p:cNvSpPr txBox="1">
            <a:spLocks noChangeArrowheads="1"/>
          </p:cNvSpPr>
          <p:nvPr/>
        </p:nvSpPr>
        <p:spPr bwMode="auto">
          <a:xfrm>
            <a:off x="179388" y="115888"/>
            <a:ext cx="46265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The buck-boost converter (V</a:t>
            </a:r>
            <a:r>
              <a:rPr lang="en-GB" altLang="en-US" sz="1800" b="1" u="sng" baseline="-25000" dirty="0"/>
              <a:t>OUT</a:t>
            </a:r>
            <a:r>
              <a:rPr lang="en-GB" altLang="en-US" sz="1800" b="1" u="sng" dirty="0"/>
              <a:t> &lt;&gt; V</a:t>
            </a:r>
            <a:r>
              <a:rPr lang="en-GB" altLang="en-US" sz="1800" b="1" u="sng" baseline="-25000" dirty="0"/>
              <a:t>IN</a:t>
            </a:r>
            <a:r>
              <a:rPr lang="en-GB" altLang="en-US" sz="1800" b="1" u="sng" dirty="0"/>
              <a:t>).</a:t>
            </a:r>
            <a:endParaRPr lang="en-US" altLang="en-US" sz="1800" b="1" u="sng" dirty="0"/>
          </a:p>
        </p:txBody>
      </p:sp>
      <p:sp>
        <p:nvSpPr>
          <p:cNvPr id="35874" name="Text Box 50">
            <a:extLst>
              <a:ext uri="{FF2B5EF4-FFF2-40B4-BE49-F238E27FC236}">
                <a16:creationId xmlns:a16="http://schemas.microsoft.com/office/drawing/2014/main" id="{F66B82B1-8CA2-F346-8AF7-937FCD753308}"/>
              </a:ext>
            </a:extLst>
          </p:cNvPr>
          <p:cNvSpPr txBox="1">
            <a:spLocks noChangeArrowheads="1"/>
          </p:cNvSpPr>
          <p:nvPr/>
        </p:nvSpPr>
        <p:spPr bwMode="auto">
          <a:xfrm>
            <a:off x="256646" y="662911"/>
            <a:ext cx="878522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In the last lecture we saw that the Buck-Boost converter is able to produce output voltages that are higher or lower than the input voltage depending upon the duty cycle.</a:t>
            </a:r>
            <a:endParaRPr lang="en-US" altLang="en-US" sz="1800" dirty="0"/>
          </a:p>
        </p:txBody>
      </p:sp>
      <p:grpSp>
        <p:nvGrpSpPr>
          <p:cNvPr id="4" name="Group 3">
            <a:extLst>
              <a:ext uri="{FF2B5EF4-FFF2-40B4-BE49-F238E27FC236}">
                <a16:creationId xmlns:a16="http://schemas.microsoft.com/office/drawing/2014/main" id="{020C3399-0A95-1D68-6B9F-324556E1DCD1}"/>
              </a:ext>
            </a:extLst>
          </p:cNvPr>
          <p:cNvGrpSpPr/>
          <p:nvPr/>
        </p:nvGrpSpPr>
        <p:grpSpPr>
          <a:xfrm>
            <a:off x="2169584" y="4055439"/>
            <a:ext cx="4248150" cy="1295400"/>
            <a:chOff x="2124075" y="5360459"/>
            <a:chExt cx="4248150" cy="1295400"/>
          </a:xfrm>
        </p:grpSpPr>
        <p:sp>
          <p:nvSpPr>
            <p:cNvPr id="35875" name="Rectangle 51">
              <a:extLst>
                <a:ext uri="{FF2B5EF4-FFF2-40B4-BE49-F238E27FC236}">
                  <a16:creationId xmlns:a16="http://schemas.microsoft.com/office/drawing/2014/main" id="{AE9CB555-ED13-E543-82E9-06647F9EEA86}"/>
                </a:ext>
              </a:extLst>
            </p:cNvPr>
            <p:cNvSpPr>
              <a:spLocks noChangeArrowheads="1"/>
            </p:cNvSpPr>
            <p:nvPr/>
          </p:nvSpPr>
          <p:spPr bwMode="auto">
            <a:xfrm>
              <a:off x="2987675" y="5504922"/>
              <a:ext cx="2520950" cy="11509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Buck-boost</a:t>
              </a:r>
              <a:endParaRPr lang="en-US" altLang="en-US" sz="1800"/>
            </a:p>
          </p:txBody>
        </p:sp>
        <p:sp>
          <p:nvSpPr>
            <p:cNvPr id="35876" name="Line 52">
              <a:extLst>
                <a:ext uri="{FF2B5EF4-FFF2-40B4-BE49-F238E27FC236}">
                  <a16:creationId xmlns:a16="http://schemas.microsoft.com/office/drawing/2014/main" id="{4B76D343-797D-7541-B106-3DA3FF5E334E}"/>
                </a:ext>
              </a:extLst>
            </p:cNvPr>
            <p:cNvSpPr>
              <a:spLocks noChangeShapeType="1"/>
            </p:cNvSpPr>
            <p:nvPr/>
          </p:nvSpPr>
          <p:spPr bwMode="auto">
            <a:xfrm flipV="1">
              <a:off x="2987675" y="5504922"/>
              <a:ext cx="2520950" cy="115093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77" name="Line 53">
              <a:extLst>
                <a:ext uri="{FF2B5EF4-FFF2-40B4-BE49-F238E27FC236}">
                  <a16:creationId xmlns:a16="http://schemas.microsoft.com/office/drawing/2014/main" id="{6085703A-7009-5E4E-81C8-1C65E2FACE0A}"/>
                </a:ext>
              </a:extLst>
            </p:cNvPr>
            <p:cNvSpPr>
              <a:spLocks noChangeShapeType="1"/>
            </p:cNvSpPr>
            <p:nvPr/>
          </p:nvSpPr>
          <p:spPr bwMode="auto">
            <a:xfrm>
              <a:off x="2124075" y="572082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78" name="Line 54">
              <a:extLst>
                <a:ext uri="{FF2B5EF4-FFF2-40B4-BE49-F238E27FC236}">
                  <a16:creationId xmlns:a16="http://schemas.microsoft.com/office/drawing/2014/main" id="{38FB4478-608F-114D-AD37-A2022C01849D}"/>
                </a:ext>
              </a:extLst>
            </p:cNvPr>
            <p:cNvSpPr>
              <a:spLocks noChangeShapeType="1"/>
            </p:cNvSpPr>
            <p:nvPr/>
          </p:nvSpPr>
          <p:spPr bwMode="auto">
            <a:xfrm>
              <a:off x="2124075" y="6439959"/>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79" name="Line 55">
              <a:extLst>
                <a:ext uri="{FF2B5EF4-FFF2-40B4-BE49-F238E27FC236}">
                  <a16:creationId xmlns:a16="http://schemas.microsoft.com/office/drawing/2014/main" id="{85FAE720-3B4D-2C40-9260-D4304E9E9131}"/>
                </a:ext>
              </a:extLst>
            </p:cNvPr>
            <p:cNvSpPr>
              <a:spLocks noChangeShapeType="1"/>
            </p:cNvSpPr>
            <p:nvPr/>
          </p:nvSpPr>
          <p:spPr bwMode="auto">
            <a:xfrm>
              <a:off x="5508625" y="5720822"/>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0" name="Line 56">
              <a:extLst>
                <a:ext uri="{FF2B5EF4-FFF2-40B4-BE49-F238E27FC236}">
                  <a16:creationId xmlns:a16="http://schemas.microsoft.com/office/drawing/2014/main" id="{2D37E06A-81D3-3542-A154-D7177B035651}"/>
                </a:ext>
              </a:extLst>
            </p:cNvPr>
            <p:cNvSpPr>
              <a:spLocks noChangeShapeType="1"/>
            </p:cNvSpPr>
            <p:nvPr/>
          </p:nvSpPr>
          <p:spPr bwMode="auto">
            <a:xfrm>
              <a:off x="5508625" y="6439959"/>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1" name="Text Box 57">
              <a:extLst>
                <a:ext uri="{FF2B5EF4-FFF2-40B4-BE49-F238E27FC236}">
                  <a16:creationId xmlns:a16="http://schemas.microsoft.com/office/drawing/2014/main" id="{164E44A0-E2E9-AB41-B41D-8374F39A0258}"/>
                </a:ext>
              </a:extLst>
            </p:cNvPr>
            <p:cNvSpPr txBox="1">
              <a:spLocks noChangeArrowheads="1"/>
            </p:cNvSpPr>
            <p:nvPr/>
          </p:nvSpPr>
          <p:spPr bwMode="auto">
            <a:xfrm>
              <a:off x="2124075" y="5360459"/>
              <a:ext cx="48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35882" name="Text Box 58">
              <a:extLst>
                <a:ext uri="{FF2B5EF4-FFF2-40B4-BE49-F238E27FC236}">
                  <a16:creationId xmlns:a16="http://schemas.microsoft.com/office/drawing/2014/main" id="{485EE9BB-E0B1-434E-92F3-4BC22A3DAC3E}"/>
                </a:ext>
              </a:extLst>
            </p:cNvPr>
            <p:cNvSpPr txBox="1">
              <a:spLocks noChangeArrowheads="1"/>
            </p:cNvSpPr>
            <p:nvPr/>
          </p:nvSpPr>
          <p:spPr bwMode="auto">
            <a:xfrm>
              <a:off x="5548313" y="6134568"/>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0V</a:t>
              </a:r>
              <a:endParaRPr lang="en-US" altLang="en-US" sz="1800" dirty="0"/>
            </a:p>
          </p:txBody>
        </p:sp>
        <p:sp>
          <p:nvSpPr>
            <p:cNvPr id="35883" name="Text Box 59">
              <a:extLst>
                <a:ext uri="{FF2B5EF4-FFF2-40B4-BE49-F238E27FC236}">
                  <a16:creationId xmlns:a16="http://schemas.microsoft.com/office/drawing/2014/main" id="{461096C2-F568-374B-B1A9-5BFF816B7ABC}"/>
                </a:ext>
              </a:extLst>
            </p:cNvPr>
            <p:cNvSpPr txBox="1">
              <a:spLocks noChangeArrowheads="1"/>
            </p:cNvSpPr>
            <p:nvPr/>
          </p:nvSpPr>
          <p:spPr bwMode="auto">
            <a:xfrm>
              <a:off x="2124075" y="6081184"/>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0V</a:t>
              </a:r>
              <a:endParaRPr lang="en-US" altLang="en-US" sz="1800"/>
            </a:p>
          </p:txBody>
        </p:sp>
        <p:sp>
          <p:nvSpPr>
            <p:cNvPr id="35884" name="Text Box 60">
              <a:extLst>
                <a:ext uri="{FF2B5EF4-FFF2-40B4-BE49-F238E27FC236}">
                  <a16:creationId xmlns:a16="http://schemas.microsoft.com/office/drawing/2014/main" id="{28C0CCAE-D326-E242-BD50-598F261CECA2}"/>
                </a:ext>
              </a:extLst>
            </p:cNvPr>
            <p:cNvSpPr txBox="1">
              <a:spLocks noChangeArrowheads="1"/>
            </p:cNvSpPr>
            <p:nvPr/>
          </p:nvSpPr>
          <p:spPr bwMode="auto">
            <a:xfrm>
              <a:off x="5551293" y="5371054"/>
              <a:ext cx="6639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V</a:t>
              </a:r>
              <a:r>
                <a:rPr lang="en-GB" altLang="en-US" sz="1800" baseline="-25000" dirty="0"/>
                <a:t>OUT</a:t>
              </a:r>
              <a:endParaRPr lang="en-US" altLang="en-US" sz="1800" baseline="-25000" dirty="0"/>
            </a:p>
          </p:txBody>
        </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9C40EC7-097F-1233-5D72-D0C7F6A228D5}"/>
                  </a:ext>
                </a:extLst>
              </p:cNvPr>
              <p:cNvSpPr txBox="1"/>
              <p:nvPr/>
            </p:nvSpPr>
            <p:spPr>
              <a:xfrm>
                <a:off x="1774296" y="1333285"/>
                <a:ext cx="4782708" cy="6577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GB" b="0" i="1" smtClean="0">
                              <a:latin typeface="Cambria Math" panose="02040503050406030204" pitchFamily="18" charset="0"/>
                            </a:rPr>
                            <m:t>𝑂𝑈𝑇</m:t>
                          </m:r>
                        </m:sub>
                      </m:sSub>
                      <m:r>
                        <a:rPr lang="en-US" i="0">
                          <a:latin typeface="Cambria Math" panose="02040503050406030204" pitchFamily="18" charset="0"/>
                        </a:rPr>
                        <m:t> =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GB" b="0" i="1" smtClean="0">
                              <a:latin typeface="Cambria Math" panose="02040503050406030204" pitchFamily="18" charset="0"/>
                            </a:rPr>
                            <m:t>𝐼𝑁</m:t>
                          </m:r>
                        </m:sub>
                      </m:sSub>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 </m:t>
                          </m:r>
                          <m:r>
                            <a:rPr lang="en-GB" b="0" i="1" smtClean="0">
                              <a:latin typeface="Cambria Math" panose="02040503050406030204" pitchFamily="18" charset="0"/>
                            </a:rPr>
                            <m:t>𝐷</m:t>
                          </m:r>
                        </m:num>
                        <m:den>
                          <m:d>
                            <m:dPr>
                              <m:ctrlPr>
                                <a:rPr lang="en-US" i="1">
                                  <a:latin typeface="Cambria Math" panose="02040503050406030204" pitchFamily="18" charset="0"/>
                                </a:rPr>
                              </m:ctrlPr>
                            </m:dPr>
                            <m:e>
                              <m:r>
                                <a:rPr lang="en-US" i="0">
                                  <a:latin typeface="Cambria Math" panose="02040503050406030204" pitchFamily="18" charset="0"/>
                                </a:rPr>
                                <m:t>1−</m:t>
                              </m:r>
                              <m:r>
                                <a:rPr lang="en-GB" b="0" i="1" smtClean="0">
                                  <a:latin typeface="Cambria Math" panose="02040503050406030204" pitchFamily="18" charset="0"/>
                                </a:rPr>
                                <m:t>𝐷</m:t>
                              </m:r>
                            </m:e>
                          </m:d>
                        </m:den>
                      </m:f>
                      <m:r>
                        <a:rPr lang="en-US" i="0">
                          <a:latin typeface="Cambria Math" panose="02040503050406030204" pitchFamily="18" charset="0"/>
                        </a:rPr>
                        <m:t> </m:t>
                      </m:r>
                    </m:oMath>
                  </m:oMathPara>
                </a14:m>
                <a:endParaRPr lang="en-US" dirty="0"/>
              </a:p>
            </p:txBody>
          </p:sp>
        </mc:Choice>
        <mc:Fallback xmlns="">
          <p:sp>
            <p:nvSpPr>
              <p:cNvPr id="3" name="TextBox 2">
                <a:extLst>
                  <a:ext uri="{FF2B5EF4-FFF2-40B4-BE49-F238E27FC236}">
                    <a16:creationId xmlns:a16="http://schemas.microsoft.com/office/drawing/2014/main" id="{29C40EC7-097F-1233-5D72-D0C7F6A228D5}"/>
                  </a:ext>
                </a:extLst>
              </p:cNvPr>
              <p:cNvSpPr txBox="1">
                <a:spLocks noRot="1" noChangeAspect="1" noMove="1" noResize="1" noEditPoints="1" noAdjustHandles="1" noChangeArrowheads="1" noChangeShapeType="1" noTextEdit="1"/>
              </p:cNvSpPr>
              <p:nvPr/>
            </p:nvSpPr>
            <p:spPr>
              <a:xfrm>
                <a:off x="1774296" y="1333285"/>
                <a:ext cx="4782708" cy="657744"/>
              </a:xfrm>
              <a:prstGeom prst="rect">
                <a:avLst/>
              </a:prstGeom>
              <a:blipFill>
                <a:blip r:embed="rId3"/>
                <a:stretch>
                  <a:fillRect/>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6E495613-6AA9-ED04-1E64-50D069091265}"/>
              </a:ext>
            </a:extLst>
          </p:cNvPr>
          <p:cNvSpPr txBox="1"/>
          <p:nvPr/>
        </p:nvSpPr>
        <p:spPr>
          <a:xfrm>
            <a:off x="551394" y="5625287"/>
            <a:ext cx="7484529" cy="923330"/>
          </a:xfrm>
          <a:prstGeom prst="rect">
            <a:avLst/>
          </a:prstGeom>
          <a:noFill/>
        </p:spPr>
        <p:txBody>
          <a:bodyPr wrap="square" rtlCol="0">
            <a:spAutoFit/>
          </a:bodyPr>
          <a:lstStyle/>
          <a:p>
            <a:r>
              <a:rPr lang="en-US" dirty="0">
                <a:solidFill>
                  <a:srgbClr val="FF0000"/>
                </a:solidFill>
              </a:rPr>
              <a:t>In the circuit above, the input and output are not electrically isolated. The question is, can we provide electrical isolation between input and output?</a:t>
            </a:r>
          </a:p>
        </p:txBody>
      </p:sp>
      <p:sp>
        <p:nvSpPr>
          <p:cNvPr id="6" name="TextBox 5">
            <a:extLst>
              <a:ext uri="{FF2B5EF4-FFF2-40B4-BE49-F238E27FC236}">
                <a16:creationId xmlns:a16="http://schemas.microsoft.com/office/drawing/2014/main" id="{9ECEF806-4C81-8F9B-D787-40B7E39A55EC}"/>
              </a:ext>
            </a:extLst>
          </p:cNvPr>
          <p:cNvSpPr txBox="1"/>
          <p:nvPr/>
        </p:nvSpPr>
        <p:spPr>
          <a:xfrm rot="19949712">
            <a:off x="-346307" y="2959572"/>
            <a:ext cx="9802591" cy="461665"/>
          </a:xfrm>
          <a:prstGeom prst="rect">
            <a:avLst/>
          </a:prstGeom>
          <a:noFill/>
        </p:spPr>
        <p:txBody>
          <a:bodyPr wrap="square" rtlCol="0">
            <a:spAutoFit/>
          </a:bodyPr>
          <a:lstStyle/>
          <a:p>
            <a:r>
              <a:rPr lang="en-US" sz="2400" b="1" dirty="0">
                <a:solidFill>
                  <a:srgbClr val="FF0000"/>
                </a:solidFill>
              </a:rPr>
              <a:t>Yes, it is possible through use of transformer in flyback converter.</a:t>
            </a:r>
          </a:p>
        </p:txBody>
      </p:sp>
    </p:spTree>
    <p:extLst>
      <p:ext uri="{BB962C8B-B14F-4D97-AF65-F5344CB8AC3E}">
        <p14:creationId xmlns:p14="http://schemas.microsoft.com/office/powerpoint/2010/main" val="436122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D14B60-70FA-3481-B3C5-A89FC3CE088E}"/>
              </a:ext>
            </a:extLst>
          </p:cNvPr>
          <p:cNvPicPr>
            <a:picLocks noChangeAspect="1"/>
          </p:cNvPicPr>
          <p:nvPr/>
        </p:nvPicPr>
        <p:blipFill>
          <a:blip r:embed="rId3"/>
          <a:stretch>
            <a:fillRect/>
          </a:stretch>
        </p:blipFill>
        <p:spPr>
          <a:xfrm>
            <a:off x="392167" y="2856306"/>
            <a:ext cx="5888161" cy="2918918"/>
          </a:xfrm>
          <a:prstGeom prst="rect">
            <a:avLst/>
          </a:prstGeom>
        </p:spPr>
      </p:pic>
      <p:sp>
        <p:nvSpPr>
          <p:cNvPr id="35842" name="Slide Number Placeholder 3">
            <a:extLst>
              <a:ext uri="{FF2B5EF4-FFF2-40B4-BE49-F238E27FC236}">
                <a16:creationId xmlns:a16="http://schemas.microsoft.com/office/drawing/2014/main" id="{C9BFE4D5-BA85-7141-8AE7-2E2083F80A5D}"/>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8439E86-6448-C343-A13B-E8A14B50ADE2}" type="slidenum">
              <a:rPr lang="en-US" altLang="en-US" sz="1400"/>
              <a:pPr>
                <a:spcBef>
                  <a:spcPct val="0"/>
                </a:spcBef>
                <a:buFontTx/>
                <a:buNone/>
              </a:pPr>
              <a:t>4</a:t>
            </a:fld>
            <a:endParaRPr lang="en-US" altLang="en-US" sz="1400"/>
          </a:p>
        </p:txBody>
      </p:sp>
      <p:sp>
        <p:nvSpPr>
          <p:cNvPr id="35872" name="Text Box 48">
            <a:extLst>
              <a:ext uri="{FF2B5EF4-FFF2-40B4-BE49-F238E27FC236}">
                <a16:creationId xmlns:a16="http://schemas.microsoft.com/office/drawing/2014/main" id="{078A092D-6A42-0748-8094-1383D7617532}"/>
              </a:ext>
            </a:extLst>
          </p:cNvPr>
          <p:cNvSpPr txBox="1">
            <a:spLocks noChangeArrowheads="1"/>
          </p:cNvSpPr>
          <p:nvPr/>
        </p:nvSpPr>
        <p:spPr bwMode="auto">
          <a:xfrm>
            <a:off x="179388" y="115888"/>
            <a:ext cx="41392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The Flyback Converter (V</a:t>
            </a:r>
            <a:r>
              <a:rPr lang="en-GB" altLang="en-US" sz="1800" b="1" u="sng" baseline="-25000" dirty="0"/>
              <a:t>OUT</a:t>
            </a:r>
            <a:r>
              <a:rPr lang="en-GB" altLang="en-US" sz="1800" b="1" u="sng" dirty="0"/>
              <a:t> &lt;&gt; V</a:t>
            </a:r>
            <a:r>
              <a:rPr lang="en-GB" altLang="en-US" sz="1800" b="1" u="sng" baseline="-25000" dirty="0"/>
              <a:t>IN</a:t>
            </a:r>
            <a:r>
              <a:rPr lang="en-GB" altLang="en-US" sz="1800" b="1" u="sng" dirty="0"/>
              <a:t>).</a:t>
            </a:r>
            <a:endParaRPr lang="en-US" altLang="en-US" sz="1800" b="1" u="sng" dirty="0"/>
          </a:p>
        </p:txBody>
      </p:sp>
      <p:sp>
        <p:nvSpPr>
          <p:cNvPr id="35874" name="Text Box 50">
            <a:extLst>
              <a:ext uri="{FF2B5EF4-FFF2-40B4-BE49-F238E27FC236}">
                <a16:creationId xmlns:a16="http://schemas.microsoft.com/office/drawing/2014/main" id="{F66B82B1-8CA2-F346-8AF7-937FCD753308}"/>
              </a:ext>
            </a:extLst>
          </p:cNvPr>
          <p:cNvSpPr txBox="1">
            <a:spLocks noChangeArrowheads="1"/>
          </p:cNvSpPr>
          <p:nvPr/>
        </p:nvSpPr>
        <p:spPr bwMode="auto">
          <a:xfrm>
            <a:off x="273579" y="514096"/>
            <a:ext cx="87852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None/>
            </a:pPr>
            <a:r>
              <a:rPr lang="en-US" sz="1800" dirty="0">
                <a:effectLst/>
                <a:highlight>
                  <a:srgbClr val="FFFFFF"/>
                </a:highlight>
                <a:latin typeface="TimesNewRomanPSMT"/>
              </a:rPr>
              <a:t>Flyback converters are derived from the buck-boost converters. </a:t>
            </a:r>
            <a:endParaRPr lang="en-US" sz="1100" dirty="0">
              <a:effectLst/>
              <a:highlight>
                <a:srgbClr val="FFFFFF"/>
              </a:highligh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9C40EC7-097F-1233-5D72-D0C7F6A228D5}"/>
                  </a:ext>
                </a:extLst>
              </p:cNvPr>
              <p:cNvSpPr txBox="1"/>
              <p:nvPr/>
            </p:nvSpPr>
            <p:spPr>
              <a:xfrm>
                <a:off x="5361038" y="1899957"/>
                <a:ext cx="3450746" cy="6577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GB" b="0" i="1" smtClean="0">
                              <a:latin typeface="Cambria Math" panose="02040503050406030204" pitchFamily="18" charset="0"/>
                            </a:rPr>
                            <m:t>𝑂𝑈𝑇</m:t>
                          </m:r>
                        </m:sub>
                      </m:sSub>
                      <m:r>
                        <a:rPr lang="en-US" i="0">
                          <a:latin typeface="Cambria Math" panose="02040503050406030204" pitchFamily="18" charset="0"/>
                        </a:rPr>
                        <m:t> =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GB" b="0" i="1" smtClean="0">
                              <a:latin typeface="Cambria Math" panose="02040503050406030204" pitchFamily="18" charset="0"/>
                            </a:rPr>
                            <m:t>𝐼𝑁</m:t>
                          </m:r>
                        </m:sub>
                      </m:sSub>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 </m:t>
                          </m:r>
                          <m:r>
                            <a:rPr lang="en-GB" b="0" i="1" smtClean="0">
                              <a:latin typeface="Cambria Math" panose="02040503050406030204" pitchFamily="18" charset="0"/>
                            </a:rPr>
                            <m:t>𝐷</m:t>
                          </m:r>
                        </m:num>
                        <m:den>
                          <m:d>
                            <m:dPr>
                              <m:ctrlPr>
                                <a:rPr lang="en-US" i="1">
                                  <a:latin typeface="Cambria Math" panose="02040503050406030204" pitchFamily="18" charset="0"/>
                                </a:rPr>
                              </m:ctrlPr>
                            </m:dPr>
                            <m:e>
                              <m:r>
                                <a:rPr lang="en-US" i="0">
                                  <a:latin typeface="Cambria Math" panose="02040503050406030204" pitchFamily="18" charset="0"/>
                                </a:rPr>
                                <m:t>1− </m:t>
                              </m:r>
                              <m:r>
                                <a:rPr lang="en-GB" b="0" i="1" smtClean="0">
                                  <a:latin typeface="Cambria Math" panose="02040503050406030204" pitchFamily="18" charset="0"/>
                                </a:rPr>
                                <m:t>𝐷</m:t>
                              </m:r>
                            </m:e>
                          </m:d>
                        </m:den>
                      </m:f>
                      <m:r>
                        <a:rPr lang="en-US" i="0">
                          <a:latin typeface="Cambria Math" panose="02040503050406030204" pitchFamily="18" charset="0"/>
                        </a:rPr>
                        <m:t> </m:t>
                      </m:r>
                    </m:oMath>
                  </m:oMathPara>
                </a14:m>
                <a:endParaRPr lang="en-US" dirty="0"/>
              </a:p>
            </p:txBody>
          </p:sp>
        </mc:Choice>
        <mc:Fallback xmlns="">
          <p:sp>
            <p:nvSpPr>
              <p:cNvPr id="3" name="TextBox 2">
                <a:extLst>
                  <a:ext uri="{FF2B5EF4-FFF2-40B4-BE49-F238E27FC236}">
                    <a16:creationId xmlns:a16="http://schemas.microsoft.com/office/drawing/2014/main" id="{29C40EC7-097F-1233-5D72-D0C7F6A228D5}"/>
                  </a:ext>
                </a:extLst>
              </p:cNvPr>
              <p:cNvSpPr txBox="1">
                <a:spLocks noRot="1" noChangeAspect="1" noMove="1" noResize="1" noEditPoints="1" noAdjustHandles="1" noChangeArrowheads="1" noChangeShapeType="1" noTextEdit="1"/>
              </p:cNvSpPr>
              <p:nvPr/>
            </p:nvSpPr>
            <p:spPr>
              <a:xfrm>
                <a:off x="5361038" y="1899957"/>
                <a:ext cx="3450746" cy="657744"/>
              </a:xfrm>
              <a:prstGeom prst="rect">
                <a:avLst/>
              </a:prstGeom>
              <a:blipFill>
                <a:blip r:embed="rId4"/>
                <a:stretch>
                  <a:fillRect/>
                </a:stretch>
              </a:blipFill>
            </p:spPr>
            <p:txBody>
              <a:bodyPr/>
              <a:lstStyle/>
              <a:p>
                <a:r>
                  <a:rPr lang="en-GB">
                    <a:noFill/>
                  </a:rPr>
                  <a:t> </a:t>
                </a:r>
              </a:p>
            </p:txBody>
          </p:sp>
        </mc:Fallback>
      </mc:AlternateContent>
      <p:sp>
        <p:nvSpPr>
          <p:cNvPr id="35925" name="Rectangle 2">
            <a:extLst>
              <a:ext uri="{FF2B5EF4-FFF2-40B4-BE49-F238E27FC236}">
                <a16:creationId xmlns:a16="http://schemas.microsoft.com/office/drawing/2014/main" id="{80A23F3E-ABF9-F0C4-B330-5A264946FE2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 name="Picture 1">
            <a:extLst>
              <a:ext uri="{FF2B5EF4-FFF2-40B4-BE49-F238E27FC236}">
                <a16:creationId xmlns:a16="http://schemas.microsoft.com/office/drawing/2014/main" id="{96EDCCCF-F897-7772-B882-297072C4DB9E}"/>
              </a:ext>
            </a:extLst>
          </p:cNvPr>
          <p:cNvPicPr>
            <a:picLocks noChangeAspect="1"/>
          </p:cNvPicPr>
          <p:nvPr/>
        </p:nvPicPr>
        <p:blipFill>
          <a:blip r:embed="rId5"/>
          <a:stretch>
            <a:fillRect/>
          </a:stretch>
        </p:blipFill>
        <p:spPr>
          <a:xfrm>
            <a:off x="392167" y="1082915"/>
            <a:ext cx="5352500" cy="1773391"/>
          </a:xfrm>
          <a:prstGeom prst="rect">
            <a:avLst/>
          </a:prstGeom>
        </p:spPr>
      </p:pic>
    </p:spTree>
    <p:extLst>
      <p:ext uri="{BB962C8B-B14F-4D97-AF65-F5344CB8AC3E}">
        <p14:creationId xmlns:p14="http://schemas.microsoft.com/office/powerpoint/2010/main" val="310142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C9BFE4D5-BA85-7141-8AE7-2E2083F80A5D}"/>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8439E86-6448-C343-A13B-E8A14B50ADE2}" type="slidenum">
              <a:rPr lang="en-US" altLang="en-US" sz="1400"/>
              <a:pPr>
                <a:spcBef>
                  <a:spcPct val="0"/>
                </a:spcBef>
                <a:buFontTx/>
                <a:buNone/>
              </a:pPr>
              <a:t>5</a:t>
            </a:fld>
            <a:endParaRPr lang="en-US" altLang="en-US" sz="1400"/>
          </a:p>
        </p:txBody>
      </p:sp>
      <p:sp>
        <p:nvSpPr>
          <p:cNvPr id="35872" name="Text Box 48">
            <a:extLst>
              <a:ext uri="{FF2B5EF4-FFF2-40B4-BE49-F238E27FC236}">
                <a16:creationId xmlns:a16="http://schemas.microsoft.com/office/drawing/2014/main" id="{078A092D-6A42-0748-8094-1383D7617532}"/>
              </a:ext>
            </a:extLst>
          </p:cNvPr>
          <p:cNvSpPr txBox="1">
            <a:spLocks noChangeArrowheads="1"/>
          </p:cNvSpPr>
          <p:nvPr/>
        </p:nvSpPr>
        <p:spPr bwMode="auto">
          <a:xfrm>
            <a:off x="179388" y="115888"/>
            <a:ext cx="41392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The Flyback Converter (V</a:t>
            </a:r>
            <a:r>
              <a:rPr lang="en-GB" altLang="en-US" sz="1800" b="1" u="sng" baseline="-25000" dirty="0"/>
              <a:t>OUT</a:t>
            </a:r>
            <a:r>
              <a:rPr lang="en-GB" altLang="en-US" sz="1800" b="1" u="sng" dirty="0"/>
              <a:t> &lt;&gt; V</a:t>
            </a:r>
            <a:r>
              <a:rPr lang="en-GB" altLang="en-US" sz="1800" b="1" u="sng" baseline="-25000" dirty="0"/>
              <a:t>IN</a:t>
            </a:r>
            <a:r>
              <a:rPr lang="en-GB" altLang="en-US" sz="1800" b="1" u="sng" dirty="0"/>
              <a:t>).</a:t>
            </a:r>
            <a:endParaRPr lang="en-US" altLang="en-US" sz="1800" b="1" u="sng"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E495613-6AA9-ED04-1E64-50D069091265}"/>
                  </a:ext>
                </a:extLst>
              </p:cNvPr>
              <p:cNvSpPr txBox="1"/>
              <p:nvPr/>
            </p:nvSpPr>
            <p:spPr>
              <a:xfrm>
                <a:off x="95018" y="2314896"/>
                <a:ext cx="8953963" cy="4140877"/>
              </a:xfrm>
              <a:prstGeom prst="rect">
                <a:avLst/>
              </a:prstGeom>
              <a:noFill/>
            </p:spPr>
            <p:txBody>
              <a:bodyPr wrap="square" rtlCol="0">
                <a:spAutoFit/>
              </a:bodyPr>
              <a:lstStyle/>
              <a:p>
                <a:pPr marL="285750" indent="-285750">
                  <a:buFont typeface="Arial" panose="020B0604020202020204" pitchFamily="34" charset="0"/>
                  <a:buChar char="•"/>
                </a:pPr>
                <a:r>
                  <a:rPr lang="en-US" dirty="0"/>
                  <a:t>The basic operation of the flyback converter is similar to that of the buck-boost converter.</a:t>
                </a:r>
              </a:p>
              <a:p>
                <a:pPr marL="285750" indent="-285750">
                  <a:buFont typeface="Arial" panose="020B0604020202020204" pitchFamily="34" charset="0"/>
                  <a:buChar char="•"/>
                </a:pPr>
                <a:r>
                  <a:rPr lang="en-US" dirty="0"/>
                  <a:t>By placing a second winding on the inductor, it is possible to achieve electrical isolation. Hence, a transformer is placed with </a:t>
                </a:r>
                <a14:m>
                  <m:oMath xmlns:m="http://schemas.openxmlformats.org/officeDocument/2006/math">
                    <m:sSub>
                      <m:sSubPr>
                        <m:ctrlPr>
                          <a:rPr lang="en-US" i="1">
                            <a:solidFill>
                              <a:srgbClr val="836967"/>
                            </a:solidFill>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1</m:t>
                        </m:r>
                      </m:sub>
                    </m:sSub>
                  </m:oMath>
                </a14:m>
                <a:r>
                  <a:rPr lang="en-US" dirty="0"/>
                  <a:t>turns with inductance (</a:t>
                </a:r>
                <a14:m>
                  <m:oMath xmlns:m="http://schemas.openxmlformats.org/officeDocument/2006/math">
                    <m:sSub>
                      <m:sSubPr>
                        <m:ctrlPr>
                          <a:rPr lang="en-US" i="1">
                            <a:solidFill>
                              <a:srgbClr val="836967"/>
                            </a:solidFill>
                            <a:latin typeface="Cambria Math" panose="02040503050406030204" pitchFamily="18" charset="0"/>
                          </a:rPr>
                        </m:ctrlPr>
                      </m:sSubPr>
                      <m:e>
                        <m:r>
                          <a:rPr lang="en-GB" b="0" i="1" smtClean="0">
                            <a:latin typeface="Cambria Math" panose="02040503050406030204" pitchFamily="18" charset="0"/>
                          </a:rPr>
                          <m:t>𝐿</m:t>
                        </m:r>
                      </m:e>
                      <m:sub>
                        <m:r>
                          <a:rPr lang="en-GB" b="0" i="1" smtClean="0">
                            <a:latin typeface="Cambria Math" panose="02040503050406030204" pitchFamily="18" charset="0"/>
                          </a:rPr>
                          <m:t>𝑝</m:t>
                        </m:r>
                      </m:sub>
                    </m:sSub>
                  </m:oMath>
                </a14:m>
                <a:r>
                  <a:rPr lang="en-US" dirty="0"/>
                  <a:t>) on primary winding and </a:t>
                </a:r>
                <a14:m>
                  <m:oMath xmlns:m="http://schemas.openxmlformats.org/officeDocument/2006/math">
                    <m:sSub>
                      <m:sSubPr>
                        <m:ctrlPr>
                          <a:rPr lang="en-US" i="1">
                            <a:solidFill>
                              <a:srgbClr val="836967"/>
                            </a:solidFill>
                            <a:latin typeface="Cambria Math" panose="02040503050406030204" pitchFamily="18" charset="0"/>
                          </a:rPr>
                        </m:ctrlPr>
                      </m:sSubPr>
                      <m:e>
                        <m:r>
                          <a:rPr lang="en-GB" i="1">
                            <a:latin typeface="Cambria Math" panose="02040503050406030204" pitchFamily="18" charset="0"/>
                          </a:rPr>
                          <m:t>𝑁</m:t>
                        </m:r>
                      </m:e>
                      <m:sub>
                        <m:r>
                          <a:rPr lang="en-GB" b="0" i="1" smtClean="0">
                            <a:latin typeface="Cambria Math" panose="02040503050406030204" pitchFamily="18" charset="0"/>
                          </a:rPr>
                          <m:t>2</m:t>
                        </m:r>
                      </m:sub>
                    </m:sSub>
                  </m:oMath>
                </a14:m>
                <a:r>
                  <a:rPr lang="en-US" dirty="0"/>
                  <a:t>turns with inductance (</a:t>
                </a:r>
                <a14:m>
                  <m:oMath xmlns:m="http://schemas.openxmlformats.org/officeDocument/2006/math">
                    <m:sSub>
                      <m:sSubPr>
                        <m:ctrlPr>
                          <a:rPr lang="en-US" i="1">
                            <a:solidFill>
                              <a:srgbClr val="836967"/>
                            </a:solidFill>
                            <a:latin typeface="Cambria Math" panose="02040503050406030204" pitchFamily="18" charset="0"/>
                          </a:rPr>
                        </m:ctrlPr>
                      </m:sSubPr>
                      <m:e>
                        <m:r>
                          <a:rPr lang="en-GB" i="1">
                            <a:latin typeface="Cambria Math" panose="02040503050406030204" pitchFamily="18" charset="0"/>
                          </a:rPr>
                          <m:t>𝐿</m:t>
                        </m:r>
                      </m:e>
                      <m:sub>
                        <m:r>
                          <a:rPr lang="en-GB" b="0" i="1" smtClean="0">
                            <a:latin typeface="Cambria Math" panose="02040503050406030204" pitchFamily="18" charset="0"/>
                          </a:rPr>
                          <m:t>𝑠</m:t>
                        </m:r>
                      </m:sub>
                    </m:sSub>
                  </m:oMath>
                </a14:m>
                <a:r>
                  <a:rPr lang="en-US" dirty="0"/>
                  <a:t>) are placed on secondary winding</a:t>
                </a:r>
              </a:p>
              <a:p>
                <a:pPr marL="285750" indent="-285750">
                  <a:buFont typeface="Arial" panose="020B0604020202020204" pitchFamily="34" charset="0"/>
                  <a:buChar char="•"/>
                </a:pPr>
                <a:r>
                  <a:rPr lang="en-US" dirty="0"/>
                  <a:t>When switch is closed, the current is increasing linearly in the physical primary winding, and the inductor core </a:t>
                </a:r>
                <a:r>
                  <a:rPr lang="en-US" b="1" dirty="0"/>
                  <a:t>flux </a:t>
                </a:r>
                <a:r>
                  <a:rPr lang="en-US" dirty="0"/>
                  <a:t>increases linearly from its initial value. However, due to the polarity of the secondary winding of transformer no current flows in secondary winding. </a:t>
                </a:r>
              </a:p>
              <a:p>
                <a:pPr marL="285750" indent="-285750">
                  <a:buFont typeface="Arial" panose="020B0604020202020204" pitchFamily="34" charset="0"/>
                  <a:buChar char="•"/>
                </a:pPr>
                <a:r>
                  <a:rPr lang="en-US" dirty="0"/>
                  <a:t>As soon the switch is open, the voltage across inductor on primary side reverses, and due to opposite polarity of winding in secondary, diodes turns on and current flow due to stored energy in the core.</a:t>
                </a:r>
              </a:p>
              <a:p>
                <a:pPr marL="285750" indent="-285750">
                  <a:buFont typeface="Arial" panose="020B0604020202020204" pitchFamily="34" charset="0"/>
                  <a:buChar char="•"/>
                </a:pPr>
                <a:r>
                  <a:rPr lang="en-US" dirty="0"/>
                  <a:t> Compared to buck-boost converter, apart from duty cycle (</a:t>
                </a:r>
                <a14:m>
                  <m:oMath xmlns:m="http://schemas.openxmlformats.org/officeDocument/2006/math">
                    <m:r>
                      <a:rPr lang="en-GB" b="0" i="1" smtClean="0">
                        <a:latin typeface="Cambria Math" panose="02040503050406030204" pitchFamily="18" charset="0"/>
                      </a:rPr>
                      <m:t>𝐷</m:t>
                    </m:r>
                  </m:oMath>
                </a14:m>
                <a:r>
                  <a:rPr lang="en-US" dirty="0"/>
                  <a:t>), turn ratio (</a:t>
                </a:r>
                <a14:m>
                  <m:oMath xmlns:m="http://schemas.openxmlformats.org/officeDocument/2006/math">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2</m:t>
                            </m:r>
                          </m:sub>
                        </m:sSub>
                      </m:num>
                      <m:den>
                        <m:sSub>
                          <m:sSubPr>
                            <m:ctrlPr>
                              <a:rPr lang="en-US" i="1">
                                <a:solidFill>
                                  <a:srgbClr val="836967"/>
                                </a:solidFill>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1</m:t>
                            </m:r>
                          </m:sub>
                        </m:sSub>
                      </m:den>
                    </m:f>
                  </m:oMath>
                </a14:m>
                <a:r>
                  <a:rPr lang="en-US" dirty="0"/>
                  <a:t>) is also included in the relation between input and output.</a:t>
                </a:r>
                <a:endParaRPr lang="en-US" dirty="0">
                  <a:solidFill>
                    <a:srgbClr val="FF0000"/>
                  </a:solidFill>
                </a:endParaRPr>
              </a:p>
            </p:txBody>
          </p:sp>
        </mc:Choice>
        <mc:Fallback>
          <p:sp>
            <p:nvSpPr>
              <p:cNvPr id="5" name="TextBox 4">
                <a:extLst>
                  <a:ext uri="{FF2B5EF4-FFF2-40B4-BE49-F238E27FC236}">
                    <a16:creationId xmlns:a16="http://schemas.microsoft.com/office/drawing/2014/main" id="{6E495613-6AA9-ED04-1E64-50D069091265}"/>
                  </a:ext>
                </a:extLst>
              </p:cNvPr>
              <p:cNvSpPr txBox="1">
                <a:spLocks noRot="1" noChangeAspect="1" noMove="1" noResize="1" noEditPoints="1" noAdjustHandles="1" noChangeArrowheads="1" noChangeShapeType="1" noTextEdit="1"/>
              </p:cNvSpPr>
              <p:nvPr/>
            </p:nvSpPr>
            <p:spPr>
              <a:xfrm>
                <a:off x="95018" y="2314896"/>
                <a:ext cx="8953963" cy="4140877"/>
              </a:xfrm>
              <a:prstGeom prst="rect">
                <a:avLst/>
              </a:prstGeom>
              <a:blipFill>
                <a:blip r:embed="rId3"/>
                <a:stretch>
                  <a:fillRect l="-477" t="-884" r="-749" b="-1473"/>
                </a:stretch>
              </a:blipFill>
            </p:spPr>
            <p:txBody>
              <a:bodyPr/>
              <a:lstStyle/>
              <a:p>
                <a:r>
                  <a:rPr lang="en-GB">
                    <a:noFill/>
                  </a:rPr>
                  <a:t> </a:t>
                </a:r>
              </a:p>
            </p:txBody>
          </p:sp>
        </mc:Fallback>
      </mc:AlternateContent>
      <p:sp>
        <p:nvSpPr>
          <p:cNvPr id="35925" name="Rectangle 2">
            <a:extLst>
              <a:ext uri="{FF2B5EF4-FFF2-40B4-BE49-F238E27FC236}">
                <a16:creationId xmlns:a16="http://schemas.microsoft.com/office/drawing/2014/main" id="{80A23F3E-ABF9-F0C4-B330-5A264946FE2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51" name="Picture 1050">
            <a:extLst>
              <a:ext uri="{FF2B5EF4-FFF2-40B4-BE49-F238E27FC236}">
                <a16:creationId xmlns:a16="http://schemas.microsoft.com/office/drawing/2014/main" id="{5833F4F4-1554-DB7A-191D-3C997FEA33BE}"/>
              </a:ext>
            </a:extLst>
          </p:cNvPr>
          <p:cNvPicPr>
            <a:picLocks noChangeAspect="1"/>
          </p:cNvPicPr>
          <p:nvPr/>
        </p:nvPicPr>
        <p:blipFill>
          <a:blip r:embed="rId4"/>
          <a:stretch>
            <a:fillRect/>
          </a:stretch>
        </p:blipFill>
        <p:spPr>
          <a:xfrm>
            <a:off x="769013" y="616640"/>
            <a:ext cx="3549650" cy="1319275"/>
          </a:xfrm>
          <a:prstGeom prst="rect">
            <a:avLst/>
          </a:prstGeom>
        </p:spPr>
      </p:pic>
      <p:pic>
        <p:nvPicPr>
          <p:cNvPr id="1056" name="Picture 1055">
            <a:extLst>
              <a:ext uri="{FF2B5EF4-FFF2-40B4-BE49-F238E27FC236}">
                <a16:creationId xmlns:a16="http://schemas.microsoft.com/office/drawing/2014/main" id="{F33BD266-1E9A-21C6-439C-1A1A6B3C259F}"/>
              </a:ext>
            </a:extLst>
          </p:cNvPr>
          <p:cNvPicPr>
            <a:picLocks noChangeAspect="1"/>
          </p:cNvPicPr>
          <p:nvPr/>
        </p:nvPicPr>
        <p:blipFill>
          <a:blip r:embed="rId5"/>
          <a:stretch>
            <a:fillRect/>
          </a:stretch>
        </p:blipFill>
        <p:spPr>
          <a:xfrm>
            <a:off x="6140544" y="615277"/>
            <a:ext cx="6228016" cy="1568199"/>
          </a:xfrm>
          <a:prstGeom prst="rect">
            <a:avLst/>
          </a:prstGeom>
        </p:spPr>
      </p:pic>
    </p:spTree>
    <p:extLst>
      <p:ext uri="{BB962C8B-B14F-4D97-AF65-F5344CB8AC3E}">
        <p14:creationId xmlns:p14="http://schemas.microsoft.com/office/powerpoint/2010/main" val="72397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additive="base">
                                        <p:cTn id="15"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 calcmode="lin" valueType="num">
                                      <p:cBhvr additive="base">
                                        <p:cTn id="2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 calcmode="lin" valueType="num">
                                      <p:cBhvr additive="base">
                                        <p:cTn id="2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 calcmode="lin" valueType="num">
                                      <p:cBhvr additive="base">
                                        <p:cTn id="3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anim calcmode="lin" valueType="num">
                                      <p:cBhvr additive="base">
                                        <p:cTn id="3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a:extLst>
              <a:ext uri="{FF2B5EF4-FFF2-40B4-BE49-F238E27FC236}">
                <a16:creationId xmlns:a16="http://schemas.microsoft.com/office/drawing/2014/main" id="{7658B29A-A3D5-6A09-6606-550CFFF95512}"/>
              </a:ext>
            </a:extLst>
          </p:cNvPr>
          <p:cNvSpPr txBox="1">
            <a:spLocks noChangeArrowheads="1"/>
          </p:cNvSpPr>
          <p:nvPr/>
        </p:nvSpPr>
        <p:spPr bwMode="auto">
          <a:xfrm>
            <a:off x="158750" y="65088"/>
            <a:ext cx="52266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dirty="0"/>
              <a:t>Boost converter Input/Output Voltage Relation</a:t>
            </a:r>
            <a:endParaRPr lang="en-US" altLang="en-US" sz="1800" dirty="0"/>
          </a:p>
        </p:txBody>
      </p:sp>
      <p:sp>
        <p:nvSpPr>
          <p:cNvPr id="2" name="Rectangle 1">
            <a:extLst>
              <a:ext uri="{FF2B5EF4-FFF2-40B4-BE49-F238E27FC236}">
                <a16:creationId xmlns:a16="http://schemas.microsoft.com/office/drawing/2014/main" id="{80652424-D913-9A38-33F2-17EBE55D5D90}"/>
              </a:ext>
            </a:extLst>
          </p:cNvPr>
          <p:cNvSpPr/>
          <p:nvPr/>
        </p:nvSpPr>
        <p:spPr>
          <a:xfrm>
            <a:off x="2735374" y="3050083"/>
            <a:ext cx="104503" cy="1132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22EA8FFF-F9BD-374D-A163-E0FDDD65A258}"/>
              </a:ext>
            </a:extLst>
          </p:cNvPr>
          <p:cNvSpPr txBox="1"/>
          <p:nvPr/>
        </p:nvSpPr>
        <p:spPr>
          <a:xfrm>
            <a:off x="290776" y="512430"/>
            <a:ext cx="8421624" cy="923330"/>
          </a:xfrm>
          <a:prstGeom prst="rect">
            <a:avLst/>
          </a:prstGeom>
          <a:noFill/>
        </p:spPr>
        <p:txBody>
          <a:bodyPr wrap="square">
            <a:spAutoFit/>
          </a:bodyPr>
          <a:lstStyle/>
          <a:p>
            <a:r>
              <a:rPr lang="en-GB" dirty="0"/>
              <a:t>The integral of inductor voltage is equal to the change in the inductor flux linkage. </a:t>
            </a:r>
          </a:p>
          <a:p>
            <a:r>
              <a:rPr lang="en-GB" dirty="0"/>
              <a:t>The net change of flux linking the inductor over one time period of repetition is zero, which is a necessary condition for steady-state operation.</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3BAA9E7-EAFD-0CF3-E8A3-29EAF1CA1C5A}"/>
                  </a:ext>
                </a:extLst>
              </p:cNvPr>
              <p:cNvSpPr txBox="1"/>
              <p:nvPr/>
            </p:nvSpPr>
            <p:spPr>
              <a:xfrm>
                <a:off x="2295144" y="1629003"/>
                <a:ext cx="2459736" cy="425758"/>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pPr marL="0" marR="0" indent="0" algn="ctr">
                  <a:lnSpc>
                    <a:spcPts val="1300"/>
                  </a:lnSpc>
                  <a:spcBef>
                    <a:spcPts val="1200"/>
                  </a:spcBef>
                  <a:spcAft>
                    <a:spcPts val="0"/>
                  </a:spcAft>
                  <a:tabLst>
                    <a:tab pos="5715000" algn="r"/>
                  </a:tabLst>
                </a:pPr>
                <a14:m>
                  <m:oMathPara xmlns:m="http://schemas.openxmlformats.org/officeDocument/2006/math">
                    <m:oMathParaPr>
                      <m:jc m:val="centerGroup"/>
                    </m:oMathParaPr>
                    <m:oMath xmlns:m="http://schemas.openxmlformats.org/officeDocument/2006/math">
                      <m:nary>
                        <m:nary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naryPr>
                        <m:sub>
                          <m:r>
                            <m:rPr>
                              <m:brk m:alnAt="23"/>
                            </m:r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sub>
                        <m:sup>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𝑇</m:t>
                          </m:r>
                        </m:sup>
                        <m:e>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𝐿</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𝑝𝑟𝑖𝑚𝑎𝑟𝑦</m:t>
                              </m:r>
                            </m:sub>
                          </m:sSub>
                        </m:e>
                      </m:nary>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𝑑𝑡</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US" sz="1800" dirty="0">
                  <a:effectLst/>
                  <a:latin typeface="Times"/>
                  <a:ea typeface="SimSun" panose="02010600030101010101" pitchFamily="2" charset="-122"/>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63BAA9E7-EAFD-0CF3-E8A3-29EAF1CA1C5A}"/>
                  </a:ext>
                </a:extLst>
              </p:cNvPr>
              <p:cNvSpPr txBox="1">
                <a:spLocks noRot="1" noChangeAspect="1" noMove="1" noResize="1" noEditPoints="1" noAdjustHandles="1" noChangeArrowheads="1" noChangeShapeType="1" noTextEdit="1"/>
              </p:cNvSpPr>
              <p:nvPr/>
            </p:nvSpPr>
            <p:spPr>
              <a:xfrm>
                <a:off x="2295144" y="1629003"/>
                <a:ext cx="2459736" cy="425758"/>
              </a:xfrm>
              <a:prstGeom prst="rect">
                <a:avLst/>
              </a:prstGeom>
              <a:blipFill>
                <a:blip r:embed="rId2"/>
                <a:stretch>
                  <a:fillRect l="-30521" t="-304286" b="-417143"/>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52406D51-A8DC-7231-5E41-BE5F74D619E8}"/>
                  </a:ext>
                </a:extLst>
              </p:cNvPr>
              <p:cNvSpPr txBox="1"/>
              <p:nvPr/>
            </p:nvSpPr>
            <p:spPr>
              <a:xfrm>
                <a:off x="1048142" y="2151375"/>
                <a:ext cx="3755002" cy="7492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naryPr>
                        <m:sub>
                          <m:r>
                            <m:rPr>
                              <m:brk m:alnAt="23"/>
                            </m:r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sub>
                        <m:sup>
                          <m:sSub>
                            <m:sSubPr>
                              <m:ctrl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𝑡</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𝑜𝑛</m:t>
                              </m:r>
                            </m:sub>
                          </m:sSub>
                        </m:sup>
                        <m:e>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e>
                      </m:nary>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𝑑𝑡</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m:t>
                      </m:r>
                      <m:nary>
                        <m:naryPr>
                          <m:ctrlPr>
                            <a:rPr lang="en-US" i="1">
                              <a:latin typeface="Cambria Math" panose="02040503050406030204" pitchFamily="18" charset="0"/>
                              <a:ea typeface="SimSun" panose="02010600030101010101" pitchFamily="2" charset="-122"/>
                              <a:cs typeface="Times New Roman" panose="02020603050405020304" pitchFamily="18" charset="0"/>
                            </a:rPr>
                          </m:ctrlPr>
                        </m:naryPr>
                        <m: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sub>
                        <m:sup>
                          <m:r>
                            <a:rPr lang="en-GB" i="1">
                              <a:latin typeface="Cambria Math" panose="02040503050406030204" pitchFamily="18" charset="0"/>
                              <a:ea typeface="SimSun" panose="02010600030101010101" pitchFamily="2" charset="-122"/>
                              <a:cs typeface="Times New Roman" panose="02020603050405020304" pitchFamily="18" charset="0"/>
                            </a:rPr>
                            <m:t>𝑇</m:t>
                          </m:r>
                        </m:sup>
                        <m:e>
                          <m:r>
                            <a:rPr lang="en-GB" b="0" i="1" smtClean="0">
                              <a:latin typeface="Cambria Math" panose="02040503050406030204" pitchFamily="18" charset="0"/>
                              <a:ea typeface="SimSun" panose="02010600030101010101" pitchFamily="2" charset="-122"/>
                              <a:cs typeface="Times New Roman" panose="02020603050405020304" pitchFamily="18" charset="0"/>
                            </a:rPr>
                            <m:t>−</m:t>
                          </m:r>
                        </m:e>
                      </m:nary>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f>
                        <m:fPr>
                          <m:ctrlPr>
                            <a:rPr lang="en-GB" i="1">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1</m:t>
                              </m:r>
                            </m:sub>
                          </m:sSub>
                        </m:num>
                        <m:den>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2</m:t>
                              </m:r>
                            </m:sub>
                          </m:sSub>
                        </m:den>
                      </m:f>
                      <m:r>
                        <a:rPr lang="en-GB" i="1">
                          <a:latin typeface="Cambria Math" panose="02040503050406030204" pitchFamily="18" charset="0"/>
                          <a:ea typeface="SimSun" panose="02010600030101010101" pitchFamily="2" charset="-122"/>
                          <a:cs typeface="Times New Roman" panose="02020603050405020304" pitchFamily="18" charset="0"/>
                        </a:rPr>
                        <m:t>𝑑𝑡</m:t>
                      </m:r>
                      <m:r>
                        <a:rPr lang="en-US" i="1">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GB" dirty="0"/>
              </a:p>
            </p:txBody>
          </p:sp>
        </mc:Choice>
        <mc:Fallback>
          <p:sp>
            <p:nvSpPr>
              <p:cNvPr id="11" name="TextBox 10">
                <a:extLst>
                  <a:ext uri="{FF2B5EF4-FFF2-40B4-BE49-F238E27FC236}">
                    <a16:creationId xmlns:a16="http://schemas.microsoft.com/office/drawing/2014/main" id="{52406D51-A8DC-7231-5E41-BE5F74D619E8}"/>
                  </a:ext>
                </a:extLst>
              </p:cNvPr>
              <p:cNvSpPr txBox="1">
                <a:spLocks noRot="1" noChangeAspect="1" noMove="1" noResize="1" noEditPoints="1" noAdjustHandles="1" noChangeArrowheads="1" noChangeShapeType="1" noTextEdit="1"/>
              </p:cNvSpPr>
              <p:nvPr/>
            </p:nvSpPr>
            <p:spPr>
              <a:xfrm>
                <a:off x="1048142" y="2151375"/>
                <a:ext cx="3755002" cy="749244"/>
              </a:xfrm>
              <a:prstGeom prst="rect">
                <a:avLst/>
              </a:prstGeom>
              <a:blipFill>
                <a:blip r:embed="rId3"/>
                <a:stretch>
                  <a:fillRect/>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19425509-7DA8-5246-4E6F-0FAF50165857}"/>
              </a:ext>
            </a:extLst>
          </p:cNvPr>
          <p:cNvPicPr>
            <a:picLocks noChangeAspect="1"/>
          </p:cNvPicPr>
          <p:nvPr/>
        </p:nvPicPr>
        <p:blipFill>
          <a:blip r:embed="rId4"/>
          <a:stretch>
            <a:fillRect/>
          </a:stretch>
        </p:blipFill>
        <p:spPr>
          <a:xfrm>
            <a:off x="5594350" y="1841882"/>
            <a:ext cx="3549650" cy="1319275"/>
          </a:xfrm>
          <a:prstGeom prst="rect">
            <a:avLst/>
          </a:prstGeom>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B749E485-5A0A-09EB-E7B0-10615E6A4E0D}"/>
                  </a:ext>
                </a:extLst>
              </p:cNvPr>
              <p:cNvSpPr txBox="1"/>
              <p:nvPr/>
            </p:nvSpPr>
            <p:spPr>
              <a:xfrm>
                <a:off x="995966" y="2899866"/>
                <a:ext cx="3383747" cy="6562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𝐼𝑁</m:t>
                          </m:r>
                        </m:sub>
                      </m:sSub>
                      <m:sSub>
                        <m:sSubPr>
                          <m:ctrlP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e>
                        <m:sub>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𝑜𝑛</m:t>
                          </m:r>
                        </m:sub>
                      </m:sSub>
                      <m:r>
                        <a:rPr lang="en-GB"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f>
                            <m:fPr>
                              <m:ctrlPr>
                                <a:rPr lang="en-GB" i="1">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1</m:t>
                                  </m:r>
                                </m:sub>
                              </m:sSub>
                            </m:num>
                            <m:den>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2</m:t>
                                  </m:r>
                                </m:sub>
                              </m:sSub>
                            </m:den>
                          </m:f>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b="0" i="1" smtClean="0">
                              <a:latin typeface="Cambria Math" panose="02040503050406030204" pitchFamily="18" charset="0"/>
                              <a:ea typeface="SimSun" panose="02010600030101010101" pitchFamily="2" charset="-122"/>
                              <a:cs typeface="Times New Roman" panose="02020603050405020304" pitchFamily="18" charset="0"/>
                            </a:rPr>
                            <m:t>𝑇</m:t>
                          </m:r>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GB" dirty="0"/>
              </a:p>
            </p:txBody>
          </p:sp>
        </mc:Choice>
        <mc:Fallback>
          <p:sp>
            <p:nvSpPr>
              <p:cNvPr id="15" name="TextBox 14">
                <a:extLst>
                  <a:ext uri="{FF2B5EF4-FFF2-40B4-BE49-F238E27FC236}">
                    <a16:creationId xmlns:a16="http://schemas.microsoft.com/office/drawing/2014/main" id="{B749E485-5A0A-09EB-E7B0-10615E6A4E0D}"/>
                  </a:ext>
                </a:extLst>
              </p:cNvPr>
              <p:cNvSpPr txBox="1">
                <a:spLocks noRot="1" noChangeAspect="1" noMove="1" noResize="1" noEditPoints="1" noAdjustHandles="1" noChangeArrowheads="1" noChangeShapeType="1" noTextEdit="1"/>
              </p:cNvSpPr>
              <p:nvPr/>
            </p:nvSpPr>
            <p:spPr>
              <a:xfrm>
                <a:off x="995966" y="2899866"/>
                <a:ext cx="3383747" cy="65620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51D618D9-A1F9-8B35-C068-0EA0056F8847}"/>
                  </a:ext>
                </a:extLst>
              </p:cNvPr>
              <p:cNvSpPr txBox="1"/>
              <p:nvPr/>
            </p:nvSpPr>
            <p:spPr>
              <a:xfrm>
                <a:off x="1186136" y="3837689"/>
                <a:ext cx="2943050" cy="6562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𝐼𝑁</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𝐷𝑇</m:t>
                      </m:r>
                      <m:r>
                        <a:rPr lang="en-GB"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f>
                        <m:fPr>
                          <m:ctrlPr>
                            <a:rPr lang="en-GB" i="1">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i="1">
                                  <a:latin typeface="Cambria Math" panose="02040503050406030204" pitchFamily="18" charset="0"/>
                                  <a:ea typeface="SimSun" panose="02010600030101010101" pitchFamily="2" charset="-122"/>
                                  <a:cs typeface="Times New Roman" panose="02020603050405020304" pitchFamily="18" charset="0"/>
                                </a:rPr>
                                <m:t>1</m:t>
                              </m:r>
                            </m:sub>
                          </m:sSub>
                        </m:num>
                        <m:den>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i="1">
                                  <a:latin typeface="Cambria Math" panose="02040503050406030204" pitchFamily="18" charset="0"/>
                                  <a:ea typeface="SimSun" panose="02010600030101010101" pitchFamily="2" charset="-122"/>
                                  <a:cs typeface="Times New Roman" panose="02020603050405020304" pitchFamily="18" charset="0"/>
                                </a:rPr>
                                <m:t>2</m:t>
                              </m:r>
                            </m:sub>
                          </m:sSub>
                        </m:den>
                      </m:f>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b="0" i="1" smtClean="0">
                          <a:latin typeface="Cambria Math" panose="02040503050406030204" pitchFamily="18" charset="0"/>
                          <a:ea typeface="SimSun" panose="02010600030101010101" pitchFamily="2" charset="-122"/>
                          <a:cs typeface="Times New Roman" panose="02020603050405020304" pitchFamily="18" charset="0"/>
                        </a:rPr>
                        <m:t>𝑇</m:t>
                      </m:r>
                      <m:r>
                        <a:rPr lang="en-GB" b="0" i="1" smtClean="0">
                          <a:latin typeface="Cambria Math" panose="02040503050406030204" pitchFamily="18" charset="0"/>
                          <a:ea typeface="SimSun" panose="02010600030101010101" pitchFamily="2" charset="-122"/>
                          <a:cs typeface="Times New Roman" panose="02020603050405020304" pitchFamily="18" charset="0"/>
                        </a:rPr>
                        <m:t> −</m:t>
                      </m:r>
                      <m:r>
                        <a:rPr lang="en-GB" b="0" i="1" smtClean="0">
                          <a:latin typeface="Cambria Math" panose="02040503050406030204" pitchFamily="18" charset="0"/>
                          <a:ea typeface="SimSun" panose="02010600030101010101" pitchFamily="2" charset="-122"/>
                          <a:cs typeface="Times New Roman" panose="02020603050405020304" pitchFamily="18" charset="0"/>
                        </a:rPr>
                        <m:t>𝐷𝑇</m:t>
                      </m:r>
                      <m:r>
                        <a:rPr lang="en-GB" b="0" i="1" smtClean="0">
                          <a:latin typeface="Cambria Math" panose="02040503050406030204" pitchFamily="18" charset="0"/>
                          <a:ea typeface="SimSun" panose="02010600030101010101" pitchFamily="2" charset="-122"/>
                          <a:cs typeface="Times New Roman" panose="02020603050405020304" pitchFamily="18" charset="0"/>
                        </a:rPr>
                        <m:t>)</m:t>
                      </m:r>
                    </m:oMath>
                  </m:oMathPara>
                </a14:m>
                <a:endParaRPr lang="en-GB" dirty="0"/>
              </a:p>
            </p:txBody>
          </p:sp>
        </mc:Choice>
        <mc:Fallback>
          <p:sp>
            <p:nvSpPr>
              <p:cNvPr id="17" name="TextBox 16">
                <a:extLst>
                  <a:ext uri="{FF2B5EF4-FFF2-40B4-BE49-F238E27FC236}">
                    <a16:creationId xmlns:a16="http://schemas.microsoft.com/office/drawing/2014/main" id="{51D618D9-A1F9-8B35-C068-0EA0056F8847}"/>
                  </a:ext>
                </a:extLst>
              </p:cNvPr>
              <p:cNvSpPr txBox="1">
                <a:spLocks noRot="1" noChangeAspect="1" noMove="1" noResize="1" noEditPoints="1" noAdjustHandles="1" noChangeArrowheads="1" noChangeShapeType="1" noTextEdit="1"/>
              </p:cNvSpPr>
              <p:nvPr/>
            </p:nvSpPr>
            <p:spPr>
              <a:xfrm>
                <a:off x="1186136" y="3837689"/>
                <a:ext cx="2943050" cy="656205"/>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2E19B86-EC25-79A6-E2E5-49D923820B52}"/>
                  </a:ext>
                </a:extLst>
              </p:cNvPr>
              <p:cNvSpPr txBox="1"/>
              <p:nvPr/>
            </p:nvSpPr>
            <p:spPr>
              <a:xfrm>
                <a:off x="1508018" y="4806443"/>
                <a:ext cx="2604687" cy="6562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f>
                        <m:fPr>
                          <m:ctrlPr>
                            <a:rPr lang="en-GB" i="1">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i="1">
                                  <a:latin typeface="Cambria Math" panose="02040503050406030204" pitchFamily="18" charset="0"/>
                                  <a:ea typeface="SimSun" panose="02010600030101010101" pitchFamily="2" charset="-122"/>
                                  <a:cs typeface="Times New Roman" panose="02020603050405020304" pitchFamily="18" charset="0"/>
                                </a:rPr>
                                <m:t>2</m:t>
                              </m:r>
                            </m:sub>
                          </m:sSub>
                        </m:num>
                        <m:den>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i="1">
                                  <a:latin typeface="Cambria Math" panose="02040503050406030204" pitchFamily="18" charset="0"/>
                                  <a:ea typeface="SimSun" panose="02010600030101010101" pitchFamily="2" charset="-122"/>
                                  <a:cs typeface="Times New Roman" panose="02020603050405020304" pitchFamily="18" charset="0"/>
                                </a:rPr>
                                <m:t>1</m:t>
                              </m:r>
                            </m:sub>
                          </m:sSub>
                        </m:den>
                      </m:f>
                      <m:r>
                        <a:rPr lang="en-GB" b="0" i="1" smtClean="0">
                          <a:latin typeface="Cambria Math" panose="02040503050406030204" pitchFamily="18" charset="0"/>
                          <a:ea typeface="SimSun" panose="02010600030101010101" pitchFamily="2" charset="-122"/>
                          <a:cs typeface="Times New Roman" panose="02020603050405020304" pitchFamily="18" charset="0"/>
                        </a:rPr>
                        <m:t>𝐷</m:t>
                      </m:r>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(1−</m:t>
                      </m:r>
                      <m:r>
                        <a:rPr lang="en-GB" i="1" smtClean="0">
                          <a:latin typeface="Cambria Math" panose="02040503050406030204" pitchFamily="18" charset="0"/>
                          <a:ea typeface="SimSun" panose="02010600030101010101" pitchFamily="2" charset="-122"/>
                          <a:cs typeface="Times New Roman" panose="02020603050405020304" pitchFamily="18" charset="0"/>
                        </a:rPr>
                        <m:t>𝐷</m:t>
                      </m:r>
                      <m:r>
                        <a:rPr lang="en-GB" b="0" i="1" smtClean="0">
                          <a:latin typeface="Cambria Math" panose="02040503050406030204" pitchFamily="18" charset="0"/>
                          <a:ea typeface="SimSun" panose="02010600030101010101" pitchFamily="2" charset="-122"/>
                          <a:cs typeface="Times New Roman" panose="02020603050405020304" pitchFamily="18" charset="0"/>
                        </a:rPr>
                        <m:t>)</m:t>
                      </m:r>
                    </m:oMath>
                  </m:oMathPara>
                </a14:m>
                <a:endParaRPr lang="en-GB" dirty="0"/>
              </a:p>
            </p:txBody>
          </p:sp>
        </mc:Choice>
        <mc:Fallback>
          <p:sp>
            <p:nvSpPr>
              <p:cNvPr id="19" name="TextBox 18">
                <a:extLst>
                  <a:ext uri="{FF2B5EF4-FFF2-40B4-BE49-F238E27FC236}">
                    <a16:creationId xmlns:a16="http://schemas.microsoft.com/office/drawing/2014/main" id="{B2E19B86-EC25-79A6-E2E5-49D923820B52}"/>
                  </a:ext>
                </a:extLst>
              </p:cNvPr>
              <p:cNvSpPr txBox="1">
                <a:spLocks noRot="1" noChangeAspect="1" noMove="1" noResize="1" noEditPoints="1" noAdjustHandles="1" noChangeArrowheads="1" noChangeShapeType="1" noTextEdit="1"/>
              </p:cNvSpPr>
              <p:nvPr/>
            </p:nvSpPr>
            <p:spPr>
              <a:xfrm>
                <a:off x="1508018" y="4806443"/>
                <a:ext cx="2604687" cy="65620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F41ACED5-675B-830C-BC9D-46361CE82FE8}"/>
                  </a:ext>
                </a:extLst>
              </p:cNvPr>
              <p:cNvSpPr txBox="1"/>
              <p:nvPr/>
            </p:nvSpPr>
            <p:spPr>
              <a:xfrm>
                <a:off x="942031" y="5736493"/>
                <a:ext cx="2999154" cy="6562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𝑶𝑼𝑻</m:t>
                          </m:r>
                        </m:sub>
                      </m:sSub>
                      <m:r>
                        <a:rPr lang="en-GB" b="1" i="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sSub>
                        <m:sSubPr>
                          <m:ctrlP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𝑰𝑵</m:t>
                          </m:r>
                        </m:sub>
                      </m:sSub>
                      <m:f>
                        <m:fPr>
                          <m:ctrlP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fPr>
                        <m:num>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𝑫</m:t>
                          </m:r>
                        </m:num>
                        <m:den>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𝟏</m:t>
                          </m:r>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𝑫</m:t>
                          </m:r>
                        </m:den>
                      </m:f>
                      <m:r>
                        <a:rPr lang="en-GB"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𝑵</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𝟐</m:t>
                              </m:r>
                            </m:sub>
                          </m:sSub>
                        </m:num>
                        <m:den>
                          <m:sSub>
                            <m:sSubPr>
                              <m:ctrlP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𝑵</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𝟏</m:t>
                              </m:r>
                            </m:sub>
                          </m:sSub>
                        </m:den>
                      </m:f>
                    </m:oMath>
                  </m:oMathPara>
                </a14:m>
                <a:endParaRPr lang="en-GB" b="1" dirty="0">
                  <a:solidFill>
                    <a:srgbClr val="FF0000"/>
                  </a:solidFill>
                </a:endParaRPr>
              </a:p>
            </p:txBody>
          </p:sp>
        </mc:Choice>
        <mc:Fallback>
          <p:sp>
            <p:nvSpPr>
              <p:cNvPr id="20" name="TextBox 19">
                <a:extLst>
                  <a:ext uri="{FF2B5EF4-FFF2-40B4-BE49-F238E27FC236}">
                    <a16:creationId xmlns:a16="http://schemas.microsoft.com/office/drawing/2014/main" id="{F41ACED5-675B-830C-BC9D-46361CE82FE8}"/>
                  </a:ext>
                </a:extLst>
              </p:cNvPr>
              <p:cNvSpPr txBox="1">
                <a:spLocks noRot="1" noChangeAspect="1" noMove="1" noResize="1" noEditPoints="1" noAdjustHandles="1" noChangeArrowheads="1" noChangeShapeType="1" noTextEdit="1"/>
              </p:cNvSpPr>
              <p:nvPr/>
            </p:nvSpPr>
            <p:spPr>
              <a:xfrm>
                <a:off x="942031" y="5736493"/>
                <a:ext cx="2999154" cy="656205"/>
              </a:xfrm>
              <a:prstGeom prst="rect">
                <a:avLst/>
              </a:prstGeom>
              <a:blipFill>
                <a:blip r:embed="rId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679841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7" grpId="0"/>
      <p:bldP spid="19"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52">
            <a:extLst>
              <a:ext uri="{FF2B5EF4-FFF2-40B4-BE49-F238E27FC236}">
                <a16:creationId xmlns:a16="http://schemas.microsoft.com/office/drawing/2014/main" id="{E6ECBF2A-0B24-356C-D498-A5AB17637E48}"/>
              </a:ext>
            </a:extLst>
          </p:cNvPr>
          <p:cNvSpPr txBox="1">
            <a:spLocks noChangeArrowheads="1"/>
          </p:cNvSpPr>
          <p:nvPr/>
        </p:nvSpPr>
        <p:spPr bwMode="auto">
          <a:xfrm>
            <a:off x="6663101" y="1200428"/>
            <a:ext cx="155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Inductor current</a:t>
            </a:r>
            <a:endParaRPr lang="en-US" altLang="en-US" sz="1400" b="1"/>
          </a:p>
        </p:txBody>
      </p:sp>
      <p:cxnSp>
        <p:nvCxnSpPr>
          <p:cNvPr id="29" name="Straight Arrow Connector 28">
            <a:extLst>
              <a:ext uri="{FF2B5EF4-FFF2-40B4-BE49-F238E27FC236}">
                <a16:creationId xmlns:a16="http://schemas.microsoft.com/office/drawing/2014/main" id="{E09FD076-CFFA-3881-50C1-0C5D769EF791}"/>
              </a:ext>
            </a:extLst>
          </p:cNvPr>
          <p:cNvCxnSpPr/>
          <p:nvPr/>
        </p:nvCxnSpPr>
        <p:spPr>
          <a:xfrm flipV="1">
            <a:off x="975089" y="317912"/>
            <a:ext cx="0" cy="9294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2A0D876-00D7-A410-4F7C-CD04597B9DB4}"/>
                  </a:ext>
                </a:extLst>
              </p:cNvPr>
              <p:cNvSpPr txBox="1"/>
              <p:nvPr/>
            </p:nvSpPr>
            <p:spPr>
              <a:xfrm>
                <a:off x="79834" y="1699768"/>
                <a:ext cx="7557660" cy="959302"/>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Computing the change in current using following expression:</a:t>
                </a:r>
              </a:p>
              <a:p>
                <a:pPr marL="685800" marR="0" indent="0" algn="l">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pPr marL="0" marR="0" indent="0" algn="ctr">
                  <a:lnSpc>
                    <a:spcPts val="1300"/>
                  </a:lnSpc>
                  <a:spcBef>
                    <a:spcPts val="1200"/>
                  </a:spcBef>
                  <a:spcAft>
                    <a:spcPts val="0"/>
                  </a:spcAft>
                  <a:tabLst>
                    <a:tab pos="5715000" algn="r"/>
                  </a:tabLst>
                </a:pPr>
                <a14:m>
                  <m:oMath xmlns:m="http://schemas.openxmlformats.org/officeDocument/2006/math">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𝑣</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𝑑</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𝑑𝑡</m:t>
                        </m:r>
                      </m:den>
                    </m:f>
                  </m:oMath>
                </a14:m>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=&gt;  </a:t>
                </a:r>
                <a14:m>
                  <m:oMath xmlns:m="http://schemas.openxmlformats.org/officeDocument/2006/math">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𝑑</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𝑑𝑡</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𝑣</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oMath>
                </a14:m>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800" dirty="0">
                  <a:effectLst/>
                  <a:latin typeface="Times"/>
                  <a:ea typeface="SimSun" panose="02010600030101010101" pitchFamily="2" charset="-122"/>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42A0D876-00D7-A410-4F7C-CD04597B9DB4}"/>
                  </a:ext>
                </a:extLst>
              </p:cNvPr>
              <p:cNvSpPr txBox="1">
                <a:spLocks noRot="1" noChangeAspect="1" noMove="1" noResize="1" noEditPoints="1" noAdjustHandles="1" noChangeArrowheads="1" noChangeShapeType="1" noTextEdit="1"/>
              </p:cNvSpPr>
              <p:nvPr/>
            </p:nvSpPr>
            <p:spPr>
              <a:xfrm>
                <a:off x="79834" y="1699768"/>
                <a:ext cx="7557660" cy="959302"/>
              </a:xfrm>
              <a:prstGeom prst="rect">
                <a:avLst/>
              </a:prstGeom>
              <a:blipFill>
                <a:blip r:embed="rId2"/>
                <a:stretch>
                  <a:fillRect t="-14013" b="-3185"/>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135C3A2F-CB2F-A11D-ACEB-44E355EFF118}"/>
                  </a:ext>
                </a:extLst>
              </p:cNvPr>
              <p:cNvSpPr txBox="1"/>
              <p:nvPr/>
            </p:nvSpPr>
            <p:spPr>
              <a:xfrm>
                <a:off x="158750" y="3111513"/>
                <a:ext cx="7759954" cy="1049198"/>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When switch is closed:</a:t>
                </a:r>
              </a:p>
              <a:p>
                <a:pPr marL="685800" marR="0" indent="0" algn="l">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14:m>
                  <m:oMath xmlns:m="http://schemas.openxmlformats.org/officeDocument/2006/math">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𝑐𝑙𝑜𝑠𝑒𝑑</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num>
                      <m:den>
                        <m:sSub>
                          <m:sSubPr>
                            <m:ctrl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𝐿</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𝑝</m:t>
                            </m:r>
                          </m:sub>
                        </m:sSub>
                      </m:den>
                    </m:f>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oMath>
                </a14:m>
                <a:r>
                  <a:rPr lang="en-US" sz="1800" dirty="0">
                    <a:effectLst/>
                    <a:latin typeface="Times New Roman" panose="02020603050405020304" pitchFamily="18" charset="0"/>
                    <a:ea typeface="SimSun" panose="02010600030101010101" pitchFamily="2" charset="-122"/>
                  </a:rPr>
                  <a:t>    </a:t>
                </a:r>
                <a14:m>
                  <m:oMath xmlns:m="http://schemas.openxmlformats.org/officeDocument/2006/math">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𝑐𝑙𝑜𝑠𝑒𝑑</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num>
                      <m:den>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𝐿</m:t>
                            </m:r>
                          </m:e>
                          <m:sub>
                            <m:r>
                              <a:rPr lang="en-GB" i="1">
                                <a:latin typeface="Cambria Math" panose="02040503050406030204" pitchFamily="18" charset="0"/>
                                <a:ea typeface="SimSun" panose="02010600030101010101" pitchFamily="2" charset="-122"/>
                                <a:cs typeface="Times New Roman" panose="02020603050405020304" pitchFamily="18" charset="0"/>
                              </a:rPr>
                              <m:t>𝑝</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oMath>
                </a14:m>
                <a:r>
                  <a:rPr lang="en-US" sz="1800" dirty="0">
                    <a:effectLst/>
                    <a:latin typeface="Times New Roman" panose="02020603050405020304" pitchFamily="18" charset="0"/>
                    <a:ea typeface="SimSun" panose="02010600030101010101" pitchFamily="2" charset="-122"/>
                  </a:rPr>
                  <a:t>	</a:t>
                </a:r>
                <a:r>
                  <a:rPr lang="en-US" dirty="0">
                    <a:effectLst/>
                  </a:rPr>
                  <a:t> </a:t>
                </a:r>
                <a:endParaRPr lang="en-US" dirty="0"/>
              </a:p>
            </p:txBody>
          </p:sp>
        </mc:Choice>
        <mc:Fallback>
          <p:sp>
            <p:nvSpPr>
              <p:cNvPr id="33" name="TextBox 32">
                <a:extLst>
                  <a:ext uri="{FF2B5EF4-FFF2-40B4-BE49-F238E27FC236}">
                    <a16:creationId xmlns:a16="http://schemas.microsoft.com/office/drawing/2014/main" id="{135C3A2F-CB2F-A11D-ACEB-44E355EFF118}"/>
                  </a:ext>
                </a:extLst>
              </p:cNvPr>
              <p:cNvSpPr txBox="1">
                <a:spLocks noRot="1" noChangeAspect="1" noMove="1" noResize="1" noEditPoints="1" noAdjustHandles="1" noChangeArrowheads="1" noChangeShapeType="1" noTextEdit="1"/>
              </p:cNvSpPr>
              <p:nvPr/>
            </p:nvSpPr>
            <p:spPr>
              <a:xfrm>
                <a:off x="158750" y="3111513"/>
                <a:ext cx="7759954" cy="1049198"/>
              </a:xfrm>
              <a:prstGeom prst="rect">
                <a:avLst/>
              </a:prstGeom>
              <a:blipFill>
                <a:blip r:embed="rId3"/>
                <a:stretch>
                  <a:fillRect t="-12139"/>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84" name="TextBox 83">
                <a:extLst>
                  <a:ext uri="{FF2B5EF4-FFF2-40B4-BE49-F238E27FC236}">
                    <a16:creationId xmlns:a16="http://schemas.microsoft.com/office/drawing/2014/main" id="{74262A03-CE96-9B49-D4B5-F23CD11BB94C}"/>
                  </a:ext>
                </a:extLst>
              </p:cNvPr>
              <p:cNvSpPr txBox="1"/>
              <p:nvPr/>
            </p:nvSpPr>
            <p:spPr>
              <a:xfrm>
                <a:off x="0" y="5258785"/>
                <a:ext cx="8965751" cy="703782"/>
              </a:xfrm>
              <a:prstGeom prst="rect">
                <a:avLst/>
              </a:prstGeom>
              <a:noFill/>
            </p:spPr>
            <p:txBody>
              <a:bodyPr wrap="square">
                <a:spAutoFit/>
              </a:bodyPr>
              <a:lstStyle/>
              <a:p>
                <a14:m>
                  <m:oMath xmlns:m="http://schemas.openxmlformats.org/officeDocument/2006/math">
                    <m:f>
                      <m:fPr>
                        <m:ctrlPr>
                          <a:rPr lang="en-US" i="1" smtClean="0">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𝑜𝑝𝑒𝑛</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i="1">
                            <a:effectLst/>
                            <a:latin typeface="Cambria Math" panose="02040503050406030204" pitchFamily="18" charset="0"/>
                          </a:rPr>
                        </m:ctrlPr>
                      </m:fPr>
                      <m:num>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f>
                          <m:fPr>
                            <m:ctrlPr>
                              <a:rPr lang="en-GB" i="1">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i="1">
                                    <a:latin typeface="Cambria Math" panose="02040503050406030204" pitchFamily="18" charset="0"/>
                                    <a:ea typeface="SimSun" panose="02010600030101010101" pitchFamily="2" charset="-122"/>
                                    <a:cs typeface="Times New Roman" panose="02020603050405020304" pitchFamily="18" charset="0"/>
                                  </a:rPr>
                                  <m:t>1</m:t>
                                </m:r>
                              </m:sub>
                            </m:sSub>
                          </m:num>
                          <m:den>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i="1">
                                    <a:latin typeface="Cambria Math" panose="02040503050406030204" pitchFamily="18" charset="0"/>
                                    <a:ea typeface="SimSun" panose="02010600030101010101" pitchFamily="2" charset="-122"/>
                                    <a:cs typeface="Times New Roman" panose="02020603050405020304" pitchFamily="18" charset="0"/>
                                  </a:rPr>
                                  <m:t>2</m:t>
                                </m:r>
                              </m:sub>
                            </m:sSub>
                          </m:den>
                        </m:f>
                      </m:num>
                      <m:den>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𝐿</m:t>
                            </m:r>
                          </m:e>
                          <m:sub>
                            <m:r>
                              <a:rPr lang="en-GB" i="1">
                                <a:latin typeface="Cambria Math" panose="02040503050406030204" pitchFamily="18" charset="0"/>
                                <a:ea typeface="SimSun" panose="02010600030101010101" pitchFamily="2" charset="-122"/>
                                <a:cs typeface="Times New Roman" panose="02020603050405020304" pitchFamily="18" charset="0"/>
                              </a:rPr>
                              <m:t>𝑝</m:t>
                            </m:r>
                          </m:sub>
                        </m:sSub>
                      </m:den>
                    </m:f>
                  </m:oMath>
                </a14:m>
                <a:r>
                  <a:rPr lang="en-US" sz="1800" dirty="0">
                    <a:effectLst/>
                    <a:latin typeface="Times New Roman" panose="02020603050405020304" pitchFamily="18" charset="0"/>
                    <a:ea typeface="SimSun" panose="02010600030101010101" pitchFamily="2" charset="-122"/>
                  </a:rPr>
                  <a:t> </a:t>
                </a:r>
                <a14:m>
                  <m:oMath xmlns:m="http://schemas.openxmlformats.org/officeDocument/2006/math">
                    <m:r>
                      <a:rPr lang="en-GB" b="0" i="0" smtClean="0">
                        <a:latin typeface="Cambria Math" panose="02040503050406030204" pitchFamily="18" charset="0"/>
                        <a:ea typeface="SimSun" panose="02010600030101010101" pitchFamily="2" charset="-122"/>
                        <a:cs typeface="Times New Roman" panose="02020603050405020304" pitchFamily="18" charset="0"/>
                      </a:rPr>
                      <m:t>                  </m:t>
                    </m:r>
                    <m:r>
                      <a:rPr lang="en-GB" i="1">
                        <a:latin typeface="Cambria Math" panose="02040503050406030204" pitchFamily="18" charset="0"/>
                        <a:ea typeface="SimSun" panose="02010600030101010101" pitchFamily="2" charset="-122"/>
                        <a:cs typeface="Times New Roman" panose="02020603050405020304" pitchFamily="18" charset="0"/>
                      </a:rPr>
                      <m:t>⇒</m:t>
                    </m:r>
                  </m:oMath>
                </a14:m>
                <a:r>
                  <a:rPr lang="en-US" sz="1800" dirty="0">
                    <a:effectLst/>
                    <a:latin typeface="Times New Roman" panose="02020603050405020304" pitchFamily="18" charset="0"/>
                    <a:ea typeface="SimSun" panose="02010600030101010101" pitchFamily="2" charset="-122"/>
                  </a:rPr>
                  <a:t>        </a:t>
                </a:r>
                <a14:m>
                  <m:oMath xmlns:m="http://schemas.openxmlformats.org/officeDocument/2006/math">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𝑜𝑝𝑒𝑛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f>
                      <m:fPr>
                        <m:ctrlPr>
                          <a:rPr lang="en-GB" i="1">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i="1">
                                <a:latin typeface="Cambria Math" panose="02040503050406030204" pitchFamily="18" charset="0"/>
                                <a:ea typeface="SimSun" panose="02010600030101010101" pitchFamily="2" charset="-122"/>
                                <a:cs typeface="Times New Roman" panose="02020603050405020304" pitchFamily="18" charset="0"/>
                              </a:rPr>
                              <m:t>1</m:t>
                            </m:r>
                          </m:sub>
                        </m:sSub>
                      </m:num>
                      <m:den>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i="1">
                                <a:latin typeface="Cambria Math" panose="02040503050406030204" pitchFamily="18" charset="0"/>
                                <a:ea typeface="SimSun" panose="02010600030101010101" pitchFamily="2" charset="-122"/>
                                <a:cs typeface="Times New Roman" panose="02020603050405020304" pitchFamily="18" charset="0"/>
                              </a:rPr>
                              <m:t>2</m:t>
                            </m:r>
                          </m:sub>
                        </m:sSub>
                      </m:den>
                    </m:f>
                    <m:f>
                      <m:fPr>
                        <m:ctrlPr>
                          <a:rPr lang="en-US" i="1">
                            <a:effectLst/>
                            <a:latin typeface="Cambria Math" panose="02040503050406030204" pitchFamily="18" charset="0"/>
                          </a:rPr>
                        </m:ctrlPr>
                      </m:fPr>
                      <m:num>
                        <m:r>
                          <a:rPr lang="en-GB" b="0" i="1" smtClean="0">
                            <a:effectLst/>
                            <a:latin typeface="Cambria Math" panose="02040503050406030204" pitchFamily="18" charset="0"/>
                          </a:rPr>
                          <m:t>1</m:t>
                        </m:r>
                      </m:num>
                      <m:den>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𝐿</m:t>
                            </m:r>
                          </m:e>
                          <m:sub>
                            <m:r>
                              <a:rPr lang="en-GB" i="1">
                                <a:latin typeface="Cambria Math" panose="02040503050406030204" pitchFamily="18" charset="0"/>
                                <a:ea typeface="SimSun" panose="02010600030101010101" pitchFamily="2" charset="-122"/>
                                <a:cs typeface="Times New Roman" panose="02020603050405020304" pitchFamily="18" charset="0"/>
                              </a:rPr>
                              <m:t>𝑝</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oMath>
                </a14:m>
                <a:r>
                  <a:rPr lang="en-US" dirty="0">
                    <a:effectLst/>
                  </a:rPr>
                  <a:t> </a:t>
                </a:r>
                <a:endParaRPr lang="en-US" dirty="0"/>
              </a:p>
            </p:txBody>
          </p:sp>
        </mc:Choice>
        <mc:Fallback>
          <p:sp>
            <p:nvSpPr>
              <p:cNvPr id="84" name="TextBox 83">
                <a:extLst>
                  <a:ext uri="{FF2B5EF4-FFF2-40B4-BE49-F238E27FC236}">
                    <a16:creationId xmlns:a16="http://schemas.microsoft.com/office/drawing/2014/main" id="{74262A03-CE96-9B49-D4B5-F23CD11BB94C}"/>
                  </a:ext>
                </a:extLst>
              </p:cNvPr>
              <p:cNvSpPr txBox="1">
                <a:spLocks noRot="1" noChangeAspect="1" noMove="1" noResize="1" noEditPoints="1" noAdjustHandles="1" noChangeArrowheads="1" noChangeShapeType="1" noTextEdit="1"/>
              </p:cNvSpPr>
              <p:nvPr/>
            </p:nvSpPr>
            <p:spPr>
              <a:xfrm>
                <a:off x="0" y="5258785"/>
                <a:ext cx="8965751" cy="703782"/>
              </a:xfrm>
              <a:prstGeom prst="rect">
                <a:avLst/>
              </a:prstGeom>
              <a:blipFill>
                <a:blip r:embed="rId4"/>
                <a:stretch>
                  <a:fillRect/>
                </a:stretch>
              </a:blipFill>
            </p:spPr>
            <p:txBody>
              <a:bodyPr/>
              <a:lstStyle/>
              <a:p>
                <a:r>
                  <a:rPr lang="en-GB">
                    <a:noFill/>
                  </a:rPr>
                  <a:t> </a:t>
                </a:r>
              </a:p>
            </p:txBody>
          </p:sp>
        </mc:Fallback>
      </mc:AlternateContent>
      <p:sp>
        <p:nvSpPr>
          <p:cNvPr id="133" name="Text Box 4">
            <a:extLst>
              <a:ext uri="{FF2B5EF4-FFF2-40B4-BE49-F238E27FC236}">
                <a16:creationId xmlns:a16="http://schemas.microsoft.com/office/drawing/2014/main" id="{A662ADEC-E548-AC64-788D-3682A3D1F081}"/>
              </a:ext>
            </a:extLst>
          </p:cNvPr>
          <p:cNvSpPr txBox="1">
            <a:spLocks noChangeArrowheads="1"/>
          </p:cNvSpPr>
          <p:nvPr/>
        </p:nvSpPr>
        <p:spPr bwMode="auto">
          <a:xfrm>
            <a:off x="158750" y="-3147"/>
            <a:ext cx="47500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dirty="0"/>
              <a:t>Boost converter Inductor Current Change</a:t>
            </a:r>
            <a:endParaRPr lang="en-US" altLang="en-US" sz="1800" dirty="0"/>
          </a:p>
        </p:txBody>
      </p:sp>
      <p:grpSp>
        <p:nvGrpSpPr>
          <p:cNvPr id="2" name="Group 1">
            <a:extLst>
              <a:ext uri="{FF2B5EF4-FFF2-40B4-BE49-F238E27FC236}">
                <a16:creationId xmlns:a16="http://schemas.microsoft.com/office/drawing/2014/main" id="{01CE8449-5535-E9CB-E684-028E6C7F8396}"/>
              </a:ext>
            </a:extLst>
          </p:cNvPr>
          <p:cNvGrpSpPr>
            <a:grpSpLocks/>
          </p:cNvGrpSpPr>
          <p:nvPr/>
        </p:nvGrpSpPr>
        <p:grpSpPr bwMode="auto">
          <a:xfrm>
            <a:off x="975089" y="291896"/>
            <a:ext cx="7921944" cy="955428"/>
            <a:chOff x="395288" y="4129335"/>
            <a:chExt cx="7921625" cy="955428"/>
          </a:xfrm>
        </p:grpSpPr>
        <p:sp>
          <p:nvSpPr>
            <p:cNvPr id="3" name="Line 63">
              <a:extLst>
                <a:ext uri="{FF2B5EF4-FFF2-40B4-BE49-F238E27FC236}">
                  <a16:creationId xmlns:a16="http://schemas.microsoft.com/office/drawing/2014/main" id="{C9958325-015A-E394-2315-E7AF1EB8CB8A}"/>
                </a:ext>
              </a:extLst>
            </p:cNvPr>
            <p:cNvSpPr>
              <a:spLocks noChangeShapeType="1"/>
            </p:cNvSpPr>
            <p:nvPr/>
          </p:nvSpPr>
          <p:spPr bwMode="auto">
            <a:xfrm>
              <a:off x="395288" y="5084763"/>
              <a:ext cx="7921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Freeform 67">
              <a:extLst>
                <a:ext uri="{FF2B5EF4-FFF2-40B4-BE49-F238E27FC236}">
                  <a16:creationId xmlns:a16="http://schemas.microsoft.com/office/drawing/2014/main" id="{97453314-ECBB-86E6-E2E2-B882355D2E0E}"/>
                </a:ext>
              </a:extLst>
            </p:cNvPr>
            <p:cNvSpPr>
              <a:spLocks/>
            </p:cNvSpPr>
            <p:nvPr/>
          </p:nvSpPr>
          <p:spPr bwMode="auto">
            <a:xfrm>
              <a:off x="395288" y="4652963"/>
              <a:ext cx="7345362" cy="360362"/>
            </a:xfrm>
            <a:custGeom>
              <a:avLst/>
              <a:gdLst>
                <a:gd name="T0" fmla="*/ 0 w 4627"/>
                <a:gd name="T1" fmla="*/ 2147483646 h 408"/>
                <a:gd name="T2" fmla="*/ 2147483646 w 4627"/>
                <a:gd name="T3" fmla="*/ 2147483646 h 408"/>
                <a:gd name="T4" fmla="*/ 2147483646 w 4627"/>
                <a:gd name="T5" fmla="*/ 0 h 408"/>
                <a:gd name="T6" fmla="*/ 2147483646 w 4627"/>
                <a:gd name="T7" fmla="*/ 2147483646 h 408"/>
                <a:gd name="T8" fmla="*/ 2147483646 w 4627"/>
                <a:gd name="T9" fmla="*/ 0 h 408"/>
                <a:gd name="T10" fmla="*/ 2147483646 w 4627"/>
                <a:gd name="T11" fmla="*/ 2147483646 h 408"/>
                <a:gd name="T12" fmla="*/ 2147483646 w 4627"/>
                <a:gd name="T13" fmla="*/ 0 h 408"/>
                <a:gd name="T14" fmla="*/ 2147483646 w 4627"/>
                <a:gd name="T15" fmla="*/ 2147483646 h 408"/>
                <a:gd name="T16" fmla="*/ 2147483646 w 4627"/>
                <a:gd name="T17" fmla="*/ 0 h 408"/>
                <a:gd name="T18" fmla="*/ 2147483646 w 4627"/>
                <a:gd name="T19" fmla="*/ 2147483646 h 408"/>
                <a:gd name="T20" fmla="*/ 2147483646 w 4627"/>
                <a:gd name="T21" fmla="*/ 2147483646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627" h="408">
                  <a:moveTo>
                    <a:pt x="0" y="318"/>
                  </a:moveTo>
                  <a:lnTo>
                    <a:pt x="136" y="408"/>
                  </a:lnTo>
                  <a:lnTo>
                    <a:pt x="771" y="0"/>
                  </a:lnTo>
                  <a:lnTo>
                    <a:pt x="1225" y="408"/>
                  </a:lnTo>
                  <a:lnTo>
                    <a:pt x="1860" y="0"/>
                  </a:lnTo>
                  <a:lnTo>
                    <a:pt x="2313" y="408"/>
                  </a:lnTo>
                  <a:lnTo>
                    <a:pt x="2949" y="0"/>
                  </a:lnTo>
                  <a:lnTo>
                    <a:pt x="3402" y="408"/>
                  </a:lnTo>
                  <a:lnTo>
                    <a:pt x="4037" y="0"/>
                  </a:lnTo>
                  <a:lnTo>
                    <a:pt x="4491" y="408"/>
                  </a:lnTo>
                  <a:lnTo>
                    <a:pt x="4627" y="318"/>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Text Box 75">
              <a:extLst>
                <a:ext uri="{FF2B5EF4-FFF2-40B4-BE49-F238E27FC236}">
                  <a16:creationId xmlns:a16="http://schemas.microsoft.com/office/drawing/2014/main" id="{DDA3BCC6-5273-7BE7-005A-5F4818C8D50F}"/>
                </a:ext>
              </a:extLst>
            </p:cNvPr>
            <p:cNvSpPr txBox="1">
              <a:spLocks noChangeArrowheads="1"/>
            </p:cNvSpPr>
            <p:nvPr/>
          </p:nvSpPr>
          <p:spPr bwMode="auto">
            <a:xfrm>
              <a:off x="6672716" y="4129335"/>
              <a:ext cx="15792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dirty="0">
                  <a:solidFill>
                    <a:srgbClr val="0000FF"/>
                  </a:solidFill>
                  <a:latin typeface="Times New Roman" panose="02020603050405020304" pitchFamily="18" charset="0"/>
                </a:rPr>
                <a:t>Inductor current</a:t>
              </a:r>
            </a:p>
            <a:p>
              <a:pPr eaLnBrk="1" hangingPunct="1">
                <a:spcBef>
                  <a:spcPct val="0"/>
                </a:spcBef>
                <a:buFontTx/>
                <a:buNone/>
              </a:pPr>
              <a:r>
                <a:rPr lang="en-GB" altLang="en-US" sz="1400" b="1" dirty="0">
                  <a:solidFill>
                    <a:srgbClr val="0000FF"/>
                  </a:solidFill>
                  <a:latin typeface="Times New Roman" panose="02020603050405020304" pitchFamily="18" charset="0"/>
                </a:rPr>
                <a:t>(= supply current)</a:t>
              </a:r>
              <a:endParaRPr lang="en-US" altLang="en-US" sz="1400" b="1" dirty="0">
                <a:solidFill>
                  <a:srgbClr val="0000FF"/>
                </a:solidFill>
                <a:latin typeface="Times New Roman" panose="02020603050405020304" pitchFamily="18" charset="0"/>
              </a:endParaRPr>
            </a:p>
          </p:txBody>
        </p:sp>
      </p:grpSp>
      <p:sp>
        <p:nvSpPr>
          <p:cNvPr id="8" name="TextBox 7">
            <a:extLst>
              <a:ext uri="{FF2B5EF4-FFF2-40B4-BE49-F238E27FC236}">
                <a16:creationId xmlns:a16="http://schemas.microsoft.com/office/drawing/2014/main" id="{4F39BC4B-A923-113A-79C4-891E36798703}"/>
              </a:ext>
            </a:extLst>
          </p:cNvPr>
          <p:cNvSpPr txBox="1"/>
          <p:nvPr/>
        </p:nvSpPr>
        <p:spPr>
          <a:xfrm>
            <a:off x="-82296" y="4861340"/>
            <a:ext cx="2924085" cy="271485"/>
          </a:xfrm>
          <a:prstGeom prst="rect">
            <a:avLst/>
          </a:prstGeom>
          <a:noFill/>
        </p:spPr>
        <p:txBody>
          <a:bodyPr wrap="square">
            <a:spAutoFit/>
          </a:bodyPr>
          <a:lstStyle/>
          <a:p>
            <a:pPr marL="685800" marR="0" indent="0">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When switch is open:</a:t>
            </a:r>
            <a:endParaRPr lang="en-US" sz="1800" dirty="0">
              <a:effectLst/>
              <a:latin typeface="Times"/>
              <a:ea typeface="SimSun" panose="02010600030101010101" pitchFamily="2" charset="-122"/>
              <a:cs typeface="Times New Roman" panose="02020603050405020304" pitchFamily="18" charset="0"/>
            </a:endParaRPr>
          </a:p>
        </p:txBody>
      </p:sp>
      <p:pic>
        <p:nvPicPr>
          <p:cNvPr id="5" name="Picture 4">
            <a:extLst>
              <a:ext uri="{FF2B5EF4-FFF2-40B4-BE49-F238E27FC236}">
                <a16:creationId xmlns:a16="http://schemas.microsoft.com/office/drawing/2014/main" id="{02CB6270-170C-51F6-7C78-5427E9F7189B}"/>
              </a:ext>
            </a:extLst>
          </p:cNvPr>
          <p:cNvPicPr>
            <a:picLocks noChangeAspect="1"/>
          </p:cNvPicPr>
          <p:nvPr/>
        </p:nvPicPr>
        <p:blipFill>
          <a:blip r:embed="rId5"/>
          <a:stretch>
            <a:fillRect/>
          </a:stretch>
        </p:blipFill>
        <p:spPr>
          <a:xfrm>
            <a:off x="5495935" y="2122533"/>
            <a:ext cx="3549650" cy="1319275"/>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A2EDEEC-16C9-D643-7DD3-1807EEA0FDBA}"/>
                  </a:ext>
                </a:extLst>
              </p:cNvPr>
              <p:cNvSpPr txBox="1"/>
              <p:nvPr/>
            </p:nvSpPr>
            <p:spPr>
              <a:xfrm>
                <a:off x="3291840" y="4214355"/>
                <a:ext cx="4626864" cy="549702"/>
              </a:xfrm>
              <a:prstGeom prst="rect">
                <a:avLst/>
              </a:prstGeom>
              <a:noFill/>
            </p:spPr>
            <p:txBody>
              <a:bodyPr wrap="square">
                <a:spAutoFit/>
              </a:bodyPr>
              <a:lstStyle/>
              <a:p>
                <a14:m>
                  <m:oMath xmlns:m="http://schemas.openxmlformats.org/officeDocument/2006/math">
                    <m:r>
                      <a:rPr lang="en-GB" sz="1800" b="1" i="1" smtClean="0">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m:t>
                    </m:r>
                  </m:oMath>
                </a14:m>
                <a:r>
                  <a:rPr lang="en-US" sz="1800" b="1" dirty="0">
                    <a:solidFill>
                      <a:srgbClr val="FF0000"/>
                    </a:solidFill>
                    <a:effectLst/>
                    <a:latin typeface="Times New Roman" panose="02020603050405020304" pitchFamily="18" charset="0"/>
                    <a:ea typeface="SimSun" panose="02010600030101010101" pitchFamily="2" charset="-122"/>
                  </a:rPr>
                  <a:t>    </a:t>
                </a:r>
                <a14:m>
                  <m:oMath xmlns:m="http://schemas.openxmlformats.org/officeDocument/2006/math">
                    <m:sSub>
                      <m:sSubPr>
                        <m:ctrlPr>
                          <a:rPr lang="en-US" b="1" i="1">
                            <a:solidFill>
                              <a:srgbClr val="FF0000"/>
                            </a:solidFill>
                            <a:effectLst/>
                            <a:latin typeface="Cambria Math" panose="02040503050406030204" pitchFamily="18" charset="0"/>
                          </a:rPr>
                        </m:ctrlPr>
                      </m:sSubPr>
                      <m:e>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b="1" i="1">
                                <a:solidFill>
                                  <a:srgbClr val="FF0000"/>
                                </a:solidFill>
                                <a:effectLst/>
                                <a:latin typeface="Cambria Math" panose="02040503050406030204" pitchFamily="18" charset="0"/>
                              </a:rPr>
                            </m:ctrlPr>
                          </m:sSubPr>
                          <m:e>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𝒊</m:t>
                            </m:r>
                          </m:e>
                          <m: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𝑳</m:t>
                            </m:r>
                          </m:sub>
                        </m:s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𝒔𝒘𝒊𝒕𝒄𝒉</m:t>
                        </m:r>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 </m:t>
                        </m:r>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𝒄𝒍𝒐𝒔𝒆𝒅</m:t>
                        </m:r>
                      </m:sub>
                    </m:s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b="1" i="1">
                            <a:solidFill>
                              <a:srgbClr val="FF0000"/>
                            </a:solidFill>
                            <a:effectLst/>
                            <a:latin typeface="Cambria Math" panose="02040503050406030204" pitchFamily="18" charset="0"/>
                          </a:rPr>
                        </m:ctrlPr>
                      </m:fPr>
                      <m:num>
                        <m:sSub>
                          <m:sSubPr>
                            <m:ctrlPr>
                              <a:rPr lang="en-US" b="1" i="1">
                                <a:solidFill>
                                  <a:srgbClr val="FF0000"/>
                                </a:solidFill>
                                <a:effectLst/>
                                <a:latin typeface="Cambria Math" panose="02040503050406030204" pitchFamily="18" charset="0"/>
                              </a:rPr>
                            </m:ctrlPr>
                          </m:sSubPr>
                          <m:e>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𝑽</m:t>
                            </m:r>
                          </m:e>
                          <m:sub>
                            <m:r>
                              <a:rPr lang="en-GB" sz="1800" b="1" i="1" smtClean="0">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𝑰𝑵</m:t>
                            </m:r>
                          </m:sub>
                        </m:sSub>
                      </m:num>
                      <m:den>
                        <m:sSub>
                          <m:sSubPr>
                            <m:ctrlP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𝑳</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𝒑</m:t>
                            </m:r>
                          </m:sub>
                        </m:sSub>
                      </m:den>
                    </m:f>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 ×</m:t>
                    </m:r>
                    <m:r>
                      <a:rPr lang="en-GB" b="1" i="1" smtClean="0">
                        <a:solidFill>
                          <a:srgbClr val="FF0000"/>
                        </a:solidFill>
                        <a:effectLst/>
                        <a:latin typeface="Cambria Math" panose="02040503050406030204" pitchFamily="18" charset="0"/>
                      </a:rPr>
                      <m:t>𝑫𝑻</m:t>
                    </m:r>
                  </m:oMath>
                </a14:m>
                <a:endParaRPr lang="en-GB" b="1" dirty="0">
                  <a:solidFill>
                    <a:srgbClr val="FF0000"/>
                  </a:solidFill>
                </a:endParaRPr>
              </a:p>
            </p:txBody>
          </p:sp>
        </mc:Choice>
        <mc:Fallback>
          <p:sp>
            <p:nvSpPr>
              <p:cNvPr id="9" name="TextBox 8">
                <a:extLst>
                  <a:ext uri="{FF2B5EF4-FFF2-40B4-BE49-F238E27FC236}">
                    <a16:creationId xmlns:a16="http://schemas.microsoft.com/office/drawing/2014/main" id="{4A2EDEEC-16C9-D643-7DD3-1807EEA0FDBA}"/>
                  </a:ext>
                </a:extLst>
              </p:cNvPr>
              <p:cNvSpPr txBox="1">
                <a:spLocks noRot="1" noChangeAspect="1" noMove="1" noResize="1" noEditPoints="1" noAdjustHandles="1" noChangeArrowheads="1" noChangeShapeType="1" noTextEdit="1"/>
              </p:cNvSpPr>
              <p:nvPr/>
            </p:nvSpPr>
            <p:spPr>
              <a:xfrm>
                <a:off x="3291840" y="4214355"/>
                <a:ext cx="4626864" cy="549702"/>
              </a:xfrm>
              <a:prstGeom prst="rect">
                <a:avLst/>
              </a:prstGeom>
              <a:blipFill>
                <a:blip r:embed="rId6"/>
                <a:stretch>
                  <a:fillRect b="-1099"/>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D33AA93-221C-679B-5D34-7D0B7BA15C1B}"/>
                  </a:ext>
                </a:extLst>
              </p:cNvPr>
              <p:cNvSpPr txBox="1"/>
              <p:nvPr/>
            </p:nvSpPr>
            <p:spPr>
              <a:xfrm>
                <a:off x="3429261" y="6016402"/>
                <a:ext cx="5536490" cy="549702"/>
              </a:xfrm>
              <a:prstGeom prst="rect">
                <a:avLst/>
              </a:prstGeom>
              <a:noFill/>
            </p:spPr>
            <p:txBody>
              <a:bodyPr wrap="square">
                <a:spAutoFit/>
              </a:bodyPr>
              <a:lstStyle/>
              <a:p>
                <a14:m>
                  <m:oMath xmlns:m="http://schemas.openxmlformats.org/officeDocument/2006/math">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oMath>
                </a14:m>
                <a:r>
                  <a:rPr lang="en-US" sz="1800" b="1" dirty="0">
                    <a:solidFill>
                      <a:srgbClr val="FF0000"/>
                    </a:solidFill>
                    <a:effectLst/>
                    <a:latin typeface="Times New Roman" panose="02020603050405020304" pitchFamily="18" charset="0"/>
                    <a:ea typeface="SimSun" panose="02010600030101010101" pitchFamily="2" charset="-122"/>
                  </a:rPr>
                  <a:t>        </a:t>
                </a:r>
                <a14:m>
                  <m:oMath xmlns:m="http://schemas.openxmlformats.org/officeDocument/2006/math">
                    <m:sSub>
                      <m:sSubPr>
                        <m:ctrlPr>
                          <a:rPr lang="en-US" b="1" i="1">
                            <a:solidFill>
                              <a:srgbClr val="FF0000"/>
                            </a:solidFill>
                            <a:effectLst/>
                            <a:latin typeface="Cambria Math" panose="02040503050406030204" pitchFamily="18" charset="0"/>
                          </a:rPr>
                        </m:ctrlPr>
                      </m:sSubPr>
                      <m:e>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b="1" i="1">
                                <a:solidFill>
                                  <a:srgbClr val="FF0000"/>
                                </a:solidFill>
                                <a:effectLst/>
                                <a:latin typeface="Cambria Math" panose="02040503050406030204" pitchFamily="18" charset="0"/>
                              </a:rPr>
                            </m:ctrlPr>
                          </m:sSubPr>
                          <m:e>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𝒊</m:t>
                            </m:r>
                          </m:e>
                          <m: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𝑳</m:t>
                            </m:r>
                          </m:sub>
                        </m:s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𝒔𝒘𝒊𝒕𝒄𝒉</m:t>
                        </m:r>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 </m:t>
                        </m:r>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𝒐𝒑𝒆𝒏</m:t>
                        </m:r>
                      </m:sub>
                    </m:s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𝑶𝑼𝑻</m:t>
                        </m:r>
                      </m:sub>
                    </m:sSub>
                    <m:f>
                      <m:fPr>
                        <m:ctrlP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𝑵</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𝟏</m:t>
                            </m:r>
                          </m:sub>
                        </m:sSub>
                      </m:num>
                      <m:den>
                        <m:sSub>
                          <m:sSubPr>
                            <m:ctrlP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𝑵</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𝟐</m:t>
                            </m:r>
                          </m:sub>
                        </m:sSub>
                      </m:den>
                    </m:f>
                    <m:f>
                      <m:fPr>
                        <m:ctrlPr>
                          <a:rPr lang="en-US" b="1" i="1">
                            <a:solidFill>
                              <a:srgbClr val="FF0000"/>
                            </a:solidFill>
                            <a:effectLst/>
                            <a:latin typeface="Cambria Math" panose="02040503050406030204" pitchFamily="18" charset="0"/>
                          </a:rPr>
                        </m:ctrlPr>
                      </m:fPr>
                      <m:num>
                        <m:r>
                          <a:rPr lang="en-GB" b="1" i="1" smtClean="0">
                            <a:solidFill>
                              <a:srgbClr val="FF0000"/>
                            </a:solidFill>
                            <a:effectLst/>
                            <a:latin typeface="Cambria Math" panose="02040503050406030204" pitchFamily="18" charset="0"/>
                          </a:rPr>
                          <m:t>𝟏</m:t>
                        </m:r>
                      </m:num>
                      <m:den>
                        <m:sSub>
                          <m:sSubPr>
                            <m:ctrlP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𝑳</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𝒑</m:t>
                            </m:r>
                          </m:sub>
                        </m:sSub>
                      </m:den>
                    </m:f>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 ×</m:t>
                    </m:r>
                    <m:r>
                      <a:rPr lang="en-GB" sz="1800" b="1" i="1" smtClean="0">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𝑻</m:t>
                    </m:r>
                    <m:r>
                      <a:rPr lang="en-GB" b="1" i="1" smtClean="0">
                        <a:solidFill>
                          <a:srgbClr val="FF0000"/>
                        </a:solidFill>
                        <a:effectLst/>
                        <a:latin typeface="Cambria Math" panose="02040503050406030204" pitchFamily="18" charset="0"/>
                      </a:rPr>
                      <m:t>(</m:t>
                    </m:r>
                    <m:r>
                      <a:rPr lang="en-GB" b="1" i="1" smtClean="0">
                        <a:solidFill>
                          <a:srgbClr val="FF0000"/>
                        </a:solidFill>
                        <a:effectLst/>
                        <a:latin typeface="Cambria Math" panose="02040503050406030204" pitchFamily="18" charset="0"/>
                      </a:rPr>
                      <m:t>𝟏</m:t>
                    </m:r>
                    <m:r>
                      <a:rPr lang="en-GB" b="1" i="1" smtClean="0">
                        <a:solidFill>
                          <a:srgbClr val="FF0000"/>
                        </a:solidFill>
                        <a:effectLst/>
                        <a:latin typeface="Cambria Math" panose="02040503050406030204" pitchFamily="18" charset="0"/>
                      </a:rPr>
                      <m:t>−</m:t>
                    </m:r>
                    <m:r>
                      <a:rPr lang="en-GB" b="1" i="1" smtClean="0">
                        <a:solidFill>
                          <a:srgbClr val="FF0000"/>
                        </a:solidFill>
                        <a:effectLst/>
                        <a:latin typeface="Cambria Math" panose="02040503050406030204" pitchFamily="18" charset="0"/>
                      </a:rPr>
                      <m:t>𝑫</m:t>
                    </m:r>
                    <m:r>
                      <a:rPr lang="en-GB" b="1" i="1" smtClean="0">
                        <a:solidFill>
                          <a:srgbClr val="FF0000"/>
                        </a:solidFill>
                        <a:effectLst/>
                        <a:latin typeface="Cambria Math" panose="02040503050406030204" pitchFamily="18" charset="0"/>
                      </a:rPr>
                      <m:t>)</m:t>
                    </m:r>
                  </m:oMath>
                </a14:m>
                <a:endParaRPr lang="en-GB" b="1" dirty="0">
                  <a:solidFill>
                    <a:srgbClr val="FF0000"/>
                  </a:solidFill>
                </a:endParaRPr>
              </a:p>
            </p:txBody>
          </p:sp>
        </mc:Choice>
        <mc:Fallback>
          <p:sp>
            <p:nvSpPr>
              <p:cNvPr id="11" name="TextBox 10">
                <a:extLst>
                  <a:ext uri="{FF2B5EF4-FFF2-40B4-BE49-F238E27FC236}">
                    <a16:creationId xmlns:a16="http://schemas.microsoft.com/office/drawing/2014/main" id="{2D33AA93-221C-679B-5D34-7D0B7BA15C1B}"/>
                  </a:ext>
                </a:extLst>
              </p:cNvPr>
              <p:cNvSpPr txBox="1">
                <a:spLocks noRot="1" noChangeAspect="1" noMove="1" noResize="1" noEditPoints="1" noAdjustHandles="1" noChangeArrowheads="1" noChangeShapeType="1" noTextEdit="1"/>
              </p:cNvSpPr>
              <p:nvPr/>
            </p:nvSpPr>
            <p:spPr>
              <a:xfrm>
                <a:off x="3429261" y="6016402"/>
                <a:ext cx="5536490" cy="549702"/>
              </a:xfrm>
              <a:prstGeom prst="rect">
                <a:avLst/>
              </a:prstGeom>
              <a:blipFill>
                <a:blip r:embed="rId7"/>
                <a:stretch>
                  <a:fillRect b="-2222"/>
                </a:stretch>
              </a:blipFill>
            </p:spPr>
            <p:txBody>
              <a:bodyPr/>
              <a:lstStyle/>
              <a:p>
                <a:r>
                  <a:rPr lang="en-GB">
                    <a:noFill/>
                  </a:rPr>
                  <a:t> </a:t>
                </a:r>
              </a:p>
            </p:txBody>
          </p:sp>
        </mc:Fallback>
      </mc:AlternateContent>
    </p:spTree>
    <p:extLst>
      <p:ext uri="{BB962C8B-B14F-4D97-AF65-F5344CB8AC3E}">
        <p14:creationId xmlns:p14="http://schemas.microsoft.com/office/powerpoint/2010/main" val="324652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P spid="8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2">
            <a:extLst>
              <a:ext uri="{FF2B5EF4-FFF2-40B4-BE49-F238E27FC236}">
                <a16:creationId xmlns:a16="http://schemas.microsoft.com/office/drawing/2014/main" id="{3DF5A5DE-CCB4-D62A-5565-41C63A1F3F6A}"/>
              </a:ext>
            </a:extLst>
          </p:cNvPr>
          <p:cNvSpPr txBox="1">
            <a:spLocks noChangeArrowheads="1"/>
          </p:cNvSpPr>
          <p:nvPr/>
        </p:nvSpPr>
        <p:spPr bwMode="auto">
          <a:xfrm>
            <a:off x="0" y="110591"/>
            <a:ext cx="46858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Minimum and Maximum Inductor Current</a:t>
            </a:r>
            <a:endParaRPr lang="en-US" altLang="en-US" sz="1800" b="1" u="sng" dirty="0"/>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1A84408-D5D6-40F9-A6AA-4EBBF4B0ABD0}"/>
                  </a:ext>
                </a:extLst>
              </p:cNvPr>
              <p:cNvSpPr txBox="1"/>
              <p:nvPr/>
            </p:nvSpPr>
            <p:spPr>
              <a:xfrm>
                <a:off x="806958" y="3950659"/>
                <a:ext cx="6389370" cy="7057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smtClean="0">
                              <a:latin typeface="Cambria Math" panose="02040503050406030204" pitchFamily="18" charset="0"/>
                            </a:rPr>
                            <m:t>𝐿</m:t>
                          </m:r>
                          <m:r>
                            <a:rPr lang="en-GB" b="0" i="1" smtClean="0">
                              <a:latin typeface="Cambria Math" panose="02040503050406030204" pitchFamily="18" charset="0"/>
                            </a:rPr>
                            <m:t>𝑝</m:t>
                          </m:r>
                          <m:r>
                            <a:rPr lang="en-GB" i="1">
                              <a:latin typeface="Cambria Math" panose="02040503050406030204" pitchFamily="18" charset="0"/>
                            </a:rPr>
                            <m:t>,</m:t>
                          </m:r>
                          <m:r>
                            <a:rPr lang="en-GB" i="1">
                              <a:latin typeface="Cambria Math" panose="02040503050406030204" pitchFamily="18" charset="0"/>
                            </a:rPr>
                            <m:t>𝑚𝑎𝑥</m:t>
                          </m:r>
                        </m:sub>
                      </m:sSub>
                      <m:r>
                        <a:rPr lang="en-GB" i="0">
                          <a:latin typeface="Cambria Math" panose="02040503050406030204" pitchFamily="18" charset="0"/>
                        </a:rPr>
                        <m:t>= </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𝑝</m:t>
                          </m:r>
                          <m:r>
                            <a:rPr lang="en-GB" i="1">
                              <a:latin typeface="Cambria Math" panose="02040503050406030204" pitchFamily="18" charset="0"/>
                            </a:rPr>
                            <m:t>,</m:t>
                          </m:r>
                          <m:r>
                            <a:rPr lang="en-GB" i="1">
                              <a:latin typeface="Cambria Math" panose="02040503050406030204" pitchFamily="18" charset="0"/>
                            </a:rPr>
                            <m:t>𝑎𝑣𝑔</m:t>
                          </m:r>
                        </m:sub>
                      </m:sSub>
                      <m:r>
                        <a:rPr lang="en-GB" i="0">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d>
                                <m:dPr>
                                  <m:ctrlPr>
                                    <a:rPr lang="en-GB" i="1">
                                      <a:latin typeface="Cambria Math" panose="02040503050406030204" pitchFamily="18" charset="0"/>
                                    </a:rPr>
                                  </m:ctrlPr>
                                </m:dPr>
                                <m:e>
                                  <m:r>
                                    <a:rPr lang="en-GB" i="0">
                                      <a:latin typeface="Cambria Math" panose="02040503050406030204" pitchFamily="18" charset="0"/>
                                    </a:rPr>
                                    <m:t>∆</m:t>
                                  </m:r>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𝑖</m:t>
                                      </m:r>
                                    </m:e>
                                    <m:sub>
                                      <m:r>
                                        <a:rPr lang="en-GB" i="1">
                                          <a:latin typeface="Cambria Math" panose="02040503050406030204" pitchFamily="18" charset="0"/>
                                        </a:rPr>
                                        <m:t>𝐿</m:t>
                                      </m:r>
                                      <m:r>
                                        <a:rPr lang="en-GB" i="1">
                                          <a:latin typeface="Cambria Math" panose="02040503050406030204" pitchFamily="18" charset="0"/>
                                        </a:rPr>
                                        <m:t>𝑝</m:t>
                                      </m:r>
                                    </m:sub>
                                  </m:sSub>
                                </m:e>
                              </m:d>
                            </m:e>
                            <m:sub>
                              <m:r>
                                <a:rPr lang="en-GB" i="1">
                                  <a:latin typeface="Cambria Math" panose="02040503050406030204" pitchFamily="18" charset="0"/>
                                </a:rPr>
                                <m:t>𝑠𝑤𝑖𝑡𝑐h</m:t>
                              </m:r>
                              <m:r>
                                <a:rPr lang="en-GB" i="0">
                                  <a:latin typeface="Cambria Math" panose="02040503050406030204" pitchFamily="18" charset="0"/>
                                </a:rPr>
                                <m:t> </m:t>
                              </m:r>
                              <m:r>
                                <a:rPr lang="en-GB" i="1">
                                  <a:latin typeface="Cambria Math" panose="02040503050406030204" pitchFamily="18" charset="0"/>
                                </a:rPr>
                                <m:t>𝑐𝑙𝑜𝑠𝑒𝑑</m:t>
                              </m:r>
                            </m:sub>
                          </m:sSub>
                        </m:num>
                        <m:den>
                          <m:r>
                            <a:rPr lang="en-GB" i="0">
                              <a:latin typeface="Cambria Math" panose="02040503050406030204" pitchFamily="18" charset="0"/>
                            </a:rPr>
                            <m:t>2</m:t>
                          </m:r>
                        </m:den>
                      </m:f>
                      <m:r>
                        <a:rPr lang="en-GB" i="0">
                          <a:latin typeface="Cambria Math" panose="02040503050406030204" pitchFamily="18" charset="0"/>
                        </a:rPr>
                        <m:t> </m:t>
                      </m:r>
                    </m:oMath>
                  </m:oMathPara>
                </a14:m>
                <a:endParaRPr lang="en-GB" dirty="0"/>
              </a:p>
            </p:txBody>
          </p:sp>
        </mc:Choice>
        <mc:Fallback>
          <p:sp>
            <p:nvSpPr>
              <p:cNvPr id="8" name="TextBox 7">
                <a:extLst>
                  <a:ext uri="{FF2B5EF4-FFF2-40B4-BE49-F238E27FC236}">
                    <a16:creationId xmlns:a16="http://schemas.microsoft.com/office/drawing/2014/main" id="{41A84408-D5D6-40F9-A6AA-4EBBF4B0ABD0}"/>
                  </a:ext>
                </a:extLst>
              </p:cNvPr>
              <p:cNvSpPr txBox="1">
                <a:spLocks noRot="1" noChangeAspect="1" noMove="1" noResize="1" noEditPoints="1" noAdjustHandles="1" noChangeArrowheads="1" noChangeShapeType="1" noTextEdit="1"/>
              </p:cNvSpPr>
              <p:nvPr/>
            </p:nvSpPr>
            <p:spPr>
              <a:xfrm>
                <a:off x="806958" y="3950659"/>
                <a:ext cx="6389370" cy="70577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1488935-143A-B51E-81FD-10533719E831}"/>
                  </a:ext>
                </a:extLst>
              </p:cNvPr>
              <p:cNvSpPr txBox="1"/>
              <p:nvPr/>
            </p:nvSpPr>
            <p:spPr>
              <a:xfrm>
                <a:off x="-84662" y="932053"/>
                <a:ext cx="22105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chemeClr val="tx1"/>
                              </a:solidFill>
                              <a:latin typeface="Cambria Math" panose="02040503050406030204" pitchFamily="18" charset="0"/>
                            </a:rPr>
                          </m:ctrlPr>
                        </m:sSubPr>
                        <m:e>
                          <m:r>
                            <a:rPr lang="en-GB" b="0" i="1" smtClean="0">
                              <a:solidFill>
                                <a:schemeClr val="tx1"/>
                              </a:solidFill>
                              <a:latin typeface="Cambria Math" panose="02040503050406030204" pitchFamily="18" charset="0"/>
                            </a:rPr>
                            <m:t>𝑃</m:t>
                          </m:r>
                        </m:e>
                        <m:sub>
                          <m:r>
                            <a:rPr lang="en-GB" b="0" i="1" smtClean="0">
                              <a:solidFill>
                                <a:schemeClr val="tx1"/>
                              </a:solidFill>
                              <a:latin typeface="Cambria Math" panose="02040503050406030204" pitchFamily="18" charset="0"/>
                            </a:rPr>
                            <m:t>𝐼𝑁</m:t>
                          </m:r>
                        </m:sub>
                      </m:sSub>
                      <m:r>
                        <a:rPr lang="en-GB" b="0" i="0" smtClean="0">
                          <a:solidFill>
                            <a:schemeClr val="tx1"/>
                          </a:solidFill>
                          <a:latin typeface="Cambria Math" panose="02040503050406030204" pitchFamily="18" charset="0"/>
                        </a:rPr>
                        <m:t>=</m:t>
                      </m:r>
                      <m:sSub>
                        <m:sSubPr>
                          <m:ctrlPr>
                            <a:rPr lang="en-GB" i="1">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𝑃</m:t>
                          </m:r>
                        </m:e>
                        <m:sub>
                          <m:r>
                            <a:rPr lang="en-GB" b="0" i="1" smtClean="0">
                              <a:solidFill>
                                <a:schemeClr val="tx1"/>
                              </a:solidFill>
                              <a:latin typeface="Cambria Math" panose="02040503050406030204" pitchFamily="18" charset="0"/>
                            </a:rPr>
                            <m:t>𝑂𝑈𝑇</m:t>
                          </m:r>
                          <m:r>
                            <a:rPr lang="en-GB" b="0" i="1" smtClean="0">
                              <a:solidFill>
                                <a:schemeClr val="tx1"/>
                              </a:solidFill>
                              <a:latin typeface="Cambria Math" panose="02040503050406030204" pitchFamily="18" charset="0"/>
                            </a:rPr>
                            <m:t>  </m:t>
                          </m:r>
                        </m:sub>
                      </m:sSub>
                    </m:oMath>
                  </m:oMathPara>
                </a14:m>
                <a:endParaRPr lang="en-GB" dirty="0"/>
              </a:p>
            </p:txBody>
          </p:sp>
        </mc:Choice>
        <mc:Fallback>
          <p:sp>
            <p:nvSpPr>
              <p:cNvPr id="2" name="TextBox 1">
                <a:extLst>
                  <a:ext uri="{FF2B5EF4-FFF2-40B4-BE49-F238E27FC236}">
                    <a16:creationId xmlns:a16="http://schemas.microsoft.com/office/drawing/2014/main" id="{61488935-143A-B51E-81FD-10533719E831}"/>
                  </a:ext>
                </a:extLst>
              </p:cNvPr>
              <p:cNvSpPr txBox="1">
                <a:spLocks noRot="1" noChangeAspect="1" noMove="1" noResize="1" noEditPoints="1" noAdjustHandles="1" noChangeArrowheads="1" noChangeShapeType="1" noTextEdit="1"/>
              </p:cNvSpPr>
              <p:nvPr/>
            </p:nvSpPr>
            <p:spPr>
              <a:xfrm>
                <a:off x="-84662" y="932053"/>
                <a:ext cx="2210562" cy="369332"/>
              </a:xfrm>
              <a:prstGeom prst="rect">
                <a:avLst/>
              </a:prstGeom>
              <a:blipFill>
                <a:blip r:embed="rId3"/>
                <a:stretch>
                  <a:fillRect b="-1667"/>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25F2E214-06D0-89BD-87D6-B48C4DE269C5}"/>
              </a:ext>
            </a:extLst>
          </p:cNvPr>
          <p:cNvSpPr txBox="1"/>
          <p:nvPr/>
        </p:nvSpPr>
        <p:spPr>
          <a:xfrm>
            <a:off x="182880" y="524713"/>
            <a:ext cx="2544158" cy="369332"/>
          </a:xfrm>
          <a:prstGeom prst="rect">
            <a:avLst/>
          </a:prstGeom>
          <a:noFill/>
        </p:spPr>
        <p:txBody>
          <a:bodyPr wrap="none" rtlCol="0">
            <a:spAutoFit/>
          </a:bodyPr>
          <a:lstStyle/>
          <a:p>
            <a:r>
              <a:rPr lang="en-GB" dirty="0"/>
              <a:t>Assuming lossless system</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904312F-B4FC-0B3E-2A3B-C95AB5793669}"/>
                  </a:ext>
                </a:extLst>
              </p:cNvPr>
              <p:cNvSpPr txBox="1"/>
              <p:nvPr/>
            </p:nvSpPr>
            <p:spPr>
              <a:xfrm>
                <a:off x="182880" y="1513320"/>
                <a:ext cx="4265596" cy="6637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             </m:t>
                          </m:r>
                          <m:r>
                            <a:rPr lang="en-GB" i="1">
                              <a:latin typeface="Cambria Math" panose="02040503050406030204" pitchFamily="18" charset="0"/>
                            </a:rPr>
                            <m:t>𝑉</m:t>
                          </m:r>
                        </m:e>
                        <m:sub>
                          <m:r>
                            <a:rPr lang="en-GB" i="1">
                              <a:latin typeface="Cambria Math" panose="02040503050406030204" pitchFamily="18" charset="0"/>
                            </a:rPr>
                            <m:t>𝐼𝑁</m:t>
                          </m:r>
                        </m:sub>
                      </m:sSub>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𝑎𝑣𝑔</m:t>
                          </m:r>
                        </m:sub>
                      </m:sSub>
                      <m:r>
                        <a:rPr lang="en-GB" b="0" i="1" smtClean="0">
                          <a:latin typeface="Cambria Math" panose="02040503050406030204" pitchFamily="18" charset="0"/>
                        </a:rPr>
                        <m:t>𝐷</m:t>
                      </m:r>
                      <m:r>
                        <a:rPr lang="en-GB">
                          <a:latin typeface="Cambria Math" panose="02040503050406030204" pitchFamily="18" charset="0"/>
                        </a:rPr>
                        <m:t>=</m:t>
                      </m:r>
                      <m:f>
                        <m:fPr>
                          <m:ctrlPr>
                            <a:rPr lang="en-GB" i="1">
                              <a:solidFill>
                                <a:srgbClr val="836967"/>
                              </a:solidFill>
                              <a:latin typeface="Cambria Math" panose="02040503050406030204" pitchFamily="18" charset="0"/>
                            </a:rPr>
                          </m:ctrlPr>
                        </m:fPr>
                        <m:num>
                          <m:sSup>
                            <m:sSupPr>
                              <m:ctrlPr>
                                <a:rPr lang="en-GB" i="1" smtClean="0">
                                  <a:solidFill>
                                    <a:srgbClr val="836967"/>
                                  </a:solidFill>
                                  <a:latin typeface="Cambria Math" panose="02040503050406030204" pitchFamily="18" charset="0"/>
                                </a:rPr>
                              </m:ctrlPr>
                            </m:sSupPr>
                            <m:e>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𝑂𝑈𝑇</m:t>
                                  </m:r>
                                </m:sub>
                              </m:sSub>
                            </m:e>
                            <m:sup>
                              <m:r>
                                <a:rPr lang="en-GB" b="0" i="1" smtClean="0">
                                  <a:solidFill>
                                    <a:srgbClr val="836967"/>
                                  </a:solidFill>
                                  <a:latin typeface="Cambria Math" panose="02040503050406030204" pitchFamily="18" charset="0"/>
                                </a:rPr>
                                <m:t>2</m:t>
                              </m:r>
                            </m:sup>
                          </m:sSup>
                        </m:num>
                        <m:den>
                          <m:r>
                            <m:rPr>
                              <m:sty m:val="p"/>
                            </m:rPr>
                            <a:rPr lang="en-GB">
                              <a:latin typeface="Cambria Math" panose="02040503050406030204" pitchFamily="18" charset="0"/>
                            </a:rPr>
                            <m:t>R</m:t>
                          </m:r>
                        </m:den>
                      </m:f>
                    </m:oMath>
                  </m:oMathPara>
                </a14:m>
                <a:endParaRPr lang="en-GB" dirty="0"/>
              </a:p>
            </p:txBody>
          </p:sp>
        </mc:Choice>
        <mc:Fallback>
          <p:sp>
            <p:nvSpPr>
              <p:cNvPr id="6" name="TextBox 5">
                <a:extLst>
                  <a:ext uri="{FF2B5EF4-FFF2-40B4-BE49-F238E27FC236}">
                    <a16:creationId xmlns:a16="http://schemas.microsoft.com/office/drawing/2014/main" id="{A904312F-B4FC-0B3E-2A3B-C95AB5793669}"/>
                  </a:ext>
                </a:extLst>
              </p:cNvPr>
              <p:cNvSpPr txBox="1">
                <a:spLocks noRot="1" noChangeAspect="1" noMove="1" noResize="1" noEditPoints="1" noAdjustHandles="1" noChangeArrowheads="1" noChangeShapeType="1" noTextEdit="1"/>
              </p:cNvSpPr>
              <p:nvPr/>
            </p:nvSpPr>
            <p:spPr>
              <a:xfrm>
                <a:off x="182880" y="1513320"/>
                <a:ext cx="4265596" cy="66377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4C1285A5-691C-2315-29CA-70A5AEE5A655}"/>
                  </a:ext>
                </a:extLst>
              </p:cNvPr>
              <p:cNvSpPr txBox="1"/>
              <p:nvPr/>
            </p:nvSpPr>
            <p:spPr>
              <a:xfrm>
                <a:off x="1636776" y="921314"/>
                <a:ext cx="32793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             </m:t>
                          </m:r>
                          <m:r>
                            <a:rPr lang="en-GB" b="0" i="1" smtClean="0">
                              <a:latin typeface="Cambria Math" panose="02040503050406030204" pitchFamily="18" charset="0"/>
                            </a:rPr>
                            <m:t>𝑉</m:t>
                          </m:r>
                        </m:e>
                        <m:sub>
                          <m:r>
                            <a:rPr lang="en-GB" i="1">
                              <a:latin typeface="Cambria Math" panose="02040503050406030204" pitchFamily="18" charset="0"/>
                            </a:rPr>
                            <m:t>𝐼𝑁</m:t>
                          </m:r>
                        </m:sub>
                      </m:sSub>
                      <m:sSub>
                        <m:sSubPr>
                          <m:ctrlPr>
                            <a:rPr lang="en-GB" i="1">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𝐼𝑁</m:t>
                          </m:r>
                        </m:sub>
                      </m:sSub>
                      <m:r>
                        <a:rPr lang="en-GB">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𝑉</m:t>
                          </m:r>
                        </m:e>
                        <m:sub>
                          <m:r>
                            <a:rPr lang="en-GB" i="1">
                              <a:latin typeface="Cambria Math" panose="02040503050406030204" pitchFamily="18" charset="0"/>
                            </a:rPr>
                            <m:t>𝑂𝑈</m:t>
                          </m:r>
                          <m:r>
                            <a:rPr lang="en-GB" b="0" i="1" smtClean="0">
                              <a:latin typeface="Cambria Math" panose="02040503050406030204" pitchFamily="18" charset="0"/>
                            </a:rPr>
                            <m:t>𝑇</m:t>
                          </m:r>
                        </m:sub>
                      </m:sSub>
                      <m:sSub>
                        <m:sSubPr>
                          <m:ctrlPr>
                            <a:rPr lang="en-GB" i="1">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𝑂𝑈𝑇</m:t>
                          </m:r>
                          <m:r>
                            <a:rPr lang="en-GB" b="0" i="1" smtClean="0">
                              <a:latin typeface="Cambria Math" panose="02040503050406030204" pitchFamily="18" charset="0"/>
                            </a:rPr>
                            <m:t> </m:t>
                          </m:r>
                        </m:sub>
                      </m:sSub>
                    </m:oMath>
                  </m:oMathPara>
                </a14:m>
                <a:endParaRPr lang="en-GB" dirty="0"/>
              </a:p>
            </p:txBody>
          </p:sp>
        </mc:Choice>
        <mc:Fallback>
          <p:sp>
            <p:nvSpPr>
              <p:cNvPr id="12" name="TextBox 11">
                <a:extLst>
                  <a:ext uri="{FF2B5EF4-FFF2-40B4-BE49-F238E27FC236}">
                    <a16:creationId xmlns:a16="http://schemas.microsoft.com/office/drawing/2014/main" id="{4C1285A5-691C-2315-29CA-70A5AEE5A655}"/>
                  </a:ext>
                </a:extLst>
              </p:cNvPr>
              <p:cNvSpPr txBox="1">
                <a:spLocks noRot="1" noChangeAspect="1" noMove="1" noResize="1" noEditPoints="1" noAdjustHandles="1" noChangeArrowheads="1" noChangeShapeType="1" noTextEdit="1"/>
              </p:cNvSpPr>
              <p:nvPr/>
            </p:nvSpPr>
            <p:spPr>
              <a:xfrm>
                <a:off x="1636776" y="921314"/>
                <a:ext cx="3279398"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9F583CAE-EDF5-6B1E-25C9-B217213652B5}"/>
                  </a:ext>
                </a:extLst>
              </p:cNvPr>
              <p:cNvSpPr txBox="1"/>
              <p:nvPr/>
            </p:nvSpPr>
            <p:spPr>
              <a:xfrm>
                <a:off x="4448476" y="831734"/>
                <a:ext cx="4574367"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             </m:t>
                          </m:r>
                          <m:r>
                            <a:rPr lang="en-GB" i="1">
                              <a:latin typeface="Cambria Math" panose="02040503050406030204" pitchFamily="18" charset="0"/>
                            </a:rPr>
                            <m:t>𝑉</m:t>
                          </m:r>
                        </m:e>
                        <m:sub>
                          <m:r>
                            <a:rPr lang="en-GB" i="1">
                              <a:latin typeface="Cambria Math" panose="02040503050406030204" pitchFamily="18" charset="0"/>
                            </a:rPr>
                            <m:t>𝐼𝑁</m:t>
                          </m:r>
                        </m:sub>
                      </m:sSub>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𝑝</m:t>
                          </m:r>
                          <m:r>
                            <a:rPr lang="en-GB" b="0" i="1" smtClean="0">
                              <a:latin typeface="Cambria Math" panose="02040503050406030204" pitchFamily="18" charset="0"/>
                            </a:rPr>
                            <m:t>, </m:t>
                          </m:r>
                          <m:r>
                            <a:rPr lang="en-GB" b="0" i="1" smtClean="0">
                              <a:latin typeface="Cambria Math" panose="02040503050406030204" pitchFamily="18" charset="0"/>
                            </a:rPr>
                            <m:t>𝑎𝑣𝑔</m:t>
                          </m:r>
                        </m:sub>
                      </m:sSub>
                      <m:r>
                        <a:rPr lang="en-GB" b="0" i="1" smtClean="0">
                          <a:latin typeface="Cambria Math" panose="02040503050406030204" pitchFamily="18" charset="0"/>
                        </a:rPr>
                        <m:t>𝐷</m:t>
                      </m:r>
                      <m:r>
                        <a:rPr lang="en-GB">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𝑂𝑈𝑇</m:t>
                          </m:r>
                        </m:sub>
                      </m:sSub>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𝑂𝑈𝑇</m:t>
                              </m:r>
                            </m:sub>
                          </m:sSub>
                        </m:num>
                        <m:den>
                          <m:r>
                            <m:rPr>
                              <m:sty m:val="p"/>
                            </m:rPr>
                            <a:rPr lang="en-GB">
                              <a:latin typeface="Cambria Math" panose="02040503050406030204" pitchFamily="18" charset="0"/>
                            </a:rPr>
                            <m:t>R</m:t>
                          </m:r>
                        </m:den>
                      </m:f>
                    </m:oMath>
                  </m:oMathPara>
                </a14:m>
                <a:endParaRPr lang="en-GB" dirty="0"/>
              </a:p>
            </p:txBody>
          </p:sp>
        </mc:Choice>
        <mc:Fallback>
          <p:sp>
            <p:nvSpPr>
              <p:cNvPr id="15" name="TextBox 14">
                <a:extLst>
                  <a:ext uri="{FF2B5EF4-FFF2-40B4-BE49-F238E27FC236}">
                    <a16:creationId xmlns:a16="http://schemas.microsoft.com/office/drawing/2014/main" id="{9F583CAE-EDF5-6B1E-25C9-B217213652B5}"/>
                  </a:ext>
                </a:extLst>
              </p:cNvPr>
              <p:cNvSpPr txBox="1">
                <a:spLocks noRot="1" noChangeAspect="1" noMove="1" noResize="1" noEditPoints="1" noAdjustHandles="1" noChangeArrowheads="1" noChangeShapeType="1" noTextEdit="1"/>
              </p:cNvSpPr>
              <p:nvPr/>
            </p:nvSpPr>
            <p:spPr>
              <a:xfrm>
                <a:off x="4448476" y="831734"/>
                <a:ext cx="4574367" cy="60907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FE23B055-B35A-122B-45FC-D645DF37D342}"/>
                  </a:ext>
                </a:extLst>
              </p:cNvPr>
              <p:cNvSpPr txBox="1"/>
              <p:nvPr/>
            </p:nvSpPr>
            <p:spPr>
              <a:xfrm>
                <a:off x="3688330" y="1526227"/>
                <a:ext cx="4788158" cy="693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 </m:t>
                      </m:r>
                      <m:sSub>
                        <m:sSubPr>
                          <m:ctrlPr>
                            <a:rPr lang="en-GB" i="1" smtClean="0">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𝑎𝑣𝑔</m:t>
                          </m:r>
                        </m:sub>
                      </m:sSub>
                      <m:r>
                        <a:rPr lang="en-GB">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b="0" i="1" smtClean="0">
                                  <a:solidFill>
                                    <a:srgbClr val="836967"/>
                                  </a:solidFill>
                                  <a:latin typeface="Cambria Math" panose="02040503050406030204" pitchFamily="18" charset="0"/>
                                </a:rPr>
                                <m:t>(</m:t>
                              </m:r>
                              <m:r>
                                <a:rPr lang="en-GB" i="1">
                                  <a:latin typeface="Cambria Math" panose="02040503050406030204" pitchFamily="18" charset="0"/>
                                </a:rPr>
                                <m:t>𝑉</m:t>
                              </m:r>
                            </m:e>
                            <m:sub>
                              <m:r>
                                <a:rPr lang="en-GB" b="0" i="1" smtClean="0">
                                  <a:latin typeface="Cambria Math" panose="02040503050406030204" pitchFamily="18" charset="0"/>
                                </a:rPr>
                                <m:t>𝑂𝑈𝑇</m:t>
                              </m:r>
                            </m:sub>
                          </m:sSub>
                          <m:sSup>
                            <m:sSupPr>
                              <m:ctrlPr>
                                <a:rPr lang="en-GB" i="1" smtClean="0">
                                  <a:latin typeface="Cambria Math" panose="02040503050406030204" pitchFamily="18" charset="0"/>
                                </a:rPr>
                              </m:ctrlPr>
                            </m:sSupPr>
                            <m:e>
                              <m:r>
                                <a:rPr lang="en-GB" b="0" i="1" smtClean="0">
                                  <a:latin typeface="Cambria Math" panose="02040503050406030204" pitchFamily="18" charset="0"/>
                                </a:rPr>
                                <m:t>)</m:t>
                              </m:r>
                            </m:e>
                            <m:sup>
                              <m:r>
                                <a:rPr lang="en-GB" b="0" i="1" smtClean="0">
                                  <a:latin typeface="Cambria Math" panose="02040503050406030204" pitchFamily="18" charset="0"/>
                                </a:rPr>
                                <m:t>2</m:t>
                              </m:r>
                            </m:sup>
                          </m:sSup>
                        </m:num>
                        <m:den>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𝐼𝑁</m:t>
                              </m:r>
                            </m:sub>
                          </m:sSub>
                          <m:r>
                            <a:rPr lang="en-GB" b="0" i="1" smtClean="0">
                              <a:latin typeface="Cambria Math" panose="02040503050406030204" pitchFamily="18" charset="0"/>
                            </a:rPr>
                            <m:t>𝐷</m:t>
                          </m:r>
                        </m:den>
                      </m:f>
                      <m:r>
                        <a:rPr lang="en-GB" i="1" smtClean="0">
                          <a:latin typeface="Cambria Math" panose="02040503050406030204" pitchFamily="18" charset="0"/>
                          <a:ea typeface="Cambria Math" panose="02040503050406030204" pitchFamily="18" charset="0"/>
                        </a:rPr>
                        <m:t>×</m:t>
                      </m:r>
                      <m:f>
                        <m:fPr>
                          <m:ctrlPr>
                            <a:rPr lang="en-GB" i="1">
                              <a:solidFill>
                                <a:srgbClr val="836967"/>
                              </a:solidFill>
                              <a:latin typeface="Cambria Math" panose="02040503050406030204" pitchFamily="18" charset="0"/>
                            </a:rPr>
                          </m:ctrlPr>
                        </m:fPr>
                        <m:num>
                          <m:r>
                            <a:rPr lang="en-GB" b="0" i="1" smtClean="0">
                              <a:solidFill>
                                <a:srgbClr val="836967"/>
                              </a:solidFill>
                              <a:latin typeface="Cambria Math" panose="02040503050406030204" pitchFamily="18" charset="0"/>
                            </a:rPr>
                            <m:t>1</m:t>
                          </m:r>
                        </m:num>
                        <m:den>
                          <m:r>
                            <m:rPr>
                              <m:sty m:val="p"/>
                            </m:rPr>
                            <a:rPr lang="en-GB">
                              <a:latin typeface="Cambria Math" panose="02040503050406030204" pitchFamily="18" charset="0"/>
                            </a:rPr>
                            <m:t>R</m:t>
                          </m:r>
                        </m:den>
                      </m:f>
                    </m:oMath>
                  </m:oMathPara>
                </a14:m>
                <a:endParaRPr lang="en-GB" dirty="0"/>
              </a:p>
            </p:txBody>
          </p:sp>
        </mc:Choice>
        <mc:Fallback>
          <p:sp>
            <p:nvSpPr>
              <p:cNvPr id="16" name="TextBox 15">
                <a:extLst>
                  <a:ext uri="{FF2B5EF4-FFF2-40B4-BE49-F238E27FC236}">
                    <a16:creationId xmlns:a16="http://schemas.microsoft.com/office/drawing/2014/main" id="{FE23B055-B35A-122B-45FC-D645DF37D342}"/>
                  </a:ext>
                </a:extLst>
              </p:cNvPr>
              <p:cNvSpPr txBox="1">
                <a:spLocks noRot="1" noChangeAspect="1" noMove="1" noResize="1" noEditPoints="1" noAdjustHandles="1" noChangeArrowheads="1" noChangeShapeType="1" noTextEdit="1"/>
              </p:cNvSpPr>
              <p:nvPr/>
            </p:nvSpPr>
            <p:spPr>
              <a:xfrm>
                <a:off x="3688330" y="1526227"/>
                <a:ext cx="4788158" cy="69346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3090DF07-D63F-D70F-6480-9EB42C1AE1E0}"/>
                  </a:ext>
                </a:extLst>
              </p:cNvPr>
              <p:cNvSpPr txBox="1"/>
              <p:nvPr/>
            </p:nvSpPr>
            <p:spPr>
              <a:xfrm>
                <a:off x="2422989" y="3261493"/>
                <a:ext cx="4312670" cy="6787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𝑝</m:t>
                          </m:r>
                          <m:r>
                            <a:rPr lang="en-GB" i="1">
                              <a:latin typeface="Cambria Math" panose="02040503050406030204" pitchFamily="18" charset="0"/>
                            </a:rPr>
                            <m:t>,</m:t>
                          </m:r>
                          <m:r>
                            <a:rPr lang="en-GB" i="1">
                              <a:latin typeface="Cambria Math" panose="02040503050406030204" pitchFamily="18" charset="0"/>
                            </a:rPr>
                            <m:t>𝑎𝑣𝑔</m:t>
                          </m:r>
                        </m:sub>
                      </m:sSub>
                      <m:r>
                        <a:rPr lang="en-GB">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𝐼𝑁</m:t>
                              </m:r>
                            </m:sub>
                          </m:sSub>
                          <m:r>
                            <a:rPr lang="en-GB" b="0" i="1" smtClean="0">
                              <a:latin typeface="Cambria Math" panose="02040503050406030204" pitchFamily="18" charset="0"/>
                            </a:rPr>
                            <m:t>𝐷</m:t>
                          </m:r>
                        </m:num>
                        <m:den>
                          <m:r>
                            <a:rPr lang="en-GB" b="0" i="1" smtClean="0">
                              <a:latin typeface="Cambria Math" panose="02040503050406030204" pitchFamily="18" charset="0"/>
                            </a:rPr>
                            <m:t>(1−</m:t>
                          </m:r>
                          <m:r>
                            <a:rPr lang="en-GB" b="0" i="1" smtClean="0">
                              <a:latin typeface="Cambria Math" panose="02040503050406030204" pitchFamily="18" charset="0"/>
                            </a:rPr>
                            <m:t>𝐷</m:t>
                          </m:r>
                          <m:sSup>
                            <m:sSupPr>
                              <m:ctrlPr>
                                <a:rPr lang="en-GB" b="0" i="1" smtClean="0">
                                  <a:latin typeface="Cambria Math" panose="02040503050406030204" pitchFamily="18" charset="0"/>
                                </a:rPr>
                              </m:ctrlPr>
                            </m:sSupPr>
                            <m:e>
                              <m:r>
                                <a:rPr lang="en-GB" b="0" i="1" smtClean="0">
                                  <a:latin typeface="Cambria Math" panose="02040503050406030204" pitchFamily="18" charset="0"/>
                                </a:rPr>
                                <m:t>)</m:t>
                              </m:r>
                            </m:e>
                            <m:sup>
                              <m:r>
                                <a:rPr lang="en-GB" b="0" i="1" smtClean="0">
                                  <a:latin typeface="Cambria Math" panose="02040503050406030204" pitchFamily="18" charset="0"/>
                                </a:rPr>
                                <m:t>2</m:t>
                              </m:r>
                            </m:sup>
                          </m:sSup>
                          <m:r>
                            <a:rPr lang="en-GB" b="0" i="1" smtClean="0">
                              <a:latin typeface="Cambria Math" panose="02040503050406030204" pitchFamily="18" charset="0"/>
                            </a:rPr>
                            <m:t>𝑅</m:t>
                          </m:r>
                        </m:den>
                      </m:f>
                      <m:r>
                        <a:rPr lang="en-GB" b="0" i="1" smtClean="0">
                          <a:latin typeface="Cambria Math" panose="02040503050406030204" pitchFamily="18" charset="0"/>
                        </a:rPr>
                        <m:t>(</m:t>
                      </m:r>
                      <m:f>
                        <m:fPr>
                          <m:ctrlPr>
                            <a:rPr lang="en-GB" i="1">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i="1">
                                  <a:latin typeface="Cambria Math" panose="02040503050406030204" pitchFamily="18" charset="0"/>
                                  <a:ea typeface="SimSun" panose="02010600030101010101" pitchFamily="2" charset="-122"/>
                                  <a:cs typeface="Times New Roman" panose="02020603050405020304" pitchFamily="18" charset="0"/>
                                </a:rPr>
                                <m:t>2</m:t>
                              </m:r>
                            </m:sub>
                          </m:sSub>
                        </m:num>
                        <m:den>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𝑁</m:t>
                              </m:r>
                            </m:e>
                            <m:sub>
                              <m:r>
                                <a:rPr lang="en-GB" i="1">
                                  <a:latin typeface="Cambria Math" panose="02040503050406030204" pitchFamily="18" charset="0"/>
                                  <a:ea typeface="SimSun" panose="02010600030101010101" pitchFamily="2" charset="-122"/>
                                  <a:cs typeface="Times New Roman" panose="02020603050405020304" pitchFamily="18" charset="0"/>
                                </a:rPr>
                                <m:t>1</m:t>
                              </m:r>
                            </m:sub>
                          </m:sSub>
                        </m:den>
                      </m:f>
                      <m:sSup>
                        <m:sSupPr>
                          <m:ctrlPr>
                            <a:rPr lang="en-GB" i="1">
                              <a:latin typeface="Cambria Math" panose="02040503050406030204" pitchFamily="18" charset="0"/>
                            </a:rPr>
                          </m:ctrlPr>
                        </m:sSupPr>
                        <m:e>
                          <m:r>
                            <a:rPr lang="en-GB" i="1">
                              <a:latin typeface="Cambria Math" panose="02040503050406030204" pitchFamily="18" charset="0"/>
                            </a:rPr>
                            <m:t>)</m:t>
                          </m:r>
                        </m:e>
                        <m:sup>
                          <m:r>
                            <a:rPr lang="en-GB" i="1">
                              <a:latin typeface="Cambria Math" panose="02040503050406030204" pitchFamily="18" charset="0"/>
                            </a:rPr>
                            <m:t>2</m:t>
                          </m:r>
                        </m:sup>
                      </m:sSup>
                    </m:oMath>
                  </m:oMathPara>
                </a14:m>
                <a:endParaRPr lang="en-GB" dirty="0"/>
              </a:p>
            </p:txBody>
          </p:sp>
        </mc:Choice>
        <mc:Fallback>
          <p:sp>
            <p:nvSpPr>
              <p:cNvPr id="17" name="TextBox 16">
                <a:extLst>
                  <a:ext uri="{FF2B5EF4-FFF2-40B4-BE49-F238E27FC236}">
                    <a16:creationId xmlns:a16="http://schemas.microsoft.com/office/drawing/2014/main" id="{3090DF07-D63F-D70F-6480-9EB42C1AE1E0}"/>
                  </a:ext>
                </a:extLst>
              </p:cNvPr>
              <p:cNvSpPr txBox="1">
                <a:spLocks noRot="1" noChangeAspect="1" noMove="1" noResize="1" noEditPoints="1" noAdjustHandles="1" noChangeArrowheads="1" noChangeShapeType="1" noTextEdit="1"/>
              </p:cNvSpPr>
              <p:nvPr/>
            </p:nvSpPr>
            <p:spPr>
              <a:xfrm>
                <a:off x="2422989" y="3261493"/>
                <a:ext cx="4312670" cy="67877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D1771FD-47CE-C21C-6D45-7CD664BB8083}"/>
                  </a:ext>
                </a:extLst>
              </p:cNvPr>
              <p:cNvSpPr txBox="1"/>
              <p:nvPr/>
            </p:nvSpPr>
            <p:spPr>
              <a:xfrm>
                <a:off x="2096678" y="2464729"/>
                <a:ext cx="5904321" cy="6580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𝑝</m:t>
                          </m:r>
                          <m:r>
                            <a:rPr lang="en-GB" i="1">
                              <a:latin typeface="Cambria Math" panose="02040503050406030204" pitchFamily="18" charset="0"/>
                            </a:rPr>
                            <m:t>,</m:t>
                          </m:r>
                          <m:r>
                            <a:rPr lang="en-GB" i="1">
                              <a:latin typeface="Cambria Math" panose="02040503050406030204" pitchFamily="18" charset="0"/>
                            </a:rPr>
                            <m:t>𝑎𝑣𝑔</m:t>
                          </m:r>
                        </m:sub>
                      </m:sSub>
                      <m:r>
                        <a:rPr lang="en-GB">
                          <a:latin typeface="Cambria Math" panose="02040503050406030204" pitchFamily="18" charset="0"/>
                        </a:rPr>
                        <m:t>=</m:t>
                      </m:r>
                      <m:r>
                        <a:rPr lang="en-GB" b="0" i="0" smtClean="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GB" i="1">
                              <a:latin typeface="Cambria Math" panose="02040503050406030204" pitchFamily="18" charset="0"/>
                            </a:rPr>
                            <m:t>𝐼𝑁</m:t>
                          </m:r>
                        </m:sub>
                      </m:sSub>
                      <m:f>
                        <m:fPr>
                          <m:ctrlPr>
                            <a:rPr lang="en-US" i="1">
                              <a:solidFill>
                                <a:srgbClr val="836967"/>
                              </a:solidFill>
                              <a:latin typeface="Cambria Math" panose="02040503050406030204" pitchFamily="18" charset="0"/>
                            </a:rPr>
                          </m:ctrlPr>
                        </m:fPr>
                        <m:num>
                          <m:r>
                            <a:rPr lang="en-US">
                              <a:latin typeface="Cambria Math" panose="02040503050406030204" pitchFamily="18" charset="0"/>
                            </a:rPr>
                            <m:t> </m:t>
                          </m:r>
                          <m:r>
                            <a:rPr lang="en-GB" i="1">
                              <a:latin typeface="Cambria Math" panose="02040503050406030204" pitchFamily="18" charset="0"/>
                            </a:rPr>
                            <m:t>𝐷</m:t>
                          </m:r>
                        </m:num>
                        <m:den>
                          <m:d>
                            <m:dPr>
                              <m:ctrlPr>
                                <a:rPr lang="en-US" i="1">
                                  <a:latin typeface="Cambria Math" panose="02040503050406030204" pitchFamily="18" charset="0"/>
                                </a:rPr>
                              </m:ctrlPr>
                            </m:dPr>
                            <m:e>
                              <m:r>
                                <a:rPr lang="en-US">
                                  <a:latin typeface="Cambria Math" panose="02040503050406030204" pitchFamily="18" charset="0"/>
                                </a:rPr>
                                <m:t>1−</m:t>
                              </m:r>
                              <m:r>
                                <a:rPr lang="en-GB" i="1">
                                  <a:latin typeface="Cambria Math" panose="02040503050406030204" pitchFamily="18" charset="0"/>
                                </a:rPr>
                                <m:t>𝐷</m:t>
                              </m:r>
                            </m:e>
                          </m:d>
                        </m:den>
                      </m:f>
                      <m:f>
                        <m:fPr>
                          <m:ctrlPr>
                            <a:rPr lang="en-GB"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𝑁</m:t>
                              </m:r>
                            </m:e>
                            <m:sub>
                              <m:r>
                                <a:rPr lang="en-GB" b="0" i="1">
                                  <a:solidFill>
                                    <a:schemeClr val="tx1"/>
                                  </a:solidFill>
                                  <a:latin typeface="Cambria Math" panose="02040503050406030204" pitchFamily="18" charset="0"/>
                                  <a:ea typeface="SimSun" panose="02010600030101010101" pitchFamily="2" charset="-122"/>
                                  <a:cs typeface="Times New Roman" panose="02020603050405020304" pitchFamily="18" charset="0"/>
                                </a:rPr>
                                <m:t>2</m:t>
                              </m:r>
                            </m:sub>
                          </m:sSub>
                        </m:num>
                        <m:den>
                          <m:sSub>
                            <m:sSubPr>
                              <m:ctrlP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𝑁</m:t>
                              </m:r>
                            </m:e>
                            <m:sub>
                              <m:r>
                                <a:rPr lang="en-GB" b="0" i="1">
                                  <a:solidFill>
                                    <a:schemeClr val="tx1"/>
                                  </a:solidFill>
                                  <a:latin typeface="Cambria Math" panose="02040503050406030204" pitchFamily="18" charset="0"/>
                                  <a:ea typeface="SimSun" panose="02010600030101010101" pitchFamily="2" charset="-122"/>
                                  <a:cs typeface="Times New Roman" panose="02020603050405020304" pitchFamily="18" charset="0"/>
                                </a:rPr>
                                <m:t>1</m:t>
                              </m:r>
                            </m:sub>
                          </m:sSub>
                        </m:den>
                      </m:f>
                      <m:sSup>
                        <m:sSupPr>
                          <m:ctrlPr>
                            <a:rPr lang="en-GB" i="1" smtClean="0">
                              <a:latin typeface="Cambria Math" panose="02040503050406030204" pitchFamily="18" charset="0"/>
                            </a:rPr>
                          </m:ctrlPr>
                        </m:sSupPr>
                        <m:e>
                          <m:r>
                            <a:rPr lang="en-GB" b="0" i="1" smtClean="0">
                              <a:latin typeface="Cambria Math" panose="02040503050406030204" pitchFamily="18" charset="0"/>
                            </a:rPr>
                            <m:t>)</m:t>
                          </m:r>
                        </m:e>
                        <m:sup>
                          <m:r>
                            <a:rPr lang="en-GB" b="0" i="1" smtClean="0">
                              <a:latin typeface="Cambria Math" panose="02040503050406030204" pitchFamily="18" charset="0"/>
                            </a:rPr>
                            <m:t>2</m:t>
                          </m:r>
                        </m:sup>
                      </m:sSup>
                      <m:r>
                        <a:rPr lang="en-GB" i="1" smtClean="0">
                          <a:latin typeface="Cambria Math" panose="02040503050406030204" pitchFamily="18" charset="0"/>
                          <a:ea typeface="Cambria Math" panose="02040503050406030204" pitchFamily="18" charset="0"/>
                        </a:rPr>
                        <m:t>×</m:t>
                      </m:r>
                      <m:f>
                        <m:fPr>
                          <m:ctrlPr>
                            <a:rPr lang="en-GB" i="1">
                              <a:solidFill>
                                <a:srgbClr val="836967"/>
                              </a:solidFill>
                              <a:latin typeface="Cambria Math" panose="02040503050406030204" pitchFamily="18" charset="0"/>
                            </a:rPr>
                          </m:ctrlPr>
                        </m:fPr>
                        <m:num>
                          <m:r>
                            <a:rPr lang="en-GB" b="0" i="1" smtClean="0">
                              <a:solidFill>
                                <a:srgbClr val="836967"/>
                              </a:solidFill>
                              <a:latin typeface="Cambria Math" panose="02040503050406030204" pitchFamily="18" charset="0"/>
                            </a:rPr>
                            <m:t>1</m:t>
                          </m:r>
                        </m:num>
                        <m:den>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𝐼𝑁</m:t>
                              </m:r>
                            </m:sub>
                          </m:sSub>
                          <m:r>
                            <a:rPr lang="en-GB" i="1">
                              <a:latin typeface="Cambria Math" panose="02040503050406030204" pitchFamily="18" charset="0"/>
                            </a:rPr>
                            <m:t>𝐷</m:t>
                          </m:r>
                          <m:r>
                            <m:rPr>
                              <m:sty m:val="p"/>
                            </m:rPr>
                            <a:rPr lang="en-GB">
                              <a:latin typeface="Cambria Math" panose="02040503050406030204" pitchFamily="18" charset="0"/>
                            </a:rPr>
                            <m:t>R</m:t>
                          </m:r>
                        </m:den>
                      </m:f>
                    </m:oMath>
                  </m:oMathPara>
                </a14:m>
                <a:endParaRPr lang="en-GB" dirty="0"/>
              </a:p>
            </p:txBody>
          </p:sp>
        </mc:Choice>
        <mc:Fallback>
          <p:sp>
            <p:nvSpPr>
              <p:cNvPr id="5" name="TextBox 4">
                <a:extLst>
                  <a:ext uri="{FF2B5EF4-FFF2-40B4-BE49-F238E27FC236}">
                    <a16:creationId xmlns:a16="http://schemas.microsoft.com/office/drawing/2014/main" id="{6D1771FD-47CE-C21C-6D45-7CD664BB8083}"/>
                  </a:ext>
                </a:extLst>
              </p:cNvPr>
              <p:cNvSpPr txBox="1">
                <a:spLocks noRot="1" noChangeAspect="1" noMove="1" noResize="1" noEditPoints="1" noAdjustHandles="1" noChangeArrowheads="1" noChangeShapeType="1" noTextEdit="1"/>
              </p:cNvSpPr>
              <p:nvPr/>
            </p:nvSpPr>
            <p:spPr>
              <a:xfrm>
                <a:off x="2096678" y="2464729"/>
                <a:ext cx="5904321" cy="658065"/>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546906A-B903-5004-0894-BA5E71B97D3D}"/>
                  </a:ext>
                </a:extLst>
              </p:cNvPr>
              <p:cNvSpPr txBox="1"/>
              <p:nvPr/>
            </p:nvSpPr>
            <p:spPr>
              <a:xfrm>
                <a:off x="697230" y="4698095"/>
                <a:ext cx="6389370" cy="7057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1">
                              <a:latin typeface="Cambria Math" panose="02040503050406030204" pitchFamily="18" charset="0"/>
                            </a:rPr>
                            <m:t>𝑝</m:t>
                          </m:r>
                          <m:r>
                            <a:rPr lang="en-GB" i="1">
                              <a:latin typeface="Cambria Math" panose="02040503050406030204" pitchFamily="18" charset="0"/>
                            </a:rPr>
                            <m:t>,</m:t>
                          </m:r>
                          <m:r>
                            <a:rPr lang="en-GB" i="1">
                              <a:latin typeface="Cambria Math" panose="02040503050406030204" pitchFamily="18" charset="0"/>
                            </a:rPr>
                            <m:t>𝑚</m:t>
                          </m:r>
                          <m:r>
                            <a:rPr lang="en-GB" b="0" i="1" smtClean="0">
                              <a:latin typeface="Cambria Math" panose="02040503050406030204" pitchFamily="18" charset="0"/>
                            </a:rPr>
                            <m:t>𝑖𝑛</m:t>
                          </m:r>
                        </m:sub>
                      </m:sSub>
                      <m:r>
                        <a:rPr lang="en-GB" i="0">
                          <a:latin typeface="Cambria Math" panose="02040503050406030204" pitchFamily="18" charset="0"/>
                        </a:rPr>
                        <m:t>= </m:t>
                      </m:r>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1">
                              <a:latin typeface="Cambria Math" panose="02040503050406030204" pitchFamily="18" charset="0"/>
                            </a:rPr>
                            <m:t>𝑝</m:t>
                          </m:r>
                          <m:r>
                            <a:rPr lang="en-GB" i="1">
                              <a:latin typeface="Cambria Math" panose="02040503050406030204" pitchFamily="18" charset="0"/>
                            </a:rPr>
                            <m:t>,</m:t>
                          </m:r>
                          <m:r>
                            <a:rPr lang="en-GB" i="1">
                              <a:latin typeface="Cambria Math" panose="02040503050406030204" pitchFamily="18" charset="0"/>
                            </a:rPr>
                            <m:t>𝑎𝑣𝑔</m:t>
                          </m:r>
                        </m:sub>
                      </m:sSub>
                      <m:r>
                        <a:rPr lang="en-GB" b="0" i="1" smtClean="0">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d>
                                <m:dPr>
                                  <m:ctrlPr>
                                    <a:rPr lang="en-GB" i="1">
                                      <a:latin typeface="Cambria Math" panose="02040503050406030204" pitchFamily="18" charset="0"/>
                                    </a:rPr>
                                  </m:ctrlPr>
                                </m:dPr>
                                <m:e>
                                  <m:r>
                                    <a:rPr lang="en-GB" i="0">
                                      <a:latin typeface="Cambria Math" panose="02040503050406030204" pitchFamily="18" charset="0"/>
                                    </a:rPr>
                                    <m:t>∆</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𝑖</m:t>
                                      </m:r>
                                    </m:e>
                                    <m:sub>
                                      <m:r>
                                        <a:rPr lang="en-GB" i="1">
                                          <a:latin typeface="Cambria Math" panose="02040503050406030204" pitchFamily="18" charset="0"/>
                                        </a:rPr>
                                        <m:t>𝐿</m:t>
                                      </m:r>
                                      <m:r>
                                        <a:rPr lang="en-GB" i="1">
                                          <a:latin typeface="Cambria Math" panose="02040503050406030204" pitchFamily="18" charset="0"/>
                                        </a:rPr>
                                        <m:t>𝑝</m:t>
                                      </m:r>
                                    </m:sub>
                                  </m:sSub>
                                </m:e>
                              </m:d>
                            </m:e>
                            <m:sub>
                              <m:r>
                                <a:rPr lang="en-GB" i="1">
                                  <a:latin typeface="Cambria Math" panose="02040503050406030204" pitchFamily="18" charset="0"/>
                                </a:rPr>
                                <m:t>𝑠𝑤𝑖𝑡𝑐h</m:t>
                              </m:r>
                              <m:r>
                                <a:rPr lang="en-GB" i="0">
                                  <a:latin typeface="Cambria Math" panose="02040503050406030204" pitchFamily="18" charset="0"/>
                                </a:rPr>
                                <m:t> </m:t>
                              </m:r>
                              <m:r>
                                <a:rPr lang="en-GB" i="1">
                                  <a:latin typeface="Cambria Math" panose="02040503050406030204" pitchFamily="18" charset="0"/>
                                </a:rPr>
                                <m:t>𝑐𝑙𝑜𝑠𝑒𝑑</m:t>
                              </m:r>
                            </m:sub>
                          </m:sSub>
                        </m:num>
                        <m:den>
                          <m:r>
                            <a:rPr lang="en-GB" i="0">
                              <a:latin typeface="Cambria Math" panose="02040503050406030204" pitchFamily="18" charset="0"/>
                            </a:rPr>
                            <m:t>2</m:t>
                          </m:r>
                        </m:den>
                      </m:f>
                      <m:r>
                        <a:rPr lang="en-GB" i="0">
                          <a:latin typeface="Cambria Math" panose="02040503050406030204" pitchFamily="18" charset="0"/>
                        </a:rPr>
                        <m:t> </m:t>
                      </m:r>
                    </m:oMath>
                  </m:oMathPara>
                </a14:m>
                <a:endParaRPr lang="en-GB" dirty="0"/>
              </a:p>
            </p:txBody>
          </p:sp>
        </mc:Choice>
        <mc:Fallback>
          <p:sp>
            <p:nvSpPr>
              <p:cNvPr id="7" name="TextBox 6">
                <a:extLst>
                  <a:ext uri="{FF2B5EF4-FFF2-40B4-BE49-F238E27FC236}">
                    <a16:creationId xmlns:a16="http://schemas.microsoft.com/office/drawing/2014/main" id="{6546906A-B903-5004-0894-BA5E71B97D3D}"/>
                  </a:ext>
                </a:extLst>
              </p:cNvPr>
              <p:cNvSpPr txBox="1">
                <a:spLocks noRot="1" noChangeAspect="1" noMove="1" noResize="1" noEditPoints="1" noAdjustHandles="1" noChangeArrowheads="1" noChangeShapeType="1" noTextEdit="1"/>
              </p:cNvSpPr>
              <p:nvPr/>
            </p:nvSpPr>
            <p:spPr>
              <a:xfrm>
                <a:off x="697230" y="4698095"/>
                <a:ext cx="6389370" cy="705771"/>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BDEB96B-374E-C853-E7E9-65D2191B9AEB}"/>
                  </a:ext>
                </a:extLst>
              </p:cNvPr>
              <p:cNvSpPr txBox="1"/>
              <p:nvPr/>
            </p:nvSpPr>
            <p:spPr>
              <a:xfrm>
                <a:off x="2125900" y="5925947"/>
                <a:ext cx="3403453" cy="72289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2000" i="1" smtClean="0">
                              <a:latin typeface="Cambria Math" panose="02040503050406030204" pitchFamily="18" charset="0"/>
                            </a:rPr>
                          </m:ctrlPr>
                        </m:fPr>
                        <m:num>
                          <m:r>
                            <a:rPr lang="en-US" sz="200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r>
                                <a:rPr lang="en-GB" sz="2000" i="1">
                                  <a:latin typeface="Cambria Math" panose="02040503050406030204" pitchFamily="18" charset="0"/>
                                </a:rPr>
                                <m:t> </m:t>
                              </m:r>
                            </m:sub>
                          </m:sSub>
                        </m:num>
                        <m:den>
                          <m:sSub>
                            <m:sSubPr>
                              <m:ctrlPr>
                                <a:rPr lang="en-US" sz="2000" i="1" smtClean="0">
                                  <a:solidFill>
                                    <a:schemeClr val="tx1"/>
                                  </a:solidFill>
                                  <a:latin typeface="Cambria Math" panose="02040503050406030204" pitchFamily="18" charset="0"/>
                                </a:rPr>
                              </m:ctrlPr>
                            </m:sSubPr>
                            <m:e>
                              <m:r>
                                <a:rPr lang="en-GB" sz="2000" i="1">
                                  <a:solidFill>
                                    <a:schemeClr val="tx1"/>
                                  </a:solidFill>
                                  <a:latin typeface="Cambria Math" panose="02040503050406030204" pitchFamily="18" charset="0"/>
                                </a:rPr>
                                <m:t>𝑉</m:t>
                              </m:r>
                            </m:e>
                            <m:sub>
                              <m:r>
                                <a:rPr lang="en-GB" sz="2000" i="1">
                                  <a:solidFill>
                                    <a:schemeClr val="tx1"/>
                                  </a:solidFill>
                                  <a:latin typeface="Cambria Math" panose="02040503050406030204" pitchFamily="18" charset="0"/>
                                </a:rPr>
                                <m:t>𝑂𝑈𝑇</m:t>
                              </m:r>
                            </m:sub>
                          </m:sSub>
                        </m:den>
                      </m:f>
                      <m:r>
                        <a:rPr lang="en-GB" sz="2000" b="0" i="0" smtClean="0">
                          <a:latin typeface="Cambria Math" panose="02040503050406030204" pitchFamily="18" charset="0"/>
                        </a:rPr>
                        <m:t>=</m:t>
                      </m:r>
                      <m:f>
                        <m:fPr>
                          <m:ctrlPr>
                            <a:rPr lang="en-US" sz="2000" i="1" smtClean="0">
                              <a:solidFill>
                                <a:srgbClr val="4D2CFA"/>
                              </a:solidFill>
                              <a:latin typeface="Cambria Math" panose="02040503050406030204" pitchFamily="18" charset="0"/>
                            </a:rPr>
                          </m:ctrlPr>
                        </m:fPr>
                        <m:num>
                          <m:r>
                            <a:rPr lang="en-GB" sz="2000" i="1" smtClean="0">
                              <a:solidFill>
                                <a:srgbClr val="00B050"/>
                              </a:solidFill>
                              <a:latin typeface="Cambria Math" panose="02040503050406030204" pitchFamily="18" charset="0"/>
                            </a:rPr>
                            <m:t>𝐷</m:t>
                          </m:r>
                          <m:r>
                            <a:rPr lang="en-GB" sz="2000" b="0" i="1" smtClean="0">
                              <a:solidFill>
                                <a:srgbClr val="00B050"/>
                              </a:solidFill>
                              <a:latin typeface="Cambria Math" panose="02040503050406030204" pitchFamily="18" charset="0"/>
                            </a:rPr>
                            <m:t>𝑇</m:t>
                          </m:r>
                        </m:num>
                        <m:den>
                          <m:r>
                            <a:rPr lang="en-GB" sz="2000" b="0" i="1" smtClean="0">
                              <a:solidFill>
                                <a:srgbClr val="00B050"/>
                              </a:solidFill>
                              <a:latin typeface="Cambria Math" panose="02040503050406030204" pitchFamily="18" charset="0"/>
                            </a:rPr>
                            <m:t>𝑅</m:t>
                          </m:r>
                          <m:r>
                            <a:rPr lang="en-GB" sz="2000" b="0" i="1" smtClean="0">
                              <a:solidFill>
                                <a:srgbClr val="4D2CFA"/>
                              </a:solidFill>
                              <a:latin typeface="Cambria Math" panose="02040503050406030204" pitchFamily="18" charset="0"/>
                            </a:rPr>
                            <m:t> </m:t>
                          </m:r>
                          <m:r>
                            <a:rPr lang="en-GB" sz="2000" b="0" i="1" smtClean="0">
                              <a:solidFill>
                                <a:srgbClr val="4D2CFA"/>
                              </a:solidFill>
                              <a:latin typeface="Cambria Math" panose="02040503050406030204" pitchFamily="18" charset="0"/>
                              <a:ea typeface="SimSun" panose="02010600030101010101" pitchFamily="2" charset="-122"/>
                              <a:cs typeface="Times New Roman" panose="02020603050405020304" pitchFamily="18" charset="0"/>
                            </a:rPr>
                            <m:t>𝐶</m:t>
                          </m:r>
                        </m:den>
                      </m:f>
                    </m:oMath>
                  </m:oMathPara>
                </a14:m>
                <a:endParaRPr lang="en-GB" sz="2000" dirty="0"/>
              </a:p>
            </p:txBody>
          </p:sp>
        </mc:Choice>
        <mc:Fallback>
          <p:sp>
            <p:nvSpPr>
              <p:cNvPr id="9" name="TextBox 8">
                <a:extLst>
                  <a:ext uri="{FF2B5EF4-FFF2-40B4-BE49-F238E27FC236}">
                    <a16:creationId xmlns:a16="http://schemas.microsoft.com/office/drawing/2014/main" id="{6BDEB96B-374E-C853-E7E9-65D2191B9AEB}"/>
                  </a:ext>
                </a:extLst>
              </p:cNvPr>
              <p:cNvSpPr txBox="1">
                <a:spLocks noRot="1" noChangeAspect="1" noMove="1" noResize="1" noEditPoints="1" noAdjustHandles="1" noChangeArrowheads="1" noChangeShapeType="1" noTextEdit="1"/>
              </p:cNvSpPr>
              <p:nvPr/>
            </p:nvSpPr>
            <p:spPr>
              <a:xfrm>
                <a:off x="2125900" y="5925947"/>
                <a:ext cx="3403453" cy="722890"/>
              </a:xfrm>
              <a:prstGeom prst="rect">
                <a:avLst/>
              </a:prstGeom>
              <a:blipFill>
                <a:blip r:embed="rId11"/>
                <a:stretch>
                  <a:fillRect/>
                </a:stretch>
              </a:blipFill>
              <a:ln>
                <a:solidFill>
                  <a:schemeClr val="bg1"/>
                </a:solidFill>
              </a:ln>
            </p:spPr>
            <p:txBody>
              <a:bodyPr/>
              <a:lstStyle/>
              <a:p>
                <a:r>
                  <a:rPr lang="en-GB">
                    <a:noFill/>
                  </a:rPr>
                  <a:t> </a:t>
                </a:r>
              </a:p>
            </p:txBody>
          </p:sp>
        </mc:Fallback>
      </mc:AlternateContent>
      <p:sp>
        <p:nvSpPr>
          <p:cNvPr id="13" name="Text Box 22">
            <a:extLst>
              <a:ext uri="{FF2B5EF4-FFF2-40B4-BE49-F238E27FC236}">
                <a16:creationId xmlns:a16="http://schemas.microsoft.com/office/drawing/2014/main" id="{BFB1B6B1-A2C9-7FB1-BF69-B099E073D6D6}"/>
              </a:ext>
            </a:extLst>
          </p:cNvPr>
          <p:cNvSpPr txBox="1">
            <a:spLocks noChangeArrowheads="1"/>
          </p:cNvSpPr>
          <p:nvPr/>
        </p:nvSpPr>
        <p:spPr bwMode="auto">
          <a:xfrm>
            <a:off x="80040" y="5476652"/>
            <a:ext cx="5352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Output Ripple (same as Buck-Boost Converter)</a:t>
            </a:r>
            <a:endParaRPr lang="en-US" altLang="en-US" sz="1800" b="1" u="sng" dirty="0"/>
          </a:p>
        </p:txBody>
      </p:sp>
    </p:spTree>
    <p:extLst>
      <p:ext uri="{BB962C8B-B14F-4D97-AF65-F5344CB8AC3E}">
        <p14:creationId xmlns:p14="http://schemas.microsoft.com/office/powerpoint/2010/main" val="2292713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6" grpId="0"/>
      <p:bldP spid="12" grpId="0"/>
      <p:bldP spid="15" grpId="0"/>
      <p:bldP spid="16" grpId="0"/>
      <p:bldP spid="17" grpId="0"/>
      <p:bldP spid="5" grpId="0"/>
      <p:bldP spid="7" grpId="0"/>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1">
            <a:extLst>
              <a:ext uri="{FF2B5EF4-FFF2-40B4-BE49-F238E27FC236}">
                <a16:creationId xmlns:a16="http://schemas.microsoft.com/office/drawing/2014/main" id="{01DD8114-7839-9847-8F4E-0D89A7672A95}"/>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AAF977-A7C2-964D-ABE7-462D1B9D80F2}" type="slidenum">
              <a:rPr lang="en-US" altLang="en-US" sz="1400">
                <a:latin typeface="+mj-lt"/>
              </a:rPr>
              <a:pPr>
                <a:spcBef>
                  <a:spcPct val="0"/>
                </a:spcBef>
                <a:buFontTx/>
                <a:buNone/>
              </a:pPr>
              <a:t>9</a:t>
            </a:fld>
            <a:endParaRPr lang="en-US" altLang="en-US" sz="1400">
              <a:latin typeface="+mj-lt"/>
            </a:endParaRPr>
          </a:p>
        </p:txBody>
      </p:sp>
      <p:sp>
        <p:nvSpPr>
          <p:cNvPr id="5123" name="Rectangle 2">
            <a:extLst>
              <a:ext uri="{FF2B5EF4-FFF2-40B4-BE49-F238E27FC236}">
                <a16:creationId xmlns:a16="http://schemas.microsoft.com/office/drawing/2014/main" id="{12668EEB-4112-4741-94B5-259C48C7A7BA}"/>
              </a:ext>
            </a:extLst>
          </p:cNvPr>
          <p:cNvSpPr>
            <a:spLocks noChangeArrowheads="1"/>
          </p:cNvSpPr>
          <p:nvPr/>
        </p:nvSpPr>
        <p:spPr bwMode="auto">
          <a:xfrm>
            <a:off x="468780" y="2905125"/>
            <a:ext cx="8388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dirty="0">
                <a:solidFill>
                  <a:srgbClr val="FF0000"/>
                </a:solidFill>
                <a:latin typeface="+mj-lt"/>
              </a:rPr>
              <a:t>Snubber Circuit</a:t>
            </a:r>
          </a:p>
        </p:txBody>
      </p:sp>
    </p:spTree>
    <p:extLst>
      <p:ext uri="{BB962C8B-B14F-4D97-AF65-F5344CB8AC3E}">
        <p14:creationId xmlns:p14="http://schemas.microsoft.com/office/powerpoint/2010/main" val="1629550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1">
            <a:extLst>
              <a:ext uri="{FF2B5EF4-FFF2-40B4-BE49-F238E27FC236}">
                <a16:creationId xmlns:a16="http://schemas.microsoft.com/office/drawing/2014/main" id="{01DD8114-7839-9847-8F4E-0D89A7672A95}"/>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AAF977-A7C2-964D-ABE7-462D1B9D80F2}" type="slidenum">
              <a:rPr lang="en-US" altLang="en-US" sz="1400">
                <a:latin typeface="+mj-lt"/>
              </a:rPr>
              <a:pPr>
                <a:spcBef>
                  <a:spcPct val="0"/>
                </a:spcBef>
                <a:buFontTx/>
                <a:buNone/>
              </a:pPr>
              <a:t>10</a:t>
            </a:fld>
            <a:endParaRPr lang="en-US" altLang="en-US" sz="1400">
              <a:latin typeface="+mj-lt"/>
            </a:endParaRPr>
          </a:p>
        </p:txBody>
      </p:sp>
      <p:sp>
        <p:nvSpPr>
          <p:cNvPr id="5123" name="Rectangle 2">
            <a:extLst>
              <a:ext uri="{FF2B5EF4-FFF2-40B4-BE49-F238E27FC236}">
                <a16:creationId xmlns:a16="http://schemas.microsoft.com/office/drawing/2014/main" id="{12668EEB-4112-4741-94B5-259C48C7A7BA}"/>
              </a:ext>
            </a:extLst>
          </p:cNvPr>
          <p:cNvSpPr>
            <a:spLocks noChangeArrowheads="1"/>
          </p:cNvSpPr>
          <p:nvPr/>
        </p:nvSpPr>
        <p:spPr bwMode="auto">
          <a:xfrm>
            <a:off x="298450" y="395287"/>
            <a:ext cx="8388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dirty="0">
                <a:latin typeface="+mj-lt"/>
              </a:rPr>
              <a:t>Protection of Switching Devices and Circuits</a:t>
            </a:r>
          </a:p>
        </p:txBody>
      </p:sp>
      <p:sp>
        <p:nvSpPr>
          <p:cNvPr id="3" name="TextBox 2">
            <a:extLst>
              <a:ext uri="{FF2B5EF4-FFF2-40B4-BE49-F238E27FC236}">
                <a16:creationId xmlns:a16="http://schemas.microsoft.com/office/drawing/2014/main" id="{E2209C84-1346-C816-E9B4-5AA1A620BD54}"/>
              </a:ext>
            </a:extLst>
          </p:cNvPr>
          <p:cNvSpPr txBox="1"/>
          <p:nvPr/>
        </p:nvSpPr>
        <p:spPr>
          <a:xfrm>
            <a:off x="298450" y="1056271"/>
            <a:ext cx="8037513" cy="1323439"/>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mj-lt"/>
              </a:rPr>
              <a:t>The function of a snubber circuit is to reduce the electrical stresses placed on a device during switching by a power electronics converter to levels that are within the electrical ratings of the device. </a:t>
            </a:r>
          </a:p>
        </p:txBody>
      </p:sp>
      <p:sp>
        <p:nvSpPr>
          <p:cNvPr id="5" name="TextBox 4">
            <a:extLst>
              <a:ext uri="{FF2B5EF4-FFF2-40B4-BE49-F238E27FC236}">
                <a16:creationId xmlns:a16="http://schemas.microsoft.com/office/drawing/2014/main" id="{5F46D9D1-97AE-DC49-B98D-239DFE7AF260}"/>
              </a:ext>
            </a:extLst>
          </p:cNvPr>
          <p:cNvSpPr txBox="1"/>
          <p:nvPr/>
        </p:nvSpPr>
        <p:spPr>
          <a:xfrm>
            <a:off x="298450" y="2421544"/>
            <a:ext cx="7843451" cy="1631216"/>
          </a:xfrm>
          <a:prstGeom prst="rect">
            <a:avLst/>
          </a:prstGeom>
          <a:noFill/>
        </p:spPr>
        <p:txBody>
          <a:bodyPr wrap="square">
            <a:spAutoFit/>
          </a:bodyPr>
          <a:lstStyle/>
          <a:p>
            <a:pPr marL="342900" indent="-342900" algn="just">
              <a:buFont typeface="Arial" panose="020B0604020202020204" pitchFamily="34" charset="0"/>
              <a:buChar char="•"/>
            </a:pPr>
            <a:r>
              <a:rPr lang="en-US" sz="2000" dirty="0"/>
              <a:t>It must be emphasized that snubbers are not a fundamental part of a power electronic converter circuit. The snubber circuit is an addition to the basic converter, which is added to reduce the stresses on an electrical component, usually a power semiconductor device.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1">
            <a:extLst>
              <a:ext uri="{FF2B5EF4-FFF2-40B4-BE49-F238E27FC236}">
                <a16:creationId xmlns:a16="http://schemas.microsoft.com/office/drawing/2014/main" id="{3A658A4B-5869-214D-97D1-C597D0938638}"/>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7725D1C-CDBF-CB47-B923-4D4803ACA6D1}" type="slidenum">
              <a:rPr lang="en-US" altLang="en-US" sz="1400"/>
              <a:pPr>
                <a:spcBef>
                  <a:spcPct val="0"/>
                </a:spcBef>
                <a:buFontTx/>
                <a:buNone/>
              </a:pPr>
              <a:t>11</a:t>
            </a:fld>
            <a:endParaRPr lang="en-US" altLang="en-US" sz="1400"/>
          </a:p>
        </p:txBody>
      </p:sp>
      <p:sp>
        <p:nvSpPr>
          <p:cNvPr id="6147" name="Text Box 2">
            <a:extLst>
              <a:ext uri="{FF2B5EF4-FFF2-40B4-BE49-F238E27FC236}">
                <a16:creationId xmlns:a16="http://schemas.microsoft.com/office/drawing/2014/main" id="{557313A8-34BC-6A4A-A252-A27145A8D2E9}"/>
              </a:ext>
            </a:extLst>
          </p:cNvPr>
          <p:cNvSpPr txBox="1">
            <a:spLocks noChangeArrowheads="1"/>
          </p:cNvSpPr>
          <p:nvPr/>
        </p:nvSpPr>
        <p:spPr bwMode="auto">
          <a:xfrm>
            <a:off x="381000" y="152400"/>
            <a:ext cx="8305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800" dirty="0"/>
              <a:t>Snubber Circuits for Hard-Switched Converters</a:t>
            </a:r>
          </a:p>
        </p:txBody>
      </p:sp>
      <p:sp>
        <p:nvSpPr>
          <p:cNvPr id="5" name="Text Box 4">
            <a:extLst>
              <a:ext uri="{FF2B5EF4-FFF2-40B4-BE49-F238E27FC236}">
                <a16:creationId xmlns:a16="http://schemas.microsoft.com/office/drawing/2014/main" id="{0AE23827-03DB-49EE-B21B-5B56596991E1}"/>
              </a:ext>
            </a:extLst>
          </p:cNvPr>
          <p:cNvSpPr txBox="1">
            <a:spLocks noChangeArrowheads="1"/>
          </p:cNvSpPr>
          <p:nvPr/>
        </p:nvSpPr>
        <p:spPr bwMode="auto">
          <a:xfrm>
            <a:off x="253691" y="799385"/>
            <a:ext cx="3689350" cy="5293757"/>
          </a:xfrm>
          <a:prstGeom prst="rect">
            <a:avLst/>
          </a:prstGeom>
          <a:noFill/>
          <a:ln w="9525">
            <a:solidFill>
              <a:srgbClr val="3333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23838" algn="l"/>
              </a:tabLst>
              <a:defRPr sz="2400">
                <a:solidFill>
                  <a:schemeClr val="tx1"/>
                </a:solidFill>
                <a:latin typeface="Times" panose="02020603050405020304" pitchFamily="18" charset="0"/>
              </a:defRPr>
            </a:lvl1pPr>
            <a:lvl2pPr>
              <a:tabLst>
                <a:tab pos="223838" algn="l"/>
              </a:tabLst>
              <a:defRPr sz="2400">
                <a:solidFill>
                  <a:schemeClr val="tx1"/>
                </a:solidFill>
                <a:latin typeface="Times" panose="02020603050405020304" pitchFamily="18" charset="0"/>
              </a:defRPr>
            </a:lvl2pPr>
            <a:lvl3pPr>
              <a:tabLst>
                <a:tab pos="223838" algn="l"/>
              </a:tabLst>
              <a:defRPr sz="2400">
                <a:solidFill>
                  <a:schemeClr val="tx1"/>
                </a:solidFill>
                <a:latin typeface="Times" panose="02020603050405020304" pitchFamily="18" charset="0"/>
              </a:defRPr>
            </a:lvl3pPr>
            <a:lvl4pPr>
              <a:tabLst>
                <a:tab pos="223838" algn="l"/>
              </a:tabLst>
              <a:defRPr sz="2400">
                <a:solidFill>
                  <a:schemeClr val="tx1"/>
                </a:solidFill>
                <a:latin typeface="Times" panose="02020603050405020304" pitchFamily="18" charset="0"/>
              </a:defRPr>
            </a:lvl4pPr>
            <a:lvl5pPr>
              <a:tabLst>
                <a:tab pos="223838" algn="l"/>
              </a:tabLst>
              <a:defRPr sz="2400">
                <a:solidFill>
                  <a:schemeClr val="tx1"/>
                </a:solidFill>
                <a:latin typeface="Times" panose="02020603050405020304" pitchFamily="18" charset="0"/>
              </a:defRPr>
            </a:lvl5pPr>
            <a:lvl6pPr eaLnBrk="0" fontAlgn="base" hangingPunct="0">
              <a:spcBef>
                <a:spcPct val="0"/>
              </a:spcBef>
              <a:spcAft>
                <a:spcPct val="0"/>
              </a:spcAft>
              <a:tabLst>
                <a:tab pos="223838" algn="l"/>
              </a:tabLst>
              <a:defRPr sz="2400">
                <a:solidFill>
                  <a:schemeClr val="tx1"/>
                </a:solidFill>
                <a:latin typeface="Times" panose="02020603050405020304" pitchFamily="18" charset="0"/>
              </a:defRPr>
            </a:lvl6pPr>
            <a:lvl7pPr eaLnBrk="0" fontAlgn="base" hangingPunct="0">
              <a:spcBef>
                <a:spcPct val="0"/>
              </a:spcBef>
              <a:spcAft>
                <a:spcPct val="0"/>
              </a:spcAft>
              <a:tabLst>
                <a:tab pos="223838" algn="l"/>
              </a:tabLst>
              <a:defRPr sz="2400">
                <a:solidFill>
                  <a:schemeClr val="tx1"/>
                </a:solidFill>
                <a:latin typeface="Times" panose="02020603050405020304" pitchFamily="18" charset="0"/>
              </a:defRPr>
            </a:lvl7pPr>
            <a:lvl8pPr eaLnBrk="0" fontAlgn="base" hangingPunct="0">
              <a:spcBef>
                <a:spcPct val="0"/>
              </a:spcBef>
              <a:spcAft>
                <a:spcPct val="0"/>
              </a:spcAft>
              <a:tabLst>
                <a:tab pos="223838" algn="l"/>
              </a:tabLst>
              <a:defRPr sz="2400">
                <a:solidFill>
                  <a:schemeClr val="tx1"/>
                </a:solidFill>
                <a:latin typeface="Times" panose="02020603050405020304" pitchFamily="18" charset="0"/>
              </a:defRPr>
            </a:lvl8pPr>
            <a:lvl9pPr eaLnBrk="0" fontAlgn="base" hangingPunct="0">
              <a:spcBef>
                <a:spcPct val="0"/>
              </a:spcBef>
              <a:spcAft>
                <a:spcPct val="0"/>
              </a:spcAft>
              <a:tabLst>
                <a:tab pos="223838" algn="l"/>
              </a:tabLst>
              <a:defRPr sz="2400">
                <a:solidFill>
                  <a:schemeClr val="tx1"/>
                </a:solidFill>
                <a:latin typeface="Times" panose="02020603050405020304" pitchFamily="18" charset="0"/>
              </a:defRPr>
            </a:lvl9pPr>
          </a:lstStyle>
          <a:p>
            <a:pPr algn="ctr" eaLnBrk="1" hangingPunct="1">
              <a:spcAft>
                <a:spcPts val="1200"/>
              </a:spcAft>
              <a:defRPr/>
            </a:pPr>
            <a:r>
              <a:rPr lang="en-US" altLang="en-US" sz="1800" b="1" u="sng" dirty="0">
                <a:latin typeface="+mj-lt"/>
              </a:rPr>
              <a:t>Function of Snubber Circuit</a:t>
            </a:r>
            <a:endParaRPr lang="en-US" altLang="en-US" sz="1800" b="1" dirty="0">
              <a:latin typeface="+mj-lt"/>
            </a:endParaRPr>
          </a:p>
          <a:p>
            <a:pPr marL="342900" indent="-342900" eaLnBrk="1" hangingPunct="1">
              <a:spcAft>
                <a:spcPts val="1200"/>
              </a:spcAft>
              <a:buFont typeface="Arial" panose="020B0604020202020204" pitchFamily="34" charset="0"/>
              <a:buChar char="•"/>
              <a:defRPr/>
            </a:pPr>
            <a:r>
              <a:rPr lang="en-US" altLang="en-US" sz="1800" dirty="0">
                <a:latin typeface="+mj-lt"/>
              </a:rPr>
              <a:t>Limiting  device voltages during turn-off transients </a:t>
            </a:r>
          </a:p>
          <a:p>
            <a:pPr marL="342900" indent="-342900" eaLnBrk="1" hangingPunct="1">
              <a:spcAft>
                <a:spcPts val="1200"/>
              </a:spcAft>
              <a:buFont typeface="Arial" panose="020B0604020202020204" pitchFamily="34" charset="0"/>
              <a:buChar char="•"/>
              <a:defRPr/>
            </a:pPr>
            <a:r>
              <a:rPr lang="en-US" altLang="en-US" sz="1800" dirty="0">
                <a:latin typeface="+mj-lt"/>
              </a:rPr>
              <a:t>Limiting device currents during turn-on transients</a:t>
            </a:r>
          </a:p>
          <a:p>
            <a:pPr marL="342900" indent="-342900" eaLnBrk="1" hangingPunct="1">
              <a:spcAft>
                <a:spcPts val="1200"/>
              </a:spcAft>
              <a:buFont typeface="Arial" panose="020B0604020202020204" pitchFamily="34" charset="0"/>
              <a:buChar char="•"/>
              <a:defRPr/>
            </a:pPr>
            <a:r>
              <a:rPr lang="en-US" altLang="en-US" sz="1800" dirty="0">
                <a:latin typeface="+mj-lt"/>
              </a:rPr>
              <a:t>Limiting the rate-of-rise (di/dt) of currents through the semiconductor device at device turn-on</a:t>
            </a:r>
          </a:p>
          <a:p>
            <a:pPr marL="342900" indent="-342900" eaLnBrk="1" hangingPunct="1">
              <a:spcAft>
                <a:spcPts val="1200"/>
              </a:spcAft>
              <a:buFont typeface="Arial" panose="020B0604020202020204" pitchFamily="34" charset="0"/>
              <a:buChar char="•"/>
              <a:defRPr/>
            </a:pPr>
            <a:r>
              <a:rPr lang="en-US" altLang="en-US" sz="1800" dirty="0">
                <a:latin typeface="+mj-lt"/>
              </a:rPr>
              <a:t>Limiting the rate-of-rise (dv/dt) of voltages across the semiconductor device at device turn-off</a:t>
            </a:r>
          </a:p>
          <a:p>
            <a:pPr marL="342900" indent="-342900" eaLnBrk="1" hangingPunct="1">
              <a:spcAft>
                <a:spcPts val="1200"/>
              </a:spcAft>
              <a:buFont typeface="Arial" panose="020B0604020202020204" pitchFamily="34" charset="0"/>
              <a:buChar char="•"/>
              <a:defRPr/>
            </a:pPr>
            <a:r>
              <a:rPr lang="en-US" altLang="en-US" sz="1800" dirty="0">
                <a:latin typeface="+mj-lt"/>
              </a:rPr>
              <a:t>Shaping the switching trajectory of the device as it turns on/off</a:t>
            </a:r>
          </a:p>
        </p:txBody>
      </p:sp>
      <p:sp>
        <p:nvSpPr>
          <p:cNvPr id="6" name="Text Box 5">
            <a:extLst>
              <a:ext uri="{FF2B5EF4-FFF2-40B4-BE49-F238E27FC236}">
                <a16:creationId xmlns:a16="http://schemas.microsoft.com/office/drawing/2014/main" id="{10F07129-E6AD-4227-8BE0-FE0E9534C7D3}"/>
              </a:ext>
            </a:extLst>
          </p:cNvPr>
          <p:cNvSpPr txBox="1">
            <a:spLocks noChangeArrowheads="1"/>
          </p:cNvSpPr>
          <p:nvPr/>
        </p:nvSpPr>
        <p:spPr bwMode="auto">
          <a:xfrm>
            <a:off x="4211638" y="676275"/>
            <a:ext cx="4824412" cy="5970865"/>
          </a:xfrm>
          <a:prstGeom prst="rect">
            <a:avLst/>
          </a:prstGeom>
          <a:noFill/>
          <a:ln w="9525">
            <a:solidFill>
              <a:srgbClr val="3333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23838" algn="l"/>
                <a:tab pos="460375" algn="l"/>
              </a:tabLst>
              <a:defRPr sz="2400">
                <a:solidFill>
                  <a:schemeClr val="tx1"/>
                </a:solidFill>
                <a:latin typeface="Times" panose="02020603050405020304" pitchFamily="18" charset="0"/>
              </a:defRPr>
            </a:lvl1pPr>
            <a:lvl2pPr>
              <a:tabLst>
                <a:tab pos="223838" algn="l"/>
                <a:tab pos="460375" algn="l"/>
              </a:tabLst>
              <a:defRPr sz="2400">
                <a:solidFill>
                  <a:schemeClr val="tx1"/>
                </a:solidFill>
                <a:latin typeface="Times" panose="02020603050405020304" pitchFamily="18" charset="0"/>
              </a:defRPr>
            </a:lvl2pPr>
            <a:lvl3pPr>
              <a:tabLst>
                <a:tab pos="223838" algn="l"/>
                <a:tab pos="460375" algn="l"/>
              </a:tabLst>
              <a:defRPr sz="2400">
                <a:solidFill>
                  <a:schemeClr val="tx1"/>
                </a:solidFill>
                <a:latin typeface="Times" panose="02020603050405020304" pitchFamily="18" charset="0"/>
              </a:defRPr>
            </a:lvl3pPr>
            <a:lvl4pPr>
              <a:tabLst>
                <a:tab pos="223838" algn="l"/>
                <a:tab pos="460375" algn="l"/>
              </a:tabLst>
              <a:defRPr sz="2400">
                <a:solidFill>
                  <a:schemeClr val="tx1"/>
                </a:solidFill>
                <a:latin typeface="Times" panose="02020603050405020304" pitchFamily="18" charset="0"/>
              </a:defRPr>
            </a:lvl4pPr>
            <a:lvl5pPr>
              <a:tabLst>
                <a:tab pos="223838" algn="l"/>
                <a:tab pos="460375" algn="l"/>
              </a:tabLst>
              <a:defRPr sz="2400">
                <a:solidFill>
                  <a:schemeClr val="tx1"/>
                </a:solidFill>
                <a:latin typeface="Times" panose="02020603050405020304" pitchFamily="18" charset="0"/>
              </a:defRPr>
            </a:lvl5pPr>
            <a:lvl6pPr eaLnBrk="0" fontAlgn="base" hangingPunct="0">
              <a:spcBef>
                <a:spcPct val="0"/>
              </a:spcBef>
              <a:spcAft>
                <a:spcPct val="0"/>
              </a:spcAft>
              <a:tabLst>
                <a:tab pos="223838" algn="l"/>
                <a:tab pos="460375" algn="l"/>
              </a:tabLst>
              <a:defRPr sz="2400">
                <a:solidFill>
                  <a:schemeClr val="tx1"/>
                </a:solidFill>
                <a:latin typeface="Times" panose="02020603050405020304" pitchFamily="18" charset="0"/>
              </a:defRPr>
            </a:lvl6pPr>
            <a:lvl7pPr eaLnBrk="0" fontAlgn="base" hangingPunct="0">
              <a:spcBef>
                <a:spcPct val="0"/>
              </a:spcBef>
              <a:spcAft>
                <a:spcPct val="0"/>
              </a:spcAft>
              <a:tabLst>
                <a:tab pos="223838" algn="l"/>
                <a:tab pos="460375" algn="l"/>
              </a:tabLst>
              <a:defRPr sz="2400">
                <a:solidFill>
                  <a:schemeClr val="tx1"/>
                </a:solidFill>
                <a:latin typeface="Times" panose="02020603050405020304" pitchFamily="18" charset="0"/>
              </a:defRPr>
            </a:lvl7pPr>
            <a:lvl8pPr eaLnBrk="0" fontAlgn="base" hangingPunct="0">
              <a:spcBef>
                <a:spcPct val="0"/>
              </a:spcBef>
              <a:spcAft>
                <a:spcPct val="0"/>
              </a:spcAft>
              <a:tabLst>
                <a:tab pos="223838" algn="l"/>
                <a:tab pos="460375" algn="l"/>
              </a:tabLst>
              <a:defRPr sz="2400">
                <a:solidFill>
                  <a:schemeClr val="tx1"/>
                </a:solidFill>
                <a:latin typeface="Times" panose="02020603050405020304" pitchFamily="18" charset="0"/>
              </a:defRPr>
            </a:lvl8pPr>
            <a:lvl9pPr eaLnBrk="0" fontAlgn="base" hangingPunct="0">
              <a:spcBef>
                <a:spcPct val="0"/>
              </a:spcBef>
              <a:spcAft>
                <a:spcPct val="0"/>
              </a:spcAft>
              <a:tabLst>
                <a:tab pos="223838" algn="l"/>
                <a:tab pos="460375" algn="l"/>
              </a:tabLst>
              <a:defRPr sz="2400">
                <a:solidFill>
                  <a:schemeClr val="tx1"/>
                </a:solidFill>
                <a:latin typeface="Times" panose="02020603050405020304" pitchFamily="18" charset="0"/>
              </a:defRPr>
            </a:lvl9pPr>
          </a:lstStyle>
          <a:p>
            <a:pPr algn="just" eaLnBrk="1" hangingPunct="1">
              <a:spcBef>
                <a:spcPts val="0"/>
              </a:spcBef>
              <a:spcAft>
                <a:spcPts val="1200"/>
              </a:spcAft>
              <a:defRPr/>
            </a:pPr>
            <a:r>
              <a:rPr lang="en-US" altLang="en-US" sz="1800" b="1" u="sng" dirty="0">
                <a:latin typeface="+mj-lt"/>
              </a:rPr>
              <a:t>From the circuit topology perspective, there are three broad classes of snubber circuits</a:t>
            </a:r>
          </a:p>
          <a:p>
            <a:pPr eaLnBrk="1" hangingPunct="1">
              <a:defRPr/>
            </a:pPr>
            <a:r>
              <a:rPr lang="en-US" altLang="en-US" sz="1800" dirty="0">
                <a:latin typeface="+mj-lt"/>
              </a:rPr>
              <a:t>Unpolarized series </a:t>
            </a:r>
            <a:r>
              <a:rPr lang="en-US" altLang="en-US" sz="1800" b="1" dirty="0">
                <a:solidFill>
                  <a:srgbClr val="3333FF"/>
                </a:solidFill>
                <a:latin typeface="+mj-lt"/>
              </a:rPr>
              <a:t>R-C </a:t>
            </a:r>
            <a:r>
              <a:rPr lang="en-US" altLang="en-US" sz="1800" dirty="0">
                <a:latin typeface="+mj-lt"/>
              </a:rPr>
              <a:t>snubbers:</a:t>
            </a:r>
          </a:p>
          <a:p>
            <a:pPr marL="342900" indent="-342900" eaLnBrk="1" hangingPunct="1">
              <a:spcAft>
                <a:spcPts val="1200"/>
              </a:spcAft>
              <a:buFont typeface="Arial" panose="020B0604020202020204" pitchFamily="34" charset="0"/>
              <a:buChar char="•"/>
              <a:defRPr/>
            </a:pPr>
            <a:r>
              <a:rPr lang="en-US" altLang="en-US" sz="1800" dirty="0">
                <a:latin typeface="+mj-lt"/>
              </a:rPr>
              <a:t>Used to </a:t>
            </a:r>
            <a:r>
              <a:rPr lang="en-US" altLang="en-US" sz="1800" b="1" dirty="0">
                <a:solidFill>
                  <a:srgbClr val="FF0000"/>
                </a:solidFill>
                <a:latin typeface="+mj-lt"/>
              </a:rPr>
              <a:t>protect diodes and thyristors</a:t>
            </a:r>
          </a:p>
          <a:p>
            <a:pPr marL="342900" indent="-342900" eaLnBrk="1" hangingPunct="1">
              <a:spcAft>
                <a:spcPts val="1200"/>
              </a:spcAft>
              <a:buFont typeface="Arial" panose="020B0604020202020204" pitchFamily="34" charset="0"/>
              <a:buChar char="•"/>
              <a:defRPr/>
            </a:pPr>
            <a:r>
              <a:rPr lang="en-US" altLang="en-US" sz="1800" dirty="0">
                <a:latin typeface="+mj-lt"/>
              </a:rPr>
              <a:t>Used to Mitigate </a:t>
            </a:r>
            <a:r>
              <a:rPr lang="en-US" altLang="en-US" sz="1800" b="1" dirty="0">
                <a:solidFill>
                  <a:srgbClr val="FF0000"/>
                </a:solidFill>
                <a:latin typeface="+mj-lt"/>
              </a:rPr>
              <a:t>Ringing</a:t>
            </a:r>
          </a:p>
          <a:p>
            <a:pPr eaLnBrk="1" hangingPunct="1">
              <a:defRPr/>
            </a:pPr>
            <a:r>
              <a:rPr lang="en-US" altLang="en-US" sz="1800" dirty="0">
                <a:latin typeface="+mj-lt"/>
              </a:rPr>
              <a:t>Polarized </a:t>
            </a:r>
            <a:r>
              <a:rPr lang="en-US" altLang="en-US" sz="1800" b="1" dirty="0">
                <a:solidFill>
                  <a:srgbClr val="3333FF"/>
                </a:solidFill>
                <a:latin typeface="+mj-lt"/>
              </a:rPr>
              <a:t>R-C</a:t>
            </a:r>
            <a:r>
              <a:rPr lang="en-US" altLang="en-US" sz="1800" dirty="0">
                <a:latin typeface="+mj-lt"/>
              </a:rPr>
              <a:t> snubbers: </a:t>
            </a:r>
          </a:p>
          <a:p>
            <a:pPr marL="342900" indent="-342900" eaLnBrk="1" hangingPunct="1">
              <a:buFont typeface="Arial" panose="020B0604020202020204" pitchFamily="34" charset="0"/>
              <a:buChar char="•"/>
              <a:defRPr/>
            </a:pPr>
            <a:r>
              <a:rPr lang="en-US" altLang="en-US" sz="1800" dirty="0">
                <a:latin typeface="+mj-lt"/>
              </a:rPr>
              <a:t>Used as </a:t>
            </a:r>
            <a:r>
              <a:rPr lang="en-US" altLang="en-US" sz="1800" b="1" dirty="0">
                <a:solidFill>
                  <a:srgbClr val="FF0000"/>
                </a:solidFill>
                <a:latin typeface="+mj-lt"/>
              </a:rPr>
              <a:t>turn-off</a:t>
            </a:r>
            <a:r>
              <a:rPr lang="en-US" altLang="en-US" sz="1800" dirty="0">
                <a:latin typeface="+mj-lt"/>
              </a:rPr>
              <a:t> snubbers to shape the turn-off switching trajectory of controlled switches. </a:t>
            </a:r>
            <a:r>
              <a:rPr lang="en-GB" altLang="en-US" sz="1800" dirty="0">
                <a:latin typeface="+mj-lt"/>
              </a:rPr>
              <a:t>Limit </a:t>
            </a:r>
            <a:r>
              <a:rPr lang="en-GB" altLang="en-US" sz="1800" b="1" dirty="0">
                <a:solidFill>
                  <a:srgbClr val="FF0000"/>
                </a:solidFill>
                <a:latin typeface="+mj-lt"/>
              </a:rPr>
              <a:t>dv/dt </a:t>
            </a:r>
            <a:r>
              <a:rPr lang="en-GB" altLang="en-US" sz="1800" dirty="0">
                <a:latin typeface="+mj-lt"/>
              </a:rPr>
              <a:t>during device turn-off</a:t>
            </a:r>
            <a:endParaRPr lang="en-US" altLang="en-US" sz="1800" dirty="0">
              <a:latin typeface="+mj-lt"/>
            </a:endParaRPr>
          </a:p>
          <a:p>
            <a:pPr marL="342900" indent="-342900" eaLnBrk="1" hangingPunct="1">
              <a:spcAft>
                <a:spcPts val="1200"/>
              </a:spcAft>
              <a:buFont typeface="Arial" panose="020B0604020202020204" pitchFamily="34" charset="0"/>
              <a:buChar char="•"/>
              <a:defRPr/>
            </a:pPr>
            <a:r>
              <a:rPr lang="en-US" altLang="en-US" sz="1800" dirty="0">
                <a:latin typeface="+mj-lt"/>
              </a:rPr>
              <a:t>Used as </a:t>
            </a:r>
            <a:r>
              <a:rPr lang="en-US" altLang="en-US" sz="1800" b="1" dirty="0">
                <a:solidFill>
                  <a:srgbClr val="FF0000"/>
                </a:solidFill>
                <a:latin typeface="+mj-lt"/>
              </a:rPr>
              <a:t>overvoltage</a:t>
            </a:r>
            <a:r>
              <a:rPr lang="en-US" altLang="en-US" sz="1800" dirty="0">
                <a:latin typeface="+mj-lt"/>
              </a:rPr>
              <a:t> snubbers to clamp voltages applied to controlled switches to safe values; </a:t>
            </a:r>
          </a:p>
          <a:p>
            <a:pPr eaLnBrk="1" hangingPunct="1">
              <a:defRPr/>
            </a:pPr>
            <a:r>
              <a:rPr lang="en-US" altLang="en-US" sz="1800" dirty="0">
                <a:latin typeface="+mj-lt"/>
              </a:rPr>
              <a:t>Polarized </a:t>
            </a:r>
            <a:r>
              <a:rPr lang="en-US" altLang="en-US" sz="1800" b="1" dirty="0">
                <a:solidFill>
                  <a:srgbClr val="3333FF"/>
                </a:solidFill>
                <a:latin typeface="+mj-lt"/>
              </a:rPr>
              <a:t>L-R</a:t>
            </a:r>
            <a:r>
              <a:rPr lang="en-US" altLang="en-US" sz="1800" dirty="0">
                <a:latin typeface="+mj-lt"/>
              </a:rPr>
              <a:t> snubbers</a:t>
            </a:r>
          </a:p>
          <a:p>
            <a:pPr marL="457200" indent="-457200" eaLnBrk="1" hangingPunct="1">
              <a:buFont typeface="Arial" panose="020B0604020202020204" pitchFamily="34" charset="0"/>
              <a:buChar char="•"/>
              <a:defRPr/>
            </a:pPr>
            <a:r>
              <a:rPr lang="en-US" altLang="en-US" sz="1800" dirty="0">
                <a:latin typeface="+mj-lt"/>
              </a:rPr>
              <a:t>Used as </a:t>
            </a:r>
            <a:r>
              <a:rPr lang="en-US" altLang="en-US" sz="1800" b="1" dirty="0">
                <a:solidFill>
                  <a:srgbClr val="FF0000"/>
                </a:solidFill>
                <a:latin typeface="+mj-lt"/>
              </a:rPr>
              <a:t>turn-on</a:t>
            </a:r>
            <a:r>
              <a:rPr lang="en-US" altLang="en-US" sz="1800" dirty="0">
                <a:latin typeface="+mj-lt"/>
              </a:rPr>
              <a:t> snubbers to shape the turn-on switching trajectory of controlled switches; </a:t>
            </a:r>
          </a:p>
          <a:p>
            <a:pPr marL="457200" indent="-457200" eaLnBrk="1" hangingPunct="1">
              <a:buFont typeface="Arial" panose="020B0604020202020204" pitchFamily="34" charset="0"/>
              <a:buChar char="•"/>
              <a:defRPr/>
            </a:pPr>
            <a:r>
              <a:rPr lang="en-US" altLang="en-US" sz="1800" dirty="0">
                <a:latin typeface="+mj-lt"/>
              </a:rPr>
              <a:t>Limit </a:t>
            </a:r>
            <a:r>
              <a:rPr lang="en-US" altLang="en-US" sz="1800" b="1" dirty="0">
                <a:solidFill>
                  <a:srgbClr val="FF0000"/>
                </a:solidFill>
                <a:latin typeface="+mj-lt"/>
              </a:rPr>
              <a:t>di/dt </a:t>
            </a:r>
            <a:r>
              <a:rPr lang="en-US" altLang="en-US" sz="1800" dirty="0">
                <a:latin typeface="+mj-lt"/>
              </a:rPr>
              <a:t> during device turn-on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anim calcmode="lin" valueType="num">
                                      <p:cBhvr additive="base">
                                        <p:cTn id="3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anim calcmode="lin" valueType="num">
                                      <p:cBhvr additive="base">
                                        <p:cTn id="4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anim calcmode="lin" valueType="num">
                                      <p:cBhvr additive="base">
                                        <p:cTn id="4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6">
                                            <p:txEl>
                                              <p:pRg st="4" end="4"/>
                                            </p:txEl>
                                          </p:spTgt>
                                        </p:tgtEl>
                                        <p:attrNameLst>
                                          <p:attrName>style.visibility</p:attrName>
                                        </p:attrNameLst>
                                      </p:cBhvr>
                                      <p:to>
                                        <p:strVal val="visible"/>
                                      </p:to>
                                    </p:set>
                                    <p:anim calcmode="lin" valueType="num">
                                      <p:cBhvr additive="base">
                                        <p:cTn id="53"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6">
                                            <p:txEl>
                                              <p:pRg st="5" end="5"/>
                                            </p:txEl>
                                          </p:spTgt>
                                        </p:tgtEl>
                                        <p:attrNameLst>
                                          <p:attrName>style.visibility</p:attrName>
                                        </p:attrNameLst>
                                      </p:cBhvr>
                                      <p:to>
                                        <p:strVal val="visible"/>
                                      </p:to>
                                    </p:set>
                                    <p:anim calcmode="lin" valueType="num">
                                      <p:cBhvr additive="base">
                                        <p:cTn id="5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6">
                                            <p:txEl>
                                              <p:pRg st="5" end="5"/>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6">
                                            <p:txEl>
                                              <p:pRg st="6" end="6"/>
                                            </p:txEl>
                                          </p:spTgt>
                                        </p:tgtEl>
                                        <p:attrNameLst>
                                          <p:attrName>style.visibility</p:attrName>
                                        </p:attrNameLst>
                                      </p:cBhvr>
                                      <p:to>
                                        <p:strVal val="visible"/>
                                      </p:to>
                                    </p:set>
                                    <p:anim calcmode="lin" valueType="num">
                                      <p:cBhvr additive="base">
                                        <p:cTn id="6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6">
                                            <p:txEl>
                                              <p:pRg st="7" end="7"/>
                                            </p:txEl>
                                          </p:spTgt>
                                        </p:tgtEl>
                                        <p:attrNameLst>
                                          <p:attrName>style.visibility</p:attrName>
                                        </p:attrNameLst>
                                      </p:cBhvr>
                                      <p:to>
                                        <p:strVal val="visible"/>
                                      </p:to>
                                    </p:set>
                                    <p:anim calcmode="lin" valueType="num">
                                      <p:cBhvr additive="base">
                                        <p:cTn id="6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6">
                                            <p:txEl>
                                              <p:pRg st="8" end="8"/>
                                            </p:txEl>
                                          </p:spTgt>
                                        </p:tgtEl>
                                        <p:attrNameLst>
                                          <p:attrName>style.visibility</p:attrName>
                                        </p:attrNameLst>
                                      </p:cBhvr>
                                      <p:to>
                                        <p:strVal val="visible"/>
                                      </p:to>
                                    </p:set>
                                    <p:anim calcmode="lin" valueType="num">
                                      <p:cBhvr additive="base">
                                        <p:cTn id="75"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6">
                                            <p:txEl>
                                              <p:pRg st="8" end="8"/>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6">
                                            <p:txEl>
                                              <p:pRg st="9" end="9"/>
                                            </p:txEl>
                                          </p:spTgt>
                                        </p:tgtEl>
                                        <p:attrNameLst>
                                          <p:attrName>style.visibility</p:attrName>
                                        </p:attrNameLst>
                                      </p:cBhvr>
                                      <p:to>
                                        <p:strVal val="visible"/>
                                      </p:to>
                                    </p:set>
                                    <p:anim calcmode="lin" valueType="num">
                                      <p:cBhvr additive="base">
                                        <p:cTn id="79"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2A08961B-B7B5-854D-B8E8-5E113577BD9A}"/>
              </a:ext>
            </a:extLst>
          </p:cNvPr>
          <p:cNvSpPr>
            <a:spLocks noGrp="1"/>
          </p:cNvSpPr>
          <p:nvPr>
            <p:ph type="sldNum" sz="quarter" idx="12"/>
          </p:nvPr>
        </p:nvSpPr>
        <p:spPr>
          <a:xfrm>
            <a:off x="6893467" y="6381750"/>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F02D2DF-6A48-1F4E-BA10-7CD0C851AEEA}" type="slidenum">
              <a:rPr lang="en-US" altLang="en-US" sz="1400"/>
              <a:pPr>
                <a:spcBef>
                  <a:spcPct val="0"/>
                </a:spcBef>
                <a:buFontTx/>
                <a:buNone/>
              </a:pPr>
              <a:t>12</a:t>
            </a:fld>
            <a:endParaRPr lang="en-US" altLang="en-US" sz="1400" dirty="0"/>
          </a:p>
        </p:txBody>
      </p:sp>
      <p:sp>
        <p:nvSpPr>
          <p:cNvPr id="21507" name="Text Box 4">
            <a:extLst>
              <a:ext uri="{FF2B5EF4-FFF2-40B4-BE49-F238E27FC236}">
                <a16:creationId xmlns:a16="http://schemas.microsoft.com/office/drawing/2014/main" id="{F70E53E8-613B-4E4A-81A1-CD5DE2CD4837}"/>
              </a:ext>
            </a:extLst>
          </p:cNvPr>
          <p:cNvSpPr txBox="1">
            <a:spLocks noChangeArrowheads="1"/>
          </p:cNvSpPr>
          <p:nvPr/>
        </p:nvSpPr>
        <p:spPr bwMode="auto">
          <a:xfrm>
            <a:off x="143529" y="537579"/>
            <a:ext cx="89646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Real electronic switches have a “</a:t>
            </a:r>
            <a:r>
              <a:rPr lang="en-GB" altLang="en-US" sz="1800" b="1" dirty="0">
                <a:solidFill>
                  <a:srgbClr val="3333FF"/>
                </a:solidFill>
              </a:rPr>
              <a:t>parasitic</a:t>
            </a:r>
            <a:r>
              <a:rPr lang="en-GB" altLang="en-US" sz="1800" dirty="0"/>
              <a:t>” </a:t>
            </a:r>
            <a:r>
              <a:rPr lang="en-GB" altLang="en-US" sz="1800" dirty="0">
                <a:solidFill>
                  <a:srgbClr val="3333FF"/>
                </a:solidFill>
              </a:rPr>
              <a:t>capacitance</a:t>
            </a:r>
            <a:r>
              <a:rPr lang="en-GB" altLang="en-US" sz="1800" dirty="0"/>
              <a:t> between their terminals, and circuit board tracks introduce </a:t>
            </a:r>
            <a:r>
              <a:rPr lang="en-GB" altLang="en-US" sz="1800" b="1" dirty="0">
                <a:solidFill>
                  <a:srgbClr val="3333FF"/>
                </a:solidFill>
              </a:rPr>
              <a:t>stray</a:t>
            </a:r>
            <a:r>
              <a:rPr lang="en-GB" altLang="en-US" sz="1800" dirty="0"/>
              <a:t> </a:t>
            </a:r>
            <a:r>
              <a:rPr lang="en-GB" altLang="en-US" sz="1800" dirty="0">
                <a:solidFill>
                  <a:srgbClr val="3333FF"/>
                </a:solidFill>
              </a:rPr>
              <a:t>inductance</a:t>
            </a:r>
            <a:r>
              <a:rPr lang="en-GB" altLang="en-US" sz="1800" dirty="0"/>
              <a:t> between components. </a:t>
            </a:r>
          </a:p>
        </p:txBody>
      </p:sp>
      <p:sp>
        <p:nvSpPr>
          <p:cNvPr id="2" name="TextBox 1">
            <a:extLst>
              <a:ext uri="{FF2B5EF4-FFF2-40B4-BE49-F238E27FC236}">
                <a16:creationId xmlns:a16="http://schemas.microsoft.com/office/drawing/2014/main" id="{1073B749-5BE4-4274-8B9C-257FB08A1E47}"/>
              </a:ext>
            </a:extLst>
          </p:cNvPr>
          <p:cNvSpPr txBox="1"/>
          <p:nvPr/>
        </p:nvSpPr>
        <p:spPr>
          <a:xfrm>
            <a:off x="179388" y="96277"/>
            <a:ext cx="5248834" cy="369332"/>
          </a:xfrm>
          <a:prstGeom prst="rect">
            <a:avLst/>
          </a:prstGeom>
          <a:noFill/>
        </p:spPr>
        <p:txBody>
          <a:bodyPr wrap="square">
            <a:spAutoFit/>
          </a:bodyPr>
          <a:lstStyle/>
          <a:p>
            <a:pPr eaLnBrk="1" hangingPunct="1">
              <a:spcBef>
                <a:spcPct val="50000"/>
              </a:spcBef>
              <a:buFontTx/>
              <a:buNone/>
            </a:pPr>
            <a:r>
              <a:rPr lang="en-GB" altLang="en-US" sz="1800" b="1" u="sng" dirty="0"/>
              <a:t>Ringing Effect.</a:t>
            </a:r>
          </a:p>
        </p:txBody>
      </p:sp>
      <p:pic>
        <p:nvPicPr>
          <p:cNvPr id="4" name="Picture 6">
            <a:extLst>
              <a:ext uri="{FF2B5EF4-FFF2-40B4-BE49-F238E27FC236}">
                <a16:creationId xmlns:a16="http://schemas.microsoft.com/office/drawing/2014/main" id="{DDD7DC6E-9160-6E95-E13E-FD4BDB847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9347" y="4558994"/>
            <a:ext cx="5024998" cy="1277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1" descr="Electrical Engineering - How do I design a flyback converter? What are the  basics I should know?">
            <a:extLst>
              <a:ext uri="{FF2B5EF4-FFF2-40B4-BE49-F238E27FC236}">
                <a16:creationId xmlns:a16="http://schemas.microsoft.com/office/drawing/2014/main" id="{32AE7501-66EB-F08C-D5A6-18FD616E9415}"/>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268117" y="1348388"/>
            <a:ext cx="2474258" cy="122523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B2F5A8E-A1EF-BD1E-97CC-3B8096B771AA}"/>
              </a:ext>
            </a:extLst>
          </p:cNvPr>
          <p:cNvPicPr>
            <a:picLocks noChangeAspect="1"/>
          </p:cNvPicPr>
          <p:nvPr/>
        </p:nvPicPr>
        <p:blipFill>
          <a:blip r:embed="rId5"/>
          <a:stretch>
            <a:fillRect/>
          </a:stretch>
        </p:blipFill>
        <p:spPr>
          <a:xfrm>
            <a:off x="4807601" y="1269847"/>
            <a:ext cx="2762295" cy="2133046"/>
          </a:xfrm>
          <a:prstGeom prst="rect">
            <a:avLst/>
          </a:prstGeom>
        </p:spPr>
      </p:pic>
      <p:pic>
        <p:nvPicPr>
          <p:cNvPr id="7" name="Picture 5">
            <a:extLst>
              <a:ext uri="{FF2B5EF4-FFF2-40B4-BE49-F238E27FC236}">
                <a16:creationId xmlns:a16="http://schemas.microsoft.com/office/drawing/2014/main" id="{90785546-74CA-9085-66CB-B8EF39B711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529" y="4633893"/>
            <a:ext cx="3598845" cy="1072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C428853-DC71-77D8-CBF9-23FFCB71FC9D}"/>
                  </a:ext>
                </a:extLst>
              </p:cNvPr>
              <p:cNvSpPr txBox="1"/>
              <p:nvPr/>
            </p:nvSpPr>
            <p:spPr>
              <a:xfrm>
                <a:off x="3503456" y="4079208"/>
                <a:ext cx="1533151" cy="500393"/>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𝑜</m:t>
                        </m:r>
                        <m:r>
                          <a:rPr lang="en-US" i="1">
                            <a:latin typeface="Cambria Math" panose="02040503050406030204" pitchFamily="18" charset="0"/>
                          </a:rPr>
                          <m:t> </m:t>
                        </m:r>
                      </m:sub>
                    </m:sSub>
                  </m:oMath>
                </a14:m>
                <a:r>
                  <a:rPr lang="en-US" dirty="0">
                    <a:solidFill>
                      <a:srgbClr val="836967"/>
                    </a:solidFill>
                  </a:rPr>
                  <a:t>= </a:t>
                </a:r>
                <a14:m>
                  <m:oMath xmlns:m="http://schemas.openxmlformats.org/officeDocument/2006/math">
                    <m:f>
                      <m:fPr>
                        <m:ctrlPr>
                          <a:rPr lang="en-US" i="1" smtClean="0">
                            <a:solidFill>
                              <a:srgbClr val="836967"/>
                            </a:solidFill>
                            <a:latin typeface="Cambria Math" panose="02040503050406030204" pitchFamily="18" charset="0"/>
                          </a:rPr>
                        </m:ctrlPr>
                      </m:fPr>
                      <m:num>
                        <m:r>
                          <a:rPr lang="en-US">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ad>
                          <m:radPr>
                            <m:degHide m:val="on"/>
                            <m:ctrlPr>
                              <a:rPr lang="en-US" i="1">
                                <a:solidFill>
                                  <a:srgbClr val="836967"/>
                                </a:solidFill>
                                <a:latin typeface="Cambria Math" panose="02040503050406030204" pitchFamily="18" charset="0"/>
                              </a:rPr>
                            </m:ctrlPr>
                          </m:radPr>
                          <m:deg/>
                          <m:e>
                            <m:r>
                              <a:rPr lang="en-GB" b="0" i="1" smtClean="0">
                                <a:latin typeface="Cambria Math" panose="02040503050406030204" pitchFamily="18" charset="0"/>
                              </a:rPr>
                              <m:t>𝐿𝐶</m:t>
                            </m:r>
                          </m:e>
                        </m:rad>
                      </m:den>
                    </m:f>
                  </m:oMath>
                </a14:m>
                <a:endParaRPr lang="en-US" dirty="0"/>
              </a:p>
            </p:txBody>
          </p:sp>
        </mc:Choice>
        <mc:Fallback xmlns="">
          <p:sp>
            <p:nvSpPr>
              <p:cNvPr id="8" name="TextBox 7">
                <a:extLst>
                  <a:ext uri="{FF2B5EF4-FFF2-40B4-BE49-F238E27FC236}">
                    <a16:creationId xmlns:a16="http://schemas.microsoft.com/office/drawing/2014/main" id="{CC428853-DC71-77D8-CBF9-23FFCB71FC9D}"/>
                  </a:ext>
                </a:extLst>
              </p:cNvPr>
              <p:cNvSpPr txBox="1">
                <a:spLocks noRot="1" noChangeAspect="1" noMove="1" noResize="1" noEditPoints="1" noAdjustHandles="1" noChangeArrowheads="1" noChangeShapeType="1" noTextEdit="1"/>
              </p:cNvSpPr>
              <p:nvPr/>
            </p:nvSpPr>
            <p:spPr>
              <a:xfrm>
                <a:off x="3503456" y="4079208"/>
                <a:ext cx="1533151" cy="500393"/>
              </a:xfrm>
              <a:prstGeom prst="rect">
                <a:avLst/>
              </a:prstGeom>
              <a:blipFill>
                <a:blip r:embed="rId7"/>
                <a:stretch>
                  <a:fillRect l="-1195" b="-3659"/>
                </a:stretch>
              </a:blipFill>
            </p:spPr>
            <p:txBody>
              <a:bodyPr/>
              <a:lstStyle/>
              <a:p>
                <a:r>
                  <a:rPr lang="en-GB">
                    <a:noFill/>
                  </a:rPr>
                  <a:t> </a:t>
                </a:r>
              </a:p>
            </p:txBody>
          </p:sp>
        </mc:Fallback>
      </mc:AlternateContent>
      <p:sp>
        <p:nvSpPr>
          <p:cNvPr id="9" name="Text Box 4">
            <a:extLst>
              <a:ext uri="{FF2B5EF4-FFF2-40B4-BE49-F238E27FC236}">
                <a16:creationId xmlns:a16="http://schemas.microsoft.com/office/drawing/2014/main" id="{9AE890D9-90C7-634A-D766-92690F64515E}"/>
              </a:ext>
            </a:extLst>
          </p:cNvPr>
          <p:cNvSpPr txBox="1">
            <a:spLocks noChangeArrowheads="1"/>
          </p:cNvSpPr>
          <p:nvPr/>
        </p:nvSpPr>
        <p:spPr bwMode="auto">
          <a:xfrm>
            <a:off x="143529" y="3638048"/>
            <a:ext cx="89646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At switching, this capacitance rings with the inductance at the undamped resonant frequency:</a:t>
            </a:r>
          </a:p>
        </p:txBody>
      </p:sp>
      <p:sp>
        <p:nvSpPr>
          <p:cNvPr id="10" name="TextBox 9">
            <a:extLst>
              <a:ext uri="{FF2B5EF4-FFF2-40B4-BE49-F238E27FC236}">
                <a16:creationId xmlns:a16="http://schemas.microsoft.com/office/drawing/2014/main" id="{342C90F6-2FAE-36A4-033B-35673BDCA12A}"/>
              </a:ext>
            </a:extLst>
          </p:cNvPr>
          <p:cNvSpPr txBox="1"/>
          <p:nvPr/>
        </p:nvSpPr>
        <p:spPr>
          <a:xfrm>
            <a:off x="1268117" y="2605934"/>
            <a:ext cx="2621230" cy="369332"/>
          </a:xfrm>
          <a:prstGeom prst="rect">
            <a:avLst/>
          </a:prstGeom>
          <a:noFill/>
        </p:spPr>
        <p:txBody>
          <a:bodyPr wrap="none" rtlCol="0">
            <a:spAutoFit/>
          </a:bodyPr>
          <a:lstStyle/>
          <a:p>
            <a:r>
              <a:rPr lang="en-US" dirty="0">
                <a:solidFill>
                  <a:srgbClr val="FF0000"/>
                </a:solidFill>
              </a:rPr>
              <a:t>Ideal Flyback Converter</a:t>
            </a:r>
          </a:p>
        </p:txBody>
      </p:sp>
      <p:sp>
        <p:nvSpPr>
          <p:cNvPr id="11" name="TextBox 10">
            <a:extLst>
              <a:ext uri="{FF2B5EF4-FFF2-40B4-BE49-F238E27FC236}">
                <a16:creationId xmlns:a16="http://schemas.microsoft.com/office/drawing/2014/main" id="{0AE5880E-0A88-2C59-F4AD-442A579B5210}"/>
              </a:ext>
            </a:extLst>
          </p:cNvPr>
          <p:cNvSpPr txBox="1"/>
          <p:nvPr/>
        </p:nvSpPr>
        <p:spPr>
          <a:xfrm>
            <a:off x="4982820" y="3380226"/>
            <a:ext cx="2762295" cy="369332"/>
          </a:xfrm>
          <a:prstGeom prst="rect">
            <a:avLst/>
          </a:prstGeom>
          <a:noFill/>
        </p:spPr>
        <p:txBody>
          <a:bodyPr wrap="none" rtlCol="0">
            <a:spAutoFit/>
          </a:bodyPr>
          <a:lstStyle/>
          <a:p>
            <a:r>
              <a:rPr lang="en-US" dirty="0">
                <a:solidFill>
                  <a:srgbClr val="FF0000"/>
                </a:solidFill>
              </a:rPr>
              <a:t>Actual Flyback Converter</a:t>
            </a:r>
          </a:p>
        </p:txBody>
      </p:sp>
      <p:sp>
        <p:nvSpPr>
          <p:cNvPr id="13" name="TextBox 12">
            <a:extLst>
              <a:ext uri="{FF2B5EF4-FFF2-40B4-BE49-F238E27FC236}">
                <a16:creationId xmlns:a16="http://schemas.microsoft.com/office/drawing/2014/main" id="{E26E9D90-4095-93E2-D078-350A1AA7C2E5}"/>
              </a:ext>
            </a:extLst>
          </p:cNvPr>
          <p:cNvSpPr txBox="1"/>
          <p:nvPr/>
        </p:nvSpPr>
        <p:spPr>
          <a:xfrm>
            <a:off x="231431" y="5920085"/>
            <a:ext cx="8077200" cy="923330"/>
          </a:xfrm>
          <a:prstGeom prst="rect">
            <a:avLst/>
          </a:prstGeom>
          <a:noFill/>
        </p:spPr>
        <p:txBody>
          <a:bodyPr wrap="square">
            <a:spAutoFit/>
          </a:bodyPr>
          <a:lstStyle/>
          <a:p>
            <a:pPr eaLnBrk="1" hangingPunct="1">
              <a:spcBef>
                <a:spcPct val="100000"/>
              </a:spcBef>
              <a:buFontTx/>
              <a:buNone/>
            </a:pPr>
            <a:r>
              <a:rPr lang="en-GB" altLang="en-US" sz="1800" dirty="0"/>
              <a:t>In these “</a:t>
            </a:r>
            <a:r>
              <a:rPr lang="en-GB" altLang="en-US" sz="1800" b="1" dirty="0">
                <a:solidFill>
                  <a:srgbClr val="3333FF"/>
                </a:solidFill>
              </a:rPr>
              <a:t>parasitic</a:t>
            </a:r>
            <a:r>
              <a:rPr lang="en-GB" altLang="en-US" sz="1800" dirty="0"/>
              <a:t>”</a:t>
            </a:r>
            <a:r>
              <a:rPr lang="zh-CN" altLang="en-US" sz="1800" dirty="0">
                <a:ea typeface="宋体" panose="02010600030101010101" pitchFamily="2" charset="-122"/>
              </a:rPr>
              <a:t> </a:t>
            </a:r>
            <a:r>
              <a:rPr lang="en-GB" altLang="en-US" sz="1800" dirty="0"/>
              <a:t>circuits there is usually very low resistance to dissipate the power in the oscillations and they can last for a considerable number of cycles.</a:t>
            </a:r>
          </a:p>
        </p:txBody>
      </p:sp>
    </p:spTree>
    <p:extLst>
      <p:ext uri="{BB962C8B-B14F-4D97-AF65-F5344CB8AC3E}">
        <p14:creationId xmlns:p14="http://schemas.microsoft.com/office/powerpoint/2010/main" val="74721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a:extLst>
              <a:ext uri="{FF2B5EF4-FFF2-40B4-BE49-F238E27FC236}">
                <a16:creationId xmlns:a16="http://schemas.microsoft.com/office/drawing/2014/main" id="{1B2E420A-B14D-854D-9834-B885011B5B04}"/>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E0E2205-3A0B-5C4C-9909-45F884C6955C}" type="slidenum">
              <a:rPr lang="en-US" altLang="en-US" sz="1400"/>
              <a:pPr>
                <a:spcBef>
                  <a:spcPct val="0"/>
                </a:spcBef>
                <a:buFontTx/>
                <a:buNone/>
              </a:pPr>
              <a:t>13</a:t>
            </a:fld>
            <a:endParaRPr lang="en-US" altLang="en-US" sz="1400" dirty="0"/>
          </a:p>
        </p:txBody>
      </p:sp>
      <p:sp>
        <p:nvSpPr>
          <p:cNvPr id="8196" name="Text Box 6">
            <a:extLst>
              <a:ext uri="{FF2B5EF4-FFF2-40B4-BE49-F238E27FC236}">
                <a16:creationId xmlns:a16="http://schemas.microsoft.com/office/drawing/2014/main" id="{45638E2A-CE0D-844C-B68D-012906A74031}"/>
              </a:ext>
            </a:extLst>
          </p:cNvPr>
          <p:cNvSpPr txBox="1">
            <a:spLocks noChangeArrowheads="1"/>
          </p:cNvSpPr>
          <p:nvPr/>
        </p:nvSpPr>
        <p:spPr bwMode="auto">
          <a:xfrm>
            <a:off x="179388" y="742740"/>
            <a:ext cx="87852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Snubbers are used extensively to prevent “</a:t>
            </a:r>
            <a:r>
              <a:rPr lang="en-GB" altLang="en-US" sz="1800" dirty="0">
                <a:solidFill>
                  <a:srgbClr val="FF0000"/>
                </a:solidFill>
              </a:rPr>
              <a:t>ringing</a:t>
            </a:r>
            <a:r>
              <a:rPr lang="en-GB" altLang="en-US" sz="1800" dirty="0"/>
              <a:t>” when a circuit is </a:t>
            </a:r>
            <a:r>
              <a:rPr lang="en-GB" altLang="en-US" sz="1800" b="1" dirty="0">
                <a:solidFill>
                  <a:srgbClr val="6666FF"/>
                </a:solidFill>
              </a:rPr>
              <a:t>switched on or off.</a:t>
            </a:r>
            <a:r>
              <a:rPr lang="en-GB" altLang="en-US" sz="1800" dirty="0"/>
              <a:t> Consider, the flyback converter shown below:</a:t>
            </a:r>
          </a:p>
        </p:txBody>
      </p:sp>
      <p:sp>
        <p:nvSpPr>
          <p:cNvPr id="4" name="Rectangle 2">
            <a:extLst>
              <a:ext uri="{FF2B5EF4-FFF2-40B4-BE49-F238E27FC236}">
                <a16:creationId xmlns:a16="http://schemas.microsoft.com/office/drawing/2014/main" id="{4ADC292C-E543-FB05-9B59-0520B327BACC}"/>
              </a:ext>
            </a:extLst>
          </p:cNvPr>
          <p:cNvSpPr>
            <a:spLocks noChangeArrowheads="1"/>
          </p:cNvSpPr>
          <p:nvPr/>
        </p:nvSpPr>
        <p:spPr bwMode="auto">
          <a:xfrm>
            <a:off x="753034" y="4326046"/>
            <a:ext cx="974394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073" name="Picture 1" descr="Electrical Engineering - How do I design a flyback converter? What are the  basics I should know?">
            <a:extLst>
              <a:ext uri="{FF2B5EF4-FFF2-40B4-BE49-F238E27FC236}">
                <a16:creationId xmlns:a16="http://schemas.microsoft.com/office/drawing/2014/main" id="{863971F2-3276-55A7-8DAF-1CD5D4AC4C1D}"/>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42252" y="1936659"/>
            <a:ext cx="2334463" cy="115600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85CCAF1B-5F4A-654D-43CA-53C763AAE3FA}"/>
              </a:ext>
            </a:extLst>
          </p:cNvPr>
          <p:cNvPicPr>
            <a:picLocks noChangeAspect="1"/>
          </p:cNvPicPr>
          <p:nvPr/>
        </p:nvPicPr>
        <p:blipFill>
          <a:blip r:embed="rId4"/>
          <a:stretch>
            <a:fillRect/>
          </a:stretch>
        </p:blipFill>
        <p:spPr>
          <a:xfrm>
            <a:off x="2733622" y="1486911"/>
            <a:ext cx="2706661" cy="2090086"/>
          </a:xfrm>
          <a:prstGeom prst="rect">
            <a:avLst/>
          </a:prstGeom>
        </p:spPr>
      </p:pic>
      <p:sp>
        <p:nvSpPr>
          <p:cNvPr id="3" name="TextBox 2">
            <a:extLst>
              <a:ext uri="{FF2B5EF4-FFF2-40B4-BE49-F238E27FC236}">
                <a16:creationId xmlns:a16="http://schemas.microsoft.com/office/drawing/2014/main" id="{DB418DDB-AE4B-2508-3D4D-FB339973C8FD}"/>
              </a:ext>
            </a:extLst>
          </p:cNvPr>
          <p:cNvSpPr txBox="1"/>
          <p:nvPr/>
        </p:nvSpPr>
        <p:spPr>
          <a:xfrm>
            <a:off x="179387" y="292859"/>
            <a:ext cx="6909389" cy="369332"/>
          </a:xfrm>
          <a:prstGeom prst="rect">
            <a:avLst/>
          </a:prstGeom>
          <a:noFill/>
        </p:spPr>
        <p:txBody>
          <a:bodyPr wrap="square">
            <a:spAutoFit/>
          </a:bodyPr>
          <a:lstStyle/>
          <a:p>
            <a:pPr eaLnBrk="1" hangingPunct="1">
              <a:spcBef>
                <a:spcPct val="50000"/>
              </a:spcBef>
              <a:buFontTx/>
              <a:buNone/>
            </a:pPr>
            <a:r>
              <a:rPr lang="en-GB" altLang="en-US" sz="1800" b="1" u="sng" dirty="0"/>
              <a:t>Ringing in Flyback Converter and Series RC Snubber Circuit</a:t>
            </a:r>
          </a:p>
        </p:txBody>
      </p:sp>
      <p:sp>
        <p:nvSpPr>
          <p:cNvPr id="7" name="TextBox 6">
            <a:extLst>
              <a:ext uri="{FF2B5EF4-FFF2-40B4-BE49-F238E27FC236}">
                <a16:creationId xmlns:a16="http://schemas.microsoft.com/office/drawing/2014/main" id="{D144E633-54F7-E50A-FA49-7DF6A6527C07}"/>
              </a:ext>
            </a:extLst>
          </p:cNvPr>
          <p:cNvSpPr txBox="1"/>
          <p:nvPr/>
        </p:nvSpPr>
        <p:spPr>
          <a:xfrm>
            <a:off x="330573" y="3896847"/>
            <a:ext cx="8482853" cy="1538883"/>
          </a:xfrm>
          <a:prstGeom prst="rect">
            <a:avLst/>
          </a:prstGeom>
          <a:noFill/>
        </p:spPr>
        <p:txBody>
          <a:bodyPr wrap="square">
            <a:spAutoFit/>
          </a:bodyPr>
          <a:lstStyle/>
          <a:p>
            <a:pPr eaLnBrk="1" hangingPunct="1">
              <a:spcBef>
                <a:spcPct val="50000"/>
              </a:spcBef>
              <a:buFontTx/>
              <a:buNone/>
            </a:pPr>
            <a:r>
              <a:rPr lang="en-GB" altLang="en-US" sz="1600" dirty="0"/>
              <a:t>The </a:t>
            </a:r>
            <a:r>
              <a:rPr lang="en-GB" altLang="en-US" sz="1600" b="1" dirty="0">
                <a:solidFill>
                  <a:srgbClr val="3333FF"/>
                </a:solidFill>
              </a:rPr>
              <a:t>RC snubber </a:t>
            </a:r>
            <a:r>
              <a:rPr lang="en-GB" altLang="en-US" sz="1600" dirty="0"/>
              <a:t>will, if properly designed, </a:t>
            </a:r>
            <a:r>
              <a:rPr lang="en-GB" altLang="en-US" sz="1600" dirty="0">
                <a:solidFill>
                  <a:srgbClr val="3333FF"/>
                </a:solidFill>
              </a:rPr>
              <a:t>damp the ringing and limit the overshoot </a:t>
            </a:r>
            <a:r>
              <a:rPr lang="en-GB" altLang="en-US" sz="1600" dirty="0"/>
              <a:t>at switching. </a:t>
            </a:r>
            <a:r>
              <a:rPr lang="en-GB" altLang="en-US" sz="1800" i="1" dirty="0">
                <a:solidFill>
                  <a:srgbClr val="FF0000"/>
                </a:solidFill>
                <a:latin typeface="Times New Roman" panose="02020603050405020304" pitchFamily="18" charset="0"/>
              </a:rPr>
              <a:t>Optimum performance is obtained when the snubber capacitance is 3X the parasitic capacitance and the resistor value equals the characteristic impedance of the </a:t>
            </a:r>
            <a:r>
              <a:rPr lang="en-GB" altLang="en-US" sz="1800" i="1" u="sng" dirty="0">
                <a:solidFill>
                  <a:srgbClr val="FF0000"/>
                </a:solidFill>
                <a:latin typeface="Times New Roman" panose="02020603050405020304" pitchFamily="18" charset="0"/>
              </a:rPr>
              <a:t>un-modified </a:t>
            </a:r>
            <a:r>
              <a:rPr lang="en-GB" altLang="en-US" sz="1800" i="1" dirty="0">
                <a:solidFill>
                  <a:srgbClr val="FF0000"/>
                </a:solidFill>
                <a:latin typeface="Times New Roman" panose="02020603050405020304" pitchFamily="18" charset="0"/>
              </a:rPr>
              <a:t>resonant circuit.</a:t>
            </a:r>
          </a:p>
          <a:p>
            <a:pPr eaLnBrk="1" hangingPunct="1">
              <a:spcBef>
                <a:spcPct val="50000"/>
              </a:spcBef>
              <a:buFontTx/>
              <a:buNone/>
            </a:pPr>
            <a:r>
              <a:rPr lang="en-GB" altLang="en-US" sz="1600" dirty="0"/>
              <a:t>The characteristic impedance is given by</a:t>
            </a:r>
            <a:endParaRPr lang="en-US" altLang="en-US" sz="1600" dirty="0"/>
          </a:p>
        </p:txBody>
      </p:sp>
      <p:pic>
        <p:nvPicPr>
          <p:cNvPr id="9" name="Picture 8" descr="A diagram of a circuit&#10;&#10;Description automatically generated">
            <a:extLst>
              <a:ext uri="{FF2B5EF4-FFF2-40B4-BE49-F238E27FC236}">
                <a16:creationId xmlns:a16="http://schemas.microsoft.com/office/drawing/2014/main" id="{465E8E9C-E89D-5293-6B27-CF2B6265A17F}"/>
              </a:ext>
            </a:extLst>
          </p:cNvPr>
          <p:cNvPicPr>
            <a:picLocks noChangeAspect="1"/>
          </p:cNvPicPr>
          <p:nvPr/>
        </p:nvPicPr>
        <p:blipFill>
          <a:blip r:embed="rId5"/>
          <a:stretch>
            <a:fillRect/>
          </a:stretch>
        </p:blipFill>
        <p:spPr>
          <a:xfrm>
            <a:off x="5781169" y="1381903"/>
            <a:ext cx="3289300" cy="25400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BF3A8BE-7528-4DB7-2F1F-886060077E56}"/>
                  </a:ext>
                </a:extLst>
              </p:cNvPr>
              <p:cNvSpPr txBox="1"/>
              <p:nvPr/>
            </p:nvSpPr>
            <p:spPr>
              <a:xfrm>
                <a:off x="2558138" y="5590688"/>
                <a:ext cx="2795778"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𝑅</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𝑠𝑛𝑢𝑏</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ad>
                        <m:radPr>
                          <m:degHide m:val="on"/>
                          <m:ctrlPr>
                            <a:rPr lang="en-US" i="1">
                              <a:effectLst/>
                              <a:latin typeface="Cambria Math" panose="02040503050406030204" pitchFamily="18" charset="0"/>
                            </a:rPr>
                          </m:ctrlPr>
                        </m:radPr>
                        <m:deg/>
                        <m:e>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𝑠𝑡𝑟𝑎𝑦</m:t>
                                  </m:r>
                                </m:sub>
                              </m:sSub>
                            </m:num>
                            <m:den>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𝐶</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𝑝𝑎𝑟𝑎</m:t>
                                  </m:r>
                                </m:sub>
                              </m:sSub>
                            </m:den>
                          </m:f>
                        </m:e>
                      </m:rad>
                    </m:oMath>
                  </m:oMathPara>
                </a14:m>
                <a:endParaRPr lang="en-GB" dirty="0"/>
              </a:p>
            </p:txBody>
          </p:sp>
        </mc:Choice>
        <mc:Fallback xmlns="">
          <p:sp>
            <p:nvSpPr>
              <p:cNvPr id="5" name="TextBox 4">
                <a:extLst>
                  <a:ext uri="{FF2B5EF4-FFF2-40B4-BE49-F238E27FC236}">
                    <a16:creationId xmlns:a16="http://schemas.microsoft.com/office/drawing/2014/main" id="{DBF3A8BE-7528-4DB7-2F1F-886060077E56}"/>
                  </a:ext>
                </a:extLst>
              </p:cNvPr>
              <p:cNvSpPr txBox="1">
                <a:spLocks noRot="1" noChangeAspect="1" noMove="1" noResize="1" noEditPoints="1" noAdjustHandles="1" noChangeArrowheads="1" noChangeShapeType="1" noTextEdit="1"/>
              </p:cNvSpPr>
              <p:nvPr/>
            </p:nvSpPr>
            <p:spPr>
              <a:xfrm>
                <a:off x="2558138" y="5590688"/>
                <a:ext cx="2795778" cy="910699"/>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39700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7"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a:extLst>
              <a:ext uri="{FF2B5EF4-FFF2-40B4-BE49-F238E27FC236}">
                <a16:creationId xmlns:a16="http://schemas.microsoft.com/office/drawing/2014/main" id="{686F8D96-F0AF-3D48-AFBE-88F63FD79D80}"/>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97A1FC5-5556-B546-82E9-1437D88A6E3B}" type="slidenum">
              <a:rPr lang="en-US" altLang="en-US" sz="1400"/>
              <a:pPr>
                <a:spcBef>
                  <a:spcPct val="0"/>
                </a:spcBef>
                <a:buFontTx/>
                <a:buNone/>
              </a:pPr>
              <a:t>14</a:t>
            </a:fld>
            <a:endParaRPr lang="en-US" altLang="en-US" sz="1400"/>
          </a:p>
        </p:txBody>
      </p:sp>
      <p:sp>
        <p:nvSpPr>
          <p:cNvPr id="22563" name="Text Box 54">
            <a:extLst>
              <a:ext uri="{FF2B5EF4-FFF2-40B4-BE49-F238E27FC236}">
                <a16:creationId xmlns:a16="http://schemas.microsoft.com/office/drawing/2014/main" id="{94879C22-07DC-0543-BB67-4869237821E9}"/>
              </a:ext>
            </a:extLst>
          </p:cNvPr>
          <p:cNvSpPr txBox="1">
            <a:spLocks noChangeArrowheads="1"/>
          </p:cNvSpPr>
          <p:nvPr/>
        </p:nvSpPr>
        <p:spPr bwMode="auto">
          <a:xfrm>
            <a:off x="107950" y="188913"/>
            <a:ext cx="8936038" cy="160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u="sng" dirty="0"/>
              <a:t>Example.</a:t>
            </a:r>
          </a:p>
          <a:p>
            <a:pPr eaLnBrk="1" hangingPunct="1">
              <a:spcBef>
                <a:spcPct val="50000"/>
              </a:spcBef>
              <a:buFontTx/>
              <a:buNone/>
            </a:pPr>
            <a:r>
              <a:rPr lang="en-GB" altLang="en-US" sz="1800" dirty="0"/>
              <a:t>The switch in an SMPS has a parasitic capacitance of 330pF and the stray inductance due to circuit board layout is 770nH. What is the undamped ringing frequency? An RC snubber is to be used to reduce the power dissipation in the switch and to control the ringing. What are the optimum values for R &amp; C?</a:t>
            </a:r>
            <a:endParaRPr lang="en-US" altLang="en-US" sz="1800" dirty="0"/>
          </a:p>
        </p:txBody>
      </p:sp>
      <p:pic>
        <p:nvPicPr>
          <p:cNvPr id="22564" name="Picture 55">
            <a:extLst>
              <a:ext uri="{FF2B5EF4-FFF2-40B4-BE49-F238E27FC236}">
                <a16:creationId xmlns:a16="http://schemas.microsoft.com/office/drawing/2014/main" id="{5783A893-10E9-8A48-AD3C-CD58244F25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7225" y="1658656"/>
            <a:ext cx="3155950" cy="125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65" name="Picture 57">
            <a:extLst>
              <a:ext uri="{FF2B5EF4-FFF2-40B4-BE49-F238E27FC236}">
                <a16:creationId xmlns:a16="http://schemas.microsoft.com/office/drawing/2014/main" id="{F2433D91-CE9D-5C42-9EF2-43541C9F3B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6788" y="2923895"/>
            <a:ext cx="3155950"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66" name="Picture 58">
            <a:extLst>
              <a:ext uri="{FF2B5EF4-FFF2-40B4-BE49-F238E27FC236}">
                <a16:creationId xmlns:a16="http://schemas.microsoft.com/office/drawing/2014/main" id="{3FFE3462-528A-1247-BA46-ECBCA42042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7225" y="4193894"/>
            <a:ext cx="3165475" cy="12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68" name="Line 60">
            <a:extLst>
              <a:ext uri="{FF2B5EF4-FFF2-40B4-BE49-F238E27FC236}">
                <a16:creationId xmlns:a16="http://schemas.microsoft.com/office/drawing/2014/main" id="{6ED9D8E1-ED61-AE48-AF03-604036AACB5F}"/>
              </a:ext>
            </a:extLst>
          </p:cNvPr>
          <p:cNvSpPr>
            <a:spLocks noChangeShapeType="1"/>
          </p:cNvSpPr>
          <p:nvPr/>
        </p:nvSpPr>
        <p:spPr bwMode="auto">
          <a:xfrm flipV="1">
            <a:off x="3821231" y="2124400"/>
            <a:ext cx="1983393" cy="2615517"/>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70" name="Text Box 62">
            <a:extLst>
              <a:ext uri="{FF2B5EF4-FFF2-40B4-BE49-F238E27FC236}">
                <a16:creationId xmlns:a16="http://schemas.microsoft.com/office/drawing/2014/main" id="{03C5AB87-A62E-E34C-94E4-8B8D6B1A9853}"/>
              </a:ext>
            </a:extLst>
          </p:cNvPr>
          <p:cNvSpPr txBox="1">
            <a:spLocks noChangeArrowheads="1"/>
          </p:cNvSpPr>
          <p:nvPr/>
        </p:nvSpPr>
        <p:spPr bwMode="auto">
          <a:xfrm>
            <a:off x="6443663" y="5332131"/>
            <a:ext cx="1779587" cy="314325"/>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solidFill>
                  <a:srgbClr val="FF0000"/>
                </a:solidFill>
              </a:rPr>
              <a:t>Damped response.</a:t>
            </a:r>
            <a:endParaRPr lang="en-US" altLang="en-US" sz="1400" b="1">
              <a:solidFill>
                <a:srgbClr val="FF0000"/>
              </a:solidFill>
            </a:endParaRPr>
          </a:p>
        </p:txBody>
      </p:sp>
      <p:pic>
        <p:nvPicPr>
          <p:cNvPr id="2" name="Picture 1" descr="A diagram of a circuit&#10;&#10;Description automatically generated">
            <a:extLst>
              <a:ext uri="{FF2B5EF4-FFF2-40B4-BE49-F238E27FC236}">
                <a16:creationId xmlns:a16="http://schemas.microsoft.com/office/drawing/2014/main" id="{25819A6E-6C7E-7A3C-3FC9-48C119328A7C}"/>
              </a:ext>
            </a:extLst>
          </p:cNvPr>
          <p:cNvPicPr>
            <a:picLocks noChangeAspect="1"/>
          </p:cNvPicPr>
          <p:nvPr/>
        </p:nvPicPr>
        <p:blipFill>
          <a:blip r:embed="rId6"/>
          <a:stretch>
            <a:fillRect/>
          </a:stretch>
        </p:blipFill>
        <p:spPr>
          <a:xfrm>
            <a:off x="815789" y="1708868"/>
            <a:ext cx="3289300" cy="25400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1B01745-299F-2CBE-B005-2511E0256817}"/>
                  </a:ext>
                </a:extLst>
              </p:cNvPr>
              <p:cNvSpPr txBox="1"/>
              <p:nvPr/>
            </p:nvSpPr>
            <p:spPr>
              <a:xfrm>
                <a:off x="245997" y="4135980"/>
                <a:ext cx="1533151" cy="500393"/>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𝑜</m:t>
                        </m:r>
                        <m:r>
                          <a:rPr lang="en-US" i="1">
                            <a:latin typeface="Cambria Math" panose="02040503050406030204" pitchFamily="18" charset="0"/>
                          </a:rPr>
                          <m:t> </m:t>
                        </m:r>
                      </m:sub>
                    </m:sSub>
                  </m:oMath>
                </a14:m>
                <a:r>
                  <a:rPr lang="en-US" dirty="0">
                    <a:solidFill>
                      <a:srgbClr val="836967"/>
                    </a:solidFill>
                  </a:rPr>
                  <a:t>= </a:t>
                </a:r>
                <a14:m>
                  <m:oMath xmlns:m="http://schemas.openxmlformats.org/officeDocument/2006/math">
                    <m:f>
                      <m:fPr>
                        <m:ctrlPr>
                          <a:rPr lang="en-US" i="1" smtClean="0">
                            <a:solidFill>
                              <a:srgbClr val="836967"/>
                            </a:solidFill>
                            <a:latin typeface="Cambria Math" panose="02040503050406030204" pitchFamily="18" charset="0"/>
                          </a:rPr>
                        </m:ctrlPr>
                      </m:fPr>
                      <m:num>
                        <m:r>
                          <a:rPr lang="en-US">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ad>
                          <m:radPr>
                            <m:degHide m:val="on"/>
                            <m:ctrlPr>
                              <a:rPr lang="en-US" i="1">
                                <a:solidFill>
                                  <a:srgbClr val="836967"/>
                                </a:solidFill>
                                <a:latin typeface="Cambria Math" panose="02040503050406030204" pitchFamily="18" charset="0"/>
                              </a:rPr>
                            </m:ctrlPr>
                          </m:radPr>
                          <m:deg/>
                          <m:e>
                            <m:r>
                              <a:rPr lang="en-GB" b="0" i="1" smtClean="0">
                                <a:latin typeface="Cambria Math" panose="02040503050406030204" pitchFamily="18" charset="0"/>
                              </a:rPr>
                              <m:t>𝐿𝐶</m:t>
                            </m:r>
                          </m:e>
                        </m:rad>
                      </m:den>
                    </m:f>
                  </m:oMath>
                </a14:m>
                <a:endParaRPr lang="en-US" dirty="0"/>
              </a:p>
            </p:txBody>
          </p:sp>
        </mc:Choice>
        <mc:Fallback xmlns="">
          <p:sp>
            <p:nvSpPr>
              <p:cNvPr id="5" name="TextBox 4">
                <a:extLst>
                  <a:ext uri="{FF2B5EF4-FFF2-40B4-BE49-F238E27FC236}">
                    <a16:creationId xmlns:a16="http://schemas.microsoft.com/office/drawing/2014/main" id="{B1B01745-299F-2CBE-B005-2511E0256817}"/>
                  </a:ext>
                </a:extLst>
              </p:cNvPr>
              <p:cNvSpPr txBox="1">
                <a:spLocks noRot="1" noChangeAspect="1" noMove="1" noResize="1" noEditPoints="1" noAdjustHandles="1" noChangeArrowheads="1" noChangeShapeType="1" noTextEdit="1"/>
              </p:cNvSpPr>
              <p:nvPr/>
            </p:nvSpPr>
            <p:spPr>
              <a:xfrm>
                <a:off x="245997" y="4135980"/>
                <a:ext cx="1533151" cy="500393"/>
              </a:xfrm>
              <a:prstGeom prst="rect">
                <a:avLst/>
              </a:prstGeom>
              <a:blipFill>
                <a:blip r:embed="rId7"/>
                <a:stretch>
                  <a:fillRect l="-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236168-7C8F-874A-6842-226602ED9EB3}"/>
                  </a:ext>
                </a:extLst>
              </p:cNvPr>
              <p:cNvSpPr txBox="1"/>
              <p:nvPr/>
            </p:nvSpPr>
            <p:spPr>
              <a:xfrm>
                <a:off x="443407" y="4491419"/>
                <a:ext cx="2671482" cy="496996"/>
              </a:xfrm>
              <a:prstGeom prst="rect">
                <a:avLst/>
              </a:prstGeom>
              <a:noFill/>
            </p:spPr>
            <p:txBody>
              <a:bodyPr wrap="square">
                <a:spAutoFit/>
              </a:bodyPr>
              <a:lstStyle/>
              <a:p>
                <a:r>
                  <a:rPr lang="en-US" sz="1800" dirty="0">
                    <a:effectLst/>
                    <a:latin typeface="Times New Roman" panose="02020603050405020304" pitchFamily="18" charset="0"/>
                    <a:ea typeface="SimSun" panose="02010600030101010101" pitchFamily="2" charset="-122"/>
                  </a:rPr>
                  <a:t> = </a:t>
                </a:r>
                <a14:m>
                  <m:oMath xmlns:m="http://schemas.openxmlformats.org/officeDocument/2006/math">
                    <m:f>
                      <m:fPr>
                        <m:ctrlPr>
                          <a:rPr lang="en-US" i="1">
                            <a:effectLst/>
                            <a:latin typeface="Cambria Math" panose="020405030504060302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2</m:t>
                        </m:r>
                        <m:r>
                          <a:rPr lang="en-US" sz="1800" i="1">
                            <a:effectLst/>
                            <a:latin typeface="Cambria Math" panose="02040503050406030204" pitchFamily="18" charset="0"/>
                            <a:ea typeface="SimSun" panose="02010600030101010101" pitchFamily="2" charset="-122"/>
                            <a:cs typeface="Times New Roman" panose="02020603050405020304" pitchFamily="18" charset="0"/>
                          </a:rPr>
                          <m:t>𝜋</m:t>
                        </m:r>
                        <m:rad>
                          <m:radPr>
                            <m:degHide m:val="on"/>
                            <m:ctrlPr>
                              <a:rPr lang="en-US" i="1">
                                <a:effectLst/>
                                <a:latin typeface="Cambria Math" panose="02040503050406030204" pitchFamily="18" charset="0"/>
                              </a:rPr>
                            </m:ctrlPr>
                          </m:radPr>
                          <m:deg/>
                          <m:e>
                            <m:r>
                              <a:rPr lang="en-GB" b="0" i="1" smtClean="0">
                                <a:effectLst/>
                                <a:latin typeface="Cambria Math" panose="02040503050406030204" pitchFamily="18" charset="0"/>
                              </a:rPr>
                              <m:t>77</m:t>
                            </m:r>
                            <m:r>
                              <a:rPr lang="en-US" sz="1800" i="1">
                                <a:effectLst/>
                                <a:latin typeface="Cambria Math" panose="02040503050406030204" pitchFamily="18" charset="0"/>
                                <a:ea typeface="SimSun" panose="02010600030101010101" pitchFamily="2" charset="-122"/>
                                <a:cs typeface="Times New Roman" panose="02020603050405020304" pitchFamily="18" charset="0"/>
                              </a:rPr>
                              <m:t>0×</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SimSun" panose="02010600030101010101" pitchFamily="2" charset="-122"/>
                                    <a:cs typeface="Times New Roman" panose="02020603050405020304" pitchFamily="18" charset="0"/>
                                  </a:rPr>
                                  <m:t>10</m:t>
                                </m:r>
                              </m:e>
                              <m:sup>
                                <m:r>
                                  <a:rPr lang="en-US" sz="1800" i="1">
                                    <a:effectLst/>
                                    <a:latin typeface="Cambria Math" panose="02040503050406030204" pitchFamily="18" charset="0"/>
                                    <a:ea typeface="SimSun" panose="02010600030101010101" pitchFamily="2" charset="-122"/>
                                    <a:cs typeface="Times New Roman" panose="02020603050405020304" pitchFamily="18" charset="0"/>
                                  </a:rPr>
                                  <m:t>−9</m:t>
                                </m:r>
                              </m:sup>
                            </m:sSup>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3</m:t>
                            </m:r>
                            <m:r>
                              <a:rPr lang="en-US" sz="1800" i="1">
                                <a:effectLst/>
                                <a:latin typeface="Cambria Math" panose="02040503050406030204" pitchFamily="18" charset="0"/>
                                <a:ea typeface="SimSun" panose="02010600030101010101" pitchFamily="2" charset="-122"/>
                                <a:cs typeface="Times New Roman" panose="02020603050405020304" pitchFamily="18" charset="0"/>
                              </a:rPr>
                              <m:t>30×</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SimSun" panose="02010600030101010101" pitchFamily="2" charset="-122"/>
                                    <a:cs typeface="Times New Roman" panose="02020603050405020304" pitchFamily="18" charset="0"/>
                                  </a:rPr>
                                  <m:t>10</m:t>
                                </m:r>
                              </m:e>
                              <m:sup>
                                <m:r>
                                  <a:rPr lang="en-US" sz="1800" i="1">
                                    <a:effectLst/>
                                    <a:latin typeface="Cambria Math" panose="02040503050406030204" pitchFamily="18" charset="0"/>
                                    <a:ea typeface="SimSun" panose="02010600030101010101" pitchFamily="2" charset="-122"/>
                                    <a:cs typeface="Times New Roman" panose="02020603050405020304" pitchFamily="18" charset="0"/>
                                  </a:rPr>
                                  <m:t>−12</m:t>
                                </m:r>
                              </m:sup>
                            </m:sSup>
                          </m:e>
                        </m:rad>
                      </m:den>
                    </m:f>
                  </m:oMath>
                </a14:m>
                <a:r>
                  <a:rPr lang="en-US" sz="1800" dirty="0">
                    <a:effectLst/>
                    <a:latin typeface="Times New Roman" panose="02020603050405020304" pitchFamily="18" charset="0"/>
                    <a:ea typeface="SimSun" panose="02010600030101010101" pitchFamily="2" charset="-122"/>
                  </a:rPr>
                  <a:t> </a:t>
                </a:r>
                <a:r>
                  <a:rPr lang="en-US" dirty="0">
                    <a:effectLst/>
                  </a:rPr>
                  <a:t> </a:t>
                </a:r>
                <a:endParaRPr lang="en-US" dirty="0"/>
              </a:p>
            </p:txBody>
          </p:sp>
        </mc:Choice>
        <mc:Fallback xmlns="">
          <p:sp>
            <p:nvSpPr>
              <p:cNvPr id="7" name="TextBox 6">
                <a:extLst>
                  <a:ext uri="{FF2B5EF4-FFF2-40B4-BE49-F238E27FC236}">
                    <a16:creationId xmlns:a16="http://schemas.microsoft.com/office/drawing/2014/main" id="{95236168-7C8F-874A-6842-226602ED9EB3}"/>
                  </a:ext>
                </a:extLst>
              </p:cNvPr>
              <p:cNvSpPr txBox="1">
                <a:spLocks noRot="1" noChangeAspect="1" noMove="1" noResize="1" noEditPoints="1" noAdjustHandles="1" noChangeArrowheads="1" noChangeShapeType="1" noTextEdit="1"/>
              </p:cNvSpPr>
              <p:nvPr/>
            </p:nvSpPr>
            <p:spPr>
              <a:xfrm>
                <a:off x="443407" y="4491419"/>
                <a:ext cx="2671482" cy="496996"/>
              </a:xfrm>
              <a:prstGeom prst="rect">
                <a:avLst/>
              </a:prstGeom>
              <a:blipFill>
                <a:blip r:embed="rId8"/>
                <a:stretch>
                  <a:fillRect b="-2500"/>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7417F924-8609-297B-3F0D-29229B57E414}"/>
              </a:ext>
            </a:extLst>
          </p:cNvPr>
          <p:cNvPicPr>
            <a:picLocks noChangeAspect="1"/>
          </p:cNvPicPr>
          <p:nvPr/>
        </p:nvPicPr>
        <p:blipFill>
          <a:blip r:embed="rId9"/>
          <a:stretch>
            <a:fillRect/>
          </a:stretch>
        </p:blipFill>
        <p:spPr>
          <a:xfrm>
            <a:off x="2971267" y="4572470"/>
            <a:ext cx="771712" cy="334894"/>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3ACFC63-C088-1761-44ED-96F8FBB9F302}"/>
                  </a:ext>
                </a:extLst>
              </p:cNvPr>
              <p:cNvSpPr txBox="1"/>
              <p:nvPr/>
            </p:nvSpPr>
            <p:spPr>
              <a:xfrm>
                <a:off x="114033" y="4919255"/>
                <a:ext cx="3362513" cy="692113"/>
              </a:xfrm>
              <a:prstGeom prst="rect">
                <a:avLst/>
              </a:prstGeom>
              <a:noFill/>
            </p:spPr>
            <p:txBody>
              <a:bodyPr wrap="square">
                <a:spAutoFit/>
              </a:bodyPr>
              <a:lstStyle/>
              <a:p>
                <a14:m>
                  <m:oMath xmlns:m="http://schemas.openxmlformats.org/officeDocument/2006/math">
                    <m:sSub>
                      <m:sSubPr>
                        <m:ctrlPr>
                          <a:rPr lang="en-US" i="1" smtClean="0">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𝑅</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𝑠𝑛𝑢𝑏</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ad>
                      <m:radPr>
                        <m:degHide m:val="on"/>
                        <m:ctrlPr>
                          <a:rPr lang="en-US" i="1">
                            <a:effectLst/>
                            <a:latin typeface="Cambria Math" panose="02040503050406030204" pitchFamily="18" charset="0"/>
                          </a:rPr>
                        </m:ctrlPr>
                      </m:radPr>
                      <m:deg/>
                      <m:e>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𝑠𝑡𝑟𝑎𝑦</m:t>
                                </m:r>
                              </m:sub>
                            </m:sSub>
                          </m:num>
                          <m:den>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𝐶</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𝑝𝑎𝑟𝑎</m:t>
                                </m:r>
                              </m:sub>
                            </m:sSub>
                          </m:den>
                        </m:f>
                      </m:e>
                    </m:rad>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ad>
                      <m:radPr>
                        <m:degHide m:val="on"/>
                        <m:ctrlPr>
                          <a:rPr lang="en-US" i="1">
                            <a:effectLst/>
                            <a:latin typeface="Cambria Math" panose="02040503050406030204" pitchFamily="18" charset="0"/>
                          </a:rPr>
                        </m:ctrlPr>
                      </m:radPr>
                      <m:deg/>
                      <m:e>
                        <m:f>
                          <m:fPr>
                            <m:ctrlPr>
                              <a:rPr lang="en-US" i="1">
                                <a:effectLst/>
                                <a:latin typeface="Cambria Math" panose="02040503050406030204" pitchFamily="18" charset="0"/>
                              </a:rPr>
                            </m:ctrlPr>
                          </m:fPr>
                          <m:num>
                            <m:r>
                              <a:rPr lang="en-GB" b="0" i="1" smtClean="0">
                                <a:effectLst/>
                                <a:latin typeface="Cambria Math" panose="02040503050406030204" pitchFamily="18" charset="0"/>
                              </a:rPr>
                              <m:t>77</m:t>
                            </m:r>
                            <m:r>
                              <a:rPr lang="en-US" sz="1800" i="1">
                                <a:effectLst/>
                                <a:latin typeface="Cambria Math" panose="02040503050406030204" pitchFamily="18" charset="0"/>
                                <a:ea typeface="SimSun" panose="02010600030101010101" pitchFamily="2" charset="-122"/>
                                <a:cs typeface="Times New Roman" panose="02020603050405020304" pitchFamily="18" charset="0"/>
                              </a:rPr>
                              <m:t>0×</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SimSun" panose="02010600030101010101" pitchFamily="2" charset="-122"/>
                                    <a:cs typeface="Times New Roman" panose="02020603050405020304" pitchFamily="18" charset="0"/>
                                  </a:rPr>
                                  <m:t>10</m:t>
                                </m:r>
                              </m:e>
                              <m:sup>
                                <m:r>
                                  <a:rPr lang="en-US" sz="1800" i="1">
                                    <a:effectLst/>
                                    <a:latin typeface="Cambria Math" panose="02040503050406030204" pitchFamily="18" charset="0"/>
                                    <a:ea typeface="SimSun" panose="02010600030101010101" pitchFamily="2" charset="-122"/>
                                    <a:cs typeface="Times New Roman" panose="02020603050405020304" pitchFamily="18" charset="0"/>
                                  </a:rPr>
                                  <m:t>−9</m:t>
                                </m:r>
                              </m:sup>
                            </m:sSup>
                          </m:num>
                          <m:den>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3</m:t>
                            </m:r>
                            <m:r>
                              <a:rPr lang="en-US" sz="1800" i="1">
                                <a:effectLst/>
                                <a:latin typeface="Cambria Math" panose="02040503050406030204" pitchFamily="18" charset="0"/>
                                <a:ea typeface="SimSun" panose="02010600030101010101" pitchFamily="2" charset="-122"/>
                                <a:cs typeface="Times New Roman" panose="02020603050405020304" pitchFamily="18" charset="0"/>
                              </a:rPr>
                              <m:t>30×</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SimSun" panose="02010600030101010101" pitchFamily="2" charset="-122"/>
                                    <a:cs typeface="Times New Roman" panose="02020603050405020304" pitchFamily="18" charset="0"/>
                                  </a:rPr>
                                  <m:t>10</m:t>
                                </m:r>
                              </m:e>
                              <m:sup>
                                <m:r>
                                  <a:rPr lang="en-US" sz="1800" i="1">
                                    <a:effectLst/>
                                    <a:latin typeface="Cambria Math" panose="02040503050406030204" pitchFamily="18" charset="0"/>
                                    <a:ea typeface="SimSun" panose="02010600030101010101" pitchFamily="2" charset="-122"/>
                                    <a:cs typeface="Times New Roman" panose="02020603050405020304" pitchFamily="18" charset="0"/>
                                  </a:rPr>
                                  <m:t>−12</m:t>
                                </m:r>
                              </m:sup>
                            </m:sSup>
                          </m:den>
                        </m:f>
                      </m:e>
                    </m:rad>
                  </m:oMath>
                </a14:m>
                <a:r>
                  <a:rPr lang="en-US" sz="1800" dirty="0">
                    <a:effectLst/>
                    <a:latin typeface="Times New Roman" panose="02020603050405020304" pitchFamily="18" charset="0"/>
                    <a:ea typeface="SimSun" panose="02010600030101010101" pitchFamily="2" charset="-122"/>
                  </a:rPr>
                  <a:t> </a:t>
                </a:r>
                <a:r>
                  <a:rPr lang="en-US" dirty="0">
                    <a:effectLst/>
                  </a:rPr>
                  <a:t> </a:t>
                </a:r>
                <a:endParaRPr lang="en-US" dirty="0"/>
              </a:p>
            </p:txBody>
          </p:sp>
        </mc:Choice>
        <mc:Fallback xmlns="">
          <p:sp>
            <p:nvSpPr>
              <p:cNvPr id="10" name="TextBox 9">
                <a:extLst>
                  <a:ext uri="{FF2B5EF4-FFF2-40B4-BE49-F238E27FC236}">
                    <a16:creationId xmlns:a16="http://schemas.microsoft.com/office/drawing/2014/main" id="{13ACFC63-C088-1761-44ED-96F8FBB9F302}"/>
                  </a:ext>
                </a:extLst>
              </p:cNvPr>
              <p:cNvSpPr txBox="1">
                <a:spLocks noRot="1" noChangeAspect="1" noMove="1" noResize="1" noEditPoints="1" noAdjustHandles="1" noChangeArrowheads="1" noChangeShapeType="1" noTextEdit="1"/>
              </p:cNvSpPr>
              <p:nvPr/>
            </p:nvSpPr>
            <p:spPr>
              <a:xfrm>
                <a:off x="114033" y="4919255"/>
                <a:ext cx="3362513" cy="692113"/>
              </a:xfrm>
              <a:prstGeom prst="rect">
                <a:avLst/>
              </a:prstGeom>
              <a:blipFill>
                <a:blip r:embed="rId10"/>
                <a:stretch>
                  <a:fillRect/>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9D092385-0F33-243B-06B1-DAEC3FA12D69}"/>
              </a:ext>
            </a:extLst>
          </p:cNvPr>
          <p:cNvPicPr>
            <a:picLocks noChangeAspect="1"/>
          </p:cNvPicPr>
          <p:nvPr/>
        </p:nvPicPr>
        <p:blipFill>
          <a:blip r:embed="rId11"/>
          <a:stretch>
            <a:fillRect/>
          </a:stretch>
        </p:blipFill>
        <p:spPr>
          <a:xfrm>
            <a:off x="3330012" y="5147823"/>
            <a:ext cx="775077" cy="270546"/>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2DC3936-27E7-EA31-8574-91D190D2A077}"/>
                  </a:ext>
                </a:extLst>
              </p:cNvPr>
              <p:cNvSpPr txBox="1"/>
              <p:nvPr/>
            </p:nvSpPr>
            <p:spPr>
              <a:xfrm>
                <a:off x="0" y="5648456"/>
                <a:ext cx="5227918" cy="3907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𝑠𝑛𝑢𝑏</m:t>
                          </m:r>
                          <m:r>
                            <a:rPr lang="en-US" i="0">
                              <a:latin typeface="Cambria Math" panose="02040503050406030204" pitchFamily="18" charset="0"/>
                            </a:rPr>
                            <m:t> </m:t>
                          </m:r>
                        </m:sub>
                      </m:sSub>
                      <m:r>
                        <a:rPr lang="en-US" i="0">
                          <a:latin typeface="Cambria Math" panose="02040503050406030204" pitchFamily="18" charset="0"/>
                        </a:rPr>
                        <m:t>=3×</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𝑝𝑎𝑟𝑎</m:t>
                          </m:r>
                        </m:sub>
                      </m:sSub>
                      <m:r>
                        <a:rPr lang="en-GB" b="0" i="1" smtClean="0">
                          <a:latin typeface="Cambria Math" panose="02040503050406030204" pitchFamily="18" charset="0"/>
                        </a:rPr>
                        <m:t>=990 </m:t>
                      </m:r>
                      <m:r>
                        <a:rPr lang="en-GB" b="0" i="1" smtClean="0">
                          <a:latin typeface="Cambria Math" panose="02040503050406030204" pitchFamily="18" charset="0"/>
                        </a:rPr>
                        <m:t>𝑝𝐹</m:t>
                      </m:r>
                      <m:r>
                        <a:rPr lang="en-GB" b="0" i="1" smtClean="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𝐶</m:t>
                          </m:r>
                        </m:e>
                        <m:sub>
                          <m:r>
                            <a:rPr lang="en-GB" b="0" i="1" smtClean="0">
                              <a:latin typeface="Cambria Math" panose="02040503050406030204" pitchFamily="18" charset="0"/>
                            </a:rPr>
                            <m:t>𝑇𝑜𝑡𝑎𝑙</m:t>
                          </m:r>
                          <m:r>
                            <a:rPr lang="en-GB" b="0" i="1" smtClean="0">
                              <a:latin typeface="Cambria Math" panose="02040503050406030204" pitchFamily="18" charset="0"/>
                            </a:rPr>
                            <m:t> </m:t>
                          </m:r>
                          <m:r>
                            <a:rPr lang="en-US">
                              <a:latin typeface="Cambria Math" panose="02040503050406030204" pitchFamily="18" charset="0"/>
                            </a:rPr>
                            <m:t> </m:t>
                          </m:r>
                        </m:sub>
                      </m:sSub>
                      <m:r>
                        <a:rPr lang="en-GB" b="0" i="1" smtClean="0">
                          <a:latin typeface="Cambria Math" panose="02040503050406030204" pitchFamily="18" charset="0"/>
                        </a:rPr>
                        <m:t>=1320</m:t>
                      </m:r>
                      <m:r>
                        <a:rPr lang="en-GB" b="0" i="1" smtClean="0">
                          <a:latin typeface="Cambria Math" panose="02040503050406030204" pitchFamily="18" charset="0"/>
                        </a:rPr>
                        <m:t>𝑝𝐹</m:t>
                      </m:r>
                    </m:oMath>
                  </m:oMathPara>
                </a14:m>
                <a:endParaRPr lang="en-US" dirty="0"/>
              </a:p>
            </p:txBody>
          </p:sp>
        </mc:Choice>
        <mc:Fallback xmlns="">
          <p:sp>
            <p:nvSpPr>
              <p:cNvPr id="13" name="TextBox 12">
                <a:extLst>
                  <a:ext uri="{FF2B5EF4-FFF2-40B4-BE49-F238E27FC236}">
                    <a16:creationId xmlns:a16="http://schemas.microsoft.com/office/drawing/2014/main" id="{D2DC3936-27E7-EA31-8574-91D190D2A077}"/>
                  </a:ext>
                </a:extLst>
              </p:cNvPr>
              <p:cNvSpPr txBox="1">
                <a:spLocks noRot="1" noChangeAspect="1" noMove="1" noResize="1" noEditPoints="1" noAdjustHandles="1" noChangeArrowheads="1" noChangeShapeType="1" noTextEdit="1"/>
              </p:cNvSpPr>
              <p:nvPr/>
            </p:nvSpPr>
            <p:spPr>
              <a:xfrm>
                <a:off x="0" y="5648456"/>
                <a:ext cx="5227918" cy="390748"/>
              </a:xfrm>
              <a:prstGeom prst="rect">
                <a:avLst/>
              </a:prstGeom>
              <a:blipFill>
                <a:blip r:embed="rId12"/>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6615AA-6FB7-4B30-A084-2754AE74E78A}"/>
                  </a:ext>
                </a:extLst>
              </p:cNvPr>
              <p:cNvSpPr txBox="1"/>
              <p:nvPr/>
            </p:nvSpPr>
            <p:spPr>
              <a:xfrm>
                <a:off x="107950" y="6137806"/>
                <a:ext cx="2133600" cy="544060"/>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𝑛𝑒𝑤</m:t>
                        </m:r>
                        <m:r>
                          <a:rPr lang="en-US" i="1">
                            <a:latin typeface="Cambria Math" panose="02040503050406030204" pitchFamily="18" charset="0"/>
                          </a:rPr>
                          <m:t> </m:t>
                        </m:r>
                      </m:sub>
                    </m:sSub>
                  </m:oMath>
                </a14:m>
                <a:r>
                  <a:rPr lang="en-US" dirty="0">
                    <a:solidFill>
                      <a:srgbClr val="836967"/>
                    </a:solidFill>
                  </a:rPr>
                  <a:t>= </a:t>
                </a:r>
                <a14:m>
                  <m:oMath xmlns:m="http://schemas.openxmlformats.org/officeDocument/2006/math">
                    <m:f>
                      <m:fPr>
                        <m:ctrlPr>
                          <a:rPr lang="en-US" i="1" smtClean="0">
                            <a:solidFill>
                              <a:srgbClr val="836967"/>
                            </a:solidFill>
                            <a:latin typeface="Cambria Math" panose="02040503050406030204" pitchFamily="18" charset="0"/>
                          </a:rPr>
                        </m:ctrlPr>
                      </m:fPr>
                      <m:num>
                        <m:r>
                          <a:rPr lang="en-US">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ad>
                          <m:radPr>
                            <m:degHide m:val="on"/>
                            <m:ctrlPr>
                              <a:rPr lang="en-US" i="1">
                                <a:solidFill>
                                  <a:srgbClr val="836967"/>
                                </a:solidFill>
                                <a:latin typeface="Cambria Math" panose="02040503050406030204" pitchFamily="18" charset="0"/>
                              </a:rPr>
                            </m:ctrlPr>
                          </m:radPr>
                          <m:deg/>
                          <m:e>
                            <m:r>
                              <a:rPr lang="en-GB" b="0" i="1" smtClean="0">
                                <a:latin typeface="Cambria Math" panose="02040503050406030204" pitchFamily="18" charset="0"/>
                              </a:rPr>
                              <m:t>𝐿</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𝐶</m:t>
                                </m:r>
                              </m:e>
                              <m:sub>
                                <m:r>
                                  <a:rPr lang="en-GB" i="1">
                                    <a:latin typeface="Cambria Math" panose="02040503050406030204" pitchFamily="18" charset="0"/>
                                  </a:rPr>
                                  <m:t>𝑇𝑜𝑡𝑎𝑙</m:t>
                                </m:r>
                                <m:r>
                                  <a:rPr lang="en-GB" i="1">
                                    <a:latin typeface="Cambria Math" panose="02040503050406030204" pitchFamily="18" charset="0"/>
                                  </a:rPr>
                                  <m:t> </m:t>
                                </m:r>
                                <m:r>
                                  <a:rPr lang="en-US">
                                    <a:latin typeface="Cambria Math" panose="02040503050406030204" pitchFamily="18" charset="0"/>
                                  </a:rPr>
                                  <m:t> </m:t>
                                </m:r>
                              </m:sub>
                            </m:sSub>
                          </m:e>
                        </m:rad>
                      </m:den>
                    </m:f>
                  </m:oMath>
                </a14:m>
                <a:endParaRPr lang="en-US" dirty="0"/>
              </a:p>
            </p:txBody>
          </p:sp>
        </mc:Choice>
        <mc:Fallback xmlns="">
          <p:sp>
            <p:nvSpPr>
              <p:cNvPr id="14" name="TextBox 13">
                <a:extLst>
                  <a:ext uri="{FF2B5EF4-FFF2-40B4-BE49-F238E27FC236}">
                    <a16:creationId xmlns:a16="http://schemas.microsoft.com/office/drawing/2014/main" id="{066615AA-6FB7-4B30-A084-2754AE74E78A}"/>
                  </a:ext>
                </a:extLst>
              </p:cNvPr>
              <p:cNvSpPr txBox="1">
                <a:spLocks noRot="1" noChangeAspect="1" noMove="1" noResize="1" noEditPoints="1" noAdjustHandles="1" noChangeArrowheads="1" noChangeShapeType="1" noTextEdit="1"/>
              </p:cNvSpPr>
              <p:nvPr/>
            </p:nvSpPr>
            <p:spPr>
              <a:xfrm>
                <a:off x="107950" y="6137806"/>
                <a:ext cx="2133600" cy="544060"/>
              </a:xfrm>
              <a:prstGeom prst="rect">
                <a:avLst/>
              </a:prstGeom>
              <a:blipFill>
                <a:blip r:embed="rId13"/>
                <a:stretch>
                  <a:fillRect l="-592" b="-2273"/>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BA520F32-9C9F-498F-D2D7-D015EDB81504}"/>
              </a:ext>
            </a:extLst>
          </p:cNvPr>
          <p:cNvPicPr>
            <a:picLocks noChangeAspect="1"/>
          </p:cNvPicPr>
          <p:nvPr/>
        </p:nvPicPr>
        <p:blipFill>
          <a:blip r:embed="rId14"/>
          <a:stretch>
            <a:fillRect/>
          </a:stretch>
        </p:blipFill>
        <p:spPr>
          <a:xfrm>
            <a:off x="1986057" y="6245225"/>
            <a:ext cx="793002" cy="278858"/>
          </a:xfrm>
          <a:prstGeom prst="rect">
            <a:avLst/>
          </a:prstGeom>
        </p:spPr>
      </p:pic>
      <p:sp>
        <p:nvSpPr>
          <p:cNvPr id="16" name="Line 60">
            <a:extLst>
              <a:ext uri="{FF2B5EF4-FFF2-40B4-BE49-F238E27FC236}">
                <a16:creationId xmlns:a16="http://schemas.microsoft.com/office/drawing/2014/main" id="{83265312-FED0-5FE8-B26F-2F05DE0B886F}"/>
              </a:ext>
            </a:extLst>
          </p:cNvPr>
          <p:cNvSpPr>
            <a:spLocks noChangeShapeType="1"/>
          </p:cNvSpPr>
          <p:nvPr/>
        </p:nvSpPr>
        <p:spPr bwMode="auto">
          <a:xfrm flipV="1">
            <a:off x="2824575" y="3262030"/>
            <a:ext cx="3109781" cy="3224817"/>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13414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6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6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6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68"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a:extLst>
              <a:ext uri="{FF2B5EF4-FFF2-40B4-BE49-F238E27FC236}">
                <a16:creationId xmlns:a16="http://schemas.microsoft.com/office/drawing/2014/main" id="{66EE8F08-C4C5-9B47-82EF-23C2314D4FE8}"/>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13E601E-C0F0-AD48-9741-A3B87CCDB3AB}" type="slidenum">
              <a:rPr lang="en-US" altLang="en-US" sz="1400"/>
              <a:pPr>
                <a:spcBef>
                  <a:spcPct val="0"/>
                </a:spcBef>
                <a:buFontTx/>
                <a:buNone/>
              </a:pPr>
              <a:t>15</a:t>
            </a:fld>
            <a:endParaRPr lang="en-US" altLang="en-US" sz="1400"/>
          </a:p>
        </p:txBody>
      </p:sp>
      <mc:AlternateContent xmlns:mc="http://schemas.openxmlformats.org/markup-compatibility/2006">
        <mc:Choice xmlns:a14="http://schemas.microsoft.com/office/drawing/2010/main" Requires="a14">
          <p:sp>
            <p:nvSpPr>
              <p:cNvPr id="24582" name="Text Box 4">
                <a:extLst>
                  <a:ext uri="{FF2B5EF4-FFF2-40B4-BE49-F238E27FC236}">
                    <a16:creationId xmlns:a16="http://schemas.microsoft.com/office/drawing/2014/main" id="{6F57CE33-E3A9-674B-8073-1B226F6E74EA}"/>
                  </a:ext>
                </a:extLst>
              </p:cNvPr>
              <p:cNvSpPr txBox="1">
                <a:spLocks noChangeArrowheads="1"/>
              </p:cNvSpPr>
              <p:nvPr/>
            </p:nvSpPr>
            <p:spPr bwMode="auto">
              <a:xfrm>
                <a:off x="111731" y="260593"/>
                <a:ext cx="8785225" cy="257788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t>Example (</a:t>
                </a:r>
                <a:r>
                  <a:rPr lang="en-GB" altLang="en-US" sz="1800" b="1" u="sng" dirty="0" err="1"/>
                  <a:t>contd</a:t>
                </a:r>
                <a:r>
                  <a:rPr lang="en-GB" altLang="en-US" sz="1800" b="1" u="sng" dirty="0"/>
                  <a:t>)</a:t>
                </a:r>
              </a:p>
              <a:p>
                <a:pPr eaLnBrk="1" hangingPunct="1">
                  <a:spcBef>
                    <a:spcPct val="50000"/>
                  </a:spcBef>
                  <a:buNone/>
                </a:pPr>
                <a:r>
                  <a:rPr lang="en-GB" altLang="en-US" sz="1800" dirty="0"/>
                  <a:t>If the switching frequency is 100KHz and the maximum voltage across the snubber capacitor is 100V, estimate the power that is dissipated in the snubber resistor.</a:t>
                </a:r>
              </a:p>
              <a:p>
                <a:pPr eaLnBrk="1" hangingPunct="1">
                  <a:spcBef>
                    <a:spcPct val="50000"/>
                  </a:spcBef>
                  <a:buNone/>
                </a:pPr>
                <a:r>
                  <a:rPr lang="en-GB" altLang="en-US" sz="1800" dirty="0"/>
                  <a:t>Energy in a capacitor is </a:t>
                </a:r>
              </a:p>
              <a:p>
                <a:pPr eaLnBrk="1" hangingPunct="1">
                  <a:spcBef>
                    <a:spcPct val="50000"/>
                  </a:spcBef>
                  <a:buNone/>
                </a:pPr>
                <a:r>
                  <a:rPr lang="en-GB" altLang="en-US" sz="1800" dirty="0"/>
                  <a:t>When the switch is open, the capacitor </a:t>
                </a:r>
                <a:r>
                  <a:rPr lang="en-GB" altLang="en-US" sz="1800" dirty="0">
                    <a:solidFill>
                      <a:srgbClr val="FF0000"/>
                    </a:solidFill>
                  </a:rPr>
                  <a:t>charges</a:t>
                </a:r>
                <a:r>
                  <a:rPr lang="en-GB" altLang="en-US" sz="1800" dirty="0"/>
                  <a:t> to 100V via the resistor. When the switch closes, the capacitor is </a:t>
                </a:r>
                <a:r>
                  <a:rPr lang="en-GB" altLang="en-US" sz="1800" dirty="0">
                    <a:solidFill>
                      <a:srgbClr val="00B0F0"/>
                    </a:solidFill>
                  </a:rPr>
                  <a:t>discharged</a:t>
                </a:r>
                <a:r>
                  <a:rPr lang="en-GB" altLang="en-US" sz="1800" dirty="0"/>
                  <a:t> via the resistor. Hence the energy dissipated per cycle is 2× </a:t>
                </a:r>
                <a14:m>
                  <m:oMath xmlns:m="http://schemas.openxmlformats.org/officeDocument/2006/math">
                    <m:f>
                      <m:fPr>
                        <m:ctrlPr>
                          <a:rPr lang="en-US" sz="1800" i="1">
                            <a:solidFill>
                              <a:srgbClr val="836967"/>
                            </a:solidFill>
                            <a:latin typeface="Cambria Math" panose="02040503050406030204" pitchFamily="18" charset="0"/>
                          </a:rPr>
                        </m:ctrlPr>
                      </m:fPr>
                      <m:num>
                        <m:r>
                          <a:rPr lang="en-US" sz="1800">
                            <a:latin typeface="Cambria Math" panose="02040503050406030204" pitchFamily="18" charset="0"/>
                          </a:rPr>
                          <m:t>1</m:t>
                        </m:r>
                      </m:num>
                      <m:den>
                        <m:r>
                          <a:rPr lang="en-US" sz="1800">
                            <a:latin typeface="Cambria Math" panose="02040503050406030204" pitchFamily="18" charset="0"/>
                          </a:rPr>
                          <m:t>2</m:t>
                        </m:r>
                      </m:den>
                    </m:f>
                    <m:r>
                      <a:rPr lang="en-GB" sz="1800" i="1">
                        <a:latin typeface="Cambria Math" panose="02040503050406030204" pitchFamily="18" charset="0"/>
                      </a:rPr>
                      <m:t> </m:t>
                    </m:r>
                  </m:oMath>
                </a14:m>
                <a:r>
                  <a:rPr lang="en-GB" altLang="en-US" sz="1800" i="1" dirty="0">
                    <a:latin typeface="Times New Roman" panose="02020603050405020304" pitchFamily="18" charset="0"/>
                  </a:rPr>
                  <a:t>CV </a:t>
                </a:r>
                <a:r>
                  <a:rPr lang="en-GB" altLang="en-US" sz="1800" i="1" baseline="30000" dirty="0">
                    <a:latin typeface="Times New Roman" panose="02020603050405020304" pitchFamily="18" charset="0"/>
                  </a:rPr>
                  <a:t>2</a:t>
                </a:r>
                <a:r>
                  <a:rPr lang="en-GB" altLang="en-US" sz="1800" dirty="0"/>
                  <a:t> and the energy dissipated per second is </a:t>
                </a:r>
                <a:r>
                  <a:rPr lang="en-GB" altLang="en-US" sz="1800" i="1" dirty="0">
                    <a:latin typeface="Times New Roman" panose="02020603050405020304" pitchFamily="18" charset="0"/>
                  </a:rPr>
                  <a:t>f CV</a:t>
                </a:r>
                <a:r>
                  <a:rPr lang="en-GB" altLang="en-US" sz="1800" i="1" baseline="30000" dirty="0">
                    <a:latin typeface="Times New Roman" panose="02020603050405020304" pitchFamily="18" charset="0"/>
                  </a:rPr>
                  <a:t> 2</a:t>
                </a:r>
                <a:r>
                  <a:rPr lang="en-GB" altLang="en-US" sz="1800" dirty="0"/>
                  <a:t> (W).</a:t>
                </a:r>
                <a:endParaRPr lang="en-US" altLang="en-US" sz="1800" dirty="0"/>
              </a:p>
            </p:txBody>
          </p:sp>
        </mc:Choice>
        <mc:Fallback>
          <p:sp>
            <p:nvSpPr>
              <p:cNvPr id="24582" name="Text Box 4">
                <a:extLst>
                  <a:ext uri="{FF2B5EF4-FFF2-40B4-BE49-F238E27FC236}">
                    <a16:creationId xmlns:a16="http://schemas.microsoft.com/office/drawing/2014/main" id="{6F57CE33-E3A9-674B-8073-1B226F6E74EA}"/>
                  </a:ext>
                </a:extLst>
              </p:cNvPr>
              <p:cNvSpPr txBox="1">
                <a:spLocks noRot="1" noChangeAspect="1" noMove="1" noResize="1" noEditPoints="1" noAdjustHandles="1" noChangeArrowheads="1" noChangeShapeType="1" noTextEdit="1"/>
              </p:cNvSpPr>
              <p:nvPr/>
            </p:nvSpPr>
            <p:spPr bwMode="auto">
              <a:xfrm>
                <a:off x="111731" y="260593"/>
                <a:ext cx="8785225" cy="2577885"/>
              </a:xfrm>
              <a:prstGeom prst="rect">
                <a:avLst/>
              </a:prstGeom>
              <a:blipFill>
                <a:blip r:embed="rId2"/>
                <a:stretch>
                  <a:fillRect l="-555" t="-141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graphicFrame>
        <p:nvGraphicFramePr>
          <p:cNvPr id="24621" name="Object 64">
            <a:extLst>
              <a:ext uri="{FF2B5EF4-FFF2-40B4-BE49-F238E27FC236}">
                <a16:creationId xmlns:a16="http://schemas.microsoft.com/office/drawing/2014/main" id="{EB4E7B87-84D3-4444-938B-93D2A03F8D65}"/>
              </a:ext>
            </a:extLst>
          </p:cNvPr>
          <p:cNvGraphicFramePr>
            <a:graphicFrameLocks noChangeAspect="1"/>
          </p:cNvGraphicFramePr>
          <p:nvPr/>
        </p:nvGraphicFramePr>
        <p:xfrm>
          <a:off x="2771775" y="1268413"/>
          <a:ext cx="1065213" cy="588962"/>
        </p:xfrm>
        <a:graphic>
          <a:graphicData uri="http://schemas.openxmlformats.org/presentationml/2006/ole">
            <mc:AlternateContent xmlns:mc="http://schemas.openxmlformats.org/markup-compatibility/2006">
              <mc:Choice xmlns:v="urn:schemas-microsoft-com:vml" Requires="v">
                <p:oleObj name="Equation" r:id="rId3" imgW="16383000" imgH="9067800" progId="Equation.3">
                  <p:embed/>
                </p:oleObj>
              </mc:Choice>
              <mc:Fallback>
                <p:oleObj name="Equation" r:id="rId3" imgW="16383000" imgH="9067800" progId="Equation.3">
                  <p:embed/>
                  <p:pic>
                    <p:nvPicPr>
                      <p:cNvPr id="24621" name="Object 64">
                        <a:extLst>
                          <a:ext uri="{FF2B5EF4-FFF2-40B4-BE49-F238E27FC236}">
                            <a16:creationId xmlns:a16="http://schemas.microsoft.com/office/drawing/2014/main" id="{EB4E7B87-84D3-4444-938B-93D2A03F8D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1268413"/>
                        <a:ext cx="1065213" cy="588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3">
            <a:extLst>
              <a:ext uri="{FF2B5EF4-FFF2-40B4-BE49-F238E27FC236}">
                <a16:creationId xmlns:a16="http://schemas.microsoft.com/office/drawing/2014/main" id="{161E5A2E-7730-5405-19E6-7165CAB112A9}"/>
              </a:ext>
            </a:extLst>
          </p:cNvPr>
          <p:cNvGrpSpPr/>
          <p:nvPr/>
        </p:nvGrpSpPr>
        <p:grpSpPr>
          <a:xfrm>
            <a:off x="5208284" y="3732212"/>
            <a:ext cx="3548062" cy="2347277"/>
            <a:chOff x="5208284" y="3732212"/>
            <a:chExt cx="3548062" cy="2347277"/>
          </a:xfrm>
        </p:grpSpPr>
        <p:sp>
          <p:nvSpPr>
            <p:cNvPr id="24619" name="Text Box 62">
              <a:extLst>
                <a:ext uri="{FF2B5EF4-FFF2-40B4-BE49-F238E27FC236}">
                  <a16:creationId xmlns:a16="http://schemas.microsoft.com/office/drawing/2014/main" id="{825B67A1-9F53-F349-89DD-996DDCC48D36}"/>
                </a:ext>
              </a:extLst>
            </p:cNvPr>
            <p:cNvSpPr txBox="1">
              <a:spLocks noChangeArrowheads="1"/>
            </p:cNvSpPr>
            <p:nvPr/>
          </p:nvSpPr>
          <p:spPr bwMode="auto">
            <a:xfrm>
              <a:off x="5364163" y="3732212"/>
              <a:ext cx="29210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Caveat: This works for</a:t>
              </a:r>
            </a:p>
            <a:p>
              <a:pPr eaLnBrk="1" hangingPunct="1">
                <a:spcBef>
                  <a:spcPct val="0"/>
                </a:spcBef>
                <a:buFontTx/>
                <a:buNone/>
              </a:pPr>
              <a:r>
                <a:rPr lang="en-GB" altLang="en-US" sz="1800" i="1" dirty="0">
                  <a:latin typeface="Times New Roman" panose="02020603050405020304" pitchFamily="18" charset="0"/>
                </a:rPr>
                <a:t>  </a:t>
              </a:r>
              <a:r>
                <a:rPr lang="en-GB" altLang="en-US" sz="1800" i="1" baseline="-25000" dirty="0" err="1">
                  <a:latin typeface="Times New Roman" panose="02020603050405020304" pitchFamily="18" charset="0"/>
                </a:rPr>
                <a:t>Osc</a:t>
              </a:r>
              <a:r>
                <a:rPr lang="en-GB" altLang="en-US" sz="1800" i="1" dirty="0">
                  <a:latin typeface="Times New Roman" panose="02020603050405020304" pitchFamily="18" charset="0"/>
                </a:rPr>
                <a:t> &lt;&lt; </a:t>
              </a:r>
              <a:r>
                <a:rPr lang="en-GB" altLang="en-US" sz="1800" i="1" dirty="0" err="1">
                  <a:latin typeface="Times New Roman" panose="02020603050405020304" pitchFamily="18" charset="0"/>
                </a:rPr>
                <a:t>T</a:t>
              </a:r>
              <a:r>
                <a:rPr lang="en-GB" altLang="en-US" sz="1800" i="1" baseline="-25000" dirty="0" err="1">
                  <a:latin typeface="Times New Roman" panose="02020603050405020304" pitchFamily="18" charset="0"/>
                </a:rPr>
                <a:t>Switch</a:t>
              </a:r>
              <a:r>
                <a:rPr lang="en-GB" altLang="en-US" sz="1800" dirty="0"/>
                <a:t> </a:t>
              </a:r>
            </a:p>
            <a:p>
              <a:pPr eaLnBrk="1" hangingPunct="1">
                <a:spcBef>
                  <a:spcPct val="0"/>
                </a:spcBef>
                <a:buFontTx/>
                <a:buNone/>
              </a:pPr>
              <a:r>
                <a:rPr lang="en-GB" altLang="en-US" sz="1800" dirty="0"/>
                <a:t>  =RC =&gt;   </a:t>
              </a:r>
              <a:r>
                <a:rPr lang="en-GB" altLang="en-US" sz="1800" i="1" baseline="-25000" dirty="0" err="1">
                  <a:latin typeface="Times New Roman" panose="02020603050405020304" pitchFamily="18" charset="0"/>
                </a:rPr>
                <a:t>Osc</a:t>
              </a:r>
              <a:r>
                <a:rPr lang="en-GB" altLang="en-US" sz="1800" dirty="0"/>
                <a:t> = 47.5nS</a:t>
              </a:r>
            </a:p>
            <a:p>
              <a:pPr eaLnBrk="1" hangingPunct="1">
                <a:spcBef>
                  <a:spcPct val="0"/>
                </a:spcBef>
                <a:buFontTx/>
                <a:buNone/>
              </a:pPr>
              <a:r>
                <a:rPr lang="en-GB" altLang="en-US" sz="1800" i="1" dirty="0" err="1">
                  <a:latin typeface="Times New Roman" panose="02020603050405020304" pitchFamily="18" charset="0"/>
                </a:rPr>
                <a:t>T</a:t>
              </a:r>
              <a:r>
                <a:rPr lang="en-GB" altLang="en-US" sz="1800" i="1" baseline="-25000" dirty="0" err="1">
                  <a:latin typeface="Times New Roman" panose="02020603050405020304" pitchFamily="18" charset="0"/>
                </a:rPr>
                <a:t>Switch</a:t>
              </a:r>
              <a:r>
                <a:rPr lang="en-GB" altLang="en-US" sz="1800" dirty="0"/>
                <a:t> = </a:t>
              </a:r>
              <a:r>
                <a:rPr lang="en-GB" altLang="en-US" sz="1800" i="1" dirty="0">
                  <a:latin typeface="Times New Roman" panose="02020603050405020304" pitchFamily="18" charset="0"/>
                </a:rPr>
                <a:t>1/F</a:t>
              </a:r>
              <a:r>
                <a:rPr lang="en-GB" altLang="en-US" sz="1800" dirty="0"/>
                <a:t> = 10</a:t>
              </a:r>
              <a:r>
                <a:rPr lang="el-GR" altLang="en-US" sz="1800" dirty="0">
                  <a:cs typeface="Arial" panose="020B0604020202020204" pitchFamily="34" charset="0"/>
                </a:rPr>
                <a:t>μ</a:t>
              </a:r>
              <a:r>
                <a:rPr lang="en-GB" altLang="en-US" sz="1800" dirty="0">
                  <a:cs typeface="Arial" panose="020B0604020202020204" pitchFamily="34" charset="0"/>
                </a:rPr>
                <a:t>S, so OK.</a:t>
              </a:r>
              <a:endParaRPr lang="el-GR" altLang="en-US" sz="1800" dirty="0">
                <a:cs typeface="Arial" panose="020B0604020202020204" pitchFamily="34" charset="0"/>
              </a:endParaRPr>
            </a:p>
          </p:txBody>
        </p:sp>
        <p:sp>
          <p:nvSpPr>
            <p:cNvPr id="24620" name="Text Box 63">
              <a:extLst>
                <a:ext uri="{FF2B5EF4-FFF2-40B4-BE49-F238E27FC236}">
                  <a16:creationId xmlns:a16="http://schemas.microsoft.com/office/drawing/2014/main" id="{CAB9BF62-C6F2-DC41-8DBB-97C28234037D}"/>
                </a:ext>
              </a:extLst>
            </p:cNvPr>
            <p:cNvSpPr txBox="1">
              <a:spLocks noChangeArrowheads="1"/>
            </p:cNvSpPr>
            <p:nvPr/>
          </p:nvSpPr>
          <p:spPr bwMode="auto">
            <a:xfrm>
              <a:off x="5208284" y="5156159"/>
              <a:ext cx="354806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Note that the current from the snubber flows through the switch when the switch is closed.</a:t>
              </a:r>
              <a:endParaRPr lang="en-US" altLang="en-US" sz="1800" dirty="0"/>
            </a:p>
          </p:txBody>
        </p:sp>
        <p:graphicFrame>
          <p:nvGraphicFramePr>
            <p:cNvPr id="24622" name="Object 65">
              <a:extLst>
                <a:ext uri="{FF2B5EF4-FFF2-40B4-BE49-F238E27FC236}">
                  <a16:creationId xmlns:a16="http://schemas.microsoft.com/office/drawing/2014/main" id="{D3AA0F1B-F874-9644-BC79-4724FF5FE357}"/>
                </a:ext>
              </a:extLst>
            </p:cNvPr>
            <p:cNvGraphicFramePr>
              <a:graphicFrameLocks noChangeAspect="1"/>
            </p:cNvGraphicFramePr>
            <p:nvPr>
              <p:extLst>
                <p:ext uri="{D42A27DB-BD31-4B8C-83A1-F6EECF244321}">
                  <p14:modId xmlns:p14="http://schemas.microsoft.com/office/powerpoint/2010/main" val="2905472976"/>
                </p:ext>
              </p:extLst>
            </p:nvPr>
          </p:nvGraphicFramePr>
          <p:xfrm>
            <a:off x="5364163" y="4327525"/>
            <a:ext cx="255587" cy="280988"/>
          </p:xfrm>
          <a:graphic>
            <a:graphicData uri="http://schemas.openxmlformats.org/presentationml/2006/ole">
              <mc:AlternateContent xmlns:mc="http://schemas.openxmlformats.org/markup-compatibility/2006">
                <mc:Choice xmlns:v="urn:schemas-microsoft-com:vml" Requires="v">
                  <p:oleObj name="Equation" r:id="rId5" imgW="2921000" imgH="3213100" progId="Equation.3">
                    <p:embed/>
                  </p:oleObj>
                </mc:Choice>
                <mc:Fallback>
                  <p:oleObj name="Equation" r:id="rId5" imgW="2921000" imgH="3213100" progId="Equation.3">
                    <p:embed/>
                    <p:pic>
                      <p:nvPicPr>
                        <p:cNvPr id="24622" name="Object 65">
                          <a:extLst>
                            <a:ext uri="{FF2B5EF4-FFF2-40B4-BE49-F238E27FC236}">
                              <a16:creationId xmlns:a16="http://schemas.microsoft.com/office/drawing/2014/main" id="{D3AA0F1B-F874-9644-BC79-4724FF5FE3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163" y="4327525"/>
                          <a:ext cx="255587"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23" name="Object 66">
              <a:extLst>
                <a:ext uri="{FF2B5EF4-FFF2-40B4-BE49-F238E27FC236}">
                  <a16:creationId xmlns:a16="http://schemas.microsoft.com/office/drawing/2014/main" id="{3C156FDE-D5F7-C047-8668-615009F278CC}"/>
                </a:ext>
              </a:extLst>
            </p:cNvPr>
            <p:cNvGraphicFramePr>
              <a:graphicFrameLocks noChangeAspect="1"/>
            </p:cNvGraphicFramePr>
            <p:nvPr>
              <p:extLst>
                <p:ext uri="{D42A27DB-BD31-4B8C-83A1-F6EECF244321}">
                  <p14:modId xmlns:p14="http://schemas.microsoft.com/office/powerpoint/2010/main" val="4272985303"/>
                </p:ext>
              </p:extLst>
            </p:nvPr>
          </p:nvGraphicFramePr>
          <p:xfrm>
            <a:off x="6335713" y="4343400"/>
            <a:ext cx="255587" cy="280988"/>
          </p:xfrm>
          <a:graphic>
            <a:graphicData uri="http://schemas.openxmlformats.org/presentationml/2006/ole">
              <mc:AlternateContent xmlns:mc="http://schemas.openxmlformats.org/markup-compatibility/2006">
                <mc:Choice xmlns:v="urn:schemas-microsoft-com:vml" Requires="v">
                  <p:oleObj name="Equation" r:id="rId7" imgW="2921000" imgH="3213100" progId="Equation.3">
                    <p:embed/>
                  </p:oleObj>
                </mc:Choice>
                <mc:Fallback>
                  <p:oleObj name="Equation" r:id="rId7" imgW="2921000" imgH="3213100" progId="Equation.3">
                    <p:embed/>
                    <p:pic>
                      <p:nvPicPr>
                        <p:cNvPr id="24623" name="Object 66">
                          <a:extLst>
                            <a:ext uri="{FF2B5EF4-FFF2-40B4-BE49-F238E27FC236}">
                              <a16:creationId xmlns:a16="http://schemas.microsoft.com/office/drawing/2014/main" id="{3C156FDE-D5F7-C047-8668-615009F278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5713" y="4343400"/>
                          <a:ext cx="255587"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24" name="Object 67">
              <a:extLst>
                <a:ext uri="{FF2B5EF4-FFF2-40B4-BE49-F238E27FC236}">
                  <a16:creationId xmlns:a16="http://schemas.microsoft.com/office/drawing/2014/main" id="{F542CCDF-005D-3841-B680-B02E8E6645FE}"/>
                </a:ext>
              </a:extLst>
            </p:cNvPr>
            <p:cNvGraphicFramePr>
              <a:graphicFrameLocks noChangeAspect="1"/>
            </p:cNvGraphicFramePr>
            <p:nvPr>
              <p:extLst>
                <p:ext uri="{D42A27DB-BD31-4B8C-83A1-F6EECF244321}">
                  <p14:modId xmlns:p14="http://schemas.microsoft.com/office/powerpoint/2010/main" val="4289857854"/>
                </p:ext>
              </p:extLst>
            </p:nvPr>
          </p:nvGraphicFramePr>
          <p:xfrm>
            <a:off x="5364163" y="4117975"/>
            <a:ext cx="255587" cy="280988"/>
          </p:xfrm>
          <a:graphic>
            <a:graphicData uri="http://schemas.openxmlformats.org/presentationml/2006/ole">
              <mc:AlternateContent xmlns:mc="http://schemas.openxmlformats.org/markup-compatibility/2006">
                <mc:Choice xmlns:v="urn:schemas-microsoft-com:vml" Requires="v">
                  <p:oleObj name="Equation" r:id="rId8" imgW="2921000" imgH="3213100" progId="Equation.3">
                    <p:embed/>
                  </p:oleObj>
                </mc:Choice>
                <mc:Fallback>
                  <p:oleObj name="Equation" r:id="rId8" imgW="2921000" imgH="3213100" progId="Equation.3">
                    <p:embed/>
                    <p:pic>
                      <p:nvPicPr>
                        <p:cNvPr id="24624" name="Object 67">
                          <a:extLst>
                            <a:ext uri="{FF2B5EF4-FFF2-40B4-BE49-F238E27FC236}">
                              <a16:creationId xmlns:a16="http://schemas.microsoft.com/office/drawing/2014/main" id="{F542CCDF-005D-3841-B680-B02E8E6645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163" y="4117975"/>
                          <a:ext cx="255587"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5">
            <a:extLst>
              <a:ext uri="{FF2B5EF4-FFF2-40B4-BE49-F238E27FC236}">
                <a16:creationId xmlns:a16="http://schemas.microsoft.com/office/drawing/2014/main" id="{5492D5E8-F1B0-40ED-B1B2-5CA5C90F1538}"/>
              </a:ext>
            </a:extLst>
          </p:cNvPr>
          <p:cNvGrpSpPr/>
          <p:nvPr/>
        </p:nvGrpSpPr>
        <p:grpSpPr>
          <a:xfrm>
            <a:off x="276528" y="3292213"/>
            <a:ext cx="4325430" cy="3340100"/>
            <a:chOff x="178914" y="3540125"/>
            <a:chExt cx="4325430" cy="3340100"/>
          </a:xfrm>
        </p:grpSpPr>
        <p:pic>
          <p:nvPicPr>
            <p:cNvPr id="2" name="Picture 1" descr="A diagram of a circuit&#10;&#10;Description automatically generated">
              <a:extLst>
                <a:ext uri="{FF2B5EF4-FFF2-40B4-BE49-F238E27FC236}">
                  <a16:creationId xmlns:a16="http://schemas.microsoft.com/office/drawing/2014/main" id="{4284EC8B-C53F-3D2D-54CE-844467D669C1}"/>
                </a:ext>
              </a:extLst>
            </p:cNvPr>
            <p:cNvPicPr>
              <a:picLocks noChangeAspect="1"/>
            </p:cNvPicPr>
            <p:nvPr/>
          </p:nvPicPr>
          <p:blipFill>
            <a:blip r:embed="rId9"/>
            <a:stretch>
              <a:fillRect/>
            </a:stretch>
          </p:blipFill>
          <p:spPr>
            <a:xfrm>
              <a:off x="178914" y="3540125"/>
              <a:ext cx="4325430" cy="3340100"/>
            </a:xfrm>
            <a:prstGeom prst="rect">
              <a:avLst/>
            </a:prstGeom>
          </p:spPr>
        </p:pic>
        <p:sp>
          <p:nvSpPr>
            <p:cNvPr id="24579" name="Line 59">
              <a:extLst>
                <a:ext uri="{FF2B5EF4-FFF2-40B4-BE49-F238E27FC236}">
                  <a16:creationId xmlns:a16="http://schemas.microsoft.com/office/drawing/2014/main" id="{E9066C46-D2B1-094D-ACD7-A529DEC5BD9E}"/>
                </a:ext>
              </a:extLst>
            </p:cNvPr>
            <p:cNvSpPr>
              <a:spLocks noChangeShapeType="1"/>
            </p:cNvSpPr>
            <p:nvPr/>
          </p:nvSpPr>
          <p:spPr bwMode="auto">
            <a:xfrm>
              <a:off x="2912155" y="5792152"/>
              <a:ext cx="0" cy="801641"/>
            </a:xfrm>
            <a:prstGeom prst="line">
              <a:avLst/>
            </a:prstGeom>
            <a:noFill/>
            <a:ln w="38100">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0" name="Line 55">
              <a:extLst>
                <a:ext uri="{FF2B5EF4-FFF2-40B4-BE49-F238E27FC236}">
                  <a16:creationId xmlns:a16="http://schemas.microsoft.com/office/drawing/2014/main" id="{BB5081AD-206D-6644-904D-823F53A3623F}"/>
                </a:ext>
              </a:extLst>
            </p:cNvPr>
            <p:cNvSpPr>
              <a:spLocks noChangeShapeType="1"/>
            </p:cNvSpPr>
            <p:nvPr/>
          </p:nvSpPr>
          <p:spPr bwMode="auto">
            <a:xfrm flipH="1">
              <a:off x="1657416" y="5916802"/>
              <a:ext cx="1017916" cy="20646"/>
            </a:xfrm>
            <a:prstGeom prst="line">
              <a:avLst/>
            </a:prstGeom>
            <a:noFill/>
            <a:ln w="38100">
              <a:solidFill>
                <a:srgbClr val="00CC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1" name="Line 56">
              <a:extLst>
                <a:ext uri="{FF2B5EF4-FFF2-40B4-BE49-F238E27FC236}">
                  <a16:creationId xmlns:a16="http://schemas.microsoft.com/office/drawing/2014/main" id="{54E4F0E5-2001-1941-88A3-4979370177DE}"/>
                </a:ext>
              </a:extLst>
            </p:cNvPr>
            <p:cNvSpPr>
              <a:spLocks noChangeShapeType="1"/>
            </p:cNvSpPr>
            <p:nvPr/>
          </p:nvSpPr>
          <p:spPr bwMode="auto">
            <a:xfrm flipH="1">
              <a:off x="1657799" y="5937448"/>
              <a:ext cx="0" cy="741619"/>
            </a:xfrm>
            <a:prstGeom prst="line">
              <a:avLst/>
            </a:prstGeom>
            <a:noFill/>
            <a:ln w="38100">
              <a:solidFill>
                <a:srgbClr val="00CC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8" name="Text Box 38">
              <a:extLst>
                <a:ext uri="{FF2B5EF4-FFF2-40B4-BE49-F238E27FC236}">
                  <a16:creationId xmlns:a16="http://schemas.microsoft.com/office/drawing/2014/main" id="{6C7FB664-41C4-914E-8026-951D85A7C12B}"/>
                </a:ext>
              </a:extLst>
            </p:cNvPr>
            <p:cNvSpPr txBox="1">
              <a:spLocks noChangeArrowheads="1"/>
            </p:cNvSpPr>
            <p:nvPr/>
          </p:nvSpPr>
          <p:spPr bwMode="auto">
            <a:xfrm>
              <a:off x="2094856" y="5303133"/>
              <a:ext cx="8162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dirty="0"/>
                <a:t>=770nH</a:t>
              </a:r>
              <a:endParaRPr lang="en-US" altLang="en-US" sz="1400" baseline="-25000" dirty="0"/>
            </a:p>
          </p:txBody>
        </p:sp>
        <p:sp>
          <p:nvSpPr>
            <p:cNvPr id="24603" name="Text Box 43">
              <a:extLst>
                <a:ext uri="{FF2B5EF4-FFF2-40B4-BE49-F238E27FC236}">
                  <a16:creationId xmlns:a16="http://schemas.microsoft.com/office/drawing/2014/main" id="{9466EC6D-32A8-D14A-AC64-D416F7B1E956}"/>
                </a:ext>
              </a:extLst>
            </p:cNvPr>
            <p:cNvSpPr txBox="1">
              <a:spLocks noChangeArrowheads="1"/>
            </p:cNvSpPr>
            <p:nvPr/>
          </p:nvSpPr>
          <p:spPr bwMode="auto">
            <a:xfrm>
              <a:off x="2297120" y="6437423"/>
              <a:ext cx="70884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dirty="0"/>
                <a:t>=330pF</a:t>
              </a:r>
              <a:endParaRPr lang="en-US" altLang="en-US" sz="1200" baseline="-25000" dirty="0"/>
            </a:p>
          </p:txBody>
        </p:sp>
        <p:sp>
          <p:nvSpPr>
            <p:cNvPr id="24613" name="Text Box 53">
              <a:extLst>
                <a:ext uri="{FF2B5EF4-FFF2-40B4-BE49-F238E27FC236}">
                  <a16:creationId xmlns:a16="http://schemas.microsoft.com/office/drawing/2014/main" id="{41570467-83A3-B543-BC16-A3D37DA684A7}"/>
                </a:ext>
              </a:extLst>
            </p:cNvPr>
            <p:cNvSpPr txBox="1">
              <a:spLocks noChangeArrowheads="1"/>
            </p:cNvSpPr>
            <p:nvPr/>
          </p:nvSpPr>
          <p:spPr bwMode="auto">
            <a:xfrm>
              <a:off x="3179656" y="5937448"/>
              <a:ext cx="62228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dirty="0"/>
                <a:t>=48</a:t>
              </a:r>
              <a:r>
                <a:rPr lang="el-GR" altLang="en-US" sz="1400" dirty="0">
                  <a:cs typeface="Arial" panose="020B0604020202020204" pitchFamily="34" charset="0"/>
                </a:rPr>
                <a:t>Ω</a:t>
              </a:r>
              <a:endParaRPr lang="el-GR" altLang="en-US" sz="1400" baseline="-25000" dirty="0">
                <a:cs typeface="Arial" panose="020B0604020202020204" pitchFamily="34" charset="0"/>
              </a:endParaRPr>
            </a:p>
          </p:txBody>
        </p:sp>
        <p:sp>
          <p:nvSpPr>
            <p:cNvPr id="24614" name="Text Box 54">
              <a:extLst>
                <a:ext uri="{FF2B5EF4-FFF2-40B4-BE49-F238E27FC236}">
                  <a16:creationId xmlns:a16="http://schemas.microsoft.com/office/drawing/2014/main" id="{DD7BBE2C-6331-9645-8818-7386D52FFB90}"/>
                </a:ext>
              </a:extLst>
            </p:cNvPr>
            <p:cNvSpPr txBox="1">
              <a:spLocks noChangeArrowheads="1"/>
            </p:cNvSpPr>
            <p:nvPr/>
          </p:nvSpPr>
          <p:spPr bwMode="auto">
            <a:xfrm>
              <a:off x="3193656" y="6246959"/>
              <a:ext cx="84510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dirty="0"/>
                <a:t>= 990pF</a:t>
              </a:r>
              <a:endParaRPr lang="en-US" altLang="en-US" sz="1400" baseline="-25000" dirty="0"/>
            </a:p>
          </p:txBody>
        </p:sp>
        <p:sp>
          <p:nvSpPr>
            <p:cNvPr id="24616" name="Line 58">
              <a:extLst>
                <a:ext uri="{FF2B5EF4-FFF2-40B4-BE49-F238E27FC236}">
                  <a16:creationId xmlns:a16="http://schemas.microsoft.com/office/drawing/2014/main" id="{FB8DA107-B949-0048-9C94-AD2941B4FFDF}"/>
                </a:ext>
              </a:extLst>
            </p:cNvPr>
            <p:cNvSpPr>
              <a:spLocks noChangeShapeType="1"/>
            </p:cNvSpPr>
            <p:nvPr/>
          </p:nvSpPr>
          <p:spPr bwMode="auto">
            <a:xfrm flipH="1" flipV="1">
              <a:off x="2123384" y="4090147"/>
              <a:ext cx="0" cy="1709766"/>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Line 58">
              <a:extLst>
                <a:ext uri="{FF2B5EF4-FFF2-40B4-BE49-F238E27FC236}">
                  <a16:creationId xmlns:a16="http://schemas.microsoft.com/office/drawing/2014/main" id="{536B2774-9531-698C-464E-86C0033AD111}"/>
                </a:ext>
              </a:extLst>
            </p:cNvPr>
            <p:cNvSpPr>
              <a:spLocks noChangeShapeType="1"/>
            </p:cNvSpPr>
            <p:nvPr/>
          </p:nvSpPr>
          <p:spPr bwMode="auto">
            <a:xfrm flipV="1">
              <a:off x="2140099" y="5782491"/>
              <a:ext cx="761983" cy="20646"/>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5" name="TextBox 4">
            <a:extLst>
              <a:ext uri="{FF2B5EF4-FFF2-40B4-BE49-F238E27FC236}">
                <a16:creationId xmlns:a16="http://schemas.microsoft.com/office/drawing/2014/main" id="{6952B42A-42B6-F7B4-B6EE-39FB141A7E12}"/>
              </a:ext>
            </a:extLst>
          </p:cNvPr>
          <p:cNvSpPr txBox="1"/>
          <p:nvPr/>
        </p:nvSpPr>
        <p:spPr>
          <a:xfrm>
            <a:off x="2355554" y="2782099"/>
            <a:ext cx="4698274" cy="369332"/>
          </a:xfrm>
          <a:prstGeom prst="rect">
            <a:avLst/>
          </a:prstGeom>
          <a:noFill/>
        </p:spPr>
        <p:txBody>
          <a:bodyPr wrap="square">
            <a:spAutoFit/>
          </a:bodyPr>
          <a:lstStyle/>
          <a:p>
            <a:r>
              <a:rPr lang="en-US" sz="1800" dirty="0"/>
              <a:t>P = </a:t>
            </a:r>
            <a:r>
              <a:rPr lang="en-GB" altLang="en-US" sz="1800" i="1" dirty="0">
                <a:latin typeface="Times New Roman" panose="02020603050405020304" pitchFamily="18" charset="0"/>
              </a:rPr>
              <a:t>f CV</a:t>
            </a:r>
            <a:r>
              <a:rPr lang="en-GB" altLang="en-US" sz="1800" i="1" baseline="30000" dirty="0">
                <a:latin typeface="Times New Roman" panose="02020603050405020304" pitchFamily="18" charset="0"/>
              </a:rPr>
              <a:t> 2</a:t>
            </a:r>
            <a:r>
              <a:rPr lang="en-GB" altLang="en-US" sz="1800" dirty="0"/>
              <a:t> = 10</a:t>
            </a:r>
            <a:r>
              <a:rPr lang="en-GB" altLang="en-US" sz="1800" baseline="30000" dirty="0"/>
              <a:t>5</a:t>
            </a:r>
            <a:r>
              <a:rPr lang="en-GB" altLang="en-US" sz="1800" dirty="0"/>
              <a:t> x 990pF x100</a:t>
            </a:r>
            <a:r>
              <a:rPr lang="en-GB" altLang="en-US" sz="1800" baseline="30000" dirty="0"/>
              <a:t>2</a:t>
            </a:r>
            <a:r>
              <a:rPr lang="en-GB" altLang="en-US" sz="1800" dirty="0"/>
              <a:t> = 0.990W</a:t>
            </a:r>
            <a:endParaRPr lang="en-GB" dirty="0"/>
          </a:p>
        </p:txBody>
      </p:sp>
    </p:spTree>
    <p:extLst>
      <p:ext uri="{BB962C8B-B14F-4D97-AF65-F5344CB8AC3E}">
        <p14:creationId xmlns:p14="http://schemas.microsoft.com/office/powerpoint/2010/main" val="3990208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8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6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58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A57178FF-93B0-2E47-88D0-5AD3F71D0D7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F1604E0-B0A1-3542-A78C-17C662FDF8F6}" type="slidenum">
              <a:rPr lang="en-US" altLang="en-US" sz="1400"/>
              <a:pPr>
                <a:spcBef>
                  <a:spcPct val="0"/>
                </a:spcBef>
                <a:buFontTx/>
                <a:buNone/>
              </a:pPr>
              <a:t>16</a:t>
            </a:fld>
            <a:endParaRPr lang="en-US" altLang="en-US" sz="1400" dirty="0"/>
          </a:p>
        </p:txBody>
      </p:sp>
      <p:sp>
        <p:nvSpPr>
          <p:cNvPr id="13327" name="Rectangle 16">
            <a:extLst>
              <a:ext uri="{FF2B5EF4-FFF2-40B4-BE49-F238E27FC236}">
                <a16:creationId xmlns:a16="http://schemas.microsoft.com/office/drawing/2014/main" id="{08EFB604-4DD1-864D-AF46-3D8E232D7AC6}"/>
              </a:ext>
            </a:extLst>
          </p:cNvPr>
          <p:cNvSpPr>
            <a:spLocks noChangeArrowheads="1"/>
          </p:cNvSpPr>
          <p:nvPr/>
        </p:nvSpPr>
        <p:spPr bwMode="auto">
          <a:xfrm>
            <a:off x="285977" y="216830"/>
            <a:ext cx="6312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1" dirty="0"/>
              <a:t>Polarized </a:t>
            </a:r>
            <a:r>
              <a:rPr lang="en-US" altLang="en-US" sz="2400" b="1" dirty="0">
                <a:solidFill>
                  <a:srgbClr val="3333FF"/>
                </a:solidFill>
              </a:rPr>
              <a:t>R-C </a:t>
            </a:r>
            <a:r>
              <a:rPr lang="en-US" altLang="en-US" sz="2400" b="1" dirty="0"/>
              <a:t>snubber – Turn-off Snubber</a:t>
            </a:r>
            <a:endParaRPr lang="en-GB" altLang="en-US" sz="2400" b="1" dirty="0"/>
          </a:p>
        </p:txBody>
      </p:sp>
      <p:pic>
        <p:nvPicPr>
          <p:cNvPr id="5" name="Picture 4">
            <a:extLst>
              <a:ext uri="{FF2B5EF4-FFF2-40B4-BE49-F238E27FC236}">
                <a16:creationId xmlns:a16="http://schemas.microsoft.com/office/drawing/2014/main" id="{2F5BCD7F-776E-15C0-A98F-3BE69E6DB0F8}"/>
              </a:ext>
            </a:extLst>
          </p:cNvPr>
          <p:cNvPicPr>
            <a:picLocks noChangeAspect="1"/>
          </p:cNvPicPr>
          <p:nvPr/>
        </p:nvPicPr>
        <p:blipFill>
          <a:blip r:embed="rId2"/>
          <a:stretch>
            <a:fillRect/>
          </a:stretch>
        </p:blipFill>
        <p:spPr>
          <a:xfrm>
            <a:off x="3008813" y="1273583"/>
            <a:ext cx="2600598" cy="4275983"/>
          </a:xfrm>
          <a:prstGeom prst="rect">
            <a:avLst/>
          </a:prstGeom>
        </p:spPr>
      </p:pic>
      <p:sp>
        <p:nvSpPr>
          <p:cNvPr id="6" name="TextBox 5">
            <a:extLst>
              <a:ext uri="{FF2B5EF4-FFF2-40B4-BE49-F238E27FC236}">
                <a16:creationId xmlns:a16="http://schemas.microsoft.com/office/drawing/2014/main" id="{4911ABD2-CA34-6A26-AC91-EC514E554464}"/>
              </a:ext>
            </a:extLst>
          </p:cNvPr>
          <p:cNvSpPr txBox="1"/>
          <p:nvPr/>
        </p:nvSpPr>
        <p:spPr>
          <a:xfrm>
            <a:off x="2307774" y="3692426"/>
            <a:ext cx="1193074" cy="646331"/>
          </a:xfrm>
          <a:prstGeom prst="rect">
            <a:avLst/>
          </a:prstGeom>
          <a:noFill/>
        </p:spPr>
        <p:txBody>
          <a:bodyPr wrap="square" rtlCol="0">
            <a:spAutoFit/>
          </a:bodyPr>
          <a:lstStyle/>
          <a:p>
            <a:pPr algn="ctr"/>
            <a:r>
              <a:rPr lang="en-GB" dirty="0">
                <a:solidFill>
                  <a:srgbClr val="FF0000"/>
                </a:solidFill>
              </a:rPr>
              <a:t>Transistor ON state</a:t>
            </a:r>
          </a:p>
        </p:txBody>
      </p:sp>
      <p:sp>
        <p:nvSpPr>
          <p:cNvPr id="7" name="TextBox 6">
            <a:extLst>
              <a:ext uri="{FF2B5EF4-FFF2-40B4-BE49-F238E27FC236}">
                <a16:creationId xmlns:a16="http://schemas.microsoft.com/office/drawing/2014/main" id="{C3E492D6-B216-C6A6-8ECD-C5A34B230269}"/>
              </a:ext>
            </a:extLst>
          </p:cNvPr>
          <p:cNvSpPr txBox="1"/>
          <p:nvPr/>
        </p:nvSpPr>
        <p:spPr>
          <a:xfrm>
            <a:off x="4309112" y="3287478"/>
            <a:ext cx="1441267" cy="646331"/>
          </a:xfrm>
          <a:prstGeom prst="rect">
            <a:avLst/>
          </a:prstGeom>
          <a:noFill/>
        </p:spPr>
        <p:txBody>
          <a:bodyPr wrap="square" rtlCol="0">
            <a:spAutoFit/>
          </a:bodyPr>
          <a:lstStyle/>
          <a:p>
            <a:pPr algn="ctr"/>
            <a:r>
              <a:rPr lang="en-GB" dirty="0">
                <a:solidFill>
                  <a:srgbClr val="3333FF"/>
                </a:solidFill>
              </a:rPr>
              <a:t>Diode </a:t>
            </a:r>
          </a:p>
          <a:p>
            <a:pPr algn="ctr"/>
            <a:r>
              <a:rPr lang="en-GB" dirty="0">
                <a:solidFill>
                  <a:srgbClr val="3333FF"/>
                </a:solidFill>
              </a:rPr>
              <a:t>OFF state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A57178FF-93B0-2E47-88D0-5AD3F71D0D7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F1604E0-B0A1-3542-A78C-17C662FDF8F6}" type="slidenum">
              <a:rPr lang="en-US" altLang="en-US" sz="1400"/>
              <a:pPr>
                <a:spcBef>
                  <a:spcPct val="0"/>
                </a:spcBef>
                <a:buFontTx/>
                <a:buNone/>
              </a:pPr>
              <a:t>17</a:t>
            </a:fld>
            <a:endParaRPr lang="en-US" altLang="en-US" sz="1400" dirty="0"/>
          </a:p>
        </p:txBody>
      </p:sp>
      <p:sp>
        <p:nvSpPr>
          <p:cNvPr id="13327" name="Rectangle 16">
            <a:extLst>
              <a:ext uri="{FF2B5EF4-FFF2-40B4-BE49-F238E27FC236}">
                <a16:creationId xmlns:a16="http://schemas.microsoft.com/office/drawing/2014/main" id="{08EFB604-4DD1-864D-AF46-3D8E232D7AC6}"/>
              </a:ext>
            </a:extLst>
          </p:cNvPr>
          <p:cNvSpPr>
            <a:spLocks noChangeArrowheads="1"/>
          </p:cNvSpPr>
          <p:nvPr/>
        </p:nvSpPr>
        <p:spPr bwMode="auto">
          <a:xfrm>
            <a:off x="285977" y="216830"/>
            <a:ext cx="6312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1" dirty="0"/>
              <a:t>Polarized </a:t>
            </a:r>
            <a:r>
              <a:rPr lang="en-US" altLang="en-US" sz="2400" b="1" dirty="0">
                <a:solidFill>
                  <a:srgbClr val="3333FF"/>
                </a:solidFill>
              </a:rPr>
              <a:t>R-C </a:t>
            </a:r>
            <a:r>
              <a:rPr lang="en-US" altLang="en-US" sz="2400" b="1" dirty="0"/>
              <a:t>snubber – Turn-off Snubber</a:t>
            </a:r>
            <a:endParaRPr lang="en-GB" altLang="en-US" sz="2400" b="1" dirty="0"/>
          </a:p>
        </p:txBody>
      </p:sp>
      <p:pic>
        <p:nvPicPr>
          <p:cNvPr id="8" name="Picture 7">
            <a:extLst>
              <a:ext uri="{FF2B5EF4-FFF2-40B4-BE49-F238E27FC236}">
                <a16:creationId xmlns:a16="http://schemas.microsoft.com/office/drawing/2014/main" id="{EF750CDD-F9B7-A378-630A-46790B0F50E8}"/>
              </a:ext>
            </a:extLst>
          </p:cNvPr>
          <p:cNvPicPr>
            <a:picLocks noChangeAspect="1"/>
          </p:cNvPicPr>
          <p:nvPr/>
        </p:nvPicPr>
        <p:blipFill>
          <a:blip r:embed="rId2"/>
          <a:stretch>
            <a:fillRect/>
          </a:stretch>
        </p:blipFill>
        <p:spPr>
          <a:xfrm>
            <a:off x="1946153" y="643438"/>
            <a:ext cx="2085916" cy="3429727"/>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63C8019-490F-4BA7-48E7-2F071AC2999D}"/>
                  </a:ext>
                </a:extLst>
              </p:cNvPr>
              <p:cNvSpPr txBox="1"/>
              <p:nvPr/>
            </p:nvSpPr>
            <p:spPr>
              <a:xfrm>
                <a:off x="285977" y="4040006"/>
                <a:ext cx="8307977" cy="2268442"/>
              </a:xfrm>
              <a:prstGeom prst="rect">
                <a:avLst/>
              </a:prstGeom>
              <a:noFill/>
            </p:spPr>
            <p:txBody>
              <a:bodyPr wrap="square">
                <a:spAutoFit/>
              </a:bodyPr>
              <a:lstStyle/>
              <a:p>
                <a:pPr marL="285750" indent="-285750">
                  <a:buFont typeface="Arial" panose="020B0604020202020204" pitchFamily="34" charset="0"/>
                  <a:buChar char="•"/>
                </a:pPr>
                <a:r>
                  <a:rPr lang="en-GB" sz="2000" dirty="0"/>
                  <a:t>Transistor turns off, the diode remains reverse-biased until the transistor voltage </a:t>
                </a:r>
                <a14:m>
                  <m:oMath xmlns:m="http://schemas.openxmlformats.org/officeDocument/2006/math">
                    <m:sSub>
                      <m:sSubPr>
                        <m:ctrlPr>
                          <a:rPr lang="en-US" sz="2000" i="1" smtClean="0">
                            <a:latin typeface="Cambria Math" panose="02040503050406030204" pitchFamily="18" charset="0"/>
                          </a:rPr>
                        </m:ctrlPr>
                      </m:sSubPr>
                      <m:e>
                        <m:r>
                          <a:rPr lang="en-GB" sz="2000" b="0" i="1" smtClean="0">
                            <a:latin typeface="Cambria Math" panose="02040503050406030204" pitchFamily="18" charset="0"/>
                          </a:rPr>
                          <m:t>𝑣</m:t>
                        </m:r>
                      </m:e>
                      <m:sub>
                        <m:r>
                          <a:rPr lang="en-GB" sz="2000" b="0" i="1" smtClean="0">
                            <a:latin typeface="Cambria Math" panose="02040503050406030204" pitchFamily="18" charset="0"/>
                          </a:rPr>
                          <m:t>𝑄</m:t>
                        </m:r>
                        <m:r>
                          <a:rPr lang="en-US" sz="2000" i="1">
                            <a:latin typeface="Cambria Math" panose="02040503050406030204" pitchFamily="18" charset="0"/>
                          </a:rPr>
                          <m:t> </m:t>
                        </m:r>
                      </m:sub>
                    </m:sSub>
                  </m:oMath>
                </a14:m>
                <a:r>
                  <a:rPr lang="en-GB" sz="2000" dirty="0"/>
                  <a:t> increases to the source voltage </a:t>
                </a:r>
                <a14:m>
                  <m:oMath xmlns:m="http://schemas.openxmlformats.org/officeDocument/2006/math">
                    <m:sSub>
                      <m:sSubPr>
                        <m:ctrlPr>
                          <a:rPr lang="en-US" sz="2000" i="1">
                            <a:latin typeface="Cambria Math" panose="02040503050406030204" pitchFamily="18" charset="0"/>
                          </a:rPr>
                        </m:ctrlPr>
                      </m:sSubPr>
                      <m:e>
                        <m:r>
                          <a:rPr lang="en-GB" sz="2000" b="0" i="1" smtClean="0">
                            <a:latin typeface="Cambria Math" panose="02040503050406030204" pitchFamily="18" charset="0"/>
                          </a:rPr>
                          <m:t>𝑉</m:t>
                        </m:r>
                      </m:e>
                      <m:sub>
                        <m:r>
                          <a:rPr lang="en-GB" sz="2000" b="0" i="1" smtClean="0">
                            <a:latin typeface="Cambria Math" panose="02040503050406030204" pitchFamily="18" charset="0"/>
                          </a:rPr>
                          <m:t>𝑠</m:t>
                        </m:r>
                      </m:sub>
                    </m:sSub>
                  </m:oMath>
                </a14:m>
                <a:r>
                  <a:rPr lang="en-GB" sz="2000" dirty="0"/>
                  <a:t>.</a:t>
                </a:r>
              </a:p>
              <a:p>
                <a:pPr marL="342900" indent="-342900">
                  <a:buFont typeface="Arial" panose="020B0604020202020204" pitchFamily="34" charset="0"/>
                  <a:buChar char="•"/>
                </a:pPr>
                <a:r>
                  <a:rPr lang="en-GB" sz="2000" dirty="0"/>
                  <a:t>After the transistor voltage reaches </a:t>
                </a:r>
                <a14:m>
                  <m:oMath xmlns:m="http://schemas.openxmlformats.org/officeDocument/2006/math">
                    <m:sSub>
                      <m:sSubPr>
                        <m:ctrlPr>
                          <a:rPr lang="en-US" sz="2000" i="1">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𝑠</m:t>
                        </m:r>
                      </m:sub>
                    </m:sSub>
                  </m:oMath>
                </a14:m>
                <a:r>
                  <a:rPr lang="en-GB" sz="2000" dirty="0"/>
                  <a:t>, and the transistor current decreases to zero.</a:t>
                </a:r>
              </a:p>
              <a:p>
                <a:pPr marL="342900" indent="-342900">
                  <a:buFont typeface="Arial" panose="020B0604020202020204" pitchFamily="34" charset="0"/>
                  <a:buChar char="•"/>
                </a:pPr>
                <a:r>
                  <a:rPr lang="en-GB" sz="2000" dirty="0"/>
                  <a:t>As a result, there is a point during turnoff when the transistor voltage and current are high simultaneously, resulting in a triangularly shaped instantaneous power waveform </a:t>
                </a:r>
                <a14:m>
                  <m:oMath xmlns:m="http://schemas.openxmlformats.org/officeDocument/2006/math">
                    <m:r>
                      <a:rPr lang="en-GB" sz="2000" b="0" i="1" smtClean="0">
                        <a:latin typeface="Cambria Math" panose="02040503050406030204" pitchFamily="18" charset="0"/>
                      </a:rPr>
                      <m:t>𝑝</m:t>
                    </m:r>
                    <m:d>
                      <m:dPr>
                        <m:ctrlPr>
                          <a:rPr lang="en-GB" sz="2000" b="0" i="1" smtClean="0">
                            <a:latin typeface="Cambria Math" panose="02040503050406030204" pitchFamily="18" charset="0"/>
                          </a:rPr>
                        </m:ctrlPr>
                      </m:dPr>
                      <m:e>
                        <m:r>
                          <a:rPr lang="en-GB" sz="2000" b="0" i="1" smtClean="0">
                            <a:latin typeface="Cambria Math" panose="02040503050406030204" pitchFamily="18" charset="0"/>
                          </a:rPr>
                          <m:t>𝑡</m:t>
                        </m:r>
                      </m:e>
                    </m:d>
                    <m:r>
                      <a:rPr lang="en-GB" sz="2000" b="0" i="0" smtClean="0">
                        <a:latin typeface="Cambria Math" panose="02040503050406030204" pitchFamily="18" charset="0"/>
                      </a:rPr>
                      <m:t>.</m:t>
                    </m:r>
                  </m:oMath>
                </a14:m>
                <a:endParaRPr lang="en-GB" sz="2000" dirty="0"/>
              </a:p>
            </p:txBody>
          </p:sp>
        </mc:Choice>
        <mc:Fallback xmlns="">
          <p:sp>
            <p:nvSpPr>
              <p:cNvPr id="13" name="TextBox 12">
                <a:extLst>
                  <a:ext uri="{FF2B5EF4-FFF2-40B4-BE49-F238E27FC236}">
                    <a16:creationId xmlns:a16="http://schemas.microsoft.com/office/drawing/2014/main" id="{563C8019-490F-4BA7-48E7-2F071AC2999D}"/>
                  </a:ext>
                </a:extLst>
              </p:cNvPr>
              <p:cNvSpPr txBox="1">
                <a:spLocks noRot="1" noChangeAspect="1" noMove="1" noResize="1" noEditPoints="1" noAdjustHandles="1" noChangeArrowheads="1" noChangeShapeType="1" noTextEdit="1"/>
              </p:cNvSpPr>
              <p:nvPr/>
            </p:nvSpPr>
            <p:spPr>
              <a:xfrm>
                <a:off x="285977" y="4040006"/>
                <a:ext cx="8307977" cy="2268442"/>
              </a:xfrm>
              <a:prstGeom prst="rect">
                <a:avLst/>
              </a:prstGeom>
              <a:blipFill>
                <a:blip r:embed="rId3"/>
                <a:stretch>
                  <a:fillRect l="-660" t="-1344" r="-147" b="-4032"/>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B63272DF-20B9-9C92-C073-CBD643CAD133}"/>
              </a:ext>
            </a:extLst>
          </p:cNvPr>
          <p:cNvPicPr>
            <a:picLocks noChangeAspect="1"/>
          </p:cNvPicPr>
          <p:nvPr/>
        </p:nvPicPr>
        <p:blipFill>
          <a:blip r:embed="rId4"/>
          <a:stretch>
            <a:fillRect/>
          </a:stretch>
        </p:blipFill>
        <p:spPr>
          <a:xfrm>
            <a:off x="4707537" y="903141"/>
            <a:ext cx="2572830" cy="1223716"/>
          </a:xfrm>
          <a:prstGeom prst="rect">
            <a:avLst/>
          </a:prstGeom>
        </p:spPr>
      </p:pic>
      <p:pic>
        <p:nvPicPr>
          <p:cNvPr id="6" name="Picture 5">
            <a:extLst>
              <a:ext uri="{FF2B5EF4-FFF2-40B4-BE49-F238E27FC236}">
                <a16:creationId xmlns:a16="http://schemas.microsoft.com/office/drawing/2014/main" id="{47535E35-79B4-C539-B2FE-E8FB3A8D763E}"/>
              </a:ext>
            </a:extLst>
          </p:cNvPr>
          <p:cNvPicPr>
            <a:picLocks noChangeAspect="1"/>
          </p:cNvPicPr>
          <p:nvPr/>
        </p:nvPicPr>
        <p:blipFill>
          <a:blip r:embed="rId5"/>
          <a:stretch>
            <a:fillRect/>
          </a:stretch>
        </p:blipFill>
        <p:spPr>
          <a:xfrm>
            <a:off x="4661435" y="2224445"/>
            <a:ext cx="2714725" cy="1195604"/>
          </a:xfrm>
          <a:prstGeom prst="rect">
            <a:avLst/>
          </a:prstGeom>
        </p:spPr>
      </p:pic>
      <p:cxnSp>
        <p:nvCxnSpPr>
          <p:cNvPr id="14" name="Straight Connector 13">
            <a:extLst>
              <a:ext uri="{FF2B5EF4-FFF2-40B4-BE49-F238E27FC236}">
                <a16:creationId xmlns:a16="http://schemas.microsoft.com/office/drawing/2014/main" id="{446F1D33-90D2-7CAD-9F7C-75AD8F4582A0}"/>
              </a:ext>
            </a:extLst>
          </p:cNvPr>
          <p:cNvCxnSpPr>
            <a:cxnSpLocks/>
          </p:cNvCxnSpPr>
          <p:nvPr/>
        </p:nvCxnSpPr>
        <p:spPr>
          <a:xfrm rot="60000" flipH="1" flipV="1">
            <a:off x="5612678" y="698812"/>
            <a:ext cx="69666" cy="316747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Isosceles Triangle 16">
            <a:extLst>
              <a:ext uri="{FF2B5EF4-FFF2-40B4-BE49-F238E27FC236}">
                <a16:creationId xmlns:a16="http://schemas.microsoft.com/office/drawing/2014/main" id="{99D0B444-5C9E-2E44-03E7-E840C5317532}"/>
              </a:ext>
            </a:extLst>
          </p:cNvPr>
          <p:cNvSpPr/>
          <p:nvPr/>
        </p:nvSpPr>
        <p:spPr>
          <a:xfrm rot="-180000">
            <a:off x="5473473" y="2429229"/>
            <a:ext cx="397870" cy="679731"/>
          </a:xfrm>
          <a:prstGeom prst="triangle">
            <a:avLst/>
          </a:prstGeom>
          <a:solidFill>
            <a:schemeClr val="accent1">
              <a:alpha val="4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62506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anim calcmode="lin" valueType="num">
                                      <p:cBhvr additive="base">
                                        <p:cTn id="15"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anim calcmode="lin" valueType="num">
                                      <p:cBhvr additive="base">
                                        <p:cTn id="21"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A57178FF-93B0-2E47-88D0-5AD3F71D0D7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F1604E0-B0A1-3542-A78C-17C662FDF8F6}" type="slidenum">
              <a:rPr lang="en-US" altLang="en-US" sz="1400"/>
              <a:pPr>
                <a:spcBef>
                  <a:spcPct val="0"/>
                </a:spcBef>
                <a:buFontTx/>
                <a:buNone/>
              </a:pPr>
              <a:t>18</a:t>
            </a:fld>
            <a:endParaRPr lang="en-US" altLang="en-US" sz="1400"/>
          </a:p>
        </p:txBody>
      </p:sp>
      <p:sp>
        <p:nvSpPr>
          <p:cNvPr id="13327" name="Rectangle 16">
            <a:extLst>
              <a:ext uri="{FF2B5EF4-FFF2-40B4-BE49-F238E27FC236}">
                <a16:creationId xmlns:a16="http://schemas.microsoft.com/office/drawing/2014/main" id="{08EFB604-4DD1-864D-AF46-3D8E232D7AC6}"/>
              </a:ext>
            </a:extLst>
          </p:cNvPr>
          <p:cNvSpPr>
            <a:spLocks noChangeArrowheads="1"/>
          </p:cNvSpPr>
          <p:nvPr/>
        </p:nvSpPr>
        <p:spPr bwMode="auto">
          <a:xfrm>
            <a:off x="285977" y="216830"/>
            <a:ext cx="6312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1" dirty="0"/>
              <a:t>Polarized </a:t>
            </a:r>
            <a:r>
              <a:rPr lang="en-US" altLang="en-US" sz="2400" b="1" dirty="0">
                <a:solidFill>
                  <a:srgbClr val="3333FF"/>
                </a:solidFill>
              </a:rPr>
              <a:t>R-C </a:t>
            </a:r>
            <a:r>
              <a:rPr lang="en-US" altLang="en-US" sz="2400" b="1" dirty="0"/>
              <a:t>snubber – Turn-off Snubber</a:t>
            </a:r>
            <a:endParaRPr lang="en-GB" altLang="en-US" sz="2400" b="1" dirty="0"/>
          </a:p>
        </p:txBody>
      </p:sp>
      <p:pic>
        <p:nvPicPr>
          <p:cNvPr id="3" name="Picture 2">
            <a:extLst>
              <a:ext uri="{FF2B5EF4-FFF2-40B4-BE49-F238E27FC236}">
                <a16:creationId xmlns:a16="http://schemas.microsoft.com/office/drawing/2014/main" id="{3EDC3630-9F5F-BEC3-6BC7-C08F34F0AA67}"/>
              </a:ext>
            </a:extLst>
          </p:cNvPr>
          <p:cNvPicPr>
            <a:picLocks noChangeAspect="1"/>
          </p:cNvPicPr>
          <p:nvPr/>
        </p:nvPicPr>
        <p:blipFill>
          <a:blip r:embed="rId2"/>
          <a:stretch>
            <a:fillRect/>
          </a:stretch>
        </p:blipFill>
        <p:spPr>
          <a:xfrm>
            <a:off x="156319" y="901018"/>
            <a:ext cx="3597510" cy="5261020"/>
          </a:xfrm>
          <a:prstGeom prst="rect">
            <a:avLst/>
          </a:prstGeom>
        </p:spPr>
      </p:pic>
      <p:sp>
        <p:nvSpPr>
          <p:cNvPr id="2" name="Rectangle 1">
            <a:extLst>
              <a:ext uri="{FF2B5EF4-FFF2-40B4-BE49-F238E27FC236}">
                <a16:creationId xmlns:a16="http://schemas.microsoft.com/office/drawing/2014/main" id="{0FD9CEE5-ACFF-CA11-F72F-9DD6F8C6732C}"/>
              </a:ext>
            </a:extLst>
          </p:cNvPr>
          <p:cNvSpPr/>
          <p:nvPr/>
        </p:nvSpPr>
        <p:spPr>
          <a:xfrm>
            <a:off x="2031813" y="3709852"/>
            <a:ext cx="711387" cy="405713"/>
          </a:xfrm>
          <a:prstGeom prst="rect">
            <a:avLst/>
          </a:prstGeom>
          <a:solidFill>
            <a:srgbClr val="FFC000">
              <a:alpha val="32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CF3E334-7ABB-E67F-D906-54358D60CFFA}"/>
                  </a:ext>
                </a:extLst>
              </p:cNvPr>
              <p:cNvSpPr txBox="1"/>
              <p:nvPr/>
            </p:nvSpPr>
            <p:spPr>
              <a:xfrm>
                <a:off x="3901874" y="782823"/>
                <a:ext cx="4976081" cy="4247317"/>
              </a:xfrm>
              <a:prstGeom prst="rect">
                <a:avLst/>
              </a:prstGeom>
              <a:noFill/>
            </p:spPr>
            <p:txBody>
              <a:bodyPr wrap="square">
                <a:spAutoFit/>
              </a:bodyPr>
              <a:lstStyle/>
              <a:p>
                <a:pPr marL="285750" indent="-285750">
                  <a:buFont typeface="Arial" panose="020B0604020202020204" pitchFamily="34" charset="0"/>
                  <a:buChar char="•"/>
                </a:pPr>
                <a:r>
                  <a:rPr lang="en-GB" dirty="0"/>
                  <a:t>The snubber provides another path for load current during turnoff. </a:t>
                </a:r>
              </a:p>
              <a:p>
                <a:pPr marL="285750" indent="-285750">
                  <a:buFont typeface="Arial" panose="020B0604020202020204" pitchFamily="34" charset="0"/>
                  <a:buChar char="•"/>
                </a:pPr>
                <a:r>
                  <a:rPr lang="en-GB" dirty="0"/>
                  <a:t>As the transistor and the voltage across it is increasing, the snubber diode </a:t>
                </a:r>
                <a14:m>
                  <m:oMath xmlns:m="http://schemas.openxmlformats.org/officeDocument/2006/math">
                    <m:sSub>
                      <m:sSubPr>
                        <m:ctrlPr>
                          <a:rPr lang="en-US" sz="1800" i="1" smtClean="0">
                            <a:latin typeface="Cambria Math" panose="02040503050406030204" pitchFamily="18" charset="0"/>
                          </a:rPr>
                        </m:ctrlPr>
                      </m:sSubPr>
                      <m:e>
                        <m:r>
                          <a:rPr lang="en-GB" sz="1800" b="0" i="1" smtClean="0">
                            <a:latin typeface="Cambria Math" panose="02040503050406030204" pitchFamily="18" charset="0"/>
                          </a:rPr>
                          <m:t>𝐷</m:t>
                        </m:r>
                      </m:e>
                      <m:sub>
                        <m:r>
                          <a:rPr lang="en-GB" sz="1800" b="0" i="1" smtClean="0">
                            <a:latin typeface="Cambria Math" panose="02040503050406030204" pitchFamily="18" charset="0"/>
                          </a:rPr>
                          <m:t>𝑠</m:t>
                        </m:r>
                      </m:sub>
                    </m:sSub>
                  </m:oMath>
                </a14:m>
                <a:r>
                  <a:rPr lang="en-GB" dirty="0"/>
                  <a:t> becomes forward biased and the capacitor begins to charge. </a:t>
                </a:r>
              </a:p>
              <a:p>
                <a:pPr marL="285750" indent="-285750">
                  <a:buFont typeface="Arial" panose="020B0604020202020204" pitchFamily="34" charset="0"/>
                  <a:buChar char="•"/>
                </a:pPr>
                <a:r>
                  <a:rPr lang="en-GB" dirty="0"/>
                  <a:t>The rate of change of transistor voltage is reduced by the capacitor, delaying its voltage transition from low to high. </a:t>
                </a:r>
              </a:p>
              <a:p>
                <a:pPr marL="285750" indent="-285750">
                  <a:buFont typeface="Arial" panose="020B0604020202020204" pitchFamily="34" charset="0"/>
                  <a:buChar char="•"/>
                </a:pPr>
                <a:r>
                  <a:rPr lang="en-GB" dirty="0"/>
                  <a:t>The capacitor charges to the final off-state voltage across the transistor and remains charged while the transistor is off.</a:t>
                </a:r>
              </a:p>
              <a:p>
                <a:pPr marL="285750" indent="-285750">
                  <a:buFont typeface="Arial" panose="020B0604020202020204" pitchFamily="34" charset="0"/>
                  <a:buChar char="•"/>
                </a:pPr>
                <a:r>
                  <a:rPr lang="en-GB" dirty="0"/>
                  <a:t> When the transistor turns on, the capacitor discharges through the snubber resistor and transistor.</a:t>
                </a:r>
              </a:p>
            </p:txBody>
          </p:sp>
        </mc:Choice>
        <mc:Fallback xmlns="">
          <p:sp>
            <p:nvSpPr>
              <p:cNvPr id="7" name="TextBox 6">
                <a:extLst>
                  <a:ext uri="{FF2B5EF4-FFF2-40B4-BE49-F238E27FC236}">
                    <a16:creationId xmlns:a16="http://schemas.microsoft.com/office/drawing/2014/main" id="{3CF3E334-7ABB-E67F-D906-54358D60CFFA}"/>
                  </a:ext>
                </a:extLst>
              </p:cNvPr>
              <p:cNvSpPr txBox="1">
                <a:spLocks noRot="1" noChangeAspect="1" noMove="1" noResize="1" noEditPoints="1" noAdjustHandles="1" noChangeArrowheads="1" noChangeShapeType="1" noTextEdit="1"/>
              </p:cNvSpPr>
              <p:nvPr/>
            </p:nvSpPr>
            <p:spPr>
              <a:xfrm>
                <a:off x="3901874" y="782823"/>
                <a:ext cx="4976081" cy="4247317"/>
              </a:xfrm>
              <a:prstGeom prst="rect">
                <a:avLst/>
              </a:prstGeom>
              <a:blipFill>
                <a:blip r:embed="rId3"/>
                <a:stretch>
                  <a:fillRect l="-735" t="-717" r="-1716" b="-1291"/>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8A823B4D-DCBC-3D0D-DE0C-AC21101A03CA}"/>
              </a:ext>
            </a:extLst>
          </p:cNvPr>
          <p:cNvSpPr txBox="1"/>
          <p:nvPr/>
        </p:nvSpPr>
        <p:spPr>
          <a:xfrm flipH="1">
            <a:off x="2071549" y="5686697"/>
            <a:ext cx="1112522" cy="646331"/>
          </a:xfrm>
          <a:prstGeom prst="rect">
            <a:avLst/>
          </a:prstGeom>
          <a:noFill/>
        </p:spPr>
        <p:txBody>
          <a:bodyPr wrap="square" rtlCol="0">
            <a:spAutoFit/>
          </a:bodyPr>
          <a:lstStyle/>
          <a:p>
            <a:r>
              <a:rPr lang="en-GB" dirty="0"/>
              <a:t>Turn-Off Snubber</a:t>
            </a:r>
          </a:p>
        </p:txBody>
      </p:sp>
      <p:cxnSp>
        <p:nvCxnSpPr>
          <p:cNvPr id="5" name="Connector: Elbow 4">
            <a:extLst>
              <a:ext uri="{FF2B5EF4-FFF2-40B4-BE49-F238E27FC236}">
                <a16:creationId xmlns:a16="http://schemas.microsoft.com/office/drawing/2014/main" id="{2199287E-171D-B22B-7C7C-710EB5E0D216}"/>
              </a:ext>
            </a:extLst>
          </p:cNvPr>
          <p:cNvCxnSpPr>
            <a:cxnSpLocks/>
          </p:cNvCxnSpPr>
          <p:nvPr/>
        </p:nvCxnSpPr>
        <p:spPr>
          <a:xfrm rot="16200000" flipH="1">
            <a:off x="698576" y="3487501"/>
            <a:ext cx="2069051" cy="1224882"/>
          </a:xfrm>
          <a:prstGeom prst="bentConnector3">
            <a:avLst>
              <a:gd name="adj1" fmla="val 917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2CD750B-6FE1-EBD8-BC7B-AB851D608B05}"/>
              </a:ext>
            </a:extLst>
          </p:cNvPr>
          <p:cNvSpPr/>
          <p:nvPr/>
        </p:nvSpPr>
        <p:spPr>
          <a:xfrm>
            <a:off x="2018748" y="4794073"/>
            <a:ext cx="711387" cy="405713"/>
          </a:xfrm>
          <a:prstGeom prst="rect">
            <a:avLst/>
          </a:prstGeom>
          <a:solidFill>
            <a:srgbClr val="0070C0">
              <a:alpha val="32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9" name="Group 28">
            <a:extLst>
              <a:ext uri="{FF2B5EF4-FFF2-40B4-BE49-F238E27FC236}">
                <a16:creationId xmlns:a16="http://schemas.microsoft.com/office/drawing/2014/main" id="{65E61BC1-C354-B4D1-612E-8FA85BFD3697}"/>
              </a:ext>
            </a:extLst>
          </p:cNvPr>
          <p:cNvGrpSpPr/>
          <p:nvPr/>
        </p:nvGrpSpPr>
        <p:grpSpPr>
          <a:xfrm>
            <a:off x="1298510" y="3291846"/>
            <a:ext cx="2021015" cy="2318426"/>
            <a:chOff x="1298510" y="3291846"/>
            <a:chExt cx="2021015" cy="2318426"/>
          </a:xfrm>
        </p:grpSpPr>
        <p:cxnSp>
          <p:nvCxnSpPr>
            <p:cNvPr id="11" name="Connector: Elbow 10">
              <a:extLst>
                <a:ext uri="{FF2B5EF4-FFF2-40B4-BE49-F238E27FC236}">
                  <a16:creationId xmlns:a16="http://schemas.microsoft.com/office/drawing/2014/main" id="{F3AC4BAF-0A47-E88A-F58D-95EC653E7095}"/>
                </a:ext>
              </a:extLst>
            </p:cNvPr>
            <p:cNvCxnSpPr>
              <a:cxnSpLocks/>
            </p:cNvCxnSpPr>
            <p:nvPr/>
          </p:nvCxnSpPr>
          <p:spPr>
            <a:xfrm rot="5400000" flipH="1" flipV="1">
              <a:off x="1828656" y="4119402"/>
              <a:ext cx="2299962" cy="681777"/>
            </a:xfrm>
            <a:prstGeom prst="bentConnector3">
              <a:avLst>
                <a:gd name="adj1" fmla="val 44699"/>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6159C13C-EDE1-6319-4BEA-900120FD4B65}"/>
                </a:ext>
              </a:extLst>
            </p:cNvPr>
            <p:cNvCxnSpPr>
              <a:cxnSpLocks/>
            </p:cNvCxnSpPr>
            <p:nvPr/>
          </p:nvCxnSpPr>
          <p:spPr>
            <a:xfrm rot="10800000" flipV="1">
              <a:off x="1298510" y="3291846"/>
              <a:ext cx="2011374" cy="1045026"/>
            </a:xfrm>
            <a:prstGeom prst="bentConnector3">
              <a:avLst>
                <a:gd name="adj1" fmla="val 9979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0414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 calcmode="lin" valueType="num">
                                      <p:cBhvr additive="base">
                                        <p:cTn id="15"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 calcmode="lin" valueType="num">
                                      <p:cBhvr additive="base">
                                        <p:cTn id="2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 calcmode="lin" valueType="num">
                                      <p:cBhvr additive="base">
                                        <p:cTn id="2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 calcmode="lin" valueType="num">
                                      <p:cBhvr additive="base">
                                        <p:cTn id="3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A57178FF-93B0-2E47-88D0-5AD3F71D0D7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F1604E0-B0A1-3542-A78C-17C662FDF8F6}" type="slidenum">
              <a:rPr lang="en-US" altLang="en-US" sz="1400"/>
              <a:pPr>
                <a:spcBef>
                  <a:spcPct val="0"/>
                </a:spcBef>
                <a:buFontTx/>
                <a:buNone/>
              </a:pPr>
              <a:t>19</a:t>
            </a:fld>
            <a:endParaRPr lang="en-US" altLang="en-US" sz="1400"/>
          </a:p>
        </p:txBody>
      </p:sp>
      <p:sp>
        <p:nvSpPr>
          <p:cNvPr id="13327" name="Rectangle 16">
            <a:extLst>
              <a:ext uri="{FF2B5EF4-FFF2-40B4-BE49-F238E27FC236}">
                <a16:creationId xmlns:a16="http://schemas.microsoft.com/office/drawing/2014/main" id="{08EFB604-4DD1-864D-AF46-3D8E232D7AC6}"/>
              </a:ext>
            </a:extLst>
          </p:cNvPr>
          <p:cNvSpPr>
            <a:spLocks noChangeArrowheads="1"/>
          </p:cNvSpPr>
          <p:nvPr/>
        </p:nvSpPr>
        <p:spPr bwMode="auto">
          <a:xfrm>
            <a:off x="285977" y="216830"/>
            <a:ext cx="6312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1" dirty="0"/>
              <a:t>Polarized </a:t>
            </a:r>
            <a:r>
              <a:rPr lang="en-US" altLang="en-US" sz="2400" b="1" dirty="0">
                <a:solidFill>
                  <a:srgbClr val="3333FF"/>
                </a:solidFill>
              </a:rPr>
              <a:t>R-C </a:t>
            </a:r>
            <a:r>
              <a:rPr lang="en-US" altLang="en-US" sz="2400" b="1" dirty="0"/>
              <a:t>snubber – Turn-off Snubber</a:t>
            </a:r>
            <a:endParaRPr lang="en-GB" altLang="en-US" sz="2400" b="1" dirty="0"/>
          </a:p>
        </p:txBody>
      </p:sp>
      <p:pic>
        <p:nvPicPr>
          <p:cNvPr id="3" name="Picture 2">
            <a:extLst>
              <a:ext uri="{FF2B5EF4-FFF2-40B4-BE49-F238E27FC236}">
                <a16:creationId xmlns:a16="http://schemas.microsoft.com/office/drawing/2014/main" id="{3EDC3630-9F5F-BEC3-6BC7-C08F34F0AA67}"/>
              </a:ext>
            </a:extLst>
          </p:cNvPr>
          <p:cNvPicPr>
            <a:picLocks noChangeAspect="1"/>
          </p:cNvPicPr>
          <p:nvPr/>
        </p:nvPicPr>
        <p:blipFill>
          <a:blip r:embed="rId2"/>
          <a:stretch>
            <a:fillRect/>
          </a:stretch>
        </p:blipFill>
        <p:spPr>
          <a:xfrm>
            <a:off x="156319" y="901018"/>
            <a:ext cx="3597510" cy="5261020"/>
          </a:xfrm>
          <a:prstGeom prst="rect">
            <a:avLst/>
          </a:prstGeom>
        </p:spPr>
      </p:pic>
      <p:sp>
        <p:nvSpPr>
          <p:cNvPr id="7" name="TextBox 6">
            <a:extLst>
              <a:ext uri="{FF2B5EF4-FFF2-40B4-BE49-F238E27FC236}">
                <a16:creationId xmlns:a16="http://schemas.microsoft.com/office/drawing/2014/main" id="{3CF3E334-7ABB-E67F-D906-54358D60CFFA}"/>
              </a:ext>
            </a:extLst>
          </p:cNvPr>
          <p:cNvSpPr txBox="1"/>
          <p:nvPr/>
        </p:nvSpPr>
        <p:spPr>
          <a:xfrm>
            <a:off x="3936709" y="1892163"/>
            <a:ext cx="4976081" cy="2862322"/>
          </a:xfrm>
          <a:prstGeom prst="rect">
            <a:avLst/>
          </a:prstGeom>
          <a:noFill/>
        </p:spPr>
        <p:txBody>
          <a:bodyPr wrap="square">
            <a:spAutoFit/>
          </a:bodyPr>
          <a:lstStyle/>
          <a:p>
            <a:pPr marL="285750" indent="-285750">
              <a:buFont typeface="Arial" panose="020B0604020202020204" pitchFamily="34" charset="0"/>
              <a:buChar char="•"/>
            </a:pPr>
            <a:r>
              <a:rPr lang="en-GB" dirty="0"/>
              <a:t>All the capacitor energy is dissipated in the resistor, which is easier to cool than the transistor.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No additional energy dissipation occurs in the transistor due to the turn-off snubber.</a:t>
            </a:r>
          </a:p>
          <a:p>
            <a:endParaRPr lang="en-GB" dirty="0"/>
          </a:p>
          <a:p>
            <a:pPr marL="285750" indent="-285750">
              <a:buFont typeface="Arial" panose="020B0604020202020204" pitchFamily="34" charset="0"/>
              <a:buChar char="•"/>
            </a:pPr>
            <a:r>
              <a:rPr lang="en-GB" dirty="0"/>
              <a:t>The peak current the transistor must conduct is not increased due to the turn-off snubber when it turns-on.</a:t>
            </a:r>
          </a:p>
        </p:txBody>
      </p:sp>
      <p:sp>
        <p:nvSpPr>
          <p:cNvPr id="8" name="TextBox 7">
            <a:extLst>
              <a:ext uri="{FF2B5EF4-FFF2-40B4-BE49-F238E27FC236}">
                <a16:creationId xmlns:a16="http://schemas.microsoft.com/office/drawing/2014/main" id="{8A823B4D-DCBC-3D0D-DE0C-AC21101A03CA}"/>
              </a:ext>
            </a:extLst>
          </p:cNvPr>
          <p:cNvSpPr txBox="1"/>
          <p:nvPr/>
        </p:nvSpPr>
        <p:spPr>
          <a:xfrm flipH="1">
            <a:off x="2071549" y="5686697"/>
            <a:ext cx="1112522" cy="646331"/>
          </a:xfrm>
          <a:prstGeom prst="rect">
            <a:avLst/>
          </a:prstGeom>
          <a:noFill/>
        </p:spPr>
        <p:txBody>
          <a:bodyPr wrap="square" rtlCol="0">
            <a:spAutoFit/>
          </a:bodyPr>
          <a:lstStyle/>
          <a:p>
            <a:r>
              <a:rPr lang="en-GB" dirty="0"/>
              <a:t>Turn-Off Snubber</a:t>
            </a:r>
          </a:p>
        </p:txBody>
      </p:sp>
      <p:sp>
        <p:nvSpPr>
          <p:cNvPr id="4" name="Rectangle 3">
            <a:extLst>
              <a:ext uri="{FF2B5EF4-FFF2-40B4-BE49-F238E27FC236}">
                <a16:creationId xmlns:a16="http://schemas.microsoft.com/office/drawing/2014/main" id="{AE09B92F-88FD-B0B8-683E-A5C894FD02D8}"/>
              </a:ext>
            </a:extLst>
          </p:cNvPr>
          <p:cNvSpPr/>
          <p:nvPr/>
        </p:nvSpPr>
        <p:spPr>
          <a:xfrm>
            <a:off x="2954577" y="3620869"/>
            <a:ext cx="563685" cy="646331"/>
          </a:xfrm>
          <a:prstGeom prst="rect">
            <a:avLst/>
          </a:prstGeom>
          <a:solidFill>
            <a:srgbClr val="FFC000">
              <a:alpha val="32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2DC63395-78B0-B7F1-C5CD-30019BA5ECF7}"/>
              </a:ext>
            </a:extLst>
          </p:cNvPr>
          <p:cNvSpPr/>
          <p:nvPr/>
        </p:nvSpPr>
        <p:spPr>
          <a:xfrm>
            <a:off x="285977" y="3712309"/>
            <a:ext cx="1072560" cy="824857"/>
          </a:xfrm>
          <a:prstGeom prst="rect">
            <a:avLst/>
          </a:prstGeom>
          <a:solidFill>
            <a:srgbClr val="0070C0">
              <a:alpha val="32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55420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3CBBE7-91F6-B6E4-4988-EAD9FF3484F1}"/>
              </a:ext>
            </a:extLst>
          </p:cNvPr>
          <p:cNvSpPr>
            <a:spLocks noGrp="1"/>
          </p:cNvSpPr>
          <p:nvPr>
            <p:ph type="sldNum" sz="quarter" idx="12"/>
          </p:nvPr>
        </p:nvSpPr>
        <p:spPr/>
        <p:txBody>
          <a:bodyPr/>
          <a:lstStyle/>
          <a:p>
            <a:fld id="{C398351E-2C11-9849-9B44-6122DA96ABF2}" type="slidenum">
              <a:rPr lang="en-US" altLang="en-US" smtClean="0"/>
              <a:pPr/>
              <a:t>20</a:t>
            </a:fld>
            <a:endParaRPr lang="en-US" altLang="en-US"/>
          </a:p>
        </p:txBody>
      </p:sp>
      <p:sp>
        <p:nvSpPr>
          <p:cNvPr id="3" name="TextBox 2">
            <a:extLst>
              <a:ext uri="{FF2B5EF4-FFF2-40B4-BE49-F238E27FC236}">
                <a16:creationId xmlns:a16="http://schemas.microsoft.com/office/drawing/2014/main" id="{381D1894-6F04-E871-CE70-3B545C311D4D}"/>
              </a:ext>
            </a:extLst>
          </p:cNvPr>
          <p:cNvSpPr txBox="1"/>
          <p:nvPr/>
        </p:nvSpPr>
        <p:spPr>
          <a:xfrm>
            <a:off x="252548" y="287384"/>
            <a:ext cx="4066049" cy="369332"/>
          </a:xfrm>
          <a:prstGeom prst="rect">
            <a:avLst/>
          </a:prstGeom>
          <a:noFill/>
        </p:spPr>
        <p:txBody>
          <a:bodyPr wrap="none" rtlCol="0">
            <a:spAutoFit/>
          </a:bodyPr>
          <a:lstStyle/>
          <a:p>
            <a:r>
              <a:rPr lang="en-GB" b="1" dirty="0"/>
              <a:t>Turn off Snubber - Problem Solving</a:t>
            </a:r>
          </a:p>
        </p:txBody>
      </p:sp>
      <p:sp>
        <p:nvSpPr>
          <p:cNvPr id="5" name="TextBox 4">
            <a:extLst>
              <a:ext uri="{FF2B5EF4-FFF2-40B4-BE49-F238E27FC236}">
                <a16:creationId xmlns:a16="http://schemas.microsoft.com/office/drawing/2014/main" id="{2837AF67-B2D2-0703-4A3B-803E1EF9C9D1}"/>
              </a:ext>
            </a:extLst>
          </p:cNvPr>
          <p:cNvSpPr txBox="1"/>
          <p:nvPr/>
        </p:nvSpPr>
        <p:spPr>
          <a:xfrm>
            <a:off x="265611" y="665224"/>
            <a:ext cx="8612777" cy="1477328"/>
          </a:xfrm>
          <a:prstGeom prst="rect">
            <a:avLst/>
          </a:prstGeom>
          <a:noFill/>
        </p:spPr>
        <p:txBody>
          <a:bodyPr wrap="square">
            <a:spAutoFit/>
          </a:bodyPr>
          <a:lstStyle/>
          <a:p>
            <a:r>
              <a:rPr lang="en-GB" dirty="0"/>
              <a:t>The converter and snubber in Fig. has V</a:t>
            </a:r>
            <a:r>
              <a:rPr lang="en-GB" baseline="-25000" dirty="0"/>
              <a:t>s</a:t>
            </a:r>
            <a:r>
              <a:rPr lang="en-GB" dirty="0"/>
              <a:t>  100 V and I</a:t>
            </a:r>
            <a:r>
              <a:rPr lang="en-GB" baseline="-25000" dirty="0"/>
              <a:t>L</a:t>
            </a:r>
            <a:r>
              <a:rPr lang="en-GB" dirty="0"/>
              <a:t>  5 A. The switching frequency is 100 kHz with a duty ratio of 50 percent, and the transistor turns off in 0.5µs. </a:t>
            </a:r>
            <a:r>
              <a:rPr lang="en-GB" b="1" dirty="0"/>
              <a:t>(a)</a:t>
            </a:r>
            <a:r>
              <a:rPr lang="en-GB" dirty="0"/>
              <a:t> Determine the turnoff losses without a snubber if the transistor voltage reaches Vs in 0.1µs. </a:t>
            </a:r>
            <a:r>
              <a:rPr lang="en-GB" b="1" dirty="0"/>
              <a:t>(b)</a:t>
            </a:r>
            <a:r>
              <a:rPr lang="en-GB" dirty="0"/>
              <a:t> Determine the transistor turnoff losses and the resistor power with the snubber added if 12.5 </a:t>
            </a:r>
            <a:r>
              <a:rPr lang="en-GB" dirty="0" err="1"/>
              <a:t>nF</a:t>
            </a:r>
            <a:r>
              <a:rPr lang="en-GB" dirty="0"/>
              <a:t> capacitor is used.</a:t>
            </a:r>
          </a:p>
        </p:txBody>
      </p:sp>
      <p:sp>
        <p:nvSpPr>
          <p:cNvPr id="9" name="TextBox 8">
            <a:extLst>
              <a:ext uri="{FF2B5EF4-FFF2-40B4-BE49-F238E27FC236}">
                <a16:creationId xmlns:a16="http://schemas.microsoft.com/office/drawing/2014/main" id="{C9CE4F02-2466-D092-7DCA-7E658BD1BE74}"/>
              </a:ext>
            </a:extLst>
          </p:cNvPr>
          <p:cNvSpPr txBox="1"/>
          <p:nvPr/>
        </p:nvSpPr>
        <p:spPr>
          <a:xfrm>
            <a:off x="5384220" y="4183520"/>
            <a:ext cx="2025392" cy="369332"/>
          </a:xfrm>
          <a:prstGeom prst="rect">
            <a:avLst/>
          </a:prstGeom>
          <a:noFill/>
        </p:spPr>
        <p:txBody>
          <a:bodyPr wrap="square" rtlCol="0">
            <a:spAutoFit/>
          </a:bodyPr>
          <a:lstStyle/>
          <a:p>
            <a:r>
              <a:rPr lang="en-GB" b="1" dirty="0"/>
              <a:t>Solution:    (a)</a:t>
            </a:r>
          </a:p>
        </p:txBody>
      </p:sp>
      <p:sp>
        <p:nvSpPr>
          <p:cNvPr id="12" name="TextBox 11">
            <a:extLst>
              <a:ext uri="{FF2B5EF4-FFF2-40B4-BE49-F238E27FC236}">
                <a16:creationId xmlns:a16="http://schemas.microsoft.com/office/drawing/2014/main" id="{73BE0783-68ED-D566-7031-80833B9AD12C}"/>
              </a:ext>
            </a:extLst>
          </p:cNvPr>
          <p:cNvSpPr txBox="1"/>
          <p:nvPr/>
        </p:nvSpPr>
        <p:spPr>
          <a:xfrm>
            <a:off x="2501916" y="4552852"/>
            <a:ext cx="6762206" cy="646331"/>
          </a:xfrm>
          <a:prstGeom prst="rect">
            <a:avLst/>
          </a:prstGeom>
          <a:noFill/>
        </p:spPr>
        <p:txBody>
          <a:bodyPr wrap="square">
            <a:spAutoFit/>
          </a:bodyPr>
          <a:lstStyle/>
          <a:p>
            <a:r>
              <a:rPr lang="en-GB" dirty="0"/>
              <a:t>Transistor voltage reaches 100 V while the current is still at 5 A, resulting in a peak instantaneous power of (100 V)(5 A)  500 W.</a:t>
            </a:r>
          </a:p>
        </p:txBody>
      </p:sp>
      <p:sp>
        <p:nvSpPr>
          <p:cNvPr id="14" name="TextBox 13">
            <a:extLst>
              <a:ext uri="{FF2B5EF4-FFF2-40B4-BE49-F238E27FC236}">
                <a16:creationId xmlns:a16="http://schemas.microsoft.com/office/drawing/2014/main" id="{129E7A74-37A6-E0E3-02D5-8E48AD5F29E7}"/>
              </a:ext>
            </a:extLst>
          </p:cNvPr>
          <p:cNvSpPr txBox="1"/>
          <p:nvPr/>
        </p:nvSpPr>
        <p:spPr>
          <a:xfrm>
            <a:off x="2190612" y="5598894"/>
            <a:ext cx="6687776" cy="646331"/>
          </a:xfrm>
          <a:prstGeom prst="rect">
            <a:avLst/>
          </a:prstGeom>
          <a:noFill/>
        </p:spPr>
        <p:txBody>
          <a:bodyPr wrap="square">
            <a:spAutoFit/>
          </a:bodyPr>
          <a:lstStyle/>
          <a:p>
            <a:r>
              <a:rPr lang="en-GB" dirty="0"/>
              <a:t>The base of the power triangle is 0.6 µs, making the energy = 0.5(500 W)(0.6 µs) 150 µJ.</a:t>
            </a:r>
          </a:p>
        </p:txBody>
      </p:sp>
      <p:grpSp>
        <p:nvGrpSpPr>
          <p:cNvPr id="19" name="Group 18">
            <a:extLst>
              <a:ext uri="{FF2B5EF4-FFF2-40B4-BE49-F238E27FC236}">
                <a16:creationId xmlns:a16="http://schemas.microsoft.com/office/drawing/2014/main" id="{CF79CE2D-B23D-6CE1-F403-35E8B37D5BB1}"/>
              </a:ext>
            </a:extLst>
          </p:cNvPr>
          <p:cNvGrpSpPr/>
          <p:nvPr/>
        </p:nvGrpSpPr>
        <p:grpSpPr>
          <a:xfrm>
            <a:off x="2632714" y="2551053"/>
            <a:ext cx="2751506" cy="1880979"/>
            <a:chOff x="5100839" y="4806793"/>
            <a:chExt cx="2751506" cy="1880979"/>
          </a:xfrm>
        </p:grpSpPr>
        <p:pic>
          <p:nvPicPr>
            <p:cNvPr id="8" name="Picture 7">
              <a:extLst>
                <a:ext uri="{FF2B5EF4-FFF2-40B4-BE49-F238E27FC236}">
                  <a16:creationId xmlns:a16="http://schemas.microsoft.com/office/drawing/2014/main" id="{79DEC71B-7A01-D31F-AAC7-536C62BE0BEF}"/>
                </a:ext>
              </a:extLst>
            </p:cNvPr>
            <p:cNvPicPr>
              <a:picLocks noChangeAspect="1"/>
            </p:cNvPicPr>
            <p:nvPr/>
          </p:nvPicPr>
          <p:blipFill>
            <a:blip r:embed="rId2"/>
            <a:stretch>
              <a:fillRect/>
            </a:stretch>
          </p:blipFill>
          <p:spPr>
            <a:xfrm>
              <a:off x="5100839" y="4806793"/>
              <a:ext cx="2751506" cy="1769748"/>
            </a:xfrm>
            <a:prstGeom prst="rect">
              <a:avLst/>
            </a:prstGeom>
          </p:spPr>
        </p:pic>
        <p:sp>
          <p:nvSpPr>
            <p:cNvPr id="16" name="TextBox 15">
              <a:extLst>
                <a:ext uri="{FF2B5EF4-FFF2-40B4-BE49-F238E27FC236}">
                  <a16:creationId xmlns:a16="http://schemas.microsoft.com/office/drawing/2014/main" id="{537854C6-11AC-6ECB-37D4-55B59BC3FD90}"/>
                </a:ext>
              </a:extLst>
            </p:cNvPr>
            <p:cNvSpPr txBox="1"/>
            <p:nvPr/>
          </p:nvSpPr>
          <p:spPr>
            <a:xfrm>
              <a:off x="6317026" y="6417747"/>
              <a:ext cx="572502" cy="261610"/>
            </a:xfrm>
            <a:prstGeom prst="rect">
              <a:avLst/>
            </a:prstGeom>
            <a:noFill/>
          </p:spPr>
          <p:txBody>
            <a:bodyPr wrap="square">
              <a:spAutoFit/>
            </a:bodyPr>
            <a:lstStyle/>
            <a:p>
              <a:r>
                <a:rPr lang="en-GB" sz="1100" dirty="0"/>
                <a:t>0.1µs</a:t>
              </a:r>
            </a:p>
          </p:txBody>
        </p:sp>
        <p:sp>
          <p:nvSpPr>
            <p:cNvPr id="17" name="TextBox 16">
              <a:extLst>
                <a:ext uri="{FF2B5EF4-FFF2-40B4-BE49-F238E27FC236}">
                  <a16:creationId xmlns:a16="http://schemas.microsoft.com/office/drawing/2014/main" id="{FBD280A5-CE2C-9496-17DC-07D37307A466}"/>
                </a:ext>
              </a:extLst>
            </p:cNvPr>
            <p:cNvSpPr txBox="1"/>
            <p:nvPr/>
          </p:nvSpPr>
          <p:spPr>
            <a:xfrm>
              <a:off x="6734253" y="6426162"/>
              <a:ext cx="572502" cy="261610"/>
            </a:xfrm>
            <a:prstGeom prst="rect">
              <a:avLst/>
            </a:prstGeom>
            <a:noFill/>
          </p:spPr>
          <p:txBody>
            <a:bodyPr wrap="square">
              <a:spAutoFit/>
            </a:bodyPr>
            <a:lstStyle/>
            <a:p>
              <a:r>
                <a:rPr lang="en-GB" sz="1100" dirty="0"/>
                <a:t>0.5µs</a:t>
              </a:r>
            </a:p>
          </p:txBody>
        </p:sp>
      </p:grpSp>
      <p:pic>
        <p:nvPicPr>
          <p:cNvPr id="18" name="Picture 17">
            <a:extLst>
              <a:ext uri="{FF2B5EF4-FFF2-40B4-BE49-F238E27FC236}">
                <a16:creationId xmlns:a16="http://schemas.microsoft.com/office/drawing/2014/main" id="{565420F6-9E36-2EBD-88A0-051811629030}"/>
              </a:ext>
            </a:extLst>
          </p:cNvPr>
          <p:cNvPicPr>
            <a:picLocks noChangeAspect="1"/>
          </p:cNvPicPr>
          <p:nvPr/>
        </p:nvPicPr>
        <p:blipFill>
          <a:blip r:embed="rId3"/>
          <a:stretch>
            <a:fillRect/>
          </a:stretch>
        </p:blipFill>
        <p:spPr>
          <a:xfrm>
            <a:off x="155185" y="2870195"/>
            <a:ext cx="1873414" cy="3080325"/>
          </a:xfrm>
          <a:prstGeom prst="rect">
            <a:avLst/>
          </a:prstGeom>
        </p:spPr>
      </p:pic>
    </p:spTree>
    <p:extLst>
      <p:ext uri="{BB962C8B-B14F-4D97-AF65-F5344CB8AC3E}">
        <p14:creationId xmlns:p14="http://schemas.microsoft.com/office/powerpoint/2010/main" val="1515210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3CBBE7-91F6-B6E4-4988-EAD9FF3484F1}"/>
              </a:ext>
            </a:extLst>
          </p:cNvPr>
          <p:cNvSpPr>
            <a:spLocks noGrp="1"/>
          </p:cNvSpPr>
          <p:nvPr>
            <p:ph type="sldNum" sz="quarter" idx="12"/>
          </p:nvPr>
        </p:nvSpPr>
        <p:spPr/>
        <p:txBody>
          <a:bodyPr/>
          <a:lstStyle/>
          <a:p>
            <a:fld id="{C398351E-2C11-9849-9B44-6122DA96ABF2}" type="slidenum">
              <a:rPr lang="en-US" altLang="en-US" smtClean="0"/>
              <a:pPr/>
              <a:t>21</a:t>
            </a:fld>
            <a:endParaRPr lang="en-US" altLang="en-US"/>
          </a:p>
        </p:txBody>
      </p:sp>
      <p:sp>
        <p:nvSpPr>
          <p:cNvPr id="3" name="TextBox 2">
            <a:extLst>
              <a:ext uri="{FF2B5EF4-FFF2-40B4-BE49-F238E27FC236}">
                <a16:creationId xmlns:a16="http://schemas.microsoft.com/office/drawing/2014/main" id="{381D1894-6F04-E871-CE70-3B545C311D4D}"/>
              </a:ext>
            </a:extLst>
          </p:cNvPr>
          <p:cNvSpPr txBox="1"/>
          <p:nvPr/>
        </p:nvSpPr>
        <p:spPr>
          <a:xfrm>
            <a:off x="252548" y="287384"/>
            <a:ext cx="4066049" cy="369332"/>
          </a:xfrm>
          <a:prstGeom prst="rect">
            <a:avLst/>
          </a:prstGeom>
          <a:noFill/>
        </p:spPr>
        <p:txBody>
          <a:bodyPr wrap="none" rtlCol="0">
            <a:spAutoFit/>
          </a:bodyPr>
          <a:lstStyle/>
          <a:p>
            <a:r>
              <a:rPr lang="en-GB" b="1" dirty="0"/>
              <a:t>Turn off Snubber - Problem Solving</a:t>
            </a:r>
          </a:p>
        </p:txBody>
      </p:sp>
      <p:sp>
        <p:nvSpPr>
          <p:cNvPr id="5" name="TextBox 4">
            <a:extLst>
              <a:ext uri="{FF2B5EF4-FFF2-40B4-BE49-F238E27FC236}">
                <a16:creationId xmlns:a16="http://schemas.microsoft.com/office/drawing/2014/main" id="{2837AF67-B2D2-0703-4A3B-803E1EF9C9D1}"/>
              </a:ext>
            </a:extLst>
          </p:cNvPr>
          <p:cNvSpPr txBox="1"/>
          <p:nvPr/>
        </p:nvSpPr>
        <p:spPr>
          <a:xfrm>
            <a:off x="265611" y="665224"/>
            <a:ext cx="8612777" cy="1477328"/>
          </a:xfrm>
          <a:prstGeom prst="rect">
            <a:avLst/>
          </a:prstGeom>
          <a:noFill/>
        </p:spPr>
        <p:txBody>
          <a:bodyPr wrap="square">
            <a:spAutoFit/>
          </a:bodyPr>
          <a:lstStyle/>
          <a:p>
            <a:r>
              <a:rPr lang="en-GB" dirty="0"/>
              <a:t>The converter and snubber has V</a:t>
            </a:r>
            <a:r>
              <a:rPr lang="en-GB" baseline="-25000" dirty="0"/>
              <a:t>s</a:t>
            </a:r>
            <a:r>
              <a:rPr lang="en-GB" dirty="0"/>
              <a:t>  100 V and I</a:t>
            </a:r>
            <a:r>
              <a:rPr lang="en-GB" baseline="-25000" dirty="0"/>
              <a:t>L</a:t>
            </a:r>
            <a:r>
              <a:rPr lang="en-GB" dirty="0"/>
              <a:t>  5 A. The switching frequency is 100 kHz with a duty ratio of 50 percent, and the transistor turns off in 0.5µs. </a:t>
            </a:r>
            <a:r>
              <a:rPr lang="en-GB" b="1" dirty="0"/>
              <a:t>(a)</a:t>
            </a:r>
            <a:r>
              <a:rPr lang="en-GB" dirty="0"/>
              <a:t> Determine the turnoff losses without a snubber if the transistor voltage reaches Vs in 0.1µs. </a:t>
            </a:r>
            <a:r>
              <a:rPr lang="en-GB" b="1" dirty="0"/>
              <a:t>(b)</a:t>
            </a:r>
            <a:r>
              <a:rPr lang="en-GB" dirty="0"/>
              <a:t> Determine the transistor turnoff losses and the resistor power with the snubber added if 12.5 </a:t>
            </a:r>
            <a:r>
              <a:rPr lang="en-GB" dirty="0" err="1"/>
              <a:t>nF</a:t>
            </a:r>
            <a:r>
              <a:rPr lang="en-GB" dirty="0"/>
              <a:t> capacitor is used.</a:t>
            </a:r>
          </a:p>
        </p:txBody>
      </p:sp>
      <p:sp>
        <p:nvSpPr>
          <p:cNvPr id="9" name="TextBox 8">
            <a:extLst>
              <a:ext uri="{FF2B5EF4-FFF2-40B4-BE49-F238E27FC236}">
                <a16:creationId xmlns:a16="http://schemas.microsoft.com/office/drawing/2014/main" id="{C9CE4F02-2466-D092-7DCA-7E658BD1BE74}"/>
              </a:ext>
            </a:extLst>
          </p:cNvPr>
          <p:cNvSpPr txBox="1"/>
          <p:nvPr/>
        </p:nvSpPr>
        <p:spPr>
          <a:xfrm>
            <a:off x="265611" y="2338720"/>
            <a:ext cx="2025392" cy="369332"/>
          </a:xfrm>
          <a:prstGeom prst="rect">
            <a:avLst/>
          </a:prstGeom>
          <a:noFill/>
        </p:spPr>
        <p:txBody>
          <a:bodyPr wrap="square" rtlCol="0">
            <a:spAutoFit/>
          </a:bodyPr>
          <a:lstStyle/>
          <a:p>
            <a:r>
              <a:rPr lang="en-GB" b="1" dirty="0"/>
              <a:t>Solution:    (b)</a:t>
            </a:r>
          </a:p>
        </p:txBody>
      </p:sp>
      <p:pic>
        <p:nvPicPr>
          <p:cNvPr id="6" name="Picture 5">
            <a:extLst>
              <a:ext uri="{FF2B5EF4-FFF2-40B4-BE49-F238E27FC236}">
                <a16:creationId xmlns:a16="http://schemas.microsoft.com/office/drawing/2014/main" id="{9C7492B2-9FF1-E8D1-BDCF-EE39DC0472B9}"/>
              </a:ext>
            </a:extLst>
          </p:cNvPr>
          <p:cNvPicPr>
            <a:picLocks noChangeAspect="1"/>
          </p:cNvPicPr>
          <p:nvPr/>
        </p:nvPicPr>
        <p:blipFill>
          <a:blip r:embed="rId2"/>
          <a:stretch>
            <a:fillRect/>
          </a:stretch>
        </p:blipFill>
        <p:spPr>
          <a:xfrm>
            <a:off x="122881" y="3658007"/>
            <a:ext cx="4684252" cy="725566"/>
          </a:xfrm>
          <a:prstGeom prst="rect">
            <a:avLst/>
          </a:prstGeom>
        </p:spPr>
      </p:pic>
      <p:pic>
        <p:nvPicPr>
          <p:cNvPr id="7" name="Picture 6">
            <a:extLst>
              <a:ext uri="{FF2B5EF4-FFF2-40B4-BE49-F238E27FC236}">
                <a16:creationId xmlns:a16="http://schemas.microsoft.com/office/drawing/2014/main" id="{47A740FA-2577-0492-F0BF-C07AB76C927B}"/>
              </a:ext>
            </a:extLst>
          </p:cNvPr>
          <p:cNvPicPr>
            <a:picLocks noChangeAspect="1"/>
          </p:cNvPicPr>
          <p:nvPr/>
        </p:nvPicPr>
        <p:blipFill>
          <a:blip r:embed="rId3"/>
          <a:stretch>
            <a:fillRect/>
          </a:stretch>
        </p:blipFill>
        <p:spPr>
          <a:xfrm>
            <a:off x="5572621" y="2511141"/>
            <a:ext cx="2560755" cy="3744863"/>
          </a:xfrm>
          <a:prstGeom prst="rect">
            <a:avLst/>
          </a:prstGeom>
        </p:spPr>
      </p:pic>
    </p:spTree>
    <p:extLst>
      <p:ext uri="{BB962C8B-B14F-4D97-AF65-F5344CB8AC3E}">
        <p14:creationId xmlns:p14="http://schemas.microsoft.com/office/powerpoint/2010/main" val="2460541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A57178FF-93B0-2E47-88D0-5AD3F71D0D7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F1604E0-B0A1-3542-A78C-17C662FDF8F6}" type="slidenum">
              <a:rPr lang="en-US" altLang="en-US" sz="1400"/>
              <a:pPr>
                <a:spcBef>
                  <a:spcPct val="0"/>
                </a:spcBef>
                <a:buFontTx/>
                <a:buNone/>
              </a:pPr>
              <a:t>22</a:t>
            </a:fld>
            <a:endParaRPr lang="en-US" altLang="en-US" sz="1400"/>
          </a:p>
        </p:txBody>
      </p:sp>
      <p:sp>
        <p:nvSpPr>
          <p:cNvPr id="13327" name="Rectangle 16">
            <a:extLst>
              <a:ext uri="{FF2B5EF4-FFF2-40B4-BE49-F238E27FC236}">
                <a16:creationId xmlns:a16="http://schemas.microsoft.com/office/drawing/2014/main" id="{08EFB604-4DD1-864D-AF46-3D8E232D7AC6}"/>
              </a:ext>
            </a:extLst>
          </p:cNvPr>
          <p:cNvSpPr>
            <a:spLocks noChangeArrowheads="1"/>
          </p:cNvSpPr>
          <p:nvPr/>
        </p:nvSpPr>
        <p:spPr bwMode="auto">
          <a:xfrm>
            <a:off x="285977" y="216830"/>
            <a:ext cx="6312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1" dirty="0"/>
              <a:t>Polarized </a:t>
            </a:r>
            <a:r>
              <a:rPr lang="en-US" altLang="en-US" sz="2400" b="1" dirty="0">
                <a:solidFill>
                  <a:srgbClr val="3333FF"/>
                </a:solidFill>
              </a:rPr>
              <a:t>R-L </a:t>
            </a:r>
            <a:r>
              <a:rPr lang="en-US" altLang="en-US" sz="2400" b="1" dirty="0"/>
              <a:t>snubber – Turn-on Snubber</a:t>
            </a:r>
            <a:endParaRPr lang="en-GB" altLang="en-US" sz="2400" b="1" dirty="0"/>
          </a:p>
        </p:txBody>
      </p:sp>
      <p:sp>
        <p:nvSpPr>
          <p:cNvPr id="8" name="TextBox 7">
            <a:extLst>
              <a:ext uri="{FF2B5EF4-FFF2-40B4-BE49-F238E27FC236}">
                <a16:creationId xmlns:a16="http://schemas.microsoft.com/office/drawing/2014/main" id="{8A823B4D-DCBC-3D0D-DE0C-AC21101A03CA}"/>
              </a:ext>
            </a:extLst>
          </p:cNvPr>
          <p:cNvSpPr txBox="1"/>
          <p:nvPr/>
        </p:nvSpPr>
        <p:spPr>
          <a:xfrm flipH="1">
            <a:off x="1073962" y="5430007"/>
            <a:ext cx="1257758" cy="646331"/>
          </a:xfrm>
          <a:prstGeom prst="rect">
            <a:avLst/>
          </a:prstGeom>
          <a:noFill/>
        </p:spPr>
        <p:txBody>
          <a:bodyPr wrap="square" rtlCol="0">
            <a:spAutoFit/>
          </a:bodyPr>
          <a:lstStyle/>
          <a:p>
            <a:r>
              <a:rPr lang="en-GB" dirty="0"/>
              <a:t>Turn - ON Snubber</a:t>
            </a:r>
          </a:p>
        </p:txBody>
      </p:sp>
      <p:pic>
        <p:nvPicPr>
          <p:cNvPr id="5" name="Picture 4">
            <a:extLst>
              <a:ext uri="{FF2B5EF4-FFF2-40B4-BE49-F238E27FC236}">
                <a16:creationId xmlns:a16="http://schemas.microsoft.com/office/drawing/2014/main" id="{99834406-90BC-54C6-355C-2C5AE0ED4643}"/>
              </a:ext>
            </a:extLst>
          </p:cNvPr>
          <p:cNvPicPr>
            <a:picLocks noChangeAspect="1"/>
          </p:cNvPicPr>
          <p:nvPr/>
        </p:nvPicPr>
        <p:blipFill>
          <a:blip r:embed="rId2"/>
          <a:stretch>
            <a:fillRect/>
          </a:stretch>
        </p:blipFill>
        <p:spPr>
          <a:xfrm>
            <a:off x="527201" y="842276"/>
            <a:ext cx="2462887" cy="4587731"/>
          </a:xfrm>
          <a:prstGeom prst="rect">
            <a:avLst/>
          </a:prstGeom>
        </p:spPr>
      </p:pic>
      <p:sp>
        <p:nvSpPr>
          <p:cNvPr id="2" name="Rectangle 1">
            <a:extLst>
              <a:ext uri="{FF2B5EF4-FFF2-40B4-BE49-F238E27FC236}">
                <a16:creationId xmlns:a16="http://schemas.microsoft.com/office/drawing/2014/main" id="{0FD9CEE5-ACFF-CA11-F72F-9DD6F8C6732C}"/>
              </a:ext>
            </a:extLst>
          </p:cNvPr>
          <p:cNvSpPr/>
          <p:nvPr/>
        </p:nvSpPr>
        <p:spPr>
          <a:xfrm>
            <a:off x="1073962" y="2738741"/>
            <a:ext cx="1608279" cy="1568084"/>
          </a:xfrm>
          <a:prstGeom prst="rect">
            <a:avLst/>
          </a:prstGeom>
          <a:solidFill>
            <a:srgbClr val="FFC000">
              <a:alpha val="32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B690E2A6-ACD9-2E00-51F9-4C0481885565}"/>
              </a:ext>
            </a:extLst>
          </p:cNvPr>
          <p:cNvSpPr txBox="1"/>
          <p:nvPr/>
        </p:nvSpPr>
        <p:spPr>
          <a:xfrm>
            <a:off x="3724759" y="1305341"/>
            <a:ext cx="4572000" cy="4247317"/>
          </a:xfrm>
          <a:prstGeom prst="rect">
            <a:avLst/>
          </a:prstGeom>
          <a:noFill/>
        </p:spPr>
        <p:txBody>
          <a:bodyPr wrap="square">
            <a:spAutoFit/>
          </a:bodyPr>
          <a:lstStyle/>
          <a:p>
            <a:pPr marL="285750" indent="-285750" algn="just">
              <a:buFont typeface="Arial" panose="020B0604020202020204" pitchFamily="34" charset="0"/>
              <a:buChar char="•"/>
            </a:pPr>
            <a:r>
              <a:rPr lang="en-GB" dirty="0"/>
              <a:t>Turn-on snubbers protect the device from simultaneously high voltage and current during turn-on. </a:t>
            </a:r>
          </a:p>
          <a:p>
            <a:pPr marL="285750" indent="-285750" algn="just">
              <a:buFont typeface="Arial" panose="020B0604020202020204" pitchFamily="34" charset="0"/>
              <a:buChar char="•"/>
            </a:pPr>
            <a:r>
              <a:rPr lang="en-GB" dirty="0"/>
              <a:t>As with the turn-off snubber, the purpose of the turn-on snubber is to modify the voltage-current waveforms to reduce power loss. </a:t>
            </a:r>
          </a:p>
          <a:p>
            <a:pPr marL="285750" indent="-285750" algn="just">
              <a:buFont typeface="Arial" panose="020B0604020202020204" pitchFamily="34" charset="0"/>
              <a:buChar char="•"/>
            </a:pPr>
            <a:r>
              <a:rPr lang="en-GB" dirty="0"/>
              <a:t>An inductor in series with the transistor slows the rate of current rise and can reduce the overlap of high current and high voltage.</a:t>
            </a:r>
          </a:p>
          <a:p>
            <a:pPr marL="285750" indent="-285750" algn="just">
              <a:buFont typeface="Arial" panose="020B0604020202020204" pitchFamily="34" charset="0"/>
              <a:buChar char="•"/>
            </a:pPr>
            <a:r>
              <a:rPr lang="en-GB" dirty="0"/>
              <a:t>The snubber diode is off during turn-on. During turnoff, the energy stored in the snubber inductor is dissipated in the resistor.</a:t>
            </a:r>
          </a:p>
        </p:txBody>
      </p:sp>
    </p:spTree>
    <p:extLst>
      <p:ext uri="{BB962C8B-B14F-4D97-AF65-F5344CB8AC3E}">
        <p14:creationId xmlns:p14="http://schemas.microsoft.com/office/powerpoint/2010/main" val="3861517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2384B9-B1A5-64A0-8AC2-6CF5B046AC18}"/>
              </a:ext>
            </a:extLst>
          </p:cNvPr>
          <p:cNvPicPr>
            <a:picLocks noChangeAspect="1"/>
          </p:cNvPicPr>
          <p:nvPr/>
        </p:nvPicPr>
        <p:blipFill>
          <a:blip r:embed="rId2"/>
          <a:stretch>
            <a:fillRect/>
          </a:stretch>
        </p:blipFill>
        <p:spPr>
          <a:xfrm>
            <a:off x="6693501" y="37968"/>
            <a:ext cx="2018825" cy="3760556"/>
          </a:xfrm>
          <a:prstGeom prst="rect">
            <a:avLst/>
          </a:prstGeom>
        </p:spPr>
      </p:pic>
      <p:sp>
        <p:nvSpPr>
          <p:cNvPr id="30722" name="Slide Number Placeholder 3">
            <a:extLst>
              <a:ext uri="{FF2B5EF4-FFF2-40B4-BE49-F238E27FC236}">
                <a16:creationId xmlns:a16="http://schemas.microsoft.com/office/drawing/2014/main" id="{95F524B2-CEB1-5E4D-9212-38988CD2048A}"/>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48AB5F9-5806-6947-BDD1-F46AE363A0CD}" type="slidenum">
              <a:rPr lang="en-US" altLang="en-US" sz="1400"/>
              <a:pPr>
                <a:spcBef>
                  <a:spcPct val="0"/>
                </a:spcBef>
                <a:buFontTx/>
                <a:buNone/>
              </a:pPr>
              <a:t>23</a:t>
            </a:fld>
            <a:endParaRPr lang="en-US" altLang="en-US" sz="1400"/>
          </a:p>
        </p:txBody>
      </p:sp>
      <p:sp>
        <p:nvSpPr>
          <p:cNvPr id="30732" name="Text Box 20">
            <a:extLst>
              <a:ext uri="{FF2B5EF4-FFF2-40B4-BE49-F238E27FC236}">
                <a16:creationId xmlns:a16="http://schemas.microsoft.com/office/drawing/2014/main" id="{9BCCBF1B-0B94-6E42-B432-83ABDAB6FBBC}"/>
              </a:ext>
            </a:extLst>
          </p:cNvPr>
          <p:cNvSpPr txBox="1">
            <a:spLocks noChangeArrowheads="1"/>
          </p:cNvSpPr>
          <p:nvPr/>
        </p:nvSpPr>
        <p:spPr bwMode="auto">
          <a:xfrm>
            <a:off x="2085975" y="342265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latin typeface="Times New Roman" panose="02020603050405020304" pitchFamily="18" charset="0"/>
              </a:rPr>
              <a:t>I</a:t>
            </a:r>
            <a:endParaRPr lang="en-US" altLang="en-US" sz="1800">
              <a:latin typeface="Times New Roman" panose="02020603050405020304" pitchFamily="18" charset="0"/>
            </a:endParaRPr>
          </a:p>
        </p:txBody>
      </p:sp>
      <p:sp>
        <p:nvSpPr>
          <p:cNvPr id="30746" name="Text Box 43">
            <a:extLst>
              <a:ext uri="{FF2B5EF4-FFF2-40B4-BE49-F238E27FC236}">
                <a16:creationId xmlns:a16="http://schemas.microsoft.com/office/drawing/2014/main" id="{359F7CBC-4C5F-B94E-8455-DD921E6BE6C9}"/>
              </a:ext>
            </a:extLst>
          </p:cNvPr>
          <p:cNvSpPr txBox="1">
            <a:spLocks noChangeArrowheads="1"/>
          </p:cNvSpPr>
          <p:nvPr/>
        </p:nvSpPr>
        <p:spPr bwMode="auto">
          <a:xfrm>
            <a:off x="6950150" y="2379441"/>
            <a:ext cx="61747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dirty="0"/>
              <a:t>50</a:t>
            </a:r>
            <a:r>
              <a:rPr lang="el-GR" altLang="en-US" sz="1400" dirty="0">
                <a:cs typeface="Arial" panose="020B0604020202020204" pitchFamily="34" charset="0"/>
              </a:rPr>
              <a:t>μ</a:t>
            </a:r>
            <a:r>
              <a:rPr lang="en-GB" altLang="en-US" sz="1400" dirty="0">
                <a:cs typeface="Arial" panose="020B0604020202020204" pitchFamily="34" charset="0"/>
              </a:rPr>
              <a:t>H</a:t>
            </a:r>
            <a:endParaRPr lang="el-GR" altLang="en-US" sz="1400" baseline="-25000" dirty="0">
              <a:cs typeface="Arial" panose="020B0604020202020204" pitchFamily="34" charset="0"/>
            </a:endParaRPr>
          </a:p>
        </p:txBody>
      </p:sp>
      <p:sp>
        <p:nvSpPr>
          <p:cNvPr id="30751" name="Text Box 48">
            <a:extLst>
              <a:ext uri="{FF2B5EF4-FFF2-40B4-BE49-F238E27FC236}">
                <a16:creationId xmlns:a16="http://schemas.microsoft.com/office/drawing/2014/main" id="{C2FA85E6-0074-E542-AF1C-AEC7DE6B785D}"/>
              </a:ext>
            </a:extLst>
          </p:cNvPr>
          <p:cNvSpPr txBox="1">
            <a:spLocks noChangeArrowheads="1"/>
          </p:cNvSpPr>
          <p:nvPr/>
        </p:nvSpPr>
        <p:spPr bwMode="auto">
          <a:xfrm>
            <a:off x="153988" y="219165"/>
            <a:ext cx="6070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t>Example</a:t>
            </a:r>
          </a:p>
          <a:p>
            <a:pPr eaLnBrk="1" hangingPunct="1">
              <a:spcBef>
                <a:spcPct val="50000"/>
              </a:spcBef>
              <a:buFontTx/>
              <a:buNone/>
            </a:pPr>
            <a:r>
              <a:rPr lang="en-GB" altLang="en-US" sz="1800" dirty="0"/>
              <a:t>In the circuit shown, the switch operates at 100KHz. The supply voltage is </a:t>
            </a:r>
            <a:r>
              <a:rPr lang="en-GB" altLang="en-US" sz="1800" dirty="0">
                <a:solidFill>
                  <a:srgbClr val="FF0000"/>
                </a:solidFill>
              </a:rPr>
              <a:t>200V</a:t>
            </a:r>
            <a:r>
              <a:rPr lang="en-GB" altLang="en-US" sz="1800" dirty="0"/>
              <a:t>. If the peak current in the switch is </a:t>
            </a:r>
            <a:r>
              <a:rPr lang="en-GB" altLang="en-US" sz="1800" dirty="0">
                <a:solidFill>
                  <a:srgbClr val="FF0000"/>
                </a:solidFill>
              </a:rPr>
              <a:t>2 amps</a:t>
            </a:r>
            <a:r>
              <a:rPr lang="en-GB" altLang="en-US" sz="1800" dirty="0"/>
              <a:t>, what power is dissipated in the resistor when switch is open?</a:t>
            </a:r>
          </a:p>
          <a:p>
            <a:pPr eaLnBrk="1" hangingPunct="1">
              <a:spcBef>
                <a:spcPct val="50000"/>
              </a:spcBef>
              <a:buFontTx/>
              <a:buNone/>
            </a:pPr>
            <a:r>
              <a:rPr lang="en-GB" altLang="en-US" sz="1800" dirty="0"/>
              <a:t>What is the rate of rise of current limited to if the voltage</a:t>
            </a:r>
          </a:p>
          <a:p>
            <a:pPr eaLnBrk="1" hangingPunct="1">
              <a:spcBef>
                <a:spcPct val="0"/>
              </a:spcBef>
              <a:buFontTx/>
              <a:buNone/>
            </a:pPr>
            <a:r>
              <a:rPr lang="en-GB" altLang="en-US" sz="1800" dirty="0"/>
              <a:t>at </a:t>
            </a:r>
            <a:r>
              <a:rPr lang="en-GB" altLang="en-US" sz="1800" dirty="0">
                <a:solidFill>
                  <a:srgbClr val="FF0000"/>
                </a:solidFill>
              </a:rPr>
              <a:t>A</a:t>
            </a:r>
            <a:r>
              <a:rPr lang="en-GB" altLang="en-US" sz="1800" dirty="0"/>
              <a:t> is 200V when the switch is closed?</a:t>
            </a:r>
          </a:p>
        </p:txBody>
      </p:sp>
      <p:sp>
        <p:nvSpPr>
          <p:cNvPr id="30757" name="AutoShape 59">
            <a:extLst>
              <a:ext uri="{FF2B5EF4-FFF2-40B4-BE49-F238E27FC236}">
                <a16:creationId xmlns:a16="http://schemas.microsoft.com/office/drawing/2014/main" id="{3BED3B16-1949-B540-AA41-51DD1E38401F}"/>
              </a:ext>
            </a:extLst>
          </p:cNvPr>
          <p:cNvSpPr>
            <a:spLocks/>
          </p:cNvSpPr>
          <p:nvPr/>
        </p:nvSpPr>
        <p:spPr bwMode="auto">
          <a:xfrm rot="-5400000">
            <a:off x="9567069" y="5784616"/>
            <a:ext cx="152400" cy="998537"/>
          </a:xfrm>
          <a:prstGeom prst="leftBrace">
            <a:avLst>
              <a:gd name="adj1" fmla="val 5460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0758" name="Text Box 60">
            <a:extLst>
              <a:ext uri="{FF2B5EF4-FFF2-40B4-BE49-F238E27FC236}">
                <a16:creationId xmlns:a16="http://schemas.microsoft.com/office/drawing/2014/main" id="{26C1CC8E-D67C-2F45-811E-5D4A3B0F4FC9}"/>
              </a:ext>
            </a:extLst>
          </p:cNvPr>
          <p:cNvSpPr txBox="1">
            <a:spLocks noChangeArrowheads="1"/>
          </p:cNvSpPr>
          <p:nvPr/>
        </p:nvSpPr>
        <p:spPr bwMode="auto">
          <a:xfrm>
            <a:off x="8894763" y="6354763"/>
            <a:ext cx="1428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Voltage at </a:t>
            </a:r>
            <a:r>
              <a:rPr lang="en-GB" altLang="en-US" sz="1800" dirty="0">
                <a:solidFill>
                  <a:srgbClr val="FF0000"/>
                </a:solidFill>
              </a:rPr>
              <a:t>A</a:t>
            </a:r>
            <a:endParaRPr lang="en-US" altLang="en-US" sz="1800" dirty="0">
              <a:solidFill>
                <a:srgbClr val="FF0000"/>
              </a:solidFill>
            </a:endParaRPr>
          </a:p>
        </p:txBody>
      </p:sp>
      <p:sp>
        <p:nvSpPr>
          <p:cNvPr id="30726" name="Text Box 5">
            <a:extLst>
              <a:ext uri="{FF2B5EF4-FFF2-40B4-BE49-F238E27FC236}">
                <a16:creationId xmlns:a16="http://schemas.microsoft.com/office/drawing/2014/main" id="{ED884A38-3F0B-2046-946F-1ACA90BA8312}"/>
              </a:ext>
            </a:extLst>
          </p:cNvPr>
          <p:cNvSpPr txBox="1">
            <a:spLocks noChangeArrowheads="1"/>
          </p:cNvSpPr>
          <p:nvPr/>
        </p:nvSpPr>
        <p:spPr bwMode="auto">
          <a:xfrm>
            <a:off x="8268924" y="1970995"/>
            <a:ext cx="68640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dirty="0"/>
              <a:t>=68</a:t>
            </a:r>
            <a:r>
              <a:rPr lang="el-GR" altLang="en-US" sz="1600" dirty="0">
                <a:cs typeface="Arial" panose="020B0604020202020204" pitchFamily="34" charset="0"/>
              </a:rPr>
              <a:t>Ω</a:t>
            </a:r>
          </a:p>
        </p:txBody>
      </p:sp>
      <p:sp>
        <p:nvSpPr>
          <p:cNvPr id="30756" name="Text Box 53">
            <a:extLst>
              <a:ext uri="{FF2B5EF4-FFF2-40B4-BE49-F238E27FC236}">
                <a16:creationId xmlns:a16="http://schemas.microsoft.com/office/drawing/2014/main" id="{3DE51927-C1A9-EB48-8279-1A1C965F27B1}"/>
              </a:ext>
            </a:extLst>
          </p:cNvPr>
          <p:cNvSpPr txBox="1">
            <a:spLocks noChangeArrowheads="1"/>
          </p:cNvSpPr>
          <p:nvPr/>
        </p:nvSpPr>
        <p:spPr bwMode="auto">
          <a:xfrm>
            <a:off x="7171606" y="1277024"/>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solidFill>
                  <a:srgbClr val="FF0000"/>
                </a:solidFill>
              </a:rPr>
              <a:t>A</a:t>
            </a:r>
            <a:endParaRPr lang="en-US" altLang="en-US" sz="1800" dirty="0">
              <a:solidFill>
                <a:srgbClr val="FF0000"/>
              </a:solidFill>
            </a:endParaRPr>
          </a:p>
        </p:txBody>
      </p:sp>
      <p:sp>
        <p:nvSpPr>
          <p:cNvPr id="3" name="Rectangle 2">
            <a:extLst>
              <a:ext uri="{FF2B5EF4-FFF2-40B4-BE49-F238E27FC236}">
                <a16:creationId xmlns:a16="http://schemas.microsoft.com/office/drawing/2014/main" id="{260FE73E-CEFF-4FB8-BF41-D2CDD5FF5B78}"/>
              </a:ext>
            </a:extLst>
          </p:cNvPr>
          <p:cNvSpPr/>
          <p:nvPr/>
        </p:nvSpPr>
        <p:spPr>
          <a:xfrm>
            <a:off x="2189163" y="3490230"/>
            <a:ext cx="46037" cy="255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6" name="Text Box 47">
            <a:extLst>
              <a:ext uri="{FF2B5EF4-FFF2-40B4-BE49-F238E27FC236}">
                <a16:creationId xmlns:a16="http://schemas.microsoft.com/office/drawing/2014/main" id="{550A5420-85E9-119D-CAEE-AFDFCFAED261}"/>
              </a:ext>
            </a:extLst>
          </p:cNvPr>
          <p:cNvSpPr txBox="1">
            <a:spLocks noChangeArrowheads="1"/>
          </p:cNvSpPr>
          <p:nvPr/>
        </p:nvSpPr>
        <p:spPr bwMode="auto">
          <a:xfrm>
            <a:off x="7567627" y="2859087"/>
            <a:ext cx="1635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dirty="0" err="1">
                <a:latin typeface="Times New Roman" panose="02020603050405020304" pitchFamily="18" charset="0"/>
              </a:rPr>
              <a:t>I</a:t>
            </a:r>
            <a:r>
              <a:rPr lang="en-GB" altLang="en-US" sz="1800" i="1" baseline="-25000" dirty="0" err="1">
                <a:latin typeface="Times New Roman" panose="02020603050405020304" pitchFamily="18" charset="0"/>
              </a:rPr>
              <a:t>Switch</a:t>
            </a:r>
            <a:r>
              <a:rPr lang="en-GB" altLang="en-US" sz="1800" i="1" dirty="0">
                <a:latin typeface="Times New Roman" panose="02020603050405020304" pitchFamily="18" charset="0"/>
              </a:rPr>
              <a:t>=2A</a:t>
            </a:r>
          </a:p>
          <a:p>
            <a:pPr eaLnBrk="1" hangingPunct="1">
              <a:spcBef>
                <a:spcPct val="0"/>
              </a:spcBef>
              <a:buFontTx/>
              <a:buNone/>
            </a:pPr>
            <a:r>
              <a:rPr lang="en-GB" altLang="en-US" sz="1800" i="1" dirty="0" err="1">
                <a:latin typeface="Times New Roman" panose="02020603050405020304" pitchFamily="18" charset="0"/>
              </a:rPr>
              <a:t>F</a:t>
            </a:r>
            <a:r>
              <a:rPr lang="en-GB" altLang="en-US" sz="1800" i="1" baseline="-25000" dirty="0" err="1">
                <a:latin typeface="Times New Roman" panose="02020603050405020304" pitchFamily="18" charset="0"/>
              </a:rPr>
              <a:t>Switch</a:t>
            </a:r>
            <a:r>
              <a:rPr lang="en-GB" altLang="en-US" sz="1800" i="1" dirty="0">
                <a:latin typeface="Times New Roman" panose="02020603050405020304" pitchFamily="18" charset="0"/>
              </a:rPr>
              <a:t>=100KHz</a:t>
            </a:r>
            <a:endParaRPr lang="en-US" altLang="en-US" sz="1800" i="1" baseline="-250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5F9D006-4577-AF0A-8E34-F48F1310D269}"/>
                  </a:ext>
                </a:extLst>
              </p:cNvPr>
              <p:cNvSpPr txBox="1"/>
              <p:nvPr/>
            </p:nvSpPr>
            <p:spPr>
              <a:xfrm>
                <a:off x="45874" y="2658739"/>
                <a:ext cx="5890749"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𝐼𝑛𝑑𝑢𝑐𝑡𝑜𝑟</m:t>
                      </m:r>
                      <m:r>
                        <a:rPr lang="en-GB" b="0" i="1" smtClean="0">
                          <a:solidFill>
                            <a:schemeClr val="tx1"/>
                          </a:solidFill>
                          <a:latin typeface="Cambria Math" panose="02040503050406030204" pitchFamily="18" charset="0"/>
                        </a:rPr>
                        <m:t> </m:t>
                      </m:r>
                      <m:r>
                        <a:rPr lang="en-GB" b="0" i="1" smtClean="0">
                          <a:solidFill>
                            <a:schemeClr val="tx1"/>
                          </a:solidFill>
                          <a:latin typeface="Cambria Math" panose="02040503050406030204" pitchFamily="18" charset="0"/>
                        </a:rPr>
                        <m:t>𝐸𝑛𝑒𝑟𝑔𝑦</m:t>
                      </m:r>
                      <m:r>
                        <a:rPr lang="en-GB" b="0" i="1" smtClean="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a:solidFill>
                                <a:schemeClr val="tx1"/>
                              </a:solidFill>
                              <a:latin typeface="Cambria Math" panose="02040503050406030204" pitchFamily="18" charset="0"/>
                            </a:rPr>
                            <m:t> </m:t>
                          </m:r>
                          <m:r>
                            <a:rPr lang="en-GB" b="0" i="1" smtClean="0">
                              <a:solidFill>
                                <a:schemeClr val="tx1"/>
                              </a:solidFill>
                              <a:latin typeface="Cambria Math" panose="02040503050406030204" pitchFamily="18" charset="0"/>
                            </a:rPr>
                            <m:t>1</m:t>
                          </m:r>
                        </m:num>
                        <m:den>
                          <m:r>
                            <a:rPr lang="en-GB" b="0" i="1" smtClean="0">
                              <a:solidFill>
                                <a:schemeClr val="tx1"/>
                              </a:solidFill>
                              <a:latin typeface="Cambria Math" panose="02040503050406030204" pitchFamily="18" charset="0"/>
                            </a:rPr>
                            <m:t>2</m:t>
                          </m:r>
                        </m:den>
                      </m:f>
                      <m:r>
                        <a:rPr lang="en-GB" b="0" i="1" smtClean="0">
                          <a:solidFill>
                            <a:schemeClr val="tx1"/>
                          </a:solidFill>
                          <a:latin typeface="Cambria Math" panose="02040503050406030204" pitchFamily="18" charset="0"/>
                        </a:rPr>
                        <m:t>𝐿𝐼</m:t>
                      </m:r>
                      <m:r>
                        <a:rPr lang="en-GB" b="0" i="1" baseline="30000" smtClean="0">
                          <a:solidFill>
                            <a:schemeClr val="tx1"/>
                          </a:solidFill>
                          <a:latin typeface="Cambria Math" panose="02040503050406030204" pitchFamily="18" charset="0"/>
                        </a:rPr>
                        <m:t>2 </m:t>
                      </m:r>
                      <m:r>
                        <a:rPr lang="en-GB" i="1">
                          <a:solidFill>
                            <a:schemeClr val="tx1"/>
                          </a:solidFill>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a:latin typeface="Cambria Math" panose="02040503050406030204" pitchFamily="18" charset="0"/>
                            </a:rPr>
                            <m:t> </m:t>
                          </m:r>
                          <m:r>
                            <a:rPr lang="en-GB" i="1">
                              <a:latin typeface="Cambria Math" panose="02040503050406030204" pitchFamily="18" charset="0"/>
                            </a:rPr>
                            <m:t>1</m:t>
                          </m:r>
                        </m:num>
                        <m:den>
                          <m:r>
                            <a:rPr lang="en-GB" i="1">
                              <a:latin typeface="Cambria Math" panose="02040503050406030204" pitchFamily="18" charset="0"/>
                            </a:rPr>
                            <m:t>2</m:t>
                          </m:r>
                        </m:den>
                      </m:f>
                      <m:r>
                        <a:rPr lang="en-US" i="1">
                          <a:latin typeface="Cambria Math" panose="02040503050406030204" pitchFamily="18" charset="0"/>
                          <a:ea typeface="SimSun" panose="02010600030101010101" pitchFamily="2" charset="-122"/>
                          <a:cs typeface="Times New Roman" panose="02020603050405020304" pitchFamily="18" charset="0"/>
                        </a:rPr>
                        <m:t>×</m:t>
                      </m:r>
                      <m:r>
                        <a:rPr lang="en-GB" b="0" i="1" smtClean="0">
                          <a:latin typeface="Cambria Math" panose="02040503050406030204" pitchFamily="18" charset="0"/>
                          <a:ea typeface="SimSun" panose="02010600030101010101" pitchFamily="2" charset="-122"/>
                          <a:cs typeface="Times New Roman" panose="02020603050405020304" pitchFamily="18" charset="0"/>
                        </a:rPr>
                        <m:t>50µ</m:t>
                      </m:r>
                      <m:r>
                        <a:rPr lang="en-GB" b="0" i="1" smtClean="0">
                          <a:latin typeface="Cambria Math" panose="02040503050406030204" pitchFamily="18" charset="0"/>
                          <a:ea typeface="SimSun" panose="02010600030101010101" pitchFamily="2" charset="-122"/>
                          <a:cs typeface="Times New Roman" panose="02020603050405020304" pitchFamily="18" charset="0"/>
                        </a:rPr>
                        <m:t>𝐻</m:t>
                      </m:r>
                      <m:r>
                        <a:rPr lang="en-US" i="1">
                          <a:latin typeface="Cambria Math" panose="02040503050406030204" pitchFamily="18" charset="0"/>
                          <a:ea typeface="SimSun" panose="02010600030101010101" pitchFamily="2" charset="-122"/>
                          <a:cs typeface="Times New Roman" panose="02020603050405020304" pitchFamily="18" charset="0"/>
                        </a:rPr>
                        <m:t>×</m:t>
                      </m:r>
                      <m:r>
                        <a:rPr lang="en-GB" b="0" i="1" smtClean="0">
                          <a:latin typeface="Cambria Math" panose="02040503050406030204" pitchFamily="18" charset="0"/>
                          <a:ea typeface="SimSun" panose="02010600030101010101" pitchFamily="2" charset="-122"/>
                          <a:cs typeface="Times New Roman" panose="02020603050405020304" pitchFamily="18" charset="0"/>
                        </a:rPr>
                        <m:t>2</m:t>
                      </m:r>
                      <m:r>
                        <a:rPr lang="en-US" i="1">
                          <a:latin typeface="Cambria Math" panose="02040503050406030204" pitchFamily="18" charset="0"/>
                          <a:ea typeface="SimSun" panose="02010600030101010101" pitchFamily="2" charset="-122"/>
                          <a:cs typeface="Times New Roman" panose="02020603050405020304" pitchFamily="18" charset="0"/>
                        </a:rPr>
                        <m:t>×</m:t>
                      </m:r>
                      <m:r>
                        <a:rPr lang="en-GB" b="0" i="1" smtClean="0">
                          <a:latin typeface="Cambria Math" panose="02040503050406030204" pitchFamily="18" charset="0"/>
                          <a:ea typeface="SimSun" panose="02010600030101010101" pitchFamily="2" charset="-122"/>
                          <a:cs typeface="Times New Roman" panose="02020603050405020304" pitchFamily="18" charset="0"/>
                        </a:rPr>
                        <m:t>2=100</m:t>
                      </m:r>
                      <m:r>
                        <a:rPr lang="en-GB" i="1">
                          <a:latin typeface="Cambria Math" panose="02040503050406030204" pitchFamily="18" charset="0"/>
                          <a:ea typeface="SimSun" panose="02010600030101010101" pitchFamily="2" charset="-122"/>
                          <a:cs typeface="Times New Roman" panose="02020603050405020304" pitchFamily="18" charset="0"/>
                        </a:rPr>
                        <m:t>µ</m:t>
                      </m:r>
                      <m:r>
                        <m:rPr>
                          <m:sty m:val="p"/>
                        </m:rPr>
                        <a:rPr lang="en-GB" b="0" i="0" smtClean="0">
                          <a:latin typeface="Cambria Math" panose="02040503050406030204" pitchFamily="18" charset="0"/>
                          <a:ea typeface="SimSun" panose="02010600030101010101" pitchFamily="2" charset="-122"/>
                          <a:cs typeface="Times New Roman" panose="02020603050405020304" pitchFamily="18" charset="0"/>
                        </a:rPr>
                        <m:t>J</m:t>
                      </m:r>
                    </m:oMath>
                  </m:oMathPara>
                </a14:m>
                <a:endParaRPr lang="en-GB" dirty="0"/>
              </a:p>
            </p:txBody>
          </p:sp>
        </mc:Choice>
        <mc:Fallback xmlns="">
          <p:sp>
            <p:nvSpPr>
              <p:cNvPr id="9" name="TextBox 8">
                <a:extLst>
                  <a:ext uri="{FF2B5EF4-FFF2-40B4-BE49-F238E27FC236}">
                    <a16:creationId xmlns:a16="http://schemas.microsoft.com/office/drawing/2014/main" id="{F5F9D006-4577-AF0A-8E34-F48F1310D269}"/>
                  </a:ext>
                </a:extLst>
              </p:cNvPr>
              <p:cNvSpPr txBox="1">
                <a:spLocks noRot="1" noChangeAspect="1" noMove="1" noResize="1" noEditPoints="1" noAdjustHandles="1" noChangeArrowheads="1" noChangeShapeType="1" noTextEdit="1"/>
              </p:cNvSpPr>
              <p:nvPr/>
            </p:nvSpPr>
            <p:spPr>
              <a:xfrm>
                <a:off x="45874" y="2658739"/>
                <a:ext cx="5890749" cy="61093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CEE9AB7-026E-5100-48BE-3E847970E497}"/>
                  </a:ext>
                </a:extLst>
              </p:cNvPr>
              <p:cNvSpPr txBox="1"/>
              <p:nvPr/>
            </p:nvSpPr>
            <p:spPr>
              <a:xfrm>
                <a:off x="121416" y="3456487"/>
                <a:ext cx="5890749" cy="646331"/>
              </a:xfrm>
              <a:prstGeom prst="rect">
                <a:avLst/>
              </a:prstGeom>
              <a:noFill/>
            </p:spPr>
            <p:txBody>
              <a:bodyPr wrap="square">
                <a:spAutoFit/>
              </a:bodyPr>
              <a:lstStyle/>
              <a:p>
                <a14:m>
                  <m:oMath xmlns:m="http://schemas.openxmlformats.org/officeDocument/2006/math">
                    <m:r>
                      <a:rPr lang="en-GB" i="1" smtClean="0">
                        <a:solidFill>
                          <a:schemeClr val="tx1"/>
                        </a:solidFill>
                        <a:latin typeface="Cambria Math" panose="02040503050406030204" pitchFamily="18" charset="0"/>
                      </a:rPr>
                      <m:t>𝑃𝑜𝑤𝑒𝑟</m:t>
                    </m:r>
                    <m:r>
                      <a:rPr lang="en-GB" i="1" smtClean="0">
                        <a:solidFill>
                          <a:schemeClr val="tx1"/>
                        </a:solidFill>
                        <a:latin typeface="Cambria Math" panose="02040503050406030204" pitchFamily="18" charset="0"/>
                      </a:rPr>
                      <m:t>=</m:t>
                    </m:r>
                    <m:r>
                      <a:rPr lang="en-GB" i="1" smtClean="0">
                        <a:solidFill>
                          <a:schemeClr val="tx1"/>
                        </a:solidFill>
                        <a:latin typeface="Cambria Math" panose="02040503050406030204" pitchFamily="18" charset="0"/>
                      </a:rPr>
                      <m:t>𝐼𝑛𝑑𝑢𝑐𝑡𝑜𝑟</m:t>
                    </m:r>
                    <m:r>
                      <a:rPr lang="en-GB" i="1" smtClean="0">
                        <a:solidFill>
                          <a:schemeClr val="tx1"/>
                        </a:solidFill>
                        <a:latin typeface="Cambria Math" panose="02040503050406030204" pitchFamily="18" charset="0"/>
                      </a:rPr>
                      <m:t> </m:t>
                    </m:r>
                    <m:r>
                      <a:rPr lang="en-GB" i="1" smtClean="0">
                        <a:solidFill>
                          <a:schemeClr val="tx1"/>
                        </a:solidFill>
                        <a:latin typeface="Cambria Math" panose="02040503050406030204" pitchFamily="18" charset="0"/>
                      </a:rPr>
                      <m:t>𝐸𝑛𝑒𝑟𝑔𝑦</m:t>
                    </m:r>
                    <m:r>
                      <a:rPr lang="en-US" i="1">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GB"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𝐹</m:t>
                    </m:r>
                    <m:r>
                      <a:rPr lang="en-GB" b="0" i="1" baseline="-25000"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𝑠𝑤𝑖𝑡𝑐h</m:t>
                    </m:r>
                    <m:r>
                      <a:rPr lang="en-GB" b="0" i="1" smtClean="0">
                        <a:latin typeface="Cambria Math" panose="02040503050406030204" pitchFamily="18" charset="0"/>
                        <a:ea typeface="SimSun" panose="02010600030101010101" pitchFamily="2" charset="-122"/>
                        <a:cs typeface="Times New Roman" panose="02020603050405020304" pitchFamily="18" charset="0"/>
                      </a:rPr>
                      <m:t>=100</m:t>
                    </m:r>
                    <m:r>
                      <a:rPr lang="en-GB" i="1">
                        <a:latin typeface="Cambria Math" panose="02040503050406030204" pitchFamily="18" charset="0"/>
                        <a:ea typeface="SimSun" panose="02010600030101010101" pitchFamily="2" charset="-122"/>
                        <a:cs typeface="Times New Roman" panose="02020603050405020304" pitchFamily="18" charset="0"/>
                      </a:rPr>
                      <m:t>µ</m:t>
                    </m:r>
                  </m:oMath>
                </a14:m>
                <a:r>
                  <a:rPr lang="en-GB" dirty="0"/>
                  <a:t>A</a:t>
                </a:r>
                <a:r>
                  <a:rPr lang="en-US" dirty="0">
                    <a:ea typeface="SimSun" panose="02010600030101010101" pitchFamily="2" charset="-122"/>
                    <a:cs typeface="Times New Roman" panose="02020603050405020304" pitchFamily="18" charset="0"/>
                  </a:rPr>
                  <a:t> </a:t>
                </a:r>
                <a14:m>
                  <m:oMath xmlns:m="http://schemas.openxmlformats.org/officeDocument/2006/math">
                    <m:r>
                      <a:rPr lang="en-US" i="1">
                        <a:latin typeface="Cambria Math" panose="02040503050406030204" pitchFamily="18" charset="0"/>
                        <a:ea typeface="SimSun" panose="02010600030101010101" pitchFamily="2" charset="-122"/>
                        <a:cs typeface="Times New Roman" panose="02020603050405020304" pitchFamily="18" charset="0"/>
                      </a:rPr>
                      <m:t>×</m:t>
                    </m:r>
                    <m:r>
                      <a:rPr lang="en-GB" b="0" i="1" smtClean="0">
                        <a:latin typeface="Cambria Math" panose="02040503050406030204" pitchFamily="18" charset="0"/>
                        <a:ea typeface="SimSun" panose="02010600030101010101" pitchFamily="2" charset="-122"/>
                        <a:cs typeface="Times New Roman" panose="02020603050405020304" pitchFamily="18" charset="0"/>
                      </a:rPr>
                      <m:t>100 </m:t>
                    </m:r>
                    <m:r>
                      <a:rPr lang="en-GB" b="0" i="1" smtClean="0">
                        <a:latin typeface="Cambria Math" panose="02040503050406030204" pitchFamily="18" charset="0"/>
                        <a:ea typeface="SimSun" panose="02010600030101010101" pitchFamily="2" charset="-122"/>
                        <a:cs typeface="Times New Roman" panose="02020603050405020304" pitchFamily="18" charset="0"/>
                      </a:rPr>
                      <m:t>𝐾𝐻𝑧</m:t>
                    </m:r>
                  </m:oMath>
                </a14:m>
                <a:endParaRPr lang="en-GB" b="0" dirty="0">
                  <a:ea typeface="SimSun" panose="02010600030101010101" pitchFamily="2" charset="-122"/>
                  <a:cs typeface="Times New Roman" panose="02020603050405020304" pitchFamily="18" charset="0"/>
                </a:endParaRPr>
              </a:p>
              <a:p>
                <a:r>
                  <a:rPr lang="en-GB" dirty="0"/>
                  <a:t>                                                         </a:t>
                </a:r>
                <a:r>
                  <a:rPr lang="en-GB" i="1" dirty="0">
                    <a:latin typeface="Cambria Math" panose="02040503050406030204" pitchFamily="18" charset="0"/>
                    <a:ea typeface="SimSun" panose="02010600030101010101" pitchFamily="2" charset="-122"/>
                    <a:cs typeface="Times New Roman" panose="02020603050405020304" pitchFamily="18" charset="0"/>
                  </a:rPr>
                  <a:t>= </a:t>
                </a:r>
                <a14:m>
                  <m:oMath xmlns:m="http://schemas.openxmlformats.org/officeDocument/2006/math">
                    <m:r>
                      <a:rPr lang="en-GB" b="0" i="1" smtClean="0">
                        <a:latin typeface="Cambria Math" panose="02040503050406030204" pitchFamily="18" charset="0"/>
                        <a:ea typeface="SimSun" panose="02010600030101010101" pitchFamily="2" charset="-122"/>
                        <a:cs typeface="Times New Roman" panose="02020603050405020304" pitchFamily="18" charset="0"/>
                      </a:rPr>
                      <m:t>10 </m:t>
                    </m:r>
                    <m:r>
                      <a:rPr lang="en-GB" b="0" i="1" smtClean="0">
                        <a:latin typeface="Cambria Math" panose="02040503050406030204" pitchFamily="18" charset="0"/>
                        <a:ea typeface="SimSun" panose="02010600030101010101" pitchFamily="2" charset="-122"/>
                        <a:cs typeface="Times New Roman" panose="02020603050405020304" pitchFamily="18" charset="0"/>
                      </a:rPr>
                      <m:t>𝑊</m:t>
                    </m:r>
                  </m:oMath>
                </a14:m>
                <a:endParaRPr lang="en-GB" i="1" dirty="0">
                  <a:latin typeface="Cambria Math" panose="02040503050406030204" pitchFamily="18" charset="0"/>
                  <a:ea typeface="SimSun" panose="02010600030101010101" pitchFamily="2" charset="-122"/>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ACEE9AB7-026E-5100-48BE-3E847970E497}"/>
                  </a:ext>
                </a:extLst>
              </p:cNvPr>
              <p:cNvSpPr txBox="1">
                <a:spLocks noRot="1" noChangeAspect="1" noMove="1" noResize="1" noEditPoints="1" noAdjustHandles="1" noChangeArrowheads="1" noChangeShapeType="1" noTextEdit="1"/>
              </p:cNvSpPr>
              <p:nvPr/>
            </p:nvSpPr>
            <p:spPr>
              <a:xfrm>
                <a:off x="121416" y="3456487"/>
                <a:ext cx="5890749" cy="646331"/>
              </a:xfrm>
              <a:prstGeom prst="rect">
                <a:avLst/>
              </a:prstGeom>
              <a:blipFill>
                <a:blip r:embed="rId4"/>
                <a:stretch>
                  <a:fillRect t="-4717" b="-132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23AE38E-DFF5-B583-BA5C-82ABD09D23E2}"/>
                  </a:ext>
                </a:extLst>
              </p:cNvPr>
              <p:cNvSpPr txBox="1"/>
              <p:nvPr/>
            </p:nvSpPr>
            <p:spPr>
              <a:xfrm>
                <a:off x="204692" y="4165950"/>
                <a:ext cx="4418015" cy="6616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𝑉</m:t>
                      </m:r>
                      <m:r>
                        <a:rPr lang="en-GB" b="0" i="1" smtClean="0">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𝐿</m:t>
                      </m:r>
                      <m:f>
                        <m:fPr>
                          <m:ctrlPr>
                            <a:rPr lang="en-US" i="1">
                              <a:solidFill>
                                <a:schemeClr val="tx1"/>
                              </a:solidFill>
                              <a:latin typeface="Cambria Math" panose="02040503050406030204" pitchFamily="18" charset="0"/>
                            </a:rPr>
                          </m:ctrlPr>
                        </m:fPr>
                        <m:num>
                          <m:r>
                            <a:rPr lang="en-GB" b="0" i="1" smtClean="0">
                              <a:solidFill>
                                <a:schemeClr val="tx1"/>
                              </a:solidFill>
                              <a:latin typeface="Cambria Math" panose="02040503050406030204" pitchFamily="18" charset="0"/>
                            </a:rPr>
                            <m:t>𝑑𝑖</m:t>
                          </m:r>
                        </m:num>
                        <m:den>
                          <m:r>
                            <a:rPr lang="en-GB" b="0" i="1" smtClean="0">
                              <a:solidFill>
                                <a:schemeClr val="tx1"/>
                              </a:solidFill>
                              <a:latin typeface="Cambria Math" panose="02040503050406030204" pitchFamily="18" charset="0"/>
                            </a:rPr>
                            <m:t>𝑑𝑡</m:t>
                          </m:r>
                        </m:den>
                      </m:f>
                      <m:r>
                        <a:rPr lang="en-GB" b="0" i="1" baseline="30000" smtClean="0">
                          <a:solidFill>
                            <a:schemeClr val="tx1"/>
                          </a:solidFill>
                          <a:latin typeface="Cambria Math" panose="02040503050406030204" pitchFamily="18" charset="0"/>
                        </a:rPr>
                        <m:t>   </m:t>
                      </m:r>
                      <m:r>
                        <a:rPr lang="en-GB" i="1">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   </m:t>
                      </m:r>
                      <m:f>
                        <m:fPr>
                          <m:ctrlPr>
                            <a:rPr lang="en-US" i="1">
                              <a:latin typeface="Cambria Math" panose="02040503050406030204" pitchFamily="18" charset="0"/>
                            </a:rPr>
                          </m:ctrlPr>
                        </m:fPr>
                        <m:num>
                          <m:r>
                            <a:rPr lang="en-GB" b="0" i="1" smtClean="0">
                              <a:latin typeface="Cambria Math" panose="02040503050406030204" pitchFamily="18" charset="0"/>
                            </a:rPr>
                            <m:t>𝑉</m:t>
                          </m:r>
                        </m:num>
                        <m:den>
                          <m:r>
                            <a:rPr lang="en-GB" b="0" i="1" smtClean="0">
                              <a:latin typeface="Cambria Math" panose="02040503050406030204" pitchFamily="18" charset="0"/>
                            </a:rPr>
                            <m:t>𝐿</m:t>
                          </m:r>
                        </m:den>
                      </m:f>
                      <m:r>
                        <a:rPr lang="en-GB" b="0" i="1" smtClean="0">
                          <a:latin typeface="Cambria Math" panose="02040503050406030204" pitchFamily="18" charset="0"/>
                        </a:rPr>
                        <m:t>=</m:t>
                      </m:r>
                      <m:f>
                        <m:fPr>
                          <m:ctrlPr>
                            <a:rPr lang="en-US" i="1">
                              <a:latin typeface="Cambria Math" panose="02040503050406030204" pitchFamily="18" charset="0"/>
                            </a:rPr>
                          </m:ctrlPr>
                        </m:fPr>
                        <m:num>
                          <m:r>
                            <a:rPr lang="en-GB" i="1">
                              <a:latin typeface="Cambria Math" panose="02040503050406030204" pitchFamily="18" charset="0"/>
                            </a:rPr>
                            <m:t>𝑑𝑖</m:t>
                          </m:r>
                        </m:num>
                        <m:den>
                          <m:r>
                            <a:rPr lang="en-GB" i="1">
                              <a:latin typeface="Cambria Math" panose="02040503050406030204" pitchFamily="18" charset="0"/>
                            </a:rPr>
                            <m:t>𝑑𝑡</m:t>
                          </m:r>
                        </m:den>
                      </m:f>
                      <m:r>
                        <a:rPr lang="en-GB" b="0" i="1" smtClean="0">
                          <a:latin typeface="Cambria Math" panose="02040503050406030204" pitchFamily="18" charset="0"/>
                        </a:rPr>
                        <m:t>=</m:t>
                      </m:r>
                      <m:f>
                        <m:fPr>
                          <m:ctrlPr>
                            <a:rPr lang="en-US" i="1">
                              <a:latin typeface="Cambria Math" panose="02040503050406030204" pitchFamily="18" charset="0"/>
                            </a:rPr>
                          </m:ctrlPr>
                        </m:fPr>
                        <m:num>
                          <m:r>
                            <a:rPr lang="en-GB" b="0" i="1" smtClean="0">
                              <a:latin typeface="Cambria Math" panose="02040503050406030204" pitchFamily="18" charset="0"/>
                            </a:rPr>
                            <m:t>200</m:t>
                          </m:r>
                        </m:num>
                        <m:den>
                          <m:r>
                            <a:rPr lang="en-GB" i="1">
                              <a:latin typeface="Cambria Math" panose="02040503050406030204" pitchFamily="18" charset="0"/>
                              <a:ea typeface="SimSun" panose="02010600030101010101" pitchFamily="2" charset="-122"/>
                              <a:cs typeface="Times New Roman" panose="02020603050405020304" pitchFamily="18" charset="0"/>
                            </a:rPr>
                            <m:t>50µ</m:t>
                          </m:r>
                          <m:r>
                            <a:rPr lang="en-GB" i="1">
                              <a:latin typeface="Cambria Math" panose="02040503050406030204" pitchFamily="18" charset="0"/>
                              <a:ea typeface="SimSun" panose="02010600030101010101" pitchFamily="2" charset="-122"/>
                              <a:cs typeface="Times New Roman" panose="02020603050405020304" pitchFamily="18" charset="0"/>
                            </a:rPr>
                            <m:t>𝐻</m:t>
                          </m:r>
                        </m:den>
                      </m:f>
                      <m:r>
                        <a:rPr lang="en-GB" b="0" i="1" smtClean="0">
                          <a:latin typeface="Cambria Math" panose="02040503050406030204" pitchFamily="18" charset="0"/>
                        </a:rPr>
                        <m:t>=4</m:t>
                      </m:r>
                      <m:r>
                        <a:rPr lang="en-GB" b="0" i="1" smtClean="0">
                          <a:latin typeface="Cambria Math" panose="02040503050406030204" pitchFamily="18" charset="0"/>
                        </a:rPr>
                        <m:t>𝐴</m:t>
                      </m:r>
                      <m:r>
                        <a:rPr lang="en-GB" b="0" i="1" smtClean="0">
                          <a:latin typeface="Cambria Math" panose="02040503050406030204" pitchFamily="18" charset="0"/>
                        </a:rPr>
                        <m:t>/µ</m:t>
                      </m:r>
                      <m:r>
                        <m:rPr>
                          <m:sty m:val="p"/>
                        </m:rPr>
                        <a:rPr lang="en-GB" b="0" i="0" smtClean="0">
                          <a:latin typeface="Cambria Math" panose="02040503050406030204" pitchFamily="18" charset="0"/>
                          <a:ea typeface="SimSun" panose="02010600030101010101" pitchFamily="2" charset="-122"/>
                          <a:cs typeface="Times New Roman" panose="02020603050405020304" pitchFamily="18" charset="0"/>
                        </a:rPr>
                        <m:t>sec</m:t>
                      </m:r>
                    </m:oMath>
                  </m:oMathPara>
                </a14:m>
                <a:endParaRPr lang="en-GB" dirty="0"/>
              </a:p>
            </p:txBody>
          </p:sp>
        </mc:Choice>
        <mc:Fallback xmlns="">
          <p:sp>
            <p:nvSpPr>
              <p:cNvPr id="11" name="TextBox 10">
                <a:extLst>
                  <a:ext uri="{FF2B5EF4-FFF2-40B4-BE49-F238E27FC236}">
                    <a16:creationId xmlns:a16="http://schemas.microsoft.com/office/drawing/2014/main" id="{E23AE38E-DFF5-B583-BA5C-82ABD09D23E2}"/>
                  </a:ext>
                </a:extLst>
              </p:cNvPr>
              <p:cNvSpPr txBox="1">
                <a:spLocks noRot="1" noChangeAspect="1" noMove="1" noResize="1" noEditPoints="1" noAdjustHandles="1" noChangeArrowheads="1" noChangeShapeType="1" noTextEdit="1"/>
              </p:cNvSpPr>
              <p:nvPr/>
            </p:nvSpPr>
            <p:spPr>
              <a:xfrm>
                <a:off x="204692" y="4165950"/>
                <a:ext cx="4418015" cy="661656"/>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477175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32EFEF2-B1BE-F167-3DCF-D12043A82999}"/>
              </a:ext>
            </a:extLst>
          </p:cNvPr>
          <p:cNvPicPr>
            <a:picLocks noChangeAspect="1"/>
          </p:cNvPicPr>
          <p:nvPr/>
        </p:nvPicPr>
        <p:blipFill>
          <a:blip r:embed="rId2"/>
          <a:stretch>
            <a:fillRect/>
          </a:stretch>
        </p:blipFill>
        <p:spPr>
          <a:xfrm>
            <a:off x="865158" y="1235747"/>
            <a:ext cx="4371211" cy="4401693"/>
          </a:xfrm>
          <a:prstGeom prst="rect">
            <a:avLst/>
          </a:prstGeom>
        </p:spPr>
      </p:pic>
      <p:sp>
        <p:nvSpPr>
          <p:cNvPr id="13314" name="Slide Number Placeholder 1">
            <a:extLst>
              <a:ext uri="{FF2B5EF4-FFF2-40B4-BE49-F238E27FC236}">
                <a16:creationId xmlns:a16="http://schemas.microsoft.com/office/drawing/2014/main" id="{A57178FF-93B0-2E47-88D0-5AD3F71D0D7F}"/>
              </a:ext>
            </a:extLst>
          </p:cNvPr>
          <p:cNvSpPr>
            <a:spLocks noGrp="1"/>
          </p:cNvSpPr>
          <p:nvPr>
            <p:ph type="sldNum" sz="quarter" idx="12"/>
          </p:nvPr>
        </p:nvSpPr>
        <p:spPr>
          <a:xfrm>
            <a:off x="6589712" y="6183123"/>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F1604E0-B0A1-3542-A78C-17C662FDF8F6}" type="slidenum">
              <a:rPr lang="en-US" altLang="en-US" sz="1400"/>
              <a:pPr>
                <a:spcBef>
                  <a:spcPct val="0"/>
                </a:spcBef>
                <a:buFontTx/>
                <a:buNone/>
              </a:pPr>
              <a:t>24</a:t>
            </a:fld>
            <a:endParaRPr lang="en-US" altLang="en-US" sz="1400"/>
          </a:p>
        </p:txBody>
      </p:sp>
      <p:sp>
        <p:nvSpPr>
          <p:cNvPr id="13324" name="TextBox 13">
            <a:extLst>
              <a:ext uri="{FF2B5EF4-FFF2-40B4-BE49-F238E27FC236}">
                <a16:creationId xmlns:a16="http://schemas.microsoft.com/office/drawing/2014/main" id="{10CB8EE5-0897-2A4E-A936-777C1768DC97}"/>
              </a:ext>
            </a:extLst>
          </p:cNvPr>
          <p:cNvSpPr txBox="1">
            <a:spLocks noChangeArrowheads="1"/>
          </p:cNvSpPr>
          <p:nvPr/>
        </p:nvSpPr>
        <p:spPr bwMode="auto">
          <a:xfrm>
            <a:off x="432752" y="220621"/>
            <a:ext cx="75237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800" b="1" dirty="0"/>
              <a:t>Summary of Snubber Circuit</a:t>
            </a:r>
          </a:p>
        </p:txBody>
      </p:sp>
      <p:sp>
        <p:nvSpPr>
          <p:cNvPr id="13328" name="Rectangle 17">
            <a:extLst>
              <a:ext uri="{FF2B5EF4-FFF2-40B4-BE49-F238E27FC236}">
                <a16:creationId xmlns:a16="http://schemas.microsoft.com/office/drawing/2014/main" id="{A4075387-2939-CA40-BBC3-F0A98600A7CB}"/>
              </a:ext>
            </a:extLst>
          </p:cNvPr>
          <p:cNvSpPr>
            <a:spLocks noChangeArrowheads="1"/>
          </p:cNvSpPr>
          <p:nvPr/>
        </p:nvSpPr>
        <p:spPr bwMode="auto">
          <a:xfrm>
            <a:off x="5236369" y="3066707"/>
            <a:ext cx="2487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dirty="0"/>
              <a:t>Polarized </a:t>
            </a:r>
            <a:r>
              <a:rPr lang="en-US" altLang="en-US" sz="1800" b="1" dirty="0">
                <a:solidFill>
                  <a:srgbClr val="3333FF"/>
                </a:solidFill>
              </a:rPr>
              <a:t>R-L </a:t>
            </a:r>
            <a:r>
              <a:rPr lang="en-US" altLang="en-US" sz="1800" dirty="0"/>
              <a:t>snubber</a:t>
            </a:r>
            <a:endParaRPr lang="en-GB" altLang="en-US" sz="1800" dirty="0"/>
          </a:p>
        </p:txBody>
      </p:sp>
      <p:sp>
        <p:nvSpPr>
          <p:cNvPr id="19" name="Rectangle 18">
            <a:extLst>
              <a:ext uri="{FF2B5EF4-FFF2-40B4-BE49-F238E27FC236}">
                <a16:creationId xmlns:a16="http://schemas.microsoft.com/office/drawing/2014/main" id="{186058F5-1A39-4CFA-9EAC-605544A43D28}"/>
              </a:ext>
            </a:extLst>
          </p:cNvPr>
          <p:cNvSpPr/>
          <p:nvPr/>
        </p:nvSpPr>
        <p:spPr>
          <a:xfrm>
            <a:off x="2767378" y="2536497"/>
            <a:ext cx="2355850" cy="1409700"/>
          </a:xfrm>
          <a:prstGeom prst="rect">
            <a:avLst/>
          </a:prstGeom>
          <a:noFill/>
          <a:ln w="38100">
            <a:solidFill>
              <a:srgbClr val="3333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20" name="Rectangle 19">
            <a:extLst>
              <a:ext uri="{FF2B5EF4-FFF2-40B4-BE49-F238E27FC236}">
                <a16:creationId xmlns:a16="http://schemas.microsoft.com/office/drawing/2014/main" id="{1AAA6CCC-6233-4CB7-907E-1FBE224FFE92}"/>
              </a:ext>
            </a:extLst>
          </p:cNvPr>
          <p:cNvSpPr/>
          <p:nvPr/>
        </p:nvSpPr>
        <p:spPr>
          <a:xfrm>
            <a:off x="3370217" y="4127863"/>
            <a:ext cx="1935653" cy="1257953"/>
          </a:xfrm>
          <a:prstGeom prst="rect">
            <a:avLst/>
          </a:prstGeom>
          <a:noFill/>
          <a:ln w="38100">
            <a:solidFill>
              <a:srgbClr val="3333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5" name="TextBox 4">
            <a:extLst>
              <a:ext uri="{FF2B5EF4-FFF2-40B4-BE49-F238E27FC236}">
                <a16:creationId xmlns:a16="http://schemas.microsoft.com/office/drawing/2014/main" id="{6ABF98B4-1B04-F5B3-11EA-31DC8A1AB402}"/>
              </a:ext>
            </a:extLst>
          </p:cNvPr>
          <p:cNvSpPr txBox="1"/>
          <p:nvPr/>
        </p:nvSpPr>
        <p:spPr>
          <a:xfrm>
            <a:off x="5466524" y="4624893"/>
            <a:ext cx="3264408" cy="369332"/>
          </a:xfrm>
          <a:prstGeom prst="rect">
            <a:avLst/>
          </a:prstGeom>
          <a:noFill/>
        </p:spPr>
        <p:txBody>
          <a:bodyPr wrap="square">
            <a:spAutoFit/>
          </a:bodyPr>
          <a:lstStyle/>
          <a:p>
            <a:r>
              <a:rPr lang="en-US" altLang="en-US" sz="1800" dirty="0">
                <a:latin typeface="+mj-lt"/>
              </a:rPr>
              <a:t>Polarized </a:t>
            </a:r>
            <a:r>
              <a:rPr lang="en-US" altLang="en-US" sz="1800" b="1" dirty="0">
                <a:solidFill>
                  <a:srgbClr val="3333FF"/>
                </a:solidFill>
                <a:latin typeface="+mj-lt"/>
              </a:rPr>
              <a:t>R-C</a:t>
            </a:r>
            <a:r>
              <a:rPr lang="en-US" altLang="en-US" sz="1800" dirty="0">
                <a:latin typeface="+mj-lt"/>
              </a:rPr>
              <a:t> snubbers</a:t>
            </a:r>
            <a:endParaRPr lang="en-GB" dirty="0"/>
          </a:p>
        </p:txBody>
      </p:sp>
    </p:spTree>
    <p:extLst>
      <p:ext uri="{BB962C8B-B14F-4D97-AF65-F5344CB8AC3E}">
        <p14:creationId xmlns:p14="http://schemas.microsoft.com/office/powerpoint/2010/main" val="37135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8" grpId="0"/>
      <p:bldP spid="19" grpId="0" animBg="1"/>
      <p:bldP spid="20" grpId="0" animBg="1"/>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a:extLst>
              <a:ext uri="{FF2B5EF4-FFF2-40B4-BE49-F238E27FC236}">
                <a16:creationId xmlns:a16="http://schemas.microsoft.com/office/drawing/2014/main" id="{135A4B25-9935-C441-A4FB-56CCB93DC2DA}"/>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C5640E4-906C-824E-B833-2D07B0471EFD}" type="slidenum">
              <a:rPr lang="en-US" altLang="en-US" sz="1400"/>
              <a:pPr>
                <a:spcBef>
                  <a:spcPct val="0"/>
                </a:spcBef>
                <a:buFontTx/>
                <a:buNone/>
              </a:pPr>
              <a:t>25</a:t>
            </a:fld>
            <a:endParaRPr lang="en-US" altLang="en-US" sz="1400"/>
          </a:p>
        </p:txBody>
      </p:sp>
      <p:sp>
        <p:nvSpPr>
          <p:cNvPr id="12291" name="Line 44">
            <a:extLst>
              <a:ext uri="{FF2B5EF4-FFF2-40B4-BE49-F238E27FC236}">
                <a16:creationId xmlns:a16="http://schemas.microsoft.com/office/drawing/2014/main" id="{49B9020F-182D-7345-97CF-037BBB8A6098}"/>
              </a:ext>
            </a:extLst>
          </p:cNvPr>
          <p:cNvSpPr>
            <a:spLocks noChangeShapeType="1"/>
          </p:cNvSpPr>
          <p:nvPr/>
        </p:nvSpPr>
        <p:spPr bwMode="auto">
          <a:xfrm flipV="1">
            <a:off x="4505325" y="4502150"/>
            <a:ext cx="892175" cy="1158875"/>
          </a:xfrm>
          <a:prstGeom prst="line">
            <a:avLst/>
          </a:prstGeom>
          <a:noFill/>
          <a:ln w="25400">
            <a:solidFill>
              <a:srgbClr val="00CC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2" name="Text Box 4">
            <a:extLst>
              <a:ext uri="{FF2B5EF4-FFF2-40B4-BE49-F238E27FC236}">
                <a16:creationId xmlns:a16="http://schemas.microsoft.com/office/drawing/2014/main" id="{DCA4A4E8-D1E0-2C46-9E2D-15663B5EE6E7}"/>
              </a:ext>
            </a:extLst>
          </p:cNvPr>
          <p:cNvSpPr txBox="1">
            <a:spLocks noChangeArrowheads="1"/>
          </p:cNvSpPr>
          <p:nvPr/>
        </p:nvSpPr>
        <p:spPr bwMode="auto">
          <a:xfrm>
            <a:off x="198438" y="285750"/>
            <a:ext cx="8758237" cy="258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a:t>There are two key points to note about snubber circuit design:</a:t>
            </a:r>
          </a:p>
          <a:p>
            <a:pPr eaLnBrk="1" hangingPunct="1">
              <a:spcBef>
                <a:spcPct val="50000"/>
              </a:spcBef>
              <a:buFontTx/>
              <a:buAutoNum type="arabicPeriod"/>
            </a:pPr>
            <a:r>
              <a:rPr lang="en-GB" altLang="en-US"/>
              <a:t>There is always </a:t>
            </a:r>
            <a:r>
              <a:rPr lang="en-GB" altLang="en-US" b="1">
                <a:solidFill>
                  <a:srgbClr val="3333FF"/>
                </a:solidFill>
              </a:rPr>
              <a:t>a degree of experimentation </a:t>
            </a:r>
            <a:r>
              <a:rPr lang="en-GB" altLang="en-US"/>
              <a:t>needed to tune a snubber’s operation. It is impossible to precisely design the circuit (although the desired function can be predicted).</a:t>
            </a:r>
          </a:p>
          <a:p>
            <a:pPr eaLnBrk="1" hangingPunct="1">
              <a:spcBef>
                <a:spcPct val="50000"/>
              </a:spcBef>
              <a:buFontTx/>
              <a:buAutoNum type="arabicPeriod"/>
            </a:pPr>
            <a:r>
              <a:rPr lang="en-GB" altLang="en-US"/>
              <a:t>The final circuit will probably be a </a:t>
            </a:r>
            <a:r>
              <a:rPr lang="en-GB" altLang="en-US" b="1">
                <a:solidFill>
                  <a:srgbClr val="3333FF"/>
                </a:solidFill>
              </a:rPr>
              <a:t>compromise</a:t>
            </a:r>
            <a:r>
              <a:rPr lang="en-GB" altLang="en-US"/>
              <a:t>. A capacitive snubber that controls a voltage spike at turn-off may cause a current spike at turn-on. Similarly, controlling a current spike on one edge may cause a voltage spike on the other.</a:t>
            </a:r>
            <a:endParaRPr lang="en-US" altLang="en-US"/>
          </a:p>
        </p:txBody>
      </p:sp>
      <p:grpSp>
        <p:nvGrpSpPr>
          <p:cNvPr id="12293" name="Group 5">
            <a:extLst>
              <a:ext uri="{FF2B5EF4-FFF2-40B4-BE49-F238E27FC236}">
                <a16:creationId xmlns:a16="http://schemas.microsoft.com/office/drawing/2014/main" id="{35BE5CAE-4AEF-6A42-88CE-3483F79AE65E}"/>
              </a:ext>
            </a:extLst>
          </p:cNvPr>
          <p:cNvGrpSpPr>
            <a:grpSpLocks/>
          </p:cNvGrpSpPr>
          <p:nvPr/>
        </p:nvGrpSpPr>
        <p:grpSpPr bwMode="auto">
          <a:xfrm rot="-5400000">
            <a:off x="2659062" y="3406776"/>
            <a:ext cx="314325" cy="1530350"/>
            <a:chOff x="1052" y="1876"/>
            <a:chExt cx="198" cy="964"/>
          </a:xfrm>
        </p:grpSpPr>
        <p:sp>
          <p:nvSpPr>
            <p:cNvPr id="12323" name="Oval 6">
              <a:extLst>
                <a:ext uri="{FF2B5EF4-FFF2-40B4-BE49-F238E27FC236}">
                  <a16:creationId xmlns:a16="http://schemas.microsoft.com/office/drawing/2014/main" id="{AE639BCC-BF52-2B45-8729-ABC86B8E726B}"/>
                </a:ext>
              </a:extLst>
            </p:cNvPr>
            <p:cNvSpPr>
              <a:spLocks noChangeArrowheads="1"/>
            </p:cNvSpPr>
            <p:nvPr/>
          </p:nvSpPr>
          <p:spPr bwMode="auto">
            <a:xfrm>
              <a:off x="1109" y="20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2324" name="Oval 7">
              <a:extLst>
                <a:ext uri="{FF2B5EF4-FFF2-40B4-BE49-F238E27FC236}">
                  <a16:creationId xmlns:a16="http://schemas.microsoft.com/office/drawing/2014/main" id="{2C1FBE7D-1D90-584D-B771-F606D9B54A2D}"/>
                </a:ext>
              </a:extLst>
            </p:cNvPr>
            <p:cNvSpPr>
              <a:spLocks noChangeArrowheads="1"/>
            </p:cNvSpPr>
            <p:nvPr/>
          </p:nvSpPr>
          <p:spPr bwMode="auto">
            <a:xfrm>
              <a:off x="1109" y="21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2325" name="Oval 8">
              <a:extLst>
                <a:ext uri="{FF2B5EF4-FFF2-40B4-BE49-F238E27FC236}">
                  <a16:creationId xmlns:a16="http://schemas.microsoft.com/office/drawing/2014/main" id="{9405FA20-5C1A-EC4B-848B-73FA3B36C0BB}"/>
                </a:ext>
              </a:extLst>
            </p:cNvPr>
            <p:cNvSpPr>
              <a:spLocks noChangeArrowheads="1"/>
            </p:cNvSpPr>
            <p:nvPr/>
          </p:nvSpPr>
          <p:spPr bwMode="auto">
            <a:xfrm>
              <a:off x="1109" y="22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2326" name="Oval 9">
              <a:extLst>
                <a:ext uri="{FF2B5EF4-FFF2-40B4-BE49-F238E27FC236}">
                  <a16:creationId xmlns:a16="http://schemas.microsoft.com/office/drawing/2014/main" id="{BBB26FA3-5F5B-0D4A-9BB1-6B801C78F700}"/>
                </a:ext>
              </a:extLst>
            </p:cNvPr>
            <p:cNvSpPr>
              <a:spLocks noChangeArrowheads="1"/>
            </p:cNvSpPr>
            <p:nvPr/>
          </p:nvSpPr>
          <p:spPr bwMode="auto">
            <a:xfrm>
              <a:off x="1109" y="23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2327" name="Oval 10">
              <a:extLst>
                <a:ext uri="{FF2B5EF4-FFF2-40B4-BE49-F238E27FC236}">
                  <a16:creationId xmlns:a16="http://schemas.microsoft.com/office/drawing/2014/main" id="{856F93CC-4A9A-2647-946E-2AA3E98EAFCB}"/>
                </a:ext>
              </a:extLst>
            </p:cNvPr>
            <p:cNvSpPr>
              <a:spLocks noChangeArrowheads="1"/>
            </p:cNvSpPr>
            <p:nvPr/>
          </p:nvSpPr>
          <p:spPr bwMode="auto">
            <a:xfrm>
              <a:off x="1109"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2328" name="Oval 11">
              <a:extLst>
                <a:ext uri="{FF2B5EF4-FFF2-40B4-BE49-F238E27FC236}">
                  <a16:creationId xmlns:a16="http://schemas.microsoft.com/office/drawing/2014/main" id="{6FD2F5F5-BCAB-914A-911D-607B32342A0E}"/>
                </a:ext>
              </a:extLst>
            </p:cNvPr>
            <p:cNvSpPr>
              <a:spLocks noChangeArrowheads="1"/>
            </p:cNvSpPr>
            <p:nvPr/>
          </p:nvSpPr>
          <p:spPr bwMode="auto">
            <a:xfrm>
              <a:off x="1109" y="25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2329" name="Rectangle 12">
              <a:extLst>
                <a:ext uri="{FF2B5EF4-FFF2-40B4-BE49-F238E27FC236}">
                  <a16:creationId xmlns:a16="http://schemas.microsoft.com/office/drawing/2014/main" id="{8BFD63D8-157B-AF46-BC60-2F25527AB936}"/>
                </a:ext>
              </a:extLst>
            </p:cNvPr>
            <p:cNvSpPr>
              <a:spLocks noChangeArrowheads="1"/>
            </p:cNvSpPr>
            <p:nvPr/>
          </p:nvSpPr>
          <p:spPr bwMode="auto">
            <a:xfrm>
              <a:off x="1052" y="19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2330" name="Line 13">
              <a:extLst>
                <a:ext uri="{FF2B5EF4-FFF2-40B4-BE49-F238E27FC236}">
                  <a16:creationId xmlns:a16="http://schemas.microsoft.com/office/drawing/2014/main" id="{34CE77F4-72B9-594B-94C4-268C6B3FA3A8}"/>
                </a:ext>
              </a:extLst>
            </p:cNvPr>
            <p:cNvSpPr>
              <a:spLocks noChangeShapeType="1"/>
            </p:cNvSpPr>
            <p:nvPr/>
          </p:nvSpPr>
          <p:spPr bwMode="auto">
            <a:xfrm>
              <a:off x="1165" y="26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31" name="Line 14">
              <a:extLst>
                <a:ext uri="{FF2B5EF4-FFF2-40B4-BE49-F238E27FC236}">
                  <a16:creationId xmlns:a16="http://schemas.microsoft.com/office/drawing/2014/main" id="{3B70A11A-2041-F84B-98B1-261D5869FA71}"/>
                </a:ext>
              </a:extLst>
            </p:cNvPr>
            <p:cNvSpPr>
              <a:spLocks noChangeShapeType="1"/>
            </p:cNvSpPr>
            <p:nvPr/>
          </p:nvSpPr>
          <p:spPr bwMode="auto">
            <a:xfrm flipV="1">
              <a:off x="1165" y="18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2294" name="Rectangle 15">
            <a:extLst>
              <a:ext uri="{FF2B5EF4-FFF2-40B4-BE49-F238E27FC236}">
                <a16:creationId xmlns:a16="http://schemas.microsoft.com/office/drawing/2014/main" id="{E6E2B51C-A85E-F944-9720-01883EE88A85}"/>
              </a:ext>
            </a:extLst>
          </p:cNvPr>
          <p:cNvSpPr>
            <a:spLocks noChangeArrowheads="1"/>
          </p:cNvSpPr>
          <p:nvPr/>
        </p:nvSpPr>
        <p:spPr bwMode="auto">
          <a:xfrm>
            <a:off x="1755775" y="4645025"/>
            <a:ext cx="287338" cy="714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2295" name="Rectangle 16">
            <a:extLst>
              <a:ext uri="{FF2B5EF4-FFF2-40B4-BE49-F238E27FC236}">
                <a16:creationId xmlns:a16="http://schemas.microsoft.com/office/drawing/2014/main" id="{21782300-EC05-8341-8A16-C2B8EDABCE48}"/>
              </a:ext>
            </a:extLst>
          </p:cNvPr>
          <p:cNvSpPr>
            <a:spLocks noChangeArrowheads="1"/>
          </p:cNvSpPr>
          <p:nvPr/>
        </p:nvSpPr>
        <p:spPr bwMode="auto">
          <a:xfrm>
            <a:off x="1755775" y="4789488"/>
            <a:ext cx="287338" cy="7143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2296" name="Line 17">
            <a:extLst>
              <a:ext uri="{FF2B5EF4-FFF2-40B4-BE49-F238E27FC236}">
                <a16:creationId xmlns:a16="http://schemas.microsoft.com/office/drawing/2014/main" id="{8519FE99-1E3A-2F44-A59F-0DEE87074DA3}"/>
              </a:ext>
            </a:extLst>
          </p:cNvPr>
          <p:cNvSpPr>
            <a:spLocks noChangeShapeType="1"/>
          </p:cNvSpPr>
          <p:nvPr/>
        </p:nvSpPr>
        <p:spPr bwMode="auto">
          <a:xfrm flipV="1">
            <a:off x="1900238" y="4860925"/>
            <a:ext cx="0" cy="360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7" name="Line 18">
            <a:extLst>
              <a:ext uri="{FF2B5EF4-FFF2-40B4-BE49-F238E27FC236}">
                <a16:creationId xmlns:a16="http://schemas.microsoft.com/office/drawing/2014/main" id="{D904ABD0-1DF0-B44C-BC6A-40D455179308}"/>
              </a:ext>
            </a:extLst>
          </p:cNvPr>
          <p:cNvSpPr>
            <a:spLocks noChangeShapeType="1"/>
          </p:cNvSpPr>
          <p:nvPr/>
        </p:nvSpPr>
        <p:spPr bwMode="auto">
          <a:xfrm>
            <a:off x="1900238" y="4159250"/>
            <a:ext cx="0" cy="4857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8" name="Text Box 19">
            <a:extLst>
              <a:ext uri="{FF2B5EF4-FFF2-40B4-BE49-F238E27FC236}">
                <a16:creationId xmlns:a16="http://schemas.microsoft.com/office/drawing/2014/main" id="{FB6C3802-943C-2C4B-9A8C-08852CA823D6}"/>
              </a:ext>
            </a:extLst>
          </p:cNvPr>
          <p:cNvSpPr txBox="1">
            <a:spLocks noChangeArrowheads="1"/>
          </p:cNvSpPr>
          <p:nvPr/>
        </p:nvSpPr>
        <p:spPr bwMode="auto">
          <a:xfrm>
            <a:off x="1973263" y="4573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sp>
        <p:nvSpPr>
          <p:cNvPr id="12299" name="Text Box 20">
            <a:extLst>
              <a:ext uri="{FF2B5EF4-FFF2-40B4-BE49-F238E27FC236}">
                <a16:creationId xmlns:a16="http://schemas.microsoft.com/office/drawing/2014/main" id="{D918123A-56A8-744D-959A-F52F8D87EB36}"/>
              </a:ext>
            </a:extLst>
          </p:cNvPr>
          <p:cNvSpPr txBox="1">
            <a:spLocks noChangeArrowheads="1"/>
          </p:cNvSpPr>
          <p:nvPr/>
        </p:nvSpPr>
        <p:spPr bwMode="auto">
          <a:xfrm>
            <a:off x="2768600" y="428625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latin typeface="Times New Roman" panose="02020603050405020304" pitchFamily="18" charset="0"/>
              </a:rPr>
              <a:t>I</a:t>
            </a:r>
            <a:endParaRPr lang="en-US" altLang="en-US" sz="1800">
              <a:latin typeface="Times New Roman" panose="02020603050405020304" pitchFamily="18" charset="0"/>
            </a:endParaRPr>
          </a:p>
        </p:txBody>
      </p:sp>
      <p:sp>
        <p:nvSpPr>
          <p:cNvPr id="12300" name="Line 21">
            <a:extLst>
              <a:ext uri="{FF2B5EF4-FFF2-40B4-BE49-F238E27FC236}">
                <a16:creationId xmlns:a16="http://schemas.microsoft.com/office/drawing/2014/main" id="{38D8E726-93EC-BA43-86DF-C4F0E375C54E}"/>
              </a:ext>
            </a:extLst>
          </p:cNvPr>
          <p:cNvSpPr>
            <a:spLocks noChangeShapeType="1"/>
          </p:cNvSpPr>
          <p:nvPr/>
        </p:nvSpPr>
        <p:spPr bwMode="auto">
          <a:xfrm>
            <a:off x="1042988" y="3213100"/>
            <a:ext cx="431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1" name="Line 22">
            <a:extLst>
              <a:ext uri="{FF2B5EF4-FFF2-40B4-BE49-F238E27FC236}">
                <a16:creationId xmlns:a16="http://schemas.microsoft.com/office/drawing/2014/main" id="{6B3B28C6-2A9B-164C-A200-368317BD01EC}"/>
              </a:ext>
            </a:extLst>
          </p:cNvPr>
          <p:cNvSpPr>
            <a:spLocks noChangeShapeType="1"/>
          </p:cNvSpPr>
          <p:nvPr/>
        </p:nvSpPr>
        <p:spPr bwMode="auto">
          <a:xfrm>
            <a:off x="1258888" y="3213100"/>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2" name="Line 23">
            <a:extLst>
              <a:ext uri="{FF2B5EF4-FFF2-40B4-BE49-F238E27FC236}">
                <a16:creationId xmlns:a16="http://schemas.microsoft.com/office/drawing/2014/main" id="{B59AF8C8-7666-EE4E-9BDE-BA08924B60E2}"/>
              </a:ext>
            </a:extLst>
          </p:cNvPr>
          <p:cNvSpPr>
            <a:spLocks noChangeShapeType="1"/>
          </p:cNvSpPr>
          <p:nvPr/>
        </p:nvSpPr>
        <p:spPr bwMode="auto">
          <a:xfrm>
            <a:off x="1116013" y="3644900"/>
            <a:ext cx="2873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3" name="Line 24">
            <a:extLst>
              <a:ext uri="{FF2B5EF4-FFF2-40B4-BE49-F238E27FC236}">
                <a16:creationId xmlns:a16="http://schemas.microsoft.com/office/drawing/2014/main" id="{911F4F7C-3241-FF4B-B2D0-BF63E95F8996}"/>
              </a:ext>
            </a:extLst>
          </p:cNvPr>
          <p:cNvSpPr>
            <a:spLocks noChangeShapeType="1"/>
          </p:cNvSpPr>
          <p:nvPr/>
        </p:nvSpPr>
        <p:spPr bwMode="auto">
          <a:xfrm flipV="1">
            <a:off x="1114425" y="3644900"/>
            <a:ext cx="144463"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4" name="Line 25">
            <a:extLst>
              <a:ext uri="{FF2B5EF4-FFF2-40B4-BE49-F238E27FC236}">
                <a16:creationId xmlns:a16="http://schemas.microsoft.com/office/drawing/2014/main" id="{210CAA61-84CC-8343-8078-8F39971FFCBC}"/>
              </a:ext>
            </a:extLst>
          </p:cNvPr>
          <p:cNvSpPr>
            <a:spLocks noChangeShapeType="1"/>
          </p:cNvSpPr>
          <p:nvPr/>
        </p:nvSpPr>
        <p:spPr bwMode="auto">
          <a:xfrm flipH="1" flipV="1">
            <a:off x="1258888" y="3644900"/>
            <a:ext cx="142875"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5" name="Line 26">
            <a:extLst>
              <a:ext uri="{FF2B5EF4-FFF2-40B4-BE49-F238E27FC236}">
                <a16:creationId xmlns:a16="http://schemas.microsoft.com/office/drawing/2014/main" id="{EAB6F10F-132D-1744-BDE7-4C01FF5A816C}"/>
              </a:ext>
            </a:extLst>
          </p:cNvPr>
          <p:cNvSpPr>
            <a:spLocks noChangeShapeType="1"/>
          </p:cNvSpPr>
          <p:nvPr/>
        </p:nvSpPr>
        <p:spPr bwMode="auto">
          <a:xfrm>
            <a:off x="1116013" y="3932238"/>
            <a:ext cx="2873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6" name="Line 27">
            <a:extLst>
              <a:ext uri="{FF2B5EF4-FFF2-40B4-BE49-F238E27FC236}">
                <a16:creationId xmlns:a16="http://schemas.microsoft.com/office/drawing/2014/main" id="{79D68291-E2B4-494D-9715-29B1DBBE23A7}"/>
              </a:ext>
            </a:extLst>
          </p:cNvPr>
          <p:cNvSpPr>
            <a:spLocks noChangeShapeType="1"/>
          </p:cNvSpPr>
          <p:nvPr/>
        </p:nvSpPr>
        <p:spPr bwMode="auto">
          <a:xfrm>
            <a:off x="1258888" y="3932238"/>
            <a:ext cx="0" cy="720725"/>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7" name="Line 28">
            <a:extLst>
              <a:ext uri="{FF2B5EF4-FFF2-40B4-BE49-F238E27FC236}">
                <a16:creationId xmlns:a16="http://schemas.microsoft.com/office/drawing/2014/main" id="{583C40C9-9E1A-FD43-B00F-7BD468FA6E75}"/>
              </a:ext>
            </a:extLst>
          </p:cNvPr>
          <p:cNvSpPr>
            <a:spLocks noChangeShapeType="1"/>
          </p:cNvSpPr>
          <p:nvPr/>
        </p:nvSpPr>
        <p:spPr bwMode="auto">
          <a:xfrm>
            <a:off x="1258888" y="4940300"/>
            <a:ext cx="0" cy="720725"/>
          </a:xfrm>
          <a:prstGeom prst="line">
            <a:avLst/>
          </a:prstGeom>
          <a:noFill/>
          <a:ln w="952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8" name="Line 29">
            <a:extLst>
              <a:ext uri="{FF2B5EF4-FFF2-40B4-BE49-F238E27FC236}">
                <a16:creationId xmlns:a16="http://schemas.microsoft.com/office/drawing/2014/main" id="{10BC9328-D0C6-9043-B0ED-2793BD981151}"/>
              </a:ext>
            </a:extLst>
          </p:cNvPr>
          <p:cNvSpPr>
            <a:spLocks noChangeShapeType="1"/>
          </p:cNvSpPr>
          <p:nvPr/>
        </p:nvSpPr>
        <p:spPr bwMode="auto">
          <a:xfrm flipH="1">
            <a:off x="1042988" y="4652963"/>
            <a:ext cx="21590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9" name="Line 30">
            <a:extLst>
              <a:ext uri="{FF2B5EF4-FFF2-40B4-BE49-F238E27FC236}">
                <a16:creationId xmlns:a16="http://schemas.microsoft.com/office/drawing/2014/main" id="{5AFEE9B9-F0DB-F846-AADC-D86BDE823163}"/>
              </a:ext>
            </a:extLst>
          </p:cNvPr>
          <p:cNvSpPr>
            <a:spLocks noChangeShapeType="1"/>
          </p:cNvSpPr>
          <p:nvPr/>
        </p:nvSpPr>
        <p:spPr bwMode="auto">
          <a:xfrm>
            <a:off x="1258888" y="4149725"/>
            <a:ext cx="7921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0" name="Line 31">
            <a:extLst>
              <a:ext uri="{FF2B5EF4-FFF2-40B4-BE49-F238E27FC236}">
                <a16:creationId xmlns:a16="http://schemas.microsoft.com/office/drawing/2014/main" id="{7459D3C4-2621-7344-B83C-28B8D4D424AF}"/>
              </a:ext>
            </a:extLst>
          </p:cNvPr>
          <p:cNvSpPr>
            <a:spLocks noChangeShapeType="1"/>
          </p:cNvSpPr>
          <p:nvPr/>
        </p:nvSpPr>
        <p:spPr bwMode="auto">
          <a:xfrm flipH="1">
            <a:off x="1258888" y="5221288"/>
            <a:ext cx="641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1" name="Line 32">
            <a:extLst>
              <a:ext uri="{FF2B5EF4-FFF2-40B4-BE49-F238E27FC236}">
                <a16:creationId xmlns:a16="http://schemas.microsoft.com/office/drawing/2014/main" id="{BBC77098-25B5-AB48-BF8C-8D1200F13CE6}"/>
              </a:ext>
            </a:extLst>
          </p:cNvPr>
          <p:cNvSpPr>
            <a:spLocks noChangeShapeType="1"/>
          </p:cNvSpPr>
          <p:nvPr/>
        </p:nvSpPr>
        <p:spPr bwMode="auto">
          <a:xfrm flipH="1">
            <a:off x="2476500" y="4337050"/>
            <a:ext cx="7842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2" name="Text Box 33">
            <a:extLst>
              <a:ext uri="{FF2B5EF4-FFF2-40B4-BE49-F238E27FC236}">
                <a16:creationId xmlns:a16="http://schemas.microsoft.com/office/drawing/2014/main" id="{F6BB87FD-E830-DA45-9EFD-910364E7BBA3}"/>
              </a:ext>
            </a:extLst>
          </p:cNvPr>
          <p:cNvSpPr txBox="1">
            <a:spLocks noChangeArrowheads="1"/>
          </p:cNvSpPr>
          <p:nvPr/>
        </p:nvSpPr>
        <p:spPr bwMode="auto">
          <a:xfrm>
            <a:off x="2768600" y="4652963"/>
            <a:ext cx="4976813"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When switch opens, capacitor charges up, limiting </a:t>
            </a:r>
            <a:r>
              <a:rPr lang="en-GB" altLang="en-US" sz="1800" err="1">
                <a:latin typeface="Times New Roman" panose="02020603050405020304" pitchFamily="18" charset="0"/>
              </a:rPr>
              <a:t>dV</a:t>
            </a:r>
            <a:r>
              <a:rPr lang="en-GB" altLang="en-US" sz="1800">
                <a:latin typeface="Times New Roman" panose="02020603050405020304" pitchFamily="18" charset="0"/>
              </a:rPr>
              <a:t>/dt</a:t>
            </a:r>
            <a:r>
              <a:rPr lang="en-GB" altLang="en-US" sz="1800"/>
              <a:t>. (</a:t>
            </a:r>
            <a:r>
              <a:rPr lang="en-GB" altLang="en-US" sz="1800" b="1">
                <a:solidFill>
                  <a:srgbClr val="FF0000"/>
                </a:solidFill>
              </a:rPr>
              <a:t>Desired</a:t>
            </a:r>
            <a:r>
              <a:rPr lang="en-GB" altLang="en-US" sz="1800"/>
              <a:t>)</a:t>
            </a:r>
          </a:p>
          <a:p>
            <a:pPr eaLnBrk="1" hangingPunct="1">
              <a:spcBef>
                <a:spcPct val="0"/>
              </a:spcBef>
              <a:buFontTx/>
              <a:buNone/>
            </a:pPr>
            <a:endParaRPr lang="en-GB" altLang="en-US" sz="1800"/>
          </a:p>
          <a:p>
            <a:pPr eaLnBrk="1" hangingPunct="1">
              <a:spcBef>
                <a:spcPct val="0"/>
              </a:spcBef>
              <a:buFontTx/>
              <a:buNone/>
            </a:pPr>
            <a:r>
              <a:rPr lang="en-GB" altLang="en-US" sz="1800"/>
              <a:t>When switch closes, capacitor is shorted, causing current spike. (</a:t>
            </a:r>
            <a:r>
              <a:rPr lang="en-GB" altLang="en-US" sz="1800" b="1">
                <a:solidFill>
                  <a:srgbClr val="FF0000"/>
                </a:solidFill>
              </a:rPr>
              <a:t>Undesired</a:t>
            </a:r>
            <a:r>
              <a:rPr lang="en-GB" altLang="en-US" sz="1800"/>
              <a:t>)</a:t>
            </a:r>
            <a:endParaRPr lang="en-US" altLang="en-US" sz="1800"/>
          </a:p>
        </p:txBody>
      </p:sp>
      <p:sp>
        <p:nvSpPr>
          <p:cNvPr id="12313" name="Line 34">
            <a:extLst>
              <a:ext uri="{FF2B5EF4-FFF2-40B4-BE49-F238E27FC236}">
                <a16:creationId xmlns:a16="http://schemas.microsoft.com/office/drawing/2014/main" id="{A74B2E9F-53BA-AB46-A8BA-8A81095BAED1}"/>
              </a:ext>
            </a:extLst>
          </p:cNvPr>
          <p:cNvSpPr>
            <a:spLocks noChangeShapeType="1"/>
          </p:cNvSpPr>
          <p:nvPr/>
        </p:nvSpPr>
        <p:spPr bwMode="auto">
          <a:xfrm flipH="1" flipV="1">
            <a:off x="2322513" y="4789488"/>
            <a:ext cx="468312" cy="793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508701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C0E2A4-E1A4-E646-A78D-A1E83ED002C6}"/>
              </a:ext>
            </a:extLst>
          </p:cNvPr>
          <p:cNvSpPr>
            <a:spLocks noGrp="1"/>
          </p:cNvSpPr>
          <p:nvPr>
            <p:ph type="title"/>
          </p:nvPr>
        </p:nvSpPr>
        <p:spPr/>
        <p:txBody>
          <a:bodyPr/>
          <a:lstStyle/>
          <a:p>
            <a:r>
              <a:rPr lang="en-US" dirty="0"/>
              <a:t>What we learned?</a:t>
            </a:r>
          </a:p>
        </p:txBody>
      </p:sp>
      <p:sp>
        <p:nvSpPr>
          <p:cNvPr id="5" name="Content Placeholder 4">
            <a:extLst>
              <a:ext uri="{FF2B5EF4-FFF2-40B4-BE49-F238E27FC236}">
                <a16:creationId xmlns:a16="http://schemas.microsoft.com/office/drawing/2014/main" id="{90393319-285A-C747-AC05-06B62348D1F6}"/>
              </a:ext>
            </a:extLst>
          </p:cNvPr>
          <p:cNvSpPr>
            <a:spLocks noGrp="1"/>
          </p:cNvSpPr>
          <p:nvPr>
            <p:ph idx="1"/>
          </p:nvPr>
        </p:nvSpPr>
        <p:spPr/>
        <p:txBody>
          <a:bodyPr/>
          <a:lstStyle/>
          <a:p>
            <a:r>
              <a:rPr lang="en-US" sz="2800" dirty="0"/>
              <a:t>Snubber Circuits</a:t>
            </a:r>
          </a:p>
          <a:p>
            <a:pPr lvl="1"/>
            <a:r>
              <a:rPr lang="en-US" sz="2400" dirty="0"/>
              <a:t>Why? -&gt; functions</a:t>
            </a:r>
          </a:p>
          <a:p>
            <a:pPr lvl="1"/>
            <a:r>
              <a:rPr lang="en-US" sz="2400" dirty="0"/>
              <a:t>Where? -&gt; protection</a:t>
            </a:r>
          </a:p>
          <a:p>
            <a:pPr lvl="1"/>
            <a:r>
              <a:rPr lang="en-US" sz="2400" dirty="0"/>
              <a:t>How? -&gt; configurations</a:t>
            </a:r>
          </a:p>
          <a:p>
            <a:r>
              <a:rPr lang="en-US" sz="2800" dirty="0"/>
              <a:t>Classes of Snubber Circuits</a:t>
            </a:r>
          </a:p>
          <a:p>
            <a:r>
              <a:rPr lang="en-US" sz="2800" dirty="0"/>
              <a:t>Types of Snubber circuits</a:t>
            </a:r>
          </a:p>
          <a:p>
            <a:pPr lvl="1"/>
            <a:r>
              <a:rPr lang="en-US" sz="2400" dirty="0"/>
              <a:t>Series RC to mitigate ringing</a:t>
            </a:r>
          </a:p>
          <a:p>
            <a:pPr lvl="1"/>
            <a:r>
              <a:rPr lang="en-US" sz="2400" dirty="0"/>
              <a:t>Voltage snubbers (turn off)</a:t>
            </a:r>
          </a:p>
          <a:p>
            <a:pPr lvl="1"/>
            <a:r>
              <a:rPr lang="en-US" sz="2400" dirty="0"/>
              <a:t>Current snubbers (turn on)</a:t>
            </a:r>
          </a:p>
          <a:p>
            <a:pPr marL="0" indent="0">
              <a:buNone/>
            </a:pPr>
            <a:endParaRPr lang="en-US" sz="2800" dirty="0"/>
          </a:p>
          <a:p>
            <a:endParaRPr lang="en-US" sz="2800" dirty="0"/>
          </a:p>
        </p:txBody>
      </p:sp>
      <p:sp>
        <p:nvSpPr>
          <p:cNvPr id="2" name="Slide Number Placeholder 1">
            <a:extLst>
              <a:ext uri="{FF2B5EF4-FFF2-40B4-BE49-F238E27FC236}">
                <a16:creationId xmlns:a16="http://schemas.microsoft.com/office/drawing/2014/main" id="{E7D24974-3291-844E-AA7A-E183233050AD}"/>
              </a:ext>
            </a:extLst>
          </p:cNvPr>
          <p:cNvSpPr>
            <a:spLocks noGrp="1"/>
          </p:cNvSpPr>
          <p:nvPr>
            <p:ph type="sldNum" sz="quarter" idx="12"/>
          </p:nvPr>
        </p:nvSpPr>
        <p:spPr/>
        <p:txBody>
          <a:bodyPr/>
          <a:lstStyle/>
          <a:p>
            <a:fld id="{C398351E-2C11-9849-9B44-6122DA96ABF2}" type="slidenum">
              <a:rPr lang="en-US" altLang="en-US" smtClean="0"/>
              <a:pPr/>
              <a:t>26</a:t>
            </a:fld>
            <a:endParaRPr lang="en-US" altLang="en-US"/>
          </a:p>
        </p:txBody>
      </p:sp>
    </p:spTree>
    <p:extLst>
      <p:ext uri="{BB962C8B-B14F-4D97-AF65-F5344CB8AC3E}">
        <p14:creationId xmlns:p14="http://schemas.microsoft.com/office/powerpoint/2010/main" val="206015560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10700</TotalTime>
  <Words>2168</Words>
  <Application>Microsoft Office PowerPoint</Application>
  <PresentationFormat>On-screen Show (4:3)</PresentationFormat>
  <Paragraphs>228</Paragraphs>
  <Slides>26</Slides>
  <Notes>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5" baseType="lpstr">
      <vt:lpstr>宋体</vt:lpstr>
      <vt:lpstr>宋体</vt:lpstr>
      <vt:lpstr>Arial</vt:lpstr>
      <vt:lpstr>Cambria Math</vt:lpstr>
      <vt:lpstr>Times</vt:lpstr>
      <vt:lpstr>Times New Roman</vt:lpstr>
      <vt:lpstr>TimesNewRomanPSMT</vt:lpstr>
      <vt:lpstr>Default Design</vt:lpstr>
      <vt:lpstr>Equation</vt:lpstr>
      <vt:lpstr>Power Electronics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we learned?</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Andrew Knox</dc:creator>
  <cp:lastModifiedBy>Atif Jafri</cp:lastModifiedBy>
  <cp:revision>52</cp:revision>
  <dcterms:created xsi:type="dcterms:W3CDTF">2008-01-26T12:47:27Z</dcterms:created>
  <dcterms:modified xsi:type="dcterms:W3CDTF">2025-05-08T03:49:17Z</dcterms:modified>
</cp:coreProperties>
</file>