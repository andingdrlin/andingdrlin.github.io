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4"/>
  </p:notesMasterIdLst>
  <p:sldIdLst>
    <p:sldId id="277" r:id="rId2"/>
    <p:sldId id="320" r:id="rId3"/>
    <p:sldId id="319" r:id="rId4"/>
    <p:sldId id="301" r:id="rId5"/>
    <p:sldId id="307" r:id="rId6"/>
    <p:sldId id="310" r:id="rId7"/>
    <p:sldId id="311" r:id="rId8"/>
    <p:sldId id="313" r:id="rId9"/>
    <p:sldId id="330" r:id="rId10"/>
    <p:sldId id="334" r:id="rId11"/>
    <p:sldId id="333" r:id="rId12"/>
    <p:sldId id="331" r:id="rId13"/>
    <p:sldId id="314" r:id="rId14"/>
    <p:sldId id="348" r:id="rId15"/>
    <p:sldId id="315" r:id="rId16"/>
    <p:sldId id="329" r:id="rId17"/>
    <p:sldId id="317" r:id="rId18"/>
    <p:sldId id="335" r:id="rId19"/>
    <p:sldId id="346" r:id="rId20"/>
    <p:sldId id="336" r:id="rId21"/>
    <p:sldId id="347" r:id="rId22"/>
    <p:sldId id="337" r:id="rId23"/>
    <p:sldId id="323" r:id="rId24"/>
    <p:sldId id="338" r:id="rId25"/>
    <p:sldId id="327" r:id="rId26"/>
    <p:sldId id="324" r:id="rId27"/>
    <p:sldId id="339" r:id="rId28"/>
    <p:sldId id="340" r:id="rId29"/>
    <p:sldId id="342" r:id="rId30"/>
    <p:sldId id="343" r:id="rId31"/>
    <p:sldId id="345" r:id="rId32"/>
    <p:sldId id="341" r:id="rId3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808"/>
    <p:restoredTop sz="96110"/>
  </p:normalViewPr>
  <p:slideViewPr>
    <p:cSldViewPr snapToGrid="0" snapToObjects="1">
      <p:cViewPr varScale="1">
        <p:scale>
          <a:sx n="70" d="100"/>
          <a:sy n="70" d="100"/>
        </p:scale>
        <p:origin x="488"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859AF1-813F-0445-B1FB-86B77D94D98E}" type="datetimeFigureOut">
              <a:rPr lang="en-US" smtClean="0"/>
              <a:t>5/12/2025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E78384-6AAA-0A48-A2E9-CB4562A52E89}" type="slidenum">
              <a:rPr lang="en-US" smtClean="0"/>
              <a:t>‹#›</a:t>
            </a:fld>
            <a:endParaRPr lang="en-US"/>
          </a:p>
        </p:txBody>
      </p:sp>
    </p:spTree>
    <p:extLst>
      <p:ext uri="{BB962C8B-B14F-4D97-AF65-F5344CB8AC3E}">
        <p14:creationId xmlns:p14="http://schemas.microsoft.com/office/powerpoint/2010/main" val="32211196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80AF669-ACFE-D942-AAF4-46B993C76BA5}" type="slidenum">
              <a:rPr lang="en-US" altLang="en-US" smtClean="0"/>
              <a:pPr/>
              <a:t>1</a:t>
            </a:fld>
            <a:endParaRPr lang="en-US" altLang="en-US"/>
          </a:p>
        </p:txBody>
      </p:sp>
    </p:spTree>
    <p:extLst>
      <p:ext uri="{BB962C8B-B14F-4D97-AF65-F5344CB8AC3E}">
        <p14:creationId xmlns:p14="http://schemas.microsoft.com/office/powerpoint/2010/main" val="38933195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E78384-6AAA-0A48-A2E9-CB4562A52E89}" type="slidenum">
              <a:rPr lang="en-US" smtClean="0"/>
              <a:t>6</a:t>
            </a:fld>
            <a:endParaRPr lang="en-US"/>
          </a:p>
        </p:txBody>
      </p:sp>
    </p:spTree>
    <p:extLst>
      <p:ext uri="{BB962C8B-B14F-4D97-AF65-F5344CB8AC3E}">
        <p14:creationId xmlns:p14="http://schemas.microsoft.com/office/powerpoint/2010/main" val="20625134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E78384-6AAA-0A48-A2E9-CB4562A52E89}" type="slidenum">
              <a:rPr lang="en-US" smtClean="0"/>
              <a:t>7</a:t>
            </a:fld>
            <a:endParaRPr lang="en-US"/>
          </a:p>
        </p:txBody>
      </p:sp>
    </p:spTree>
    <p:extLst>
      <p:ext uri="{BB962C8B-B14F-4D97-AF65-F5344CB8AC3E}">
        <p14:creationId xmlns:p14="http://schemas.microsoft.com/office/powerpoint/2010/main" val="10443127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E78384-6AAA-0A48-A2E9-CB4562A52E89}" type="slidenum">
              <a:rPr lang="en-US" smtClean="0"/>
              <a:t>8</a:t>
            </a:fld>
            <a:endParaRPr lang="en-US"/>
          </a:p>
        </p:txBody>
      </p:sp>
    </p:spTree>
    <p:extLst>
      <p:ext uri="{BB962C8B-B14F-4D97-AF65-F5344CB8AC3E}">
        <p14:creationId xmlns:p14="http://schemas.microsoft.com/office/powerpoint/2010/main" val="25461805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E78384-6AAA-0A48-A2E9-CB4562A52E89}" type="slidenum">
              <a:rPr lang="en-US" smtClean="0"/>
              <a:t>9</a:t>
            </a:fld>
            <a:endParaRPr lang="en-US"/>
          </a:p>
        </p:txBody>
      </p:sp>
    </p:spTree>
    <p:extLst>
      <p:ext uri="{BB962C8B-B14F-4D97-AF65-F5344CB8AC3E}">
        <p14:creationId xmlns:p14="http://schemas.microsoft.com/office/powerpoint/2010/main" val="32067569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E78384-6AAA-0A48-A2E9-CB4562A52E89}" type="slidenum">
              <a:rPr lang="en-US" smtClean="0"/>
              <a:t>10</a:t>
            </a:fld>
            <a:endParaRPr lang="en-US"/>
          </a:p>
        </p:txBody>
      </p:sp>
    </p:spTree>
    <p:extLst>
      <p:ext uri="{BB962C8B-B14F-4D97-AF65-F5344CB8AC3E}">
        <p14:creationId xmlns:p14="http://schemas.microsoft.com/office/powerpoint/2010/main" val="38893010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E78384-6AAA-0A48-A2E9-CB4562A52E89}" type="slidenum">
              <a:rPr lang="en-US" smtClean="0"/>
              <a:t>11</a:t>
            </a:fld>
            <a:endParaRPr lang="en-US"/>
          </a:p>
        </p:txBody>
      </p:sp>
    </p:spTree>
    <p:extLst>
      <p:ext uri="{BB962C8B-B14F-4D97-AF65-F5344CB8AC3E}">
        <p14:creationId xmlns:p14="http://schemas.microsoft.com/office/powerpoint/2010/main" val="8084404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E78384-6AAA-0A48-A2E9-CB4562A52E89}" type="slidenum">
              <a:rPr lang="en-US" smtClean="0"/>
              <a:t>12</a:t>
            </a:fld>
            <a:endParaRPr lang="en-US"/>
          </a:p>
        </p:txBody>
      </p:sp>
    </p:spTree>
    <p:extLst>
      <p:ext uri="{BB962C8B-B14F-4D97-AF65-F5344CB8AC3E}">
        <p14:creationId xmlns:p14="http://schemas.microsoft.com/office/powerpoint/2010/main" val="34158600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E78384-6AAA-0A48-A2E9-CB4562A52E89}" type="slidenum">
              <a:rPr lang="en-US" smtClean="0"/>
              <a:t>13</a:t>
            </a:fld>
            <a:endParaRPr lang="en-US"/>
          </a:p>
        </p:txBody>
      </p:sp>
    </p:spTree>
    <p:extLst>
      <p:ext uri="{BB962C8B-B14F-4D97-AF65-F5344CB8AC3E}">
        <p14:creationId xmlns:p14="http://schemas.microsoft.com/office/powerpoint/2010/main" val="17994605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E78384-6AAA-0A48-A2E9-CB4562A52E89}" type="slidenum">
              <a:rPr lang="en-US" smtClean="0"/>
              <a:t>14</a:t>
            </a:fld>
            <a:endParaRPr lang="en-US"/>
          </a:p>
        </p:txBody>
      </p:sp>
    </p:spTree>
    <p:extLst>
      <p:ext uri="{BB962C8B-B14F-4D97-AF65-F5344CB8AC3E}">
        <p14:creationId xmlns:p14="http://schemas.microsoft.com/office/powerpoint/2010/main" val="15209842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E78384-6AAA-0A48-A2E9-CB4562A52E89}" type="slidenum">
              <a:rPr lang="en-US" smtClean="0"/>
              <a:t>15</a:t>
            </a:fld>
            <a:endParaRPr lang="en-US"/>
          </a:p>
        </p:txBody>
      </p:sp>
    </p:spTree>
    <p:extLst>
      <p:ext uri="{BB962C8B-B14F-4D97-AF65-F5344CB8AC3E}">
        <p14:creationId xmlns:p14="http://schemas.microsoft.com/office/powerpoint/2010/main" val="42330077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E78384-6AAA-0A48-A2E9-CB4562A52E89}" type="slidenum">
              <a:rPr lang="en-US" smtClean="0"/>
              <a:t>16</a:t>
            </a:fld>
            <a:endParaRPr lang="en-US"/>
          </a:p>
        </p:txBody>
      </p:sp>
    </p:spTree>
    <p:extLst>
      <p:ext uri="{BB962C8B-B14F-4D97-AF65-F5344CB8AC3E}">
        <p14:creationId xmlns:p14="http://schemas.microsoft.com/office/powerpoint/2010/main" val="42480454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E78384-6AAA-0A48-A2E9-CB4562A52E89}" type="slidenum">
              <a:rPr lang="en-US" smtClean="0"/>
              <a:t>17</a:t>
            </a:fld>
            <a:endParaRPr lang="en-US"/>
          </a:p>
        </p:txBody>
      </p:sp>
    </p:spTree>
    <p:extLst>
      <p:ext uri="{BB962C8B-B14F-4D97-AF65-F5344CB8AC3E}">
        <p14:creationId xmlns:p14="http://schemas.microsoft.com/office/powerpoint/2010/main" val="317620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E78384-6AAA-0A48-A2E9-CB4562A52E89}" type="slidenum">
              <a:rPr lang="en-US" smtClean="0"/>
              <a:t>18</a:t>
            </a:fld>
            <a:endParaRPr lang="en-US"/>
          </a:p>
        </p:txBody>
      </p:sp>
    </p:spTree>
    <p:extLst>
      <p:ext uri="{BB962C8B-B14F-4D97-AF65-F5344CB8AC3E}">
        <p14:creationId xmlns:p14="http://schemas.microsoft.com/office/powerpoint/2010/main" val="5914047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E78384-6AAA-0A48-A2E9-CB4562A52E89}" type="slidenum">
              <a:rPr lang="en-US" smtClean="0"/>
              <a:t>20</a:t>
            </a:fld>
            <a:endParaRPr lang="en-US"/>
          </a:p>
        </p:txBody>
      </p:sp>
    </p:spTree>
    <p:extLst>
      <p:ext uri="{BB962C8B-B14F-4D97-AF65-F5344CB8AC3E}">
        <p14:creationId xmlns:p14="http://schemas.microsoft.com/office/powerpoint/2010/main" val="29087995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E78384-6AAA-0A48-A2E9-CB4562A52E89}" type="slidenum">
              <a:rPr lang="en-US" smtClean="0"/>
              <a:t>22</a:t>
            </a:fld>
            <a:endParaRPr lang="en-US"/>
          </a:p>
        </p:txBody>
      </p:sp>
    </p:spTree>
    <p:extLst>
      <p:ext uri="{BB962C8B-B14F-4D97-AF65-F5344CB8AC3E}">
        <p14:creationId xmlns:p14="http://schemas.microsoft.com/office/powerpoint/2010/main" val="31076343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E78384-6AAA-0A48-A2E9-CB4562A52E89}" type="slidenum">
              <a:rPr lang="en-US" smtClean="0"/>
              <a:t>23</a:t>
            </a:fld>
            <a:endParaRPr lang="en-US"/>
          </a:p>
        </p:txBody>
      </p:sp>
    </p:spTree>
    <p:extLst>
      <p:ext uri="{BB962C8B-B14F-4D97-AF65-F5344CB8AC3E}">
        <p14:creationId xmlns:p14="http://schemas.microsoft.com/office/powerpoint/2010/main" val="1279752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E78384-6AAA-0A48-A2E9-CB4562A52E89}" type="slidenum">
              <a:rPr lang="en-US" smtClean="0"/>
              <a:t>24</a:t>
            </a:fld>
            <a:endParaRPr lang="en-US"/>
          </a:p>
        </p:txBody>
      </p:sp>
    </p:spTree>
    <p:extLst>
      <p:ext uri="{BB962C8B-B14F-4D97-AF65-F5344CB8AC3E}">
        <p14:creationId xmlns:p14="http://schemas.microsoft.com/office/powerpoint/2010/main" val="29679967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E78384-6AAA-0A48-A2E9-CB4562A52E89}" type="slidenum">
              <a:rPr lang="en-US" smtClean="0"/>
              <a:t>25</a:t>
            </a:fld>
            <a:endParaRPr lang="en-US"/>
          </a:p>
        </p:txBody>
      </p:sp>
    </p:spTree>
    <p:extLst>
      <p:ext uri="{BB962C8B-B14F-4D97-AF65-F5344CB8AC3E}">
        <p14:creationId xmlns:p14="http://schemas.microsoft.com/office/powerpoint/2010/main" val="17315460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E78384-6AAA-0A48-A2E9-CB4562A52E89}" type="slidenum">
              <a:rPr lang="en-US" smtClean="0"/>
              <a:t>27</a:t>
            </a:fld>
            <a:endParaRPr lang="en-US"/>
          </a:p>
        </p:txBody>
      </p:sp>
    </p:spTree>
    <p:extLst>
      <p:ext uri="{BB962C8B-B14F-4D97-AF65-F5344CB8AC3E}">
        <p14:creationId xmlns:p14="http://schemas.microsoft.com/office/powerpoint/2010/main" val="30053328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GB"/>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CAFE316E-B748-1744-A085-17D24E381026}" type="datetimeFigureOut">
              <a:rPr lang="en-US" smtClean="0"/>
              <a:t>5/12/2025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27354C-152B-0042-9C47-F2793FA440B7}" type="slidenum">
              <a:rPr lang="en-US" smtClean="0"/>
              <a:t>‹#›</a:t>
            </a:fld>
            <a:endParaRPr lang="en-US"/>
          </a:p>
        </p:txBody>
      </p:sp>
    </p:spTree>
    <p:extLst>
      <p:ext uri="{BB962C8B-B14F-4D97-AF65-F5344CB8AC3E}">
        <p14:creationId xmlns:p14="http://schemas.microsoft.com/office/powerpoint/2010/main" val="13494311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AFE316E-B748-1744-A085-17D24E381026}" type="datetimeFigureOut">
              <a:rPr lang="en-US" smtClean="0"/>
              <a:t>5/12/2025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27354C-152B-0042-9C47-F2793FA440B7}" type="slidenum">
              <a:rPr lang="en-US" smtClean="0"/>
              <a:t>‹#›</a:t>
            </a:fld>
            <a:endParaRPr lang="en-US"/>
          </a:p>
        </p:txBody>
      </p:sp>
    </p:spTree>
    <p:extLst>
      <p:ext uri="{BB962C8B-B14F-4D97-AF65-F5344CB8AC3E}">
        <p14:creationId xmlns:p14="http://schemas.microsoft.com/office/powerpoint/2010/main" val="27674176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CAFE316E-B748-1744-A085-17D24E381026}" type="datetimeFigureOut">
              <a:rPr lang="en-US" smtClean="0"/>
              <a:t>5/12/2025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27354C-152B-0042-9C47-F2793FA440B7}" type="slidenum">
              <a:rPr lang="en-US" smtClean="0"/>
              <a:t>‹#›</a:t>
            </a:fld>
            <a:endParaRPr lang="en-US"/>
          </a:p>
        </p:txBody>
      </p:sp>
    </p:spTree>
    <p:extLst>
      <p:ext uri="{BB962C8B-B14F-4D97-AF65-F5344CB8AC3E}">
        <p14:creationId xmlns:p14="http://schemas.microsoft.com/office/powerpoint/2010/main" val="19344772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CAFE316E-B748-1744-A085-17D24E381026}" type="datetimeFigureOut">
              <a:rPr lang="en-US" smtClean="0"/>
              <a:t>5/12/2025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27354C-152B-0042-9C47-F2793FA440B7}" type="slidenum">
              <a:rPr lang="en-US" smtClean="0"/>
              <a:t>‹#›</a:t>
            </a:fld>
            <a:endParaRPr lang="en-US"/>
          </a:p>
        </p:txBody>
      </p:sp>
    </p:spTree>
    <p:extLst>
      <p:ext uri="{BB962C8B-B14F-4D97-AF65-F5344CB8AC3E}">
        <p14:creationId xmlns:p14="http://schemas.microsoft.com/office/powerpoint/2010/main" val="3161569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GB"/>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CAFE316E-B748-1744-A085-17D24E381026}" type="datetimeFigureOut">
              <a:rPr lang="en-US" smtClean="0"/>
              <a:t>5/12/2025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627354C-152B-0042-9C47-F2793FA440B7}" type="slidenum">
              <a:rPr lang="en-US" smtClean="0"/>
              <a:t>‹#›</a:t>
            </a:fld>
            <a:endParaRPr lang="en-US"/>
          </a:p>
        </p:txBody>
      </p:sp>
    </p:spTree>
    <p:extLst>
      <p:ext uri="{BB962C8B-B14F-4D97-AF65-F5344CB8AC3E}">
        <p14:creationId xmlns:p14="http://schemas.microsoft.com/office/powerpoint/2010/main" val="545700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CAFE316E-B748-1744-A085-17D24E381026}" type="datetimeFigureOut">
              <a:rPr lang="en-US" smtClean="0"/>
              <a:t>5/12/2025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627354C-152B-0042-9C47-F2793FA440B7}" type="slidenum">
              <a:rPr lang="en-US" smtClean="0"/>
              <a:t>‹#›</a:t>
            </a:fld>
            <a:endParaRPr lang="en-US"/>
          </a:p>
        </p:txBody>
      </p:sp>
    </p:spTree>
    <p:extLst>
      <p:ext uri="{BB962C8B-B14F-4D97-AF65-F5344CB8AC3E}">
        <p14:creationId xmlns:p14="http://schemas.microsoft.com/office/powerpoint/2010/main" val="11986414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FE316E-B748-1744-A085-17D24E381026}" type="datetimeFigureOut">
              <a:rPr lang="en-US" smtClean="0"/>
              <a:t>5/12/2025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627354C-152B-0042-9C47-F2793FA440B7}" type="slidenum">
              <a:rPr lang="en-US" smtClean="0"/>
              <a:t>‹#›</a:t>
            </a:fld>
            <a:endParaRPr lang="en-US"/>
          </a:p>
        </p:txBody>
      </p:sp>
    </p:spTree>
    <p:extLst>
      <p:ext uri="{BB962C8B-B14F-4D97-AF65-F5344CB8AC3E}">
        <p14:creationId xmlns:p14="http://schemas.microsoft.com/office/powerpoint/2010/main" val="38730533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CAFE316E-B748-1744-A085-17D24E381026}" type="datetimeFigureOut">
              <a:rPr lang="en-US" smtClean="0"/>
              <a:t>5/12/2025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27354C-152B-0042-9C47-F2793FA440B7}" type="slidenum">
              <a:rPr lang="en-US" smtClean="0"/>
              <a:t>‹#›</a:t>
            </a:fld>
            <a:endParaRPr lang="en-US"/>
          </a:p>
        </p:txBody>
      </p:sp>
    </p:spTree>
    <p:extLst>
      <p:ext uri="{BB962C8B-B14F-4D97-AF65-F5344CB8AC3E}">
        <p14:creationId xmlns:p14="http://schemas.microsoft.com/office/powerpoint/2010/main" val="34147556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CAFE316E-B748-1744-A085-17D24E381026}" type="datetimeFigureOut">
              <a:rPr lang="en-US" smtClean="0"/>
              <a:t>5/12/2025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27354C-152B-0042-9C47-F2793FA440B7}" type="slidenum">
              <a:rPr lang="en-US" smtClean="0"/>
              <a:t>‹#›</a:t>
            </a:fld>
            <a:endParaRPr lang="en-US"/>
          </a:p>
        </p:txBody>
      </p:sp>
    </p:spTree>
    <p:extLst>
      <p:ext uri="{BB962C8B-B14F-4D97-AF65-F5344CB8AC3E}">
        <p14:creationId xmlns:p14="http://schemas.microsoft.com/office/powerpoint/2010/main" val="35567210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AFE316E-B748-1744-A085-17D24E381026}" type="datetimeFigureOut">
              <a:rPr lang="en-US" smtClean="0"/>
              <a:t>5/12/2025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27354C-152B-0042-9C47-F2793FA440B7}" type="slidenum">
              <a:rPr lang="en-US" smtClean="0"/>
              <a:t>‹#›</a:t>
            </a:fld>
            <a:endParaRPr lang="en-US"/>
          </a:p>
        </p:txBody>
      </p:sp>
    </p:spTree>
    <p:extLst>
      <p:ext uri="{BB962C8B-B14F-4D97-AF65-F5344CB8AC3E}">
        <p14:creationId xmlns:p14="http://schemas.microsoft.com/office/powerpoint/2010/main" val="40142305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AFE316E-B748-1744-A085-17D24E381026}" type="datetimeFigureOut">
              <a:rPr lang="en-US" smtClean="0"/>
              <a:t>5/12/2025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27354C-152B-0042-9C47-F2793FA440B7}" type="slidenum">
              <a:rPr lang="en-US" smtClean="0"/>
              <a:t>‹#›</a:t>
            </a:fld>
            <a:endParaRPr lang="en-US"/>
          </a:p>
        </p:txBody>
      </p:sp>
    </p:spTree>
    <p:extLst>
      <p:ext uri="{BB962C8B-B14F-4D97-AF65-F5344CB8AC3E}">
        <p14:creationId xmlns:p14="http://schemas.microsoft.com/office/powerpoint/2010/main" val="42379654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FE316E-B748-1744-A085-17D24E381026}" type="datetimeFigureOut">
              <a:rPr lang="en-US" smtClean="0"/>
              <a:t>5/12/2025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27354C-152B-0042-9C47-F2793FA440B7}" type="slidenum">
              <a:rPr lang="en-US" smtClean="0"/>
              <a:t>‹#›</a:t>
            </a:fld>
            <a:endParaRPr lang="en-US"/>
          </a:p>
        </p:txBody>
      </p:sp>
    </p:spTree>
    <p:extLst>
      <p:ext uri="{BB962C8B-B14F-4D97-AF65-F5344CB8AC3E}">
        <p14:creationId xmlns:p14="http://schemas.microsoft.com/office/powerpoint/2010/main" val="105808992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2.emf"/><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2.emf"/><Relationship Id="rId7"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emf"/><Relationship Id="rId9" Type="http://schemas.openxmlformats.org/officeDocument/2006/relationships/image" Target="../media/image23.png"/></Relationships>
</file>

<file path=ppt/slides/_rels/slide8.xml.rels><?xml version="1.0" encoding="UTF-8" standalone="yes"?>
<Relationships xmlns="http://schemas.openxmlformats.org/package/2006/relationships"><Relationship Id="rId8" Type="http://schemas.openxmlformats.org/officeDocument/2006/relationships/image" Target="../media/image2.emf"/><Relationship Id="rId3" Type="http://schemas.openxmlformats.org/officeDocument/2006/relationships/image" Target="../media/image18.emf"/><Relationship Id="rId7" Type="http://schemas.openxmlformats.org/officeDocument/2006/relationships/image" Target="../media/image2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19.png"/><Relationship Id="rId9" Type="http://schemas.openxmlformats.org/officeDocument/2006/relationships/image" Target="../media/image27.png"/></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0.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emf"/><Relationship Id="rId7" Type="http://schemas.openxmlformats.org/officeDocument/2006/relationships/image" Target="../media/image3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10" Type="http://schemas.openxmlformats.org/officeDocument/2006/relationships/image" Target="../media/image35.png"/><Relationship Id="rId4" Type="http://schemas.openxmlformats.org/officeDocument/2006/relationships/image" Target="../media/image30.png"/><Relationship Id="rId9" Type="http://schemas.openxmlformats.org/officeDocument/2006/relationships/image" Target="../media/image34.png"/></Relationships>
</file>

<file path=ppt/slides/_rels/slide11.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36.png"/><Relationship Id="rId7" Type="http://schemas.openxmlformats.org/officeDocument/2006/relationships/image" Target="../media/image38.png"/><Relationship Id="rId12" Type="http://schemas.openxmlformats.org/officeDocument/2006/relationships/image" Target="../media/image41.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37.png"/><Relationship Id="rId11" Type="http://schemas.openxmlformats.org/officeDocument/2006/relationships/image" Target="../media/image40.png"/><Relationship Id="rId5" Type="http://schemas.openxmlformats.org/officeDocument/2006/relationships/image" Target="../media/image31.png"/><Relationship Id="rId10" Type="http://schemas.openxmlformats.org/officeDocument/2006/relationships/image" Target="../media/image39.png"/><Relationship Id="rId4" Type="http://schemas.openxmlformats.org/officeDocument/2006/relationships/image" Target="../media/image32.png"/><Relationship Id="rId9" Type="http://schemas.openxmlformats.org/officeDocument/2006/relationships/image" Target="../media/image2.emf"/></Relationships>
</file>

<file path=ppt/slides/_rels/slide12.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image" Target="../media/image51.png"/><Relationship Id="rId18" Type="http://schemas.openxmlformats.org/officeDocument/2006/relationships/image" Target="../media/image55.png"/><Relationship Id="rId3" Type="http://schemas.openxmlformats.org/officeDocument/2006/relationships/image" Target="../media/image42.png"/><Relationship Id="rId21" Type="http://schemas.openxmlformats.org/officeDocument/2006/relationships/image" Target="../media/image58.png"/><Relationship Id="rId7" Type="http://schemas.openxmlformats.org/officeDocument/2006/relationships/image" Target="../media/image45.png"/><Relationship Id="rId12" Type="http://schemas.openxmlformats.org/officeDocument/2006/relationships/image" Target="../media/image50.png"/><Relationship Id="rId17" Type="http://schemas.openxmlformats.org/officeDocument/2006/relationships/image" Target="../media/image10.png"/><Relationship Id="rId2" Type="http://schemas.openxmlformats.org/officeDocument/2006/relationships/notesSlide" Target="../notesSlides/notesSlide8.xml"/><Relationship Id="rId16" Type="http://schemas.openxmlformats.org/officeDocument/2006/relationships/image" Target="../media/image54.png"/><Relationship Id="rId20" Type="http://schemas.openxmlformats.org/officeDocument/2006/relationships/image" Target="../media/image57.png"/><Relationship Id="rId1" Type="http://schemas.openxmlformats.org/officeDocument/2006/relationships/slideLayout" Target="../slideLayouts/slideLayout2.xml"/><Relationship Id="rId6" Type="http://schemas.openxmlformats.org/officeDocument/2006/relationships/image" Target="../media/image2.emf"/><Relationship Id="rId11" Type="http://schemas.openxmlformats.org/officeDocument/2006/relationships/image" Target="../media/image49.png"/><Relationship Id="rId5" Type="http://schemas.openxmlformats.org/officeDocument/2006/relationships/image" Target="../media/image44.png"/><Relationship Id="rId15" Type="http://schemas.openxmlformats.org/officeDocument/2006/relationships/image" Target="../media/image53.png"/><Relationship Id="rId10" Type="http://schemas.openxmlformats.org/officeDocument/2006/relationships/image" Target="../media/image48.png"/><Relationship Id="rId19" Type="http://schemas.openxmlformats.org/officeDocument/2006/relationships/image" Target="../media/image56.png"/><Relationship Id="rId4" Type="http://schemas.openxmlformats.org/officeDocument/2006/relationships/image" Target="../media/image43.png"/><Relationship Id="rId9" Type="http://schemas.openxmlformats.org/officeDocument/2006/relationships/image" Target="../media/image47.png"/><Relationship Id="rId14" Type="http://schemas.openxmlformats.org/officeDocument/2006/relationships/image" Target="../media/image52.png"/></Relationships>
</file>

<file path=ppt/slides/_rels/slide1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61.png"/><Relationship Id="rId4" Type="http://schemas.openxmlformats.org/officeDocument/2006/relationships/image" Target="../media/image60.png"/></Relationships>
</file>

<file path=ppt/slides/_rels/slide14.xml.rels><?xml version="1.0" encoding="UTF-8" standalone="yes"?>
<Relationships xmlns="http://schemas.openxmlformats.org/package/2006/relationships"><Relationship Id="rId8" Type="http://schemas.openxmlformats.org/officeDocument/2006/relationships/image" Target="../media/image630.png"/><Relationship Id="rId13" Type="http://schemas.openxmlformats.org/officeDocument/2006/relationships/image" Target="../media/image68.png"/><Relationship Id="rId3" Type="http://schemas.openxmlformats.org/officeDocument/2006/relationships/image" Target="../media/image2.emf"/><Relationship Id="rId7" Type="http://schemas.openxmlformats.org/officeDocument/2006/relationships/image" Target="../media/image63.png"/><Relationship Id="rId12" Type="http://schemas.openxmlformats.org/officeDocument/2006/relationships/image" Target="../media/image67.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62.png"/><Relationship Id="rId11" Type="http://schemas.openxmlformats.org/officeDocument/2006/relationships/image" Target="../media/image66.png"/><Relationship Id="rId5" Type="http://schemas.openxmlformats.org/officeDocument/2006/relationships/image" Target="../media/image600.png"/><Relationship Id="rId15" Type="http://schemas.openxmlformats.org/officeDocument/2006/relationships/image" Target="../media/image70.png"/><Relationship Id="rId10" Type="http://schemas.openxmlformats.org/officeDocument/2006/relationships/image" Target="../media/image65.png"/><Relationship Id="rId4" Type="http://schemas.openxmlformats.org/officeDocument/2006/relationships/image" Target="../media/image590.png"/><Relationship Id="rId9" Type="http://schemas.openxmlformats.org/officeDocument/2006/relationships/image" Target="../media/image64.png"/><Relationship Id="rId14" Type="http://schemas.openxmlformats.org/officeDocument/2006/relationships/image" Target="../media/image69.png"/></Relationships>
</file>

<file path=ppt/slides/_rels/slide15.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image" Target="../media/image78.png"/><Relationship Id="rId3" Type="http://schemas.openxmlformats.org/officeDocument/2006/relationships/image" Target="../media/image69.jpeg"/><Relationship Id="rId7" Type="http://schemas.openxmlformats.org/officeDocument/2006/relationships/image" Target="../media/image73.png"/><Relationship Id="rId12" Type="http://schemas.openxmlformats.org/officeDocument/2006/relationships/image" Target="../media/image77.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emf"/><Relationship Id="rId11" Type="http://schemas.openxmlformats.org/officeDocument/2006/relationships/image" Target="../media/image76.png"/><Relationship Id="rId5" Type="http://schemas.openxmlformats.org/officeDocument/2006/relationships/image" Target="../media/image67.png"/><Relationship Id="rId10" Type="http://schemas.openxmlformats.org/officeDocument/2006/relationships/image" Target="../media/image74.png"/><Relationship Id="rId4" Type="http://schemas.openxmlformats.org/officeDocument/2006/relationships/image" Target="../media/image71.png"/><Relationship Id="rId9" Type="http://schemas.openxmlformats.org/officeDocument/2006/relationships/image" Target="../media/image72.png"/></Relationships>
</file>

<file path=ppt/slides/_rels/slide16.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image" Target="../media/image75.png"/><Relationship Id="rId7" Type="http://schemas.openxmlformats.org/officeDocument/2006/relationships/image" Target="../media/image80.png"/><Relationship Id="rId12" Type="http://schemas.openxmlformats.org/officeDocument/2006/relationships/image" Target="../media/image84.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79.png"/><Relationship Id="rId11" Type="http://schemas.openxmlformats.org/officeDocument/2006/relationships/image" Target="../media/image85.png"/><Relationship Id="rId5" Type="http://schemas.openxmlformats.org/officeDocument/2006/relationships/image" Target="../media/image67.png"/><Relationship Id="rId10" Type="http://schemas.openxmlformats.org/officeDocument/2006/relationships/image" Target="../media/image82.png"/><Relationship Id="rId4" Type="http://schemas.openxmlformats.org/officeDocument/2006/relationships/image" Target="../media/image71.png"/><Relationship Id="rId9" Type="http://schemas.openxmlformats.org/officeDocument/2006/relationships/image" Target="../media/image83.png"/></Relationships>
</file>

<file path=ppt/slides/_rels/slide17.xml.rels><?xml version="1.0" encoding="UTF-8" standalone="yes"?>
<Relationships xmlns="http://schemas.openxmlformats.org/package/2006/relationships"><Relationship Id="rId8" Type="http://schemas.openxmlformats.org/officeDocument/2006/relationships/image" Target="../media/image89.png"/><Relationship Id="rId3" Type="http://schemas.openxmlformats.org/officeDocument/2006/relationships/image" Target="../media/image71.png"/><Relationship Id="rId7" Type="http://schemas.openxmlformats.org/officeDocument/2006/relationships/image" Target="../media/image88.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87.png"/><Relationship Id="rId5" Type="http://schemas.openxmlformats.org/officeDocument/2006/relationships/image" Target="../media/image86.png"/><Relationship Id="rId10" Type="http://schemas.openxmlformats.org/officeDocument/2006/relationships/image" Target="../media/image91.png"/><Relationship Id="rId4" Type="http://schemas.openxmlformats.org/officeDocument/2006/relationships/image" Target="../media/image17.png"/><Relationship Id="rId9" Type="http://schemas.openxmlformats.org/officeDocument/2006/relationships/image" Target="../media/image90.png"/></Relationships>
</file>

<file path=ppt/slides/_rels/slide18.xml.rels><?xml version="1.0" encoding="UTF-8" standalone="yes"?>
<Relationships xmlns="http://schemas.openxmlformats.org/package/2006/relationships"><Relationship Id="rId8" Type="http://schemas.openxmlformats.org/officeDocument/2006/relationships/image" Target="../media/image97.png"/><Relationship Id="rId13" Type="http://schemas.openxmlformats.org/officeDocument/2006/relationships/image" Target="../media/image100.png"/><Relationship Id="rId3" Type="http://schemas.openxmlformats.org/officeDocument/2006/relationships/image" Target="../media/image92.png"/><Relationship Id="rId7" Type="http://schemas.openxmlformats.org/officeDocument/2006/relationships/image" Target="../media/image95.png"/><Relationship Id="rId12" Type="http://schemas.openxmlformats.org/officeDocument/2006/relationships/image" Target="../media/image99.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93.png"/><Relationship Id="rId11" Type="http://schemas.openxmlformats.org/officeDocument/2006/relationships/image" Target="../media/image98.png"/><Relationship Id="rId5" Type="http://schemas.openxmlformats.org/officeDocument/2006/relationships/image" Target="../media/image94.png"/><Relationship Id="rId15" Type="http://schemas.openxmlformats.org/officeDocument/2006/relationships/image" Target="../media/image102.png"/><Relationship Id="rId10" Type="http://schemas.openxmlformats.org/officeDocument/2006/relationships/image" Target="../media/image96.png"/><Relationship Id="rId4" Type="http://schemas.openxmlformats.org/officeDocument/2006/relationships/image" Target="../media/image82.png"/><Relationship Id="rId9" Type="http://schemas.openxmlformats.org/officeDocument/2006/relationships/image" Target="../media/image18.emf"/><Relationship Id="rId14" Type="http://schemas.openxmlformats.org/officeDocument/2006/relationships/image" Target="../media/image101.png"/></Relationships>
</file>

<file path=ppt/slides/_rels/slide19.xml.rels><?xml version="1.0" encoding="UTF-8" standalone="yes"?>
<Relationships xmlns="http://schemas.openxmlformats.org/package/2006/relationships"><Relationship Id="rId8" Type="http://schemas.openxmlformats.org/officeDocument/2006/relationships/image" Target="../media/image109.png"/><Relationship Id="rId3" Type="http://schemas.openxmlformats.org/officeDocument/2006/relationships/image" Target="../media/image104.png"/><Relationship Id="rId7" Type="http://schemas.openxmlformats.org/officeDocument/2006/relationships/image" Target="../media/image108.png"/><Relationship Id="rId2" Type="http://schemas.openxmlformats.org/officeDocument/2006/relationships/image" Target="../media/image103.png"/><Relationship Id="rId1" Type="http://schemas.openxmlformats.org/officeDocument/2006/relationships/slideLayout" Target="../slideLayouts/slideLayout2.xml"/><Relationship Id="rId6" Type="http://schemas.openxmlformats.org/officeDocument/2006/relationships/image" Target="../media/image107.png"/><Relationship Id="rId5" Type="http://schemas.openxmlformats.org/officeDocument/2006/relationships/image" Target="../media/image106.png"/><Relationship Id="rId4" Type="http://schemas.openxmlformats.org/officeDocument/2006/relationships/image" Target="../media/image105.png"/></Relationships>
</file>

<file path=ppt/slides/_rels/slide20.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110.png"/><Relationship Id="rId7" Type="http://schemas.openxmlformats.org/officeDocument/2006/relationships/image" Target="../media/image66.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00.png"/><Relationship Id="rId11" Type="http://schemas.openxmlformats.org/officeDocument/2006/relationships/image" Target="../media/image1050.png"/><Relationship Id="rId5" Type="http://schemas.openxmlformats.org/officeDocument/2006/relationships/image" Target="../media/image1030.png"/><Relationship Id="rId10" Type="http://schemas.openxmlformats.org/officeDocument/2006/relationships/image" Target="../media/image1040.png"/><Relationship Id="rId4" Type="http://schemas.openxmlformats.org/officeDocument/2006/relationships/image" Target="../media/image95.png"/><Relationship Id="rId9" Type="http://schemas.openxmlformats.org/officeDocument/2006/relationships/image" Target="../media/image630.png"/></Relationships>
</file>

<file path=ppt/slides/_rels/slide21.xml.rels><?xml version="1.0" encoding="UTF-8" standalone="yes"?>
<Relationships xmlns="http://schemas.openxmlformats.org/package/2006/relationships"><Relationship Id="rId8" Type="http://schemas.openxmlformats.org/officeDocument/2006/relationships/image" Target="../media/image115.png"/><Relationship Id="rId3" Type="http://schemas.openxmlformats.org/officeDocument/2006/relationships/image" Target="../media/image112.png"/><Relationship Id="rId7" Type="http://schemas.openxmlformats.org/officeDocument/2006/relationships/image" Target="../media/image114.png"/><Relationship Id="rId2" Type="http://schemas.openxmlformats.org/officeDocument/2006/relationships/image" Target="../media/image111.png"/><Relationship Id="rId1" Type="http://schemas.openxmlformats.org/officeDocument/2006/relationships/slideLayout" Target="../slideLayouts/slideLayout2.xml"/><Relationship Id="rId6" Type="http://schemas.openxmlformats.org/officeDocument/2006/relationships/image" Target="../media/image113.png"/><Relationship Id="rId11" Type="http://schemas.openxmlformats.org/officeDocument/2006/relationships/image" Target="../media/image118.png"/><Relationship Id="rId5" Type="http://schemas.openxmlformats.org/officeDocument/2006/relationships/image" Target="../media/image107.png"/><Relationship Id="rId10" Type="http://schemas.openxmlformats.org/officeDocument/2006/relationships/image" Target="../media/image117.png"/><Relationship Id="rId4" Type="http://schemas.openxmlformats.org/officeDocument/2006/relationships/image" Target="../media/image106.png"/><Relationship Id="rId9" Type="http://schemas.openxmlformats.org/officeDocument/2006/relationships/image" Target="../media/image116.png"/></Relationships>
</file>

<file path=ppt/slides/_rels/slide22.xml.rels><?xml version="1.0" encoding="UTF-8" standalone="yes"?>
<Relationships xmlns="http://schemas.openxmlformats.org/package/2006/relationships"><Relationship Id="rId8" Type="http://schemas.openxmlformats.org/officeDocument/2006/relationships/image" Target="../media/image93.png"/><Relationship Id="rId3" Type="http://schemas.openxmlformats.org/officeDocument/2006/relationships/image" Target="../media/image110.png"/><Relationship Id="rId7" Type="http://schemas.openxmlformats.org/officeDocument/2006/relationships/image" Target="../media/image1070.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82.png"/><Relationship Id="rId5" Type="http://schemas.openxmlformats.org/officeDocument/2006/relationships/image" Target="../media/image92.png"/><Relationship Id="rId4" Type="http://schemas.openxmlformats.org/officeDocument/2006/relationships/image" Target="../media/image119.png"/></Relationships>
</file>

<file path=ppt/slides/_rels/slide23.xml.rels><?xml version="1.0" encoding="UTF-8" standalone="yes"?>
<Relationships xmlns="http://schemas.openxmlformats.org/package/2006/relationships"><Relationship Id="rId8" Type="http://schemas.openxmlformats.org/officeDocument/2006/relationships/image" Target="../media/image1120.png"/><Relationship Id="rId13" Type="http://schemas.openxmlformats.org/officeDocument/2006/relationships/image" Target="../media/image1170.png"/><Relationship Id="rId3" Type="http://schemas.openxmlformats.org/officeDocument/2006/relationships/image" Target="../media/image100.png"/><Relationship Id="rId7" Type="http://schemas.openxmlformats.org/officeDocument/2006/relationships/image" Target="../media/image1110.png"/><Relationship Id="rId12" Type="http://schemas.openxmlformats.org/officeDocument/2006/relationships/image" Target="../media/image1160.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100.png"/><Relationship Id="rId11" Type="http://schemas.openxmlformats.org/officeDocument/2006/relationships/image" Target="../media/image1150.png"/><Relationship Id="rId5" Type="http://schemas.openxmlformats.org/officeDocument/2006/relationships/image" Target="../media/image121.emf"/><Relationship Id="rId10" Type="http://schemas.openxmlformats.org/officeDocument/2006/relationships/image" Target="../media/image122.emf"/><Relationship Id="rId4" Type="http://schemas.openxmlformats.org/officeDocument/2006/relationships/image" Target="../media/image120.png"/><Relationship Id="rId9" Type="http://schemas.openxmlformats.org/officeDocument/2006/relationships/image" Target="../media/image1130.png"/><Relationship Id="rId14" Type="http://schemas.openxmlformats.org/officeDocument/2006/relationships/image" Target="../media/image1180.png"/></Relationships>
</file>

<file path=ppt/slides/_rels/slide24.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20.png"/><Relationship Id="rId7" Type="http://schemas.openxmlformats.org/officeDocument/2006/relationships/image" Target="../media/image125.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24.emf"/><Relationship Id="rId5" Type="http://schemas.openxmlformats.org/officeDocument/2006/relationships/image" Target="../media/image123.png"/><Relationship Id="rId4" Type="http://schemas.openxmlformats.org/officeDocument/2006/relationships/image" Target="../media/image100.png"/><Relationship Id="rId9" Type="http://schemas.openxmlformats.org/officeDocument/2006/relationships/image" Target="../media/image25.png"/></Relationships>
</file>

<file path=ppt/slides/_rels/slide25.xml.rels><?xml version="1.0" encoding="UTF-8" standalone="yes"?>
<Relationships xmlns="http://schemas.openxmlformats.org/package/2006/relationships"><Relationship Id="rId8" Type="http://schemas.openxmlformats.org/officeDocument/2006/relationships/image" Target="../media/image710.png"/><Relationship Id="rId3" Type="http://schemas.openxmlformats.org/officeDocument/2006/relationships/image" Target="../media/image126.png"/><Relationship Id="rId7" Type="http://schemas.openxmlformats.org/officeDocument/2006/relationships/image" Target="../media/image700.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127.png"/><Relationship Id="rId5" Type="http://schemas.openxmlformats.org/officeDocument/2006/relationships/image" Target="../media/image680.png"/><Relationship Id="rId4" Type="http://schemas.openxmlformats.org/officeDocument/2006/relationships/image" Target="../media/image670.png"/></Relationships>
</file>

<file path=ppt/slides/_rels/slide26.xml.rels><?xml version="1.0" encoding="UTF-8" standalone="yes"?>
<Relationships xmlns="http://schemas.openxmlformats.org/package/2006/relationships"><Relationship Id="rId8" Type="http://schemas.openxmlformats.org/officeDocument/2006/relationships/image" Target="../media/image129.emf"/><Relationship Id="rId3" Type="http://schemas.openxmlformats.org/officeDocument/2006/relationships/image" Target="../media/image128.png"/><Relationship Id="rId7" Type="http://schemas.openxmlformats.org/officeDocument/2006/relationships/image" Target="../media/image1280.png"/><Relationship Id="rId2" Type="http://schemas.openxmlformats.org/officeDocument/2006/relationships/image" Target="../media/image120.png"/><Relationship Id="rId1" Type="http://schemas.openxmlformats.org/officeDocument/2006/relationships/slideLayout" Target="../slideLayouts/slideLayout2.xml"/><Relationship Id="rId6" Type="http://schemas.openxmlformats.org/officeDocument/2006/relationships/image" Target="../media/image1270.png"/><Relationship Id="rId5" Type="http://schemas.openxmlformats.org/officeDocument/2006/relationships/image" Target="../media/image1260.png"/><Relationship Id="rId4" Type="http://schemas.openxmlformats.org/officeDocument/2006/relationships/image" Target="../media/image1250.png"/><Relationship Id="rId9" Type="http://schemas.openxmlformats.org/officeDocument/2006/relationships/image" Target="../media/image130.png"/></Relationships>
</file>

<file path=ppt/slides/_rels/slide27.xml.rels><?xml version="1.0" encoding="UTF-8" standalone="yes"?>
<Relationships xmlns="http://schemas.openxmlformats.org/package/2006/relationships"><Relationship Id="rId8" Type="http://schemas.openxmlformats.org/officeDocument/2006/relationships/image" Target="../media/image131.png"/><Relationship Id="rId3" Type="http://schemas.openxmlformats.org/officeDocument/2006/relationships/image" Target="../media/image120.png"/><Relationship Id="rId7"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25.png"/><Relationship Id="rId11" Type="http://schemas.openxmlformats.org/officeDocument/2006/relationships/image" Target="../media/image134.png"/><Relationship Id="rId5" Type="http://schemas.openxmlformats.org/officeDocument/2006/relationships/image" Target="../media/image20.png"/><Relationship Id="rId10" Type="http://schemas.openxmlformats.org/officeDocument/2006/relationships/image" Target="../media/image133.png"/><Relationship Id="rId4" Type="http://schemas.openxmlformats.org/officeDocument/2006/relationships/image" Target="../media/image100.png"/><Relationship Id="rId9" Type="http://schemas.openxmlformats.org/officeDocument/2006/relationships/image" Target="../media/image132.png"/></Relationships>
</file>

<file path=ppt/slides/_rels/slide28.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image" Target="../media/image135.png"/><Relationship Id="rId1" Type="http://schemas.openxmlformats.org/officeDocument/2006/relationships/slideLayout" Target="../slideLayouts/slideLayout2.xml"/><Relationship Id="rId4" Type="http://schemas.openxmlformats.org/officeDocument/2006/relationships/image" Target="../media/image13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a:extLst>
              <a:ext uri="{FF2B5EF4-FFF2-40B4-BE49-F238E27FC236}">
                <a16:creationId xmlns:a16="http://schemas.microsoft.com/office/drawing/2014/main" id="{AF1B502C-B4A1-564D-BFAD-ECFD17C92B3A}"/>
              </a:ext>
            </a:extLst>
          </p:cNvPr>
          <p:cNvSpPr>
            <a:spLocks noGrp="1" noChangeArrowheads="1"/>
          </p:cNvSpPr>
          <p:nvPr>
            <p:ph type="ctrTitle"/>
          </p:nvPr>
        </p:nvSpPr>
        <p:spPr>
          <a:xfrm>
            <a:off x="685800" y="1741488"/>
            <a:ext cx="7772400" cy="1111250"/>
          </a:xfrm>
        </p:spPr>
        <p:txBody>
          <a:bodyPr/>
          <a:lstStyle/>
          <a:p>
            <a:pPr eaLnBrk="1" hangingPunct="1"/>
            <a:r>
              <a:rPr lang="en-GB" altLang="en-US" b="1">
                <a:solidFill>
                  <a:srgbClr val="0066FF"/>
                </a:solidFill>
              </a:rPr>
              <a:t>Power Electronics</a:t>
            </a:r>
          </a:p>
        </p:txBody>
      </p:sp>
      <p:sp>
        <p:nvSpPr>
          <p:cNvPr id="3075" name="Subtitle 2">
            <a:extLst>
              <a:ext uri="{FF2B5EF4-FFF2-40B4-BE49-F238E27FC236}">
                <a16:creationId xmlns:a16="http://schemas.microsoft.com/office/drawing/2014/main" id="{D06D2ED2-EC67-7248-AF25-4CA45054E043}"/>
              </a:ext>
            </a:extLst>
          </p:cNvPr>
          <p:cNvSpPr>
            <a:spLocks noGrp="1" noChangeArrowheads="1"/>
          </p:cNvSpPr>
          <p:nvPr>
            <p:ph type="subTitle" idx="1"/>
          </p:nvPr>
        </p:nvSpPr>
        <p:spPr>
          <a:xfrm>
            <a:off x="179388" y="2852739"/>
            <a:ext cx="8713787" cy="1307280"/>
          </a:xfrm>
        </p:spPr>
        <p:txBody>
          <a:bodyPr/>
          <a:lstStyle/>
          <a:p>
            <a:pPr eaLnBrk="1" hangingPunct="1"/>
            <a:r>
              <a:rPr lang="en-GB" altLang="en-US" sz="3600" b="1" dirty="0">
                <a:solidFill>
                  <a:srgbClr val="FF0000"/>
                </a:solidFill>
              </a:rPr>
              <a:t>DC-AC Converters (Inverters)</a:t>
            </a:r>
          </a:p>
          <a:p>
            <a:r>
              <a:rPr lang="ja-JP" altLang="en-US" sz="3600" b="1">
                <a:solidFill>
                  <a:srgbClr val="FF0000"/>
                </a:solidFill>
              </a:rPr>
              <a:t>逆变器</a:t>
            </a:r>
            <a:endParaRPr lang="en-GB" altLang="en-US" sz="3600" b="1" dirty="0">
              <a:solidFill>
                <a:srgbClr val="FF0000"/>
              </a:solidFill>
            </a:endParaRPr>
          </a:p>
        </p:txBody>
      </p:sp>
      <p:sp>
        <p:nvSpPr>
          <p:cNvPr id="3076" name="Slide Number Placeholder 3">
            <a:extLst>
              <a:ext uri="{FF2B5EF4-FFF2-40B4-BE49-F238E27FC236}">
                <a16:creationId xmlns:a16="http://schemas.microsoft.com/office/drawing/2014/main" id="{9CD9EE9E-BAFC-C54E-9B39-5D041AB7B1A2}"/>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FCD69D0D-B3EA-3346-8D3D-5EAB83A603FD}" type="slidenum">
              <a:rPr lang="en-US" altLang="en-US" sz="1400"/>
              <a:pPr>
                <a:spcBef>
                  <a:spcPct val="0"/>
                </a:spcBef>
                <a:buFontTx/>
                <a:buNone/>
              </a:pPr>
              <a:t>1</a:t>
            </a:fld>
            <a:endParaRPr lang="en-US" altLang="en-US" sz="1400"/>
          </a:p>
        </p:txBody>
      </p:sp>
      <p:pic>
        <p:nvPicPr>
          <p:cNvPr id="3077" name="Picture 4" descr="http://www.ranklogos.com/wp-content/uploads/2012/06/university-of-glasgow.gif">
            <a:extLst>
              <a:ext uri="{FF2B5EF4-FFF2-40B4-BE49-F238E27FC236}">
                <a16:creationId xmlns:a16="http://schemas.microsoft.com/office/drawing/2014/main" id="{2BD010EB-7DC6-3C48-9AA2-CF362429C3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0338" y="152400"/>
            <a:ext cx="3529012" cy="129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8" name="TextBox 2">
            <a:extLst>
              <a:ext uri="{FF2B5EF4-FFF2-40B4-BE49-F238E27FC236}">
                <a16:creationId xmlns:a16="http://schemas.microsoft.com/office/drawing/2014/main" id="{1AC343B6-D271-4148-8991-CB73C14FEC69}"/>
              </a:ext>
            </a:extLst>
          </p:cNvPr>
          <p:cNvSpPr txBox="1">
            <a:spLocks noChangeArrowheads="1"/>
          </p:cNvSpPr>
          <p:nvPr/>
        </p:nvSpPr>
        <p:spPr bwMode="auto">
          <a:xfrm>
            <a:off x="1188243" y="5463652"/>
            <a:ext cx="67675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GB" altLang="en-US" sz="2800" dirty="0"/>
              <a:t>Please read </a:t>
            </a:r>
            <a:r>
              <a:rPr lang="en-GB" altLang="en-US" sz="2800" dirty="0">
                <a:solidFill>
                  <a:srgbClr val="0000FF"/>
                </a:solidFill>
              </a:rPr>
              <a:t>Chapter </a:t>
            </a:r>
            <a:r>
              <a:rPr lang="en-US" altLang="en-US" sz="2800" dirty="0">
                <a:solidFill>
                  <a:srgbClr val="0000FF"/>
                </a:solidFill>
                <a:ea typeface="宋体" panose="02010600030101010101" pitchFamily="2" charset="-122"/>
              </a:rPr>
              <a:t>8</a:t>
            </a:r>
            <a:r>
              <a:rPr lang="en-GB" altLang="en-US" sz="2800" dirty="0">
                <a:solidFill>
                  <a:srgbClr val="0000FF"/>
                </a:solidFill>
              </a:rPr>
              <a:t> </a:t>
            </a:r>
            <a:r>
              <a:rPr lang="en-US" altLang="zh-CN" sz="2800" dirty="0">
                <a:ea typeface="宋体" panose="02010600030101010101" pitchFamily="2" charset="-122"/>
              </a:rPr>
              <a:t>in</a:t>
            </a:r>
            <a:r>
              <a:rPr lang="en-GB" altLang="en-US" sz="2800" dirty="0"/>
              <a:t> the textbook</a:t>
            </a:r>
          </a:p>
        </p:txBody>
      </p:sp>
      <p:sp>
        <p:nvSpPr>
          <p:cNvPr id="2" name="TextBox 1">
            <a:extLst>
              <a:ext uri="{FF2B5EF4-FFF2-40B4-BE49-F238E27FC236}">
                <a16:creationId xmlns:a16="http://schemas.microsoft.com/office/drawing/2014/main" id="{E4C80C26-1BEB-484F-9A68-BC39F219BF4F}"/>
              </a:ext>
            </a:extLst>
          </p:cNvPr>
          <p:cNvSpPr txBox="1"/>
          <p:nvPr/>
        </p:nvSpPr>
        <p:spPr>
          <a:xfrm>
            <a:off x="3244381" y="4488670"/>
            <a:ext cx="2440926" cy="646331"/>
          </a:xfrm>
          <a:prstGeom prst="rect">
            <a:avLst/>
          </a:prstGeom>
          <a:noFill/>
        </p:spPr>
        <p:txBody>
          <a:bodyPr wrap="none" rtlCol="0">
            <a:spAutoFit/>
          </a:bodyPr>
          <a:lstStyle/>
          <a:p>
            <a:pPr algn="ctr"/>
            <a:r>
              <a:rPr lang="en-US" dirty="0"/>
              <a:t>Dr Atif Jafri</a:t>
            </a:r>
          </a:p>
          <a:p>
            <a:pPr algn="ctr"/>
            <a:r>
              <a:rPr lang="en-US" dirty="0" err="1"/>
              <a:t>Atif.Jafri@glasgow.ac.uk</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EFC66-CFB2-78E5-77A1-A4F410D9C82B}"/>
              </a:ext>
            </a:extLst>
          </p:cNvPr>
          <p:cNvSpPr>
            <a:spLocks noGrp="1"/>
          </p:cNvSpPr>
          <p:nvPr>
            <p:ph type="title"/>
          </p:nvPr>
        </p:nvSpPr>
        <p:spPr>
          <a:xfrm>
            <a:off x="812455" y="265428"/>
            <a:ext cx="7886700" cy="1325563"/>
          </a:xfrm>
        </p:spPr>
        <p:txBody>
          <a:bodyPr/>
          <a:lstStyle/>
          <a:p>
            <a:r>
              <a:rPr lang="en-US" dirty="0"/>
              <a:t>Schemes of Inverters to study</a:t>
            </a:r>
          </a:p>
        </p:txBody>
      </p:sp>
      <p:graphicFrame>
        <p:nvGraphicFramePr>
          <p:cNvPr id="4" name="Table 3">
            <a:extLst>
              <a:ext uri="{FF2B5EF4-FFF2-40B4-BE49-F238E27FC236}">
                <a16:creationId xmlns:a16="http://schemas.microsoft.com/office/drawing/2014/main" id="{0CEB0F78-3D15-1695-26EA-EAB24B80BC3F}"/>
              </a:ext>
            </a:extLst>
          </p:cNvPr>
          <p:cNvGraphicFramePr>
            <a:graphicFrameLocks noGrp="1"/>
          </p:cNvGraphicFramePr>
          <p:nvPr>
            <p:extLst>
              <p:ext uri="{D42A27DB-BD31-4B8C-83A1-F6EECF244321}">
                <p14:modId xmlns:p14="http://schemas.microsoft.com/office/powerpoint/2010/main" val="1044109085"/>
              </p:ext>
            </p:extLst>
          </p:nvPr>
        </p:nvGraphicFramePr>
        <p:xfrm>
          <a:off x="523015" y="1590991"/>
          <a:ext cx="8277740" cy="3206431"/>
        </p:xfrm>
        <a:graphic>
          <a:graphicData uri="http://schemas.openxmlformats.org/drawingml/2006/table">
            <a:tbl>
              <a:tblPr firstRow="1" bandRow="1">
                <a:tableStyleId>{5C22544A-7EE6-4342-B048-85BDC9FD1C3A}</a:tableStyleId>
              </a:tblPr>
              <a:tblGrid>
                <a:gridCol w="1345601">
                  <a:extLst>
                    <a:ext uri="{9D8B030D-6E8A-4147-A177-3AD203B41FA5}">
                      <a16:colId xmlns:a16="http://schemas.microsoft.com/office/drawing/2014/main" val="3770653852"/>
                    </a:ext>
                  </a:extLst>
                </a:gridCol>
                <a:gridCol w="902043">
                  <a:extLst>
                    <a:ext uri="{9D8B030D-6E8A-4147-A177-3AD203B41FA5}">
                      <a16:colId xmlns:a16="http://schemas.microsoft.com/office/drawing/2014/main" val="3123568636"/>
                    </a:ext>
                  </a:extLst>
                </a:gridCol>
                <a:gridCol w="2741141">
                  <a:extLst>
                    <a:ext uri="{9D8B030D-6E8A-4147-A177-3AD203B41FA5}">
                      <a16:colId xmlns:a16="http://schemas.microsoft.com/office/drawing/2014/main" val="2443411702"/>
                    </a:ext>
                  </a:extLst>
                </a:gridCol>
                <a:gridCol w="3288955">
                  <a:extLst>
                    <a:ext uri="{9D8B030D-6E8A-4147-A177-3AD203B41FA5}">
                      <a16:colId xmlns:a16="http://schemas.microsoft.com/office/drawing/2014/main" val="2113842142"/>
                    </a:ext>
                  </a:extLst>
                </a:gridCol>
              </a:tblGrid>
              <a:tr h="370840">
                <a:tc>
                  <a:txBody>
                    <a:bodyPr/>
                    <a:lstStyle/>
                    <a:p>
                      <a:r>
                        <a:rPr lang="en-US" dirty="0"/>
                        <a:t>Phase Output</a:t>
                      </a:r>
                    </a:p>
                  </a:txBody>
                  <a:tcPr/>
                </a:tc>
                <a:tc>
                  <a:txBody>
                    <a:bodyPr/>
                    <a:lstStyle/>
                    <a:p>
                      <a:r>
                        <a:rPr lang="en-US" dirty="0"/>
                        <a:t>Bridge</a:t>
                      </a:r>
                    </a:p>
                  </a:txBody>
                  <a:tcPr/>
                </a:tc>
                <a:tc>
                  <a:txBody>
                    <a:bodyPr/>
                    <a:lstStyle/>
                    <a:p>
                      <a:r>
                        <a:rPr lang="en-US" dirty="0"/>
                        <a:t>Switching Schemes</a:t>
                      </a:r>
                    </a:p>
                  </a:txBody>
                  <a:tcPr/>
                </a:tc>
                <a:tc rowSpan="7">
                  <a:txBody>
                    <a:bodyPr/>
                    <a:lstStyle/>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Operation in different switching schemes</a:t>
                      </a:r>
                    </a:p>
                    <a:p>
                      <a:pPr marL="285750" indent="-285750">
                        <a:buFont typeface="Arial" panose="020B0604020202020204" pitchFamily="34" charset="0"/>
                        <a:buChar char="•"/>
                      </a:pPr>
                      <a:r>
                        <a:rPr lang="en-US" dirty="0"/>
                        <a:t>Output Waveform</a:t>
                      </a:r>
                    </a:p>
                    <a:p>
                      <a:pPr marL="285750" indent="-285750">
                        <a:buFont typeface="Arial" panose="020B0604020202020204" pitchFamily="34" charset="0"/>
                        <a:buChar char="•"/>
                      </a:pPr>
                      <a:r>
                        <a:rPr lang="en-US" dirty="0"/>
                        <a:t>Harmonics</a:t>
                      </a:r>
                    </a:p>
                    <a:p>
                      <a:pPr marL="285750" indent="-285750">
                        <a:buFont typeface="Arial" panose="020B0604020202020204" pitchFamily="34" charset="0"/>
                        <a:buChar char="•"/>
                      </a:pPr>
                      <a:r>
                        <a:rPr lang="en-US" dirty="0"/>
                        <a:t>Practical Circuit</a:t>
                      </a:r>
                    </a:p>
                    <a:p>
                      <a:pPr marL="285750" indent="-285750">
                        <a:buFont typeface="Arial" panose="020B0604020202020204" pitchFamily="34" charset="0"/>
                        <a:buChar char="•"/>
                      </a:pPr>
                      <a:r>
                        <a:rPr lang="en-US" dirty="0"/>
                        <a:t>Avoiding shoot through</a:t>
                      </a:r>
                    </a:p>
                  </a:txBody>
                  <a:tcPr/>
                </a:tc>
                <a:extLst>
                  <a:ext uri="{0D108BD9-81ED-4DB2-BD59-A6C34878D82A}">
                    <a16:rowId xmlns:a16="http://schemas.microsoft.com/office/drawing/2014/main" val="1852930956"/>
                  </a:ext>
                </a:extLst>
              </a:tr>
              <a:tr h="320040">
                <a:tc rowSpan="4">
                  <a:txBody>
                    <a:bodyPr/>
                    <a:lstStyle/>
                    <a:p>
                      <a:r>
                        <a:rPr lang="en-US" dirty="0">
                          <a:solidFill>
                            <a:srgbClr val="FF0000"/>
                          </a:solidFill>
                        </a:rPr>
                        <a:t>Single Phase</a:t>
                      </a:r>
                    </a:p>
                  </a:txBody>
                  <a:tcPr/>
                </a:tc>
                <a:tc rowSpan="2">
                  <a:txBody>
                    <a:bodyPr/>
                    <a:lstStyle/>
                    <a:p>
                      <a:r>
                        <a:rPr lang="en-US" dirty="0">
                          <a:solidFill>
                            <a:srgbClr val="FF0000"/>
                          </a:solidFill>
                        </a:rPr>
                        <a:t>Half</a:t>
                      </a:r>
                    </a:p>
                  </a:txBody>
                  <a:tcPr/>
                </a:tc>
                <a:tc>
                  <a:txBody>
                    <a:bodyPr/>
                    <a:lstStyle/>
                    <a:p>
                      <a:r>
                        <a:rPr lang="en-US" dirty="0">
                          <a:solidFill>
                            <a:srgbClr val="FF0000"/>
                          </a:solidFill>
                        </a:rPr>
                        <a:t>Square Wave</a:t>
                      </a:r>
                    </a:p>
                  </a:txBody>
                  <a:tcPr/>
                </a:tc>
                <a:tc vMerge="1">
                  <a:txBody>
                    <a:bodyPr/>
                    <a:lstStyle/>
                    <a:p>
                      <a:endParaRPr lang="en-US" dirty="0"/>
                    </a:p>
                  </a:txBody>
                  <a:tcPr/>
                </a:tc>
                <a:extLst>
                  <a:ext uri="{0D108BD9-81ED-4DB2-BD59-A6C34878D82A}">
                    <a16:rowId xmlns:a16="http://schemas.microsoft.com/office/drawing/2014/main" val="1063762962"/>
                  </a:ext>
                </a:extLst>
              </a:tr>
              <a:tr h="453071">
                <a:tc vMerge="1">
                  <a:txBody>
                    <a:bodyPr/>
                    <a:lstStyle/>
                    <a:p>
                      <a:endParaRPr lang="en-US"/>
                    </a:p>
                  </a:txBody>
                  <a:tcPr/>
                </a:tc>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FF0000"/>
                          </a:solidFill>
                        </a:rPr>
                        <a:t>Pules Width Modulation</a:t>
                      </a:r>
                    </a:p>
                  </a:txBody>
                  <a:tcPr/>
                </a:tc>
                <a:tc vMerge="1">
                  <a:txBody>
                    <a:bodyPr/>
                    <a:lstStyle/>
                    <a:p>
                      <a:endParaRPr lang="en-US" dirty="0"/>
                    </a:p>
                  </a:txBody>
                  <a:tcPr/>
                </a:tc>
                <a:extLst>
                  <a:ext uri="{0D108BD9-81ED-4DB2-BD59-A6C34878D82A}">
                    <a16:rowId xmlns:a16="http://schemas.microsoft.com/office/drawing/2014/main" val="623319710"/>
                  </a:ext>
                </a:extLst>
              </a:tr>
              <a:tr h="185420">
                <a:tc vMerge="1">
                  <a:txBody>
                    <a:bodyPr/>
                    <a:lstStyle/>
                    <a:p>
                      <a:endParaRPr lang="en-US" dirty="0"/>
                    </a:p>
                  </a:txBody>
                  <a:tcPr/>
                </a:tc>
                <a:tc rowSpan="2">
                  <a:txBody>
                    <a:bodyPr/>
                    <a:lstStyle/>
                    <a:p>
                      <a:r>
                        <a:rPr lang="en-US" dirty="0"/>
                        <a:t>Full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Square Wave</a:t>
                      </a:r>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txBody>
                  <a:tcPr/>
                </a:tc>
                <a:extLst>
                  <a:ext uri="{0D108BD9-81ED-4DB2-BD59-A6C34878D82A}">
                    <a16:rowId xmlns:a16="http://schemas.microsoft.com/office/drawing/2014/main" val="1224424368"/>
                  </a:ext>
                </a:extLst>
              </a:tr>
              <a:tr h="640080">
                <a:tc vMerge="1">
                  <a:txBody>
                    <a:bodyPr/>
                    <a:lstStyle/>
                    <a:p>
                      <a:endParaRPr lang="en-US"/>
                    </a:p>
                  </a:txBody>
                  <a:tcPr/>
                </a:tc>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Pules Width Modulation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(Bipolar &amp; Unipolar)</a:t>
                      </a:r>
                    </a:p>
                  </a:txBody>
                  <a:tcPr/>
                </a:tc>
                <a:tc vMerge="1">
                  <a:txBody>
                    <a:bodyPr/>
                    <a:lstStyle/>
                    <a:p>
                      <a:endParaRPr lang="en-US" dirty="0"/>
                    </a:p>
                  </a:txBody>
                  <a:tcPr/>
                </a:tc>
                <a:extLst>
                  <a:ext uri="{0D108BD9-81ED-4DB2-BD59-A6C34878D82A}">
                    <a16:rowId xmlns:a16="http://schemas.microsoft.com/office/drawing/2014/main" val="3087736327"/>
                  </a:ext>
                </a:extLst>
              </a:tr>
              <a:tr h="370840">
                <a:tc rowSpan="2">
                  <a:txBody>
                    <a:bodyPr/>
                    <a:lstStyle/>
                    <a:p>
                      <a:r>
                        <a:rPr lang="en-US" dirty="0"/>
                        <a:t>Three Phase</a:t>
                      </a:r>
                    </a:p>
                  </a:txBody>
                  <a:tcPr/>
                </a:tc>
                <a:tc rowSpan="2">
                  <a:txBody>
                    <a:bodyPr/>
                    <a:lstStyle/>
                    <a:p>
                      <a:r>
                        <a:rPr lang="en-US" dirty="0"/>
                        <a:t>3-Leg</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Square Wave</a:t>
                      </a:r>
                    </a:p>
                  </a:txBody>
                  <a:tcPr/>
                </a:tc>
                <a:tc vMerge="1">
                  <a:txBody>
                    <a:bodyPr/>
                    <a:lstStyle/>
                    <a:p>
                      <a:endParaRPr lang="en-US" dirty="0"/>
                    </a:p>
                  </a:txBody>
                  <a:tcPr/>
                </a:tc>
                <a:extLst>
                  <a:ext uri="{0D108BD9-81ED-4DB2-BD59-A6C34878D82A}">
                    <a16:rowId xmlns:a16="http://schemas.microsoft.com/office/drawing/2014/main" val="4105890547"/>
                  </a:ext>
                </a:extLst>
              </a:tr>
              <a:tr h="370840">
                <a:tc vMerge="1">
                  <a:txBody>
                    <a:bodyPr/>
                    <a:lstStyle/>
                    <a:p>
                      <a:endParaRPr lang="en-US" dirty="0"/>
                    </a:p>
                  </a:txBody>
                  <a:tcPr/>
                </a:tc>
                <a:tc vMerge="1">
                  <a:txBody>
                    <a:bodyPr/>
                    <a:lstStyle/>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Pules Width Modulation</a:t>
                      </a:r>
                    </a:p>
                  </a:txBody>
                  <a:tcPr/>
                </a:tc>
                <a:tc vMerge="1">
                  <a:txBody>
                    <a:bodyPr/>
                    <a:lstStyle/>
                    <a:p>
                      <a:endParaRPr lang="en-US" dirty="0"/>
                    </a:p>
                  </a:txBody>
                  <a:tcPr/>
                </a:tc>
                <a:extLst>
                  <a:ext uri="{0D108BD9-81ED-4DB2-BD59-A6C34878D82A}">
                    <a16:rowId xmlns:a16="http://schemas.microsoft.com/office/drawing/2014/main" val="273717964"/>
                  </a:ext>
                </a:extLst>
              </a:tr>
            </a:tbl>
          </a:graphicData>
        </a:graphic>
      </p:graphicFrame>
      <p:sp>
        <p:nvSpPr>
          <p:cNvPr id="3" name="TextBox 2">
            <a:extLst>
              <a:ext uri="{FF2B5EF4-FFF2-40B4-BE49-F238E27FC236}">
                <a16:creationId xmlns:a16="http://schemas.microsoft.com/office/drawing/2014/main" id="{BD4E5C6D-682E-B976-3FF6-45EB5C0150A0}"/>
              </a:ext>
            </a:extLst>
          </p:cNvPr>
          <p:cNvSpPr txBox="1"/>
          <p:nvPr/>
        </p:nvSpPr>
        <p:spPr>
          <a:xfrm>
            <a:off x="2178657" y="5082343"/>
            <a:ext cx="4142630" cy="369332"/>
          </a:xfrm>
          <a:prstGeom prst="rect">
            <a:avLst/>
          </a:prstGeom>
          <a:noFill/>
        </p:spPr>
        <p:txBody>
          <a:bodyPr wrap="square" rtlCol="0">
            <a:spAutoFit/>
          </a:bodyPr>
          <a:lstStyle/>
          <a:p>
            <a:pPr algn="ctr"/>
            <a:r>
              <a:rPr lang="en-GB" b="1" dirty="0">
                <a:solidFill>
                  <a:srgbClr val="FF0000"/>
                </a:solidFill>
              </a:rPr>
              <a:t>Half Bridge Studied in Last Lecture</a:t>
            </a:r>
          </a:p>
        </p:txBody>
      </p:sp>
    </p:spTree>
    <p:extLst>
      <p:ext uri="{BB962C8B-B14F-4D97-AF65-F5344CB8AC3E}">
        <p14:creationId xmlns:p14="http://schemas.microsoft.com/office/powerpoint/2010/main" val="25180801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EFC66-CFB2-78E5-77A1-A4F410D9C82B}"/>
              </a:ext>
            </a:extLst>
          </p:cNvPr>
          <p:cNvSpPr>
            <a:spLocks noGrp="1"/>
          </p:cNvSpPr>
          <p:nvPr>
            <p:ph type="title"/>
          </p:nvPr>
        </p:nvSpPr>
        <p:spPr>
          <a:xfrm>
            <a:off x="812455" y="265428"/>
            <a:ext cx="7886700" cy="1325563"/>
          </a:xfrm>
        </p:spPr>
        <p:txBody>
          <a:bodyPr/>
          <a:lstStyle/>
          <a:p>
            <a:r>
              <a:rPr lang="en-US" dirty="0"/>
              <a:t>Schemes of Inverters to study</a:t>
            </a:r>
          </a:p>
        </p:txBody>
      </p:sp>
      <p:graphicFrame>
        <p:nvGraphicFramePr>
          <p:cNvPr id="4" name="Table 3">
            <a:extLst>
              <a:ext uri="{FF2B5EF4-FFF2-40B4-BE49-F238E27FC236}">
                <a16:creationId xmlns:a16="http://schemas.microsoft.com/office/drawing/2014/main" id="{0CEB0F78-3D15-1695-26EA-EAB24B80BC3F}"/>
              </a:ext>
            </a:extLst>
          </p:cNvPr>
          <p:cNvGraphicFramePr>
            <a:graphicFrameLocks noGrp="1"/>
          </p:cNvGraphicFramePr>
          <p:nvPr>
            <p:extLst>
              <p:ext uri="{D42A27DB-BD31-4B8C-83A1-F6EECF244321}">
                <p14:modId xmlns:p14="http://schemas.microsoft.com/office/powerpoint/2010/main" val="1738856037"/>
              </p:ext>
            </p:extLst>
          </p:nvPr>
        </p:nvGraphicFramePr>
        <p:xfrm>
          <a:off x="523015" y="1590991"/>
          <a:ext cx="8277741" cy="3297871"/>
        </p:xfrm>
        <a:graphic>
          <a:graphicData uri="http://schemas.openxmlformats.org/drawingml/2006/table">
            <a:tbl>
              <a:tblPr firstRow="1" bandRow="1">
                <a:tableStyleId>{5C22544A-7EE6-4342-B048-85BDC9FD1C3A}</a:tableStyleId>
              </a:tblPr>
              <a:tblGrid>
                <a:gridCol w="1345601">
                  <a:extLst>
                    <a:ext uri="{9D8B030D-6E8A-4147-A177-3AD203B41FA5}">
                      <a16:colId xmlns:a16="http://schemas.microsoft.com/office/drawing/2014/main" val="3770653852"/>
                    </a:ext>
                  </a:extLst>
                </a:gridCol>
                <a:gridCol w="902043">
                  <a:extLst>
                    <a:ext uri="{9D8B030D-6E8A-4147-A177-3AD203B41FA5}">
                      <a16:colId xmlns:a16="http://schemas.microsoft.com/office/drawing/2014/main" val="3123568636"/>
                    </a:ext>
                  </a:extLst>
                </a:gridCol>
                <a:gridCol w="1370571">
                  <a:extLst>
                    <a:ext uri="{9D8B030D-6E8A-4147-A177-3AD203B41FA5}">
                      <a16:colId xmlns:a16="http://schemas.microsoft.com/office/drawing/2014/main" val="2443411702"/>
                    </a:ext>
                  </a:extLst>
                </a:gridCol>
                <a:gridCol w="1370571">
                  <a:extLst>
                    <a:ext uri="{9D8B030D-6E8A-4147-A177-3AD203B41FA5}">
                      <a16:colId xmlns:a16="http://schemas.microsoft.com/office/drawing/2014/main" val="3759827870"/>
                    </a:ext>
                  </a:extLst>
                </a:gridCol>
                <a:gridCol w="3288955">
                  <a:extLst>
                    <a:ext uri="{9D8B030D-6E8A-4147-A177-3AD203B41FA5}">
                      <a16:colId xmlns:a16="http://schemas.microsoft.com/office/drawing/2014/main" val="2113842142"/>
                    </a:ext>
                  </a:extLst>
                </a:gridCol>
              </a:tblGrid>
              <a:tr h="370840">
                <a:tc>
                  <a:txBody>
                    <a:bodyPr/>
                    <a:lstStyle/>
                    <a:p>
                      <a:r>
                        <a:rPr lang="en-US" dirty="0"/>
                        <a:t>Phase Output</a:t>
                      </a:r>
                    </a:p>
                  </a:txBody>
                  <a:tcPr/>
                </a:tc>
                <a:tc>
                  <a:txBody>
                    <a:bodyPr/>
                    <a:lstStyle/>
                    <a:p>
                      <a:r>
                        <a:rPr lang="en-US" dirty="0"/>
                        <a:t>Bridge</a:t>
                      </a:r>
                    </a:p>
                  </a:txBody>
                  <a:tcPr/>
                </a:tc>
                <a:tc gridSpan="2">
                  <a:txBody>
                    <a:bodyPr/>
                    <a:lstStyle/>
                    <a:p>
                      <a:r>
                        <a:rPr lang="en-US" dirty="0"/>
                        <a:t>Switching Schemes</a:t>
                      </a:r>
                    </a:p>
                  </a:txBody>
                  <a:tcPr/>
                </a:tc>
                <a:tc hMerge="1">
                  <a:txBody>
                    <a:bodyPr/>
                    <a:lstStyle/>
                    <a:p>
                      <a:endParaRPr lang="en-GB"/>
                    </a:p>
                  </a:txBody>
                  <a:tcPr/>
                </a:tc>
                <a:tc rowSpan="8">
                  <a:txBody>
                    <a:bodyPr/>
                    <a:lstStyle/>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Ideal Circuit Diagram</a:t>
                      </a:r>
                    </a:p>
                    <a:p>
                      <a:pPr marL="285750" indent="-285750">
                        <a:buFont typeface="Arial" panose="020B0604020202020204" pitchFamily="34" charset="0"/>
                        <a:buChar char="•"/>
                      </a:pPr>
                      <a:r>
                        <a:rPr lang="en-US" dirty="0"/>
                        <a:t>Operation</a:t>
                      </a:r>
                    </a:p>
                    <a:p>
                      <a:pPr marL="285750" indent="-285750">
                        <a:buFont typeface="Arial" panose="020B0604020202020204" pitchFamily="34" charset="0"/>
                        <a:buChar char="•"/>
                      </a:pPr>
                      <a:r>
                        <a:rPr lang="en-US" dirty="0"/>
                        <a:t>Output Waveform</a:t>
                      </a:r>
                    </a:p>
                    <a:p>
                      <a:pPr marL="285750" indent="-285750">
                        <a:buFont typeface="Arial" panose="020B0604020202020204" pitchFamily="34" charset="0"/>
                        <a:buChar char="•"/>
                      </a:pPr>
                      <a:r>
                        <a:rPr lang="en-US" dirty="0"/>
                        <a:t>Harmonics</a:t>
                      </a:r>
                    </a:p>
                    <a:p>
                      <a:pPr marL="285750" indent="-285750">
                        <a:buFont typeface="Arial" panose="020B0604020202020204" pitchFamily="34" charset="0"/>
                        <a:buChar char="•"/>
                      </a:pPr>
                      <a:r>
                        <a:rPr lang="en-US" dirty="0"/>
                        <a:t>Practical Circuit Diagram</a:t>
                      </a:r>
                    </a:p>
                    <a:p>
                      <a:pPr marL="742950" lvl="1" indent="-285750">
                        <a:buFont typeface="Arial" panose="020B0604020202020204" pitchFamily="34" charset="0"/>
                        <a:buChar char="•"/>
                      </a:pPr>
                      <a:r>
                        <a:rPr lang="en-US" dirty="0"/>
                        <a:t>Avoiding shoot through</a:t>
                      </a:r>
                    </a:p>
                  </a:txBody>
                  <a:tcPr/>
                </a:tc>
                <a:extLst>
                  <a:ext uri="{0D108BD9-81ED-4DB2-BD59-A6C34878D82A}">
                    <a16:rowId xmlns:a16="http://schemas.microsoft.com/office/drawing/2014/main" val="1852930956"/>
                  </a:ext>
                </a:extLst>
              </a:tr>
              <a:tr h="320040">
                <a:tc rowSpan="5">
                  <a:txBody>
                    <a:bodyPr/>
                    <a:lstStyle/>
                    <a:p>
                      <a:r>
                        <a:rPr lang="en-US" dirty="0">
                          <a:solidFill>
                            <a:srgbClr val="FF0000"/>
                          </a:solidFill>
                        </a:rPr>
                        <a:t>Single Phase</a:t>
                      </a:r>
                    </a:p>
                  </a:txBody>
                  <a:tcPr/>
                </a:tc>
                <a:tc rowSpan="2">
                  <a:txBody>
                    <a:bodyPr/>
                    <a:lstStyle/>
                    <a:p>
                      <a:r>
                        <a:rPr lang="en-US" dirty="0"/>
                        <a:t>Half</a:t>
                      </a:r>
                    </a:p>
                  </a:txBody>
                  <a:tcPr/>
                </a:tc>
                <a:tc gridSpan="2">
                  <a:txBody>
                    <a:bodyPr/>
                    <a:lstStyle/>
                    <a:p>
                      <a:r>
                        <a:rPr lang="en-US" dirty="0"/>
                        <a:t>Square Wave</a:t>
                      </a:r>
                    </a:p>
                  </a:txBody>
                  <a:tcPr/>
                </a:tc>
                <a:tc hMerge="1">
                  <a:txBody>
                    <a:bodyPr/>
                    <a:lstStyle/>
                    <a:p>
                      <a:endParaRPr lang="en-GB"/>
                    </a:p>
                  </a:txBody>
                  <a:tcPr/>
                </a:tc>
                <a:tc vMerge="1">
                  <a:txBody>
                    <a:bodyPr/>
                    <a:lstStyle/>
                    <a:p>
                      <a:endParaRPr lang="en-US" dirty="0"/>
                    </a:p>
                  </a:txBody>
                  <a:tcPr/>
                </a:tc>
                <a:extLst>
                  <a:ext uri="{0D108BD9-81ED-4DB2-BD59-A6C34878D82A}">
                    <a16:rowId xmlns:a16="http://schemas.microsoft.com/office/drawing/2014/main" val="1063762962"/>
                  </a:ext>
                </a:extLst>
              </a:tr>
              <a:tr h="453071">
                <a:tc vMerge="1">
                  <a:txBody>
                    <a:bodyPr/>
                    <a:lstStyle/>
                    <a:p>
                      <a:endParaRPr lang="en-US"/>
                    </a:p>
                  </a:txBody>
                  <a:tcPr/>
                </a:tc>
                <a:tc v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Pules Width Modulation</a:t>
                      </a:r>
                    </a:p>
                  </a:txBody>
                  <a:tcPr/>
                </a:tc>
                <a:tc hMerge="1">
                  <a:txBody>
                    <a:bodyPr/>
                    <a:lstStyle/>
                    <a:p>
                      <a:endParaRPr lang="en-GB"/>
                    </a:p>
                  </a:txBody>
                  <a:tcPr/>
                </a:tc>
                <a:tc vMerge="1">
                  <a:txBody>
                    <a:bodyPr/>
                    <a:lstStyle/>
                    <a:p>
                      <a:endParaRPr lang="en-US" dirty="0"/>
                    </a:p>
                  </a:txBody>
                  <a:tcPr/>
                </a:tc>
                <a:extLst>
                  <a:ext uri="{0D108BD9-81ED-4DB2-BD59-A6C34878D82A}">
                    <a16:rowId xmlns:a16="http://schemas.microsoft.com/office/drawing/2014/main" val="623319710"/>
                  </a:ext>
                </a:extLst>
              </a:tr>
              <a:tr h="185420">
                <a:tc vMerge="1">
                  <a:txBody>
                    <a:bodyPr/>
                    <a:lstStyle/>
                    <a:p>
                      <a:endParaRPr lang="en-US" dirty="0"/>
                    </a:p>
                  </a:txBody>
                  <a:tcPr/>
                </a:tc>
                <a:tc rowSpan="3">
                  <a:txBody>
                    <a:bodyPr/>
                    <a:lstStyle/>
                    <a:p>
                      <a:r>
                        <a:rPr lang="en-US" dirty="0">
                          <a:solidFill>
                            <a:srgbClr val="FF0000"/>
                          </a:solidFill>
                        </a:rPr>
                        <a:t>Full</a:t>
                      </a:r>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FF0000"/>
                          </a:solidFill>
                        </a:rPr>
                        <a:t>Square Wave</a:t>
                      </a:r>
                    </a:p>
                  </a:txBody>
                  <a:tcPr/>
                </a:tc>
                <a:tc hMerge="1">
                  <a:txBody>
                    <a:bodyPr/>
                    <a:lstStyle/>
                    <a:p>
                      <a:endParaRPr lang="en-GB"/>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txBody>
                  <a:tcPr/>
                </a:tc>
                <a:extLst>
                  <a:ext uri="{0D108BD9-81ED-4DB2-BD59-A6C34878D82A}">
                    <a16:rowId xmlns:a16="http://schemas.microsoft.com/office/drawing/2014/main" val="1224424368"/>
                  </a:ext>
                </a:extLst>
              </a:tr>
              <a:tr h="320040">
                <a:tc vMerge="1">
                  <a:txBody>
                    <a:bodyPr/>
                    <a:lstStyle/>
                    <a:p>
                      <a:endParaRPr lang="en-US"/>
                    </a:p>
                  </a:txBody>
                  <a:tcPr/>
                </a:tc>
                <a:tc v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FF0000"/>
                          </a:solidFill>
                        </a:rPr>
                        <a:t>Pules Width Modulation</a:t>
                      </a:r>
                    </a:p>
                  </a:txBody>
                  <a:tcPr/>
                </a:tc>
                <a:tc hMerge="1">
                  <a:txBody>
                    <a:bodyPr/>
                    <a:lstStyle/>
                    <a:p>
                      <a:endParaRPr lang="en-GB"/>
                    </a:p>
                  </a:txBody>
                  <a:tcPr/>
                </a:tc>
                <a:tc vMerge="1">
                  <a:txBody>
                    <a:bodyPr/>
                    <a:lstStyle/>
                    <a:p>
                      <a:endParaRPr lang="en-US" dirty="0"/>
                    </a:p>
                  </a:txBody>
                  <a:tcPr/>
                </a:tc>
                <a:extLst>
                  <a:ext uri="{0D108BD9-81ED-4DB2-BD59-A6C34878D82A}">
                    <a16:rowId xmlns:a16="http://schemas.microsoft.com/office/drawing/2014/main" val="3087736327"/>
                  </a:ext>
                </a:extLst>
              </a:tr>
              <a:tr h="320040">
                <a:tc vMerge="1">
                  <a:txBody>
                    <a:bodyPr/>
                    <a:lstStyle/>
                    <a:p>
                      <a:endParaRPr lang="en-GB"/>
                    </a:p>
                  </a:txBody>
                  <a:tcPr/>
                </a:tc>
                <a:tc vMerge="1">
                  <a:txBody>
                    <a:bodyPr/>
                    <a:lstStyle/>
                    <a:p>
                      <a:endParaRPr lang="en-GB"/>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rgbClr val="FF0000"/>
                          </a:solidFill>
                        </a:rPr>
                        <a:t>Bipolar</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rgbClr val="FF0000"/>
                          </a:solidFill>
                        </a:rPr>
                        <a:t>Unipolar</a:t>
                      </a:r>
                    </a:p>
                  </a:txBody>
                  <a:tcPr/>
                </a:tc>
                <a:tc vMerge="1">
                  <a:txBody>
                    <a:bodyPr/>
                    <a:lstStyle/>
                    <a:p>
                      <a:endParaRPr lang="en-GB"/>
                    </a:p>
                  </a:txBody>
                  <a:tcPr/>
                </a:tc>
                <a:extLst>
                  <a:ext uri="{0D108BD9-81ED-4DB2-BD59-A6C34878D82A}">
                    <a16:rowId xmlns:a16="http://schemas.microsoft.com/office/drawing/2014/main" val="3821580203"/>
                  </a:ext>
                </a:extLst>
              </a:tr>
              <a:tr h="370840">
                <a:tc rowSpan="2">
                  <a:txBody>
                    <a:bodyPr/>
                    <a:lstStyle/>
                    <a:p>
                      <a:r>
                        <a:rPr lang="en-US" dirty="0"/>
                        <a:t>Three Phase</a:t>
                      </a:r>
                    </a:p>
                  </a:txBody>
                  <a:tcPr/>
                </a:tc>
                <a:tc rowSpan="2">
                  <a:txBody>
                    <a:bodyPr/>
                    <a:lstStyle/>
                    <a:p>
                      <a:r>
                        <a:rPr lang="en-US" dirty="0"/>
                        <a:t>3-Leg</a:t>
                      </a:r>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Square Wave</a:t>
                      </a:r>
                    </a:p>
                  </a:txBody>
                  <a:tcPr/>
                </a:tc>
                <a:tc hMerge="1">
                  <a:txBody>
                    <a:bodyPr/>
                    <a:lstStyle/>
                    <a:p>
                      <a:endParaRPr lang="en-GB"/>
                    </a:p>
                  </a:txBody>
                  <a:tcPr/>
                </a:tc>
                <a:tc vMerge="1">
                  <a:txBody>
                    <a:bodyPr/>
                    <a:lstStyle/>
                    <a:p>
                      <a:endParaRPr lang="en-US" dirty="0"/>
                    </a:p>
                  </a:txBody>
                  <a:tcPr/>
                </a:tc>
                <a:extLst>
                  <a:ext uri="{0D108BD9-81ED-4DB2-BD59-A6C34878D82A}">
                    <a16:rowId xmlns:a16="http://schemas.microsoft.com/office/drawing/2014/main" val="4105890547"/>
                  </a:ext>
                </a:extLst>
              </a:tr>
              <a:tr h="370840">
                <a:tc vMerge="1">
                  <a:txBody>
                    <a:bodyPr/>
                    <a:lstStyle/>
                    <a:p>
                      <a:endParaRPr lang="en-US" dirty="0"/>
                    </a:p>
                  </a:txBody>
                  <a:tcPr/>
                </a:tc>
                <a:tc vMerge="1">
                  <a:txBody>
                    <a:bodyPr/>
                    <a:lstStyle/>
                    <a:p>
                      <a:endParaRPr lang="en-US" dirty="0"/>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Pules Width Modulation</a:t>
                      </a:r>
                    </a:p>
                  </a:txBody>
                  <a:tcPr/>
                </a:tc>
                <a:tc hMerge="1">
                  <a:txBody>
                    <a:bodyPr/>
                    <a:lstStyle/>
                    <a:p>
                      <a:endParaRPr lang="en-GB"/>
                    </a:p>
                  </a:txBody>
                  <a:tcPr/>
                </a:tc>
                <a:tc vMerge="1">
                  <a:txBody>
                    <a:bodyPr/>
                    <a:lstStyle/>
                    <a:p>
                      <a:endParaRPr lang="en-US" dirty="0"/>
                    </a:p>
                  </a:txBody>
                  <a:tcPr/>
                </a:tc>
                <a:extLst>
                  <a:ext uri="{0D108BD9-81ED-4DB2-BD59-A6C34878D82A}">
                    <a16:rowId xmlns:a16="http://schemas.microsoft.com/office/drawing/2014/main" val="273717964"/>
                  </a:ext>
                </a:extLst>
              </a:tr>
            </a:tbl>
          </a:graphicData>
        </a:graphic>
      </p:graphicFrame>
    </p:spTree>
    <p:extLst>
      <p:ext uri="{BB962C8B-B14F-4D97-AF65-F5344CB8AC3E}">
        <p14:creationId xmlns:p14="http://schemas.microsoft.com/office/powerpoint/2010/main" val="619254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DAB49-4E83-D5C9-EF6D-0F2CE1E6855E}"/>
              </a:ext>
            </a:extLst>
          </p:cNvPr>
          <p:cNvSpPr>
            <a:spLocks noGrp="1"/>
          </p:cNvSpPr>
          <p:nvPr>
            <p:ph type="title"/>
          </p:nvPr>
        </p:nvSpPr>
        <p:spPr>
          <a:xfrm>
            <a:off x="307374" y="202468"/>
            <a:ext cx="7886700" cy="784053"/>
          </a:xfrm>
        </p:spPr>
        <p:txBody>
          <a:bodyPr/>
          <a:lstStyle/>
          <a:p>
            <a:r>
              <a:rPr lang="en-US" b="1" dirty="0"/>
              <a:t>Inverter Types</a:t>
            </a:r>
          </a:p>
        </p:txBody>
      </p:sp>
      <p:pic>
        <p:nvPicPr>
          <p:cNvPr id="6" name="Picture 5">
            <a:extLst>
              <a:ext uri="{FF2B5EF4-FFF2-40B4-BE49-F238E27FC236}">
                <a16:creationId xmlns:a16="http://schemas.microsoft.com/office/drawing/2014/main" id="{FD7AD06B-01A8-12FE-A502-D70CCC069B9B}"/>
              </a:ext>
            </a:extLst>
          </p:cNvPr>
          <p:cNvPicPr>
            <a:picLocks noChangeAspect="1"/>
          </p:cNvPicPr>
          <p:nvPr/>
        </p:nvPicPr>
        <p:blipFill>
          <a:blip r:embed="rId2"/>
          <a:stretch>
            <a:fillRect/>
          </a:stretch>
        </p:blipFill>
        <p:spPr>
          <a:xfrm>
            <a:off x="-27776" y="1587168"/>
            <a:ext cx="4068608" cy="3166556"/>
          </a:xfrm>
          <a:prstGeom prst="rect">
            <a:avLst/>
          </a:prstGeom>
        </p:spPr>
      </p:pic>
      <p:sp>
        <p:nvSpPr>
          <p:cNvPr id="7" name="TextBox 6">
            <a:extLst>
              <a:ext uri="{FF2B5EF4-FFF2-40B4-BE49-F238E27FC236}">
                <a16:creationId xmlns:a16="http://schemas.microsoft.com/office/drawing/2014/main" id="{D2048724-1E38-20DC-4F7A-364F7093594F}"/>
              </a:ext>
            </a:extLst>
          </p:cNvPr>
          <p:cNvSpPr txBox="1"/>
          <p:nvPr/>
        </p:nvSpPr>
        <p:spPr>
          <a:xfrm>
            <a:off x="695560" y="4679048"/>
            <a:ext cx="2621936" cy="369332"/>
          </a:xfrm>
          <a:prstGeom prst="rect">
            <a:avLst/>
          </a:prstGeom>
          <a:noFill/>
        </p:spPr>
        <p:txBody>
          <a:bodyPr wrap="none" rtlCol="0">
            <a:spAutoFit/>
          </a:bodyPr>
          <a:lstStyle/>
          <a:p>
            <a:r>
              <a:rPr lang="en-US" dirty="0"/>
              <a:t>Full Bridge Inverter (Ideal)</a:t>
            </a:r>
          </a:p>
        </p:txBody>
      </p:sp>
      <p:sp>
        <p:nvSpPr>
          <p:cNvPr id="8" name="Title 1">
            <a:extLst>
              <a:ext uri="{FF2B5EF4-FFF2-40B4-BE49-F238E27FC236}">
                <a16:creationId xmlns:a16="http://schemas.microsoft.com/office/drawing/2014/main" id="{E4F5E854-5ABC-0141-C1B6-52F7ACBD05DC}"/>
              </a:ext>
            </a:extLst>
          </p:cNvPr>
          <p:cNvSpPr txBox="1">
            <a:spLocks/>
          </p:cNvSpPr>
          <p:nvPr/>
        </p:nvSpPr>
        <p:spPr>
          <a:xfrm>
            <a:off x="571771" y="869633"/>
            <a:ext cx="7886700" cy="56512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t>- </a:t>
            </a:r>
            <a:r>
              <a:rPr lang="en-US" sz="3200" b="1" dirty="0">
                <a:solidFill>
                  <a:srgbClr val="FF0000"/>
                </a:solidFill>
              </a:rPr>
              <a:t>Full Bridge</a:t>
            </a:r>
          </a:p>
        </p:txBody>
      </p:sp>
      <p:pic>
        <p:nvPicPr>
          <p:cNvPr id="10" name="Picture 9">
            <a:extLst>
              <a:ext uri="{FF2B5EF4-FFF2-40B4-BE49-F238E27FC236}">
                <a16:creationId xmlns:a16="http://schemas.microsoft.com/office/drawing/2014/main" id="{05B92A34-ACDC-5A4A-BA96-554086CBCD83}"/>
              </a:ext>
            </a:extLst>
          </p:cNvPr>
          <p:cNvPicPr>
            <a:picLocks noChangeAspect="1"/>
          </p:cNvPicPr>
          <p:nvPr/>
        </p:nvPicPr>
        <p:blipFill>
          <a:blip r:embed="rId3"/>
          <a:stretch>
            <a:fillRect/>
          </a:stretch>
        </p:blipFill>
        <p:spPr>
          <a:xfrm>
            <a:off x="4040832" y="1941593"/>
            <a:ext cx="4999216" cy="2604281"/>
          </a:xfrm>
          <a:prstGeom prst="rect">
            <a:avLst/>
          </a:prstGeom>
        </p:spPr>
      </p:pic>
      <p:sp>
        <p:nvSpPr>
          <p:cNvPr id="11" name="TextBox 10">
            <a:extLst>
              <a:ext uri="{FF2B5EF4-FFF2-40B4-BE49-F238E27FC236}">
                <a16:creationId xmlns:a16="http://schemas.microsoft.com/office/drawing/2014/main" id="{133DEC83-0F8D-B2B0-B859-EEDFD045301B}"/>
              </a:ext>
            </a:extLst>
          </p:cNvPr>
          <p:cNvSpPr txBox="1"/>
          <p:nvPr/>
        </p:nvSpPr>
        <p:spPr>
          <a:xfrm>
            <a:off x="1680755" y="5343036"/>
            <a:ext cx="5329645" cy="369332"/>
          </a:xfrm>
          <a:prstGeom prst="rect">
            <a:avLst/>
          </a:prstGeom>
          <a:noFill/>
        </p:spPr>
        <p:txBody>
          <a:bodyPr wrap="square" rtlCol="0">
            <a:spAutoFit/>
          </a:bodyPr>
          <a:lstStyle/>
          <a:p>
            <a:r>
              <a:rPr lang="en-GB" dirty="0">
                <a:solidFill>
                  <a:srgbClr val="FF0000"/>
                </a:solidFill>
              </a:rPr>
              <a:t>Figures used in the literature for Full Bridge Inverter</a:t>
            </a:r>
          </a:p>
        </p:txBody>
      </p:sp>
      <p:sp>
        <p:nvSpPr>
          <p:cNvPr id="12" name="TextBox 11">
            <a:extLst>
              <a:ext uri="{FF2B5EF4-FFF2-40B4-BE49-F238E27FC236}">
                <a16:creationId xmlns:a16="http://schemas.microsoft.com/office/drawing/2014/main" id="{F7CC35AA-056A-C2C3-EE99-329DA7C594B9}"/>
              </a:ext>
            </a:extLst>
          </p:cNvPr>
          <p:cNvSpPr txBox="1"/>
          <p:nvPr/>
        </p:nvSpPr>
        <p:spPr>
          <a:xfrm>
            <a:off x="4307369" y="4532070"/>
            <a:ext cx="3886705" cy="369332"/>
          </a:xfrm>
          <a:prstGeom prst="rect">
            <a:avLst/>
          </a:prstGeom>
          <a:noFill/>
        </p:spPr>
        <p:txBody>
          <a:bodyPr wrap="none" rtlCol="0">
            <a:spAutoFit/>
          </a:bodyPr>
          <a:lstStyle/>
          <a:p>
            <a:r>
              <a:rPr lang="en-US" dirty="0"/>
              <a:t>Full Bridge Inverter with Flyback Diodes</a:t>
            </a:r>
          </a:p>
        </p:txBody>
      </p:sp>
    </p:spTree>
    <p:extLst>
      <p:ext uri="{BB962C8B-B14F-4D97-AF65-F5344CB8AC3E}">
        <p14:creationId xmlns:p14="http://schemas.microsoft.com/office/powerpoint/2010/main" val="13890573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Group 56">
            <a:extLst>
              <a:ext uri="{FF2B5EF4-FFF2-40B4-BE49-F238E27FC236}">
                <a16:creationId xmlns:a16="http://schemas.microsoft.com/office/drawing/2014/main" id="{54C23B57-7F74-C888-88BD-7FAE567C0F46}"/>
              </a:ext>
            </a:extLst>
          </p:cNvPr>
          <p:cNvGrpSpPr/>
          <p:nvPr/>
        </p:nvGrpSpPr>
        <p:grpSpPr>
          <a:xfrm>
            <a:off x="169201" y="1171360"/>
            <a:ext cx="4455198" cy="1747628"/>
            <a:chOff x="169201" y="1171360"/>
            <a:chExt cx="4455198" cy="1747628"/>
          </a:xfrm>
        </p:grpSpPr>
        <p:pic>
          <p:nvPicPr>
            <p:cNvPr id="7" name="Picture 6">
              <a:extLst>
                <a:ext uri="{FF2B5EF4-FFF2-40B4-BE49-F238E27FC236}">
                  <a16:creationId xmlns:a16="http://schemas.microsoft.com/office/drawing/2014/main" id="{5450EE29-FF7D-8EBD-F3F5-F0F9E55BEA2B}"/>
                </a:ext>
              </a:extLst>
            </p:cNvPr>
            <p:cNvPicPr>
              <a:picLocks noChangeAspect="1"/>
            </p:cNvPicPr>
            <p:nvPr/>
          </p:nvPicPr>
          <p:blipFill>
            <a:blip r:embed="rId2"/>
            <a:stretch>
              <a:fillRect/>
            </a:stretch>
          </p:blipFill>
          <p:spPr>
            <a:xfrm>
              <a:off x="169201" y="1171360"/>
              <a:ext cx="4410323" cy="1747628"/>
            </a:xfrm>
            <a:prstGeom prst="rect">
              <a:avLst/>
            </a:prstGeom>
          </p:spPr>
        </p:pic>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68BC694B-20F3-C256-07CB-F43D97882195}"/>
                    </a:ext>
                  </a:extLst>
                </p:cNvPr>
                <p:cNvSpPr txBox="1"/>
                <p:nvPr/>
              </p:nvSpPr>
              <p:spPr>
                <a:xfrm>
                  <a:off x="871417" y="1560600"/>
                  <a:ext cx="353465" cy="338554"/>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600" b="1" i="1" smtClean="0">
                                <a:solidFill>
                                  <a:srgbClr val="836967"/>
                                </a:solidFill>
                                <a:latin typeface="Cambria Math" panose="02040503050406030204" pitchFamily="18" charset="0"/>
                              </a:rPr>
                            </m:ctrlPr>
                          </m:sSubPr>
                          <m:e>
                            <m:r>
                              <a:rPr lang="en-GB" sz="1600" b="1" i="1" smtClean="0">
                                <a:latin typeface="Cambria Math" panose="02040503050406030204" pitchFamily="18" charset="0"/>
                              </a:rPr>
                              <m:t>𝑻</m:t>
                            </m:r>
                          </m:e>
                          <m:sub>
                            <m:r>
                              <a:rPr lang="en-GB" sz="1600" b="1" i="1" smtClean="0">
                                <a:latin typeface="Cambria Math" panose="02040503050406030204" pitchFamily="18" charset="0"/>
                              </a:rPr>
                              <m:t>𝑨</m:t>
                            </m:r>
                            <m:r>
                              <a:rPr lang="en-GB" sz="1600" b="1" i="1" smtClean="0">
                                <a:latin typeface="Cambria Math" panose="02040503050406030204" pitchFamily="18" charset="0"/>
                              </a:rPr>
                              <m:t>+</m:t>
                            </m:r>
                          </m:sub>
                        </m:sSub>
                      </m:oMath>
                    </m:oMathPara>
                  </a14:m>
                  <a:endParaRPr lang="en-US" sz="1600" b="1" dirty="0"/>
                </a:p>
              </p:txBody>
            </p:sp>
          </mc:Choice>
          <mc:Fallback xmlns="">
            <p:sp>
              <p:nvSpPr>
                <p:cNvPr id="32" name="TextBox 31">
                  <a:extLst>
                    <a:ext uri="{FF2B5EF4-FFF2-40B4-BE49-F238E27FC236}">
                      <a16:creationId xmlns:a16="http://schemas.microsoft.com/office/drawing/2014/main" id="{68BC694B-20F3-C256-07CB-F43D97882195}"/>
                    </a:ext>
                  </a:extLst>
                </p:cNvPr>
                <p:cNvSpPr txBox="1">
                  <a:spLocks noRot="1" noChangeAspect="1" noMove="1" noResize="1" noEditPoints="1" noAdjustHandles="1" noChangeArrowheads="1" noChangeShapeType="1" noTextEdit="1"/>
                </p:cNvSpPr>
                <p:nvPr/>
              </p:nvSpPr>
              <p:spPr>
                <a:xfrm>
                  <a:off x="871417" y="1560600"/>
                  <a:ext cx="353465" cy="338554"/>
                </a:xfrm>
                <a:prstGeom prst="rect">
                  <a:avLst/>
                </a:prstGeom>
                <a:blipFill>
                  <a:blip r:embed="rId3"/>
                  <a:stretch>
                    <a:fillRect r="-28333"/>
                  </a:stretch>
                </a:blipFill>
                <a:ln>
                  <a:solidFill>
                    <a:schemeClr val="bg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F82D53F2-F30A-BD01-309C-E6ED1F30B43F}"/>
                    </a:ext>
                  </a:extLst>
                </p:cNvPr>
                <p:cNvSpPr txBox="1"/>
                <p:nvPr/>
              </p:nvSpPr>
              <p:spPr>
                <a:xfrm>
                  <a:off x="2077548" y="2331309"/>
                  <a:ext cx="353465" cy="338554"/>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600" b="1" i="1" smtClean="0">
                                <a:solidFill>
                                  <a:srgbClr val="836967"/>
                                </a:solidFill>
                                <a:latin typeface="Cambria Math" panose="02040503050406030204" pitchFamily="18" charset="0"/>
                              </a:rPr>
                            </m:ctrlPr>
                          </m:sSubPr>
                          <m:e>
                            <m:r>
                              <a:rPr lang="en-GB" sz="1600" b="1" i="1" smtClean="0">
                                <a:latin typeface="Cambria Math" panose="02040503050406030204" pitchFamily="18" charset="0"/>
                              </a:rPr>
                              <m:t>𝑻</m:t>
                            </m:r>
                          </m:e>
                          <m:sub>
                            <m:r>
                              <a:rPr lang="en-GB" sz="1600" b="1" i="1" smtClean="0">
                                <a:latin typeface="Cambria Math" panose="02040503050406030204" pitchFamily="18" charset="0"/>
                              </a:rPr>
                              <m:t>𝑩</m:t>
                            </m:r>
                            <m:r>
                              <a:rPr lang="en-GB" sz="1600" b="1" i="1" smtClean="0">
                                <a:latin typeface="Cambria Math" panose="02040503050406030204" pitchFamily="18" charset="0"/>
                              </a:rPr>
                              <m:t>−</m:t>
                            </m:r>
                          </m:sub>
                        </m:sSub>
                      </m:oMath>
                    </m:oMathPara>
                  </a14:m>
                  <a:endParaRPr lang="en-US" sz="1600" b="1" dirty="0"/>
                </a:p>
              </p:txBody>
            </p:sp>
          </mc:Choice>
          <mc:Fallback xmlns="">
            <p:sp>
              <p:nvSpPr>
                <p:cNvPr id="33" name="TextBox 32">
                  <a:extLst>
                    <a:ext uri="{FF2B5EF4-FFF2-40B4-BE49-F238E27FC236}">
                      <a16:creationId xmlns:a16="http://schemas.microsoft.com/office/drawing/2014/main" id="{F82D53F2-F30A-BD01-309C-E6ED1F30B43F}"/>
                    </a:ext>
                  </a:extLst>
                </p:cNvPr>
                <p:cNvSpPr txBox="1">
                  <a:spLocks noRot="1" noChangeAspect="1" noMove="1" noResize="1" noEditPoints="1" noAdjustHandles="1" noChangeArrowheads="1" noChangeShapeType="1" noTextEdit="1"/>
                </p:cNvSpPr>
                <p:nvPr/>
              </p:nvSpPr>
              <p:spPr>
                <a:xfrm>
                  <a:off x="2077548" y="2331309"/>
                  <a:ext cx="353465" cy="338554"/>
                </a:xfrm>
                <a:prstGeom prst="rect">
                  <a:avLst/>
                </a:prstGeom>
                <a:blipFill>
                  <a:blip r:embed="rId4"/>
                  <a:stretch>
                    <a:fillRect r="-26667"/>
                  </a:stretch>
                </a:blipFill>
                <a:ln>
                  <a:solidFill>
                    <a:schemeClr val="bg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8819E01C-8AFA-E5D5-BD53-1CDA2D902267}"/>
                    </a:ext>
                  </a:extLst>
                </p:cNvPr>
                <p:cNvSpPr txBox="1"/>
                <p:nvPr/>
              </p:nvSpPr>
              <p:spPr>
                <a:xfrm>
                  <a:off x="3051271" y="2331309"/>
                  <a:ext cx="353465" cy="338554"/>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600" b="1" i="1" smtClean="0">
                                <a:solidFill>
                                  <a:srgbClr val="836967"/>
                                </a:solidFill>
                                <a:latin typeface="Cambria Math" panose="02040503050406030204" pitchFamily="18" charset="0"/>
                              </a:rPr>
                            </m:ctrlPr>
                          </m:sSubPr>
                          <m:e>
                            <m:r>
                              <a:rPr lang="en-GB" sz="1600" b="1" i="1" smtClean="0">
                                <a:latin typeface="Cambria Math" panose="02040503050406030204" pitchFamily="18" charset="0"/>
                              </a:rPr>
                              <m:t>𝑻</m:t>
                            </m:r>
                          </m:e>
                          <m:sub>
                            <m:r>
                              <a:rPr lang="en-GB" sz="1600" b="1" i="1" smtClean="0">
                                <a:latin typeface="Cambria Math" panose="02040503050406030204" pitchFamily="18" charset="0"/>
                              </a:rPr>
                              <m:t>𝑨</m:t>
                            </m:r>
                            <m:r>
                              <a:rPr lang="en-GB" sz="1600" b="1" i="1" smtClean="0">
                                <a:latin typeface="Cambria Math" panose="02040503050406030204" pitchFamily="18" charset="0"/>
                              </a:rPr>
                              <m:t>−</m:t>
                            </m:r>
                          </m:sub>
                        </m:sSub>
                      </m:oMath>
                    </m:oMathPara>
                  </a14:m>
                  <a:endParaRPr lang="en-US" sz="1600" b="1" dirty="0"/>
                </a:p>
              </p:txBody>
            </p:sp>
          </mc:Choice>
          <mc:Fallback xmlns="">
            <p:sp>
              <p:nvSpPr>
                <p:cNvPr id="34" name="TextBox 33">
                  <a:extLst>
                    <a:ext uri="{FF2B5EF4-FFF2-40B4-BE49-F238E27FC236}">
                      <a16:creationId xmlns:a16="http://schemas.microsoft.com/office/drawing/2014/main" id="{8819E01C-8AFA-E5D5-BD53-1CDA2D902267}"/>
                    </a:ext>
                  </a:extLst>
                </p:cNvPr>
                <p:cNvSpPr txBox="1">
                  <a:spLocks noRot="1" noChangeAspect="1" noMove="1" noResize="1" noEditPoints="1" noAdjustHandles="1" noChangeArrowheads="1" noChangeShapeType="1" noTextEdit="1"/>
                </p:cNvSpPr>
                <p:nvPr/>
              </p:nvSpPr>
              <p:spPr>
                <a:xfrm>
                  <a:off x="3051271" y="2331309"/>
                  <a:ext cx="353465" cy="338554"/>
                </a:xfrm>
                <a:prstGeom prst="rect">
                  <a:avLst/>
                </a:prstGeom>
                <a:blipFill>
                  <a:blip r:embed="rId5"/>
                  <a:stretch>
                    <a:fillRect r="-23333"/>
                  </a:stretch>
                </a:blipFill>
                <a:ln>
                  <a:solidFill>
                    <a:schemeClr val="bg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E4057FE0-83A0-42DB-D05D-C04DEF6C5066}"/>
                    </a:ext>
                  </a:extLst>
                </p:cNvPr>
                <p:cNvSpPr txBox="1"/>
                <p:nvPr/>
              </p:nvSpPr>
              <p:spPr>
                <a:xfrm>
                  <a:off x="4270934" y="1572882"/>
                  <a:ext cx="353465" cy="338554"/>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600" b="1" i="1" smtClean="0">
                                <a:solidFill>
                                  <a:srgbClr val="836967"/>
                                </a:solidFill>
                                <a:latin typeface="Cambria Math" panose="02040503050406030204" pitchFamily="18" charset="0"/>
                              </a:rPr>
                            </m:ctrlPr>
                          </m:sSubPr>
                          <m:e>
                            <m:r>
                              <a:rPr lang="en-GB" sz="1600" b="1" i="1" smtClean="0">
                                <a:latin typeface="Cambria Math" panose="02040503050406030204" pitchFamily="18" charset="0"/>
                              </a:rPr>
                              <m:t>𝑻</m:t>
                            </m:r>
                          </m:e>
                          <m:sub>
                            <m:r>
                              <a:rPr lang="en-GB" sz="1600" b="1" i="1" smtClean="0">
                                <a:latin typeface="Cambria Math" panose="02040503050406030204" pitchFamily="18" charset="0"/>
                              </a:rPr>
                              <m:t>𝑩</m:t>
                            </m:r>
                            <m:r>
                              <a:rPr lang="en-GB" sz="1600" b="1" i="1" smtClean="0">
                                <a:latin typeface="Cambria Math" panose="02040503050406030204" pitchFamily="18" charset="0"/>
                              </a:rPr>
                              <m:t>+</m:t>
                            </m:r>
                          </m:sub>
                        </m:sSub>
                      </m:oMath>
                    </m:oMathPara>
                  </a14:m>
                  <a:endParaRPr lang="en-US" sz="1600" b="1" dirty="0"/>
                </a:p>
              </p:txBody>
            </p:sp>
          </mc:Choice>
          <mc:Fallback xmlns="">
            <p:sp>
              <p:nvSpPr>
                <p:cNvPr id="35" name="TextBox 34">
                  <a:extLst>
                    <a:ext uri="{FF2B5EF4-FFF2-40B4-BE49-F238E27FC236}">
                      <a16:creationId xmlns:a16="http://schemas.microsoft.com/office/drawing/2014/main" id="{E4057FE0-83A0-42DB-D05D-C04DEF6C5066}"/>
                    </a:ext>
                  </a:extLst>
                </p:cNvPr>
                <p:cNvSpPr txBox="1">
                  <a:spLocks noRot="1" noChangeAspect="1" noMove="1" noResize="1" noEditPoints="1" noAdjustHandles="1" noChangeArrowheads="1" noChangeShapeType="1" noTextEdit="1"/>
                </p:cNvSpPr>
                <p:nvPr/>
              </p:nvSpPr>
              <p:spPr>
                <a:xfrm>
                  <a:off x="4270934" y="1572882"/>
                  <a:ext cx="353465" cy="338554"/>
                </a:xfrm>
                <a:prstGeom prst="rect">
                  <a:avLst/>
                </a:prstGeom>
                <a:blipFill>
                  <a:blip r:embed="rId6"/>
                  <a:stretch>
                    <a:fillRect r="-31667"/>
                  </a:stretch>
                </a:blipFill>
                <a:ln>
                  <a:solidFill>
                    <a:schemeClr val="bg1"/>
                  </a:solidFill>
                </a:ln>
              </p:spPr>
              <p:txBody>
                <a:bodyPr/>
                <a:lstStyle/>
                <a:p>
                  <a:r>
                    <a:rPr lang="en-GB">
                      <a:noFill/>
                    </a:rPr>
                    <a:t> </a:t>
                  </a:r>
                </a:p>
              </p:txBody>
            </p:sp>
          </mc:Fallback>
        </mc:AlternateContent>
      </p:grpSp>
      <p:pic>
        <p:nvPicPr>
          <p:cNvPr id="42" name="Picture 41">
            <a:extLst>
              <a:ext uri="{FF2B5EF4-FFF2-40B4-BE49-F238E27FC236}">
                <a16:creationId xmlns:a16="http://schemas.microsoft.com/office/drawing/2014/main" id="{68853954-F88C-67A1-FB96-9BCDD86838CB}"/>
              </a:ext>
            </a:extLst>
          </p:cNvPr>
          <p:cNvPicPr>
            <a:picLocks noChangeAspect="1"/>
          </p:cNvPicPr>
          <p:nvPr/>
        </p:nvPicPr>
        <p:blipFill>
          <a:blip r:embed="rId7"/>
          <a:stretch>
            <a:fillRect/>
          </a:stretch>
        </p:blipFill>
        <p:spPr>
          <a:xfrm>
            <a:off x="760586" y="3100342"/>
            <a:ext cx="3590855" cy="1572904"/>
          </a:xfrm>
          <a:prstGeom prst="rect">
            <a:avLst/>
          </a:prstGeom>
        </p:spPr>
      </p:pic>
      <p:grpSp>
        <p:nvGrpSpPr>
          <p:cNvPr id="62" name="Group 61">
            <a:extLst>
              <a:ext uri="{FF2B5EF4-FFF2-40B4-BE49-F238E27FC236}">
                <a16:creationId xmlns:a16="http://schemas.microsoft.com/office/drawing/2014/main" id="{7FCF5ED8-6EAF-9CAC-86B7-C9CEC6A3328B}"/>
              </a:ext>
            </a:extLst>
          </p:cNvPr>
          <p:cNvGrpSpPr/>
          <p:nvPr/>
        </p:nvGrpSpPr>
        <p:grpSpPr>
          <a:xfrm>
            <a:off x="440681" y="4802860"/>
            <a:ext cx="4310256" cy="1747628"/>
            <a:chOff x="440681" y="4802860"/>
            <a:chExt cx="4310256" cy="1747628"/>
          </a:xfrm>
        </p:grpSpPr>
        <p:pic>
          <p:nvPicPr>
            <p:cNvPr id="41" name="Picture 40">
              <a:extLst>
                <a:ext uri="{FF2B5EF4-FFF2-40B4-BE49-F238E27FC236}">
                  <a16:creationId xmlns:a16="http://schemas.microsoft.com/office/drawing/2014/main" id="{DEA8E4B6-52EF-33EF-4EE9-B5CC83E8B937}"/>
                </a:ext>
              </a:extLst>
            </p:cNvPr>
            <p:cNvPicPr>
              <a:picLocks noChangeAspect="1"/>
            </p:cNvPicPr>
            <p:nvPr/>
          </p:nvPicPr>
          <p:blipFill>
            <a:blip r:embed="rId8"/>
            <a:stretch>
              <a:fillRect/>
            </a:stretch>
          </p:blipFill>
          <p:spPr>
            <a:xfrm>
              <a:off x="440681" y="4802860"/>
              <a:ext cx="4183718" cy="1747628"/>
            </a:xfrm>
            <a:prstGeom prst="rect">
              <a:avLst/>
            </a:prstGeom>
          </p:spPr>
        </p:pic>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7802C4C9-F6C0-93D4-BE26-8D1440762EDA}"/>
                    </a:ext>
                  </a:extLst>
                </p:cNvPr>
                <p:cNvSpPr txBox="1"/>
                <p:nvPr/>
              </p:nvSpPr>
              <p:spPr>
                <a:xfrm>
                  <a:off x="934839" y="5175753"/>
                  <a:ext cx="353465" cy="338554"/>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600" b="1" i="1" smtClean="0">
                                <a:solidFill>
                                  <a:srgbClr val="836967"/>
                                </a:solidFill>
                                <a:latin typeface="Cambria Math" panose="02040503050406030204" pitchFamily="18" charset="0"/>
                              </a:rPr>
                            </m:ctrlPr>
                          </m:sSubPr>
                          <m:e>
                            <m:r>
                              <a:rPr lang="en-GB" sz="1600" b="1" i="1" smtClean="0">
                                <a:latin typeface="Cambria Math" panose="02040503050406030204" pitchFamily="18" charset="0"/>
                              </a:rPr>
                              <m:t>𝑻</m:t>
                            </m:r>
                          </m:e>
                          <m:sub>
                            <m:r>
                              <a:rPr lang="en-GB" sz="1600" b="1" i="1" smtClean="0">
                                <a:latin typeface="Cambria Math" panose="02040503050406030204" pitchFamily="18" charset="0"/>
                              </a:rPr>
                              <m:t>𝑨</m:t>
                            </m:r>
                            <m:r>
                              <a:rPr lang="en-GB" sz="1600" b="1" i="1" smtClean="0">
                                <a:latin typeface="Cambria Math" panose="02040503050406030204" pitchFamily="18" charset="0"/>
                              </a:rPr>
                              <m:t>+</m:t>
                            </m:r>
                          </m:sub>
                        </m:sSub>
                      </m:oMath>
                    </m:oMathPara>
                  </a14:m>
                  <a:endParaRPr lang="en-US" sz="1600" b="1" dirty="0"/>
                </a:p>
              </p:txBody>
            </p:sp>
          </mc:Choice>
          <mc:Fallback xmlns="">
            <p:sp>
              <p:nvSpPr>
                <p:cNvPr id="58" name="TextBox 57">
                  <a:extLst>
                    <a:ext uri="{FF2B5EF4-FFF2-40B4-BE49-F238E27FC236}">
                      <a16:creationId xmlns:a16="http://schemas.microsoft.com/office/drawing/2014/main" id="{7802C4C9-F6C0-93D4-BE26-8D1440762EDA}"/>
                    </a:ext>
                  </a:extLst>
                </p:cNvPr>
                <p:cNvSpPr txBox="1">
                  <a:spLocks noRot="1" noChangeAspect="1" noMove="1" noResize="1" noEditPoints="1" noAdjustHandles="1" noChangeArrowheads="1" noChangeShapeType="1" noTextEdit="1"/>
                </p:cNvSpPr>
                <p:nvPr/>
              </p:nvSpPr>
              <p:spPr>
                <a:xfrm>
                  <a:off x="934839" y="5175753"/>
                  <a:ext cx="353465" cy="338554"/>
                </a:xfrm>
                <a:prstGeom prst="rect">
                  <a:avLst/>
                </a:prstGeom>
                <a:blipFill>
                  <a:blip r:embed="rId9"/>
                  <a:stretch>
                    <a:fillRect r="-30000"/>
                  </a:stretch>
                </a:blipFill>
                <a:ln>
                  <a:solidFill>
                    <a:schemeClr val="bg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FEBAF7B5-D7FB-6B2A-0573-B5767AEDD35D}"/>
                    </a:ext>
                  </a:extLst>
                </p:cNvPr>
                <p:cNvSpPr txBox="1"/>
                <p:nvPr/>
              </p:nvSpPr>
              <p:spPr>
                <a:xfrm>
                  <a:off x="2165261" y="5181815"/>
                  <a:ext cx="353465" cy="338554"/>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600" b="1" i="1" smtClean="0">
                                <a:solidFill>
                                  <a:srgbClr val="836967"/>
                                </a:solidFill>
                                <a:latin typeface="Cambria Math" panose="02040503050406030204" pitchFamily="18" charset="0"/>
                              </a:rPr>
                            </m:ctrlPr>
                          </m:sSubPr>
                          <m:e>
                            <m:r>
                              <a:rPr lang="en-GB" sz="1600" b="1" i="1" smtClean="0">
                                <a:latin typeface="Cambria Math" panose="02040503050406030204" pitchFamily="18" charset="0"/>
                              </a:rPr>
                              <m:t>𝑻</m:t>
                            </m:r>
                          </m:e>
                          <m:sub>
                            <m:r>
                              <a:rPr lang="en-GB" sz="1600" b="1" i="1" smtClean="0">
                                <a:latin typeface="Cambria Math" panose="02040503050406030204" pitchFamily="18" charset="0"/>
                              </a:rPr>
                              <m:t>𝑩</m:t>
                            </m:r>
                            <m:r>
                              <a:rPr lang="en-GB" sz="1600" b="1" i="1" smtClean="0">
                                <a:latin typeface="Cambria Math" panose="02040503050406030204" pitchFamily="18" charset="0"/>
                              </a:rPr>
                              <m:t>+</m:t>
                            </m:r>
                          </m:sub>
                        </m:sSub>
                      </m:oMath>
                    </m:oMathPara>
                  </a14:m>
                  <a:endParaRPr lang="en-US" sz="1600" b="1" dirty="0"/>
                </a:p>
              </p:txBody>
            </p:sp>
          </mc:Choice>
          <mc:Fallback xmlns="">
            <p:sp>
              <p:nvSpPr>
                <p:cNvPr id="59" name="TextBox 58">
                  <a:extLst>
                    <a:ext uri="{FF2B5EF4-FFF2-40B4-BE49-F238E27FC236}">
                      <a16:creationId xmlns:a16="http://schemas.microsoft.com/office/drawing/2014/main" id="{FEBAF7B5-D7FB-6B2A-0573-B5767AEDD35D}"/>
                    </a:ext>
                  </a:extLst>
                </p:cNvPr>
                <p:cNvSpPr txBox="1">
                  <a:spLocks noRot="1" noChangeAspect="1" noMove="1" noResize="1" noEditPoints="1" noAdjustHandles="1" noChangeArrowheads="1" noChangeShapeType="1" noTextEdit="1"/>
                </p:cNvSpPr>
                <p:nvPr/>
              </p:nvSpPr>
              <p:spPr>
                <a:xfrm>
                  <a:off x="2165261" y="5181815"/>
                  <a:ext cx="353465" cy="338554"/>
                </a:xfrm>
                <a:prstGeom prst="rect">
                  <a:avLst/>
                </a:prstGeom>
                <a:blipFill>
                  <a:blip r:embed="rId10"/>
                  <a:stretch>
                    <a:fillRect r="-33333"/>
                  </a:stretch>
                </a:blipFill>
                <a:ln>
                  <a:solidFill>
                    <a:schemeClr val="bg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D4EFBD02-1598-6F1A-1463-58A19CD3E6EA}"/>
                    </a:ext>
                  </a:extLst>
                </p:cNvPr>
                <p:cNvSpPr txBox="1"/>
                <p:nvPr/>
              </p:nvSpPr>
              <p:spPr>
                <a:xfrm>
                  <a:off x="3167050" y="6018440"/>
                  <a:ext cx="353465" cy="338554"/>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600" b="1" i="1" smtClean="0">
                                <a:solidFill>
                                  <a:srgbClr val="836967"/>
                                </a:solidFill>
                                <a:latin typeface="Cambria Math" panose="02040503050406030204" pitchFamily="18" charset="0"/>
                              </a:rPr>
                            </m:ctrlPr>
                          </m:sSubPr>
                          <m:e>
                            <m:r>
                              <a:rPr lang="en-GB" sz="1600" b="1" i="1" smtClean="0">
                                <a:latin typeface="Cambria Math" panose="02040503050406030204" pitchFamily="18" charset="0"/>
                              </a:rPr>
                              <m:t>𝑻</m:t>
                            </m:r>
                          </m:e>
                          <m:sub>
                            <m:r>
                              <a:rPr lang="en-GB" sz="1600" b="1" i="1" smtClean="0">
                                <a:latin typeface="Cambria Math" panose="02040503050406030204" pitchFamily="18" charset="0"/>
                              </a:rPr>
                              <m:t>𝑨</m:t>
                            </m:r>
                            <m:r>
                              <a:rPr lang="en-GB" sz="1600" b="1" i="1" smtClean="0">
                                <a:latin typeface="Cambria Math" panose="02040503050406030204" pitchFamily="18" charset="0"/>
                              </a:rPr>
                              <m:t>−</m:t>
                            </m:r>
                          </m:sub>
                        </m:sSub>
                      </m:oMath>
                    </m:oMathPara>
                  </a14:m>
                  <a:endParaRPr lang="en-US" sz="1600" b="1" dirty="0"/>
                </a:p>
              </p:txBody>
            </p:sp>
          </mc:Choice>
          <mc:Fallback xmlns="">
            <p:sp>
              <p:nvSpPr>
                <p:cNvPr id="60" name="TextBox 59">
                  <a:extLst>
                    <a:ext uri="{FF2B5EF4-FFF2-40B4-BE49-F238E27FC236}">
                      <a16:creationId xmlns:a16="http://schemas.microsoft.com/office/drawing/2014/main" id="{D4EFBD02-1598-6F1A-1463-58A19CD3E6EA}"/>
                    </a:ext>
                  </a:extLst>
                </p:cNvPr>
                <p:cNvSpPr txBox="1">
                  <a:spLocks noRot="1" noChangeAspect="1" noMove="1" noResize="1" noEditPoints="1" noAdjustHandles="1" noChangeArrowheads="1" noChangeShapeType="1" noTextEdit="1"/>
                </p:cNvSpPr>
                <p:nvPr/>
              </p:nvSpPr>
              <p:spPr>
                <a:xfrm>
                  <a:off x="3167050" y="6018440"/>
                  <a:ext cx="353465" cy="338554"/>
                </a:xfrm>
                <a:prstGeom prst="rect">
                  <a:avLst/>
                </a:prstGeom>
                <a:blipFill>
                  <a:blip r:embed="rId11"/>
                  <a:stretch>
                    <a:fillRect r="-23333"/>
                  </a:stretch>
                </a:blipFill>
                <a:ln>
                  <a:solidFill>
                    <a:schemeClr val="bg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6B8E1D4F-09C5-EB84-5DEB-F2741C4B6BC8}"/>
                    </a:ext>
                  </a:extLst>
                </p:cNvPr>
                <p:cNvSpPr txBox="1"/>
                <p:nvPr/>
              </p:nvSpPr>
              <p:spPr>
                <a:xfrm>
                  <a:off x="4397472" y="6024502"/>
                  <a:ext cx="353465" cy="338554"/>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600" b="1" i="1" smtClean="0">
                                <a:solidFill>
                                  <a:srgbClr val="836967"/>
                                </a:solidFill>
                                <a:latin typeface="Cambria Math" panose="02040503050406030204" pitchFamily="18" charset="0"/>
                              </a:rPr>
                            </m:ctrlPr>
                          </m:sSubPr>
                          <m:e>
                            <m:r>
                              <a:rPr lang="en-GB" sz="1600" b="1" i="1" smtClean="0">
                                <a:latin typeface="Cambria Math" panose="02040503050406030204" pitchFamily="18" charset="0"/>
                              </a:rPr>
                              <m:t>𝑻</m:t>
                            </m:r>
                          </m:e>
                          <m:sub>
                            <m:r>
                              <a:rPr lang="en-GB" sz="1600" b="1" i="1" smtClean="0">
                                <a:latin typeface="Cambria Math" panose="02040503050406030204" pitchFamily="18" charset="0"/>
                              </a:rPr>
                              <m:t>𝑩</m:t>
                            </m:r>
                            <m:r>
                              <a:rPr lang="en-GB" sz="1600" b="1" i="1" smtClean="0">
                                <a:latin typeface="Cambria Math" panose="02040503050406030204" pitchFamily="18" charset="0"/>
                              </a:rPr>
                              <m:t>−</m:t>
                            </m:r>
                          </m:sub>
                        </m:sSub>
                      </m:oMath>
                    </m:oMathPara>
                  </a14:m>
                  <a:endParaRPr lang="en-US" sz="1600" b="1" dirty="0"/>
                </a:p>
              </p:txBody>
            </p:sp>
          </mc:Choice>
          <mc:Fallback xmlns="">
            <p:sp>
              <p:nvSpPr>
                <p:cNvPr id="61" name="TextBox 60">
                  <a:extLst>
                    <a:ext uri="{FF2B5EF4-FFF2-40B4-BE49-F238E27FC236}">
                      <a16:creationId xmlns:a16="http://schemas.microsoft.com/office/drawing/2014/main" id="{6B8E1D4F-09C5-EB84-5DEB-F2741C4B6BC8}"/>
                    </a:ext>
                  </a:extLst>
                </p:cNvPr>
                <p:cNvSpPr txBox="1">
                  <a:spLocks noRot="1" noChangeAspect="1" noMove="1" noResize="1" noEditPoints="1" noAdjustHandles="1" noChangeArrowheads="1" noChangeShapeType="1" noTextEdit="1"/>
                </p:cNvSpPr>
                <p:nvPr/>
              </p:nvSpPr>
              <p:spPr>
                <a:xfrm>
                  <a:off x="4397472" y="6024502"/>
                  <a:ext cx="353465" cy="338554"/>
                </a:xfrm>
                <a:prstGeom prst="rect">
                  <a:avLst/>
                </a:prstGeom>
                <a:blipFill>
                  <a:blip r:embed="rId12"/>
                  <a:stretch>
                    <a:fillRect r="-28333"/>
                  </a:stretch>
                </a:blipFill>
                <a:ln>
                  <a:solidFill>
                    <a:schemeClr val="bg1"/>
                  </a:solidFill>
                </a:ln>
              </p:spPr>
              <p:txBody>
                <a:bodyPr/>
                <a:lstStyle/>
                <a:p>
                  <a:r>
                    <a:rPr lang="en-GB">
                      <a:noFill/>
                    </a:rPr>
                    <a:t> </a:t>
                  </a:r>
                </a:p>
              </p:txBody>
            </p:sp>
          </mc:Fallback>
        </mc:AlternateContent>
      </p:grpSp>
      <p:sp>
        <p:nvSpPr>
          <p:cNvPr id="2" name="Title 1">
            <a:extLst>
              <a:ext uri="{FF2B5EF4-FFF2-40B4-BE49-F238E27FC236}">
                <a16:creationId xmlns:a16="http://schemas.microsoft.com/office/drawing/2014/main" id="{83CDAB49-4E83-D5C9-EF6D-0F2CE1E6855E}"/>
              </a:ext>
            </a:extLst>
          </p:cNvPr>
          <p:cNvSpPr>
            <a:spLocks noGrp="1"/>
          </p:cNvSpPr>
          <p:nvPr>
            <p:ph type="title"/>
          </p:nvPr>
        </p:nvSpPr>
        <p:spPr>
          <a:xfrm>
            <a:off x="238284" y="63131"/>
            <a:ext cx="7886700" cy="721053"/>
          </a:xfrm>
        </p:spPr>
        <p:txBody>
          <a:bodyPr/>
          <a:lstStyle/>
          <a:p>
            <a:r>
              <a:rPr lang="en-US" dirty="0"/>
              <a:t>Operation</a:t>
            </a:r>
          </a:p>
        </p:txBody>
      </p:sp>
      <p:sp>
        <p:nvSpPr>
          <p:cNvPr id="17" name="Title 1">
            <a:extLst>
              <a:ext uri="{FF2B5EF4-FFF2-40B4-BE49-F238E27FC236}">
                <a16:creationId xmlns:a16="http://schemas.microsoft.com/office/drawing/2014/main" id="{4100A584-C9BA-C39F-A4D3-ABF895CCF570}"/>
              </a:ext>
            </a:extLst>
          </p:cNvPr>
          <p:cNvSpPr txBox="1">
            <a:spLocks/>
          </p:cNvSpPr>
          <p:nvPr/>
        </p:nvSpPr>
        <p:spPr>
          <a:xfrm>
            <a:off x="337545" y="690288"/>
            <a:ext cx="7886700" cy="56512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t>- Square Wave Switching</a:t>
            </a:r>
          </a:p>
        </p:txBody>
      </p:sp>
      <p:pic>
        <p:nvPicPr>
          <p:cNvPr id="9" name="Picture 8">
            <a:extLst>
              <a:ext uri="{FF2B5EF4-FFF2-40B4-BE49-F238E27FC236}">
                <a16:creationId xmlns:a16="http://schemas.microsoft.com/office/drawing/2014/main" id="{FE7CC13F-DD1A-D55C-E8F0-103FDAC746E1}"/>
              </a:ext>
            </a:extLst>
          </p:cNvPr>
          <p:cNvPicPr>
            <a:picLocks noChangeAspect="1"/>
          </p:cNvPicPr>
          <p:nvPr/>
        </p:nvPicPr>
        <p:blipFill>
          <a:blip r:embed="rId13"/>
          <a:stretch>
            <a:fillRect/>
          </a:stretch>
        </p:blipFill>
        <p:spPr>
          <a:xfrm>
            <a:off x="5056739" y="318835"/>
            <a:ext cx="3083061" cy="2399515"/>
          </a:xfrm>
          <a:prstGeom prst="rect">
            <a:avLst/>
          </a:prstGeom>
        </p:spPr>
      </p:pic>
      <p:sp>
        <p:nvSpPr>
          <p:cNvPr id="5" name="TextBox 4">
            <a:extLst>
              <a:ext uri="{FF2B5EF4-FFF2-40B4-BE49-F238E27FC236}">
                <a16:creationId xmlns:a16="http://schemas.microsoft.com/office/drawing/2014/main" id="{55431583-534B-B430-F1C9-F90B1A1ACD26}"/>
              </a:ext>
            </a:extLst>
          </p:cNvPr>
          <p:cNvSpPr txBox="1"/>
          <p:nvPr/>
        </p:nvSpPr>
        <p:spPr>
          <a:xfrm>
            <a:off x="5368543" y="2844469"/>
            <a:ext cx="2621936" cy="369332"/>
          </a:xfrm>
          <a:prstGeom prst="rect">
            <a:avLst/>
          </a:prstGeom>
          <a:noFill/>
        </p:spPr>
        <p:txBody>
          <a:bodyPr wrap="none" rtlCol="0">
            <a:spAutoFit/>
          </a:bodyPr>
          <a:lstStyle/>
          <a:p>
            <a:r>
              <a:rPr lang="en-US" dirty="0"/>
              <a:t>Full Bridge Inverter (Ideal)</a:t>
            </a:r>
          </a:p>
        </p:txBody>
      </p:sp>
      <p:sp>
        <p:nvSpPr>
          <p:cNvPr id="29" name="Free-form: Shape 28">
            <a:extLst>
              <a:ext uri="{FF2B5EF4-FFF2-40B4-BE49-F238E27FC236}">
                <a16:creationId xmlns:a16="http://schemas.microsoft.com/office/drawing/2014/main" id="{99D6F57C-16FF-0453-0881-D38C51FFFAE2}"/>
              </a:ext>
            </a:extLst>
          </p:cNvPr>
          <p:cNvSpPr/>
          <p:nvPr/>
        </p:nvSpPr>
        <p:spPr>
          <a:xfrm>
            <a:off x="231086" y="2495097"/>
            <a:ext cx="642711" cy="1210491"/>
          </a:xfrm>
          <a:custGeom>
            <a:avLst/>
            <a:gdLst>
              <a:gd name="connsiteX0" fmla="*/ 642711 w 642711"/>
              <a:gd name="connsiteY0" fmla="*/ 1210491 h 1210491"/>
              <a:gd name="connsiteX1" fmla="*/ 15694 w 642711"/>
              <a:gd name="connsiteY1" fmla="*/ 827314 h 1210491"/>
              <a:gd name="connsiteX2" fmla="*/ 250826 w 642711"/>
              <a:gd name="connsiteY2" fmla="*/ 0 h 1210491"/>
            </a:gdLst>
            <a:ahLst/>
            <a:cxnLst>
              <a:cxn ang="0">
                <a:pos x="connsiteX0" y="connsiteY0"/>
              </a:cxn>
              <a:cxn ang="0">
                <a:pos x="connsiteX1" y="connsiteY1"/>
              </a:cxn>
              <a:cxn ang="0">
                <a:pos x="connsiteX2" y="connsiteY2"/>
              </a:cxn>
            </a:cxnLst>
            <a:rect l="l" t="t" r="r" b="b"/>
            <a:pathLst>
              <a:path w="642711" h="1210491">
                <a:moveTo>
                  <a:pt x="642711" y="1210491"/>
                </a:moveTo>
                <a:cubicBezTo>
                  <a:pt x="361859" y="1119777"/>
                  <a:pt x="81008" y="1029063"/>
                  <a:pt x="15694" y="827314"/>
                </a:cubicBezTo>
                <a:cubicBezTo>
                  <a:pt x="-49620" y="625565"/>
                  <a:pt x="100603" y="312782"/>
                  <a:pt x="250826" y="0"/>
                </a:cubicBezTo>
              </a:path>
            </a:pathLst>
          </a:custGeom>
          <a:noFill/>
          <a:ln w="19050">
            <a:solidFill>
              <a:srgbClr val="FF0000"/>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Free-form: Shape 30">
            <a:extLst>
              <a:ext uri="{FF2B5EF4-FFF2-40B4-BE49-F238E27FC236}">
                <a16:creationId xmlns:a16="http://schemas.microsoft.com/office/drawing/2014/main" id="{DC814925-36D4-F386-91EE-6A0D70F29A93}"/>
              </a:ext>
            </a:extLst>
          </p:cNvPr>
          <p:cNvSpPr/>
          <p:nvPr/>
        </p:nvSpPr>
        <p:spPr>
          <a:xfrm>
            <a:off x="1800492" y="2747645"/>
            <a:ext cx="902105" cy="1201783"/>
          </a:xfrm>
          <a:custGeom>
            <a:avLst/>
            <a:gdLst>
              <a:gd name="connsiteX0" fmla="*/ 0 w 1149531"/>
              <a:gd name="connsiteY0" fmla="*/ 1201783 h 1201783"/>
              <a:gd name="connsiteX1" fmla="*/ 452846 w 1149531"/>
              <a:gd name="connsiteY1" fmla="*/ 1062446 h 1201783"/>
              <a:gd name="connsiteX2" fmla="*/ 452846 w 1149531"/>
              <a:gd name="connsiteY2" fmla="*/ 1062446 h 1201783"/>
              <a:gd name="connsiteX3" fmla="*/ 252549 w 1149531"/>
              <a:gd name="connsiteY3" fmla="*/ 322217 h 1201783"/>
              <a:gd name="connsiteX4" fmla="*/ 1149531 w 1149531"/>
              <a:gd name="connsiteY4" fmla="*/ 0 h 12017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531" h="1201783">
                <a:moveTo>
                  <a:pt x="0" y="1201783"/>
                </a:moveTo>
                <a:lnTo>
                  <a:pt x="452846" y="1062446"/>
                </a:lnTo>
                <a:lnTo>
                  <a:pt x="452846" y="1062446"/>
                </a:lnTo>
                <a:cubicBezTo>
                  <a:pt x="419463" y="939075"/>
                  <a:pt x="136435" y="499291"/>
                  <a:pt x="252549" y="322217"/>
                </a:cubicBezTo>
                <a:cubicBezTo>
                  <a:pt x="368663" y="145143"/>
                  <a:pt x="759097" y="72571"/>
                  <a:pt x="1149531" y="0"/>
                </a:cubicBezTo>
              </a:path>
            </a:pathLst>
          </a:custGeom>
          <a:noFill/>
          <a:ln w="19050">
            <a:solidFill>
              <a:srgbClr val="FF0000"/>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Free-form: Shape 42">
            <a:extLst>
              <a:ext uri="{FF2B5EF4-FFF2-40B4-BE49-F238E27FC236}">
                <a16:creationId xmlns:a16="http://schemas.microsoft.com/office/drawing/2014/main" id="{A1D5BB18-925E-5EDF-83C3-2FCBA0604FE0}"/>
              </a:ext>
            </a:extLst>
          </p:cNvPr>
          <p:cNvSpPr/>
          <p:nvPr/>
        </p:nvSpPr>
        <p:spPr>
          <a:xfrm flipV="1">
            <a:off x="330280" y="4073204"/>
            <a:ext cx="543517" cy="978881"/>
          </a:xfrm>
          <a:custGeom>
            <a:avLst/>
            <a:gdLst>
              <a:gd name="connsiteX0" fmla="*/ 642711 w 642711"/>
              <a:gd name="connsiteY0" fmla="*/ 1210491 h 1210491"/>
              <a:gd name="connsiteX1" fmla="*/ 15694 w 642711"/>
              <a:gd name="connsiteY1" fmla="*/ 827314 h 1210491"/>
              <a:gd name="connsiteX2" fmla="*/ 250826 w 642711"/>
              <a:gd name="connsiteY2" fmla="*/ 0 h 1210491"/>
            </a:gdLst>
            <a:ahLst/>
            <a:cxnLst>
              <a:cxn ang="0">
                <a:pos x="connsiteX0" y="connsiteY0"/>
              </a:cxn>
              <a:cxn ang="0">
                <a:pos x="connsiteX1" y="connsiteY1"/>
              </a:cxn>
              <a:cxn ang="0">
                <a:pos x="connsiteX2" y="connsiteY2"/>
              </a:cxn>
            </a:cxnLst>
            <a:rect l="l" t="t" r="r" b="b"/>
            <a:pathLst>
              <a:path w="642711" h="1210491">
                <a:moveTo>
                  <a:pt x="642711" y="1210491"/>
                </a:moveTo>
                <a:cubicBezTo>
                  <a:pt x="361859" y="1119777"/>
                  <a:pt x="81008" y="1029063"/>
                  <a:pt x="15694" y="827314"/>
                </a:cubicBezTo>
                <a:cubicBezTo>
                  <a:pt x="-49620" y="625565"/>
                  <a:pt x="100603" y="312782"/>
                  <a:pt x="250826" y="0"/>
                </a:cubicBezTo>
              </a:path>
            </a:pathLst>
          </a:custGeom>
          <a:noFill/>
          <a:ln w="19050">
            <a:solidFill>
              <a:srgbClr val="FF0000"/>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Free-form: Shape 43">
            <a:extLst>
              <a:ext uri="{FF2B5EF4-FFF2-40B4-BE49-F238E27FC236}">
                <a16:creationId xmlns:a16="http://schemas.microsoft.com/office/drawing/2014/main" id="{77E3524A-4489-9A57-6322-2446C21F8D0E}"/>
              </a:ext>
            </a:extLst>
          </p:cNvPr>
          <p:cNvSpPr/>
          <p:nvPr/>
        </p:nvSpPr>
        <p:spPr>
          <a:xfrm rot="4153924">
            <a:off x="2020624" y="4021807"/>
            <a:ext cx="1056740" cy="1277209"/>
          </a:xfrm>
          <a:custGeom>
            <a:avLst/>
            <a:gdLst>
              <a:gd name="connsiteX0" fmla="*/ 0 w 1149531"/>
              <a:gd name="connsiteY0" fmla="*/ 1201783 h 1201783"/>
              <a:gd name="connsiteX1" fmla="*/ 452846 w 1149531"/>
              <a:gd name="connsiteY1" fmla="*/ 1062446 h 1201783"/>
              <a:gd name="connsiteX2" fmla="*/ 452846 w 1149531"/>
              <a:gd name="connsiteY2" fmla="*/ 1062446 h 1201783"/>
              <a:gd name="connsiteX3" fmla="*/ 252549 w 1149531"/>
              <a:gd name="connsiteY3" fmla="*/ 322217 h 1201783"/>
              <a:gd name="connsiteX4" fmla="*/ 1149531 w 1149531"/>
              <a:gd name="connsiteY4" fmla="*/ 0 h 12017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531" h="1201783">
                <a:moveTo>
                  <a:pt x="0" y="1201783"/>
                </a:moveTo>
                <a:lnTo>
                  <a:pt x="452846" y="1062446"/>
                </a:lnTo>
                <a:lnTo>
                  <a:pt x="452846" y="1062446"/>
                </a:lnTo>
                <a:cubicBezTo>
                  <a:pt x="419463" y="939075"/>
                  <a:pt x="136435" y="499291"/>
                  <a:pt x="252549" y="322217"/>
                </a:cubicBezTo>
                <a:cubicBezTo>
                  <a:pt x="368663" y="145143"/>
                  <a:pt x="759097" y="72571"/>
                  <a:pt x="1149531" y="0"/>
                </a:cubicBezTo>
              </a:path>
            </a:pathLst>
          </a:custGeom>
          <a:noFill/>
          <a:ln w="19050">
            <a:solidFill>
              <a:srgbClr val="FF0000"/>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6" name="Picture 55">
            <a:extLst>
              <a:ext uri="{FF2B5EF4-FFF2-40B4-BE49-F238E27FC236}">
                <a16:creationId xmlns:a16="http://schemas.microsoft.com/office/drawing/2014/main" id="{C10C6D52-FF85-9287-3D30-A4808A22887E}"/>
              </a:ext>
            </a:extLst>
          </p:cNvPr>
          <p:cNvPicPr>
            <a:picLocks noChangeAspect="1"/>
          </p:cNvPicPr>
          <p:nvPr/>
        </p:nvPicPr>
        <p:blipFill>
          <a:blip r:embed="rId14"/>
          <a:stretch>
            <a:fillRect/>
          </a:stretch>
        </p:blipFill>
        <p:spPr>
          <a:xfrm>
            <a:off x="4750937" y="3429000"/>
            <a:ext cx="4310246" cy="1249788"/>
          </a:xfrm>
          <a:prstGeom prst="rect">
            <a:avLst/>
          </a:prstGeom>
        </p:spPr>
      </p:pic>
      <p:sp>
        <p:nvSpPr>
          <p:cNvPr id="63" name="Free-form: Shape 62">
            <a:extLst>
              <a:ext uri="{FF2B5EF4-FFF2-40B4-BE49-F238E27FC236}">
                <a16:creationId xmlns:a16="http://schemas.microsoft.com/office/drawing/2014/main" id="{7272F4C0-73F5-9C3D-C258-6F1E372D529E}"/>
              </a:ext>
            </a:extLst>
          </p:cNvPr>
          <p:cNvSpPr/>
          <p:nvPr/>
        </p:nvSpPr>
        <p:spPr>
          <a:xfrm>
            <a:off x="3307976" y="3585489"/>
            <a:ext cx="1712259" cy="314855"/>
          </a:xfrm>
          <a:custGeom>
            <a:avLst/>
            <a:gdLst>
              <a:gd name="connsiteX0" fmla="*/ 0 w 1712259"/>
              <a:gd name="connsiteY0" fmla="*/ 107970 h 314855"/>
              <a:gd name="connsiteX1" fmla="*/ 1120589 w 1712259"/>
              <a:gd name="connsiteY1" fmla="*/ 9358 h 314855"/>
              <a:gd name="connsiteX2" fmla="*/ 582706 w 1712259"/>
              <a:gd name="connsiteY2" fmla="*/ 314158 h 314855"/>
              <a:gd name="connsiteX3" fmla="*/ 1712259 w 1712259"/>
              <a:gd name="connsiteY3" fmla="*/ 99005 h 314855"/>
              <a:gd name="connsiteX4" fmla="*/ 1712259 w 1712259"/>
              <a:gd name="connsiteY4" fmla="*/ 99005 h 3148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2259" h="314855">
                <a:moveTo>
                  <a:pt x="0" y="107970"/>
                </a:moveTo>
                <a:cubicBezTo>
                  <a:pt x="511735" y="41481"/>
                  <a:pt x="1023471" y="-25007"/>
                  <a:pt x="1120589" y="9358"/>
                </a:cubicBezTo>
                <a:cubicBezTo>
                  <a:pt x="1217707" y="43723"/>
                  <a:pt x="484094" y="299217"/>
                  <a:pt x="582706" y="314158"/>
                </a:cubicBezTo>
                <a:cubicBezTo>
                  <a:pt x="681318" y="329099"/>
                  <a:pt x="1712259" y="99005"/>
                  <a:pt x="1712259" y="99005"/>
                </a:cubicBezTo>
                <a:lnTo>
                  <a:pt x="1712259" y="99005"/>
                </a:lnTo>
              </a:path>
            </a:pathLst>
          </a:custGeom>
          <a:noFill/>
          <a:ln w="19050">
            <a:solidFill>
              <a:srgbClr val="0070C0"/>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Free-form: Shape 63">
            <a:extLst>
              <a:ext uri="{FF2B5EF4-FFF2-40B4-BE49-F238E27FC236}">
                <a16:creationId xmlns:a16="http://schemas.microsoft.com/office/drawing/2014/main" id="{EBCDD337-936F-4FE5-8C15-9DD46C8122CA}"/>
              </a:ext>
            </a:extLst>
          </p:cNvPr>
          <p:cNvSpPr/>
          <p:nvPr/>
        </p:nvSpPr>
        <p:spPr>
          <a:xfrm>
            <a:off x="3218329" y="3944471"/>
            <a:ext cx="1801906" cy="512607"/>
          </a:xfrm>
          <a:custGeom>
            <a:avLst/>
            <a:gdLst>
              <a:gd name="connsiteX0" fmla="*/ 0 w 1801906"/>
              <a:gd name="connsiteY0" fmla="*/ 0 h 512607"/>
              <a:gd name="connsiteX1" fmla="*/ 995083 w 1801906"/>
              <a:gd name="connsiteY1" fmla="*/ 510988 h 512607"/>
              <a:gd name="connsiteX2" fmla="*/ 887506 w 1801906"/>
              <a:gd name="connsiteY2" fmla="*/ 170329 h 512607"/>
              <a:gd name="connsiteX3" fmla="*/ 1801906 w 1801906"/>
              <a:gd name="connsiteY3" fmla="*/ 421341 h 512607"/>
              <a:gd name="connsiteX4" fmla="*/ 1801906 w 1801906"/>
              <a:gd name="connsiteY4" fmla="*/ 421341 h 5126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01906" h="512607">
                <a:moveTo>
                  <a:pt x="0" y="0"/>
                </a:moveTo>
                <a:cubicBezTo>
                  <a:pt x="423582" y="241300"/>
                  <a:pt x="847165" y="482600"/>
                  <a:pt x="995083" y="510988"/>
                </a:cubicBezTo>
                <a:cubicBezTo>
                  <a:pt x="1143001" y="539376"/>
                  <a:pt x="753035" y="185270"/>
                  <a:pt x="887506" y="170329"/>
                </a:cubicBezTo>
                <a:cubicBezTo>
                  <a:pt x="1021977" y="155388"/>
                  <a:pt x="1801906" y="421341"/>
                  <a:pt x="1801906" y="421341"/>
                </a:cubicBezTo>
                <a:lnTo>
                  <a:pt x="1801906" y="421341"/>
                </a:lnTo>
              </a:path>
            </a:pathLst>
          </a:custGeom>
          <a:noFill/>
          <a:ln w="19050">
            <a:solidFill>
              <a:srgbClr val="0070C0"/>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 name="Free-form: Shape 68">
            <a:extLst>
              <a:ext uri="{FF2B5EF4-FFF2-40B4-BE49-F238E27FC236}">
                <a16:creationId xmlns:a16="http://schemas.microsoft.com/office/drawing/2014/main" id="{7B106C03-6BB5-0035-227E-C947E6D29363}"/>
              </a:ext>
            </a:extLst>
          </p:cNvPr>
          <p:cNvSpPr/>
          <p:nvPr/>
        </p:nvSpPr>
        <p:spPr>
          <a:xfrm>
            <a:off x="2798341" y="1441882"/>
            <a:ext cx="1394491" cy="500129"/>
          </a:xfrm>
          <a:custGeom>
            <a:avLst/>
            <a:gdLst>
              <a:gd name="connsiteX0" fmla="*/ 119030 w 1394491"/>
              <a:gd name="connsiteY0" fmla="*/ 500129 h 500129"/>
              <a:gd name="connsiteX1" fmla="*/ 110322 w 1394491"/>
              <a:gd name="connsiteY1" fmla="*/ 73409 h 500129"/>
              <a:gd name="connsiteX2" fmla="*/ 1285979 w 1394491"/>
              <a:gd name="connsiteY2" fmla="*/ 29867 h 500129"/>
              <a:gd name="connsiteX3" fmla="*/ 1285979 w 1394491"/>
              <a:gd name="connsiteY3" fmla="*/ 386918 h 500129"/>
              <a:gd name="connsiteX4" fmla="*/ 789590 w 1394491"/>
              <a:gd name="connsiteY4" fmla="*/ 413044 h 500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4491" h="500129">
                <a:moveTo>
                  <a:pt x="119030" y="500129"/>
                </a:moveTo>
                <a:cubicBezTo>
                  <a:pt x="17430" y="325957"/>
                  <a:pt x="-84170" y="151786"/>
                  <a:pt x="110322" y="73409"/>
                </a:cubicBezTo>
                <a:cubicBezTo>
                  <a:pt x="304814" y="-4968"/>
                  <a:pt x="1090036" y="-22384"/>
                  <a:pt x="1285979" y="29867"/>
                </a:cubicBezTo>
                <a:cubicBezTo>
                  <a:pt x="1481922" y="82118"/>
                  <a:pt x="1368711" y="323055"/>
                  <a:pt x="1285979" y="386918"/>
                </a:cubicBezTo>
                <a:cubicBezTo>
                  <a:pt x="1203248" y="450781"/>
                  <a:pt x="996419" y="431912"/>
                  <a:pt x="789590" y="413044"/>
                </a:cubicBezTo>
              </a:path>
            </a:pathLst>
          </a:custGeom>
          <a:noFill/>
          <a:ln w="19050">
            <a:solidFill>
              <a:srgbClr val="7030A0"/>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0" name="Free-form: Shape 69">
            <a:extLst>
              <a:ext uri="{FF2B5EF4-FFF2-40B4-BE49-F238E27FC236}">
                <a16:creationId xmlns:a16="http://schemas.microsoft.com/office/drawing/2014/main" id="{BA486809-2C65-DD4C-0167-A4D6F17C6C72}"/>
              </a:ext>
            </a:extLst>
          </p:cNvPr>
          <p:cNvSpPr/>
          <p:nvPr/>
        </p:nvSpPr>
        <p:spPr>
          <a:xfrm>
            <a:off x="2921697" y="1799255"/>
            <a:ext cx="657527" cy="605994"/>
          </a:xfrm>
          <a:custGeom>
            <a:avLst/>
            <a:gdLst>
              <a:gd name="connsiteX0" fmla="*/ 657527 w 657527"/>
              <a:gd name="connsiteY0" fmla="*/ 55670 h 605994"/>
              <a:gd name="connsiteX1" fmla="*/ 474647 w 657527"/>
              <a:gd name="connsiteY1" fmla="*/ 38253 h 605994"/>
              <a:gd name="connsiteX2" fmla="*/ 465939 w 657527"/>
              <a:gd name="connsiteY2" fmla="*/ 491098 h 605994"/>
              <a:gd name="connsiteX3" fmla="*/ 74053 w 657527"/>
              <a:gd name="connsiteY3" fmla="*/ 595601 h 605994"/>
              <a:gd name="connsiteX4" fmla="*/ 4384 w 657527"/>
              <a:gd name="connsiteY4" fmla="*/ 299510 h 605994"/>
              <a:gd name="connsiteX5" fmla="*/ 13093 w 657527"/>
              <a:gd name="connsiteY5" fmla="*/ 290801 h 605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7527" h="605994">
                <a:moveTo>
                  <a:pt x="657527" y="55670"/>
                </a:moveTo>
                <a:cubicBezTo>
                  <a:pt x="582052" y="10676"/>
                  <a:pt x="506578" y="-34318"/>
                  <a:pt x="474647" y="38253"/>
                </a:cubicBezTo>
                <a:cubicBezTo>
                  <a:pt x="442716" y="110824"/>
                  <a:pt x="532705" y="398207"/>
                  <a:pt x="465939" y="491098"/>
                </a:cubicBezTo>
                <a:cubicBezTo>
                  <a:pt x="399173" y="583989"/>
                  <a:pt x="150979" y="627532"/>
                  <a:pt x="74053" y="595601"/>
                </a:cubicBezTo>
                <a:cubicBezTo>
                  <a:pt x="-2873" y="563670"/>
                  <a:pt x="4384" y="299510"/>
                  <a:pt x="4384" y="299510"/>
                </a:cubicBezTo>
                <a:cubicBezTo>
                  <a:pt x="-5776" y="248710"/>
                  <a:pt x="3658" y="269755"/>
                  <a:pt x="13093" y="290801"/>
                </a:cubicBezTo>
              </a:path>
            </a:pathLst>
          </a:custGeom>
          <a:noFill/>
          <a:ln w="19050">
            <a:solidFill>
              <a:srgbClr val="7030A0"/>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1" name="Free-form: Shape 70">
            <a:extLst>
              <a:ext uri="{FF2B5EF4-FFF2-40B4-BE49-F238E27FC236}">
                <a16:creationId xmlns:a16="http://schemas.microsoft.com/office/drawing/2014/main" id="{9A4CA8F8-AE09-3D11-B3C9-69E563EEFD39}"/>
              </a:ext>
            </a:extLst>
          </p:cNvPr>
          <p:cNvSpPr/>
          <p:nvPr/>
        </p:nvSpPr>
        <p:spPr>
          <a:xfrm>
            <a:off x="580271" y="1503478"/>
            <a:ext cx="1248529" cy="836465"/>
          </a:xfrm>
          <a:custGeom>
            <a:avLst/>
            <a:gdLst>
              <a:gd name="connsiteX0" fmla="*/ 29329 w 1248529"/>
              <a:gd name="connsiteY0" fmla="*/ 421116 h 836465"/>
              <a:gd name="connsiteX1" fmla="*/ 29329 w 1248529"/>
              <a:gd name="connsiteY1" fmla="*/ 55356 h 836465"/>
              <a:gd name="connsiteX2" fmla="*/ 334129 w 1248529"/>
              <a:gd name="connsiteY2" fmla="*/ 55356 h 836465"/>
              <a:gd name="connsiteX3" fmla="*/ 351546 w 1248529"/>
              <a:gd name="connsiteY3" fmla="*/ 569162 h 836465"/>
              <a:gd name="connsiteX4" fmla="*/ 577969 w 1248529"/>
              <a:gd name="connsiteY4" fmla="*/ 813002 h 836465"/>
              <a:gd name="connsiteX5" fmla="*/ 1248529 w 1248529"/>
              <a:gd name="connsiteY5" fmla="*/ 813002 h 836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48529" h="836465">
                <a:moveTo>
                  <a:pt x="29329" y="421116"/>
                </a:moveTo>
                <a:cubicBezTo>
                  <a:pt x="3929" y="268716"/>
                  <a:pt x="-21471" y="116316"/>
                  <a:pt x="29329" y="55356"/>
                </a:cubicBezTo>
                <a:cubicBezTo>
                  <a:pt x="80129" y="-5604"/>
                  <a:pt x="280426" y="-30278"/>
                  <a:pt x="334129" y="55356"/>
                </a:cubicBezTo>
                <a:cubicBezTo>
                  <a:pt x="387832" y="140990"/>
                  <a:pt x="310906" y="442888"/>
                  <a:pt x="351546" y="569162"/>
                </a:cubicBezTo>
                <a:cubicBezTo>
                  <a:pt x="392186" y="695436"/>
                  <a:pt x="428472" y="772362"/>
                  <a:pt x="577969" y="813002"/>
                </a:cubicBezTo>
                <a:cubicBezTo>
                  <a:pt x="727466" y="853642"/>
                  <a:pt x="987997" y="833322"/>
                  <a:pt x="1248529" y="813002"/>
                </a:cubicBezTo>
              </a:path>
            </a:pathLst>
          </a:custGeom>
          <a:noFill/>
          <a:ln w="19050">
            <a:solidFill>
              <a:srgbClr val="7030A0"/>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2" name="Free-form: Shape 71">
            <a:extLst>
              <a:ext uri="{FF2B5EF4-FFF2-40B4-BE49-F238E27FC236}">
                <a16:creationId xmlns:a16="http://schemas.microsoft.com/office/drawing/2014/main" id="{0C1F17BF-9446-F886-642E-2DFD107ECF7D}"/>
              </a:ext>
            </a:extLst>
          </p:cNvPr>
          <p:cNvSpPr/>
          <p:nvPr/>
        </p:nvSpPr>
        <p:spPr>
          <a:xfrm>
            <a:off x="577065" y="2116179"/>
            <a:ext cx="1373392" cy="457207"/>
          </a:xfrm>
          <a:custGeom>
            <a:avLst/>
            <a:gdLst>
              <a:gd name="connsiteX0" fmla="*/ 1251736 w 1373392"/>
              <a:gd name="connsiteY0" fmla="*/ 209005 h 457207"/>
              <a:gd name="connsiteX1" fmla="*/ 1269153 w 1373392"/>
              <a:gd name="connsiteY1" fmla="*/ 426720 h 457207"/>
              <a:gd name="connsiteX2" fmla="*/ 128330 w 1373392"/>
              <a:gd name="connsiteY2" fmla="*/ 409302 h 457207"/>
              <a:gd name="connsiteX3" fmla="*/ 76079 w 1373392"/>
              <a:gd name="connsiteY3" fmla="*/ 0 h 457207"/>
            </a:gdLst>
            <a:ahLst/>
            <a:cxnLst>
              <a:cxn ang="0">
                <a:pos x="connsiteX0" y="connsiteY0"/>
              </a:cxn>
              <a:cxn ang="0">
                <a:pos x="connsiteX1" y="connsiteY1"/>
              </a:cxn>
              <a:cxn ang="0">
                <a:pos x="connsiteX2" y="connsiteY2"/>
              </a:cxn>
              <a:cxn ang="0">
                <a:pos x="connsiteX3" y="connsiteY3"/>
              </a:cxn>
            </a:cxnLst>
            <a:rect l="l" t="t" r="r" b="b"/>
            <a:pathLst>
              <a:path w="1373392" h="457207">
                <a:moveTo>
                  <a:pt x="1251736" y="209005"/>
                </a:moveTo>
                <a:cubicBezTo>
                  <a:pt x="1354061" y="301171"/>
                  <a:pt x="1456387" y="393337"/>
                  <a:pt x="1269153" y="426720"/>
                </a:cubicBezTo>
                <a:cubicBezTo>
                  <a:pt x="1081919" y="460103"/>
                  <a:pt x="327176" y="480422"/>
                  <a:pt x="128330" y="409302"/>
                </a:cubicBezTo>
                <a:cubicBezTo>
                  <a:pt x="-70516" y="338182"/>
                  <a:pt x="2781" y="169091"/>
                  <a:pt x="76079" y="0"/>
                </a:cubicBezTo>
              </a:path>
            </a:pathLst>
          </a:custGeom>
          <a:noFill/>
          <a:ln w="19050">
            <a:solidFill>
              <a:srgbClr val="7030A0"/>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358241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6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1" grpId="0" animBg="1"/>
      <p:bldP spid="43" grpId="0" animBg="1"/>
      <p:bldP spid="44" grpId="0" animBg="1"/>
      <p:bldP spid="63" grpId="0" animBg="1"/>
      <p:bldP spid="64" grpId="0" animBg="1"/>
      <p:bldP spid="69" grpId="0" animBg="1"/>
      <p:bldP spid="70" grpId="0" animBg="1"/>
      <p:bldP spid="71" grpId="0" animBg="1"/>
      <p:bldP spid="7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DAB49-4E83-D5C9-EF6D-0F2CE1E6855E}"/>
              </a:ext>
            </a:extLst>
          </p:cNvPr>
          <p:cNvSpPr>
            <a:spLocks noGrp="1"/>
          </p:cNvSpPr>
          <p:nvPr>
            <p:ph type="title"/>
          </p:nvPr>
        </p:nvSpPr>
        <p:spPr>
          <a:xfrm>
            <a:off x="185741" y="125608"/>
            <a:ext cx="7886700" cy="721053"/>
          </a:xfrm>
        </p:spPr>
        <p:txBody>
          <a:bodyPr/>
          <a:lstStyle/>
          <a:p>
            <a:r>
              <a:rPr lang="en-US" dirty="0"/>
              <a:t>Operation</a:t>
            </a:r>
          </a:p>
        </p:txBody>
      </p:sp>
      <mc:AlternateContent xmlns:mc="http://schemas.openxmlformats.org/markup-compatibility/2006" xmlns:a14="http://schemas.microsoft.com/office/drawing/2010/main">
        <mc:Choice Requires="a14">
          <p:sp>
            <p:nvSpPr>
              <p:cNvPr id="17" name="Title 1">
                <a:extLst>
                  <a:ext uri="{FF2B5EF4-FFF2-40B4-BE49-F238E27FC236}">
                    <a16:creationId xmlns:a16="http://schemas.microsoft.com/office/drawing/2014/main" id="{4100A584-C9BA-C39F-A4D3-ABF895CCF570}"/>
                  </a:ext>
                </a:extLst>
              </p:cNvPr>
              <p:cNvSpPr txBox="1">
                <a:spLocks/>
              </p:cNvSpPr>
              <p:nvPr/>
            </p:nvSpPr>
            <p:spPr>
              <a:xfrm>
                <a:off x="64008" y="487638"/>
                <a:ext cx="8894251" cy="383122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Tx/>
                  <a:buChar char="-"/>
                </a:pPr>
                <a:r>
                  <a:rPr lang="en-US" sz="3200" b="1" dirty="0"/>
                  <a:t>Pulse Width Modulation (PWM) Switching - Bipolar</a:t>
                </a:r>
              </a:p>
              <a:p>
                <a:pPr marL="914400" lvl="1" indent="-457200">
                  <a:buFontTx/>
                  <a:buChar char="-"/>
                </a:pPr>
                <a:r>
                  <a:rPr lang="en-US" sz="2400" dirty="0"/>
                  <a:t>Is a type of switching technique.</a:t>
                </a:r>
              </a:p>
              <a:p>
                <a:pPr marL="914400" lvl="1" indent="-457200">
                  <a:buFontTx/>
                  <a:buChar char="-"/>
                </a:pPr>
                <a:r>
                  <a:rPr lang="en-US" sz="2400" dirty="0"/>
                  <a:t>Use two signals called </a:t>
                </a:r>
                <a:endParaRPr lang="en-GB" sz="2400" b="1" i="1" dirty="0">
                  <a:solidFill>
                    <a:srgbClr val="836967"/>
                  </a:solidFill>
                  <a:latin typeface="Cambria Math" panose="02040503050406030204" pitchFamily="18" charset="0"/>
                </a:endParaRPr>
              </a:p>
              <a:p>
                <a:pPr marL="1371600" lvl="2" indent="-457200">
                  <a:buFontTx/>
                  <a:buChar char="-"/>
                </a:pPr>
                <a14:m>
                  <m:oMath xmlns:m="http://schemas.openxmlformats.org/officeDocument/2006/math">
                    <m:sSub>
                      <m:sSubPr>
                        <m:ctrlPr>
                          <a:rPr lang="en-US" sz="2400" b="1" i="1">
                            <a:solidFill>
                              <a:srgbClr val="836967"/>
                            </a:solidFill>
                            <a:latin typeface="Cambria Math" panose="02040503050406030204" pitchFamily="18" charset="0"/>
                          </a:rPr>
                        </m:ctrlPr>
                      </m:sSubPr>
                      <m:e>
                        <m:r>
                          <a:rPr lang="en-US" sz="2400" b="1" i="1">
                            <a:latin typeface="Cambria Math" panose="02040503050406030204" pitchFamily="18" charset="0"/>
                          </a:rPr>
                          <m:t>𝒗</m:t>
                        </m:r>
                      </m:e>
                      <m:sub>
                        <m:r>
                          <a:rPr lang="en-GB" sz="2400" b="1" i="1">
                            <a:latin typeface="Cambria Math" panose="02040503050406030204" pitchFamily="18" charset="0"/>
                          </a:rPr>
                          <m:t>𝒕𝒓𝒊</m:t>
                        </m:r>
                      </m:sub>
                    </m:sSub>
                  </m:oMath>
                </a14:m>
                <a:r>
                  <a:rPr lang="en-US" sz="2400" dirty="0"/>
                  <a:t> (Triangular Signal)</a:t>
                </a:r>
              </a:p>
              <a:p>
                <a:pPr marL="1828800" lvl="3" indent="-457200">
                  <a:buFontTx/>
                  <a:buChar char="-"/>
                </a:pPr>
                <a:r>
                  <a:rPr lang="en-US" sz="2400" dirty="0"/>
                  <a:t>Has frequency </a:t>
                </a:r>
                <a14:m>
                  <m:oMath xmlns:m="http://schemas.openxmlformats.org/officeDocument/2006/math">
                    <m:sSub>
                      <m:sSubPr>
                        <m:ctrlPr>
                          <a:rPr lang="en-US" sz="2400" b="1" i="1" smtClean="0">
                            <a:solidFill>
                              <a:srgbClr val="836967"/>
                            </a:solidFill>
                            <a:latin typeface="Cambria Math" panose="02040503050406030204" pitchFamily="18" charset="0"/>
                          </a:rPr>
                        </m:ctrlPr>
                      </m:sSubPr>
                      <m:e>
                        <m:r>
                          <a:rPr lang="en-GB" sz="2400" b="1" i="1" smtClean="0">
                            <a:solidFill>
                              <a:srgbClr val="836967"/>
                            </a:solidFill>
                            <a:latin typeface="Cambria Math" panose="02040503050406030204" pitchFamily="18" charset="0"/>
                          </a:rPr>
                          <m:t>𝒇</m:t>
                        </m:r>
                      </m:e>
                      <m:sub>
                        <m:r>
                          <a:rPr lang="en-GB" sz="2400" b="1" i="1" smtClean="0">
                            <a:latin typeface="Cambria Math" panose="02040503050406030204" pitchFamily="18" charset="0"/>
                          </a:rPr>
                          <m:t>𝒔</m:t>
                        </m:r>
                      </m:sub>
                    </m:sSub>
                  </m:oMath>
                </a14:m>
                <a:r>
                  <a:rPr lang="en-US" sz="2400" dirty="0"/>
                  <a:t> (called switching frequency)</a:t>
                </a:r>
              </a:p>
              <a:p>
                <a:pPr marL="1371600" lvl="2" indent="-457200">
                  <a:buFontTx/>
                  <a:buChar char="-"/>
                </a:pPr>
                <a14:m>
                  <m:oMath xmlns:m="http://schemas.openxmlformats.org/officeDocument/2006/math">
                    <m:sSub>
                      <m:sSubPr>
                        <m:ctrlPr>
                          <a:rPr lang="en-US" sz="2400" b="1" i="1" smtClean="0">
                            <a:solidFill>
                              <a:srgbClr val="836967"/>
                            </a:solidFill>
                            <a:latin typeface="Cambria Math" panose="02040503050406030204" pitchFamily="18" charset="0"/>
                          </a:rPr>
                        </m:ctrlPr>
                      </m:sSubPr>
                      <m:e>
                        <m:r>
                          <a:rPr lang="en-GB" sz="2400" b="1" i="1" smtClean="0">
                            <a:solidFill>
                              <a:srgbClr val="836967"/>
                            </a:solidFill>
                            <a:latin typeface="Cambria Math" panose="02040503050406030204" pitchFamily="18" charset="0"/>
                          </a:rPr>
                          <m:t>  </m:t>
                        </m:r>
                        <m:r>
                          <a:rPr lang="en-US" sz="2400" b="1" i="1">
                            <a:latin typeface="Cambria Math" panose="02040503050406030204" pitchFamily="18" charset="0"/>
                          </a:rPr>
                          <m:t>𝒗</m:t>
                        </m:r>
                      </m:e>
                      <m:sub>
                        <m:r>
                          <a:rPr lang="en-GB" sz="2400" b="1" i="1" smtClean="0">
                            <a:latin typeface="Cambria Math" panose="02040503050406030204" pitchFamily="18" charset="0"/>
                          </a:rPr>
                          <m:t>𝒄𝒐𝒏𝒕𝒓𝒐𝒍</m:t>
                        </m:r>
                      </m:sub>
                    </m:sSub>
                  </m:oMath>
                </a14:m>
                <a:r>
                  <a:rPr lang="en-US" sz="2400" dirty="0"/>
                  <a:t> (Control Signal)</a:t>
                </a:r>
              </a:p>
              <a:p>
                <a:pPr marL="1828800" lvl="3" indent="-457200">
                  <a:buFontTx/>
                  <a:buChar char="-"/>
                </a:pPr>
                <a:r>
                  <a:rPr lang="en-US" sz="2400" dirty="0"/>
                  <a:t>Has frequency </a:t>
                </a:r>
                <a14:m>
                  <m:oMath xmlns:m="http://schemas.openxmlformats.org/officeDocument/2006/math">
                    <m:sSub>
                      <m:sSubPr>
                        <m:ctrlPr>
                          <a:rPr lang="en-US" sz="2400" b="1" i="1" smtClean="0">
                            <a:solidFill>
                              <a:srgbClr val="836967"/>
                            </a:solidFill>
                            <a:latin typeface="Cambria Math" panose="02040503050406030204" pitchFamily="18" charset="0"/>
                          </a:rPr>
                        </m:ctrlPr>
                      </m:sSubPr>
                      <m:e>
                        <m:r>
                          <a:rPr lang="en-GB" sz="2400" b="1" i="1" smtClean="0">
                            <a:solidFill>
                              <a:srgbClr val="836967"/>
                            </a:solidFill>
                            <a:latin typeface="Cambria Math" panose="02040503050406030204" pitchFamily="18" charset="0"/>
                          </a:rPr>
                          <m:t>𝒇</m:t>
                        </m:r>
                      </m:e>
                      <m:sub>
                        <m:r>
                          <a:rPr lang="en-GB" sz="2400" b="1" i="1" smtClean="0">
                            <a:solidFill>
                              <a:srgbClr val="836967"/>
                            </a:solidFill>
                            <a:latin typeface="Cambria Math" panose="02040503050406030204" pitchFamily="18" charset="0"/>
                          </a:rPr>
                          <m:t>𝟏</m:t>
                        </m:r>
                      </m:sub>
                    </m:sSub>
                  </m:oMath>
                </a14:m>
                <a:r>
                  <a:rPr lang="en-US" sz="2400" dirty="0"/>
                  <a:t> (desired fundamental frequency)</a:t>
                </a:r>
              </a:p>
              <a:p>
                <a:pPr marL="1828800" lvl="3" indent="-457200">
                  <a:buFontTx/>
                  <a:buChar char="-"/>
                </a:pPr>
                <a:endParaRPr lang="en-US" sz="2400" dirty="0"/>
              </a:p>
            </p:txBody>
          </p:sp>
        </mc:Choice>
        <mc:Fallback xmlns="">
          <p:sp>
            <p:nvSpPr>
              <p:cNvPr id="17" name="Title 1">
                <a:extLst>
                  <a:ext uri="{FF2B5EF4-FFF2-40B4-BE49-F238E27FC236}">
                    <a16:creationId xmlns:a16="http://schemas.microsoft.com/office/drawing/2014/main" id="{4100A584-C9BA-C39F-A4D3-ABF895CCF570}"/>
                  </a:ext>
                </a:extLst>
              </p:cNvPr>
              <p:cNvSpPr txBox="1">
                <a:spLocks noRot="1" noChangeAspect="1" noMove="1" noResize="1" noEditPoints="1" noAdjustHandles="1" noChangeArrowheads="1" noChangeShapeType="1" noTextEdit="1"/>
              </p:cNvSpPr>
              <p:nvPr/>
            </p:nvSpPr>
            <p:spPr>
              <a:xfrm>
                <a:off x="64008" y="487638"/>
                <a:ext cx="8894251" cy="3831221"/>
              </a:xfrm>
              <a:prstGeom prst="rect">
                <a:avLst/>
              </a:prstGeom>
              <a:blipFill>
                <a:blip r:embed="rId3"/>
                <a:stretch>
                  <a:fillRect l="-1851" r="-960"/>
                </a:stretch>
              </a:blipFill>
            </p:spPr>
            <p:txBody>
              <a:bodyPr/>
              <a:lstStyle/>
              <a:p>
                <a:r>
                  <a:rPr lang="en-GB">
                    <a:noFill/>
                  </a:rPr>
                  <a:t> </a:t>
                </a:r>
              </a:p>
            </p:txBody>
          </p:sp>
        </mc:Fallback>
      </mc:AlternateContent>
      <p:grpSp>
        <p:nvGrpSpPr>
          <p:cNvPr id="18" name="Group 17">
            <a:extLst>
              <a:ext uri="{FF2B5EF4-FFF2-40B4-BE49-F238E27FC236}">
                <a16:creationId xmlns:a16="http://schemas.microsoft.com/office/drawing/2014/main" id="{57F00807-A0B3-2EBF-9F4C-6C0CB5B3C134}"/>
              </a:ext>
            </a:extLst>
          </p:cNvPr>
          <p:cNvGrpSpPr/>
          <p:nvPr/>
        </p:nvGrpSpPr>
        <p:grpSpPr>
          <a:xfrm>
            <a:off x="1637445" y="3949693"/>
            <a:ext cx="5869109" cy="2422172"/>
            <a:chOff x="1637445" y="3949693"/>
            <a:chExt cx="5869109" cy="2422172"/>
          </a:xfrm>
        </p:grpSpPr>
        <p:pic>
          <p:nvPicPr>
            <p:cNvPr id="4" name="Picture 3">
              <a:extLst>
                <a:ext uri="{FF2B5EF4-FFF2-40B4-BE49-F238E27FC236}">
                  <a16:creationId xmlns:a16="http://schemas.microsoft.com/office/drawing/2014/main" id="{C911B1E9-773A-7E46-D181-DBB81801733D}"/>
                </a:ext>
              </a:extLst>
            </p:cNvPr>
            <p:cNvPicPr>
              <a:picLocks noChangeAspect="1"/>
            </p:cNvPicPr>
            <p:nvPr/>
          </p:nvPicPr>
          <p:blipFill>
            <a:blip r:embed="rId4"/>
            <a:stretch>
              <a:fillRect/>
            </a:stretch>
          </p:blipFill>
          <p:spPr>
            <a:xfrm>
              <a:off x="1637445" y="3949693"/>
              <a:ext cx="5869109" cy="2422172"/>
            </a:xfrm>
            <a:prstGeom prst="rect">
              <a:avLst/>
            </a:prstGeom>
          </p:spPr>
        </p:pic>
        <p:sp>
          <p:nvSpPr>
            <p:cNvPr id="7" name="Rectangle 6">
              <a:extLst>
                <a:ext uri="{FF2B5EF4-FFF2-40B4-BE49-F238E27FC236}">
                  <a16:creationId xmlns:a16="http://schemas.microsoft.com/office/drawing/2014/main" id="{33EB13C8-17D0-3C08-2AAB-0F20B9C943DF}"/>
                </a:ext>
              </a:extLst>
            </p:cNvPr>
            <p:cNvSpPr/>
            <p:nvPr/>
          </p:nvSpPr>
          <p:spPr>
            <a:xfrm>
              <a:off x="2890684" y="5189033"/>
              <a:ext cx="108155" cy="115093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a:t>
              </a:r>
            </a:p>
          </p:txBody>
        </p:sp>
        <p:sp>
          <p:nvSpPr>
            <p:cNvPr id="8" name="Rectangle 7">
              <a:extLst>
                <a:ext uri="{FF2B5EF4-FFF2-40B4-BE49-F238E27FC236}">
                  <a16:creationId xmlns:a16="http://schemas.microsoft.com/office/drawing/2014/main" id="{1934D59D-AA9F-2661-2011-66FB9707A58E}"/>
                </a:ext>
              </a:extLst>
            </p:cNvPr>
            <p:cNvSpPr/>
            <p:nvPr/>
          </p:nvSpPr>
          <p:spPr>
            <a:xfrm>
              <a:off x="3210232" y="5220929"/>
              <a:ext cx="108155" cy="115093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6F0C4CB-0118-648B-6361-E90FF923A8D4}"/>
                </a:ext>
              </a:extLst>
            </p:cNvPr>
            <p:cNvSpPr/>
            <p:nvPr/>
          </p:nvSpPr>
          <p:spPr>
            <a:xfrm>
              <a:off x="2914236" y="4848789"/>
              <a:ext cx="61051" cy="27552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a:t>
              </a:r>
            </a:p>
          </p:txBody>
        </p:sp>
        <p:sp>
          <p:nvSpPr>
            <p:cNvPr id="12" name="Rectangle 11">
              <a:extLst>
                <a:ext uri="{FF2B5EF4-FFF2-40B4-BE49-F238E27FC236}">
                  <a16:creationId xmlns:a16="http://schemas.microsoft.com/office/drawing/2014/main" id="{ECDD7EE7-26D3-8E01-1071-95E3C11A346E}"/>
                </a:ext>
              </a:extLst>
            </p:cNvPr>
            <p:cNvSpPr/>
            <p:nvPr/>
          </p:nvSpPr>
          <p:spPr>
            <a:xfrm>
              <a:off x="3246704" y="4859421"/>
              <a:ext cx="61051" cy="27552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a:t>
              </a:r>
            </a:p>
          </p:txBody>
        </p:sp>
      </p:grpSp>
    </p:spTree>
    <p:extLst>
      <p:ext uri="{BB962C8B-B14F-4D97-AF65-F5344CB8AC3E}">
        <p14:creationId xmlns:p14="http://schemas.microsoft.com/office/powerpoint/2010/main" val="1607283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A9D47764-B182-A19A-EC34-A0AB5011FE8E}"/>
              </a:ext>
            </a:extLst>
          </p:cNvPr>
          <p:cNvPicPr>
            <a:picLocks noChangeAspect="1"/>
          </p:cNvPicPr>
          <p:nvPr/>
        </p:nvPicPr>
        <p:blipFill>
          <a:blip r:embed="rId3"/>
          <a:stretch>
            <a:fillRect/>
          </a:stretch>
        </p:blipFill>
        <p:spPr>
          <a:xfrm>
            <a:off x="6070302" y="2330351"/>
            <a:ext cx="2818997" cy="2193997"/>
          </a:xfrm>
          <a:prstGeom prst="rect">
            <a:avLst/>
          </a:prstGeom>
        </p:spPr>
      </p:pic>
      <p:grpSp>
        <p:nvGrpSpPr>
          <p:cNvPr id="36" name="Group 35">
            <a:extLst>
              <a:ext uri="{FF2B5EF4-FFF2-40B4-BE49-F238E27FC236}">
                <a16:creationId xmlns:a16="http://schemas.microsoft.com/office/drawing/2014/main" id="{051AA102-64AE-4676-B308-56EA4381E79B}"/>
              </a:ext>
            </a:extLst>
          </p:cNvPr>
          <p:cNvGrpSpPr/>
          <p:nvPr/>
        </p:nvGrpSpPr>
        <p:grpSpPr>
          <a:xfrm>
            <a:off x="1242496" y="2750376"/>
            <a:ext cx="4394200" cy="3213100"/>
            <a:chOff x="1242496" y="2750376"/>
            <a:chExt cx="4394200" cy="3213100"/>
          </a:xfrm>
        </p:grpSpPr>
        <p:pic>
          <p:nvPicPr>
            <p:cNvPr id="22" name="Picture 21">
              <a:extLst>
                <a:ext uri="{FF2B5EF4-FFF2-40B4-BE49-F238E27FC236}">
                  <a16:creationId xmlns:a16="http://schemas.microsoft.com/office/drawing/2014/main" id="{DDA8637C-62A7-B6FD-32DE-F6718952F1C8}"/>
                </a:ext>
              </a:extLst>
            </p:cNvPr>
            <p:cNvPicPr>
              <a:picLocks noChangeAspect="1"/>
            </p:cNvPicPr>
            <p:nvPr/>
          </p:nvPicPr>
          <p:blipFill>
            <a:blip r:embed="rId4"/>
            <a:stretch>
              <a:fillRect/>
            </a:stretch>
          </p:blipFill>
          <p:spPr>
            <a:xfrm>
              <a:off x="1242496" y="2750376"/>
              <a:ext cx="4394200" cy="3213100"/>
            </a:xfrm>
            <a:prstGeom prst="rect">
              <a:avLst/>
            </a:prstGeom>
          </p:spPr>
        </p:pic>
        <p:sp>
          <p:nvSpPr>
            <p:cNvPr id="34" name="Rectangle 33">
              <a:extLst>
                <a:ext uri="{FF2B5EF4-FFF2-40B4-BE49-F238E27FC236}">
                  <a16:creationId xmlns:a16="http://schemas.microsoft.com/office/drawing/2014/main" id="{E5DA523C-1FB9-ED3E-3636-C66B99DB57B3}"/>
                </a:ext>
              </a:extLst>
            </p:cNvPr>
            <p:cNvSpPr/>
            <p:nvPr/>
          </p:nvSpPr>
          <p:spPr>
            <a:xfrm>
              <a:off x="5072934" y="4631737"/>
              <a:ext cx="230586" cy="6079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27A46449-BA52-C244-01CF-47E19ADA4E2E}"/>
                </a:ext>
              </a:extLst>
            </p:cNvPr>
            <p:cNvSpPr/>
            <p:nvPr/>
          </p:nvSpPr>
          <p:spPr>
            <a:xfrm>
              <a:off x="4998196" y="5308416"/>
              <a:ext cx="306911" cy="6079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83CDAB49-4E83-D5C9-EF6D-0F2CE1E6855E}"/>
              </a:ext>
            </a:extLst>
          </p:cNvPr>
          <p:cNvSpPr>
            <a:spLocks noGrp="1"/>
          </p:cNvSpPr>
          <p:nvPr>
            <p:ph type="title"/>
          </p:nvPr>
        </p:nvSpPr>
        <p:spPr>
          <a:xfrm>
            <a:off x="185741" y="125608"/>
            <a:ext cx="7886700" cy="721053"/>
          </a:xfrm>
        </p:spPr>
        <p:txBody>
          <a:bodyPr/>
          <a:lstStyle/>
          <a:p>
            <a:r>
              <a:rPr lang="en-US" dirty="0"/>
              <a:t>Operation</a:t>
            </a:r>
          </a:p>
        </p:txBody>
      </p:sp>
      <mc:AlternateContent xmlns:mc="http://schemas.openxmlformats.org/markup-compatibility/2006" xmlns:a14="http://schemas.microsoft.com/office/drawing/2010/main">
        <mc:Choice Requires="a14">
          <p:sp>
            <p:nvSpPr>
              <p:cNvPr id="17" name="Title 1">
                <a:extLst>
                  <a:ext uri="{FF2B5EF4-FFF2-40B4-BE49-F238E27FC236}">
                    <a16:creationId xmlns:a16="http://schemas.microsoft.com/office/drawing/2014/main" id="{4100A584-C9BA-C39F-A4D3-ABF895CCF570}"/>
                  </a:ext>
                </a:extLst>
              </p:cNvPr>
              <p:cNvSpPr txBox="1">
                <a:spLocks/>
              </p:cNvSpPr>
              <p:nvPr/>
            </p:nvSpPr>
            <p:spPr>
              <a:xfrm>
                <a:off x="301488" y="744286"/>
                <a:ext cx="8358064" cy="232651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Tx/>
                  <a:buChar char="-"/>
                </a:pPr>
                <a:r>
                  <a:rPr lang="en-US" sz="2800" b="1" dirty="0"/>
                  <a:t>Pulse Width Modulation (PWM) Switching - Bipolar</a:t>
                </a:r>
              </a:p>
              <a:p>
                <a:pPr marL="914400" lvl="1" indent="-457200">
                  <a:buFontTx/>
                  <a:buChar char="-"/>
                </a:pPr>
                <a14:m>
                  <m:oMath xmlns:m="http://schemas.openxmlformats.org/officeDocument/2006/math">
                    <m:sSub>
                      <m:sSubPr>
                        <m:ctrlPr>
                          <a:rPr lang="en-US" sz="2000" b="1" i="1">
                            <a:solidFill>
                              <a:srgbClr val="836967"/>
                            </a:solidFill>
                            <a:latin typeface="Cambria Math" panose="02040503050406030204" pitchFamily="18" charset="0"/>
                          </a:rPr>
                        </m:ctrlPr>
                      </m:sSubPr>
                      <m:e>
                        <m:r>
                          <a:rPr lang="en-US" sz="2000" b="1" i="1">
                            <a:latin typeface="Cambria Math" panose="02040503050406030204" pitchFamily="18" charset="0"/>
                          </a:rPr>
                          <m:t>𝒗</m:t>
                        </m:r>
                      </m:e>
                      <m:sub>
                        <m:r>
                          <a:rPr lang="en-GB" sz="2000" b="1" i="1">
                            <a:latin typeface="Cambria Math" panose="02040503050406030204" pitchFamily="18" charset="0"/>
                          </a:rPr>
                          <m:t>𝒕𝒓𝒊</m:t>
                        </m:r>
                      </m:sub>
                    </m:sSub>
                  </m:oMath>
                </a14:m>
                <a:r>
                  <a:rPr lang="en-US" sz="2000" dirty="0"/>
                  <a:t> (Triangular Signal) is compared with</a:t>
                </a:r>
                <a14:m>
                  <m:oMath xmlns:m="http://schemas.openxmlformats.org/officeDocument/2006/math">
                    <m:sSub>
                      <m:sSubPr>
                        <m:ctrlPr>
                          <a:rPr lang="en-US" sz="2000" b="1" i="1" smtClean="0">
                            <a:solidFill>
                              <a:srgbClr val="836967"/>
                            </a:solidFill>
                            <a:latin typeface="Cambria Math" panose="02040503050406030204" pitchFamily="18" charset="0"/>
                          </a:rPr>
                        </m:ctrlPr>
                      </m:sSubPr>
                      <m:e>
                        <m:r>
                          <a:rPr lang="en-GB" sz="2000" b="1" i="1" smtClean="0">
                            <a:solidFill>
                              <a:srgbClr val="836967"/>
                            </a:solidFill>
                            <a:latin typeface="Cambria Math" panose="02040503050406030204" pitchFamily="18" charset="0"/>
                          </a:rPr>
                          <m:t>  </m:t>
                        </m:r>
                        <m:r>
                          <a:rPr lang="en-US" sz="2000" b="1" i="1">
                            <a:latin typeface="Cambria Math" panose="02040503050406030204" pitchFamily="18" charset="0"/>
                          </a:rPr>
                          <m:t>𝒗</m:t>
                        </m:r>
                      </m:e>
                      <m:sub>
                        <m:r>
                          <a:rPr lang="en-GB" sz="2000" b="1" i="1" smtClean="0">
                            <a:latin typeface="Cambria Math" panose="02040503050406030204" pitchFamily="18" charset="0"/>
                          </a:rPr>
                          <m:t>𝒄𝒐𝒏𝒕𝒓𝒐𝒍</m:t>
                        </m:r>
                      </m:sub>
                    </m:sSub>
                  </m:oMath>
                </a14:m>
                <a:r>
                  <a:rPr lang="en-US" sz="2000" dirty="0"/>
                  <a:t> (Control Signal)</a:t>
                </a:r>
              </a:p>
              <a:p>
                <a:pPr marL="914400" lvl="1" indent="-457200">
                  <a:buFontTx/>
                  <a:buChar char="-"/>
                </a:pPr>
                <a:r>
                  <a:rPr lang="en-US" sz="2000" dirty="0"/>
                  <a:t>Based on comparison result different switches are made closed (ON) and open (OFF)</a:t>
                </a:r>
              </a:p>
              <a:p>
                <a:pPr marL="914400" lvl="1" indent="-457200">
                  <a:buFontTx/>
                  <a:buChar char="-"/>
                </a:pPr>
                <a:r>
                  <a:rPr lang="en-US" sz="2000" dirty="0"/>
                  <a:t>Output voltage swings between </a:t>
                </a:r>
                <a:r>
                  <a:rPr lang="en-GB" sz="2000" dirty="0"/>
                  <a:t>positive</a:t>
                </a:r>
                <a:r>
                  <a:rPr lang="en-GB" sz="2000" dirty="0">
                    <a:solidFill>
                      <a:schemeClr val="tx1"/>
                    </a:solidFill>
                  </a:rPr>
                  <a:t> and negative voltages</a:t>
                </a:r>
                <a:endParaRPr lang="en-US" sz="2000" dirty="0"/>
              </a:p>
              <a:p>
                <a:pPr marL="1828800" lvl="3" indent="-457200">
                  <a:buFontTx/>
                  <a:buChar char="-"/>
                </a:pPr>
                <a:endParaRPr lang="en-US" sz="2000" dirty="0"/>
              </a:p>
            </p:txBody>
          </p:sp>
        </mc:Choice>
        <mc:Fallback xmlns="">
          <p:sp>
            <p:nvSpPr>
              <p:cNvPr id="17" name="Title 1">
                <a:extLst>
                  <a:ext uri="{FF2B5EF4-FFF2-40B4-BE49-F238E27FC236}">
                    <a16:creationId xmlns:a16="http://schemas.microsoft.com/office/drawing/2014/main" id="{4100A584-C9BA-C39F-A4D3-ABF895CCF570}"/>
                  </a:ext>
                </a:extLst>
              </p:cNvPr>
              <p:cNvSpPr txBox="1">
                <a:spLocks noRot="1" noChangeAspect="1" noMove="1" noResize="1" noEditPoints="1" noAdjustHandles="1" noChangeArrowheads="1" noChangeShapeType="1" noTextEdit="1"/>
              </p:cNvSpPr>
              <p:nvPr/>
            </p:nvSpPr>
            <p:spPr>
              <a:xfrm>
                <a:off x="301488" y="744286"/>
                <a:ext cx="8358064" cy="2326511"/>
              </a:xfrm>
              <a:prstGeom prst="rect">
                <a:avLst/>
              </a:prstGeom>
              <a:blipFill>
                <a:blip r:embed="rId5"/>
                <a:stretch>
                  <a:fillRect l="-1531"/>
                </a:stretch>
              </a:blipFill>
            </p:spPr>
            <p:txBody>
              <a:bodyPr/>
              <a:lstStyle/>
              <a:p>
                <a:r>
                  <a:rPr lang="en-GB">
                    <a:noFill/>
                  </a:rPr>
                  <a:t> </a:t>
                </a:r>
              </a:p>
            </p:txBody>
          </p:sp>
        </mc:Fallback>
      </mc:AlternateContent>
      <p:sp>
        <p:nvSpPr>
          <p:cNvPr id="23" name="Rectangle 22">
            <a:extLst>
              <a:ext uri="{FF2B5EF4-FFF2-40B4-BE49-F238E27FC236}">
                <a16:creationId xmlns:a16="http://schemas.microsoft.com/office/drawing/2014/main" id="{EB55F925-CBDB-42D4-6949-A549CC955527}"/>
              </a:ext>
            </a:extLst>
          </p:cNvPr>
          <p:cNvSpPr/>
          <p:nvPr/>
        </p:nvSpPr>
        <p:spPr>
          <a:xfrm>
            <a:off x="1411627" y="4742713"/>
            <a:ext cx="93682" cy="10607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Connector 24">
            <a:extLst>
              <a:ext uri="{FF2B5EF4-FFF2-40B4-BE49-F238E27FC236}">
                <a16:creationId xmlns:a16="http://schemas.microsoft.com/office/drawing/2014/main" id="{AA2CBCD0-7921-7D42-87FA-8DE4B15F8468}"/>
              </a:ext>
            </a:extLst>
          </p:cNvPr>
          <p:cNvCxnSpPr/>
          <p:nvPr/>
        </p:nvCxnSpPr>
        <p:spPr>
          <a:xfrm flipH="1" flipV="1">
            <a:off x="1482812" y="2899480"/>
            <a:ext cx="46841" cy="2942705"/>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26" name="Freeform 25">
            <a:extLst>
              <a:ext uri="{FF2B5EF4-FFF2-40B4-BE49-F238E27FC236}">
                <a16:creationId xmlns:a16="http://schemas.microsoft.com/office/drawing/2014/main" id="{F754329F-C9D6-4618-8223-5E9397458861}"/>
              </a:ext>
            </a:extLst>
          </p:cNvPr>
          <p:cNvSpPr/>
          <p:nvPr/>
        </p:nvSpPr>
        <p:spPr>
          <a:xfrm>
            <a:off x="1411627" y="3518185"/>
            <a:ext cx="96225" cy="563309"/>
          </a:xfrm>
          <a:custGeom>
            <a:avLst/>
            <a:gdLst>
              <a:gd name="connsiteX0" fmla="*/ 0 w 84779"/>
              <a:gd name="connsiteY0" fmla="*/ 54500 h 599507"/>
              <a:gd name="connsiteX1" fmla="*/ 54501 w 84779"/>
              <a:gd name="connsiteY1" fmla="*/ 0 h 599507"/>
              <a:gd name="connsiteX2" fmla="*/ 84779 w 84779"/>
              <a:gd name="connsiteY2" fmla="*/ 78723 h 599507"/>
              <a:gd name="connsiteX3" fmla="*/ 36334 w 84779"/>
              <a:gd name="connsiteY3" fmla="*/ 599507 h 599507"/>
              <a:gd name="connsiteX4" fmla="*/ 0 w 84779"/>
              <a:gd name="connsiteY4" fmla="*/ 54500 h 599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779" h="599507">
                <a:moveTo>
                  <a:pt x="0" y="54500"/>
                </a:moveTo>
                <a:lnTo>
                  <a:pt x="54501" y="0"/>
                </a:lnTo>
                <a:lnTo>
                  <a:pt x="84779" y="78723"/>
                </a:lnTo>
                <a:lnTo>
                  <a:pt x="36334" y="599507"/>
                </a:lnTo>
                <a:lnTo>
                  <a:pt x="0" y="5450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26">
            <a:extLst>
              <a:ext uri="{FF2B5EF4-FFF2-40B4-BE49-F238E27FC236}">
                <a16:creationId xmlns:a16="http://schemas.microsoft.com/office/drawing/2014/main" id="{2AC2F317-362C-4918-E68E-B49D6B945946}"/>
              </a:ext>
            </a:extLst>
          </p:cNvPr>
          <p:cNvPicPr>
            <a:picLocks noChangeAspect="1"/>
          </p:cNvPicPr>
          <p:nvPr/>
        </p:nvPicPr>
        <p:blipFill>
          <a:blip r:embed="rId6"/>
          <a:stretch>
            <a:fillRect/>
          </a:stretch>
        </p:blipFill>
        <p:spPr>
          <a:xfrm>
            <a:off x="431755" y="3664822"/>
            <a:ext cx="897890" cy="226240"/>
          </a:xfrm>
          <a:prstGeom prst="rect">
            <a:avLst/>
          </a:prstGeom>
        </p:spPr>
      </p:pic>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576AA8D5-A2DC-833E-3D38-CFBA6C7CF96E}"/>
                  </a:ext>
                </a:extLst>
              </p:cNvPr>
              <p:cNvSpPr txBox="1"/>
              <p:nvPr/>
            </p:nvSpPr>
            <p:spPr>
              <a:xfrm>
                <a:off x="225891" y="4631737"/>
                <a:ext cx="898398" cy="276999"/>
              </a:xfrm>
              <a:prstGeom prst="rect">
                <a:avLst/>
              </a:prstGeom>
              <a:noFill/>
            </p:spPr>
            <p:txBody>
              <a:bodyPr wrap="square">
                <a:spAutoFit/>
              </a:bodyPr>
              <a:lstStyle/>
              <a:p>
                <a14:m>
                  <m:oMath xmlns:m="http://schemas.openxmlformats.org/officeDocument/2006/math">
                    <m:sSub>
                      <m:sSubPr>
                        <m:ctrlPr>
                          <a:rPr lang="en-US" sz="1200" b="1" i="1" smtClean="0">
                            <a:solidFill>
                              <a:srgbClr val="836967"/>
                            </a:solidFill>
                            <a:latin typeface="Cambria Math" panose="02040503050406030204" pitchFamily="18" charset="0"/>
                          </a:rPr>
                        </m:ctrlPr>
                      </m:sSubPr>
                      <m:e>
                        <m:r>
                          <a:rPr lang="en-US" sz="1200" b="1" i="1">
                            <a:latin typeface="Cambria Math" panose="02040503050406030204" pitchFamily="18" charset="0"/>
                          </a:rPr>
                          <m:t>𝒗</m:t>
                        </m:r>
                      </m:e>
                      <m:sub>
                        <m:r>
                          <a:rPr lang="en-GB" sz="1200" b="1" i="1" smtClean="0">
                            <a:latin typeface="Cambria Math" panose="02040503050406030204" pitchFamily="18" charset="0"/>
                          </a:rPr>
                          <m:t>𝑨𝒐</m:t>
                        </m:r>
                      </m:sub>
                    </m:sSub>
                  </m:oMath>
                </a14:m>
                <a:r>
                  <a:rPr lang="en-US" sz="1200" dirty="0"/>
                  <a:t> = </a:t>
                </a:r>
                <a:r>
                  <a:rPr lang="en-US" sz="1200" dirty="0">
                    <a:solidFill>
                      <a:schemeClr val="tx1"/>
                    </a:solidFill>
                  </a:rPr>
                  <a:t>+</a:t>
                </a:r>
                <a:r>
                  <a:rPr lang="en-US" sz="1200" dirty="0"/>
                  <a:t> </a:t>
                </a:r>
                <a14:m>
                  <m:oMath xmlns:m="http://schemas.openxmlformats.org/officeDocument/2006/math">
                    <m:sSub>
                      <m:sSubPr>
                        <m:ctrlPr>
                          <a:rPr lang="en-US" sz="1200" i="1">
                            <a:latin typeface="Cambria Math" panose="02040503050406030204" pitchFamily="18" charset="0"/>
                          </a:rPr>
                        </m:ctrlPr>
                      </m:sSubPr>
                      <m:e>
                        <m:r>
                          <a:rPr lang="en-GB" sz="1200" i="1">
                            <a:latin typeface="Cambria Math" panose="02040503050406030204" pitchFamily="18" charset="0"/>
                          </a:rPr>
                          <m:t>𝑉</m:t>
                        </m:r>
                      </m:e>
                      <m:sub>
                        <m:r>
                          <a:rPr lang="en-GB" sz="1200" i="1">
                            <a:latin typeface="Cambria Math" panose="02040503050406030204" pitchFamily="18" charset="0"/>
                          </a:rPr>
                          <m:t>𝑑𝑐</m:t>
                        </m:r>
                      </m:sub>
                    </m:sSub>
                  </m:oMath>
                </a14:m>
                <a:endParaRPr lang="en-US" sz="1200" dirty="0"/>
              </a:p>
            </p:txBody>
          </p:sp>
        </mc:Choice>
        <mc:Fallback xmlns="">
          <p:sp>
            <p:nvSpPr>
              <p:cNvPr id="33" name="TextBox 32">
                <a:extLst>
                  <a:ext uri="{FF2B5EF4-FFF2-40B4-BE49-F238E27FC236}">
                    <a16:creationId xmlns:a16="http://schemas.microsoft.com/office/drawing/2014/main" id="{576AA8D5-A2DC-833E-3D38-CFBA6C7CF96E}"/>
                  </a:ext>
                </a:extLst>
              </p:cNvPr>
              <p:cNvSpPr txBox="1">
                <a:spLocks noRot="1" noChangeAspect="1" noMove="1" noResize="1" noEditPoints="1" noAdjustHandles="1" noChangeArrowheads="1" noChangeShapeType="1" noTextEdit="1"/>
              </p:cNvSpPr>
              <p:nvPr/>
            </p:nvSpPr>
            <p:spPr>
              <a:xfrm>
                <a:off x="225891" y="4631737"/>
                <a:ext cx="898398" cy="276999"/>
              </a:xfrm>
              <a:prstGeom prst="rect">
                <a:avLst/>
              </a:prstGeom>
              <a:blipFill>
                <a:blip r:embed="rId7"/>
                <a:stretch>
                  <a:fillRect t="-2222" b="-17778"/>
                </a:stretch>
              </a:blipFill>
            </p:spPr>
            <p:txBody>
              <a:bodyPr/>
              <a:lstStyle/>
              <a:p>
                <a:r>
                  <a:rPr lang="en-GB">
                    <a:noFill/>
                  </a:rPr>
                  <a:t> </a:t>
                </a:r>
              </a:p>
            </p:txBody>
          </p:sp>
        </mc:Fallback>
      </mc:AlternateContent>
      <p:cxnSp>
        <p:nvCxnSpPr>
          <p:cNvPr id="38" name="Straight Arrow Connector 37">
            <a:extLst>
              <a:ext uri="{FF2B5EF4-FFF2-40B4-BE49-F238E27FC236}">
                <a16:creationId xmlns:a16="http://schemas.microsoft.com/office/drawing/2014/main" id="{97AA7EFA-170E-F368-669D-4F315B2C7ADB}"/>
              </a:ext>
            </a:extLst>
          </p:cNvPr>
          <p:cNvCxnSpPr>
            <a:stCxn id="33" idx="3"/>
          </p:cNvCxnSpPr>
          <p:nvPr/>
        </p:nvCxnSpPr>
        <p:spPr>
          <a:xfrm flipV="1">
            <a:off x="1124289" y="4742713"/>
            <a:ext cx="245506" cy="27524"/>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A3EBBC1C-0046-7853-0C3B-C4058A0A38D7}"/>
              </a:ext>
            </a:extLst>
          </p:cNvPr>
          <p:cNvPicPr>
            <a:picLocks noChangeAspect="1"/>
          </p:cNvPicPr>
          <p:nvPr/>
        </p:nvPicPr>
        <p:blipFill>
          <a:blip r:embed="rId8"/>
          <a:stretch>
            <a:fillRect/>
          </a:stretch>
        </p:blipFill>
        <p:spPr>
          <a:xfrm>
            <a:off x="6117432" y="4804498"/>
            <a:ext cx="2715004" cy="1905266"/>
          </a:xfrm>
          <a:prstGeom prst="rect">
            <a:avLst/>
          </a:prstGeom>
        </p:spPr>
      </p:pic>
      <p:sp>
        <p:nvSpPr>
          <p:cNvPr id="16" name="Free-form: Shape 15">
            <a:extLst>
              <a:ext uri="{FF2B5EF4-FFF2-40B4-BE49-F238E27FC236}">
                <a16:creationId xmlns:a16="http://schemas.microsoft.com/office/drawing/2014/main" id="{CE8F7D94-AE79-8CC0-96B2-6775A8CF8954}"/>
              </a:ext>
            </a:extLst>
          </p:cNvPr>
          <p:cNvSpPr/>
          <p:nvPr/>
        </p:nvSpPr>
        <p:spPr>
          <a:xfrm>
            <a:off x="6683967" y="5239692"/>
            <a:ext cx="1248529" cy="836465"/>
          </a:xfrm>
          <a:custGeom>
            <a:avLst/>
            <a:gdLst>
              <a:gd name="connsiteX0" fmla="*/ 29329 w 1248529"/>
              <a:gd name="connsiteY0" fmla="*/ 421116 h 836465"/>
              <a:gd name="connsiteX1" fmla="*/ 29329 w 1248529"/>
              <a:gd name="connsiteY1" fmla="*/ 55356 h 836465"/>
              <a:gd name="connsiteX2" fmla="*/ 334129 w 1248529"/>
              <a:gd name="connsiteY2" fmla="*/ 55356 h 836465"/>
              <a:gd name="connsiteX3" fmla="*/ 351546 w 1248529"/>
              <a:gd name="connsiteY3" fmla="*/ 569162 h 836465"/>
              <a:gd name="connsiteX4" fmla="*/ 577969 w 1248529"/>
              <a:gd name="connsiteY4" fmla="*/ 813002 h 836465"/>
              <a:gd name="connsiteX5" fmla="*/ 1248529 w 1248529"/>
              <a:gd name="connsiteY5" fmla="*/ 813002 h 836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48529" h="836465">
                <a:moveTo>
                  <a:pt x="29329" y="421116"/>
                </a:moveTo>
                <a:cubicBezTo>
                  <a:pt x="3929" y="268716"/>
                  <a:pt x="-21471" y="116316"/>
                  <a:pt x="29329" y="55356"/>
                </a:cubicBezTo>
                <a:cubicBezTo>
                  <a:pt x="80129" y="-5604"/>
                  <a:pt x="280426" y="-30278"/>
                  <a:pt x="334129" y="55356"/>
                </a:cubicBezTo>
                <a:cubicBezTo>
                  <a:pt x="387832" y="140990"/>
                  <a:pt x="310906" y="442888"/>
                  <a:pt x="351546" y="569162"/>
                </a:cubicBezTo>
                <a:cubicBezTo>
                  <a:pt x="392186" y="695436"/>
                  <a:pt x="428472" y="772362"/>
                  <a:pt x="577969" y="813002"/>
                </a:cubicBezTo>
                <a:cubicBezTo>
                  <a:pt x="727466" y="853642"/>
                  <a:pt x="987997" y="833322"/>
                  <a:pt x="1248529" y="813002"/>
                </a:cubicBezTo>
              </a:path>
            </a:pathLst>
          </a:custGeom>
          <a:noFill/>
          <a:ln w="19050">
            <a:solidFill>
              <a:srgbClr val="7030A0"/>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Free-form: Shape 17">
            <a:extLst>
              <a:ext uri="{FF2B5EF4-FFF2-40B4-BE49-F238E27FC236}">
                <a16:creationId xmlns:a16="http://schemas.microsoft.com/office/drawing/2014/main" id="{D3F69181-6F37-F8F5-6BB2-B807D4F5BEA3}"/>
              </a:ext>
            </a:extLst>
          </p:cNvPr>
          <p:cNvSpPr/>
          <p:nvPr/>
        </p:nvSpPr>
        <p:spPr>
          <a:xfrm>
            <a:off x="6680761" y="5852393"/>
            <a:ext cx="1373392" cy="457207"/>
          </a:xfrm>
          <a:custGeom>
            <a:avLst/>
            <a:gdLst>
              <a:gd name="connsiteX0" fmla="*/ 1251736 w 1373392"/>
              <a:gd name="connsiteY0" fmla="*/ 209005 h 457207"/>
              <a:gd name="connsiteX1" fmla="*/ 1269153 w 1373392"/>
              <a:gd name="connsiteY1" fmla="*/ 426720 h 457207"/>
              <a:gd name="connsiteX2" fmla="*/ 128330 w 1373392"/>
              <a:gd name="connsiteY2" fmla="*/ 409302 h 457207"/>
              <a:gd name="connsiteX3" fmla="*/ 76079 w 1373392"/>
              <a:gd name="connsiteY3" fmla="*/ 0 h 457207"/>
            </a:gdLst>
            <a:ahLst/>
            <a:cxnLst>
              <a:cxn ang="0">
                <a:pos x="connsiteX0" y="connsiteY0"/>
              </a:cxn>
              <a:cxn ang="0">
                <a:pos x="connsiteX1" y="connsiteY1"/>
              </a:cxn>
              <a:cxn ang="0">
                <a:pos x="connsiteX2" y="connsiteY2"/>
              </a:cxn>
              <a:cxn ang="0">
                <a:pos x="connsiteX3" y="connsiteY3"/>
              </a:cxn>
            </a:cxnLst>
            <a:rect l="l" t="t" r="r" b="b"/>
            <a:pathLst>
              <a:path w="1373392" h="457207">
                <a:moveTo>
                  <a:pt x="1251736" y="209005"/>
                </a:moveTo>
                <a:cubicBezTo>
                  <a:pt x="1354061" y="301171"/>
                  <a:pt x="1456387" y="393337"/>
                  <a:pt x="1269153" y="426720"/>
                </a:cubicBezTo>
                <a:cubicBezTo>
                  <a:pt x="1081919" y="460103"/>
                  <a:pt x="327176" y="480422"/>
                  <a:pt x="128330" y="409302"/>
                </a:cubicBezTo>
                <a:cubicBezTo>
                  <a:pt x="-70516" y="338182"/>
                  <a:pt x="2781" y="169091"/>
                  <a:pt x="76079" y="0"/>
                </a:cubicBezTo>
              </a:path>
            </a:pathLst>
          </a:custGeom>
          <a:noFill/>
          <a:ln w="19050">
            <a:solidFill>
              <a:srgbClr val="7030A0"/>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7AC8975F-40D2-77F1-7D86-D87715E99187}"/>
                  </a:ext>
                </a:extLst>
              </p:cNvPr>
              <p:cNvSpPr txBox="1"/>
              <p:nvPr/>
            </p:nvSpPr>
            <p:spPr>
              <a:xfrm>
                <a:off x="6546775" y="4537368"/>
                <a:ext cx="1866049" cy="307777"/>
              </a:xfrm>
              <a:prstGeom prst="rect">
                <a:avLst/>
              </a:prstGeom>
              <a:solidFill>
                <a:schemeClr val="bg1"/>
              </a:solidFill>
              <a:ln>
                <a:solidFill>
                  <a:schemeClr val="bg1"/>
                </a:solidFill>
              </a:ln>
            </p:spPr>
            <p:txBody>
              <a:bodyPr wrap="square">
                <a:spAutoFit/>
              </a:bodyPr>
              <a:lstStyle/>
              <a:p>
                <a14:m>
                  <m:oMath xmlns:m="http://schemas.openxmlformats.org/officeDocument/2006/math">
                    <m:sSub>
                      <m:sSubPr>
                        <m:ctrlPr>
                          <a:rPr lang="en-US" sz="1400" b="1" i="1" smtClean="0">
                            <a:solidFill>
                              <a:srgbClr val="FF0000"/>
                            </a:solidFill>
                            <a:latin typeface="Cambria Math" panose="02040503050406030204" pitchFamily="18" charset="0"/>
                          </a:rPr>
                        </m:ctrlPr>
                      </m:sSubPr>
                      <m:e>
                        <m:r>
                          <a:rPr lang="en-GB" sz="1400" b="1" i="1" smtClean="0">
                            <a:solidFill>
                              <a:srgbClr val="FF0000"/>
                            </a:solidFill>
                            <a:latin typeface="Cambria Math" panose="02040503050406030204" pitchFamily="18" charset="0"/>
                          </a:rPr>
                          <m:t>𝑻</m:t>
                        </m:r>
                      </m:e>
                      <m:sub>
                        <m:r>
                          <a:rPr lang="en-GB" sz="1400" b="1" i="1" smtClean="0">
                            <a:solidFill>
                              <a:srgbClr val="FF0000"/>
                            </a:solidFill>
                            <a:latin typeface="Cambria Math" panose="02040503050406030204" pitchFamily="18" charset="0"/>
                          </a:rPr>
                          <m:t>𝑨</m:t>
                        </m:r>
                        <m:r>
                          <a:rPr lang="en-GB" sz="1400" b="1" i="1" smtClean="0">
                            <a:solidFill>
                              <a:srgbClr val="FF0000"/>
                            </a:solidFill>
                            <a:latin typeface="Cambria Math" panose="02040503050406030204" pitchFamily="18" charset="0"/>
                          </a:rPr>
                          <m:t>+</m:t>
                        </m:r>
                      </m:sub>
                    </m:sSub>
                    <m:r>
                      <a:rPr lang="en-GB" sz="1400" b="1" i="1" smtClean="0">
                        <a:solidFill>
                          <a:srgbClr val="FF0000"/>
                        </a:solidFill>
                        <a:latin typeface="Cambria Math" panose="02040503050406030204" pitchFamily="18" charset="0"/>
                      </a:rPr>
                      <m:t>  </m:t>
                    </m:r>
                    <m:r>
                      <a:rPr lang="en-GB" sz="1400" b="1" i="1" smtClean="0">
                        <a:solidFill>
                          <a:srgbClr val="FF0000"/>
                        </a:solidFill>
                        <a:latin typeface="Cambria Math" panose="02040503050406030204" pitchFamily="18" charset="0"/>
                      </a:rPr>
                      <m:t>𝒂𝒏𝒅</m:t>
                    </m:r>
                    <m:r>
                      <a:rPr lang="en-GB" sz="1400" b="1" i="1" smtClean="0">
                        <a:solidFill>
                          <a:srgbClr val="FF0000"/>
                        </a:solidFill>
                        <a:latin typeface="Cambria Math" panose="02040503050406030204" pitchFamily="18" charset="0"/>
                      </a:rPr>
                      <m:t>  </m:t>
                    </m:r>
                    <m:sSub>
                      <m:sSubPr>
                        <m:ctrlPr>
                          <a:rPr lang="en-US" sz="1400" b="1" i="1">
                            <a:solidFill>
                              <a:srgbClr val="FF0000"/>
                            </a:solidFill>
                            <a:latin typeface="Cambria Math" panose="02040503050406030204" pitchFamily="18" charset="0"/>
                          </a:rPr>
                        </m:ctrlPr>
                      </m:sSubPr>
                      <m:e>
                        <m:r>
                          <a:rPr lang="en-GB" sz="1400" b="1" i="1">
                            <a:solidFill>
                              <a:srgbClr val="FF0000"/>
                            </a:solidFill>
                            <a:latin typeface="Cambria Math" panose="02040503050406030204" pitchFamily="18" charset="0"/>
                          </a:rPr>
                          <m:t>𝑻</m:t>
                        </m:r>
                      </m:e>
                      <m:sub>
                        <m:r>
                          <a:rPr lang="en-GB" sz="1400" b="1" i="1" smtClean="0">
                            <a:solidFill>
                              <a:srgbClr val="FF0000"/>
                            </a:solidFill>
                            <a:latin typeface="Cambria Math" panose="02040503050406030204" pitchFamily="18" charset="0"/>
                          </a:rPr>
                          <m:t>𝑩</m:t>
                        </m:r>
                        <m:r>
                          <a:rPr lang="en-GB" sz="1400" b="1" i="1" smtClean="0">
                            <a:solidFill>
                              <a:srgbClr val="FF0000"/>
                            </a:solidFill>
                            <a:latin typeface="Cambria Math" panose="02040503050406030204" pitchFamily="18" charset="0"/>
                          </a:rPr>
                          <m:t>−</m:t>
                        </m:r>
                      </m:sub>
                    </m:sSub>
                  </m:oMath>
                </a14:m>
                <a:r>
                  <a:rPr lang="en-US" sz="1400" b="1" dirty="0">
                    <a:solidFill>
                      <a:srgbClr val="FF0000"/>
                    </a:solidFill>
                  </a:rPr>
                  <a:t> Closed</a:t>
                </a:r>
              </a:p>
            </p:txBody>
          </p:sp>
        </mc:Choice>
        <mc:Fallback xmlns="">
          <p:sp>
            <p:nvSpPr>
              <p:cNvPr id="13" name="TextBox 12">
                <a:extLst>
                  <a:ext uri="{FF2B5EF4-FFF2-40B4-BE49-F238E27FC236}">
                    <a16:creationId xmlns:a16="http://schemas.microsoft.com/office/drawing/2014/main" id="{7AC8975F-40D2-77F1-7D86-D87715E99187}"/>
                  </a:ext>
                </a:extLst>
              </p:cNvPr>
              <p:cNvSpPr txBox="1">
                <a:spLocks noRot="1" noChangeAspect="1" noMove="1" noResize="1" noEditPoints="1" noAdjustHandles="1" noChangeArrowheads="1" noChangeShapeType="1" noTextEdit="1"/>
              </p:cNvSpPr>
              <p:nvPr/>
            </p:nvSpPr>
            <p:spPr>
              <a:xfrm>
                <a:off x="6546775" y="4537368"/>
                <a:ext cx="1866049" cy="307777"/>
              </a:xfrm>
              <a:prstGeom prst="rect">
                <a:avLst/>
              </a:prstGeom>
              <a:blipFill>
                <a:blip r:embed="rId9"/>
                <a:stretch>
                  <a:fillRect b="-16981"/>
                </a:stretch>
              </a:blipFill>
              <a:ln>
                <a:solidFill>
                  <a:schemeClr val="bg1"/>
                </a:solidFill>
              </a:ln>
            </p:spPr>
            <p:txBody>
              <a:bodyPr/>
              <a:lstStyle/>
              <a:p>
                <a:r>
                  <a:rPr lang="en-GB">
                    <a:noFill/>
                  </a:rPr>
                  <a:t> </a:t>
                </a:r>
              </a:p>
            </p:txBody>
          </p:sp>
        </mc:Fallback>
      </mc:AlternateContent>
      <p:sp>
        <p:nvSpPr>
          <p:cNvPr id="20" name="Rectangle 19">
            <a:extLst>
              <a:ext uri="{FF2B5EF4-FFF2-40B4-BE49-F238E27FC236}">
                <a16:creationId xmlns:a16="http://schemas.microsoft.com/office/drawing/2014/main" id="{235FB9AC-AB70-C752-086F-6534BEA58C58}"/>
              </a:ext>
            </a:extLst>
          </p:cNvPr>
          <p:cNvSpPr/>
          <p:nvPr/>
        </p:nvSpPr>
        <p:spPr>
          <a:xfrm>
            <a:off x="8659552" y="5239692"/>
            <a:ext cx="356432" cy="76834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070004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3"/>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6" grpId="0" animBg="1"/>
      <p:bldP spid="33" grpId="0"/>
      <p:bldP spid="16" grpId="0" animBg="1"/>
      <p:bldP spid="18" grpId="0" animBg="1"/>
      <p:bldP spid="1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Group 35">
            <a:extLst>
              <a:ext uri="{FF2B5EF4-FFF2-40B4-BE49-F238E27FC236}">
                <a16:creationId xmlns:a16="http://schemas.microsoft.com/office/drawing/2014/main" id="{051AA102-64AE-4676-B308-56EA4381E79B}"/>
              </a:ext>
            </a:extLst>
          </p:cNvPr>
          <p:cNvGrpSpPr/>
          <p:nvPr/>
        </p:nvGrpSpPr>
        <p:grpSpPr>
          <a:xfrm>
            <a:off x="1242496" y="2750376"/>
            <a:ext cx="4394200" cy="3213100"/>
            <a:chOff x="1242496" y="2750376"/>
            <a:chExt cx="4394200" cy="3213100"/>
          </a:xfrm>
        </p:grpSpPr>
        <p:pic>
          <p:nvPicPr>
            <p:cNvPr id="22" name="Picture 21">
              <a:extLst>
                <a:ext uri="{FF2B5EF4-FFF2-40B4-BE49-F238E27FC236}">
                  <a16:creationId xmlns:a16="http://schemas.microsoft.com/office/drawing/2014/main" id="{DDA8637C-62A7-B6FD-32DE-F6718952F1C8}"/>
                </a:ext>
              </a:extLst>
            </p:cNvPr>
            <p:cNvPicPr>
              <a:picLocks noChangeAspect="1"/>
            </p:cNvPicPr>
            <p:nvPr/>
          </p:nvPicPr>
          <p:blipFill>
            <a:blip r:embed="rId3"/>
            <a:stretch>
              <a:fillRect/>
            </a:stretch>
          </p:blipFill>
          <p:spPr>
            <a:xfrm>
              <a:off x="1242496" y="2750376"/>
              <a:ext cx="4394200" cy="3213100"/>
            </a:xfrm>
            <a:prstGeom prst="rect">
              <a:avLst/>
            </a:prstGeom>
          </p:spPr>
        </p:pic>
        <p:sp>
          <p:nvSpPr>
            <p:cNvPr id="34" name="Rectangle 33">
              <a:extLst>
                <a:ext uri="{FF2B5EF4-FFF2-40B4-BE49-F238E27FC236}">
                  <a16:creationId xmlns:a16="http://schemas.microsoft.com/office/drawing/2014/main" id="{E5DA523C-1FB9-ED3E-3636-C66B99DB57B3}"/>
                </a:ext>
              </a:extLst>
            </p:cNvPr>
            <p:cNvSpPr/>
            <p:nvPr/>
          </p:nvSpPr>
          <p:spPr>
            <a:xfrm>
              <a:off x="5072934" y="4631737"/>
              <a:ext cx="230586" cy="6079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27A46449-BA52-C244-01CF-47E19ADA4E2E}"/>
                </a:ext>
              </a:extLst>
            </p:cNvPr>
            <p:cNvSpPr/>
            <p:nvPr/>
          </p:nvSpPr>
          <p:spPr>
            <a:xfrm>
              <a:off x="4998196" y="5308416"/>
              <a:ext cx="306911" cy="6079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83CDAB49-4E83-D5C9-EF6D-0F2CE1E6855E}"/>
              </a:ext>
            </a:extLst>
          </p:cNvPr>
          <p:cNvSpPr>
            <a:spLocks noGrp="1"/>
          </p:cNvSpPr>
          <p:nvPr>
            <p:ph type="title"/>
          </p:nvPr>
        </p:nvSpPr>
        <p:spPr>
          <a:xfrm>
            <a:off x="185741" y="125608"/>
            <a:ext cx="7886700" cy="721053"/>
          </a:xfrm>
        </p:spPr>
        <p:txBody>
          <a:bodyPr/>
          <a:lstStyle/>
          <a:p>
            <a:r>
              <a:rPr lang="en-US" dirty="0"/>
              <a:t>Operation</a:t>
            </a:r>
          </a:p>
        </p:txBody>
      </p:sp>
      <mc:AlternateContent xmlns:mc="http://schemas.openxmlformats.org/markup-compatibility/2006" xmlns:a14="http://schemas.microsoft.com/office/drawing/2010/main">
        <mc:Choice Requires="a14">
          <p:sp>
            <p:nvSpPr>
              <p:cNvPr id="17" name="Title 1">
                <a:extLst>
                  <a:ext uri="{FF2B5EF4-FFF2-40B4-BE49-F238E27FC236}">
                    <a16:creationId xmlns:a16="http://schemas.microsoft.com/office/drawing/2014/main" id="{4100A584-C9BA-C39F-A4D3-ABF895CCF570}"/>
                  </a:ext>
                </a:extLst>
              </p:cNvPr>
              <p:cNvSpPr txBox="1">
                <a:spLocks/>
              </p:cNvSpPr>
              <p:nvPr/>
            </p:nvSpPr>
            <p:spPr>
              <a:xfrm>
                <a:off x="301488" y="744286"/>
                <a:ext cx="8358064" cy="232651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Tx/>
                  <a:buChar char="-"/>
                </a:pPr>
                <a:r>
                  <a:rPr lang="en-US" sz="2800" b="1" dirty="0"/>
                  <a:t>Pulse Width Modulation (PWM) Switching - Bipolar</a:t>
                </a:r>
              </a:p>
              <a:p>
                <a:pPr marL="914400" lvl="1" indent="-457200">
                  <a:buFontTx/>
                  <a:buChar char="-"/>
                </a:pPr>
                <a14:m>
                  <m:oMath xmlns:m="http://schemas.openxmlformats.org/officeDocument/2006/math">
                    <m:sSub>
                      <m:sSubPr>
                        <m:ctrlPr>
                          <a:rPr lang="en-US" sz="2000" b="1" i="1">
                            <a:solidFill>
                              <a:srgbClr val="836967"/>
                            </a:solidFill>
                            <a:latin typeface="Cambria Math" panose="02040503050406030204" pitchFamily="18" charset="0"/>
                          </a:rPr>
                        </m:ctrlPr>
                      </m:sSubPr>
                      <m:e>
                        <m:r>
                          <a:rPr lang="en-US" sz="2000" b="1" i="1">
                            <a:latin typeface="Cambria Math" panose="02040503050406030204" pitchFamily="18" charset="0"/>
                          </a:rPr>
                          <m:t>𝒗</m:t>
                        </m:r>
                      </m:e>
                      <m:sub>
                        <m:r>
                          <a:rPr lang="en-GB" sz="2000" b="1" i="1">
                            <a:latin typeface="Cambria Math" panose="02040503050406030204" pitchFamily="18" charset="0"/>
                          </a:rPr>
                          <m:t>𝒕𝒓𝒊</m:t>
                        </m:r>
                      </m:sub>
                    </m:sSub>
                  </m:oMath>
                </a14:m>
                <a:r>
                  <a:rPr lang="en-US" sz="2000" dirty="0"/>
                  <a:t> (Triangular Signal) is compared with</a:t>
                </a:r>
                <a14:m>
                  <m:oMath xmlns:m="http://schemas.openxmlformats.org/officeDocument/2006/math">
                    <m:sSub>
                      <m:sSubPr>
                        <m:ctrlPr>
                          <a:rPr lang="en-US" sz="2000" b="1" i="1" smtClean="0">
                            <a:solidFill>
                              <a:srgbClr val="836967"/>
                            </a:solidFill>
                            <a:latin typeface="Cambria Math" panose="02040503050406030204" pitchFamily="18" charset="0"/>
                          </a:rPr>
                        </m:ctrlPr>
                      </m:sSubPr>
                      <m:e>
                        <m:r>
                          <a:rPr lang="en-GB" sz="2000" b="1" i="1" smtClean="0">
                            <a:solidFill>
                              <a:srgbClr val="836967"/>
                            </a:solidFill>
                            <a:latin typeface="Cambria Math" panose="02040503050406030204" pitchFamily="18" charset="0"/>
                          </a:rPr>
                          <m:t>  </m:t>
                        </m:r>
                        <m:r>
                          <a:rPr lang="en-US" sz="2000" b="1" i="1">
                            <a:latin typeface="Cambria Math" panose="02040503050406030204" pitchFamily="18" charset="0"/>
                          </a:rPr>
                          <m:t>𝒗</m:t>
                        </m:r>
                      </m:e>
                      <m:sub>
                        <m:r>
                          <a:rPr lang="en-GB" sz="2000" b="1" i="1" smtClean="0">
                            <a:latin typeface="Cambria Math" panose="02040503050406030204" pitchFamily="18" charset="0"/>
                          </a:rPr>
                          <m:t>𝒄𝒐𝒏𝒕𝒓𝒐𝒍</m:t>
                        </m:r>
                      </m:sub>
                    </m:sSub>
                  </m:oMath>
                </a14:m>
                <a:r>
                  <a:rPr lang="en-US" sz="2000" dirty="0"/>
                  <a:t> (Control Signal)</a:t>
                </a:r>
              </a:p>
              <a:p>
                <a:pPr marL="914400" lvl="1" indent="-457200">
                  <a:buFontTx/>
                  <a:buChar char="-"/>
                </a:pPr>
                <a:r>
                  <a:rPr lang="en-US" sz="2000" dirty="0"/>
                  <a:t>Based on comparison result different switches are made closed (ON) and open (OFF)</a:t>
                </a:r>
              </a:p>
              <a:p>
                <a:pPr marL="914400" lvl="1" indent="-457200">
                  <a:buFontTx/>
                  <a:buChar char="-"/>
                </a:pPr>
                <a:r>
                  <a:rPr lang="en-US" sz="2000" dirty="0"/>
                  <a:t>Output voltage swings between </a:t>
                </a:r>
                <a:r>
                  <a:rPr lang="en-GB" sz="2000" dirty="0">
                    <a:solidFill>
                      <a:schemeClr val="tx1"/>
                    </a:solidFill>
                  </a:rPr>
                  <a:t>positive and negative voltages</a:t>
                </a:r>
                <a:endParaRPr lang="en-US" sz="2000" dirty="0"/>
              </a:p>
              <a:p>
                <a:pPr marL="1828800" lvl="3" indent="-457200">
                  <a:buFontTx/>
                  <a:buChar char="-"/>
                </a:pPr>
                <a:endParaRPr lang="en-US" sz="2000" dirty="0"/>
              </a:p>
            </p:txBody>
          </p:sp>
        </mc:Choice>
        <mc:Fallback xmlns="">
          <p:sp>
            <p:nvSpPr>
              <p:cNvPr id="17" name="Title 1">
                <a:extLst>
                  <a:ext uri="{FF2B5EF4-FFF2-40B4-BE49-F238E27FC236}">
                    <a16:creationId xmlns:a16="http://schemas.microsoft.com/office/drawing/2014/main" id="{4100A584-C9BA-C39F-A4D3-ABF895CCF570}"/>
                  </a:ext>
                </a:extLst>
              </p:cNvPr>
              <p:cNvSpPr txBox="1">
                <a:spLocks noRot="1" noChangeAspect="1" noMove="1" noResize="1" noEditPoints="1" noAdjustHandles="1" noChangeArrowheads="1" noChangeShapeType="1" noTextEdit="1"/>
              </p:cNvSpPr>
              <p:nvPr/>
            </p:nvSpPr>
            <p:spPr>
              <a:xfrm>
                <a:off x="301488" y="744286"/>
                <a:ext cx="8358064" cy="2326511"/>
              </a:xfrm>
              <a:prstGeom prst="rect">
                <a:avLst/>
              </a:prstGeom>
              <a:blipFill>
                <a:blip r:embed="rId4"/>
                <a:stretch>
                  <a:fillRect l="-1531"/>
                </a:stretch>
              </a:blipFill>
            </p:spPr>
            <p:txBody>
              <a:bodyPr/>
              <a:lstStyle/>
              <a:p>
                <a:r>
                  <a:rPr lang="en-GB">
                    <a:noFill/>
                  </a:rPr>
                  <a:t> </a:t>
                </a:r>
              </a:p>
            </p:txBody>
          </p:sp>
        </mc:Fallback>
      </mc:AlternateContent>
      <p:sp>
        <p:nvSpPr>
          <p:cNvPr id="23" name="Rectangle 22">
            <a:extLst>
              <a:ext uri="{FF2B5EF4-FFF2-40B4-BE49-F238E27FC236}">
                <a16:creationId xmlns:a16="http://schemas.microsoft.com/office/drawing/2014/main" id="{EB55F925-CBDB-42D4-6949-A549CC955527}"/>
              </a:ext>
            </a:extLst>
          </p:cNvPr>
          <p:cNvSpPr/>
          <p:nvPr/>
        </p:nvSpPr>
        <p:spPr>
          <a:xfrm>
            <a:off x="1520816" y="4742713"/>
            <a:ext cx="85165" cy="1060704"/>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Connector 24">
            <a:extLst>
              <a:ext uri="{FF2B5EF4-FFF2-40B4-BE49-F238E27FC236}">
                <a16:creationId xmlns:a16="http://schemas.microsoft.com/office/drawing/2014/main" id="{AA2CBCD0-7921-7D42-87FA-8DE4B15F8468}"/>
              </a:ext>
            </a:extLst>
          </p:cNvPr>
          <p:cNvCxnSpPr>
            <a:cxnSpLocks/>
          </p:cNvCxnSpPr>
          <p:nvPr/>
        </p:nvCxnSpPr>
        <p:spPr>
          <a:xfrm flipH="1" flipV="1">
            <a:off x="1507426" y="2899480"/>
            <a:ext cx="3061" cy="2903937"/>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576AA8D5-A2DC-833E-3D38-CFBA6C7CF96E}"/>
                  </a:ext>
                </a:extLst>
              </p:cNvPr>
              <p:cNvSpPr txBox="1"/>
              <p:nvPr/>
            </p:nvSpPr>
            <p:spPr>
              <a:xfrm>
                <a:off x="353193" y="5685597"/>
                <a:ext cx="898398" cy="276999"/>
              </a:xfrm>
              <a:prstGeom prst="rect">
                <a:avLst/>
              </a:prstGeom>
              <a:noFill/>
            </p:spPr>
            <p:txBody>
              <a:bodyPr wrap="square">
                <a:spAutoFit/>
              </a:bodyPr>
              <a:lstStyle/>
              <a:p>
                <a14:m>
                  <m:oMath xmlns:m="http://schemas.openxmlformats.org/officeDocument/2006/math">
                    <m:sSub>
                      <m:sSubPr>
                        <m:ctrlPr>
                          <a:rPr lang="en-US" sz="1200" b="1" i="1">
                            <a:solidFill>
                              <a:srgbClr val="836967"/>
                            </a:solidFill>
                            <a:latin typeface="Cambria Math" panose="02040503050406030204" pitchFamily="18" charset="0"/>
                          </a:rPr>
                        </m:ctrlPr>
                      </m:sSubPr>
                      <m:e>
                        <m:r>
                          <a:rPr lang="en-US" sz="1200" b="1" i="1">
                            <a:latin typeface="Cambria Math" panose="02040503050406030204" pitchFamily="18" charset="0"/>
                          </a:rPr>
                          <m:t>𝒗</m:t>
                        </m:r>
                      </m:e>
                      <m:sub>
                        <m:r>
                          <a:rPr lang="en-GB" sz="1200" b="1" i="1">
                            <a:latin typeface="Cambria Math" panose="02040503050406030204" pitchFamily="18" charset="0"/>
                          </a:rPr>
                          <m:t>𝑨𝒐</m:t>
                        </m:r>
                      </m:sub>
                    </m:sSub>
                  </m:oMath>
                </a14:m>
                <a:r>
                  <a:rPr lang="en-US" sz="1200" dirty="0"/>
                  <a:t> = - </a:t>
                </a:r>
                <a14:m>
                  <m:oMath xmlns:m="http://schemas.openxmlformats.org/officeDocument/2006/math">
                    <m:sSub>
                      <m:sSubPr>
                        <m:ctrlPr>
                          <a:rPr lang="en-US" sz="1200" i="1">
                            <a:latin typeface="Cambria Math" panose="02040503050406030204" pitchFamily="18" charset="0"/>
                          </a:rPr>
                        </m:ctrlPr>
                      </m:sSubPr>
                      <m:e>
                        <m:r>
                          <a:rPr lang="en-GB" sz="1200" i="1">
                            <a:latin typeface="Cambria Math" panose="02040503050406030204" pitchFamily="18" charset="0"/>
                          </a:rPr>
                          <m:t>𝑉</m:t>
                        </m:r>
                      </m:e>
                      <m:sub>
                        <m:r>
                          <a:rPr lang="en-GB" sz="1200" i="1">
                            <a:latin typeface="Cambria Math" panose="02040503050406030204" pitchFamily="18" charset="0"/>
                          </a:rPr>
                          <m:t>𝑑𝑐</m:t>
                        </m:r>
                      </m:sub>
                    </m:sSub>
                  </m:oMath>
                </a14:m>
                <a:endParaRPr lang="en-US" sz="1200" dirty="0"/>
              </a:p>
            </p:txBody>
          </p:sp>
        </mc:Choice>
        <mc:Fallback xmlns="">
          <p:sp>
            <p:nvSpPr>
              <p:cNvPr id="33" name="TextBox 32">
                <a:extLst>
                  <a:ext uri="{FF2B5EF4-FFF2-40B4-BE49-F238E27FC236}">
                    <a16:creationId xmlns:a16="http://schemas.microsoft.com/office/drawing/2014/main" id="{576AA8D5-A2DC-833E-3D38-CFBA6C7CF96E}"/>
                  </a:ext>
                </a:extLst>
              </p:cNvPr>
              <p:cNvSpPr txBox="1">
                <a:spLocks noRot="1" noChangeAspect="1" noMove="1" noResize="1" noEditPoints="1" noAdjustHandles="1" noChangeArrowheads="1" noChangeShapeType="1" noTextEdit="1"/>
              </p:cNvSpPr>
              <p:nvPr/>
            </p:nvSpPr>
            <p:spPr>
              <a:xfrm>
                <a:off x="353193" y="5685597"/>
                <a:ext cx="898398" cy="276999"/>
              </a:xfrm>
              <a:prstGeom prst="rect">
                <a:avLst/>
              </a:prstGeom>
              <a:blipFill>
                <a:blip r:embed="rId5"/>
                <a:stretch>
                  <a:fillRect t="-2222" b="-17778"/>
                </a:stretch>
              </a:blipFill>
            </p:spPr>
            <p:txBody>
              <a:bodyPr/>
              <a:lstStyle/>
              <a:p>
                <a:r>
                  <a:rPr lang="en-GB">
                    <a:noFill/>
                  </a:rPr>
                  <a:t> </a:t>
                </a:r>
              </a:p>
            </p:txBody>
          </p:sp>
        </mc:Fallback>
      </mc:AlternateContent>
      <p:cxnSp>
        <p:nvCxnSpPr>
          <p:cNvPr id="38" name="Straight Arrow Connector 37">
            <a:extLst>
              <a:ext uri="{FF2B5EF4-FFF2-40B4-BE49-F238E27FC236}">
                <a16:creationId xmlns:a16="http://schemas.microsoft.com/office/drawing/2014/main" id="{97AA7EFA-170E-F368-669D-4F315B2C7ADB}"/>
              </a:ext>
            </a:extLst>
          </p:cNvPr>
          <p:cNvCxnSpPr>
            <a:stCxn id="33" idx="3"/>
          </p:cNvCxnSpPr>
          <p:nvPr/>
        </p:nvCxnSpPr>
        <p:spPr>
          <a:xfrm flipV="1">
            <a:off x="1251591" y="5796573"/>
            <a:ext cx="245506" cy="27524"/>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 name="Freeform 3">
            <a:extLst>
              <a:ext uri="{FF2B5EF4-FFF2-40B4-BE49-F238E27FC236}">
                <a16:creationId xmlns:a16="http://schemas.microsoft.com/office/drawing/2014/main" id="{EACC16F9-6D50-A3BE-9BA7-46ABE1E5BA2A}"/>
              </a:ext>
            </a:extLst>
          </p:cNvPr>
          <p:cNvSpPr/>
          <p:nvPr/>
        </p:nvSpPr>
        <p:spPr>
          <a:xfrm>
            <a:off x="1520371" y="3142343"/>
            <a:ext cx="76200" cy="290286"/>
          </a:xfrm>
          <a:custGeom>
            <a:avLst/>
            <a:gdLst>
              <a:gd name="connsiteX0" fmla="*/ 47172 w 76200"/>
              <a:gd name="connsiteY0" fmla="*/ 0 h 290286"/>
              <a:gd name="connsiteX1" fmla="*/ 76200 w 76200"/>
              <a:gd name="connsiteY1" fmla="*/ 239486 h 290286"/>
              <a:gd name="connsiteX2" fmla="*/ 0 w 76200"/>
              <a:gd name="connsiteY2" fmla="*/ 290286 h 290286"/>
              <a:gd name="connsiteX3" fmla="*/ 47172 w 76200"/>
              <a:gd name="connsiteY3" fmla="*/ 0 h 290286"/>
            </a:gdLst>
            <a:ahLst/>
            <a:cxnLst>
              <a:cxn ang="0">
                <a:pos x="connsiteX0" y="connsiteY0"/>
              </a:cxn>
              <a:cxn ang="0">
                <a:pos x="connsiteX1" y="connsiteY1"/>
              </a:cxn>
              <a:cxn ang="0">
                <a:pos x="connsiteX2" y="connsiteY2"/>
              </a:cxn>
              <a:cxn ang="0">
                <a:pos x="connsiteX3" y="connsiteY3"/>
              </a:cxn>
            </a:cxnLst>
            <a:rect l="l" t="t" r="r" b="b"/>
            <a:pathLst>
              <a:path w="76200" h="290286">
                <a:moveTo>
                  <a:pt x="47172" y="0"/>
                </a:moveTo>
                <a:lnTo>
                  <a:pt x="76200" y="239486"/>
                </a:lnTo>
                <a:lnTo>
                  <a:pt x="0" y="290286"/>
                </a:lnTo>
                <a:lnTo>
                  <a:pt x="47172" y="0"/>
                </a:lnTo>
                <a:close/>
              </a:path>
            </a:pathLst>
          </a:cu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9C70DCBF-1188-FEF6-23AE-F9A33BBAB208}"/>
              </a:ext>
            </a:extLst>
          </p:cNvPr>
          <p:cNvPicPr>
            <a:picLocks noChangeAspect="1"/>
          </p:cNvPicPr>
          <p:nvPr/>
        </p:nvPicPr>
        <p:blipFill>
          <a:blip r:embed="rId6"/>
          <a:stretch>
            <a:fillRect/>
          </a:stretch>
        </p:blipFill>
        <p:spPr>
          <a:xfrm>
            <a:off x="562730" y="3220700"/>
            <a:ext cx="714079" cy="168360"/>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6651DE4-9DC4-7DCF-4A73-01CADE4A5711}"/>
                  </a:ext>
                </a:extLst>
              </p:cNvPr>
              <p:cNvSpPr txBox="1"/>
              <p:nvPr/>
            </p:nvSpPr>
            <p:spPr>
              <a:xfrm>
                <a:off x="6334396" y="4434936"/>
                <a:ext cx="2325156" cy="307777"/>
              </a:xfrm>
              <a:prstGeom prst="rect">
                <a:avLst/>
              </a:prstGeom>
              <a:solidFill>
                <a:schemeClr val="bg1"/>
              </a:solidFill>
              <a:ln>
                <a:solidFill>
                  <a:schemeClr val="bg1"/>
                </a:solidFill>
              </a:ln>
            </p:spPr>
            <p:txBody>
              <a:bodyPr wrap="square">
                <a:spAutoFit/>
              </a:bodyPr>
              <a:lstStyle>
                <a:defPPr>
                  <a:defRPr lang="en-US"/>
                </a:defPPr>
                <a:lvl1pPr>
                  <a:defRPr sz="1400" b="1" i="1">
                    <a:solidFill>
                      <a:srgbClr val="FF0000"/>
                    </a:solidFill>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GB">
                              <a:latin typeface="Cambria Math" panose="02040503050406030204" pitchFamily="18" charset="0"/>
                            </a:rPr>
                            <m:t>𝑻</m:t>
                          </m:r>
                        </m:e>
                        <m:sub>
                          <m:r>
                            <a:rPr lang="en-GB">
                              <a:latin typeface="Cambria Math" panose="02040503050406030204" pitchFamily="18" charset="0"/>
                            </a:rPr>
                            <m:t>𝑩</m:t>
                          </m:r>
                          <m:r>
                            <a:rPr lang="en-GB">
                              <a:latin typeface="Cambria Math" panose="02040503050406030204" pitchFamily="18" charset="0"/>
                            </a:rPr>
                            <m:t>+</m:t>
                          </m:r>
                        </m:sub>
                      </m:sSub>
                      <m:r>
                        <a:rPr lang="en-GB">
                          <a:latin typeface="Cambria Math" panose="02040503050406030204" pitchFamily="18" charset="0"/>
                        </a:rPr>
                        <m:t>  </m:t>
                      </m:r>
                      <m:r>
                        <a:rPr lang="en-GB">
                          <a:latin typeface="Cambria Math" panose="02040503050406030204" pitchFamily="18" charset="0"/>
                        </a:rPr>
                        <m:t>𝒂𝒏𝒅</m:t>
                      </m:r>
                      <m:r>
                        <a:rPr lang="en-GB">
                          <a:latin typeface="Cambria Math" panose="02040503050406030204" pitchFamily="18" charset="0"/>
                        </a:rPr>
                        <m:t>  </m:t>
                      </m:r>
                      <m:sSub>
                        <m:sSubPr>
                          <m:ctrlPr>
                            <a:rPr lang="en-US" i="1" smtClean="0">
                              <a:latin typeface="Cambria Math" panose="02040503050406030204" pitchFamily="18" charset="0"/>
                            </a:rPr>
                          </m:ctrlPr>
                        </m:sSubPr>
                        <m:e>
                          <m:r>
                            <a:rPr lang="en-GB">
                              <a:latin typeface="Cambria Math" panose="02040503050406030204" pitchFamily="18" charset="0"/>
                            </a:rPr>
                            <m:t>𝑻</m:t>
                          </m:r>
                        </m:e>
                        <m:sub>
                          <m:r>
                            <a:rPr lang="en-GB">
                              <a:latin typeface="Cambria Math" panose="02040503050406030204" pitchFamily="18" charset="0"/>
                            </a:rPr>
                            <m:t>𝑨</m:t>
                          </m:r>
                          <m:r>
                            <a:rPr lang="en-GB">
                              <a:latin typeface="Cambria Math" panose="02040503050406030204" pitchFamily="18" charset="0"/>
                            </a:rPr>
                            <m:t>−</m:t>
                          </m:r>
                        </m:sub>
                      </m:sSub>
                      <m:r>
                        <a:rPr lang="en-GB" b="1" i="1" smtClean="0">
                          <a:latin typeface="Cambria Math" panose="02040503050406030204" pitchFamily="18" charset="0"/>
                        </a:rPr>
                        <m:t> </m:t>
                      </m:r>
                      <m:r>
                        <a:rPr lang="en-GB" b="1" i="1" smtClean="0">
                          <a:latin typeface="Cambria Math" panose="02040503050406030204" pitchFamily="18" charset="0"/>
                        </a:rPr>
                        <m:t>𝑪𝒍𝒐𝒔𝒆𝒅</m:t>
                      </m:r>
                    </m:oMath>
                  </m:oMathPara>
                </a14:m>
                <a:endParaRPr lang="en-US" dirty="0"/>
              </a:p>
            </p:txBody>
          </p:sp>
        </mc:Choice>
        <mc:Fallback xmlns="">
          <p:sp>
            <p:nvSpPr>
              <p:cNvPr id="5" name="TextBox 4">
                <a:extLst>
                  <a:ext uri="{FF2B5EF4-FFF2-40B4-BE49-F238E27FC236}">
                    <a16:creationId xmlns:a16="http://schemas.microsoft.com/office/drawing/2014/main" id="{16651DE4-9DC4-7DCF-4A73-01CADE4A5711}"/>
                  </a:ext>
                </a:extLst>
              </p:cNvPr>
              <p:cNvSpPr txBox="1">
                <a:spLocks noRot="1" noChangeAspect="1" noMove="1" noResize="1" noEditPoints="1" noAdjustHandles="1" noChangeArrowheads="1" noChangeShapeType="1" noTextEdit="1"/>
              </p:cNvSpPr>
              <p:nvPr/>
            </p:nvSpPr>
            <p:spPr>
              <a:xfrm>
                <a:off x="6334396" y="4434936"/>
                <a:ext cx="2325156" cy="307777"/>
              </a:xfrm>
              <a:prstGeom prst="rect">
                <a:avLst/>
              </a:prstGeom>
              <a:blipFill>
                <a:blip r:embed="rId7"/>
                <a:stretch>
                  <a:fillRect/>
                </a:stretch>
              </a:blipFill>
              <a:ln>
                <a:solidFill>
                  <a:schemeClr val="bg1"/>
                </a:solidFill>
              </a:ln>
            </p:spPr>
            <p:txBody>
              <a:bodyPr/>
              <a:lstStyle/>
              <a:p>
                <a:r>
                  <a:rPr lang="en-GB">
                    <a:noFill/>
                  </a:rPr>
                  <a:t> </a:t>
                </a:r>
              </a:p>
            </p:txBody>
          </p:sp>
        </mc:Fallback>
      </mc:AlternateContent>
      <p:pic>
        <p:nvPicPr>
          <p:cNvPr id="15" name="Picture 14">
            <a:extLst>
              <a:ext uri="{FF2B5EF4-FFF2-40B4-BE49-F238E27FC236}">
                <a16:creationId xmlns:a16="http://schemas.microsoft.com/office/drawing/2014/main" id="{F3474645-C112-9378-D683-39F673B5ED5A}"/>
              </a:ext>
            </a:extLst>
          </p:cNvPr>
          <p:cNvPicPr>
            <a:picLocks noChangeAspect="1"/>
          </p:cNvPicPr>
          <p:nvPr/>
        </p:nvPicPr>
        <p:blipFill>
          <a:blip r:embed="rId8"/>
          <a:stretch>
            <a:fillRect/>
          </a:stretch>
        </p:blipFill>
        <p:spPr>
          <a:xfrm>
            <a:off x="6070302" y="2330351"/>
            <a:ext cx="2818997" cy="2193997"/>
          </a:xfrm>
          <a:prstGeom prst="rect">
            <a:avLst/>
          </a:prstGeom>
        </p:spPr>
      </p:pic>
      <p:pic>
        <p:nvPicPr>
          <p:cNvPr id="19" name="Picture 18">
            <a:extLst>
              <a:ext uri="{FF2B5EF4-FFF2-40B4-BE49-F238E27FC236}">
                <a16:creationId xmlns:a16="http://schemas.microsoft.com/office/drawing/2014/main" id="{425FCAD1-0D1C-402A-F06E-01F0A2FF3164}"/>
              </a:ext>
            </a:extLst>
          </p:cNvPr>
          <p:cNvPicPr>
            <a:picLocks noChangeAspect="1"/>
          </p:cNvPicPr>
          <p:nvPr/>
        </p:nvPicPr>
        <p:blipFill>
          <a:blip r:embed="rId9"/>
          <a:stretch>
            <a:fillRect/>
          </a:stretch>
        </p:blipFill>
        <p:spPr>
          <a:xfrm>
            <a:off x="6217647" y="4742713"/>
            <a:ext cx="2648320" cy="1886213"/>
          </a:xfrm>
          <a:prstGeom prst="rect">
            <a:avLst/>
          </a:prstGeom>
        </p:spPr>
      </p:pic>
      <p:sp>
        <p:nvSpPr>
          <p:cNvPr id="20" name="Free-form: Shape 19">
            <a:extLst>
              <a:ext uri="{FF2B5EF4-FFF2-40B4-BE49-F238E27FC236}">
                <a16:creationId xmlns:a16="http://schemas.microsoft.com/office/drawing/2014/main" id="{83938EC6-7C40-4EA9-CCDA-BFDCF23461ED}"/>
              </a:ext>
            </a:extLst>
          </p:cNvPr>
          <p:cNvSpPr/>
          <p:nvPr/>
        </p:nvSpPr>
        <p:spPr>
          <a:xfrm>
            <a:off x="6749421" y="5202039"/>
            <a:ext cx="1394491" cy="500129"/>
          </a:xfrm>
          <a:custGeom>
            <a:avLst/>
            <a:gdLst>
              <a:gd name="connsiteX0" fmla="*/ 119030 w 1394491"/>
              <a:gd name="connsiteY0" fmla="*/ 500129 h 500129"/>
              <a:gd name="connsiteX1" fmla="*/ 110322 w 1394491"/>
              <a:gd name="connsiteY1" fmla="*/ 73409 h 500129"/>
              <a:gd name="connsiteX2" fmla="*/ 1285979 w 1394491"/>
              <a:gd name="connsiteY2" fmla="*/ 29867 h 500129"/>
              <a:gd name="connsiteX3" fmla="*/ 1285979 w 1394491"/>
              <a:gd name="connsiteY3" fmla="*/ 386918 h 500129"/>
              <a:gd name="connsiteX4" fmla="*/ 789590 w 1394491"/>
              <a:gd name="connsiteY4" fmla="*/ 413044 h 500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4491" h="500129">
                <a:moveTo>
                  <a:pt x="119030" y="500129"/>
                </a:moveTo>
                <a:cubicBezTo>
                  <a:pt x="17430" y="325957"/>
                  <a:pt x="-84170" y="151786"/>
                  <a:pt x="110322" y="73409"/>
                </a:cubicBezTo>
                <a:cubicBezTo>
                  <a:pt x="304814" y="-4968"/>
                  <a:pt x="1090036" y="-22384"/>
                  <a:pt x="1285979" y="29867"/>
                </a:cubicBezTo>
                <a:cubicBezTo>
                  <a:pt x="1481922" y="82118"/>
                  <a:pt x="1368711" y="323055"/>
                  <a:pt x="1285979" y="386918"/>
                </a:cubicBezTo>
                <a:cubicBezTo>
                  <a:pt x="1203248" y="450781"/>
                  <a:pt x="996419" y="431912"/>
                  <a:pt x="789590" y="413044"/>
                </a:cubicBezTo>
              </a:path>
            </a:pathLst>
          </a:custGeom>
          <a:noFill/>
          <a:ln w="19050">
            <a:solidFill>
              <a:srgbClr val="7030A0"/>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Free-form: Shape 20">
            <a:extLst>
              <a:ext uri="{FF2B5EF4-FFF2-40B4-BE49-F238E27FC236}">
                <a16:creationId xmlns:a16="http://schemas.microsoft.com/office/drawing/2014/main" id="{1464091C-4C25-C55A-DD68-F07A110DDE9D}"/>
              </a:ext>
            </a:extLst>
          </p:cNvPr>
          <p:cNvSpPr/>
          <p:nvPr/>
        </p:nvSpPr>
        <p:spPr>
          <a:xfrm>
            <a:off x="6872777" y="5559412"/>
            <a:ext cx="657527" cy="605994"/>
          </a:xfrm>
          <a:custGeom>
            <a:avLst/>
            <a:gdLst>
              <a:gd name="connsiteX0" fmla="*/ 657527 w 657527"/>
              <a:gd name="connsiteY0" fmla="*/ 55670 h 605994"/>
              <a:gd name="connsiteX1" fmla="*/ 474647 w 657527"/>
              <a:gd name="connsiteY1" fmla="*/ 38253 h 605994"/>
              <a:gd name="connsiteX2" fmla="*/ 465939 w 657527"/>
              <a:gd name="connsiteY2" fmla="*/ 491098 h 605994"/>
              <a:gd name="connsiteX3" fmla="*/ 74053 w 657527"/>
              <a:gd name="connsiteY3" fmla="*/ 595601 h 605994"/>
              <a:gd name="connsiteX4" fmla="*/ 4384 w 657527"/>
              <a:gd name="connsiteY4" fmla="*/ 299510 h 605994"/>
              <a:gd name="connsiteX5" fmla="*/ 13093 w 657527"/>
              <a:gd name="connsiteY5" fmla="*/ 290801 h 605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7527" h="605994">
                <a:moveTo>
                  <a:pt x="657527" y="55670"/>
                </a:moveTo>
                <a:cubicBezTo>
                  <a:pt x="582052" y="10676"/>
                  <a:pt x="506578" y="-34318"/>
                  <a:pt x="474647" y="38253"/>
                </a:cubicBezTo>
                <a:cubicBezTo>
                  <a:pt x="442716" y="110824"/>
                  <a:pt x="532705" y="398207"/>
                  <a:pt x="465939" y="491098"/>
                </a:cubicBezTo>
                <a:cubicBezTo>
                  <a:pt x="399173" y="583989"/>
                  <a:pt x="150979" y="627532"/>
                  <a:pt x="74053" y="595601"/>
                </a:cubicBezTo>
                <a:cubicBezTo>
                  <a:pt x="-2873" y="563670"/>
                  <a:pt x="4384" y="299510"/>
                  <a:pt x="4384" y="299510"/>
                </a:cubicBezTo>
                <a:cubicBezTo>
                  <a:pt x="-5776" y="248710"/>
                  <a:pt x="3658" y="269755"/>
                  <a:pt x="13093" y="290801"/>
                </a:cubicBezTo>
              </a:path>
            </a:pathLst>
          </a:custGeom>
          <a:noFill/>
          <a:ln w="19050">
            <a:solidFill>
              <a:srgbClr val="7030A0"/>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35507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33" grpId="0"/>
      <p:bldP spid="4" grpId="0" animBg="1"/>
      <p:bldP spid="5" grpId="0" animBg="1"/>
      <p:bldP spid="20" grpId="0" animBg="1"/>
      <p:bldP spid="2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DAB49-4E83-D5C9-EF6D-0F2CE1E6855E}"/>
              </a:ext>
            </a:extLst>
          </p:cNvPr>
          <p:cNvSpPr>
            <a:spLocks noGrp="1"/>
          </p:cNvSpPr>
          <p:nvPr>
            <p:ph type="title"/>
          </p:nvPr>
        </p:nvSpPr>
        <p:spPr>
          <a:xfrm>
            <a:off x="185741" y="125608"/>
            <a:ext cx="7886700" cy="721053"/>
          </a:xfrm>
        </p:spPr>
        <p:txBody>
          <a:bodyPr/>
          <a:lstStyle/>
          <a:p>
            <a:r>
              <a:rPr lang="en-US" dirty="0"/>
              <a:t>Operation</a:t>
            </a:r>
          </a:p>
        </p:txBody>
      </p:sp>
      <mc:AlternateContent xmlns:mc="http://schemas.openxmlformats.org/markup-compatibility/2006" xmlns:a14="http://schemas.microsoft.com/office/drawing/2010/main">
        <mc:Choice Requires="a14">
          <p:sp>
            <p:nvSpPr>
              <p:cNvPr id="17" name="Title 1">
                <a:extLst>
                  <a:ext uri="{FF2B5EF4-FFF2-40B4-BE49-F238E27FC236}">
                    <a16:creationId xmlns:a16="http://schemas.microsoft.com/office/drawing/2014/main" id="{4100A584-C9BA-C39F-A4D3-ABF895CCF570}"/>
                  </a:ext>
                </a:extLst>
              </p:cNvPr>
              <p:cNvSpPr txBox="1">
                <a:spLocks/>
              </p:cNvSpPr>
              <p:nvPr/>
            </p:nvSpPr>
            <p:spPr>
              <a:xfrm>
                <a:off x="-18288" y="487638"/>
                <a:ext cx="9079992" cy="383122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Tx/>
                  <a:buChar char="-"/>
                </a:pPr>
                <a:r>
                  <a:rPr lang="en-US" sz="3200" b="1" dirty="0"/>
                  <a:t>Pulse Width Modulation (PWM) Switching - Unipolar</a:t>
                </a:r>
              </a:p>
              <a:p>
                <a:pPr marL="914400" lvl="1" indent="-457200">
                  <a:buFontTx/>
                  <a:buChar char="-"/>
                </a:pPr>
                <a:r>
                  <a:rPr lang="en-US" sz="2400" dirty="0"/>
                  <a:t>Is a type of switching technique.</a:t>
                </a:r>
              </a:p>
              <a:p>
                <a:pPr marL="914400" lvl="1" indent="-457200">
                  <a:buFontTx/>
                  <a:buChar char="-"/>
                </a:pPr>
                <a:r>
                  <a:rPr lang="en-US" sz="2400" dirty="0"/>
                  <a:t>Use two signals called </a:t>
                </a:r>
                <a:endParaRPr lang="en-GB" sz="2400" b="1" i="1" dirty="0">
                  <a:solidFill>
                    <a:srgbClr val="836967"/>
                  </a:solidFill>
                  <a:latin typeface="Cambria Math" panose="02040503050406030204" pitchFamily="18" charset="0"/>
                </a:endParaRPr>
              </a:p>
              <a:p>
                <a:pPr marL="1371600" lvl="2" indent="-457200">
                  <a:buFontTx/>
                  <a:buChar char="-"/>
                </a:pPr>
                <a14:m>
                  <m:oMath xmlns:m="http://schemas.openxmlformats.org/officeDocument/2006/math">
                    <m:sSub>
                      <m:sSubPr>
                        <m:ctrlPr>
                          <a:rPr lang="en-US" sz="2400" b="1" i="1">
                            <a:solidFill>
                              <a:srgbClr val="836967"/>
                            </a:solidFill>
                            <a:latin typeface="Cambria Math" panose="02040503050406030204" pitchFamily="18" charset="0"/>
                          </a:rPr>
                        </m:ctrlPr>
                      </m:sSubPr>
                      <m:e>
                        <m:r>
                          <a:rPr lang="en-US" sz="2400" b="1" i="1">
                            <a:latin typeface="Cambria Math" panose="02040503050406030204" pitchFamily="18" charset="0"/>
                          </a:rPr>
                          <m:t>𝒗</m:t>
                        </m:r>
                      </m:e>
                      <m:sub>
                        <m:r>
                          <a:rPr lang="en-GB" sz="2400" b="1" i="1">
                            <a:latin typeface="Cambria Math" panose="02040503050406030204" pitchFamily="18" charset="0"/>
                          </a:rPr>
                          <m:t>𝒕𝒓𝒊</m:t>
                        </m:r>
                      </m:sub>
                    </m:sSub>
                  </m:oMath>
                </a14:m>
                <a:r>
                  <a:rPr lang="en-US" sz="2400" dirty="0"/>
                  <a:t> (Triangular Signal)</a:t>
                </a:r>
              </a:p>
              <a:p>
                <a:pPr marL="1828800" lvl="3" indent="-457200">
                  <a:buFontTx/>
                  <a:buChar char="-"/>
                </a:pPr>
                <a:r>
                  <a:rPr lang="en-US" sz="2400" dirty="0"/>
                  <a:t>Has frequency </a:t>
                </a:r>
                <a14:m>
                  <m:oMath xmlns:m="http://schemas.openxmlformats.org/officeDocument/2006/math">
                    <m:sSub>
                      <m:sSubPr>
                        <m:ctrlPr>
                          <a:rPr lang="en-US" sz="2400" b="1" i="1" smtClean="0">
                            <a:solidFill>
                              <a:srgbClr val="836967"/>
                            </a:solidFill>
                            <a:latin typeface="Cambria Math" panose="02040503050406030204" pitchFamily="18" charset="0"/>
                          </a:rPr>
                        </m:ctrlPr>
                      </m:sSubPr>
                      <m:e>
                        <m:r>
                          <a:rPr lang="en-GB" sz="2400" b="1" i="1" smtClean="0">
                            <a:solidFill>
                              <a:srgbClr val="836967"/>
                            </a:solidFill>
                            <a:latin typeface="Cambria Math" panose="02040503050406030204" pitchFamily="18" charset="0"/>
                          </a:rPr>
                          <m:t>𝒇</m:t>
                        </m:r>
                      </m:e>
                      <m:sub>
                        <m:r>
                          <a:rPr lang="en-GB" sz="2400" b="1" i="1" smtClean="0">
                            <a:latin typeface="Cambria Math" panose="02040503050406030204" pitchFamily="18" charset="0"/>
                          </a:rPr>
                          <m:t>𝒔</m:t>
                        </m:r>
                      </m:sub>
                    </m:sSub>
                  </m:oMath>
                </a14:m>
                <a:r>
                  <a:rPr lang="en-US" sz="2400" dirty="0"/>
                  <a:t> (called switching frequency)</a:t>
                </a:r>
              </a:p>
              <a:p>
                <a:pPr marL="1371600" lvl="2" indent="-457200">
                  <a:buFontTx/>
                  <a:buChar char="-"/>
                </a:pPr>
                <a14:m>
                  <m:oMath xmlns:m="http://schemas.openxmlformats.org/officeDocument/2006/math">
                    <m:sSub>
                      <m:sSubPr>
                        <m:ctrlPr>
                          <a:rPr lang="en-US" sz="2400" b="1" i="1" smtClean="0">
                            <a:solidFill>
                              <a:srgbClr val="836967"/>
                            </a:solidFill>
                            <a:latin typeface="Cambria Math" panose="02040503050406030204" pitchFamily="18" charset="0"/>
                          </a:rPr>
                        </m:ctrlPr>
                      </m:sSubPr>
                      <m:e>
                        <m:r>
                          <a:rPr lang="en-GB" sz="2400" b="1" i="1" smtClean="0">
                            <a:solidFill>
                              <a:srgbClr val="836967"/>
                            </a:solidFill>
                            <a:latin typeface="Cambria Math" panose="02040503050406030204" pitchFamily="18" charset="0"/>
                          </a:rPr>
                          <m:t>  </m:t>
                        </m:r>
                        <m:r>
                          <a:rPr lang="en-US" sz="2400" b="1" i="1">
                            <a:latin typeface="Cambria Math" panose="02040503050406030204" pitchFamily="18" charset="0"/>
                          </a:rPr>
                          <m:t>𝒗</m:t>
                        </m:r>
                      </m:e>
                      <m:sub>
                        <m:r>
                          <a:rPr lang="en-GB" sz="2400" b="1" i="1" smtClean="0">
                            <a:latin typeface="Cambria Math" panose="02040503050406030204" pitchFamily="18" charset="0"/>
                          </a:rPr>
                          <m:t>𝒄𝒐𝒏𝒕𝒓𝒐𝒍</m:t>
                        </m:r>
                      </m:sub>
                    </m:sSub>
                  </m:oMath>
                </a14:m>
                <a:r>
                  <a:rPr lang="en-US" sz="2400" dirty="0"/>
                  <a:t> &amp; </a:t>
                </a:r>
                <a14:m>
                  <m:oMath xmlns:m="http://schemas.openxmlformats.org/officeDocument/2006/math">
                    <m:sSub>
                      <m:sSubPr>
                        <m:ctrlPr>
                          <a:rPr lang="en-US" sz="2400" b="1" i="1">
                            <a:solidFill>
                              <a:srgbClr val="836967"/>
                            </a:solidFill>
                            <a:latin typeface="Cambria Math" panose="02040503050406030204" pitchFamily="18" charset="0"/>
                          </a:rPr>
                        </m:ctrlPr>
                      </m:sSubPr>
                      <m:e>
                        <m:r>
                          <a:rPr lang="en-GB" sz="2400" b="1" i="1">
                            <a:solidFill>
                              <a:srgbClr val="836967"/>
                            </a:solidFill>
                            <a:latin typeface="Cambria Math" panose="02040503050406030204" pitchFamily="18" charset="0"/>
                          </a:rPr>
                          <m:t>  </m:t>
                        </m:r>
                        <m:r>
                          <a:rPr lang="en-GB" sz="2400" b="1" i="1" smtClean="0">
                            <a:solidFill>
                              <a:srgbClr val="836967"/>
                            </a:solidFill>
                            <a:latin typeface="Cambria Math" panose="02040503050406030204" pitchFamily="18" charset="0"/>
                          </a:rPr>
                          <m:t>−</m:t>
                        </m:r>
                        <m:r>
                          <a:rPr lang="en-US" sz="2400" b="1" i="1">
                            <a:latin typeface="Cambria Math" panose="02040503050406030204" pitchFamily="18" charset="0"/>
                          </a:rPr>
                          <m:t>𝒗</m:t>
                        </m:r>
                      </m:e>
                      <m:sub>
                        <m:r>
                          <a:rPr lang="en-GB" sz="2400" b="1" i="1">
                            <a:latin typeface="Cambria Math" panose="02040503050406030204" pitchFamily="18" charset="0"/>
                          </a:rPr>
                          <m:t>𝒄𝒐𝒏𝒕𝒓𝒐𝒍</m:t>
                        </m:r>
                      </m:sub>
                    </m:sSub>
                  </m:oMath>
                </a14:m>
                <a:r>
                  <a:rPr lang="en-US" sz="2400" dirty="0"/>
                  <a:t> (Control Signal)</a:t>
                </a:r>
              </a:p>
              <a:p>
                <a:pPr marL="1828800" lvl="3" indent="-457200">
                  <a:buFontTx/>
                  <a:buChar char="-"/>
                </a:pPr>
                <a:r>
                  <a:rPr lang="en-US" sz="2400" dirty="0"/>
                  <a:t>Has frequency </a:t>
                </a:r>
                <a14:m>
                  <m:oMath xmlns:m="http://schemas.openxmlformats.org/officeDocument/2006/math">
                    <m:sSub>
                      <m:sSubPr>
                        <m:ctrlPr>
                          <a:rPr lang="en-US" sz="2400" b="1" i="1" smtClean="0">
                            <a:solidFill>
                              <a:srgbClr val="836967"/>
                            </a:solidFill>
                            <a:latin typeface="Cambria Math" panose="02040503050406030204" pitchFamily="18" charset="0"/>
                          </a:rPr>
                        </m:ctrlPr>
                      </m:sSubPr>
                      <m:e>
                        <m:r>
                          <a:rPr lang="en-GB" sz="2400" b="1" i="1" smtClean="0">
                            <a:solidFill>
                              <a:srgbClr val="836967"/>
                            </a:solidFill>
                            <a:latin typeface="Cambria Math" panose="02040503050406030204" pitchFamily="18" charset="0"/>
                          </a:rPr>
                          <m:t>𝒇</m:t>
                        </m:r>
                      </m:e>
                      <m:sub>
                        <m:r>
                          <a:rPr lang="en-GB" sz="2400" b="1" i="1" smtClean="0">
                            <a:solidFill>
                              <a:srgbClr val="836967"/>
                            </a:solidFill>
                            <a:latin typeface="Cambria Math" panose="02040503050406030204" pitchFamily="18" charset="0"/>
                          </a:rPr>
                          <m:t>𝟏</m:t>
                        </m:r>
                      </m:sub>
                    </m:sSub>
                  </m:oMath>
                </a14:m>
                <a:r>
                  <a:rPr lang="en-US" sz="2400" dirty="0"/>
                  <a:t> (desired fundamental frequency)</a:t>
                </a:r>
              </a:p>
              <a:p>
                <a:pPr marL="1828800" lvl="3" indent="-457200">
                  <a:buFontTx/>
                  <a:buChar char="-"/>
                </a:pPr>
                <a:endParaRPr lang="en-US" sz="2400" dirty="0"/>
              </a:p>
            </p:txBody>
          </p:sp>
        </mc:Choice>
        <mc:Fallback xmlns="">
          <p:sp>
            <p:nvSpPr>
              <p:cNvPr id="17" name="Title 1">
                <a:extLst>
                  <a:ext uri="{FF2B5EF4-FFF2-40B4-BE49-F238E27FC236}">
                    <a16:creationId xmlns:a16="http://schemas.microsoft.com/office/drawing/2014/main" id="{4100A584-C9BA-C39F-A4D3-ABF895CCF570}"/>
                  </a:ext>
                </a:extLst>
              </p:cNvPr>
              <p:cNvSpPr txBox="1">
                <a:spLocks noRot="1" noChangeAspect="1" noMove="1" noResize="1" noEditPoints="1" noAdjustHandles="1" noChangeArrowheads="1" noChangeShapeType="1" noTextEdit="1"/>
              </p:cNvSpPr>
              <p:nvPr/>
            </p:nvSpPr>
            <p:spPr>
              <a:xfrm>
                <a:off x="-18288" y="487638"/>
                <a:ext cx="9079992" cy="3831221"/>
              </a:xfrm>
              <a:prstGeom prst="rect">
                <a:avLst/>
              </a:prstGeom>
              <a:blipFill>
                <a:blip r:embed="rId3"/>
                <a:stretch>
                  <a:fillRect l="-1745" r="-1544"/>
                </a:stretch>
              </a:blipFill>
            </p:spPr>
            <p:txBody>
              <a:bodyPr/>
              <a:lstStyle/>
              <a:p>
                <a:r>
                  <a:rPr lang="en-GB">
                    <a:noFill/>
                  </a:rPr>
                  <a:t> </a:t>
                </a:r>
              </a:p>
            </p:txBody>
          </p:sp>
        </mc:Fallback>
      </mc:AlternateContent>
      <p:pic>
        <p:nvPicPr>
          <p:cNvPr id="16" name="Picture 15">
            <a:extLst>
              <a:ext uri="{FF2B5EF4-FFF2-40B4-BE49-F238E27FC236}">
                <a16:creationId xmlns:a16="http://schemas.microsoft.com/office/drawing/2014/main" id="{985C276E-D0C9-0E32-189D-C7B7A94CF66F}"/>
              </a:ext>
            </a:extLst>
          </p:cNvPr>
          <p:cNvPicPr>
            <a:picLocks noChangeAspect="1"/>
          </p:cNvPicPr>
          <p:nvPr/>
        </p:nvPicPr>
        <p:blipFill>
          <a:blip r:embed="rId4"/>
          <a:stretch>
            <a:fillRect/>
          </a:stretch>
        </p:blipFill>
        <p:spPr>
          <a:xfrm>
            <a:off x="1918438" y="4315392"/>
            <a:ext cx="5872250" cy="2417000"/>
          </a:xfrm>
          <a:prstGeom prst="rect">
            <a:avLst/>
          </a:prstGeom>
        </p:spPr>
      </p:pic>
    </p:spTree>
    <p:extLst>
      <p:ext uri="{BB962C8B-B14F-4D97-AF65-F5344CB8AC3E}">
        <p14:creationId xmlns:p14="http://schemas.microsoft.com/office/powerpoint/2010/main" val="13914806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1" name="Group 120">
            <a:extLst>
              <a:ext uri="{FF2B5EF4-FFF2-40B4-BE49-F238E27FC236}">
                <a16:creationId xmlns:a16="http://schemas.microsoft.com/office/drawing/2014/main" id="{C411E352-DA9A-8754-AFF2-BB9A9A05DC8D}"/>
              </a:ext>
            </a:extLst>
          </p:cNvPr>
          <p:cNvGrpSpPr/>
          <p:nvPr/>
        </p:nvGrpSpPr>
        <p:grpSpPr>
          <a:xfrm>
            <a:off x="6253182" y="1639946"/>
            <a:ext cx="2818997" cy="2193997"/>
            <a:chOff x="6253182" y="1639946"/>
            <a:chExt cx="2818997" cy="2193997"/>
          </a:xfrm>
        </p:grpSpPr>
        <p:pic>
          <p:nvPicPr>
            <p:cNvPr id="19" name="Picture 18">
              <a:extLst>
                <a:ext uri="{FF2B5EF4-FFF2-40B4-BE49-F238E27FC236}">
                  <a16:creationId xmlns:a16="http://schemas.microsoft.com/office/drawing/2014/main" id="{A9D47764-B182-A19A-EC34-A0AB5011FE8E}"/>
                </a:ext>
              </a:extLst>
            </p:cNvPr>
            <p:cNvPicPr>
              <a:picLocks noChangeAspect="1"/>
            </p:cNvPicPr>
            <p:nvPr/>
          </p:nvPicPr>
          <p:blipFill>
            <a:blip r:embed="rId3"/>
            <a:stretch>
              <a:fillRect/>
            </a:stretch>
          </p:blipFill>
          <p:spPr>
            <a:xfrm>
              <a:off x="6253182" y="1639946"/>
              <a:ext cx="2818997" cy="2193997"/>
            </a:xfrm>
            <a:prstGeom prst="rect">
              <a:avLst/>
            </a:prstGeom>
          </p:spPr>
        </p:pic>
        <mc:AlternateContent xmlns:mc="http://schemas.openxmlformats.org/markup-compatibility/2006" xmlns:a14="http://schemas.microsoft.com/office/drawing/2010/main">
          <mc:Choice Requires="a14">
            <p:sp>
              <p:nvSpPr>
                <p:cNvPr id="103" name="TextBox 102">
                  <a:extLst>
                    <a:ext uri="{FF2B5EF4-FFF2-40B4-BE49-F238E27FC236}">
                      <a16:creationId xmlns:a16="http://schemas.microsoft.com/office/drawing/2014/main" id="{7359CA95-439E-2623-6112-8A90C160EF0E}"/>
                    </a:ext>
                  </a:extLst>
                </p:cNvPr>
                <p:cNvSpPr txBox="1"/>
                <p:nvPr/>
              </p:nvSpPr>
              <p:spPr>
                <a:xfrm>
                  <a:off x="7103666" y="2675944"/>
                  <a:ext cx="442799" cy="261610"/>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100" b="1" i="1" smtClean="0">
                                <a:solidFill>
                                  <a:srgbClr val="836967"/>
                                </a:solidFill>
                                <a:latin typeface="Cambria Math" panose="02040503050406030204" pitchFamily="18" charset="0"/>
                              </a:rPr>
                            </m:ctrlPr>
                          </m:sSubPr>
                          <m:e>
                            <m:r>
                              <a:rPr lang="en-GB" sz="1100" b="1" i="1" smtClean="0">
                                <a:solidFill>
                                  <a:srgbClr val="836967"/>
                                </a:solidFill>
                                <a:latin typeface="Cambria Math" panose="02040503050406030204" pitchFamily="18" charset="0"/>
                              </a:rPr>
                              <m:t>𝒗</m:t>
                            </m:r>
                          </m:e>
                          <m:sub>
                            <m:r>
                              <a:rPr lang="en-GB" sz="1100" b="1" i="1" smtClean="0">
                                <a:latin typeface="Cambria Math" panose="02040503050406030204" pitchFamily="18" charset="0"/>
                              </a:rPr>
                              <m:t>𝑨𝑵</m:t>
                            </m:r>
                          </m:sub>
                        </m:sSub>
                      </m:oMath>
                    </m:oMathPara>
                  </a14:m>
                  <a:endParaRPr lang="en-US" sz="1100" b="1" dirty="0"/>
                </a:p>
              </p:txBody>
            </p:sp>
          </mc:Choice>
          <mc:Fallback xmlns="">
            <p:sp>
              <p:nvSpPr>
                <p:cNvPr id="103" name="TextBox 102">
                  <a:extLst>
                    <a:ext uri="{FF2B5EF4-FFF2-40B4-BE49-F238E27FC236}">
                      <a16:creationId xmlns:a16="http://schemas.microsoft.com/office/drawing/2014/main" id="{7359CA95-439E-2623-6112-8A90C160EF0E}"/>
                    </a:ext>
                  </a:extLst>
                </p:cNvPr>
                <p:cNvSpPr txBox="1">
                  <a:spLocks noRot="1" noChangeAspect="1" noMove="1" noResize="1" noEditPoints="1" noAdjustHandles="1" noChangeArrowheads="1" noChangeShapeType="1" noTextEdit="1"/>
                </p:cNvSpPr>
                <p:nvPr/>
              </p:nvSpPr>
              <p:spPr>
                <a:xfrm>
                  <a:off x="7103666" y="2675944"/>
                  <a:ext cx="442799" cy="261610"/>
                </a:xfrm>
                <a:prstGeom prst="rect">
                  <a:avLst/>
                </a:prstGeom>
                <a:blipFill>
                  <a:blip r:embed="rId4"/>
                  <a:stretch>
                    <a:fillRect/>
                  </a:stretch>
                </a:blipFill>
                <a:ln>
                  <a:solidFill>
                    <a:schemeClr val="bg1"/>
                  </a:solidFill>
                </a:ln>
              </p:spPr>
              <p:txBody>
                <a:bodyPr/>
                <a:lstStyle/>
                <a:p>
                  <a:r>
                    <a:rPr lang="en-GB">
                      <a:noFill/>
                    </a:rPr>
                    <a:t> </a:t>
                  </a:r>
                </a:p>
              </p:txBody>
            </p:sp>
          </mc:Fallback>
        </mc:AlternateContent>
      </p:grpSp>
      <p:grpSp>
        <p:nvGrpSpPr>
          <p:cNvPr id="120" name="Group 119">
            <a:extLst>
              <a:ext uri="{FF2B5EF4-FFF2-40B4-BE49-F238E27FC236}">
                <a16:creationId xmlns:a16="http://schemas.microsoft.com/office/drawing/2014/main" id="{0353D81A-BAFD-52C9-C8D0-41F42276447F}"/>
              </a:ext>
            </a:extLst>
          </p:cNvPr>
          <p:cNvGrpSpPr/>
          <p:nvPr/>
        </p:nvGrpSpPr>
        <p:grpSpPr>
          <a:xfrm>
            <a:off x="774722" y="3811204"/>
            <a:ext cx="4244712" cy="892458"/>
            <a:chOff x="774722" y="3811204"/>
            <a:chExt cx="4244712" cy="892458"/>
          </a:xfrm>
        </p:grpSpPr>
        <p:pic>
          <p:nvPicPr>
            <p:cNvPr id="45" name="Picture 44">
              <a:extLst>
                <a:ext uri="{FF2B5EF4-FFF2-40B4-BE49-F238E27FC236}">
                  <a16:creationId xmlns:a16="http://schemas.microsoft.com/office/drawing/2014/main" id="{0DC031FA-1690-0C0C-933C-0801571969BD}"/>
                </a:ext>
              </a:extLst>
            </p:cNvPr>
            <p:cNvPicPr>
              <a:picLocks noChangeAspect="1"/>
            </p:cNvPicPr>
            <p:nvPr/>
          </p:nvPicPr>
          <p:blipFill>
            <a:blip r:embed="rId5"/>
            <a:stretch>
              <a:fillRect/>
            </a:stretch>
          </p:blipFill>
          <p:spPr>
            <a:xfrm>
              <a:off x="774722" y="3811204"/>
              <a:ext cx="4244712" cy="892458"/>
            </a:xfrm>
            <a:prstGeom prst="rect">
              <a:avLst/>
            </a:prstGeom>
          </p:spPr>
        </p:pic>
        <mc:AlternateContent xmlns:mc="http://schemas.openxmlformats.org/markup-compatibility/2006" xmlns:a14="http://schemas.microsoft.com/office/drawing/2010/main">
          <mc:Choice Requires="a14">
            <p:sp>
              <p:nvSpPr>
                <p:cNvPr id="119" name="TextBox 118">
                  <a:extLst>
                    <a:ext uri="{FF2B5EF4-FFF2-40B4-BE49-F238E27FC236}">
                      <a16:creationId xmlns:a16="http://schemas.microsoft.com/office/drawing/2014/main" id="{C28802F9-0CFC-2A13-598C-4BE8497F78AA}"/>
                    </a:ext>
                  </a:extLst>
                </p:cNvPr>
                <p:cNvSpPr txBox="1"/>
                <p:nvPr/>
              </p:nvSpPr>
              <p:spPr>
                <a:xfrm>
                  <a:off x="4555331" y="4174816"/>
                  <a:ext cx="442799" cy="261610"/>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100" b="1" i="1" smtClean="0">
                                <a:solidFill>
                                  <a:srgbClr val="836967"/>
                                </a:solidFill>
                                <a:latin typeface="Cambria Math" panose="02040503050406030204" pitchFamily="18" charset="0"/>
                              </a:rPr>
                            </m:ctrlPr>
                          </m:sSubPr>
                          <m:e>
                            <m:r>
                              <a:rPr lang="en-GB" sz="1100" b="1" i="1" smtClean="0">
                                <a:solidFill>
                                  <a:srgbClr val="836967"/>
                                </a:solidFill>
                                <a:latin typeface="Cambria Math" panose="02040503050406030204" pitchFamily="18" charset="0"/>
                              </a:rPr>
                              <m:t>𝑽</m:t>
                            </m:r>
                          </m:e>
                          <m:sub>
                            <m:r>
                              <a:rPr lang="en-GB" sz="1100" b="1" i="1" smtClean="0">
                                <a:latin typeface="Cambria Math" panose="02040503050406030204" pitchFamily="18" charset="0"/>
                              </a:rPr>
                              <m:t>𝒅𝒄</m:t>
                            </m:r>
                          </m:sub>
                        </m:sSub>
                      </m:oMath>
                    </m:oMathPara>
                  </a14:m>
                  <a:endParaRPr lang="en-US" sz="1100" b="1" dirty="0"/>
                </a:p>
              </p:txBody>
            </p:sp>
          </mc:Choice>
          <mc:Fallback xmlns="">
            <p:sp>
              <p:nvSpPr>
                <p:cNvPr id="119" name="TextBox 118">
                  <a:extLst>
                    <a:ext uri="{FF2B5EF4-FFF2-40B4-BE49-F238E27FC236}">
                      <a16:creationId xmlns:a16="http://schemas.microsoft.com/office/drawing/2014/main" id="{C28802F9-0CFC-2A13-598C-4BE8497F78AA}"/>
                    </a:ext>
                  </a:extLst>
                </p:cNvPr>
                <p:cNvSpPr txBox="1">
                  <a:spLocks noRot="1" noChangeAspect="1" noMove="1" noResize="1" noEditPoints="1" noAdjustHandles="1" noChangeArrowheads="1" noChangeShapeType="1" noTextEdit="1"/>
                </p:cNvSpPr>
                <p:nvPr/>
              </p:nvSpPr>
              <p:spPr>
                <a:xfrm>
                  <a:off x="4555331" y="4174816"/>
                  <a:ext cx="442799" cy="261610"/>
                </a:xfrm>
                <a:prstGeom prst="rect">
                  <a:avLst/>
                </a:prstGeom>
                <a:blipFill>
                  <a:blip r:embed="rId6"/>
                  <a:stretch>
                    <a:fillRect/>
                  </a:stretch>
                </a:blipFill>
                <a:ln>
                  <a:solidFill>
                    <a:schemeClr val="bg1"/>
                  </a:solidFill>
                </a:ln>
              </p:spPr>
              <p:txBody>
                <a:bodyPr/>
                <a:lstStyle/>
                <a:p>
                  <a:r>
                    <a:rPr lang="en-GB">
                      <a:noFill/>
                    </a:rPr>
                    <a:t> </a:t>
                  </a:r>
                </a:p>
              </p:txBody>
            </p:sp>
          </mc:Fallback>
        </mc:AlternateContent>
      </p:grpSp>
      <p:pic>
        <p:nvPicPr>
          <p:cNvPr id="5" name="Picture 4">
            <a:extLst>
              <a:ext uri="{FF2B5EF4-FFF2-40B4-BE49-F238E27FC236}">
                <a16:creationId xmlns:a16="http://schemas.microsoft.com/office/drawing/2014/main" id="{2080DC38-C445-4316-E49E-C869B12B27E9}"/>
              </a:ext>
            </a:extLst>
          </p:cNvPr>
          <p:cNvPicPr>
            <a:picLocks noChangeAspect="1"/>
          </p:cNvPicPr>
          <p:nvPr/>
        </p:nvPicPr>
        <p:blipFill>
          <a:blip r:embed="rId7"/>
          <a:stretch>
            <a:fillRect/>
          </a:stretch>
        </p:blipFill>
        <p:spPr>
          <a:xfrm>
            <a:off x="5612859" y="4107733"/>
            <a:ext cx="3372321" cy="619211"/>
          </a:xfrm>
          <a:prstGeom prst="rect">
            <a:avLst/>
          </a:prstGeom>
        </p:spPr>
      </p:pic>
      <p:pic>
        <p:nvPicPr>
          <p:cNvPr id="3" name="Picture 2">
            <a:extLst>
              <a:ext uri="{FF2B5EF4-FFF2-40B4-BE49-F238E27FC236}">
                <a16:creationId xmlns:a16="http://schemas.microsoft.com/office/drawing/2014/main" id="{5FB37124-B68C-94AF-249D-0A9F6CF5799B}"/>
              </a:ext>
            </a:extLst>
          </p:cNvPr>
          <p:cNvPicPr>
            <a:picLocks noChangeAspect="1"/>
          </p:cNvPicPr>
          <p:nvPr/>
        </p:nvPicPr>
        <p:blipFill>
          <a:blip r:embed="rId8"/>
          <a:stretch>
            <a:fillRect/>
          </a:stretch>
        </p:blipFill>
        <p:spPr>
          <a:xfrm>
            <a:off x="951879" y="2223027"/>
            <a:ext cx="4167639" cy="1715387"/>
          </a:xfrm>
          <a:prstGeom prst="rect">
            <a:avLst/>
          </a:prstGeom>
        </p:spPr>
      </p:pic>
      <p:sp>
        <p:nvSpPr>
          <p:cNvPr id="2" name="Title 1">
            <a:extLst>
              <a:ext uri="{FF2B5EF4-FFF2-40B4-BE49-F238E27FC236}">
                <a16:creationId xmlns:a16="http://schemas.microsoft.com/office/drawing/2014/main" id="{83CDAB49-4E83-D5C9-EF6D-0F2CE1E6855E}"/>
              </a:ext>
            </a:extLst>
          </p:cNvPr>
          <p:cNvSpPr>
            <a:spLocks noGrp="1"/>
          </p:cNvSpPr>
          <p:nvPr>
            <p:ph type="title"/>
          </p:nvPr>
        </p:nvSpPr>
        <p:spPr>
          <a:xfrm>
            <a:off x="185741" y="125608"/>
            <a:ext cx="7886700" cy="721053"/>
          </a:xfrm>
        </p:spPr>
        <p:txBody>
          <a:bodyPr/>
          <a:lstStyle/>
          <a:p>
            <a:r>
              <a:rPr lang="en-US" dirty="0"/>
              <a:t>Operation</a:t>
            </a:r>
          </a:p>
        </p:txBody>
      </p:sp>
      <mc:AlternateContent xmlns:mc="http://schemas.openxmlformats.org/markup-compatibility/2006" xmlns:a14="http://schemas.microsoft.com/office/drawing/2010/main">
        <mc:Choice Requires="a14">
          <p:sp>
            <p:nvSpPr>
              <p:cNvPr id="17" name="Title 1">
                <a:extLst>
                  <a:ext uri="{FF2B5EF4-FFF2-40B4-BE49-F238E27FC236}">
                    <a16:creationId xmlns:a16="http://schemas.microsoft.com/office/drawing/2014/main" id="{4100A584-C9BA-C39F-A4D3-ABF895CCF570}"/>
                  </a:ext>
                </a:extLst>
              </p:cNvPr>
              <p:cNvSpPr txBox="1">
                <a:spLocks/>
              </p:cNvSpPr>
              <p:nvPr/>
            </p:nvSpPr>
            <p:spPr>
              <a:xfrm>
                <a:off x="301488" y="744287"/>
                <a:ext cx="8358064" cy="145027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Tx/>
                  <a:buChar char="-"/>
                </a:pPr>
                <a:r>
                  <a:rPr lang="en-US" sz="2800" b="1" dirty="0"/>
                  <a:t>Pulse Width Modulation (PWM) Switching - Unipolar</a:t>
                </a:r>
              </a:p>
              <a:p>
                <a:pPr marL="914400" lvl="1" indent="-457200">
                  <a:buFontTx/>
                  <a:buChar char="-"/>
                </a:pPr>
                <a14:m>
                  <m:oMath xmlns:m="http://schemas.openxmlformats.org/officeDocument/2006/math">
                    <m:sSub>
                      <m:sSubPr>
                        <m:ctrlPr>
                          <a:rPr lang="en-US" sz="2000" b="1" i="1">
                            <a:solidFill>
                              <a:srgbClr val="836967"/>
                            </a:solidFill>
                            <a:latin typeface="Cambria Math" panose="02040503050406030204" pitchFamily="18" charset="0"/>
                          </a:rPr>
                        </m:ctrlPr>
                      </m:sSubPr>
                      <m:e>
                        <m:r>
                          <a:rPr lang="en-US" sz="2000" b="1" i="1">
                            <a:latin typeface="Cambria Math" panose="02040503050406030204" pitchFamily="18" charset="0"/>
                          </a:rPr>
                          <m:t>𝒗</m:t>
                        </m:r>
                      </m:e>
                      <m:sub>
                        <m:r>
                          <a:rPr lang="en-GB" sz="2000" b="1" i="1">
                            <a:latin typeface="Cambria Math" panose="02040503050406030204" pitchFamily="18" charset="0"/>
                          </a:rPr>
                          <m:t>𝒕𝒓𝒊</m:t>
                        </m:r>
                      </m:sub>
                    </m:sSub>
                  </m:oMath>
                </a14:m>
                <a:r>
                  <a:rPr lang="en-US" sz="2000" dirty="0"/>
                  <a:t> (Triangular Signal) is compared with</a:t>
                </a:r>
                <a14:m>
                  <m:oMath xmlns:m="http://schemas.openxmlformats.org/officeDocument/2006/math">
                    <m:sSub>
                      <m:sSubPr>
                        <m:ctrlPr>
                          <a:rPr lang="en-US" sz="2000" b="1" i="1" smtClean="0">
                            <a:solidFill>
                              <a:srgbClr val="836967"/>
                            </a:solidFill>
                            <a:latin typeface="Cambria Math" panose="02040503050406030204" pitchFamily="18" charset="0"/>
                          </a:rPr>
                        </m:ctrlPr>
                      </m:sSubPr>
                      <m:e>
                        <m:r>
                          <a:rPr lang="en-GB" sz="2000" b="1" i="1" smtClean="0">
                            <a:solidFill>
                              <a:srgbClr val="836967"/>
                            </a:solidFill>
                            <a:latin typeface="Cambria Math" panose="02040503050406030204" pitchFamily="18" charset="0"/>
                          </a:rPr>
                          <m:t>  </m:t>
                        </m:r>
                        <m:r>
                          <a:rPr lang="en-US" sz="2000" b="1" i="1">
                            <a:latin typeface="Cambria Math" panose="02040503050406030204" pitchFamily="18" charset="0"/>
                          </a:rPr>
                          <m:t>𝒗</m:t>
                        </m:r>
                      </m:e>
                      <m:sub>
                        <m:r>
                          <a:rPr lang="en-GB" sz="2000" b="1" i="1" smtClean="0">
                            <a:latin typeface="Cambria Math" panose="02040503050406030204" pitchFamily="18" charset="0"/>
                          </a:rPr>
                          <m:t>𝒄𝒐𝒏𝒕𝒓𝒐𝒍</m:t>
                        </m:r>
                      </m:sub>
                    </m:sSub>
                  </m:oMath>
                </a14:m>
                <a:r>
                  <a:rPr lang="en-US" sz="2000" dirty="0"/>
                  <a:t> &amp;</a:t>
                </a:r>
                <a14:m>
                  <m:oMath xmlns:m="http://schemas.openxmlformats.org/officeDocument/2006/math">
                    <m:sSub>
                      <m:sSubPr>
                        <m:ctrlPr>
                          <a:rPr lang="en-US" sz="2000" b="1" i="1">
                            <a:solidFill>
                              <a:srgbClr val="836967"/>
                            </a:solidFill>
                            <a:latin typeface="Cambria Math" panose="02040503050406030204" pitchFamily="18" charset="0"/>
                          </a:rPr>
                        </m:ctrlPr>
                      </m:sSubPr>
                      <m:e>
                        <m:r>
                          <a:rPr lang="en-GB" sz="2000" b="1" i="1">
                            <a:solidFill>
                              <a:srgbClr val="836967"/>
                            </a:solidFill>
                            <a:latin typeface="Cambria Math" panose="02040503050406030204" pitchFamily="18" charset="0"/>
                          </a:rPr>
                          <m:t> </m:t>
                        </m:r>
                        <m:r>
                          <a:rPr lang="en-GB" sz="2000" b="1" i="1" smtClean="0">
                            <a:solidFill>
                              <a:srgbClr val="836967"/>
                            </a:solidFill>
                            <a:latin typeface="Cambria Math" panose="02040503050406030204" pitchFamily="18" charset="0"/>
                          </a:rPr>
                          <m:t>−</m:t>
                        </m:r>
                        <m:r>
                          <a:rPr lang="en-US" sz="2000" b="1" i="1">
                            <a:latin typeface="Cambria Math" panose="02040503050406030204" pitchFamily="18" charset="0"/>
                          </a:rPr>
                          <m:t>𝒗</m:t>
                        </m:r>
                      </m:e>
                      <m:sub>
                        <m:r>
                          <a:rPr lang="en-GB" sz="2000" b="1" i="1">
                            <a:latin typeface="Cambria Math" panose="02040503050406030204" pitchFamily="18" charset="0"/>
                          </a:rPr>
                          <m:t>𝒄𝒐𝒏𝒕𝒓𝒐𝒍</m:t>
                        </m:r>
                      </m:sub>
                    </m:sSub>
                  </m:oMath>
                </a14:m>
                <a:endParaRPr lang="en-US" sz="2000" dirty="0"/>
              </a:p>
              <a:p>
                <a:pPr marL="914400" lvl="1" indent="-457200">
                  <a:buFontTx/>
                  <a:buChar char="-"/>
                </a:pPr>
                <a:r>
                  <a:rPr lang="en-US" sz="2000" dirty="0"/>
                  <a:t>Based on comparison result different switches are made closed (ON) and open (OFF)</a:t>
                </a:r>
              </a:p>
            </p:txBody>
          </p:sp>
        </mc:Choice>
        <mc:Fallback xmlns="">
          <p:sp>
            <p:nvSpPr>
              <p:cNvPr id="17" name="Title 1">
                <a:extLst>
                  <a:ext uri="{FF2B5EF4-FFF2-40B4-BE49-F238E27FC236}">
                    <a16:creationId xmlns:a16="http://schemas.microsoft.com/office/drawing/2014/main" id="{4100A584-C9BA-C39F-A4D3-ABF895CCF570}"/>
                  </a:ext>
                </a:extLst>
              </p:cNvPr>
              <p:cNvSpPr txBox="1">
                <a:spLocks noRot="1" noChangeAspect="1" noMove="1" noResize="1" noEditPoints="1" noAdjustHandles="1" noChangeArrowheads="1" noChangeShapeType="1" noTextEdit="1"/>
              </p:cNvSpPr>
              <p:nvPr/>
            </p:nvSpPr>
            <p:spPr>
              <a:xfrm>
                <a:off x="301488" y="744287"/>
                <a:ext cx="8358064" cy="1450274"/>
              </a:xfrm>
              <a:prstGeom prst="rect">
                <a:avLst/>
              </a:prstGeom>
              <a:blipFill>
                <a:blip r:embed="rId9"/>
                <a:stretch>
                  <a:fillRect l="-1531" t="-5462" b="-5462"/>
                </a:stretch>
              </a:blipFill>
            </p:spPr>
            <p:txBody>
              <a:bodyPr/>
              <a:lstStyle/>
              <a:p>
                <a:r>
                  <a:rPr lang="en-GB">
                    <a:noFill/>
                  </a:rPr>
                  <a:t> </a:t>
                </a:r>
              </a:p>
            </p:txBody>
          </p:sp>
        </mc:Fallback>
      </mc:AlternateContent>
      <p:sp>
        <p:nvSpPr>
          <p:cNvPr id="23" name="Rectangle 22">
            <a:extLst>
              <a:ext uri="{FF2B5EF4-FFF2-40B4-BE49-F238E27FC236}">
                <a16:creationId xmlns:a16="http://schemas.microsoft.com/office/drawing/2014/main" id="{EB55F925-CBDB-42D4-6949-A549CC955527}"/>
              </a:ext>
            </a:extLst>
          </p:cNvPr>
          <p:cNvSpPr/>
          <p:nvPr/>
        </p:nvSpPr>
        <p:spPr>
          <a:xfrm>
            <a:off x="5504459" y="4215570"/>
            <a:ext cx="1236970" cy="234581"/>
          </a:xfrm>
          <a:prstGeom prst="rect">
            <a:avLst/>
          </a:prstGeom>
          <a:solidFill>
            <a:srgbClr val="0070C0">
              <a:alpha val="3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149CF4F7-C0D6-9797-4F78-5C57B195354E}"/>
              </a:ext>
            </a:extLst>
          </p:cNvPr>
          <p:cNvGrpSpPr/>
          <p:nvPr/>
        </p:nvGrpSpPr>
        <p:grpSpPr>
          <a:xfrm>
            <a:off x="1107546" y="2556376"/>
            <a:ext cx="3182182" cy="1178134"/>
            <a:chOff x="1099595" y="2558902"/>
            <a:chExt cx="3182182" cy="1178134"/>
          </a:xfrm>
          <a:solidFill>
            <a:srgbClr val="0070C0"/>
          </a:solidFill>
        </p:grpSpPr>
        <p:sp>
          <p:nvSpPr>
            <p:cNvPr id="9" name="Free-form: Shape 8">
              <a:extLst>
                <a:ext uri="{FF2B5EF4-FFF2-40B4-BE49-F238E27FC236}">
                  <a16:creationId xmlns:a16="http://schemas.microsoft.com/office/drawing/2014/main" id="{468C9DF0-744E-8EFA-F817-FF6DA73EF672}"/>
                </a:ext>
              </a:extLst>
            </p:cNvPr>
            <p:cNvSpPr/>
            <p:nvPr/>
          </p:nvSpPr>
          <p:spPr>
            <a:xfrm>
              <a:off x="1099595" y="2957332"/>
              <a:ext cx="121534" cy="746567"/>
            </a:xfrm>
            <a:custGeom>
              <a:avLst/>
              <a:gdLst>
                <a:gd name="connsiteX0" fmla="*/ 0 w 121534"/>
                <a:gd name="connsiteY0" fmla="*/ 144683 h 746567"/>
                <a:gd name="connsiteX1" fmla="*/ 52086 w 121534"/>
                <a:gd name="connsiteY1" fmla="*/ 746567 h 746567"/>
                <a:gd name="connsiteX2" fmla="*/ 121534 w 121534"/>
                <a:gd name="connsiteY2" fmla="*/ 0 h 746567"/>
                <a:gd name="connsiteX3" fmla="*/ 0 w 121534"/>
                <a:gd name="connsiteY3" fmla="*/ 144683 h 746567"/>
              </a:gdLst>
              <a:ahLst/>
              <a:cxnLst>
                <a:cxn ang="0">
                  <a:pos x="connsiteX0" y="connsiteY0"/>
                </a:cxn>
                <a:cxn ang="0">
                  <a:pos x="connsiteX1" y="connsiteY1"/>
                </a:cxn>
                <a:cxn ang="0">
                  <a:pos x="connsiteX2" y="connsiteY2"/>
                </a:cxn>
                <a:cxn ang="0">
                  <a:pos x="connsiteX3" y="connsiteY3"/>
                </a:cxn>
              </a:cxnLst>
              <a:rect l="l" t="t" r="r" b="b"/>
              <a:pathLst>
                <a:path w="121534" h="746567">
                  <a:moveTo>
                    <a:pt x="0" y="144683"/>
                  </a:moveTo>
                  <a:lnTo>
                    <a:pt x="52086" y="746567"/>
                  </a:lnTo>
                  <a:lnTo>
                    <a:pt x="121534" y="0"/>
                  </a:lnTo>
                  <a:lnTo>
                    <a:pt x="0" y="144683"/>
                  </a:lnTo>
                  <a:close/>
                </a:path>
              </a:pathLst>
            </a:cu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Free-form: Shape 9">
              <a:extLst>
                <a:ext uri="{FF2B5EF4-FFF2-40B4-BE49-F238E27FC236}">
                  <a16:creationId xmlns:a16="http://schemas.microsoft.com/office/drawing/2014/main" id="{6BF24B2B-536F-071A-5232-650E9D8C17D8}"/>
                </a:ext>
              </a:extLst>
            </p:cNvPr>
            <p:cNvSpPr/>
            <p:nvPr/>
          </p:nvSpPr>
          <p:spPr>
            <a:xfrm>
              <a:off x="1325525" y="2707436"/>
              <a:ext cx="222830" cy="957386"/>
            </a:xfrm>
            <a:custGeom>
              <a:avLst/>
              <a:gdLst>
                <a:gd name="connsiteX0" fmla="*/ 0 w 121534"/>
                <a:gd name="connsiteY0" fmla="*/ 144683 h 746567"/>
                <a:gd name="connsiteX1" fmla="*/ 52086 w 121534"/>
                <a:gd name="connsiteY1" fmla="*/ 746567 h 746567"/>
                <a:gd name="connsiteX2" fmla="*/ 121534 w 121534"/>
                <a:gd name="connsiteY2" fmla="*/ 0 h 746567"/>
                <a:gd name="connsiteX3" fmla="*/ 0 w 121534"/>
                <a:gd name="connsiteY3" fmla="*/ 144683 h 746567"/>
              </a:gdLst>
              <a:ahLst/>
              <a:cxnLst>
                <a:cxn ang="0">
                  <a:pos x="connsiteX0" y="connsiteY0"/>
                </a:cxn>
                <a:cxn ang="0">
                  <a:pos x="connsiteX1" y="connsiteY1"/>
                </a:cxn>
                <a:cxn ang="0">
                  <a:pos x="connsiteX2" y="connsiteY2"/>
                </a:cxn>
                <a:cxn ang="0">
                  <a:pos x="connsiteX3" y="connsiteY3"/>
                </a:cxn>
              </a:cxnLst>
              <a:rect l="l" t="t" r="r" b="b"/>
              <a:pathLst>
                <a:path w="121534" h="746567">
                  <a:moveTo>
                    <a:pt x="0" y="144683"/>
                  </a:moveTo>
                  <a:lnTo>
                    <a:pt x="52086" y="746567"/>
                  </a:lnTo>
                  <a:lnTo>
                    <a:pt x="121534" y="0"/>
                  </a:lnTo>
                  <a:lnTo>
                    <a:pt x="0" y="144683"/>
                  </a:lnTo>
                  <a:close/>
                </a:path>
              </a:pathLst>
            </a:cu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Free-form: Shape 11">
              <a:extLst>
                <a:ext uri="{FF2B5EF4-FFF2-40B4-BE49-F238E27FC236}">
                  <a16:creationId xmlns:a16="http://schemas.microsoft.com/office/drawing/2014/main" id="{8D8C2235-40AC-14EF-252B-66D97384C093}"/>
                </a:ext>
              </a:extLst>
            </p:cNvPr>
            <p:cNvSpPr/>
            <p:nvPr/>
          </p:nvSpPr>
          <p:spPr>
            <a:xfrm>
              <a:off x="1594884" y="2565991"/>
              <a:ext cx="233916" cy="1070344"/>
            </a:xfrm>
            <a:custGeom>
              <a:avLst/>
              <a:gdLst>
                <a:gd name="connsiteX0" fmla="*/ 0 w 233916"/>
                <a:gd name="connsiteY0" fmla="*/ 120502 h 1070344"/>
                <a:gd name="connsiteX1" fmla="*/ 127590 w 233916"/>
                <a:gd name="connsiteY1" fmla="*/ 1070344 h 1070344"/>
                <a:gd name="connsiteX2" fmla="*/ 233916 w 233916"/>
                <a:gd name="connsiteY2" fmla="*/ 0 h 1070344"/>
                <a:gd name="connsiteX3" fmla="*/ 77972 w 233916"/>
                <a:gd name="connsiteY3" fmla="*/ 56707 h 1070344"/>
                <a:gd name="connsiteX4" fmla="*/ 0 w 233916"/>
                <a:gd name="connsiteY4" fmla="*/ 120502 h 10703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3916" h="1070344">
                  <a:moveTo>
                    <a:pt x="0" y="120502"/>
                  </a:moveTo>
                  <a:lnTo>
                    <a:pt x="127590" y="1070344"/>
                  </a:lnTo>
                  <a:lnTo>
                    <a:pt x="233916" y="0"/>
                  </a:lnTo>
                  <a:lnTo>
                    <a:pt x="77972" y="56707"/>
                  </a:lnTo>
                  <a:lnTo>
                    <a:pt x="0" y="120502"/>
                  </a:lnTo>
                  <a:close/>
                </a:path>
              </a:pathLst>
            </a:cu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Free-form: Shape 20">
              <a:extLst>
                <a:ext uri="{FF2B5EF4-FFF2-40B4-BE49-F238E27FC236}">
                  <a16:creationId xmlns:a16="http://schemas.microsoft.com/office/drawing/2014/main" id="{F61C3E71-ABB3-3AB6-5421-E475E0079CE4}"/>
                </a:ext>
              </a:extLst>
            </p:cNvPr>
            <p:cNvSpPr/>
            <p:nvPr/>
          </p:nvSpPr>
          <p:spPr>
            <a:xfrm>
              <a:off x="1850065" y="2558902"/>
              <a:ext cx="255182" cy="1119963"/>
            </a:xfrm>
            <a:custGeom>
              <a:avLst/>
              <a:gdLst>
                <a:gd name="connsiteX0" fmla="*/ 0 w 255182"/>
                <a:gd name="connsiteY0" fmla="*/ 7089 h 1119963"/>
                <a:gd name="connsiteX1" fmla="*/ 141768 w 255182"/>
                <a:gd name="connsiteY1" fmla="*/ 1119963 h 1119963"/>
                <a:gd name="connsiteX2" fmla="*/ 255182 w 255182"/>
                <a:gd name="connsiteY2" fmla="*/ 42531 h 1119963"/>
                <a:gd name="connsiteX3" fmla="*/ 134679 w 255182"/>
                <a:gd name="connsiteY3" fmla="*/ 0 h 1119963"/>
                <a:gd name="connsiteX4" fmla="*/ 0 w 255182"/>
                <a:gd name="connsiteY4" fmla="*/ 7089 h 11199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182" h="1119963">
                  <a:moveTo>
                    <a:pt x="0" y="7089"/>
                  </a:moveTo>
                  <a:lnTo>
                    <a:pt x="141768" y="1119963"/>
                  </a:lnTo>
                  <a:lnTo>
                    <a:pt x="255182" y="42531"/>
                  </a:lnTo>
                  <a:lnTo>
                    <a:pt x="134679" y="0"/>
                  </a:lnTo>
                  <a:lnTo>
                    <a:pt x="0" y="7089"/>
                  </a:lnTo>
                  <a:close/>
                </a:path>
              </a:pathLst>
            </a:cu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Free-form: Shape 27">
              <a:extLst>
                <a:ext uri="{FF2B5EF4-FFF2-40B4-BE49-F238E27FC236}">
                  <a16:creationId xmlns:a16="http://schemas.microsoft.com/office/drawing/2014/main" id="{6BDD2FF4-9114-1C21-EC2C-CC798888192E}"/>
                </a:ext>
              </a:extLst>
            </p:cNvPr>
            <p:cNvSpPr/>
            <p:nvPr/>
          </p:nvSpPr>
          <p:spPr>
            <a:xfrm>
              <a:off x="2169042" y="2636874"/>
              <a:ext cx="198474" cy="1020726"/>
            </a:xfrm>
            <a:custGeom>
              <a:avLst/>
              <a:gdLst>
                <a:gd name="connsiteX0" fmla="*/ 0 w 198474"/>
                <a:gd name="connsiteY0" fmla="*/ 0 h 1020726"/>
                <a:gd name="connsiteX1" fmla="*/ 106325 w 198474"/>
                <a:gd name="connsiteY1" fmla="*/ 1020726 h 1020726"/>
                <a:gd name="connsiteX2" fmla="*/ 198474 w 198474"/>
                <a:gd name="connsiteY2" fmla="*/ 106326 h 1020726"/>
                <a:gd name="connsiteX3" fmla="*/ 0 w 198474"/>
                <a:gd name="connsiteY3" fmla="*/ 0 h 1020726"/>
              </a:gdLst>
              <a:ahLst/>
              <a:cxnLst>
                <a:cxn ang="0">
                  <a:pos x="connsiteX0" y="connsiteY0"/>
                </a:cxn>
                <a:cxn ang="0">
                  <a:pos x="connsiteX1" y="connsiteY1"/>
                </a:cxn>
                <a:cxn ang="0">
                  <a:pos x="connsiteX2" y="connsiteY2"/>
                </a:cxn>
                <a:cxn ang="0">
                  <a:pos x="connsiteX3" y="connsiteY3"/>
                </a:cxn>
              </a:cxnLst>
              <a:rect l="l" t="t" r="r" b="b"/>
              <a:pathLst>
                <a:path w="198474" h="1020726">
                  <a:moveTo>
                    <a:pt x="0" y="0"/>
                  </a:moveTo>
                  <a:lnTo>
                    <a:pt x="106325" y="1020726"/>
                  </a:lnTo>
                  <a:lnTo>
                    <a:pt x="198474" y="106326"/>
                  </a:lnTo>
                  <a:lnTo>
                    <a:pt x="0" y="0"/>
                  </a:lnTo>
                  <a:close/>
                </a:path>
              </a:pathLst>
            </a:cu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Free-form: Shape 28">
              <a:extLst>
                <a:ext uri="{FF2B5EF4-FFF2-40B4-BE49-F238E27FC236}">
                  <a16:creationId xmlns:a16="http://schemas.microsoft.com/office/drawing/2014/main" id="{B8FD7868-3236-7D83-4A2C-A442C257AFE7}"/>
                </a:ext>
              </a:extLst>
            </p:cNvPr>
            <p:cNvSpPr/>
            <p:nvPr/>
          </p:nvSpPr>
          <p:spPr>
            <a:xfrm>
              <a:off x="2438400" y="2821172"/>
              <a:ext cx="205563" cy="822251"/>
            </a:xfrm>
            <a:custGeom>
              <a:avLst/>
              <a:gdLst>
                <a:gd name="connsiteX0" fmla="*/ 0 w 205563"/>
                <a:gd name="connsiteY0" fmla="*/ 0 h 822251"/>
                <a:gd name="connsiteX1" fmla="*/ 99237 w 205563"/>
                <a:gd name="connsiteY1" fmla="*/ 822251 h 822251"/>
                <a:gd name="connsiteX2" fmla="*/ 205563 w 205563"/>
                <a:gd name="connsiteY2" fmla="*/ 127591 h 822251"/>
                <a:gd name="connsiteX3" fmla="*/ 0 w 205563"/>
                <a:gd name="connsiteY3" fmla="*/ 0 h 822251"/>
              </a:gdLst>
              <a:ahLst/>
              <a:cxnLst>
                <a:cxn ang="0">
                  <a:pos x="connsiteX0" y="connsiteY0"/>
                </a:cxn>
                <a:cxn ang="0">
                  <a:pos x="connsiteX1" y="connsiteY1"/>
                </a:cxn>
                <a:cxn ang="0">
                  <a:pos x="connsiteX2" y="connsiteY2"/>
                </a:cxn>
                <a:cxn ang="0">
                  <a:pos x="connsiteX3" y="connsiteY3"/>
                </a:cxn>
              </a:cxnLst>
              <a:rect l="l" t="t" r="r" b="b"/>
              <a:pathLst>
                <a:path w="205563" h="822251">
                  <a:moveTo>
                    <a:pt x="0" y="0"/>
                  </a:moveTo>
                  <a:lnTo>
                    <a:pt x="99237" y="822251"/>
                  </a:lnTo>
                  <a:lnTo>
                    <a:pt x="205563" y="127591"/>
                  </a:lnTo>
                  <a:lnTo>
                    <a:pt x="0" y="0"/>
                  </a:lnTo>
                  <a:close/>
                </a:path>
              </a:pathLst>
            </a:cu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Free-form: Shape 36">
              <a:extLst>
                <a:ext uri="{FF2B5EF4-FFF2-40B4-BE49-F238E27FC236}">
                  <a16:creationId xmlns:a16="http://schemas.microsoft.com/office/drawing/2014/main" id="{6EBA7376-95BA-3AFD-E1EF-F6F2ECAA7C9E}"/>
                </a:ext>
              </a:extLst>
            </p:cNvPr>
            <p:cNvSpPr/>
            <p:nvPr/>
          </p:nvSpPr>
          <p:spPr>
            <a:xfrm>
              <a:off x="2750288" y="3090530"/>
              <a:ext cx="113414" cy="602512"/>
            </a:xfrm>
            <a:custGeom>
              <a:avLst/>
              <a:gdLst>
                <a:gd name="connsiteX0" fmla="*/ 0 w 113414"/>
                <a:gd name="connsiteY0" fmla="*/ 0 h 602512"/>
                <a:gd name="connsiteX1" fmla="*/ 85061 w 113414"/>
                <a:gd name="connsiteY1" fmla="*/ 602512 h 602512"/>
                <a:gd name="connsiteX2" fmla="*/ 113414 w 113414"/>
                <a:gd name="connsiteY2" fmla="*/ 134679 h 602512"/>
                <a:gd name="connsiteX3" fmla="*/ 0 w 113414"/>
                <a:gd name="connsiteY3" fmla="*/ 0 h 602512"/>
              </a:gdLst>
              <a:ahLst/>
              <a:cxnLst>
                <a:cxn ang="0">
                  <a:pos x="connsiteX0" y="connsiteY0"/>
                </a:cxn>
                <a:cxn ang="0">
                  <a:pos x="connsiteX1" y="connsiteY1"/>
                </a:cxn>
                <a:cxn ang="0">
                  <a:pos x="connsiteX2" y="connsiteY2"/>
                </a:cxn>
                <a:cxn ang="0">
                  <a:pos x="connsiteX3" y="connsiteY3"/>
                </a:cxn>
              </a:cxnLst>
              <a:rect l="l" t="t" r="r" b="b"/>
              <a:pathLst>
                <a:path w="113414" h="602512">
                  <a:moveTo>
                    <a:pt x="0" y="0"/>
                  </a:moveTo>
                  <a:lnTo>
                    <a:pt x="85061" y="602512"/>
                  </a:lnTo>
                  <a:lnTo>
                    <a:pt x="113414" y="134679"/>
                  </a:lnTo>
                  <a:lnTo>
                    <a:pt x="0" y="0"/>
                  </a:lnTo>
                  <a:close/>
                </a:path>
              </a:pathLst>
            </a:cu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Free-form: Shape 38">
              <a:extLst>
                <a:ext uri="{FF2B5EF4-FFF2-40B4-BE49-F238E27FC236}">
                  <a16:creationId xmlns:a16="http://schemas.microsoft.com/office/drawing/2014/main" id="{9E33B16F-4B83-AFE0-EC0F-E2846E757853}"/>
                </a:ext>
              </a:extLst>
            </p:cNvPr>
            <p:cNvSpPr/>
            <p:nvPr/>
          </p:nvSpPr>
          <p:spPr>
            <a:xfrm>
              <a:off x="3062177" y="3359888"/>
              <a:ext cx="70883" cy="297712"/>
            </a:xfrm>
            <a:custGeom>
              <a:avLst/>
              <a:gdLst>
                <a:gd name="connsiteX0" fmla="*/ 0 w 70883"/>
                <a:gd name="connsiteY0" fmla="*/ 0 h 297712"/>
                <a:gd name="connsiteX1" fmla="*/ 35442 w 70883"/>
                <a:gd name="connsiteY1" fmla="*/ 297712 h 297712"/>
                <a:gd name="connsiteX2" fmla="*/ 70883 w 70883"/>
                <a:gd name="connsiteY2" fmla="*/ 56707 h 297712"/>
                <a:gd name="connsiteX3" fmla="*/ 0 w 70883"/>
                <a:gd name="connsiteY3" fmla="*/ 0 h 297712"/>
              </a:gdLst>
              <a:ahLst/>
              <a:cxnLst>
                <a:cxn ang="0">
                  <a:pos x="connsiteX0" y="connsiteY0"/>
                </a:cxn>
                <a:cxn ang="0">
                  <a:pos x="connsiteX1" y="connsiteY1"/>
                </a:cxn>
                <a:cxn ang="0">
                  <a:pos x="connsiteX2" y="connsiteY2"/>
                </a:cxn>
                <a:cxn ang="0">
                  <a:pos x="connsiteX3" y="connsiteY3"/>
                </a:cxn>
              </a:cxnLst>
              <a:rect l="l" t="t" r="r" b="b"/>
              <a:pathLst>
                <a:path w="70883" h="297712">
                  <a:moveTo>
                    <a:pt x="0" y="0"/>
                  </a:moveTo>
                  <a:lnTo>
                    <a:pt x="35442" y="297712"/>
                  </a:lnTo>
                  <a:lnTo>
                    <a:pt x="70883" y="56707"/>
                  </a:lnTo>
                  <a:lnTo>
                    <a:pt x="0" y="0"/>
                  </a:lnTo>
                  <a:close/>
                </a:path>
              </a:pathLst>
            </a:cu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Free-form: Shape 39">
              <a:extLst>
                <a:ext uri="{FF2B5EF4-FFF2-40B4-BE49-F238E27FC236}">
                  <a16:creationId xmlns:a16="http://schemas.microsoft.com/office/drawing/2014/main" id="{B2348F64-63FF-72F5-61B6-8D79191CAA58}"/>
                </a:ext>
              </a:extLst>
            </p:cNvPr>
            <p:cNvSpPr/>
            <p:nvPr/>
          </p:nvSpPr>
          <p:spPr>
            <a:xfrm>
              <a:off x="3371353" y="3558209"/>
              <a:ext cx="23854" cy="143123"/>
            </a:xfrm>
            <a:custGeom>
              <a:avLst/>
              <a:gdLst>
                <a:gd name="connsiteX0" fmla="*/ 0 w 23854"/>
                <a:gd name="connsiteY0" fmla="*/ 0 h 143123"/>
                <a:gd name="connsiteX1" fmla="*/ 23854 w 23854"/>
                <a:gd name="connsiteY1" fmla="*/ 143123 h 143123"/>
                <a:gd name="connsiteX2" fmla="*/ 0 w 23854"/>
                <a:gd name="connsiteY2" fmla="*/ 0 h 143123"/>
              </a:gdLst>
              <a:ahLst/>
              <a:cxnLst>
                <a:cxn ang="0">
                  <a:pos x="connsiteX0" y="connsiteY0"/>
                </a:cxn>
                <a:cxn ang="0">
                  <a:pos x="connsiteX1" y="connsiteY1"/>
                </a:cxn>
                <a:cxn ang="0">
                  <a:pos x="connsiteX2" y="connsiteY2"/>
                </a:cxn>
              </a:cxnLst>
              <a:rect l="l" t="t" r="r" b="b"/>
              <a:pathLst>
                <a:path w="23854" h="143123">
                  <a:moveTo>
                    <a:pt x="0" y="0"/>
                  </a:moveTo>
                  <a:lnTo>
                    <a:pt x="23854" y="143123"/>
                  </a:lnTo>
                  <a:lnTo>
                    <a:pt x="0" y="0"/>
                  </a:lnTo>
                  <a:close/>
                </a:path>
              </a:pathLst>
            </a:cu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Free-form: Shape 41">
              <a:extLst>
                <a:ext uri="{FF2B5EF4-FFF2-40B4-BE49-F238E27FC236}">
                  <a16:creationId xmlns:a16="http://schemas.microsoft.com/office/drawing/2014/main" id="{5241B9E4-D8F6-EE8A-D763-3A1F3BB3B697}"/>
                </a:ext>
              </a:extLst>
            </p:cNvPr>
            <p:cNvSpPr/>
            <p:nvPr/>
          </p:nvSpPr>
          <p:spPr>
            <a:xfrm flipH="1">
              <a:off x="3930809" y="3466389"/>
              <a:ext cx="45719" cy="270647"/>
            </a:xfrm>
            <a:custGeom>
              <a:avLst/>
              <a:gdLst>
                <a:gd name="connsiteX0" fmla="*/ 0 w 70883"/>
                <a:gd name="connsiteY0" fmla="*/ 0 h 297712"/>
                <a:gd name="connsiteX1" fmla="*/ 35442 w 70883"/>
                <a:gd name="connsiteY1" fmla="*/ 297712 h 297712"/>
                <a:gd name="connsiteX2" fmla="*/ 70883 w 70883"/>
                <a:gd name="connsiteY2" fmla="*/ 56707 h 297712"/>
                <a:gd name="connsiteX3" fmla="*/ 0 w 70883"/>
                <a:gd name="connsiteY3" fmla="*/ 0 h 297712"/>
              </a:gdLst>
              <a:ahLst/>
              <a:cxnLst>
                <a:cxn ang="0">
                  <a:pos x="connsiteX0" y="connsiteY0"/>
                </a:cxn>
                <a:cxn ang="0">
                  <a:pos x="connsiteX1" y="connsiteY1"/>
                </a:cxn>
                <a:cxn ang="0">
                  <a:pos x="connsiteX2" y="connsiteY2"/>
                </a:cxn>
                <a:cxn ang="0">
                  <a:pos x="connsiteX3" y="connsiteY3"/>
                </a:cxn>
              </a:cxnLst>
              <a:rect l="l" t="t" r="r" b="b"/>
              <a:pathLst>
                <a:path w="70883" h="297712">
                  <a:moveTo>
                    <a:pt x="0" y="0"/>
                  </a:moveTo>
                  <a:lnTo>
                    <a:pt x="35442" y="297712"/>
                  </a:lnTo>
                  <a:lnTo>
                    <a:pt x="70883" y="56707"/>
                  </a:lnTo>
                  <a:lnTo>
                    <a:pt x="0" y="0"/>
                  </a:lnTo>
                  <a:close/>
                </a:path>
              </a:pathLst>
            </a:cu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Free-form: Shape 42">
              <a:extLst>
                <a:ext uri="{FF2B5EF4-FFF2-40B4-BE49-F238E27FC236}">
                  <a16:creationId xmlns:a16="http://schemas.microsoft.com/office/drawing/2014/main" id="{96B0F72B-C9F8-3A59-C970-50DCECB41053}"/>
                </a:ext>
              </a:extLst>
            </p:cNvPr>
            <p:cNvSpPr/>
            <p:nvPr/>
          </p:nvSpPr>
          <p:spPr>
            <a:xfrm>
              <a:off x="4206240" y="3224254"/>
              <a:ext cx="75537" cy="441297"/>
            </a:xfrm>
            <a:custGeom>
              <a:avLst/>
              <a:gdLst>
                <a:gd name="connsiteX0" fmla="*/ 0 w 75537"/>
                <a:gd name="connsiteY0" fmla="*/ 103367 h 441297"/>
                <a:gd name="connsiteX1" fmla="*/ 39757 w 75537"/>
                <a:gd name="connsiteY1" fmla="*/ 441297 h 441297"/>
                <a:gd name="connsiteX2" fmla="*/ 75537 w 75537"/>
                <a:gd name="connsiteY2" fmla="*/ 0 h 441297"/>
                <a:gd name="connsiteX3" fmla="*/ 0 w 75537"/>
                <a:gd name="connsiteY3" fmla="*/ 103367 h 441297"/>
              </a:gdLst>
              <a:ahLst/>
              <a:cxnLst>
                <a:cxn ang="0">
                  <a:pos x="connsiteX0" y="connsiteY0"/>
                </a:cxn>
                <a:cxn ang="0">
                  <a:pos x="connsiteX1" y="connsiteY1"/>
                </a:cxn>
                <a:cxn ang="0">
                  <a:pos x="connsiteX2" y="connsiteY2"/>
                </a:cxn>
                <a:cxn ang="0">
                  <a:pos x="connsiteX3" y="connsiteY3"/>
                </a:cxn>
              </a:cxnLst>
              <a:rect l="l" t="t" r="r" b="b"/>
              <a:pathLst>
                <a:path w="75537" h="441297">
                  <a:moveTo>
                    <a:pt x="0" y="103367"/>
                  </a:moveTo>
                  <a:lnTo>
                    <a:pt x="39757" y="441297"/>
                  </a:lnTo>
                  <a:lnTo>
                    <a:pt x="75537" y="0"/>
                  </a:lnTo>
                  <a:lnTo>
                    <a:pt x="0" y="103367"/>
                  </a:lnTo>
                  <a:close/>
                </a:path>
              </a:pathLst>
            </a:cu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5" name="Group 14">
            <a:extLst>
              <a:ext uri="{FF2B5EF4-FFF2-40B4-BE49-F238E27FC236}">
                <a16:creationId xmlns:a16="http://schemas.microsoft.com/office/drawing/2014/main" id="{2788899B-05ED-D736-9431-A83E21A8E63A}"/>
              </a:ext>
            </a:extLst>
          </p:cNvPr>
          <p:cNvGrpSpPr/>
          <p:nvPr/>
        </p:nvGrpSpPr>
        <p:grpSpPr>
          <a:xfrm>
            <a:off x="1093607" y="2137937"/>
            <a:ext cx="3198689" cy="2903001"/>
            <a:chOff x="1093607" y="2137937"/>
            <a:chExt cx="3198689" cy="2903001"/>
          </a:xfrm>
        </p:grpSpPr>
        <p:cxnSp>
          <p:nvCxnSpPr>
            <p:cNvPr id="25" name="Straight Connector 24">
              <a:extLst>
                <a:ext uri="{FF2B5EF4-FFF2-40B4-BE49-F238E27FC236}">
                  <a16:creationId xmlns:a16="http://schemas.microsoft.com/office/drawing/2014/main" id="{AA2CBCD0-7921-7D42-87FA-8DE4B15F8468}"/>
                </a:ext>
              </a:extLst>
            </p:cNvPr>
            <p:cNvCxnSpPr>
              <a:cxnSpLocks/>
            </p:cNvCxnSpPr>
            <p:nvPr/>
          </p:nvCxnSpPr>
          <p:spPr>
            <a:xfrm flipV="1">
              <a:off x="1237541" y="2150636"/>
              <a:ext cx="403" cy="284585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2E8D4435-C0AC-F406-A802-7F0B44810FBF}"/>
                </a:ext>
              </a:extLst>
            </p:cNvPr>
            <p:cNvCxnSpPr>
              <a:cxnSpLocks/>
            </p:cNvCxnSpPr>
            <p:nvPr/>
          </p:nvCxnSpPr>
          <p:spPr>
            <a:xfrm flipV="1">
              <a:off x="1093607" y="2150636"/>
              <a:ext cx="403" cy="284585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ECBBE1E5-AEB5-FD00-5519-5351E885257D}"/>
                </a:ext>
              </a:extLst>
            </p:cNvPr>
            <p:cNvCxnSpPr>
              <a:cxnSpLocks/>
            </p:cNvCxnSpPr>
            <p:nvPr/>
          </p:nvCxnSpPr>
          <p:spPr>
            <a:xfrm flipV="1">
              <a:off x="1343375" y="2156986"/>
              <a:ext cx="403" cy="284585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AF8DE2DC-86C3-7E24-0828-173B1501C4EE}"/>
                </a:ext>
              </a:extLst>
            </p:cNvPr>
            <p:cNvCxnSpPr>
              <a:cxnSpLocks/>
            </p:cNvCxnSpPr>
            <p:nvPr/>
          </p:nvCxnSpPr>
          <p:spPr>
            <a:xfrm flipV="1">
              <a:off x="1555041" y="2156986"/>
              <a:ext cx="403" cy="284585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F05A3139-D63A-1DB2-56CD-0889C9284B8D}"/>
                </a:ext>
              </a:extLst>
            </p:cNvPr>
            <p:cNvCxnSpPr>
              <a:cxnSpLocks/>
            </p:cNvCxnSpPr>
            <p:nvPr/>
          </p:nvCxnSpPr>
          <p:spPr>
            <a:xfrm flipV="1">
              <a:off x="1607958" y="2156986"/>
              <a:ext cx="403" cy="284585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4EF65451-9595-3415-F74A-AE040E0FA51E}"/>
                </a:ext>
              </a:extLst>
            </p:cNvPr>
            <p:cNvCxnSpPr>
              <a:cxnSpLocks/>
            </p:cNvCxnSpPr>
            <p:nvPr/>
          </p:nvCxnSpPr>
          <p:spPr>
            <a:xfrm flipV="1">
              <a:off x="1838676" y="2137937"/>
              <a:ext cx="403" cy="284585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4446E90A-BC03-4BE0-0C84-96ED6291C191}"/>
                </a:ext>
              </a:extLst>
            </p:cNvPr>
            <p:cNvCxnSpPr>
              <a:cxnSpLocks/>
            </p:cNvCxnSpPr>
            <p:nvPr/>
          </p:nvCxnSpPr>
          <p:spPr>
            <a:xfrm flipV="1">
              <a:off x="2113843" y="2169686"/>
              <a:ext cx="403" cy="284585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E8CF1D15-C826-9813-AE0F-42602F17739B}"/>
                </a:ext>
              </a:extLst>
            </p:cNvPr>
            <p:cNvCxnSpPr>
              <a:cxnSpLocks/>
            </p:cNvCxnSpPr>
            <p:nvPr/>
          </p:nvCxnSpPr>
          <p:spPr>
            <a:xfrm flipV="1">
              <a:off x="1887762" y="2207782"/>
              <a:ext cx="0" cy="2789664"/>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49401D26-BFFC-5395-F750-F8DC8E1468BA}"/>
                </a:ext>
              </a:extLst>
            </p:cNvPr>
            <p:cNvCxnSpPr>
              <a:cxnSpLocks/>
            </p:cNvCxnSpPr>
            <p:nvPr/>
          </p:nvCxnSpPr>
          <p:spPr>
            <a:xfrm flipV="1">
              <a:off x="2162527" y="2176036"/>
              <a:ext cx="403" cy="284585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58255689-3727-E738-784C-0736B66AFF46}"/>
                </a:ext>
              </a:extLst>
            </p:cNvPr>
            <p:cNvCxnSpPr>
              <a:cxnSpLocks/>
            </p:cNvCxnSpPr>
            <p:nvPr/>
          </p:nvCxnSpPr>
          <p:spPr>
            <a:xfrm flipV="1">
              <a:off x="2367844" y="2176036"/>
              <a:ext cx="403" cy="284585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549EAF86-FACB-E954-7983-AF8ABFD062CB}"/>
                </a:ext>
              </a:extLst>
            </p:cNvPr>
            <p:cNvCxnSpPr>
              <a:cxnSpLocks/>
            </p:cNvCxnSpPr>
            <p:nvPr/>
          </p:nvCxnSpPr>
          <p:spPr>
            <a:xfrm flipV="1">
              <a:off x="2441925" y="2176036"/>
              <a:ext cx="403" cy="284585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3D788263-D4EB-5778-EA66-70CDD187CC72}"/>
                </a:ext>
              </a:extLst>
            </p:cNvPr>
            <p:cNvCxnSpPr>
              <a:cxnSpLocks/>
            </p:cNvCxnSpPr>
            <p:nvPr/>
          </p:nvCxnSpPr>
          <p:spPr>
            <a:xfrm flipV="1">
              <a:off x="2630310" y="2169686"/>
              <a:ext cx="403" cy="284585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DFCFF25A-7DBC-745B-54E0-85BF20E95DD6}"/>
                </a:ext>
              </a:extLst>
            </p:cNvPr>
            <p:cNvCxnSpPr>
              <a:cxnSpLocks/>
            </p:cNvCxnSpPr>
            <p:nvPr/>
          </p:nvCxnSpPr>
          <p:spPr>
            <a:xfrm flipV="1">
              <a:off x="2882194" y="2169686"/>
              <a:ext cx="403" cy="284585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09D01722-FACC-D4A7-59B4-BE3546322F81}"/>
                </a:ext>
              </a:extLst>
            </p:cNvPr>
            <p:cNvCxnSpPr>
              <a:cxnSpLocks/>
            </p:cNvCxnSpPr>
            <p:nvPr/>
          </p:nvCxnSpPr>
          <p:spPr>
            <a:xfrm flipV="1">
              <a:off x="2759426" y="2169686"/>
              <a:ext cx="403" cy="284585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CF7A6ACD-8E4D-CD11-51DF-F6E87F17DCC9}"/>
                </a:ext>
              </a:extLst>
            </p:cNvPr>
            <p:cNvCxnSpPr>
              <a:cxnSpLocks/>
            </p:cNvCxnSpPr>
            <p:nvPr/>
          </p:nvCxnSpPr>
          <p:spPr>
            <a:xfrm flipV="1">
              <a:off x="3059997" y="2176036"/>
              <a:ext cx="403" cy="284585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4C41996A-71C6-D0CE-5B7B-DE8349418F24}"/>
                </a:ext>
              </a:extLst>
            </p:cNvPr>
            <p:cNvCxnSpPr>
              <a:cxnSpLocks/>
            </p:cNvCxnSpPr>
            <p:nvPr/>
          </p:nvCxnSpPr>
          <p:spPr>
            <a:xfrm flipV="1">
              <a:off x="3366909" y="2176036"/>
              <a:ext cx="403" cy="284585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E3EBB513-EB5E-90E1-983C-38CF574A8593}"/>
                </a:ext>
              </a:extLst>
            </p:cNvPr>
            <p:cNvCxnSpPr>
              <a:cxnSpLocks/>
            </p:cNvCxnSpPr>
            <p:nvPr/>
          </p:nvCxnSpPr>
          <p:spPr>
            <a:xfrm flipV="1">
              <a:off x="3146774" y="2176036"/>
              <a:ext cx="403" cy="284585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802CF6BA-0D9E-25BC-90AD-639D4D1C9849}"/>
                </a:ext>
              </a:extLst>
            </p:cNvPr>
            <p:cNvCxnSpPr>
              <a:cxnSpLocks/>
            </p:cNvCxnSpPr>
            <p:nvPr/>
          </p:nvCxnSpPr>
          <p:spPr>
            <a:xfrm flipV="1">
              <a:off x="3656895" y="2188736"/>
              <a:ext cx="403" cy="284585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21FB3C58-A098-6440-ADD1-6AA911037B27}"/>
                </a:ext>
              </a:extLst>
            </p:cNvPr>
            <p:cNvCxnSpPr>
              <a:cxnSpLocks/>
            </p:cNvCxnSpPr>
            <p:nvPr/>
          </p:nvCxnSpPr>
          <p:spPr>
            <a:xfrm flipV="1">
              <a:off x="3426577" y="2231067"/>
              <a:ext cx="0" cy="2789664"/>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B01775F0-3A91-896C-6364-418A2F190AFD}"/>
                </a:ext>
              </a:extLst>
            </p:cNvPr>
            <p:cNvCxnSpPr>
              <a:cxnSpLocks/>
            </p:cNvCxnSpPr>
            <p:nvPr/>
          </p:nvCxnSpPr>
          <p:spPr>
            <a:xfrm flipV="1">
              <a:off x="3701338" y="2195086"/>
              <a:ext cx="403" cy="284585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FFC8BE27-DF0F-17D7-33CD-3C1390D3AAF4}"/>
                </a:ext>
              </a:extLst>
            </p:cNvPr>
            <p:cNvCxnSpPr>
              <a:cxnSpLocks/>
            </p:cNvCxnSpPr>
            <p:nvPr/>
          </p:nvCxnSpPr>
          <p:spPr>
            <a:xfrm flipV="1">
              <a:off x="3923593" y="2195086"/>
              <a:ext cx="403" cy="284585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ADF118C5-8AF7-FDBD-D6D0-811FD7DFCBC7}"/>
                </a:ext>
              </a:extLst>
            </p:cNvPr>
            <p:cNvCxnSpPr>
              <a:cxnSpLocks/>
            </p:cNvCxnSpPr>
            <p:nvPr/>
          </p:nvCxnSpPr>
          <p:spPr>
            <a:xfrm flipV="1">
              <a:off x="3980746" y="2195086"/>
              <a:ext cx="403" cy="284585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36054A90-EB19-3C2D-8224-B83612D0B05A}"/>
                </a:ext>
              </a:extLst>
            </p:cNvPr>
            <p:cNvCxnSpPr>
              <a:cxnSpLocks/>
            </p:cNvCxnSpPr>
            <p:nvPr/>
          </p:nvCxnSpPr>
          <p:spPr>
            <a:xfrm flipV="1">
              <a:off x="4190294" y="2188736"/>
              <a:ext cx="403" cy="284585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997D4E75-E459-C080-FC3A-6D6AB75A1935}"/>
                </a:ext>
              </a:extLst>
            </p:cNvPr>
            <p:cNvCxnSpPr>
              <a:cxnSpLocks/>
            </p:cNvCxnSpPr>
            <p:nvPr/>
          </p:nvCxnSpPr>
          <p:spPr>
            <a:xfrm flipV="1">
              <a:off x="4291893" y="2184506"/>
              <a:ext cx="403" cy="284585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grpSp>
      <p:sp>
        <p:nvSpPr>
          <p:cNvPr id="6" name="Rectangle 5">
            <a:extLst>
              <a:ext uri="{FF2B5EF4-FFF2-40B4-BE49-F238E27FC236}">
                <a16:creationId xmlns:a16="http://schemas.microsoft.com/office/drawing/2014/main" id="{456FA486-8EDB-4C67-D803-DA05A667563E}"/>
              </a:ext>
            </a:extLst>
          </p:cNvPr>
          <p:cNvSpPr/>
          <p:nvPr/>
        </p:nvSpPr>
        <p:spPr>
          <a:xfrm>
            <a:off x="5505133" y="4444171"/>
            <a:ext cx="1256246" cy="228600"/>
          </a:xfrm>
          <a:prstGeom prst="rect">
            <a:avLst/>
          </a:prstGeom>
          <a:solidFill>
            <a:srgbClr val="00B050">
              <a:alpha val="3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73DBB388-EB64-21E1-06D8-F5B6A270314B}"/>
              </a:ext>
            </a:extLst>
          </p:cNvPr>
          <p:cNvSpPr/>
          <p:nvPr/>
        </p:nvSpPr>
        <p:spPr>
          <a:xfrm>
            <a:off x="6741429" y="4215200"/>
            <a:ext cx="850985" cy="227864"/>
          </a:xfrm>
          <a:prstGeom prst="rect">
            <a:avLst/>
          </a:prstGeom>
          <a:solidFill>
            <a:srgbClr val="0070C0">
              <a:alpha val="3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A10E6B9-F1D7-5BAE-4498-494A83805F8E}"/>
              </a:ext>
            </a:extLst>
          </p:cNvPr>
          <p:cNvSpPr/>
          <p:nvPr/>
        </p:nvSpPr>
        <p:spPr>
          <a:xfrm>
            <a:off x="8081942" y="4444171"/>
            <a:ext cx="850985" cy="227864"/>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6" name="Group 45">
            <a:extLst>
              <a:ext uri="{FF2B5EF4-FFF2-40B4-BE49-F238E27FC236}">
                <a16:creationId xmlns:a16="http://schemas.microsoft.com/office/drawing/2014/main" id="{9185343F-6155-E521-DAC6-E23EBD2EA1F9}"/>
              </a:ext>
            </a:extLst>
          </p:cNvPr>
          <p:cNvGrpSpPr/>
          <p:nvPr/>
        </p:nvGrpSpPr>
        <p:grpSpPr>
          <a:xfrm>
            <a:off x="1242019" y="2488928"/>
            <a:ext cx="3202883" cy="1105123"/>
            <a:chOff x="1242019" y="2488928"/>
            <a:chExt cx="3202883" cy="1105123"/>
          </a:xfrm>
        </p:grpSpPr>
        <p:sp>
          <p:nvSpPr>
            <p:cNvPr id="16" name="Free-form: Shape 15">
              <a:extLst>
                <a:ext uri="{FF2B5EF4-FFF2-40B4-BE49-F238E27FC236}">
                  <a16:creationId xmlns:a16="http://schemas.microsoft.com/office/drawing/2014/main" id="{EF66E1FD-B203-7B52-5CDF-CF812AEF2745}"/>
                </a:ext>
              </a:extLst>
            </p:cNvPr>
            <p:cNvSpPr/>
            <p:nvPr/>
          </p:nvSpPr>
          <p:spPr>
            <a:xfrm>
              <a:off x="1242019" y="2518267"/>
              <a:ext cx="73348" cy="430306"/>
            </a:xfrm>
            <a:custGeom>
              <a:avLst/>
              <a:gdLst>
                <a:gd name="connsiteX0" fmla="*/ 44009 w 73348"/>
                <a:gd name="connsiteY0" fmla="*/ 0 h 430306"/>
                <a:gd name="connsiteX1" fmla="*/ 0 w 73348"/>
                <a:gd name="connsiteY1" fmla="*/ 430306 h 430306"/>
                <a:gd name="connsiteX2" fmla="*/ 73348 w 73348"/>
                <a:gd name="connsiteY2" fmla="*/ 337399 h 430306"/>
                <a:gd name="connsiteX3" fmla="*/ 44009 w 73348"/>
                <a:gd name="connsiteY3" fmla="*/ 0 h 430306"/>
              </a:gdLst>
              <a:ahLst/>
              <a:cxnLst>
                <a:cxn ang="0">
                  <a:pos x="connsiteX0" y="connsiteY0"/>
                </a:cxn>
                <a:cxn ang="0">
                  <a:pos x="connsiteX1" y="connsiteY1"/>
                </a:cxn>
                <a:cxn ang="0">
                  <a:pos x="connsiteX2" y="connsiteY2"/>
                </a:cxn>
                <a:cxn ang="0">
                  <a:pos x="connsiteX3" y="connsiteY3"/>
                </a:cxn>
              </a:cxnLst>
              <a:rect l="l" t="t" r="r" b="b"/>
              <a:pathLst>
                <a:path w="73348" h="430306">
                  <a:moveTo>
                    <a:pt x="44009" y="0"/>
                  </a:moveTo>
                  <a:lnTo>
                    <a:pt x="0" y="430306"/>
                  </a:lnTo>
                  <a:lnTo>
                    <a:pt x="73348" y="337399"/>
                  </a:lnTo>
                  <a:lnTo>
                    <a:pt x="44009" y="0"/>
                  </a:lnTo>
                  <a:close/>
                </a:path>
              </a:pathLst>
            </a:cu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Free-form: Shape 17">
              <a:extLst>
                <a:ext uri="{FF2B5EF4-FFF2-40B4-BE49-F238E27FC236}">
                  <a16:creationId xmlns:a16="http://schemas.microsoft.com/office/drawing/2014/main" id="{0A0DF617-0384-D199-8FF4-E50E13406998}"/>
                </a:ext>
              </a:extLst>
            </p:cNvPr>
            <p:cNvSpPr/>
            <p:nvPr/>
          </p:nvSpPr>
          <p:spPr>
            <a:xfrm>
              <a:off x="1564749" y="2503598"/>
              <a:ext cx="0" cy="0"/>
            </a:xfrm>
            <a:custGeom>
              <a:avLst/>
              <a:gdLst>
                <a:gd name="connsiteX0" fmla="*/ 0 w 0"/>
                <a:gd name="connsiteY0" fmla="*/ 0 h 0"/>
                <a:gd name="connsiteX1" fmla="*/ 0 w 0"/>
                <a:gd name="connsiteY1" fmla="*/ 0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lnTo>
                    <a:pt x="0" y="0"/>
                  </a:ln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Free-form: Shape 19">
              <a:extLst>
                <a:ext uri="{FF2B5EF4-FFF2-40B4-BE49-F238E27FC236}">
                  <a16:creationId xmlns:a16="http://schemas.microsoft.com/office/drawing/2014/main" id="{24E39585-0064-E5A4-1194-C5EB981A8409}"/>
                </a:ext>
              </a:extLst>
            </p:cNvPr>
            <p:cNvSpPr/>
            <p:nvPr/>
          </p:nvSpPr>
          <p:spPr>
            <a:xfrm>
              <a:off x="1540299" y="2488928"/>
              <a:ext cx="48899" cy="215153"/>
            </a:xfrm>
            <a:custGeom>
              <a:avLst/>
              <a:gdLst>
                <a:gd name="connsiteX0" fmla="*/ 34229 w 48899"/>
                <a:gd name="connsiteY0" fmla="*/ 0 h 215153"/>
                <a:gd name="connsiteX1" fmla="*/ 0 w 48899"/>
                <a:gd name="connsiteY1" fmla="*/ 215153 h 215153"/>
                <a:gd name="connsiteX2" fmla="*/ 48899 w 48899"/>
                <a:gd name="connsiteY2" fmla="*/ 151585 h 215153"/>
                <a:gd name="connsiteX3" fmla="*/ 34229 w 48899"/>
                <a:gd name="connsiteY3" fmla="*/ 0 h 215153"/>
              </a:gdLst>
              <a:ahLst/>
              <a:cxnLst>
                <a:cxn ang="0">
                  <a:pos x="connsiteX0" y="connsiteY0"/>
                </a:cxn>
                <a:cxn ang="0">
                  <a:pos x="connsiteX1" y="connsiteY1"/>
                </a:cxn>
                <a:cxn ang="0">
                  <a:pos x="connsiteX2" y="connsiteY2"/>
                </a:cxn>
                <a:cxn ang="0">
                  <a:pos x="connsiteX3" y="connsiteY3"/>
                </a:cxn>
              </a:cxnLst>
              <a:rect l="l" t="t" r="r" b="b"/>
              <a:pathLst>
                <a:path w="48899" h="215153">
                  <a:moveTo>
                    <a:pt x="34229" y="0"/>
                  </a:moveTo>
                  <a:lnTo>
                    <a:pt x="0" y="215153"/>
                  </a:lnTo>
                  <a:lnTo>
                    <a:pt x="48899" y="151585"/>
                  </a:lnTo>
                  <a:lnTo>
                    <a:pt x="34229" y="0"/>
                  </a:lnTo>
                  <a:close/>
                </a:path>
              </a:pathLst>
            </a:cu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Free-form: Shape 21">
              <a:extLst>
                <a:ext uri="{FF2B5EF4-FFF2-40B4-BE49-F238E27FC236}">
                  <a16:creationId xmlns:a16="http://schemas.microsoft.com/office/drawing/2014/main" id="{54704171-3FFB-864E-A26B-262E57EA2306}"/>
                </a:ext>
              </a:extLst>
            </p:cNvPr>
            <p:cNvSpPr/>
            <p:nvPr/>
          </p:nvSpPr>
          <p:spPr>
            <a:xfrm>
              <a:off x="2125362" y="2503126"/>
              <a:ext cx="11517" cy="81201"/>
            </a:xfrm>
            <a:custGeom>
              <a:avLst/>
              <a:gdLst>
                <a:gd name="connsiteX0" fmla="*/ 0 w 11517"/>
                <a:gd name="connsiteY0" fmla="*/ 81201 h 81201"/>
                <a:gd name="connsiteX1" fmla="*/ 0 w 11517"/>
                <a:gd name="connsiteY1" fmla="*/ 81201 h 81201"/>
                <a:gd name="connsiteX2" fmla="*/ 10592 w 11517"/>
                <a:gd name="connsiteY2" fmla="*/ 0 h 81201"/>
                <a:gd name="connsiteX3" fmla="*/ 10592 w 11517"/>
                <a:gd name="connsiteY3" fmla="*/ 0 h 81201"/>
                <a:gd name="connsiteX4" fmla="*/ 10592 w 11517"/>
                <a:gd name="connsiteY4" fmla="*/ 0 h 81201"/>
                <a:gd name="connsiteX5" fmla="*/ 10592 w 11517"/>
                <a:gd name="connsiteY5" fmla="*/ 0 h 81201"/>
                <a:gd name="connsiteX6" fmla="*/ 10592 w 11517"/>
                <a:gd name="connsiteY6" fmla="*/ 0 h 81201"/>
                <a:gd name="connsiteX7" fmla="*/ 0 w 11517"/>
                <a:gd name="connsiteY7" fmla="*/ 81201 h 81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517" h="81201">
                  <a:moveTo>
                    <a:pt x="0" y="81201"/>
                  </a:moveTo>
                  <a:lnTo>
                    <a:pt x="0" y="81201"/>
                  </a:lnTo>
                  <a:cubicBezTo>
                    <a:pt x="7431" y="6888"/>
                    <a:pt x="-420" y="33031"/>
                    <a:pt x="10592" y="0"/>
                  </a:cubicBezTo>
                  <a:lnTo>
                    <a:pt x="10592" y="0"/>
                  </a:lnTo>
                  <a:lnTo>
                    <a:pt x="10592" y="0"/>
                  </a:lnTo>
                  <a:lnTo>
                    <a:pt x="10592" y="0"/>
                  </a:lnTo>
                  <a:lnTo>
                    <a:pt x="10592" y="0"/>
                  </a:lnTo>
                  <a:cubicBezTo>
                    <a:pt x="15099" y="54094"/>
                    <a:pt x="1765" y="67668"/>
                    <a:pt x="0" y="81201"/>
                  </a:cubicBezTo>
                  <a:close/>
                </a:path>
              </a:pathLst>
            </a:cu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Free-form: Shape 23">
              <a:extLst>
                <a:ext uri="{FF2B5EF4-FFF2-40B4-BE49-F238E27FC236}">
                  <a16:creationId xmlns:a16="http://schemas.microsoft.com/office/drawing/2014/main" id="{306FA73B-FFF7-DCD5-D631-CE7240204195}"/>
                </a:ext>
              </a:extLst>
            </p:cNvPr>
            <p:cNvSpPr/>
            <p:nvPr/>
          </p:nvSpPr>
          <p:spPr>
            <a:xfrm>
              <a:off x="2383089" y="2520778"/>
              <a:ext cx="67079" cy="285971"/>
            </a:xfrm>
            <a:custGeom>
              <a:avLst/>
              <a:gdLst>
                <a:gd name="connsiteX0" fmla="*/ 28244 w 67079"/>
                <a:gd name="connsiteY0" fmla="*/ 0 h 285971"/>
                <a:gd name="connsiteX1" fmla="*/ 0 w 67079"/>
                <a:gd name="connsiteY1" fmla="*/ 225953 h 285971"/>
                <a:gd name="connsiteX2" fmla="*/ 67079 w 67079"/>
                <a:gd name="connsiteY2" fmla="*/ 285971 h 285971"/>
                <a:gd name="connsiteX3" fmla="*/ 28244 w 67079"/>
                <a:gd name="connsiteY3" fmla="*/ 0 h 285971"/>
              </a:gdLst>
              <a:ahLst/>
              <a:cxnLst>
                <a:cxn ang="0">
                  <a:pos x="connsiteX0" y="connsiteY0"/>
                </a:cxn>
                <a:cxn ang="0">
                  <a:pos x="connsiteX1" y="connsiteY1"/>
                </a:cxn>
                <a:cxn ang="0">
                  <a:pos x="connsiteX2" y="connsiteY2"/>
                </a:cxn>
                <a:cxn ang="0">
                  <a:pos x="connsiteX3" y="connsiteY3"/>
                </a:cxn>
              </a:cxnLst>
              <a:rect l="l" t="t" r="r" b="b"/>
              <a:pathLst>
                <a:path w="67079" h="285971">
                  <a:moveTo>
                    <a:pt x="28244" y="0"/>
                  </a:moveTo>
                  <a:lnTo>
                    <a:pt x="0" y="225953"/>
                  </a:lnTo>
                  <a:lnTo>
                    <a:pt x="67079" y="285971"/>
                  </a:lnTo>
                  <a:lnTo>
                    <a:pt x="28244" y="0"/>
                  </a:lnTo>
                  <a:close/>
                </a:path>
              </a:pathLst>
            </a:cu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Free-form: Shape 25">
              <a:extLst>
                <a:ext uri="{FF2B5EF4-FFF2-40B4-BE49-F238E27FC236}">
                  <a16:creationId xmlns:a16="http://schemas.microsoft.com/office/drawing/2014/main" id="{CB209815-697E-94D0-A524-DBE383FF7D9F}"/>
                </a:ext>
              </a:extLst>
            </p:cNvPr>
            <p:cNvSpPr/>
            <p:nvPr/>
          </p:nvSpPr>
          <p:spPr>
            <a:xfrm>
              <a:off x="2644346" y="2577266"/>
              <a:ext cx="105915" cy="476618"/>
            </a:xfrm>
            <a:custGeom>
              <a:avLst/>
              <a:gdLst>
                <a:gd name="connsiteX0" fmla="*/ 42366 w 105915"/>
                <a:gd name="connsiteY0" fmla="*/ 0 h 476618"/>
                <a:gd name="connsiteX1" fmla="*/ 0 w 105915"/>
                <a:gd name="connsiteY1" fmla="*/ 384825 h 476618"/>
                <a:gd name="connsiteX2" fmla="*/ 105915 w 105915"/>
                <a:gd name="connsiteY2" fmla="*/ 476618 h 476618"/>
                <a:gd name="connsiteX3" fmla="*/ 42366 w 105915"/>
                <a:gd name="connsiteY3" fmla="*/ 0 h 476618"/>
              </a:gdLst>
              <a:ahLst/>
              <a:cxnLst>
                <a:cxn ang="0">
                  <a:pos x="connsiteX0" y="connsiteY0"/>
                </a:cxn>
                <a:cxn ang="0">
                  <a:pos x="connsiteX1" y="connsiteY1"/>
                </a:cxn>
                <a:cxn ang="0">
                  <a:pos x="connsiteX2" y="connsiteY2"/>
                </a:cxn>
                <a:cxn ang="0">
                  <a:pos x="connsiteX3" y="connsiteY3"/>
                </a:cxn>
              </a:cxnLst>
              <a:rect l="l" t="t" r="r" b="b"/>
              <a:pathLst>
                <a:path w="105915" h="476618">
                  <a:moveTo>
                    <a:pt x="42366" y="0"/>
                  </a:moveTo>
                  <a:lnTo>
                    <a:pt x="0" y="384825"/>
                  </a:lnTo>
                  <a:lnTo>
                    <a:pt x="105915" y="476618"/>
                  </a:lnTo>
                  <a:lnTo>
                    <a:pt x="42366" y="0"/>
                  </a:lnTo>
                  <a:close/>
                </a:path>
              </a:pathLst>
            </a:cu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Free-form: Shape 31">
              <a:extLst>
                <a:ext uri="{FF2B5EF4-FFF2-40B4-BE49-F238E27FC236}">
                  <a16:creationId xmlns:a16="http://schemas.microsoft.com/office/drawing/2014/main" id="{1903F119-ABEE-D774-ABE4-0810ACBE7AE0}"/>
                </a:ext>
              </a:extLst>
            </p:cNvPr>
            <p:cNvSpPr/>
            <p:nvPr/>
          </p:nvSpPr>
          <p:spPr>
            <a:xfrm>
              <a:off x="2887951" y="2573736"/>
              <a:ext cx="162403" cy="773180"/>
            </a:xfrm>
            <a:custGeom>
              <a:avLst/>
              <a:gdLst>
                <a:gd name="connsiteX0" fmla="*/ 70610 w 162403"/>
                <a:gd name="connsiteY0" fmla="*/ 0 h 773180"/>
                <a:gd name="connsiteX1" fmla="*/ 0 w 162403"/>
                <a:gd name="connsiteY1" fmla="*/ 621368 h 773180"/>
                <a:gd name="connsiteX2" fmla="*/ 162403 w 162403"/>
                <a:gd name="connsiteY2" fmla="*/ 773180 h 773180"/>
                <a:gd name="connsiteX3" fmla="*/ 70610 w 162403"/>
                <a:gd name="connsiteY3" fmla="*/ 0 h 773180"/>
              </a:gdLst>
              <a:ahLst/>
              <a:cxnLst>
                <a:cxn ang="0">
                  <a:pos x="connsiteX0" y="connsiteY0"/>
                </a:cxn>
                <a:cxn ang="0">
                  <a:pos x="connsiteX1" y="connsiteY1"/>
                </a:cxn>
                <a:cxn ang="0">
                  <a:pos x="connsiteX2" y="connsiteY2"/>
                </a:cxn>
                <a:cxn ang="0">
                  <a:pos x="connsiteX3" y="connsiteY3"/>
                </a:cxn>
              </a:cxnLst>
              <a:rect l="l" t="t" r="r" b="b"/>
              <a:pathLst>
                <a:path w="162403" h="773180">
                  <a:moveTo>
                    <a:pt x="70610" y="0"/>
                  </a:moveTo>
                  <a:lnTo>
                    <a:pt x="0" y="621368"/>
                  </a:lnTo>
                  <a:lnTo>
                    <a:pt x="162403" y="773180"/>
                  </a:lnTo>
                  <a:lnTo>
                    <a:pt x="70610" y="0"/>
                  </a:lnTo>
                  <a:close/>
                </a:path>
              </a:pathLst>
            </a:cu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Free-form: Shape 33">
              <a:extLst>
                <a:ext uri="{FF2B5EF4-FFF2-40B4-BE49-F238E27FC236}">
                  <a16:creationId xmlns:a16="http://schemas.microsoft.com/office/drawing/2014/main" id="{8FCF239F-6A44-F566-21A5-B720AACFEE8F}"/>
                </a:ext>
              </a:extLst>
            </p:cNvPr>
            <p:cNvSpPr/>
            <p:nvPr/>
          </p:nvSpPr>
          <p:spPr>
            <a:xfrm>
              <a:off x="3152738" y="2538431"/>
              <a:ext cx="204769" cy="999132"/>
            </a:xfrm>
            <a:custGeom>
              <a:avLst/>
              <a:gdLst>
                <a:gd name="connsiteX0" fmla="*/ 102385 w 204769"/>
                <a:gd name="connsiteY0" fmla="*/ 0 h 999132"/>
                <a:gd name="connsiteX1" fmla="*/ 0 w 204769"/>
                <a:gd name="connsiteY1" fmla="*/ 864973 h 999132"/>
                <a:gd name="connsiteX2" fmla="*/ 204769 w 204769"/>
                <a:gd name="connsiteY2" fmla="*/ 999132 h 999132"/>
                <a:gd name="connsiteX3" fmla="*/ 102385 w 204769"/>
                <a:gd name="connsiteY3" fmla="*/ 0 h 999132"/>
              </a:gdLst>
              <a:ahLst/>
              <a:cxnLst>
                <a:cxn ang="0">
                  <a:pos x="connsiteX0" y="connsiteY0"/>
                </a:cxn>
                <a:cxn ang="0">
                  <a:pos x="connsiteX1" y="connsiteY1"/>
                </a:cxn>
                <a:cxn ang="0">
                  <a:pos x="connsiteX2" y="connsiteY2"/>
                </a:cxn>
                <a:cxn ang="0">
                  <a:pos x="connsiteX3" y="connsiteY3"/>
                </a:cxn>
              </a:cxnLst>
              <a:rect l="l" t="t" r="r" b="b"/>
              <a:pathLst>
                <a:path w="204769" h="999132">
                  <a:moveTo>
                    <a:pt x="102385" y="0"/>
                  </a:moveTo>
                  <a:lnTo>
                    <a:pt x="0" y="864973"/>
                  </a:lnTo>
                  <a:lnTo>
                    <a:pt x="204769" y="999132"/>
                  </a:lnTo>
                  <a:lnTo>
                    <a:pt x="102385" y="0"/>
                  </a:lnTo>
                  <a:close/>
                </a:path>
              </a:pathLst>
            </a:cu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Free-form: Shape 34">
              <a:extLst>
                <a:ext uri="{FF2B5EF4-FFF2-40B4-BE49-F238E27FC236}">
                  <a16:creationId xmlns:a16="http://schemas.microsoft.com/office/drawing/2014/main" id="{60E3A5A5-2414-D648-264E-B5CEC52FDE0F}"/>
                </a:ext>
              </a:extLst>
            </p:cNvPr>
            <p:cNvSpPr/>
            <p:nvPr/>
          </p:nvSpPr>
          <p:spPr>
            <a:xfrm>
              <a:off x="3417526" y="2556083"/>
              <a:ext cx="236544" cy="1037968"/>
            </a:xfrm>
            <a:custGeom>
              <a:avLst/>
              <a:gdLst>
                <a:gd name="connsiteX0" fmla="*/ 109446 w 236544"/>
                <a:gd name="connsiteY0" fmla="*/ 0 h 1037968"/>
                <a:gd name="connsiteX1" fmla="*/ 0 w 236544"/>
                <a:gd name="connsiteY1" fmla="*/ 1009724 h 1037968"/>
                <a:gd name="connsiteX2" fmla="*/ 134159 w 236544"/>
                <a:gd name="connsiteY2" fmla="*/ 1037968 h 1037968"/>
                <a:gd name="connsiteX3" fmla="*/ 236544 w 236544"/>
                <a:gd name="connsiteY3" fmla="*/ 1034437 h 1037968"/>
                <a:gd name="connsiteX4" fmla="*/ 109446 w 236544"/>
                <a:gd name="connsiteY4" fmla="*/ 0 h 1037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6544" h="1037968">
                  <a:moveTo>
                    <a:pt x="109446" y="0"/>
                  </a:moveTo>
                  <a:lnTo>
                    <a:pt x="0" y="1009724"/>
                  </a:lnTo>
                  <a:lnTo>
                    <a:pt x="134159" y="1037968"/>
                  </a:lnTo>
                  <a:lnTo>
                    <a:pt x="236544" y="1034437"/>
                  </a:lnTo>
                  <a:lnTo>
                    <a:pt x="109446" y="0"/>
                  </a:lnTo>
                  <a:close/>
                </a:path>
              </a:pathLst>
            </a:cu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Free-form: Shape 35">
              <a:extLst>
                <a:ext uri="{FF2B5EF4-FFF2-40B4-BE49-F238E27FC236}">
                  <a16:creationId xmlns:a16="http://schemas.microsoft.com/office/drawing/2014/main" id="{47955DD4-00A6-5864-262A-387F1F855838}"/>
                </a:ext>
              </a:extLst>
            </p:cNvPr>
            <p:cNvSpPr/>
            <p:nvPr/>
          </p:nvSpPr>
          <p:spPr>
            <a:xfrm>
              <a:off x="3699966" y="2573736"/>
              <a:ext cx="229483" cy="1020315"/>
            </a:xfrm>
            <a:custGeom>
              <a:avLst/>
              <a:gdLst>
                <a:gd name="connsiteX0" fmla="*/ 102385 w 229483"/>
                <a:gd name="connsiteY0" fmla="*/ 0 h 1020315"/>
                <a:gd name="connsiteX1" fmla="*/ 0 w 229483"/>
                <a:gd name="connsiteY1" fmla="*/ 1020315 h 1020315"/>
                <a:gd name="connsiteX2" fmla="*/ 229483 w 229483"/>
                <a:gd name="connsiteY2" fmla="*/ 924991 h 1020315"/>
                <a:gd name="connsiteX3" fmla="*/ 102385 w 229483"/>
                <a:gd name="connsiteY3" fmla="*/ 0 h 1020315"/>
              </a:gdLst>
              <a:ahLst/>
              <a:cxnLst>
                <a:cxn ang="0">
                  <a:pos x="connsiteX0" y="connsiteY0"/>
                </a:cxn>
                <a:cxn ang="0">
                  <a:pos x="connsiteX1" y="connsiteY1"/>
                </a:cxn>
                <a:cxn ang="0">
                  <a:pos x="connsiteX2" y="connsiteY2"/>
                </a:cxn>
                <a:cxn ang="0">
                  <a:pos x="connsiteX3" y="connsiteY3"/>
                </a:cxn>
              </a:cxnLst>
              <a:rect l="l" t="t" r="r" b="b"/>
              <a:pathLst>
                <a:path w="229483" h="1020315">
                  <a:moveTo>
                    <a:pt x="102385" y="0"/>
                  </a:moveTo>
                  <a:lnTo>
                    <a:pt x="0" y="1020315"/>
                  </a:lnTo>
                  <a:lnTo>
                    <a:pt x="229483" y="924991"/>
                  </a:lnTo>
                  <a:lnTo>
                    <a:pt x="102385" y="0"/>
                  </a:lnTo>
                  <a:close/>
                </a:path>
              </a:pathLst>
            </a:cu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Free-form: Shape 40">
              <a:extLst>
                <a:ext uri="{FF2B5EF4-FFF2-40B4-BE49-F238E27FC236}">
                  <a16:creationId xmlns:a16="http://schemas.microsoft.com/office/drawing/2014/main" id="{BADCB768-49E7-979F-A335-E0770FE17F90}"/>
                </a:ext>
              </a:extLst>
            </p:cNvPr>
            <p:cNvSpPr/>
            <p:nvPr/>
          </p:nvSpPr>
          <p:spPr>
            <a:xfrm>
              <a:off x="3982406" y="2527839"/>
              <a:ext cx="201239" cy="967358"/>
            </a:xfrm>
            <a:custGeom>
              <a:avLst/>
              <a:gdLst>
                <a:gd name="connsiteX0" fmla="*/ 109446 w 201239"/>
                <a:gd name="connsiteY0" fmla="*/ 0 h 967358"/>
                <a:gd name="connsiteX1" fmla="*/ 0 w 201239"/>
                <a:gd name="connsiteY1" fmla="*/ 967358 h 967358"/>
                <a:gd name="connsiteX2" fmla="*/ 201239 w 201239"/>
                <a:gd name="connsiteY2" fmla="*/ 776711 h 967358"/>
                <a:gd name="connsiteX3" fmla="*/ 109446 w 201239"/>
                <a:gd name="connsiteY3" fmla="*/ 0 h 967358"/>
              </a:gdLst>
              <a:ahLst/>
              <a:cxnLst>
                <a:cxn ang="0">
                  <a:pos x="connsiteX0" y="connsiteY0"/>
                </a:cxn>
                <a:cxn ang="0">
                  <a:pos x="connsiteX1" y="connsiteY1"/>
                </a:cxn>
                <a:cxn ang="0">
                  <a:pos x="connsiteX2" y="connsiteY2"/>
                </a:cxn>
                <a:cxn ang="0">
                  <a:pos x="connsiteX3" y="connsiteY3"/>
                </a:cxn>
              </a:cxnLst>
              <a:rect l="l" t="t" r="r" b="b"/>
              <a:pathLst>
                <a:path w="201239" h="967358">
                  <a:moveTo>
                    <a:pt x="109446" y="0"/>
                  </a:moveTo>
                  <a:lnTo>
                    <a:pt x="0" y="967358"/>
                  </a:lnTo>
                  <a:lnTo>
                    <a:pt x="201239" y="776711"/>
                  </a:lnTo>
                  <a:lnTo>
                    <a:pt x="109446" y="0"/>
                  </a:lnTo>
                  <a:close/>
                </a:path>
              </a:pathLst>
            </a:cu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Free-form: Shape 43">
              <a:extLst>
                <a:ext uri="{FF2B5EF4-FFF2-40B4-BE49-F238E27FC236}">
                  <a16:creationId xmlns:a16="http://schemas.microsoft.com/office/drawing/2014/main" id="{816F18F5-59B4-897E-E665-6AFC07BCD077}"/>
                </a:ext>
              </a:extLst>
            </p:cNvPr>
            <p:cNvSpPr/>
            <p:nvPr/>
          </p:nvSpPr>
          <p:spPr>
            <a:xfrm>
              <a:off x="4296621" y="2517248"/>
              <a:ext cx="148281" cy="706100"/>
            </a:xfrm>
            <a:custGeom>
              <a:avLst/>
              <a:gdLst>
                <a:gd name="connsiteX0" fmla="*/ 77671 w 148281"/>
                <a:gd name="connsiteY0" fmla="*/ 0 h 706100"/>
                <a:gd name="connsiteX1" fmla="*/ 0 w 148281"/>
                <a:gd name="connsiteY1" fmla="*/ 706100 h 706100"/>
                <a:gd name="connsiteX2" fmla="*/ 148281 w 148281"/>
                <a:gd name="connsiteY2" fmla="*/ 564880 h 706100"/>
                <a:gd name="connsiteX3" fmla="*/ 77671 w 148281"/>
                <a:gd name="connsiteY3" fmla="*/ 0 h 706100"/>
              </a:gdLst>
              <a:ahLst/>
              <a:cxnLst>
                <a:cxn ang="0">
                  <a:pos x="connsiteX0" y="connsiteY0"/>
                </a:cxn>
                <a:cxn ang="0">
                  <a:pos x="connsiteX1" y="connsiteY1"/>
                </a:cxn>
                <a:cxn ang="0">
                  <a:pos x="connsiteX2" y="connsiteY2"/>
                </a:cxn>
                <a:cxn ang="0">
                  <a:pos x="connsiteX3" y="connsiteY3"/>
                </a:cxn>
              </a:cxnLst>
              <a:rect l="l" t="t" r="r" b="b"/>
              <a:pathLst>
                <a:path w="148281" h="706100">
                  <a:moveTo>
                    <a:pt x="77671" y="0"/>
                  </a:moveTo>
                  <a:lnTo>
                    <a:pt x="0" y="706100"/>
                  </a:lnTo>
                  <a:lnTo>
                    <a:pt x="148281" y="564880"/>
                  </a:lnTo>
                  <a:lnTo>
                    <a:pt x="77671" y="0"/>
                  </a:lnTo>
                  <a:close/>
                </a:path>
              </a:pathLst>
            </a:cu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83" name="Group 82">
            <a:extLst>
              <a:ext uri="{FF2B5EF4-FFF2-40B4-BE49-F238E27FC236}">
                <a16:creationId xmlns:a16="http://schemas.microsoft.com/office/drawing/2014/main" id="{FAAB976A-5377-D6D7-B55D-86D100950A0C}"/>
              </a:ext>
            </a:extLst>
          </p:cNvPr>
          <p:cNvGrpSpPr/>
          <p:nvPr/>
        </p:nvGrpSpPr>
        <p:grpSpPr>
          <a:xfrm>
            <a:off x="1091606" y="3984515"/>
            <a:ext cx="3185872" cy="651993"/>
            <a:chOff x="1091606" y="3984522"/>
            <a:chExt cx="3185872" cy="651993"/>
          </a:xfrm>
        </p:grpSpPr>
        <p:sp>
          <p:nvSpPr>
            <p:cNvPr id="11" name="Rectangle 10">
              <a:extLst>
                <a:ext uri="{FF2B5EF4-FFF2-40B4-BE49-F238E27FC236}">
                  <a16:creationId xmlns:a16="http://schemas.microsoft.com/office/drawing/2014/main" id="{E2D2BE54-0F3F-72E0-6A4C-C52FC147AF12}"/>
                </a:ext>
              </a:extLst>
            </p:cNvPr>
            <p:cNvSpPr/>
            <p:nvPr/>
          </p:nvSpPr>
          <p:spPr>
            <a:xfrm>
              <a:off x="1091606" y="3987619"/>
              <a:ext cx="133755" cy="631506"/>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05B36EF8-77E5-5137-DAC4-ED7938A186F4}"/>
                </a:ext>
              </a:extLst>
            </p:cNvPr>
            <p:cNvSpPr/>
            <p:nvPr/>
          </p:nvSpPr>
          <p:spPr>
            <a:xfrm>
              <a:off x="1351829" y="3987807"/>
              <a:ext cx="189777" cy="631506"/>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Rectangle 47">
              <a:extLst>
                <a:ext uri="{FF2B5EF4-FFF2-40B4-BE49-F238E27FC236}">
                  <a16:creationId xmlns:a16="http://schemas.microsoft.com/office/drawing/2014/main" id="{BE47EA5C-EFD1-2700-6969-E9F55C4D3431}"/>
                </a:ext>
              </a:extLst>
            </p:cNvPr>
            <p:cNvSpPr/>
            <p:nvPr/>
          </p:nvSpPr>
          <p:spPr>
            <a:xfrm>
              <a:off x="1604804" y="3991355"/>
              <a:ext cx="229631" cy="631506"/>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9" name="Rectangle 48">
              <a:extLst>
                <a:ext uri="{FF2B5EF4-FFF2-40B4-BE49-F238E27FC236}">
                  <a16:creationId xmlns:a16="http://schemas.microsoft.com/office/drawing/2014/main" id="{0E75C95E-AFE4-4315-69FA-F94FB559A9E4}"/>
                </a:ext>
              </a:extLst>
            </p:cNvPr>
            <p:cNvSpPr/>
            <p:nvPr/>
          </p:nvSpPr>
          <p:spPr>
            <a:xfrm>
              <a:off x="1877707" y="3994901"/>
              <a:ext cx="229631" cy="631506"/>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0" name="Rectangle 49">
              <a:extLst>
                <a:ext uri="{FF2B5EF4-FFF2-40B4-BE49-F238E27FC236}">
                  <a16:creationId xmlns:a16="http://schemas.microsoft.com/office/drawing/2014/main" id="{D826E1C6-14DC-CA3C-9354-7D17A9EA1612}"/>
                </a:ext>
              </a:extLst>
            </p:cNvPr>
            <p:cNvSpPr/>
            <p:nvPr/>
          </p:nvSpPr>
          <p:spPr>
            <a:xfrm>
              <a:off x="2170538" y="3998441"/>
              <a:ext cx="189777" cy="631506"/>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50">
              <a:extLst>
                <a:ext uri="{FF2B5EF4-FFF2-40B4-BE49-F238E27FC236}">
                  <a16:creationId xmlns:a16="http://schemas.microsoft.com/office/drawing/2014/main" id="{F8AB9067-7831-91A4-C21B-3FDC9A786CBD}"/>
                </a:ext>
              </a:extLst>
            </p:cNvPr>
            <p:cNvSpPr/>
            <p:nvPr/>
          </p:nvSpPr>
          <p:spPr>
            <a:xfrm>
              <a:off x="2443440" y="3994903"/>
              <a:ext cx="189777" cy="631506"/>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Rectangle 61">
              <a:extLst>
                <a:ext uri="{FF2B5EF4-FFF2-40B4-BE49-F238E27FC236}">
                  <a16:creationId xmlns:a16="http://schemas.microsoft.com/office/drawing/2014/main" id="{E9BC87B0-558F-B4C5-372C-94684EE99536}"/>
                </a:ext>
              </a:extLst>
            </p:cNvPr>
            <p:cNvSpPr/>
            <p:nvPr/>
          </p:nvSpPr>
          <p:spPr>
            <a:xfrm>
              <a:off x="2767846" y="3998254"/>
              <a:ext cx="119888" cy="631506"/>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3" name="Rectangle 62">
              <a:extLst>
                <a:ext uri="{FF2B5EF4-FFF2-40B4-BE49-F238E27FC236}">
                  <a16:creationId xmlns:a16="http://schemas.microsoft.com/office/drawing/2014/main" id="{B3E7DDF5-1A71-5519-19EE-11A0335E849E}"/>
                </a:ext>
              </a:extLst>
            </p:cNvPr>
            <p:cNvSpPr/>
            <p:nvPr/>
          </p:nvSpPr>
          <p:spPr>
            <a:xfrm>
              <a:off x="3073809" y="3998694"/>
              <a:ext cx="65992" cy="637821"/>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Rectangle 63">
              <a:extLst>
                <a:ext uri="{FF2B5EF4-FFF2-40B4-BE49-F238E27FC236}">
                  <a16:creationId xmlns:a16="http://schemas.microsoft.com/office/drawing/2014/main" id="{C310A83D-73A2-277E-D8AC-DC1B4A1C9E77}"/>
                </a:ext>
              </a:extLst>
            </p:cNvPr>
            <p:cNvSpPr/>
            <p:nvPr/>
          </p:nvSpPr>
          <p:spPr>
            <a:xfrm>
              <a:off x="3373396" y="3995155"/>
              <a:ext cx="40976" cy="637821"/>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5" name="Rectangle 64">
              <a:extLst>
                <a:ext uri="{FF2B5EF4-FFF2-40B4-BE49-F238E27FC236}">
                  <a16:creationId xmlns:a16="http://schemas.microsoft.com/office/drawing/2014/main" id="{9BDFB1E9-14A0-E975-6837-7910932B3752}"/>
                </a:ext>
              </a:extLst>
            </p:cNvPr>
            <p:cNvSpPr/>
            <p:nvPr/>
          </p:nvSpPr>
          <p:spPr>
            <a:xfrm>
              <a:off x="3655250" y="3984522"/>
              <a:ext cx="37251" cy="637821"/>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Rectangle 65">
              <a:extLst>
                <a:ext uri="{FF2B5EF4-FFF2-40B4-BE49-F238E27FC236}">
                  <a16:creationId xmlns:a16="http://schemas.microsoft.com/office/drawing/2014/main" id="{B2464B54-5A5D-1F7A-28B1-7F9D23807905}"/>
                </a:ext>
              </a:extLst>
            </p:cNvPr>
            <p:cNvSpPr/>
            <p:nvPr/>
          </p:nvSpPr>
          <p:spPr>
            <a:xfrm>
              <a:off x="3936921" y="3991616"/>
              <a:ext cx="40976" cy="637821"/>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7" name="Rectangle 66">
              <a:extLst>
                <a:ext uri="{FF2B5EF4-FFF2-40B4-BE49-F238E27FC236}">
                  <a16:creationId xmlns:a16="http://schemas.microsoft.com/office/drawing/2014/main" id="{476CC819-ADA2-6418-A601-4301A4C63013}"/>
                </a:ext>
              </a:extLst>
            </p:cNvPr>
            <p:cNvSpPr/>
            <p:nvPr/>
          </p:nvSpPr>
          <p:spPr>
            <a:xfrm>
              <a:off x="4211486" y="3995152"/>
              <a:ext cx="65992" cy="637821"/>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85" name="Group 84">
            <a:extLst>
              <a:ext uri="{FF2B5EF4-FFF2-40B4-BE49-F238E27FC236}">
                <a16:creationId xmlns:a16="http://schemas.microsoft.com/office/drawing/2014/main" id="{9A8D90A7-3515-E9C3-B407-0427EE28D77E}"/>
              </a:ext>
            </a:extLst>
          </p:cNvPr>
          <p:cNvGrpSpPr/>
          <p:nvPr/>
        </p:nvGrpSpPr>
        <p:grpSpPr>
          <a:xfrm>
            <a:off x="7405389" y="2058239"/>
            <a:ext cx="411171" cy="530105"/>
            <a:chOff x="2376137" y="2245847"/>
            <a:chExt cx="308919" cy="481914"/>
          </a:xfrm>
        </p:grpSpPr>
        <p:sp>
          <p:nvSpPr>
            <p:cNvPr id="86" name="Rectangle 85">
              <a:extLst>
                <a:ext uri="{FF2B5EF4-FFF2-40B4-BE49-F238E27FC236}">
                  <a16:creationId xmlns:a16="http://schemas.microsoft.com/office/drawing/2014/main" id="{BC7DC486-78D0-54CB-92AF-7A22FB54C668}"/>
                </a:ext>
              </a:extLst>
            </p:cNvPr>
            <p:cNvSpPr/>
            <p:nvPr/>
          </p:nvSpPr>
          <p:spPr>
            <a:xfrm>
              <a:off x="2376137" y="2245847"/>
              <a:ext cx="308919" cy="48191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7" name="Straight Connector 86">
              <a:extLst>
                <a:ext uri="{FF2B5EF4-FFF2-40B4-BE49-F238E27FC236}">
                  <a16:creationId xmlns:a16="http://schemas.microsoft.com/office/drawing/2014/main" id="{8CD7A709-E59C-5157-559E-106DDC2EAAF4}"/>
                </a:ext>
              </a:extLst>
            </p:cNvPr>
            <p:cNvCxnSpPr>
              <a:cxnSpLocks/>
            </p:cNvCxnSpPr>
            <p:nvPr/>
          </p:nvCxnSpPr>
          <p:spPr>
            <a:xfrm>
              <a:off x="2521453" y="2245847"/>
              <a:ext cx="0" cy="48191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9" name="Group 88">
            <a:extLst>
              <a:ext uri="{FF2B5EF4-FFF2-40B4-BE49-F238E27FC236}">
                <a16:creationId xmlns:a16="http://schemas.microsoft.com/office/drawing/2014/main" id="{9F5659F6-4E2C-A4F6-9617-15A6CFFD8DCA}"/>
              </a:ext>
            </a:extLst>
          </p:cNvPr>
          <p:cNvGrpSpPr/>
          <p:nvPr/>
        </p:nvGrpSpPr>
        <p:grpSpPr>
          <a:xfrm>
            <a:off x="7401995" y="3007458"/>
            <a:ext cx="411171" cy="530105"/>
            <a:chOff x="2376137" y="2245847"/>
            <a:chExt cx="308919" cy="481914"/>
          </a:xfrm>
        </p:grpSpPr>
        <p:sp>
          <p:nvSpPr>
            <p:cNvPr id="90" name="Rectangle 89">
              <a:extLst>
                <a:ext uri="{FF2B5EF4-FFF2-40B4-BE49-F238E27FC236}">
                  <a16:creationId xmlns:a16="http://schemas.microsoft.com/office/drawing/2014/main" id="{216DB232-97D8-46B8-A88E-EC1CD92F8644}"/>
                </a:ext>
              </a:extLst>
            </p:cNvPr>
            <p:cNvSpPr/>
            <p:nvPr/>
          </p:nvSpPr>
          <p:spPr>
            <a:xfrm>
              <a:off x="2376137" y="2245847"/>
              <a:ext cx="308919" cy="48191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1" name="Straight Connector 90">
              <a:extLst>
                <a:ext uri="{FF2B5EF4-FFF2-40B4-BE49-F238E27FC236}">
                  <a16:creationId xmlns:a16="http://schemas.microsoft.com/office/drawing/2014/main" id="{91A8E89C-6A32-2D34-629C-E04D742AC36E}"/>
                </a:ext>
              </a:extLst>
            </p:cNvPr>
            <p:cNvCxnSpPr>
              <a:cxnSpLocks/>
            </p:cNvCxnSpPr>
            <p:nvPr/>
          </p:nvCxnSpPr>
          <p:spPr>
            <a:xfrm>
              <a:off x="2521453" y="2245847"/>
              <a:ext cx="0" cy="48191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2" name="Group 101">
            <a:extLst>
              <a:ext uri="{FF2B5EF4-FFF2-40B4-BE49-F238E27FC236}">
                <a16:creationId xmlns:a16="http://schemas.microsoft.com/office/drawing/2014/main" id="{40C750A8-EAAE-5FD0-B180-4F4FD9A56C58}"/>
              </a:ext>
            </a:extLst>
          </p:cNvPr>
          <p:cNvGrpSpPr/>
          <p:nvPr/>
        </p:nvGrpSpPr>
        <p:grpSpPr>
          <a:xfrm>
            <a:off x="1255283" y="3980981"/>
            <a:ext cx="3184197" cy="670608"/>
            <a:chOff x="1255283" y="3980981"/>
            <a:chExt cx="3184197" cy="670608"/>
          </a:xfrm>
        </p:grpSpPr>
        <p:sp>
          <p:nvSpPr>
            <p:cNvPr id="92" name="Rectangle 91">
              <a:extLst>
                <a:ext uri="{FF2B5EF4-FFF2-40B4-BE49-F238E27FC236}">
                  <a16:creationId xmlns:a16="http://schemas.microsoft.com/office/drawing/2014/main" id="{E4A62A32-9830-1453-2B96-4816CA8D36EE}"/>
                </a:ext>
              </a:extLst>
            </p:cNvPr>
            <p:cNvSpPr/>
            <p:nvPr/>
          </p:nvSpPr>
          <p:spPr>
            <a:xfrm>
              <a:off x="3704961" y="3984522"/>
              <a:ext cx="212562" cy="644915"/>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3" name="Rectangle 92">
              <a:extLst>
                <a:ext uri="{FF2B5EF4-FFF2-40B4-BE49-F238E27FC236}">
                  <a16:creationId xmlns:a16="http://schemas.microsoft.com/office/drawing/2014/main" id="{45975931-974D-7C1E-E8D4-886B64DBD7C9}"/>
                </a:ext>
              </a:extLst>
            </p:cNvPr>
            <p:cNvSpPr/>
            <p:nvPr/>
          </p:nvSpPr>
          <p:spPr>
            <a:xfrm>
              <a:off x="3436208" y="3995154"/>
              <a:ext cx="204267" cy="644915"/>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4" name="Rectangle 93">
              <a:extLst>
                <a:ext uri="{FF2B5EF4-FFF2-40B4-BE49-F238E27FC236}">
                  <a16:creationId xmlns:a16="http://schemas.microsoft.com/office/drawing/2014/main" id="{89DEE919-1593-0630-54F1-933781D38759}"/>
                </a:ext>
              </a:extLst>
            </p:cNvPr>
            <p:cNvSpPr/>
            <p:nvPr/>
          </p:nvSpPr>
          <p:spPr>
            <a:xfrm>
              <a:off x="3164880" y="3998694"/>
              <a:ext cx="186770" cy="644915"/>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5" name="Rectangle 94">
              <a:extLst>
                <a:ext uri="{FF2B5EF4-FFF2-40B4-BE49-F238E27FC236}">
                  <a16:creationId xmlns:a16="http://schemas.microsoft.com/office/drawing/2014/main" id="{91B73FC1-7DEC-1E05-CA5D-C7F32B2DB037}"/>
                </a:ext>
              </a:extLst>
            </p:cNvPr>
            <p:cNvSpPr/>
            <p:nvPr/>
          </p:nvSpPr>
          <p:spPr>
            <a:xfrm>
              <a:off x="4004666" y="3988386"/>
              <a:ext cx="186770" cy="644915"/>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6" name="Rectangle 95">
              <a:extLst>
                <a:ext uri="{FF2B5EF4-FFF2-40B4-BE49-F238E27FC236}">
                  <a16:creationId xmlns:a16="http://schemas.microsoft.com/office/drawing/2014/main" id="{38E9310D-17C3-42B8-F905-056116988EFE}"/>
                </a:ext>
              </a:extLst>
            </p:cNvPr>
            <p:cNvSpPr/>
            <p:nvPr/>
          </p:nvSpPr>
          <p:spPr>
            <a:xfrm>
              <a:off x="2901151" y="3988061"/>
              <a:ext cx="154355" cy="644915"/>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7" name="Rectangle 96">
              <a:extLst>
                <a:ext uri="{FF2B5EF4-FFF2-40B4-BE49-F238E27FC236}">
                  <a16:creationId xmlns:a16="http://schemas.microsoft.com/office/drawing/2014/main" id="{3513CD25-0A09-560C-23B5-3DEC55F6EC6C}"/>
                </a:ext>
              </a:extLst>
            </p:cNvPr>
            <p:cNvSpPr/>
            <p:nvPr/>
          </p:nvSpPr>
          <p:spPr>
            <a:xfrm>
              <a:off x="2651409" y="3984522"/>
              <a:ext cx="94645" cy="644915"/>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8" name="Rectangle 97">
              <a:extLst>
                <a:ext uri="{FF2B5EF4-FFF2-40B4-BE49-F238E27FC236}">
                  <a16:creationId xmlns:a16="http://schemas.microsoft.com/office/drawing/2014/main" id="{8323B4DD-B197-A233-0035-B66B13F7AE45}"/>
                </a:ext>
              </a:extLst>
            </p:cNvPr>
            <p:cNvSpPr/>
            <p:nvPr/>
          </p:nvSpPr>
          <p:spPr>
            <a:xfrm>
              <a:off x="2378791" y="4006674"/>
              <a:ext cx="53425" cy="644915"/>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9" name="Rectangle 98">
              <a:extLst>
                <a:ext uri="{FF2B5EF4-FFF2-40B4-BE49-F238E27FC236}">
                  <a16:creationId xmlns:a16="http://schemas.microsoft.com/office/drawing/2014/main" id="{E8672002-AB0F-7500-6795-55F013F2F8A9}"/>
                </a:ext>
              </a:extLst>
            </p:cNvPr>
            <p:cNvSpPr/>
            <p:nvPr/>
          </p:nvSpPr>
          <p:spPr>
            <a:xfrm>
              <a:off x="1255283" y="3988955"/>
              <a:ext cx="53425" cy="644915"/>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0" name="Rectangle 99">
              <a:extLst>
                <a:ext uri="{FF2B5EF4-FFF2-40B4-BE49-F238E27FC236}">
                  <a16:creationId xmlns:a16="http://schemas.microsoft.com/office/drawing/2014/main" id="{AA0AE2F6-F786-1B75-18EB-47EFC2F52258}"/>
                </a:ext>
              </a:extLst>
            </p:cNvPr>
            <p:cNvSpPr/>
            <p:nvPr/>
          </p:nvSpPr>
          <p:spPr>
            <a:xfrm>
              <a:off x="1554644" y="3999589"/>
              <a:ext cx="28860" cy="644915"/>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1" name="Rectangle 100">
              <a:extLst>
                <a:ext uri="{FF2B5EF4-FFF2-40B4-BE49-F238E27FC236}">
                  <a16:creationId xmlns:a16="http://schemas.microsoft.com/office/drawing/2014/main" id="{8673D501-A696-F1DC-11EB-B2A40BA0E6EB}"/>
                </a:ext>
              </a:extLst>
            </p:cNvPr>
            <p:cNvSpPr/>
            <p:nvPr/>
          </p:nvSpPr>
          <p:spPr>
            <a:xfrm>
              <a:off x="4324959" y="3980981"/>
              <a:ext cx="114521" cy="644915"/>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17" name="Rectangle 116">
            <a:extLst>
              <a:ext uri="{FF2B5EF4-FFF2-40B4-BE49-F238E27FC236}">
                <a16:creationId xmlns:a16="http://schemas.microsoft.com/office/drawing/2014/main" id="{3C51BD4B-7852-1333-72FF-4BD157C6AE94}"/>
              </a:ext>
            </a:extLst>
          </p:cNvPr>
          <p:cNvSpPr/>
          <p:nvPr/>
        </p:nvSpPr>
        <p:spPr>
          <a:xfrm>
            <a:off x="6763094" y="4453524"/>
            <a:ext cx="811702" cy="228600"/>
          </a:xfrm>
          <a:prstGeom prst="rect">
            <a:avLst/>
          </a:prstGeom>
          <a:solidFill>
            <a:srgbClr val="00B050">
              <a:alpha val="3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18" name="TextBox 117">
                <a:extLst>
                  <a:ext uri="{FF2B5EF4-FFF2-40B4-BE49-F238E27FC236}">
                    <a16:creationId xmlns:a16="http://schemas.microsoft.com/office/drawing/2014/main" id="{901BB065-98D6-AEBC-116F-FA889B92001D}"/>
                  </a:ext>
                </a:extLst>
              </p:cNvPr>
              <p:cNvSpPr txBox="1"/>
              <p:nvPr/>
            </p:nvSpPr>
            <p:spPr>
              <a:xfrm>
                <a:off x="8587616" y="4198326"/>
                <a:ext cx="397564" cy="261610"/>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100" b="1" i="1" smtClean="0">
                              <a:solidFill>
                                <a:schemeClr val="tx1"/>
                              </a:solidFill>
                              <a:latin typeface="Cambria Math" panose="02040503050406030204" pitchFamily="18" charset="0"/>
                            </a:rPr>
                          </m:ctrlPr>
                        </m:sSubPr>
                        <m:e>
                          <m:r>
                            <a:rPr lang="en-GB" sz="1100" b="1" i="1" smtClean="0">
                              <a:solidFill>
                                <a:schemeClr val="tx1"/>
                              </a:solidFill>
                              <a:latin typeface="Cambria Math" panose="02040503050406030204" pitchFamily="18" charset="0"/>
                            </a:rPr>
                            <m:t>𝑽</m:t>
                          </m:r>
                        </m:e>
                        <m:sub>
                          <m:r>
                            <a:rPr lang="en-GB" sz="1100" b="1" i="1" smtClean="0">
                              <a:solidFill>
                                <a:schemeClr val="tx1"/>
                              </a:solidFill>
                              <a:latin typeface="Cambria Math" panose="02040503050406030204" pitchFamily="18" charset="0"/>
                            </a:rPr>
                            <m:t>𝒅𝒄</m:t>
                          </m:r>
                        </m:sub>
                      </m:sSub>
                    </m:oMath>
                  </m:oMathPara>
                </a14:m>
                <a:endParaRPr lang="en-US" sz="1100" b="1" dirty="0">
                  <a:solidFill>
                    <a:schemeClr val="tx1"/>
                  </a:solidFill>
                </a:endParaRPr>
              </a:p>
            </p:txBody>
          </p:sp>
        </mc:Choice>
        <mc:Fallback xmlns="">
          <p:sp>
            <p:nvSpPr>
              <p:cNvPr id="118" name="TextBox 117">
                <a:extLst>
                  <a:ext uri="{FF2B5EF4-FFF2-40B4-BE49-F238E27FC236}">
                    <a16:creationId xmlns:a16="http://schemas.microsoft.com/office/drawing/2014/main" id="{901BB065-98D6-AEBC-116F-FA889B92001D}"/>
                  </a:ext>
                </a:extLst>
              </p:cNvPr>
              <p:cNvSpPr txBox="1">
                <a:spLocks noRot="1" noChangeAspect="1" noMove="1" noResize="1" noEditPoints="1" noAdjustHandles="1" noChangeArrowheads="1" noChangeShapeType="1" noTextEdit="1"/>
              </p:cNvSpPr>
              <p:nvPr/>
            </p:nvSpPr>
            <p:spPr>
              <a:xfrm>
                <a:off x="8587616" y="4198326"/>
                <a:ext cx="397564" cy="261610"/>
              </a:xfrm>
              <a:prstGeom prst="rect">
                <a:avLst/>
              </a:prstGeom>
              <a:blipFill>
                <a:blip r:embed="rId10"/>
                <a:stretch>
                  <a:fillRect/>
                </a:stretch>
              </a:blipFill>
              <a:ln>
                <a:solidFill>
                  <a:schemeClr val="bg1"/>
                </a:solidFill>
              </a:ln>
            </p:spPr>
            <p:txBody>
              <a:bodyPr/>
              <a:lstStyle/>
              <a:p>
                <a:r>
                  <a:rPr lang="en-GB">
                    <a:noFill/>
                  </a:rPr>
                  <a:t> </a:t>
                </a:r>
              </a:p>
            </p:txBody>
          </p:sp>
        </mc:Fallback>
      </mc:AlternateContent>
      <p:sp>
        <p:nvSpPr>
          <p:cNvPr id="88" name="Rectangle 87">
            <a:extLst>
              <a:ext uri="{FF2B5EF4-FFF2-40B4-BE49-F238E27FC236}">
                <a16:creationId xmlns:a16="http://schemas.microsoft.com/office/drawing/2014/main" id="{A56BCE7F-C7DD-5477-0FC6-772E365EA17B}"/>
              </a:ext>
            </a:extLst>
          </p:cNvPr>
          <p:cNvSpPr/>
          <p:nvPr/>
        </p:nvSpPr>
        <p:spPr>
          <a:xfrm>
            <a:off x="8081942" y="4208562"/>
            <a:ext cx="850985" cy="227864"/>
          </a:xfrm>
          <a:prstGeom prst="rect">
            <a:avLst/>
          </a:prstGeom>
          <a:solidFill>
            <a:srgbClr val="0070C0">
              <a:alpha val="3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67465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1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89"/>
                                        </p:tgtEl>
                                        <p:attrNameLst>
                                          <p:attrName>style.visibility</p:attrName>
                                        </p:attrNameLst>
                                      </p:cBhvr>
                                      <p:to>
                                        <p:strVal val="visible"/>
                                      </p:to>
                                    </p:set>
                                  </p:childTnLst>
                                </p:cTn>
                              </p:par>
                              <p:par>
                                <p:cTn id="47" presetID="1" presetClass="exit" presetSubtype="0" fill="hold" nodeType="withEffect">
                                  <p:stCondLst>
                                    <p:cond delay="0"/>
                                  </p:stCondLst>
                                  <p:childTnLst>
                                    <p:set>
                                      <p:cBhvr>
                                        <p:cTn id="48" dur="1" fill="hold">
                                          <p:stCondLst>
                                            <p:cond delay="0"/>
                                          </p:stCondLst>
                                        </p:cTn>
                                        <p:tgtEl>
                                          <p:spTgt spid="85"/>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0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6" grpId="0" animBg="1"/>
      <p:bldP spid="7" grpId="0" animBg="1"/>
      <p:bldP spid="8" grpId="0" animBg="1"/>
      <p:bldP spid="117" grpId="0" animBg="1"/>
      <p:bldP spid="8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2" name="Group 161">
            <a:extLst>
              <a:ext uri="{FF2B5EF4-FFF2-40B4-BE49-F238E27FC236}">
                <a16:creationId xmlns:a16="http://schemas.microsoft.com/office/drawing/2014/main" id="{33577B73-66E6-91E9-4781-DCD4312D1ACF}"/>
              </a:ext>
            </a:extLst>
          </p:cNvPr>
          <p:cNvGrpSpPr/>
          <p:nvPr/>
        </p:nvGrpSpPr>
        <p:grpSpPr>
          <a:xfrm>
            <a:off x="829730" y="5236105"/>
            <a:ext cx="4202685" cy="868911"/>
            <a:chOff x="829730" y="5236105"/>
            <a:chExt cx="4202685" cy="868911"/>
          </a:xfrm>
        </p:grpSpPr>
        <p:pic>
          <p:nvPicPr>
            <p:cNvPr id="86" name="Picture 85">
              <a:extLst>
                <a:ext uri="{FF2B5EF4-FFF2-40B4-BE49-F238E27FC236}">
                  <a16:creationId xmlns:a16="http://schemas.microsoft.com/office/drawing/2014/main" id="{BF3A9856-7368-233F-16FE-AE8A81904EA9}"/>
                </a:ext>
              </a:extLst>
            </p:cNvPr>
            <p:cNvPicPr>
              <a:picLocks noChangeAspect="1"/>
            </p:cNvPicPr>
            <p:nvPr/>
          </p:nvPicPr>
          <p:blipFill>
            <a:blip r:embed="rId3"/>
            <a:stretch>
              <a:fillRect/>
            </a:stretch>
          </p:blipFill>
          <p:spPr>
            <a:xfrm>
              <a:off x="829730" y="5236105"/>
              <a:ext cx="4202685" cy="868911"/>
            </a:xfrm>
            <a:prstGeom prst="rect">
              <a:avLst/>
            </a:prstGeom>
          </p:spPr>
        </p:pic>
        <mc:AlternateContent xmlns:mc="http://schemas.openxmlformats.org/markup-compatibility/2006" xmlns:a14="http://schemas.microsoft.com/office/drawing/2010/main">
          <mc:Choice Requires="a14">
            <p:sp>
              <p:nvSpPr>
                <p:cNvPr id="160" name="TextBox 159">
                  <a:extLst>
                    <a:ext uri="{FF2B5EF4-FFF2-40B4-BE49-F238E27FC236}">
                      <a16:creationId xmlns:a16="http://schemas.microsoft.com/office/drawing/2014/main" id="{C7ABC91A-4029-4961-A8F8-DEDF3EB14723}"/>
                    </a:ext>
                  </a:extLst>
                </p:cNvPr>
                <p:cNvSpPr txBox="1"/>
                <p:nvPr/>
              </p:nvSpPr>
              <p:spPr>
                <a:xfrm>
                  <a:off x="4584051" y="5613245"/>
                  <a:ext cx="442799" cy="261610"/>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100" b="1" i="1" smtClean="0">
                                <a:solidFill>
                                  <a:srgbClr val="836967"/>
                                </a:solidFill>
                                <a:latin typeface="Cambria Math" panose="02040503050406030204" pitchFamily="18" charset="0"/>
                              </a:rPr>
                            </m:ctrlPr>
                          </m:sSubPr>
                          <m:e>
                            <m:r>
                              <a:rPr lang="en-GB" sz="1100" b="1" i="1" smtClean="0">
                                <a:solidFill>
                                  <a:srgbClr val="836967"/>
                                </a:solidFill>
                                <a:latin typeface="Cambria Math" panose="02040503050406030204" pitchFamily="18" charset="0"/>
                              </a:rPr>
                              <m:t>𝑽</m:t>
                            </m:r>
                          </m:e>
                          <m:sub>
                            <m:r>
                              <a:rPr lang="en-GB" sz="1100" b="1" i="1" smtClean="0">
                                <a:latin typeface="Cambria Math" panose="02040503050406030204" pitchFamily="18" charset="0"/>
                              </a:rPr>
                              <m:t>𝒅𝒄</m:t>
                            </m:r>
                          </m:sub>
                        </m:sSub>
                      </m:oMath>
                    </m:oMathPara>
                  </a14:m>
                  <a:endParaRPr lang="en-US" sz="1100" b="1" dirty="0"/>
                </a:p>
              </p:txBody>
            </p:sp>
          </mc:Choice>
          <mc:Fallback xmlns="">
            <p:sp>
              <p:nvSpPr>
                <p:cNvPr id="160" name="TextBox 159">
                  <a:extLst>
                    <a:ext uri="{FF2B5EF4-FFF2-40B4-BE49-F238E27FC236}">
                      <a16:creationId xmlns:a16="http://schemas.microsoft.com/office/drawing/2014/main" id="{C7ABC91A-4029-4961-A8F8-DEDF3EB14723}"/>
                    </a:ext>
                  </a:extLst>
                </p:cNvPr>
                <p:cNvSpPr txBox="1">
                  <a:spLocks noRot="1" noChangeAspect="1" noMove="1" noResize="1" noEditPoints="1" noAdjustHandles="1" noChangeArrowheads="1" noChangeShapeType="1" noTextEdit="1"/>
                </p:cNvSpPr>
                <p:nvPr/>
              </p:nvSpPr>
              <p:spPr>
                <a:xfrm>
                  <a:off x="4584051" y="5613245"/>
                  <a:ext cx="442799" cy="261610"/>
                </a:xfrm>
                <a:prstGeom prst="rect">
                  <a:avLst/>
                </a:prstGeom>
                <a:blipFill>
                  <a:blip r:embed="rId4"/>
                  <a:stretch>
                    <a:fillRect/>
                  </a:stretch>
                </a:blipFill>
                <a:ln>
                  <a:solidFill>
                    <a:schemeClr val="bg1"/>
                  </a:solidFill>
                </a:ln>
              </p:spPr>
              <p:txBody>
                <a:bodyPr/>
                <a:lstStyle/>
                <a:p>
                  <a:r>
                    <a:rPr lang="en-GB">
                      <a:noFill/>
                    </a:rPr>
                    <a:t> </a:t>
                  </a:r>
                </a:p>
              </p:txBody>
            </p:sp>
          </mc:Fallback>
        </mc:AlternateContent>
      </p:grpSp>
      <p:grpSp>
        <p:nvGrpSpPr>
          <p:cNvPr id="163" name="Group 162">
            <a:extLst>
              <a:ext uri="{FF2B5EF4-FFF2-40B4-BE49-F238E27FC236}">
                <a16:creationId xmlns:a16="http://schemas.microsoft.com/office/drawing/2014/main" id="{55D5FCF4-50EA-54C7-1C5E-0053C68B37B1}"/>
              </a:ext>
            </a:extLst>
          </p:cNvPr>
          <p:cNvGrpSpPr/>
          <p:nvPr/>
        </p:nvGrpSpPr>
        <p:grpSpPr>
          <a:xfrm>
            <a:off x="774722" y="3804116"/>
            <a:ext cx="4244712" cy="892458"/>
            <a:chOff x="774722" y="3804116"/>
            <a:chExt cx="4244712" cy="892458"/>
          </a:xfrm>
        </p:grpSpPr>
        <p:pic>
          <p:nvPicPr>
            <p:cNvPr id="45" name="Picture 44">
              <a:extLst>
                <a:ext uri="{FF2B5EF4-FFF2-40B4-BE49-F238E27FC236}">
                  <a16:creationId xmlns:a16="http://schemas.microsoft.com/office/drawing/2014/main" id="{0DC031FA-1690-0C0C-933C-0801571969BD}"/>
                </a:ext>
              </a:extLst>
            </p:cNvPr>
            <p:cNvPicPr>
              <a:picLocks noChangeAspect="1"/>
            </p:cNvPicPr>
            <p:nvPr/>
          </p:nvPicPr>
          <p:blipFill>
            <a:blip r:embed="rId5"/>
            <a:stretch>
              <a:fillRect/>
            </a:stretch>
          </p:blipFill>
          <p:spPr>
            <a:xfrm>
              <a:off x="774722" y="3804116"/>
              <a:ext cx="4244712" cy="892458"/>
            </a:xfrm>
            <a:prstGeom prst="rect">
              <a:avLst/>
            </a:prstGeom>
          </p:spPr>
        </p:pic>
        <mc:AlternateContent xmlns:mc="http://schemas.openxmlformats.org/markup-compatibility/2006" xmlns:a14="http://schemas.microsoft.com/office/drawing/2010/main">
          <mc:Choice Requires="a14">
            <p:sp>
              <p:nvSpPr>
                <p:cNvPr id="161" name="TextBox 160">
                  <a:extLst>
                    <a:ext uri="{FF2B5EF4-FFF2-40B4-BE49-F238E27FC236}">
                      <a16:creationId xmlns:a16="http://schemas.microsoft.com/office/drawing/2014/main" id="{0F69A9B7-20DE-B2AE-80D6-EB9ECD067C77}"/>
                    </a:ext>
                  </a:extLst>
                </p:cNvPr>
                <p:cNvSpPr txBox="1"/>
                <p:nvPr/>
              </p:nvSpPr>
              <p:spPr>
                <a:xfrm>
                  <a:off x="4538977" y="4144020"/>
                  <a:ext cx="442799" cy="261610"/>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100" b="1" i="1" smtClean="0">
                                <a:solidFill>
                                  <a:srgbClr val="836967"/>
                                </a:solidFill>
                                <a:latin typeface="Cambria Math" panose="02040503050406030204" pitchFamily="18" charset="0"/>
                              </a:rPr>
                            </m:ctrlPr>
                          </m:sSubPr>
                          <m:e>
                            <m:r>
                              <a:rPr lang="en-GB" sz="1100" b="1" i="1" smtClean="0">
                                <a:solidFill>
                                  <a:srgbClr val="836967"/>
                                </a:solidFill>
                                <a:latin typeface="Cambria Math" panose="02040503050406030204" pitchFamily="18" charset="0"/>
                              </a:rPr>
                              <m:t>𝑽</m:t>
                            </m:r>
                          </m:e>
                          <m:sub>
                            <m:r>
                              <a:rPr lang="en-GB" sz="1100" b="1" i="1" smtClean="0">
                                <a:latin typeface="Cambria Math" panose="02040503050406030204" pitchFamily="18" charset="0"/>
                              </a:rPr>
                              <m:t>𝒅𝒄</m:t>
                            </m:r>
                          </m:sub>
                        </m:sSub>
                      </m:oMath>
                    </m:oMathPara>
                  </a14:m>
                  <a:endParaRPr lang="en-US" sz="1100" b="1" dirty="0"/>
                </a:p>
              </p:txBody>
            </p:sp>
          </mc:Choice>
          <mc:Fallback xmlns="">
            <p:sp>
              <p:nvSpPr>
                <p:cNvPr id="161" name="TextBox 160">
                  <a:extLst>
                    <a:ext uri="{FF2B5EF4-FFF2-40B4-BE49-F238E27FC236}">
                      <a16:creationId xmlns:a16="http://schemas.microsoft.com/office/drawing/2014/main" id="{0F69A9B7-20DE-B2AE-80D6-EB9ECD067C77}"/>
                    </a:ext>
                  </a:extLst>
                </p:cNvPr>
                <p:cNvSpPr txBox="1">
                  <a:spLocks noRot="1" noChangeAspect="1" noMove="1" noResize="1" noEditPoints="1" noAdjustHandles="1" noChangeArrowheads="1" noChangeShapeType="1" noTextEdit="1"/>
                </p:cNvSpPr>
                <p:nvPr/>
              </p:nvSpPr>
              <p:spPr>
                <a:xfrm>
                  <a:off x="4538977" y="4144020"/>
                  <a:ext cx="442799" cy="261610"/>
                </a:xfrm>
                <a:prstGeom prst="rect">
                  <a:avLst/>
                </a:prstGeom>
                <a:blipFill>
                  <a:blip r:embed="rId6"/>
                  <a:stretch>
                    <a:fillRect/>
                  </a:stretch>
                </a:blipFill>
                <a:ln>
                  <a:solidFill>
                    <a:schemeClr val="bg1"/>
                  </a:solidFill>
                </a:ln>
              </p:spPr>
              <p:txBody>
                <a:bodyPr/>
                <a:lstStyle/>
                <a:p>
                  <a:r>
                    <a:rPr lang="en-GB">
                      <a:noFill/>
                    </a:rPr>
                    <a:t> </a:t>
                  </a:r>
                </a:p>
              </p:txBody>
            </p:sp>
          </mc:Fallback>
        </mc:AlternateContent>
      </p:grpSp>
      <p:pic>
        <p:nvPicPr>
          <p:cNvPr id="102" name="Picture 101">
            <a:extLst>
              <a:ext uri="{FF2B5EF4-FFF2-40B4-BE49-F238E27FC236}">
                <a16:creationId xmlns:a16="http://schemas.microsoft.com/office/drawing/2014/main" id="{55F36415-75D9-86EF-7F53-9306DA729E0A}"/>
              </a:ext>
            </a:extLst>
          </p:cNvPr>
          <p:cNvPicPr>
            <a:picLocks noChangeAspect="1"/>
          </p:cNvPicPr>
          <p:nvPr/>
        </p:nvPicPr>
        <p:blipFill>
          <a:blip r:embed="rId7"/>
          <a:stretch>
            <a:fillRect/>
          </a:stretch>
        </p:blipFill>
        <p:spPr>
          <a:xfrm>
            <a:off x="5330369" y="4144020"/>
            <a:ext cx="3715268" cy="581106"/>
          </a:xfrm>
          <a:prstGeom prst="rect">
            <a:avLst/>
          </a:prstGeom>
        </p:spPr>
      </p:pic>
      <p:pic>
        <p:nvPicPr>
          <p:cNvPr id="3" name="Picture 2">
            <a:extLst>
              <a:ext uri="{FF2B5EF4-FFF2-40B4-BE49-F238E27FC236}">
                <a16:creationId xmlns:a16="http://schemas.microsoft.com/office/drawing/2014/main" id="{5FB37124-B68C-94AF-249D-0A9F6CF5799B}"/>
              </a:ext>
            </a:extLst>
          </p:cNvPr>
          <p:cNvPicPr>
            <a:picLocks noChangeAspect="1"/>
          </p:cNvPicPr>
          <p:nvPr/>
        </p:nvPicPr>
        <p:blipFill>
          <a:blip r:embed="rId8"/>
          <a:stretch>
            <a:fillRect/>
          </a:stretch>
        </p:blipFill>
        <p:spPr>
          <a:xfrm>
            <a:off x="951879" y="2223027"/>
            <a:ext cx="4167639" cy="1715387"/>
          </a:xfrm>
          <a:prstGeom prst="rect">
            <a:avLst/>
          </a:prstGeom>
        </p:spPr>
      </p:pic>
      <p:pic>
        <p:nvPicPr>
          <p:cNvPr id="19" name="Picture 18">
            <a:extLst>
              <a:ext uri="{FF2B5EF4-FFF2-40B4-BE49-F238E27FC236}">
                <a16:creationId xmlns:a16="http://schemas.microsoft.com/office/drawing/2014/main" id="{A9D47764-B182-A19A-EC34-A0AB5011FE8E}"/>
              </a:ext>
            </a:extLst>
          </p:cNvPr>
          <p:cNvPicPr>
            <a:picLocks noChangeAspect="1"/>
          </p:cNvPicPr>
          <p:nvPr/>
        </p:nvPicPr>
        <p:blipFill>
          <a:blip r:embed="rId9"/>
          <a:stretch>
            <a:fillRect/>
          </a:stretch>
        </p:blipFill>
        <p:spPr>
          <a:xfrm>
            <a:off x="6253182" y="1639946"/>
            <a:ext cx="2818997" cy="2193997"/>
          </a:xfrm>
          <a:prstGeom prst="rect">
            <a:avLst/>
          </a:prstGeom>
        </p:spPr>
      </p:pic>
      <p:sp>
        <p:nvSpPr>
          <p:cNvPr id="2" name="Title 1">
            <a:extLst>
              <a:ext uri="{FF2B5EF4-FFF2-40B4-BE49-F238E27FC236}">
                <a16:creationId xmlns:a16="http://schemas.microsoft.com/office/drawing/2014/main" id="{83CDAB49-4E83-D5C9-EF6D-0F2CE1E6855E}"/>
              </a:ext>
            </a:extLst>
          </p:cNvPr>
          <p:cNvSpPr>
            <a:spLocks noGrp="1"/>
          </p:cNvSpPr>
          <p:nvPr>
            <p:ph type="title"/>
          </p:nvPr>
        </p:nvSpPr>
        <p:spPr>
          <a:xfrm>
            <a:off x="185741" y="125608"/>
            <a:ext cx="7886700" cy="721053"/>
          </a:xfrm>
        </p:spPr>
        <p:txBody>
          <a:bodyPr/>
          <a:lstStyle/>
          <a:p>
            <a:r>
              <a:rPr lang="en-US" dirty="0"/>
              <a:t>Operation</a:t>
            </a:r>
          </a:p>
        </p:txBody>
      </p:sp>
      <mc:AlternateContent xmlns:mc="http://schemas.openxmlformats.org/markup-compatibility/2006" xmlns:a14="http://schemas.microsoft.com/office/drawing/2010/main">
        <mc:Choice Requires="a14">
          <p:sp>
            <p:nvSpPr>
              <p:cNvPr id="17" name="Title 1">
                <a:extLst>
                  <a:ext uri="{FF2B5EF4-FFF2-40B4-BE49-F238E27FC236}">
                    <a16:creationId xmlns:a16="http://schemas.microsoft.com/office/drawing/2014/main" id="{4100A584-C9BA-C39F-A4D3-ABF895CCF570}"/>
                  </a:ext>
                </a:extLst>
              </p:cNvPr>
              <p:cNvSpPr txBox="1">
                <a:spLocks/>
              </p:cNvSpPr>
              <p:nvPr/>
            </p:nvSpPr>
            <p:spPr>
              <a:xfrm>
                <a:off x="301488" y="744287"/>
                <a:ext cx="8358064" cy="1221877"/>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Tx/>
                  <a:buChar char="-"/>
                </a:pPr>
                <a:r>
                  <a:rPr lang="en-US" sz="2800" b="1" dirty="0"/>
                  <a:t>Pulse Width Modulation (PWM) Switching - Unipolar</a:t>
                </a:r>
              </a:p>
              <a:p>
                <a:pPr marL="914400" lvl="1" indent="-457200">
                  <a:buFontTx/>
                  <a:buChar char="-"/>
                </a:pPr>
                <a14:m>
                  <m:oMath xmlns:m="http://schemas.openxmlformats.org/officeDocument/2006/math">
                    <m:sSub>
                      <m:sSubPr>
                        <m:ctrlPr>
                          <a:rPr lang="en-US" sz="2000" b="1" i="1">
                            <a:solidFill>
                              <a:srgbClr val="836967"/>
                            </a:solidFill>
                            <a:latin typeface="Cambria Math" panose="02040503050406030204" pitchFamily="18" charset="0"/>
                          </a:rPr>
                        </m:ctrlPr>
                      </m:sSubPr>
                      <m:e>
                        <m:r>
                          <a:rPr lang="en-US" sz="2000" b="1" i="1">
                            <a:latin typeface="Cambria Math" panose="02040503050406030204" pitchFamily="18" charset="0"/>
                          </a:rPr>
                          <m:t>𝒗</m:t>
                        </m:r>
                      </m:e>
                      <m:sub>
                        <m:r>
                          <a:rPr lang="en-GB" sz="2000" b="1" i="1">
                            <a:latin typeface="Cambria Math" panose="02040503050406030204" pitchFamily="18" charset="0"/>
                          </a:rPr>
                          <m:t>𝒕𝒓𝒊</m:t>
                        </m:r>
                      </m:sub>
                    </m:sSub>
                  </m:oMath>
                </a14:m>
                <a:r>
                  <a:rPr lang="en-US" sz="2000" dirty="0"/>
                  <a:t> (Triangular Signal) is compared with</a:t>
                </a:r>
                <a14:m>
                  <m:oMath xmlns:m="http://schemas.openxmlformats.org/officeDocument/2006/math">
                    <m:sSub>
                      <m:sSubPr>
                        <m:ctrlPr>
                          <a:rPr lang="en-US" sz="2000" b="1" i="1" smtClean="0">
                            <a:solidFill>
                              <a:srgbClr val="836967"/>
                            </a:solidFill>
                            <a:latin typeface="Cambria Math" panose="02040503050406030204" pitchFamily="18" charset="0"/>
                          </a:rPr>
                        </m:ctrlPr>
                      </m:sSubPr>
                      <m:e>
                        <m:r>
                          <a:rPr lang="en-GB" sz="2000" b="1" i="1" smtClean="0">
                            <a:solidFill>
                              <a:srgbClr val="836967"/>
                            </a:solidFill>
                            <a:latin typeface="Cambria Math" panose="02040503050406030204" pitchFamily="18" charset="0"/>
                          </a:rPr>
                          <m:t>  </m:t>
                        </m:r>
                        <m:r>
                          <a:rPr lang="en-US" sz="2000" b="1" i="1">
                            <a:latin typeface="Cambria Math" panose="02040503050406030204" pitchFamily="18" charset="0"/>
                          </a:rPr>
                          <m:t>𝒗</m:t>
                        </m:r>
                      </m:e>
                      <m:sub>
                        <m:r>
                          <a:rPr lang="en-GB" sz="2000" b="1" i="1" smtClean="0">
                            <a:latin typeface="Cambria Math" panose="02040503050406030204" pitchFamily="18" charset="0"/>
                          </a:rPr>
                          <m:t>𝒄𝒐𝒏𝒕𝒓𝒐𝒍</m:t>
                        </m:r>
                      </m:sub>
                    </m:sSub>
                  </m:oMath>
                </a14:m>
                <a:r>
                  <a:rPr lang="en-US" sz="2000" dirty="0"/>
                  <a:t> &amp;</a:t>
                </a:r>
                <a14:m>
                  <m:oMath xmlns:m="http://schemas.openxmlformats.org/officeDocument/2006/math">
                    <m:sSub>
                      <m:sSubPr>
                        <m:ctrlPr>
                          <a:rPr lang="en-US" sz="2000" b="1" i="1">
                            <a:solidFill>
                              <a:srgbClr val="836967"/>
                            </a:solidFill>
                            <a:latin typeface="Cambria Math" panose="02040503050406030204" pitchFamily="18" charset="0"/>
                          </a:rPr>
                        </m:ctrlPr>
                      </m:sSubPr>
                      <m:e>
                        <m:r>
                          <a:rPr lang="en-GB" sz="2000" b="1" i="1">
                            <a:solidFill>
                              <a:srgbClr val="836967"/>
                            </a:solidFill>
                            <a:latin typeface="Cambria Math" panose="02040503050406030204" pitchFamily="18" charset="0"/>
                          </a:rPr>
                          <m:t> </m:t>
                        </m:r>
                        <m:r>
                          <a:rPr lang="en-GB" sz="2000" b="1" i="1" smtClean="0">
                            <a:solidFill>
                              <a:srgbClr val="836967"/>
                            </a:solidFill>
                            <a:latin typeface="Cambria Math" panose="02040503050406030204" pitchFamily="18" charset="0"/>
                          </a:rPr>
                          <m:t>−</m:t>
                        </m:r>
                        <m:r>
                          <a:rPr lang="en-US" sz="2000" b="1" i="1">
                            <a:latin typeface="Cambria Math" panose="02040503050406030204" pitchFamily="18" charset="0"/>
                          </a:rPr>
                          <m:t>𝒗</m:t>
                        </m:r>
                      </m:e>
                      <m:sub>
                        <m:r>
                          <a:rPr lang="en-GB" sz="2000" b="1" i="1">
                            <a:latin typeface="Cambria Math" panose="02040503050406030204" pitchFamily="18" charset="0"/>
                          </a:rPr>
                          <m:t>𝒄𝒐𝒏𝒕𝒓𝒐𝒍</m:t>
                        </m:r>
                      </m:sub>
                    </m:sSub>
                  </m:oMath>
                </a14:m>
                <a:endParaRPr lang="en-US" sz="2000" dirty="0"/>
              </a:p>
              <a:p>
                <a:pPr marL="914400" lvl="1" indent="-457200">
                  <a:buFontTx/>
                  <a:buChar char="-"/>
                </a:pPr>
                <a:r>
                  <a:rPr lang="en-US" sz="2000" dirty="0"/>
                  <a:t>Based on comparison result different switches are made closed (ON) and open (OFF)</a:t>
                </a:r>
              </a:p>
            </p:txBody>
          </p:sp>
        </mc:Choice>
        <mc:Fallback xmlns="">
          <p:sp>
            <p:nvSpPr>
              <p:cNvPr id="17" name="Title 1">
                <a:extLst>
                  <a:ext uri="{FF2B5EF4-FFF2-40B4-BE49-F238E27FC236}">
                    <a16:creationId xmlns:a16="http://schemas.microsoft.com/office/drawing/2014/main" id="{4100A584-C9BA-C39F-A4D3-ABF895CCF570}"/>
                  </a:ext>
                </a:extLst>
              </p:cNvPr>
              <p:cNvSpPr txBox="1">
                <a:spLocks noRot="1" noChangeAspect="1" noMove="1" noResize="1" noEditPoints="1" noAdjustHandles="1" noChangeArrowheads="1" noChangeShapeType="1" noTextEdit="1"/>
              </p:cNvSpPr>
              <p:nvPr/>
            </p:nvSpPr>
            <p:spPr>
              <a:xfrm>
                <a:off x="301488" y="744287"/>
                <a:ext cx="8358064" cy="1221877"/>
              </a:xfrm>
              <a:prstGeom prst="rect">
                <a:avLst/>
              </a:prstGeom>
              <a:blipFill>
                <a:blip r:embed="rId10"/>
                <a:stretch>
                  <a:fillRect l="-1312" t="-9453" b="-7463"/>
                </a:stretch>
              </a:blipFill>
            </p:spPr>
            <p:txBody>
              <a:bodyPr/>
              <a:lstStyle/>
              <a:p>
                <a:r>
                  <a:rPr lang="en-GB">
                    <a:noFill/>
                  </a:rPr>
                  <a:t> </a:t>
                </a:r>
              </a:p>
            </p:txBody>
          </p:sp>
        </mc:Fallback>
      </mc:AlternateContent>
      <p:grpSp>
        <p:nvGrpSpPr>
          <p:cNvPr id="104" name="Group 103">
            <a:extLst>
              <a:ext uri="{FF2B5EF4-FFF2-40B4-BE49-F238E27FC236}">
                <a16:creationId xmlns:a16="http://schemas.microsoft.com/office/drawing/2014/main" id="{81FD3AE2-57F8-F7EE-46A4-D8CA114335F1}"/>
              </a:ext>
            </a:extLst>
          </p:cNvPr>
          <p:cNvGrpSpPr/>
          <p:nvPr/>
        </p:nvGrpSpPr>
        <p:grpSpPr>
          <a:xfrm>
            <a:off x="1083739" y="2258065"/>
            <a:ext cx="3229100" cy="4215645"/>
            <a:chOff x="1083739" y="2258065"/>
            <a:chExt cx="3229100" cy="4215645"/>
          </a:xfrm>
        </p:grpSpPr>
        <p:cxnSp>
          <p:nvCxnSpPr>
            <p:cNvPr id="25" name="Straight Connector 24">
              <a:extLst>
                <a:ext uri="{FF2B5EF4-FFF2-40B4-BE49-F238E27FC236}">
                  <a16:creationId xmlns:a16="http://schemas.microsoft.com/office/drawing/2014/main" id="{AA2CBCD0-7921-7D42-87FA-8DE4B15F8468}"/>
                </a:ext>
              </a:extLst>
            </p:cNvPr>
            <p:cNvCxnSpPr>
              <a:cxnSpLocks/>
            </p:cNvCxnSpPr>
            <p:nvPr/>
          </p:nvCxnSpPr>
          <p:spPr>
            <a:xfrm flipV="1">
              <a:off x="1210109" y="2267496"/>
              <a:ext cx="403" cy="416661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2E8D4435-C0AC-F406-A802-7F0B44810FBF}"/>
                </a:ext>
              </a:extLst>
            </p:cNvPr>
            <p:cNvCxnSpPr>
              <a:cxnSpLocks/>
            </p:cNvCxnSpPr>
            <p:nvPr/>
          </p:nvCxnSpPr>
          <p:spPr>
            <a:xfrm flipV="1">
              <a:off x="1083739" y="2264702"/>
              <a:ext cx="403" cy="416661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ECBBE1E5-AEB5-FD00-5519-5351E885257D}"/>
                </a:ext>
              </a:extLst>
            </p:cNvPr>
            <p:cNvCxnSpPr>
              <a:cxnSpLocks/>
            </p:cNvCxnSpPr>
            <p:nvPr/>
          </p:nvCxnSpPr>
          <p:spPr>
            <a:xfrm flipV="1">
              <a:off x="1384811" y="2265629"/>
              <a:ext cx="403" cy="416661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AF8DE2DC-86C3-7E24-0828-173B1501C4EE}"/>
                </a:ext>
              </a:extLst>
            </p:cNvPr>
            <p:cNvCxnSpPr>
              <a:cxnSpLocks/>
            </p:cNvCxnSpPr>
            <p:nvPr/>
          </p:nvCxnSpPr>
          <p:spPr>
            <a:xfrm flipV="1">
              <a:off x="1466141" y="2264956"/>
              <a:ext cx="403" cy="416661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F05A3139-D63A-1DB2-56CD-0889C9284B8D}"/>
                </a:ext>
              </a:extLst>
            </p:cNvPr>
            <p:cNvCxnSpPr>
              <a:cxnSpLocks/>
            </p:cNvCxnSpPr>
            <p:nvPr/>
          </p:nvCxnSpPr>
          <p:spPr>
            <a:xfrm flipV="1">
              <a:off x="1683124" y="2271306"/>
              <a:ext cx="403" cy="416661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4EF65451-9595-3415-F74A-AE040E0FA51E}"/>
                </a:ext>
              </a:extLst>
            </p:cNvPr>
            <p:cNvCxnSpPr>
              <a:cxnSpLocks/>
            </p:cNvCxnSpPr>
            <p:nvPr/>
          </p:nvCxnSpPr>
          <p:spPr>
            <a:xfrm flipV="1">
              <a:off x="1737076" y="2264957"/>
              <a:ext cx="403" cy="416661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4446E90A-BC03-4BE0-0C84-96ED6291C191}"/>
                </a:ext>
              </a:extLst>
            </p:cNvPr>
            <p:cNvCxnSpPr>
              <a:cxnSpLocks/>
            </p:cNvCxnSpPr>
            <p:nvPr/>
          </p:nvCxnSpPr>
          <p:spPr>
            <a:xfrm flipV="1">
              <a:off x="3207916" y="2274991"/>
              <a:ext cx="403" cy="416661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E8CF1D15-C826-9813-AE0F-42602F17739B}"/>
                </a:ext>
              </a:extLst>
            </p:cNvPr>
            <p:cNvCxnSpPr>
              <a:cxnSpLocks/>
            </p:cNvCxnSpPr>
            <p:nvPr/>
          </p:nvCxnSpPr>
          <p:spPr>
            <a:xfrm flipV="1">
              <a:off x="1991130" y="2274070"/>
              <a:ext cx="0" cy="4126728"/>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49401D26-BFFC-5395-F750-F8DC8E1468BA}"/>
                </a:ext>
              </a:extLst>
            </p:cNvPr>
            <p:cNvCxnSpPr>
              <a:cxnSpLocks/>
            </p:cNvCxnSpPr>
            <p:nvPr/>
          </p:nvCxnSpPr>
          <p:spPr>
            <a:xfrm flipV="1">
              <a:off x="3005707" y="2272176"/>
              <a:ext cx="403" cy="416661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58255689-3727-E738-784C-0736B66AFF46}"/>
                </a:ext>
              </a:extLst>
            </p:cNvPr>
            <p:cNvCxnSpPr>
              <a:cxnSpLocks/>
            </p:cNvCxnSpPr>
            <p:nvPr/>
          </p:nvCxnSpPr>
          <p:spPr>
            <a:xfrm flipV="1">
              <a:off x="2596616" y="2307098"/>
              <a:ext cx="403" cy="416661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549EAF86-FACB-E954-7983-AF8ABFD062CB}"/>
                </a:ext>
              </a:extLst>
            </p:cNvPr>
            <p:cNvCxnSpPr>
              <a:cxnSpLocks/>
            </p:cNvCxnSpPr>
            <p:nvPr/>
          </p:nvCxnSpPr>
          <p:spPr>
            <a:xfrm flipV="1">
              <a:off x="2492362" y="2294246"/>
              <a:ext cx="403" cy="416661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3D788263-D4EB-5778-EA66-70CDD187CC72}"/>
                </a:ext>
              </a:extLst>
            </p:cNvPr>
            <p:cNvCxnSpPr>
              <a:cxnSpLocks/>
            </p:cNvCxnSpPr>
            <p:nvPr/>
          </p:nvCxnSpPr>
          <p:spPr>
            <a:xfrm flipV="1">
              <a:off x="3256022" y="2279606"/>
              <a:ext cx="403" cy="416661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DFCFF25A-7DBC-745B-54E0-85BF20E95DD6}"/>
                </a:ext>
              </a:extLst>
            </p:cNvPr>
            <p:cNvCxnSpPr>
              <a:cxnSpLocks/>
            </p:cNvCxnSpPr>
            <p:nvPr/>
          </p:nvCxnSpPr>
          <p:spPr>
            <a:xfrm flipV="1">
              <a:off x="3524250" y="2307131"/>
              <a:ext cx="40095" cy="4150819"/>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09D01722-FACC-D4A7-59B4-BE3546322F81}"/>
                </a:ext>
              </a:extLst>
            </p:cNvPr>
            <p:cNvCxnSpPr>
              <a:cxnSpLocks/>
            </p:cNvCxnSpPr>
            <p:nvPr/>
          </p:nvCxnSpPr>
          <p:spPr>
            <a:xfrm flipV="1">
              <a:off x="3490792" y="2274952"/>
              <a:ext cx="403" cy="416661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CF7A6ACD-8E4D-CD11-51DF-F6E87F17DCC9}"/>
                </a:ext>
              </a:extLst>
            </p:cNvPr>
            <p:cNvCxnSpPr>
              <a:cxnSpLocks/>
            </p:cNvCxnSpPr>
            <p:nvPr/>
          </p:nvCxnSpPr>
          <p:spPr>
            <a:xfrm flipV="1">
              <a:off x="3826957" y="2267162"/>
              <a:ext cx="403" cy="416661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E3EBB513-EB5E-90E1-983C-38CF574A8593}"/>
                </a:ext>
              </a:extLst>
            </p:cNvPr>
            <p:cNvCxnSpPr>
              <a:cxnSpLocks/>
            </p:cNvCxnSpPr>
            <p:nvPr/>
          </p:nvCxnSpPr>
          <p:spPr>
            <a:xfrm flipV="1">
              <a:off x="4042223" y="2276735"/>
              <a:ext cx="403" cy="416661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802CF6BA-0D9E-25BC-90AD-639D4D1C9849}"/>
                </a:ext>
              </a:extLst>
            </p:cNvPr>
            <p:cNvCxnSpPr>
              <a:cxnSpLocks/>
            </p:cNvCxnSpPr>
            <p:nvPr/>
          </p:nvCxnSpPr>
          <p:spPr>
            <a:xfrm flipV="1">
              <a:off x="4118979" y="2287629"/>
              <a:ext cx="403" cy="416661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21FB3C58-A098-6440-ADD1-6AA911037B27}"/>
                </a:ext>
              </a:extLst>
            </p:cNvPr>
            <p:cNvCxnSpPr>
              <a:cxnSpLocks/>
            </p:cNvCxnSpPr>
            <p:nvPr/>
          </p:nvCxnSpPr>
          <p:spPr>
            <a:xfrm flipV="1">
              <a:off x="4312839" y="2274580"/>
              <a:ext cx="0" cy="4166441"/>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B01775F0-3A91-896C-6364-418A2F190AFD}"/>
                </a:ext>
              </a:extLst>
            </p:cNvPr>
            <p:cNvCxnSpPr>
              <a:cxnSpLocks/>
            </p:cNvCxnSpPr>
            <p:nvPr/>
          </p:nvCxnSpPr>
          <p:spPr>
            <a:xfrm flipV="1">
              <a:off x="2766472" y="2282219"/>
              <a:ext cx="11925" cy="4132445"/>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FFC8BE27-DF0F-17D7-33CD-3C1390D3AAF4}"/>
                </a:ext>
              </a:extLst>
            </p:cNvPr>
            <p:cNvCxnSpPr>
              <a:cxnSpLocks/>
            </p:cNvCxnSpPr>
            <p:nvPr/>
          </p:nvCxnSpPr>
          <p:spPr>
            <a:xfrm flipV="1">
              <a:off x="3763682" y="2258065"/>
              <a:ext cx="403" cy="416661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ADF118C5-8AF7-FDBD-D6D0-811FD7DFCBC7}"/>
                </a:ext>
              </a:extLst>
            </p:cNvPr>
            <p:cNvCxnSpPr>
              <a:cxnSpLocks/>
            </p:cNvCxnSpPr>
            <p:nvPr/>
          </p:nvCxnSpPr>
          <p:spPr>
            <a:xfrm flipV="1">
              <a:off x="2293529" y="2266229"/>
              <a:ext cx="403" cy="416661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36054A90-EB19-3C2D-8224-B83612D0B05A}"/>
                </a:ext>
              </a:extLst>
            </p:cNvPr>
            <p:cNvCxnSpPr>
              <a:cxnSpLocks/>
            </p:cNvCxnSpPr>
            <p:nvPr/>
          </p:nvCxnSpPr>
          <p:spPr>
            <a:xfrm flipV="1">
              <a:off x="2232121" y="2259443"/>
              <a:ext cx="443" cy="416661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997D4E75-E459-C080-FC3A-6D6AB75A1935}"/>
                </a:ext>
              </a:extLst>
            </p:cNvPr>
            <p:cNvCxnSpPr>
              <a:cxnSpLocks/>
            </p:cNvCxnSpPr>
            <p:nvPr/>
          </p:nvCxnSpPr>
          <p:spPr>
            <a:xfrm flipV="1">
              <a:off x="1960927" y="2275300"/>
              <a:ext cx="403" cy="416661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43911ACB-36E1-39BA-D6D5-F0AE87A8E9ED}"/>
                </a:ext>
              </a:extLst>
            </p:cNvPr>
            <p:cNvCxnSpPr>
              <a:cxnSpLocks/>
            </p:cNvCxnSpPr>
            <p:nvPr/>
          </p:nvCxnSpPr>
          <p:spPr>
            <a:xfrm flipV="1">
              <a:off x="2899704" y="2284104"/>
              <a:ext cx="17552" cy="4169083"/>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grpSp>
      <p:grpSp>
        <p:nvGrpSpPr>
          <p:cNvPr id="103" name="Group 102">
            <a:extLst>
              <a:ext uri="{FF2B5EF4-FFF2-40B4-BE49-F238E27FC236}">
                <a16:creationId xmlns:a16="http://schemas.microsoft.com/office/drawing/2014/main" id="{843AC2A0-2305-5620-39AA-54014B38B8E6}"/>
              </a:ext>
            </a:extLst>
          </p:cNvPr>
          <p:cNvGrpSpPr/>
          <p:nvPr/>
        </p:nvGrpSpPr>
        <p:grpSpPr>
          <a:xfrm>
            <a:off x="1105127" y="2546735"/>
            <a:ext cx="3213981" cy="1226102"/>
            <a:chOff x="1098858" y="2542717"/>
            <a:chExt cx="3213981" cy="1226102"/>
          </a:xfrm>
        </p:grpSpPr>
        <p:sp>
          <p:nvSpPr>
            <p:cNvPr id="9" name="Free-form: Shape 8">
              <a:extLst>
                <a:ext uri="{FF2B5EF4-FFF2-40B4-BE49-F238E27FC236}">
                  <a16:creationId xmlns:a16="http://schemas.microsoft.com/office/drawing/2014/main" id="{468C9DF0-744E-8EFA-F817-FF6DA73EF672}"/>
                </a:ext>
              </a:extLst>
            </p:cNvPr>
            <p:cNvSpPr/>
            <p:nvPr/>
          </p:nvSpPr>
          <p:spPr>
            <a:xfrm flipH="1">
              <a:off x="1098858" y="3125847"/>
              <a:ext cx="101749" cy="527610"/>
            </a:xfrm>
            <a:custGeom>
              <a:avLst/>
              <a:gdLst>
                <a:gd name="connsiteX0" fmla="*/ 0 w 121534"/>
                <a:gd name="connsiteY0" fmla="*/ 144683 h 746567"/>
                <a:gd name="connsiteX1" fmla="*/ 52086 w 121534"/>
                <a:gd name="connsiteY1" fmla="*/ 746567 h 746567"/>
                <a:gd name="connsiteX2" fmla="*/ 121534 w 121534"/>
                <a:gd name="connsiteY2" fmla="*/ 0 h 746567"/>
                <a:gd name="connsiteX3" fmla="*/ 0 w 121534"/>
                <a:gd name="connsiteY3" fmla="*/ 144683 h 746567"/>
              </a:gdLst>
              <a:ahLst/>
              <a:cxnLst>
                <a:cxn ang="0">
                  <a:pos x="connsiteX0" y="connsiteY0"/>
                </a:cxn>
                <a:cxn ang="0">
                  <a:pos x="connsiteX1" y="connsiteY1"/>
                </a:cxn>
                <a:cxn ang="0">
                  <a:pos x="connsiteX2" y="connsiteY2"/>
                </a:cxn>
                <a:cxn ang="0">
                  <a:pos x="connsiteX3" y="connsiteY3"/>
                </a:cxn>
              </a:cxnLst>
              <a:rect l="l" t="t" r="r" b="b"/>
              <a:pathLst>
                <a:path w="121534" h="746567">
                  <a:moveTo>
                    <a:pt x="0" y="144683"/>
                  </a:moveTo>
                  <a:lnTo>
                    <a:pt x="52086" y="746567"/>
                  </a:lnTo>
                  <a:lnTo>
                    <a:pt x="121534" y="0"/>
                  </a:lnTo>
                  <a:lnTo>
                    <a:pt x="0" y="144683"/>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Free-form: Shape 9">
              <a:extLst>
                <a:ext uri="{FF2B5EF4-FFF2-40B4-BE49-F238E27FC236}">
                  <a16:creationId xmlns:a16="http://schemas.microsoft.com/office/drawing/2014/main" id="{6BF24B2B-536F-071A-5232-650E9D8C17D8}"/>
                </a:ext>
              </a:extLst>
            </p:cNvPr>
            <p:cNvSpPr/>
            <p:nvPr/>
          </p:nvSpPr>
          <p:spPr>
            <a:xfrm flipH="1">
              <a:off x="1378393" y="3368303"/>
              <a:ext cx="84356" cy="400516"/>
            </a:xfrm>
            <a:custGeom>
              <a:avLst/>
              <a:gdLst>
                <a:gd name="connsiteX0" fmla="*/ 0 w 121534"/>
                <a:gd name="connsiteY0" fmla="*/ 144683 h 746567"/>
                <a:gd name="connsiteX1" fmla="*/ 52086 w 121534"/>
                <a:gd name="connsiteY1" fmla="*/ 746567 h 746567"/>
                <a:gd name="connsiteX2" fmla="*/ 121534 w 121534"/>
                <a:gd name="connsiteY2" fmla="*/ 0 h 746567"/>
                <a:gd name="connsiteX3" fmla="*/ 0 w 121534"/>
                <a:gd name="connsiteY3" fmla="*/ 144683 h 746567"/>
              </a:gdLst>
              <a:ahLst/>
              <a:cxnLst>
                <a:cxn ang="0">
                  <a:pos x="connsiteX0" y="connsiteY0"/>
                </a:cxn>
                <a:cxn ang="0">
                  <a:pos x="connsiteX1" y="connsiteY1"/>
                </a:cxn>
                <a:cxn ang="0">
                  <a:pos x="connsiteX2" y="connsiteY2"/>
                </a:cxn>
                <a:cxn ang="0">
                  <a:pos x="connsiteX3" y="connsiteY3"/>
                </a:cxn>
              </a:cxnLst>
              <a:rect l="l" t="t" r="r" b="b"/>
              <a:pathLst>
                <a:path w="121534" h="746567">
                  <a:moveTo>
                    <a:pt x="0" y="144683"/>
                  </a:moveTo>
                  <a:lnTo>
                    <a:pt x="52086" y="746567"/>
                  </a:lnTo>
                  <a:lnTo>
                    <a:pt x="121534" y="0"/>
                  </a:lnTo>
                  <a:lnTo>
                    <a:pt x="0" y="144683"/>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Free-form: Shape 11">
              <a:extLst>
                <a:ext uri="{FF2B5EF4-FFF2-40B4-BE49-F238E27FC236}">
                  <a16:creationId xmlns:a16="http://schemas.microsoft.com/office/drawing/2014/main" id="{8D8C2235-40AC-14EF-252B-66D97384C093}"/>
                </a:ext>
              </a:extLst>
            </p:cNvPr>
            <p:cNvSpPr/>
            <p:nvPr/>
          </p:nvSpPr>
          <p:spPr>
            <a:xfrm flipH="1">
              <a:off x="1697943" y="3562470"/>
              <a:ext cx="45719" cy="131487"/>
            </a:xfrm>
            <a:custGeom>
              <a:avLst/>
              <a:gdLst>
                <a:gd name="connsiteX0" fmla="*/ 0 w 233916"/>
                <a:gd name="connsiteY0" fmla="*/ 120502 h 1070344"/>
                <a:gd name="connsiteX1" fmla="*/ 127590 w 233916"/>
                <a:gd name="connsiteY1" fmla="*/ 1070344 h 1070344"/>
                <a:gd name="connsiteX2" fmla="*/ 233916 w 233916"/>
                <a:gd name="connsiteY2" fmla="*/ 0 h 1070344"/>
                <a:gd name="connsiteX3" fmla="*/ 77972 w 233916"/>
                <a:gd name="connsiteY3" fmla="*/ 56707 h 1070344"/>
                <a:gd name="connsiteX4" fmla="*/ 0 w 233916"/>
                <a:gd name="connsiteY4" fmla="*/ 120502 h 10703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3916" h="1070344">
                  <a:moveTo>
                    <a:pt x="0" y="120502"/>
                  </a:moveTo>
                  <a:lnTo>
                    <a:pt x="127590" y="1070344"/>
                  </a:lnTo>
                  <a:lnTo>
                    <a:pt x="233916" y="0"/>
                  </a:lnTo>
                  <a:lnTo>
                    <a:pt x="77972" y="56707"/>
                  </a:lnTo>
                  <a:lnTo>
                    <a:pt x="0" y="120502"/>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Free-form: Shape 27">
              <a:extLst>
                <a:ext uri="{FF2B5EF4-FFF2-40B4-BE49-F238E27FC236}">
                  <a16:creationId xmlns:a16="http://schemas.microsoft.com/office/drawing/2014/main" id="{6BDD2FF4-9114-1C21-EC2C-CC798888192E}"/>
                </a:ext>
              </a:extLst>
            </p:cNvPr>
            <p:cNvSpPr/>
            <p:nvPr/>
          </p:nvSpPr>
          <p:spPr>
            <a:xfrm>
              <a:off x="2761365" y="3132224"/>
              <a:ext cx="135560" cy="576173"/>
            </a:xfrm>
            <a:custGeom>
              <a:avLst/>
              <a:gdLst>
                <a:gd name="connsiteX0" fmla="*/ 0 w 198474"/>
                <a:gd name="connsiteY0" fmla="*/ 0 h 1020726"/>
                <a:gd name="connsiteX1" fmla="*/ 106325 w 198474"/>
                <a:gd name="connsiteY1" fmla="*/ 1020726 h 1020726"/>
                <a:gd name="connsiteX2" fmla="*/ 198474 w 198474"/>
                <a:gd name="connsiteY2" fmla="*/ 106326 h 1020726"/>
                <a:gd name="connsiteX3" fmla="*/ 0 w 198474"/>
                <a:gd name="connsiteY3" fmla="*/ 0 h 1020726"/>
              </a:gdLst>
              <a:ahLst/>
              <a:cxnLst>
                <a:cxn ang="0">
                  <a:pos x="connsiteX0" y="connsiteY0"/>
                </a:cxn>
                <a:cxn ang="0">
                  <a:pos x="connsiteX1" y="connsiteY1"/>
                </a:cxn>
                <a:cxn ang="0">
                  <a:pos x="connsiteX2" y="connsiteY2"/>
                </a:cxn>
                <a:cxn ang="0">
                  <a:pos x="connsiteX3" y="connsiteY3"/>
                </a:cxn>
              </a:cxnLst>
              <a:rect l="l" t="t" r="r" b="b"/>
              <a:pathLst>
                <a:path w="198474" h="1020726">
                  <a:moveTo>
                    <a:pt x="0" y="0"/>
                  </a:moveTo>
                  <a:lnTo>
                    <a:pt x="106325" y="1020726"/>
                  </a:lnTo>
                  <a:lnTo>
                    <a:pt x="198474" y="106326"/>
                  </a:ln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Free-form: Shape 41">
              <a:extLst>
                <a:ext uri="{FF2B5EF4-FFF2-40B4-BE49-F238E27FC236}">
                  <a16:creationId xmlns:a16="http://schemas.microsoft.com/office/drawing/2014/main" id="{5241B9E4-D8F6-EE8A-D763-3A1F3BB3B697}"/>
                </a:ext>
              </a:extLst>
            </p:cNvPr>
            <p:cNvSpPr/>
            <p:nvPr/>
          </p:nvSpPr>
          <p:spPr>
            <a:xfrm flipH="1">
              <a:off x="2250432" y="3487171"/>
              <a:ext cx="45719" cy="223675"/>
            </a:xfrm>
            <a:custGeom>
              <a:avLst/>
              <a:gdLst>
                <a:gd name="connsiteX0" fmla="*/ 0 w 70883"/>
                <a:gd name="connsiteY0" fmla="*/ 0 h 297712"/>
                <a:gd name="connsiteX1" fmla="*/ 35442 w 70883"/>
                <a:gd name="connsiteY1" fmla="*/ 297712 h 297712"/>
                <a:gd name="connsiteX2" fmla="*/ 70883 w 70883"/>
                <a:gd name="connsiteY2" fmla="*/ 56707 h 297712"/>
                <a:gd name="connsiteX3" fmla="*/ 0 w 70883"/>
                <a:gd name="connsiteY3" fmla="*/ 0 h 297712"/>
              </a:gdLst>
              <a:ahLst/>
              <a:cxnLst>
                <a:cxn ang="0">
                  <a:pos x="connsiteX0" y="connsiteY0"/>
                </a:cxn>
                <a:cxn ang="0">
                  <a:pos x="connsiteX1" y="connsiteY1"/>
                </a:cxn>
                <a:cxn ang="0">
                  <a:pos x="connsiteX2" y="connsiteY2"/>
                </a:cxn>
                <a:cxn ang="0">
                  <a:pos x="connsiteX3" y="connsiteY3"/>
                </a:cxn>
              </a:cxnLst>
              <a:rect l="l" t="t" r="r" b="b"/>
              <a:pathLst>
                <a:path w="70883" h="297712">
                  <a:moveTo>
                    <a:pt x="0" y="0"/>
                  </a:moveTo>
                  <a:lnTo>
                    <a:pt x="35442" y="297712"/>
                  </a:lnTo>
                  <a:lnTo>
                    <a:pt x="70883" y="56707"/>
                  </a:ln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Free-form: Shape 42">
              <a:extLst>
                <a:ext uri="{FF2B5EF4-FFF2-40B4-BE49-F238E27FC236}">
                  <a16:creationId xmlns:a16="http://schemas.microsoft.com/office/drawing/2014/main" id="{96B0F72B-C9F8-3A59-C970-50DCECB41053}"/>
                </a:ext>
              </a:extLst>
            </p:cNvPr>
            <p:cNvSpPr/>
            <p:nvPr/>
          </p:nvSpPr>
          <p:spPr>
            <a:xfrm>
              <a:off x="2500594" y="3266522"/>
              <a:ext cx="75537" cy="441297"/>
            </a:xfrm>
            <a:custGeom>
              <a:avLst/>
              <a:gdLst>
                <a:gd name="connsiteX0" fmla="*/ 0 w 75537"/>
                <a:gd name="connsiteY0" fmla="*/ 103367 h 441297"/>
                <a:gd name="connsiteX1" fmla="*/ 39757 w 75537"/>
                <a:gd name="connsiteY1" fmla="*/ 441297 h 441297"/>
                <a:gd name="connsiteX2" fmla="*/ 75537 w 75537"/>
                <a:gd name="connsiteY2" fmla="*/ 0 h 441297"/>
                <a:gd name="connsiteX3" fmla="*/ 0 w 75537"/>
                <a:gd name="connsiteY3" fmla="*/ 103367 h 441297"/>
              </a:gdLst>
              <a:ahLst/>
              <a:cxnLst>
                <a:cxn ang="0">
                  <a:pos x="connsiteX0" y="connsiteY0"/>
                </a:cxn>
                <a:cxn ang="0">
                  <a:pos x="connsiteX1" y="connsiteY1"/>
                </a:cxn>
                <a:cxn ang="0">
                  <a:pos x="connsiteX2" y="connsiteY2"/>
                </a:cxn>
                <a:cxn ang="0">
                  <a:pos x="connsiteX3" y="connsiteY3"/>
                </a:cxn>
              </a:cxnLst>
              <a:rect l="l" t="t" r="r" b="b"/>
              <a:pathLst>
                <a:path w="75537" h="441297">
                  <a:moveTo>
                    <a:pt x="0" y="103367"/>
                  </a:moveTo>
                  <a:lnTo>
                    <a:pt x="39757" y="441297"/>
                  </a:lnTo>
                  <a:lnTo>
                    <a:pt x="75537" y="0"/>
                  </a:lnTo>
                  <a:lnTo>
                    <a:pt x="0" y="103367"/>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6" name="Free-form: Shape 95">
              <a:extLst>
                <a:ext uri="{FF2B5EF4-FFF2-40B4-BE49-F238E27FC236}">
                  <a16:creationId xmlns:a16="http://schemas.microsoft.com/office/drawing/2014/main" id="{F891AAB0-DE3E-1DF5-FE04-DBC4C743EC0F}"/>
                </a:ext>
              </a:extLst>
            </p:cNvPr>
            <p:cNvSpPr/>
            <p:nvPr/>
          </p:nvSpPr>
          <p:spPr>
            <a:xfrm>
              <a:off x="3021921" y="2699191"/>
              <a:ext cx="195593" cy="953519"/>
            </a:xfrm>
            <a:custGeom>
              <a:avLst/>
              <a:gdLst>
                <a:gd name="connsiteX0" fmla="*/ 0 w 195593"/>
                <a:gd name="connsiteY0" fmla="*/ 146696 h 953519"/>
                <a:gd name="connsiteX1" fmla="*/ 73347 w 195593"/>
                <a:gd name="connsiteY1" fmla="*/ 953519 h 953519"/>
                <a:gd name="connsiteX2" fmla="*/ 195593 w 195593"/>
                <a:gd name="connsiteY2" fmla="*/ 0 h 953519"/>
                <a:gd name="connsiteX3" fmla="*/ 0 w 195593"/>
                <a:gd name="connsiteY3" fmla="*/ 146696 h 953519"/>
              </a:gdLst>
              <a:ahLst/>
              <a:cxnLst>
                <a:cxn ang="0">
                  <a:pos x="connsiteX0" y="connsiteY0"/>
                </a:cxn>
                <a:cxn ang="0">
                  <a:pos x="connsiteX1" y="connsiteY1"/>
                </a:cxn>
                <a:cxn ang="0">
                  <a:pos x="connsiteX2" y="connsiteY2"/>
                </a:cxn>
                <a:cxn ang="0">
                  <a:pos x="connsiteX3" y="connsiteY3"/>
                </a:cxn>
              </a:cxnLst>
              <a:rect l="l" t="t" r="r" b="b"/>
              <a:pathLst>
                <a:path w="195593" h="953519">
                  <a:moveTo>
                    <a:pt x="0" y="146696"/>
                  </a:moveTo>
                  <a:lnTo>
                    <a:pt x="73347" y="953519"/>
                  </a:lnTo>
                  <a:lnTo>
                    <a:pt x="195593" y="0"/>
                  </a:lnTo>
                  <a:lnTo>
                    <a:pt x="0" y="146696"/>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7" name="Free-form: Shape 96">
              <a:extLst>
                <a:ext uri="{FF2B5EF4-FFF2-40B4-BE49-F238E27FC236}">
                  <a16:creationId xmlns:a16="http://schemas.microsoft.com/office/drawing/2014/main" id="{90F5B29C-7268-4E32-EF78-A27886367645}"/>
                </a:ext>
              </a:extLst>
            </p:cNvPr>
            <p:cNvSpPr/>
            <p:nvPr/>
          </p:nvSpPr>
          <p:spPr>
            <a:xfrm>
              <a:off x="3281082" y="2561782"/>
              <a:ext cx="224933" cy="1109994"/>
            </a:xfrm>
            <a:custGeom>
              <a:avLst/>
              <a:gdLst>
                <a:gd name="connsiteX0" fmla="*/ 0 w 224933"/>
                <a:gd name="connsiteY0" fmla="*/ 117357 h 1109994"/>
                <a:gd name="connsiteX1" fmla="*/ 102687 w 224933"/>
                <a:gd name="connsiteY1" fmla="*/ 1109994 h 1109994"/>
                <a:gd name="connsiteX2" fmla="*/ 224933 w 224933"/>
                <a:gd name="connsiteY2" fmla="*/ 0 h 1109994"/>
                <a:gd name="connsiteX3" fmla="*/ 0 w 224933"/>
                <a:gd name="connsiteY3" fmla="*/ 117357 h 1109994"/>
              </a:gdLst>
              <a:ahLst/>
              <a:cxnLst>
                <a:cxn ang="0">
                  <a:pos x="connsiteX0" y="connsiteY0"/>
                </a:cxn>
                <a:cxn ang="0">
                  <a:pos x="connsiteX1" y="connsiteY1"/>
                </a:cxn>
                <a:cxn ang="0">
                  <a:pos x="connsiteX2" y="connsiteY2"/>
                </a:cxn>
                <a:cxn ang="0">
                  <a:pos x="connsiteX3" y="connsiteY3"/>
                </a:cxn>
              </a:cxnLst>
              <a:rect l="l" t="t" r="r" b="b"/>
              <a:pathLst>
                <a:path w="224933" h="1109994">
                  <a:moveTo>
                    <a:pt x="0" y="117357"/>
                  </a:moveTo>
                  <a:lnTo>
                    <a:pt x="102687" y="1109994"/>
                  </a:lnTo>
                  <a:lnTo>
                    <a:pt x="224933" y="0"/>
                  </a:lnTo>
                  <a:lnTo>
                    <a:pt x="0" y="117357"/>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8" name="Free-form: Shape 97">
              <a:extLst>
                <a:ext uri="{FF2B5EF4-FFF2-40B4-BE49-F238E27FC236}">
                  <a16:creationId xmlns:a16="http://schemas.microsoft.com/office/drawing/2014/main" id="{CD58BD7E-8C4E-1013-1B1F-5E30E75B891F}"/>
                </a:ext>
              </a:extLst>
            </p:cNvPr>
            <p:cNvSpPr/>
            <p:nvPr/>
          </p:nvSpPr>
          <p:spPr>
            <a:xfrm>
              <a:off x="3540244" y="2542717"/>
              <a:ext cx="244492" cy="1114883"/>
            </a:xfrm>
            <a:custGeom>
              <a:avLst/>
              <a:gdLst>
                <a:gd name="connsiteX0" fmla="*/ 0 w 244492"/>
                <a:gd name="connsiteY0" fmla="*/ 24449 h 1114883"/>
                <a:gd name="connsiteX1" fmla="*/ 136915 w 244492"/>
                <a:gd name="connsiteY1" fmla="*/ 1114883 h 1114883"/>
                <a:gd name="connsiteX2" fmla="*/ 244492 w 244492"/>
                <a:gd name="connsiteY2" fmla="*/ 58678 h 1114883"/>
                <a:gd name="connsiteX3" fmla="*/ 102686 w 244492"/>
                <a:gd name="connsiteY3" fmla="*/ 0 h 1114883"/>
                <a:gd name="connsiteX4" fmla="*/ 0 w 244492"/>
                <a:gd name="connsiteY4" fmla="*/ 24449 h 1114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4492" h="1114883">
                  <a:moveTo>
                    <a:pt x="0" y="24449"/>
                  </a:moveTo>
                  <a:lnTo>
                    <a:pt x="136915" y="1114883"/>
                  </a:lnTo>
                  <a:lnTo>
                    <a:pt x="244492" y="58678"/>
                  </a:lnTo>
                  <a:lnTo>
                    <a:pt x="102686" y="0"/>
                  </a:lnTo>
                  <a:lnTo>
                    <a:pt x="0" y="24449"/>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9" name="Free-form: Shape 98">
              <a:extLst>
                <a:ext uri="{FF2B5EF4-FFF2-40B4-BE49-F238E27FC236}">
                  <a16:creationId xmlns:a16="http://schemas.microsoft.com/office/drawing/2014/main" id="{FF4A1787-566F-1C74-F0D2-BE38FC6BBD98}"/>
                </a:ext>
              </a:extLst>
            </p:cNvPr>
            <p:cNvSpPr/>
            <p:nvPr/>
          </p:nvSpPr>
          <p:spPr>
            <a:xfrm>
              <a:off x="3823855" y="2601395"/>
              <a:ext cx="224932" cy="1061095"/>
            </a:xfrm>
            <a:custGeom>
              <a:avLst/>
              <a:gdLst>
                <a:gd name="connsiteX0" fmla="*/ 0 w 224932"/>
                <a:gd name="connsiteY0" fmla="*/ 0 h 1061095"/>
                <a:gd name="connsiteX1" fmla="*/ 127135 w 224932"/>
                <a:gd name="connsiteY1" fmla="*/ 1061095 h 1061095"/>
                <a:gd name="connsiteX2" fmla="*/ 224932 w 224932"/>
                <a:gd name="connsiteY2" fmla="*/ 132025 h 1061095"/>
                <a:gd name="connsiteX3" fmla="*/ 132025 w 224932"/>
                <a:gd name="connsiteY3" fmla="*/ 73347 h 1061095"/>
                <a:gd name="connsiteX4" fmla="*/ 0 w 224932"/>
                <a:gd name="connsiteY4" fmla="*/ 0 h 10610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932" h="1061095">
                  <a:moveTo>
                    <a:pt x="0" y="0"/>
                  </a:moveTo>
                  <a:lnTo>
                    <a:pt x="127135" y="1061095"/>
                  </a:lnTo>
                  <a:lnTo>
                    <a:pt x="224932" y="132025"/>
                  </a:lnTo>
                  <a:lnTo>
                    <a:pt x="132025" y="73347"/>
                  </a:ln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0" name="Free-form: Shape 99">
              <a:extLst>
                <a:ext uri="{FF2B5EF4-FFF2-40B4-BE49-F238E27FC236}">
                  <a16:creationId xmlns:a16="http://schemas.microsoft.com/office/drawing/2014/main" id="{00B905F6-D4F0-ADD3-172B-01C0E916CD9C}"/>
                </a:ext>
              </a:extLst>
            </p:cNvPr>
            <p:cNvSpPr/>
            <p:nvPr/>
          </p:nvSpPr>
          <p:spPr>
            <a:xfrm>
              <a:off x="4146584" y="2811658"/>
              <a:ext cx="166255" cy="855722"/>
            </a:xfrm>
            <a:custGeom>
              <a:avLst/>
              <a:gdLst>
                <a:gd name="connsiteX0" fmla="*/ 0 w 166255"/>
                <a:gd name="connsiteY0" fmla="*/ 0 h 855722"/>
                <a:gd name="connsiteX1" fmla="*/ 88017 w 166255"/>
                <a:gd name="connsiteY1" fmla="*/ 855722 h 855722"/>
                <a:gd name="connsiteX2" fmla="*/ 166255 w 166255"/>
                <a:gd name="connsiteY2" fmla="*/ 151585 h 855722"/>
                <a:gd name="connsiteX3" fmla="*/ 73348 w 166255"/>
                <a:gd name="connsiteY3" fmla="*/ 29339 h 855722"/>
                <a:gd name="connsiteX4" fmla="*/ 0 w 166255"/>
                <a:gd name="connsiteY4" fmla="*/ 0 h 85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255" h="855722">
                  <a:moveTo>
                    <a:pt x="0" y="0"/>
                  </a:moveTo>
                  <a:lnTo>
                    <a:pt x="88017" y="855722"/>
                  </a:lnTo>
                  <a:lnTo>
                    <a:pt x="166255" y="151585"/>
                  </a:lnTo>
                  <a:lnTo>
                    <a:pt x="73348" y="29339"/>
                  </a:ln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D302EA76-6947-2234-0D34-B2DB05427563}"/>
                  </a:ext>
                </a:extLst>
              </p:cNvPr>
              <p:cNvSpPr txBox="1"/>
              <p:nvPr/>
            </p:nvSpPr>
            <p:spPr>
              <a:xfrm>
                <a:off x="8528421" y="2683032"/>
                <a:ext cx="442799" cy="261610"/>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100" b="1" i="1" smtClean="0">
                              <a:solidFill>
                                <a:srgbClr val="836967"/>
                              </a:solidFill>
                              <a:latin typeface="Cambria Math" panose="02040503050406030204" pitchFamily="18" charset="0"/>
                            </a:rPr>
                          </m:ctrlPr>
                        </m:sSubPr>
                        <m:e>
                          <m:r>
                            <a:rPr lang="en-GB" sz="1100" b="1" i="1" smtClean="0">
                              <a:solidFill>
                                <a:srgbClr val="836967"/>
                              </a:solidFill>
                              <a:latin typeface="Cambria Math" panose="02040503050406030204" pitchFamily="18" charset="0"/>
                            </a:rPr>
                            <m:t>𝒗</m:t>
                          </m:r>
                        </m:e>
                        <m:sub>
                          <m:r>
                            <a:rPr lang="en-GB" sz="1100" b="1" i="1" smtClean="0">
                              <a:latin typeface="Cambria Math" panose="02040503050406030204" pitchFamily="18" charset="0"/>
                            </a:rPr>
                            <m:t>𝑩𝑵</m:t>
                          </m:r>
                        </m:sub>
                      </m:sSub>
                    </m:oMath>
                  </m:oMathPara>
                </a14:m>
                <a:endParaRPr lang="en-US" sz="1100" b="1" dirty="0"/>
              </a:p>
            </p:txBody>
          </p:sp>
        </mc:Choice>
        <mc:Fallback xmlns="">
          <p:sp>
            <p:nvSpPr>
              <p:cNvPr id="105" name="TextBox 104">
                <a:extLst>
                  <a:ext uri="{FF2B5EF4-FFF2-40B4-BE49-F238E27FC236}">
                    <a16:creationId xmlns:a16="http://schemas.microsoft.com/office/drawing/2014/main" id="{D302EA76-6947-2234-0D34-B2DB05427563}"/>
                  </a:ext>
                </a:extLst>
              </p:cNvPr>
              <p:cNvSpPr txBox="1">
                <a:spLocks noRot="1" noChangeAspect="1" noMove="1" noResize="1" noEditPoints="1" noAdjustHandles="1" noChangeArrowheads="1" noChangeShapeType="1" noTextEdit="1"/>
              </p:cNvSpPr>
              <p:nvPr/>
            </p:nvSpPr>
            <p:spPr>
              <a:xfrm>
                <a:off x="8528421" y="2683032"/>
                <a:ext cx="442799" cy="261610"/>
              </a:xfrm>
              <a:prstGeom prst="rect">
                <a:avLst/>
              </a:prstGeom>
              <a:blipFill>
                <a:blip r:embed="rId11"/>
                <a:stretch>
                  <a:fillRect/>
                </a:stretch>
              </a:blipFill>
              <a:ln>
                <a:solidFill>
                  <a:schemeClr val="bg1"/>
                </a:solidFill>
              </a:ln>
            </p:spPr>
            <p:txBody>
              <a:bodyPr/>
              <a:lstStyle/>
              <a:p>
                <a:r>
                  <a:rPr lang="en-GB">
                    <a:noFill/>
                  </a:rPr>
                  <a:t> </a:t>
                </a:r>
              </a:p>
            </p:txBody>
          </p:sp>
        </mc:Fallback>
      </mc:AlternateContent>
      <p:grpSp>
        <p:nvGrpSpPr>
          <p:cNvPr id="106" name="Group 105">
            <a:extLst>
              <a:ext uri="{FF2B5EF4-FFF2-40B4-BE49-F238E27FC236}">
                <a16:creationId xmlns:a16="http://schemas.microsoft.com/office/drawing/2014/main" id="{6A1D4201-5549-EB87-6C65-CEB12E2DFE8A}"/>
              </a:ext>
            </a:extLst>
          </p:cNvPr>
          <p:cNvGrpSpPr/>
          <p:nvPr/>
        </p:nvGrpSpPr>
        <p:grpSpPr>
          <a:xfrm>
            <a:off x="8291434" y="2178741"/>
            <a:ext cx="411171" cy="530105"/>
            <a:chOff x="2376137" y="2245847"/>
            <a:chExt cx="308919" cy="481914"/>
          </a:xfrm>
        </p:grpSpPr>
        <p:sp>
          <p:nvSpPr>
            <p:cNvPr id="107" name="Rectangle 106">
              <a:extLst>
                <a:ext uri="{FF2B5EF4-FFF2-40B4-BE49-F238E27FC236}">
                  <a16:creationId xmlns:a16="http://schemas.microsoft.com/office/drawing/2014/main" id="{07AF9A6B-1D69-4FB8-B4E0-F48FE095B9E0}"/>
                </a:ext>
              </a:extLst>
            </p:cNvPr>
            <p:cNvSpPr/>
            <p:nvPr/>
          </p:nvSpPr>
          <p:spPr>
            <a:xfrm>
              <a:off x="2376137" y="2245847"/>
              <a:ext cx="308919" cy="48191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8" name="Straight Connector 107">
              <a:extLst>
                <a:ext uri="{FF2B5EF4-FFF2-40B4-BE49-F238E27FC236}">
                  <a16:creationId xmlns:a16="http://schemas.microsoft.com/office/drawing/2014/main" id="{E93A1B2D-C8C3-34AB-A9E4-695502CE785E}"/>
                </a:ext>
              </a:extLst>
            </p:cNvPr>
            <p:cNvCxnSpPr>
              <a:cxnSpLocks/>
            </p:cNvCxnSpPr>
            <p:nvPr/>
          </p:nvCxnSpPr>
          <p:spPr>
            <a:xfrm>
              <a:off x="2521453" y="2245847"/>
              <a:ext cx="0" cy="48191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9" name="Group 108">
            <a:extLst>
              <a:ext uri="{FF2B5EF4-FFF2-40B4-BE49-F238E27FC236}">
                <a16:creationId xmlns:a16="http://schemas.microsoft.com/office/drawing/2014/main" id="{916691C9-5649-97F7-9C9F-6642688E1312}"/>
              </a:ext>
            </a:extLst>
          </p:cNvPr>
          <p:cNvGrpSpPr/>
          <p:nvPr/>
        </p:nvGrpSpPr>
        <p:grpSpPr>
          <a:xfrm>
            <a:off x="8288040" y="3057077"/>
            <a:ext cx="411171" cy="530105"/>
            <a:chOff x="2376137" y="2245847"/>
            <a:chExt cx="308919" cy="481914"/>
          </a:xfrm>
        </p:grpSpPr>
        <p:sp>
          <p:nvSpPr>
            <p:cNvPr id="110" name="Rectangle 109">
              <a:extLst>
                <a:ext uri="{FF2B5EF4-FFF2-40B4-BE49-F238E27FC236}">
                  <a16:creationId xmlns:a16="http://schemas.microsoft.com/office/drawing/2014/main" id="{5E6F439C-6424-FF39-5D26-1ABA0B209CD0}"/>
                </a:ext>
              </a:extLst>
            </p:cNvPr>
            <p:cNvSpPr/>
            <p:nvPr/>
          </p:nvSpPr>
          <p:spPr>
            <a:xfrm>
              <a:off x="2376137" y="2245847"/>
              <a:ext cx="308919" cy="48191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1" name="Straight Connector 110">
              <a:extLst>
                <a:ext uri="{FF2B5EF4-FFF2-40B4-BE49-F238E27FC236}">
                  <a16:creationId xmlns:a16="http://schemas.microsoft.com/office/drawing/2014/main" id="{0E86DD30-72ED-625D-0E7D-B448D888CCD7}"/>
                </a:ext>
              </a:extLst>
            </p:cNvPr>
            <p:cNvCxnSpPr>
              <a:cxnSpLocks/>
            </p:cNvCxnSpPr>
            <p:nvPr/>
          </p:nvCxnSpPr>
          <p:spPr>
            <a:xfrm>
              <a:off x="2521453" y="2245847"/>
              <a:ext cx="0" cy="48191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2" name="Rectangle 111">
            <a:extLst>
              <a:ext uri="{FF2B5EF4-FFF2-40B4-BE49-F238E27FC236}">
                <a16:creationId xmlns:a16="http://schemas.microsoft.com/office/drawing/2014/main" id="{F2A732E7-F722-09D7-32C4-0A68B28485BC}"/>
              </a:ext>
            </a:extLst>
          </p:cNvPr>
          <p:cNvSpPr/>
          <p:nvPr/>
        </p:nvSpPr>
        <p:spPr>
          <a:xfrm>
            <a:off x="5408822" y="4215570"/>
            <a:ext cx="1332607" cy="234581"/>
          </a:xfrm>
          <a:prstGeom prst="rect">
            <a:avLst/>
          </a:prstGeom>
          <a:solidFill>
            <a:srgbClr val="0070C0">
              <a:alpha val="3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112">
            <a:extLst>
              <a:ext uri="{FF2B5EF4-FFF2-40B4-BE49-F238E27FC236}">
                <a16:creationId xmlns:a16="http://schemas.microsoft.com/office/drawing/2014/main" id="{3D6C76DF-5B14-0CF9-9B57-0CD65274E9B7}"/>
              </a:ext>
            </a:extLst>
          </p:cNvPr>
          <p:cNvSpPr/>
          <p:nvPr/>
        </p:nvSpPr>
        <p:spPr>
          <a:xfrm>
            <a:off x="5408822" y="4444170"/>
            <a:ext cx="1332607" cy="234581"/>
          </a:xfrm>
          <a:prstGeom prst="rect">
            <a:avLst/>
          </a:prstGeom>
          <a:solidFill>
            <a:srgbClr val="00B050">
              <a:alpha val="3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a:extLst>
              <a:ext uri="{FF2B5EF4-FFF2-40B4-BE49-F238E27FC236}">
                <a16:creationId xmlns:a16="http://schemas.microsoft.com/office/drawing/2014/main" id="{DDE8224E-1D12-5E48-5E2F-7CDE6D801CE0}"/>
              </a:ext>
            </a:extLst>
          </p:cNvPr>
          <p:cNvSpPr/>
          <p:nvPr/>
        </p:nvSpPr>
        <p:spPr>
          <a:xfrm>
            <a:off x="6741429" y="4215200"/>
            <a:ext cx="850985" cy="227864"/>
          </a:xfrm>
          <a:prstGeom prst="rect">
            <a:avLst/>
          </a:prstGeom>
          <a:solidFill>
            <a:srgbClr val="0070C0">
              <a:alpha val="3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114">
            <a:extLst>
              <a:ext uri="{FF2B5EF4-FFF2-40B4-BE49-F238E27FC236}">
                <a16:creationId xmlns:a16="http://schemas.microsoft.com/office/drawing/2014/main" id="{18FE583D-10BA-868F-EE07-BCD80DBEFD0B}"/>
              </a:ext>
            </a:extLst>
          </p:cNvPr>
          <p:cNvSpPr/>
          <p:nvPr/>
        </p:nvSpPr>
        <p:spPr>
          <a:xfrm>
            <a:off x="8144327" y="4449558"/>
            <a:ext cx="850985" cy="227864"/>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116">
            <a:extLst>
              <a:ext uri="{FF2B5EF4-FFF2-40B4-BE49-F238E27FC236}">
                <a16:creationId xmlns:a16="http://schemas.microsoft.com/office/drawing/2014/main" id="{D3C8BBC9-55AC-92AB-D5E7-D90335CEC966}"/>
              </a:ext>
            </a:extLst>
          </p:cNvPr>
          <p:cNvSpPr/>
          <p:nvPr/>
        </p:nvSpPr>
        <p:spPr>
          <a:xfrm>
            <a:off x="6741429" y="4436156"/>
            <a:ext cx="850985" cy="239297"/>
          </a:xfrm>
          <a:prstGeom prst="rect">
            <a:avLst/>
          </a:prstGeom>
          <a:solidFill>
            <a:srgbClr val="00B050">
              <a:alpha val="3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0" name="Group 129">
            <a:extLst>
              <a:ext uri="{FF2B5EF4-FFF2-40B4-BE49-F238E27FC236}">
                <a16:creationId xmlns:a16="http://schemas.microsoft.com/office/drawing/2014/main" id="{314F408F-5C38-ABEC-87BB-19B9C2AD5912}"/>
              </a:ext>
            </a:extLst>
          </p:cNvPr>
          <p:cNvGrpSpPr/>
          <p:nvPr/>
        </p:nvGrpSpPr>
        <p:grpSpPr>
          <a:xfrm>
            <a:off x="1212680" y="2479148"/>
            <a:ext cx="3231904" cy="1114884"/>
            <a:chOff x="1212680" y="2479148"/>
            <a:chExt cx="3231904" cy="1114884"/>
          </a:xfrm>
        </p:grpSpPr>
        <p:sp>
          <p:nvSpPr>
            <p:cNvPr id="119" name="Free-form: Shape 118">
              <a:extLst>
                <a:ext uri="{FF2B5EF4-FFF2-40B4-BE49-F238E27FC236}">
                  <a16:creationId xmlns:a16="http://schemas.microsoft.com/office/drawing/2014/main" id="{7ECF678F-5E75-DF79-25F0-02AD484A8AE4}"/>
                </a:ext>
              </a:extLst>
            </p:cNvPr>
            <p:cNvSpPr/>
            <p:nvPr/>
          </p:nvSpPr>
          <p:spPr>
            <a:xfrm>
              <a:off x="1212680" y="2552496"/>
              <a:ext cx="171145" cy="787264"/>
            </a:xfrm>
            <a:custGeom>
              <a:avLst/>
              <a:gdLst>
                <a:gd name="connsiteX0" fmla="*/ 0 w 171145"/>
                <a:gd name="connsiteY0" fmla="*/ 655239 h 787264"/>
                <a:gd name="connsiteX1" fmla="*/ 73348 w 171145"/>
                <a:gd name="connsiteY1" fmla="*/ 0 h 787264"/>
                <a:gd name="connsiteX2" fmla="*/ 171145 w 171145"/>
                <a:gd name="connsiteY2" fmla="*/ 787264 h 787264"/>
                <a:gd name="connsiteX3" fmla="*/ 0 w 171145"/>
                <a:gd name="connsiteY3" fmla="*/ 655239 h 787264"/>
              </a:gdLst>
              <a:ahLst/>
              <a:cxnLst>
                <a:cxn ang="0">
                  <a:pos x="connsiteX0" y="connsiteY0"/>
                </a:cxn>
                <a:cxn ang="0">
                  <a:pos x="connsiteX1" y="connsiteY1"/>
                </a:cxn>
                <a:cxn ang="0">
                  <a:pos x="connsiteX2" y="connsiteY2"/>
                </a:cxn>
                <a:cxn ang="0">
                  <a:pos x="connsiteX3" y="connsiteY3"/>
                </a:cxn>
              </a:cxnLst>
              <a:rect l="l" t="t" r="r" b="b"/>
              <a:pathLst>
                <a:path w="171145" h="787264">
                  <a:moveTo>
                    <a:pt x="0" y="655239"/>
                  </a:moveTo>
                  <a:lnTo>
                    <a:pt x="73348" y="0"/>
                  </a:lnTo>
                  <a:lnTo>
                    <a:pt x="171145" y="787264"/>
                  </a:lnTo>
                  <a:lnTo>
                    <a:pt x="0" y="655239"/>
                  </a:lnTo>
                  <a:close/>
                </a:path>
              </a:pathLst>
            </a:cu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0" name="Free-form: Shape 119">
              <a:extLst>
                <a:ext uri="{FF2B5EF4-FFF2-40B4-BE49-F238E27FC236}">
                  <a16:creationId xmlns:a16="http://schemas.microsoft.com/office/drawing/2014/main" id="{E2A16B39-BA1C-F770-EE86-9E2FE50C4CAA}"/>
                </a:ext>
              </a:extLst>
            </p:cNvPr>
            <p:cNvSpPr/>
            <p:nvPr/>
          </p:nvSpPr>
          <p:spPr>
            <a:xfrm>
              <a:off x="1457172" y="2537827"/>
              <a:ext cx="229823" cy="1012197"/>
            </a:xfrm>
            <a:custGeom>
              <a:avLst/>
              <a:gdLst>
                <a:gd name="connsiteX0" fmla="*/ 0 w 229823"/>
                <a:gd name="connsiteY0" fmla="*/ 860612 h 1012197"/>
                <a:gd name="connsiteX1" fmla="*/ 102687 w 229823"/>
                <a:gd name="connsiteY1" fmla="*/ 0 h 1012197"/>
                <a:gd name="connsiteX2" fmla="*/ 229823 w 229823"/>
                <a:gd name="connsiteY2" fmla="*/ 1012197 h 1012197"/>
                <a:gd name="connsiteX3" fmla="*/ 0 w 229823"/>
                <a:gd name="connsiteY3" fmla="*/ 860612 h 1012197"/>
              </a:gdLst>
              <a:ahLst/>
              <a:cxnLst>
                <a:cxn ang="0">
                  <a:pos x="connsiteX0" y="connsiteY0"/>
                </a:cxn>
                <a:cxn ang="0">
                  <a:pos x="connsiteX1" y="connsiteY1"/>
                </a:cxn>
                <a:cxn ang="0">
                  <a:pos x="connsiteX2" y="connsiteY2"/>
                </a:cxn>
                <a:cxn ang="0">
                  <a:pos x="connsiteX3" y="connsiteY3"/>
                </a:cxn>
              </a:cxnLst>
              <a:rect l="l" t="t" r="r" b="b"/>
              <a:pathLst>
                <a:path w="229823" h="1012197">
                  <a:moveTo>
                    <a:pt x="0" y="860612"/>
                  </a:moveTo>
                  <a:lnTo>
                    <a:pt x="102687" y="0"/>
                  </a:lnTo>
                  <a:lnTo>
                    <a:pt x="229823" y="1012197"/>
                  </a:lnTo>
                  <a:lnTo>
                    <a:pt x="0" y="860612"/>
                  </a:lnTo>
                  <a:close/>
                </a:path>
              </a:pathLst>
            </a:cu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1" name="Free-form: Shape 120">
              <a:extLst>
                <a:ext uri="{FF2B5EF4-FFF2-40B4-BE49-F238E27FC236}">
                  <a16:creationId xmlns:a16="http://schemas.microsoft.com/office/drawing/2014/main" id="{9A7217CE-8373-6F75-4065-94221F09515D}"/>
                </a:ext>
              </a:extLst>
            </p:cNvPr>
            <p:cNvSpPr/>
            <p:nvPr/>
          </p:nvSpPr>
          <p:spPr>
            <a:xfrm>
              <a:off x="1745673" y="2572056"/>
              <a:ext cx="234712" cy="1021976"/>
            </a:xfrm>
            <a:custGeom>
              <a:avLst/>
              <a:gdLst>
                <a:gd name="connsiteX0" fmla="*/ 0 w 234712"/>
                <a:gd name="connsiteY0" fmla="*/ 948628 h 1021976"/>
                <a:gd name="connsiteX1" fmla="*/ 97797 w 234712"/>
                <a:gd name="connsiteY1" fmla="*/ 0 h 1021976"/>
                <a:gd name="connsiteX2" fmla="*/ 234712 w 234712"/>
                <a:gd name="connsiteY2" fmla="*/ 1021976 h 1021976"/>
                <a:gd name="connsiteX3" fmla="*/ 0 w 234712"/>
                <a:gd name="connsiteY3" fmla="*/ 948628 h 1021976"/>
              </a:gdLst>
              <a:ahLst/>
              <a:cxnLst>
                <a:cxn ang="0">
                  <a:pos x="connsiteX0" y="connsiteY0"/>
                </a:cxn>
                <a:cxn ang="0">
                  <a:pos x="connsiteX1" y="connsiteY1"/>
                </a:cxn>
                <a:cxn ang="0">
                  <a:pos x="connsiteX2" y="connsiteY2"/>
                </a:cxn>
                <a:cxn ang="0">
                  <a:pos x="connsiteX3" y="connsiteY3"/>
                </a:cxn>
              </a:cxnLst>
              <a:rect l="l" t="t" r="r" b="b"/>
              <a:pathLst>
                <a:path w="234712" h="1021976">
                  <a:moveTo>
                    <a:pt x="0" y="948628"/>
                  </a:moveTo>
                  <a:lnTo>
                    <a:pt x="97797" y="0"/>
                  </a:lnTo>
                  <a:lnTo>
                    <a:pt x="234712" y="1021976"/>
                  </a:lnTo>
                  <a:lnTo>
                    <a:pt x="0" y="948628"/>
                  </a:lnTo>
                  <a:close/>
                </a:path>
              </a:pathLst>
            </a:cu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2" name="Free-form: Shape 121">
              <a:extLst>
                <a:ext uri="{FF2B5EF4-FFF2-40B4-BE49-F238E27FC236}">
                  <a16:creationId xmlns:a16="http://schemas.microsoft.com/office/drawing/2014/main" id="{CC2E454E-9A68-567D-FBC6-9735B4575264}"/>
                </a:ext>
              </a:extLst>
            </p:cNvPr>
            <p:cNvSpPr/>
            <p:nvPr/>
          </p:nvSpPr>
          <p:spPr>
            <a:xfrm>
              <a:off x="2024394" y="2532937"/>
              <a:ext cx="224932" cy="1046426"/>
            </a:xfrm>
            <a:custGeom>
              <a:avLst/>
              <a:gdLst>
                <a:gd name="connsiteX0" fmla="*/ 0 w 224932"/>
                <a:gd name="connsiteY0" fmla="*/ 1046426 h 1046426"/>
                <a:gd name="connsiteX1" fmla="*/ 102686 w 224932"/>
                <a:gd name="connsiteY1" fmla="*/ 0 h 1046426"/>
                <a:gd name="connsiteX2" fmla="*/ 224932 w 224932"/>
                <a:gd name="connsiteY2" fmla="*/ 968188 h 1046426"/>
                <a:gd name="connsiteX3" fmla="*/ 0 w 224932"/>
                <a:gd name="connsiteY3" fmla="*/ 1046426 h 1046426"/>
              </a:gdLst>
              <a:ahLst/>
              <a:cxnLst>
                <a:cxn ang="0">
                  <a:pos x="connsiteX0" y="connsiteY0"/>
                </a:cxn>
                <a:cxn ang="0">
                  <a:pos x="connsiteX1" y="connsiteY1"/>
                </a:cxn>
                <a:cxn ang="0">
                  <a:pos x="connsiteX2" y="connsiteY2"/>
                </a:cxn>
                <a:cxn ang="0">
                  <a:pos x="connsiteX3" y="connsiteY3"/>
                </a:cxn>
              </a:cxnLst>
              <a:rect l="l" t="t" r="r" b="b"/>
              <a:pathLst>
                <a:path w="224932" h="1046426">
                  <a:moveTo>
                    <a:pt x="0" y="1046426"/>
                  </a:moveTo>
                  <a:lnTo>
                    <a:pt x="102686" y="0"/>
                  </a:lnTo>
                  <a:lnTo>
                    <a:pt x="224932" y="968188"/>
                  </a:lnTo>
                  <a:lnTo>
                    <a:pt x="0" y="1046426"/>
                  </a:lnTo>
                  <a:close/>
                </a:path>
              </a:pathLst>
            </a:cu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3" name="Free-form: Shape 122">
              <a:extLst>
                <a:ext uri="{FF2B5EF4-FFF2-40B4-BE49-F238E27FC236}">
                  <a16:creationId xmlns:a16="http://schemas.microsoft.com/office/drawing/2014/main" id="{C078D430-9314-9475-5AEC-9A0655C8BC2F}"/>
                </a:ext>
              </a:extLst>
            </p:cNvPr>
            <p:cNvSpPr/>
            <p:nvPr/>
          </p:nvSpPr>
          <p:spPr>
            <a:xfrm>
              <a:off x="2317784" y="2479148"/>
              <a:ext cx="176034" cy="968188"/>
            </a:xfrm>
            <a:custGeom>
              <a:avLst/>
              <a:gdLst>
                <a:gd name="connsiteX0" fmla="*/ 0 w 176034"/>
                <a:gd name="connsiteY0" fmla="*/ 880171 h 880171"/>
                <a:gd name="connsiteX1" fmla="*/ 83127 w 176034"/>
                <a:gd name="connsiteY1" fmla="*/ 0 h 880171"/>
                <a:gd name="connsiteX2" fmla="*/ 176034 w 176034"/>
                <a:gd name="connsiteY2" fmla="*/ 772595 h 880171"/>
                <a:gd name="connsiteX3" fmla="*/ 0 w 176034"/>
                <a:gd name="connsiteY3" fmla="*/ 880171 h 880171"/>
              </a:gdLst>
              <a:ahLst/>
              <a:cxnLst>
                <a:cxn ang="0">
                  <a:pos x="connsiteX0" y="connsiteY0"/>
                </a:cxn>
                <a:cxn ang="0">
                  <a:pos x="connsiteX1" y="connsiteY1"/>
                </a:cxn>
                <a:cxn ang="0">
                  <a:pos x="connsiteX2" y="connsiteY2"/>
                </a:cxn>
                <a:cxn ang="0">
                  <a:pos x="connsiteX3" y="connsiteY3"/>
                </a:cxn>
              </a:cxnLst>
              <a:rect l="l" t="t" r="r" b="b"/>
              <a:pathLst>
                <a:path w="176034" h="880171">
                  <a:moveTo>
                    <a:pt x="0" y="880171"/>
                  </a:moveTo>
                  <a:lnTo>
                    <a:pt x="83127" y="0"/>
                  </a:lnTo>
                  <a:lnTo>
                    <a:pt x="176034" y="772595"/>
                  </a:lnTo>
                  <a:lnTo>
                    <a:pt x="0" y="880171"/>
                  </a:lnTo>
                  <a:close/>
                </a:path>
              </a:pathLst>
            </a:cu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4" name="Free-form: Shape 123">
              <a:extLst>
                <a:ext uri="{FF2B5EF4-FFF2-40B4-BE49-F238E27FC236}">
                  <a16:creationId xmlns:a16="http://schemas.microsoft.com/office/drawing/2014/main" id="{0BC9D832-CA0B-C60F-F9D1-F9F4F4DEA725}"/>
                </a:ext>
              </a:extLst>
            </p:cNvPr>
            <p:cNvSpPr/>
            <p:nvPr/>
          </p:nvSpPr>
          <p:spPr>
            <a:xfrm>
              <a:off x="2596505" y="2518267"/>
              <a:ext cx="171144" cy="689468"/>
            </a:xfrm>
            <a:custGeom>
              <a:avLst/>
              <a:gdLst>
                <a:gd name="connsiteX0" fmla="*/ 0 w 171144"/>
                <a:gd name="connsiteY0" fmla="*/ 689468 h 689468"/>
                <a:gd name="connsiteX1" fmla="*/ 88017 w 171144"/>
                <a:gd name="connsiteY1" fmla="*/ 0 h 689468"/>
                <a:gd name="connsiteX2" fmla="*/ 171144 w 171144"/>
                <a:gd name="connsiteY2" fmla="*/ 572112 h 689468"/>
                <a:gd name="connsiteX3" fmla="*/ 0 w 171144"/>
                <a:gd name="connsiteY3" fmla="*/ 689468 h 689468"/>
              </a:gdLst>
              <a:ahLst/>
              <a:cxnLst>
                <a:cxn ang="0">
                  <a:pos x="connsiteX0" y="connsiteY0"/>
                </a:cxn>
                <a:cxn ang="0">
                  <a:pos x="connsiteX1" y="connsiteY1"/>
                </a:cxn>
                <a:cxn ang="0">
                  <a:pos x="connsiteX2" y="connsiteY2"/>
                </a:cxn>
                <a:cxn ang="0">
                  <a:pos x="connsiteX3" y="connsiteY3"/>
                </a:cxn>
              </a:cxnLst>
              <a:rect l="l" t="t" r="r" b="b"/>
              <a:pathLst>
                <a:path w="171144" h="689468">
                  <a:moveTo>
                    <a:pt x="0" y="689468"/>
                  </a:moveTo>
                  <a:lnTo>
                    <a:pt x="88017" y="0"/>
                  </a:lnTo>
                  <a:lnTo>
                    <a:pt x="171144" y="572112"/>
                  </a:lnTo>
                  <a:lnTo>
                    <a:pt x="0" y="689468"/>
                  </a:lnTo>
                  <a:close/>
                </a:path>
              </a:pathLst>
            </a:cu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5" name="Free-form: Shape 124">
              <a:extLst>
                <a:ext uri="{FF2B5EF4-FFF2-40B4-BE49-F238E27FC236}">
                  <a16:creationId xmlns:a16="http://schemas.microsoft.com/office/drawing/2014/main" id="{1B2F6C62-91F8-F902-6C85-64484395F287}"/>
                </a:ext>
              </a:extLst>
            </p:cNvPr>
            <p:cNvSpPr/>
            <p:nvPr/>
          </p:nvSpPr>
          <p:spPr>
            <a:xfrm>
              <a:off x="2899675" y="2532937"/>
              <a:ext cx="102686" cy="391187"/>
            </a:xfrm>
            <a:custGeom>
              <a:avLst/>
              <a:gdLst>
                <a:gd name="connsiteX0" fmla="*/ 0 w 102686"/>
                <a:gd name="connsiteY0" fmla="*/ 391187 h 391187"/>
                <a:gd name="connsiteX1" fmla="*/ 0 w 102686"/>
                <a:gd name="connsiteY1" fmla="*/ 391187 h 391187"/>
                <a:gd name="connsiteX2" fmla="*/ 29339 w 102686"/>
                <a:gd name="connsiteY2" fmla="*/ 303170 h 391187"/>
                <a:gd name="connsiteX3" fmla="*/ 63568 w 102686"/>
                <a:gd name="connsiteY3" fmla="*/ 0 h 391187"/>
                <a:gd name="connsiteX4" fmla="*/ 102686 w 102686"/>
                <a:gd name="connsiteY4" fmla="*/ 303170 h 391187"/>
                <a:gd name="connsiteX5" fmla="*/ 0 w 102686"/>
                <a:gd name="connsiteY5" fmla="*/ 391187 h 391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686" h="391187">
                  <a:moveTo>
                    <a:pt x="0" y="391187"/>
                  </a:moveTo>
                  <a:lnTo>
                    <a:pt x="0" y="391187"/>
                  </a:lnTo>
                  <a:cubicBezTo>
                    <a:pt x="30326" y="330535"/>
                    <a:pt x="22189" y="360371"/>
                    <a:pt x="29339" y="303170"/>
                  </a:cubicBezTo>
                  <a:lnTo>
                    <a:pt x="63568" y="0"/>
                  </a:lnTo>
                  <a:lnTo>
                    <a:pt x="102686" y="303170"/>
                  </a:lnTo>
                  <a:lnTo>
                    <a:pt x="0" y="391187"/>
                  </a:lnTo>
                  <a:close/>
                </a:path>
              </a:pathLst>
            </a:cu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7" name="Free-form: Shape 126">
              <a:extLst>
                <a:ext uri="{FF2B5EF4-FFF2-40B4-BE49-F238E27FC236}">
                  <a16:creationId xmlns:a16="http://schemas.microsoft.com/office/drawing/2014/main" id="{1FF293A4-FD04-895E-B7A1-DBF65AE5826C}"/>
                </a:ext>
              </a:extLst>
            </p:cNvPr>
            <p:cNvSpPr/>
            <p:nvPr/>
          </p:nvSpPr>
          <p:spPr>
            <a:xfrm>
              <a:off x="3237875" y="2510852"/>
              <a:ext cx="33728" cy="164892"/>
            </a:xfrm>
            <a:custGeom>
              <a:avLst/>
              <a:gdLst>
                <a:gd name="connsiteX0" fmla="*/ 0 w 33728"/>
                <a:gd name="connsiteY0" fmla="*/ 164892 h 164892"/>
                <a:gd name="connsiteX1" fmla="*/ 18738 w 33728"/>
                <a:gd name="connsiteY1" fmla="*/ 0 h 164892"/>
                <a:gd name="connsiteX2" fmla="*/ 33728 w 33728"/>
                <a:gd name="connsiteY2" fmla="*/ 127417 h 164892"/>
                <a:gd name="connsiteX3" fmla="*/ 0 w 33728"/>
                <a:gd name="connsiteY3" fmla="*/ 164892 h 164892"/>
              </a:gdLst>
              <a:ahLst/>
              <a:cxnLst>
                <a:cxn ang="0">
                  <a:pos x="connsiteX0" y="connsiteY0"/>
                </a:cxn>
                <a:cxn ang="0">
                  <a:pos x="connsiteX1" y="connsiteY1"/>
                </a:cxn>
                <a:cxn ang="0">
                  <a:pos x="connsiteX2" y="connsiteY2"/>
                </a:cxn>
                <a:cxn ang="0">
                  <a:pos x="connsiteX3" y="connsiteY3"/>
                </a:cxn>
              </a:cxnLst>
              <a:rect l="l" t="t" r="r" b="b"/>
              <a:pathLst>
                <a:path w="33728" h="164892">
                  <a:moveTo>
                    <a:pt x="0" y="164892"/>
                  </a:moveTo>
                  <a:lnTo>
                    <a:pt x="18738" y="0"/>
                  </a:lnTo>
                  <a:lnTo>
                    <a:pt x="33728" y="127417"/>
                  </a:lnTo>
                  <a:lnTo>
                    <a:pt x="0" y="164892"/>
                  </a:lnTo>
                  <a:close/>
                </a:path>
              </a:pathLst>
            </a:cu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8" name="Free-form: Shape 127">
              <a:extLst>
                <a:ext uri="{FF2B5EF4-FFF2-40B4-BE49-F238E27FC236}">
                  <a16:creationId xmlns:a16="http://schemas.microsoft.com/office/drawing/2014/main" id="{A4F40081-1A41-19C1-48D6-603CDB9FB63B}"/>
                </a:ext>
              </a:extLst>
            </p:cNvPr>
            <p:cNvSpPr/>
            <p:nvPr/>
          </p:nvSpPr>
          <p:spPr>
            <a:xfrm>
              <a:off x="4062334" y="2537085"/>
              <a:ext cx="67456" cy="232348"/>
            </a:xfrm>
            <a:custGeom>
              <a:avLst/>
              <a:gdLst>
                <a:gd name="connsiteX0" fmla="*/ 0 w 67456"/>
                <a:gd name="connsiteY0" fmla="*/ 194872 h 232348"/>
                <a:gd name="connsiteX1" fmla="*/ 26233 w 67456"/>
                <a:gd name="connsiteY1" fmla="*/ 0 h 232348"/>
                <a:gd name="connsiteX2" fmla="*/ 67456 w 67456"/>
                <a:gd name="connsiteY2" fmla="*/ 232348 h 232348"/>
                <a:gd name="connsiteX3" fmla="*/ 0 w 67456"/>
                <a:gd name="connsiteY3" fmla="*/ 194872 h 232348"/>
              </a:gdLst>
              <a:ahLst/>
              <a:cxnLst>
                <a:cxn ang="0">
                  <a:pos x="connsiteX0" y="connsiteY0"/>
                </a:cxn>
                <a:cxn ang="0">
                  <a:pos x="connsiteX1" y="connsiteY1"/>
                </a:cxn>
                <a:cxn ang="0">
                  <a:pos x="connsiteX2" y="connsiteY2"/>
                </a:cxn>
                <a:cxn ang="0">
                  <a:pos x="connsiteX3" y="connsiteY3"/>
                </a:cxn>
              </a:cxnLst>
              <a:rect l="l" t="t" r="r" b="b"/>
              <a:pathLst>
                <a:path w="67456" h="232348">
                  <a:moveTo>
                    <a:pt x="0" y="194872"/>
                  </a:moveTo>
                  <a:lnTo>
                    <a:pt x="26233" y="0"/>
                  </a:lnTo>
                  <a:lnTo>
                    <a:pt x="67456" y="232348"/>
                  </a:lnTo>
                  <a:lnTo>
                    <a:pt x="0" y="194872"/>
                  </a:lnTo>
                  <a:close/>
                </a:path>
              </a:pathLst>
            </a:cu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9" name="Free-form: Shape 128">
              <a:extLst>
                <a:ext uri="{FF2B5EF4-FFF2-40B4-BE49-F238E27FC236}">
                  <a16:creationId xmlns:a16="http://schemas.microsoft.com/office/drawing/2014/main" id="{0E8ABD92-56B5-EA83-D7B4-6E56B0C62886}"/>
                </a:ext>
              </a:extLst>
            </p:cNvPr>
            <p:cNvSpPr/>
            <p:nvPr/>
          </p:nvSpPr>
          <p:spPr>
            <a:xfrm>
              <a:off x="4328410" y="2552075"/>
              <a:ext cx="116174" cy="509666"/>
            </a:xfrm>
            <a:custGeom>
              <a:avLst/>
              <a:gdLst>
                <a:gd name="connsiteX0" fmla="*/ 0 w 116174"/>
                <a:gd name="connsiteY0" fmla="*/ 404735 h 509666"/>
                <a:gd name="connsiteX1" fmla="*/ 48718 w 116174"/>
                <a:gd name="connsiteY1" fmla="*/ 0 h 509666"/>
                <a:gd name="connsiteX2" fmla="*/ 116174 w 116174"/>
                <a:gd name="connsiteY2" fmla="*/ 509666 h 509666"/>
                <a:gd name="connsiteX3" fmla="*/ 0 w 116174"/>
                <a:gd name="connsiteY3" fmla="*/ 404735 h 509666"/>
              </a:gdLst>
              <a:ahLst/>
              <a:cxnLst>
                <a:cxn ang="0">
                  <a:pos x="connsiteX0" y="connsiteY0"/>
                </a:cxn>
                <a:cxn ang="0">
                  <a:pos x="connsiteX1" y="connsiteY1"/>
                </a:cxn>
                <a:cxn ang="0">
                  <a:pos x="connsiteX2" y="connsiteY2"/>
                </a:cxn>
                <a:cxn ang="0">
                  <a:pos x="connsiteX3" y="connsiteY3"/>
                </a:cxn>
              </a:cxnLst>
              <a:rect l="l" t="t" r="r" b="b"/>
              <a:pathLst>
                <a:path w="116174" h="509666">
                  <a:moveTo>
                    <a:pt x="0" y="404735"/>
                  </a:moveTo>
                  <a:lnTo>
                    <a:pt x="48718" y="0"/>
                  </a:lnTo>
                  <a:lnTo>
                    <a:pt x="116174" y="509666"/>
                  </a:lnTo>
                  <a:lnTo>
                    <a:pt x="0" y="404735"/>
                  </a:lnTo>
                  <a:close/>
                </a:path>
              </a:pathLst>
            </a:cu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45" name="Group 144">
            <a:extLst>
              <a:ext uri="{FF2B5EF4-FFF2-40B4-BE49-F238E27FC236}">
                <a16:creationId xmlns:a16="http://schemas.microsoft.com/office/drawing/2014/main" id="{71756FC4-857C-5081-87D4-8F51CE3127C2}"/>
              </a:ext>
            </a:extLst>
          </p:cNvPr>
          <p:cNvGrpSpPr/>
          <p:nvPr/>
        </p:nvGrpSpPr>
        <p:grpSpPr>
          <a:xfrm>
            <a:off x="1087012" y="5407474"/>
            <a:ext cx="3451965" cy="665460"/>
            <a:chOff x="1085669" y="5407445"/>
            <a:chExt cx="3451965" cy="665460"/>
          </a:xfrm>
        </p:grpSpPr>
        <p:sp>
          <p:nvSpPr>
            <p:cNvPr id="132" name="Rectangle 131">
              <a:extLst>
                <a:ext uri="{FF2B5EF4-FFF2-40B4-BE49-F238E27FC236}">
                  <a16:creationId xmlns:a16="http://schemas.microsoft.com/office/drawing/2014/main" id="{D4D59C57-5592-8D3F-7DD5-5CF47C872DD6}"/>
                </a:ext>
              </a:extLst>
            </p:cNvPr>
            <p:cNvSpPr/>
            <p:nvPr/>
          </p:nvSpPr>
          <p:spPr>
            <a:xfrm>
              <a:off x="3814689" y="5410986"/>
              <a:ext cx="212562" cy="644915"/>
            </a:xfrm>
            <a:prstGeom prst="rect">
              <a:avLst/>
            </a:prstGeom>
            <a:solidFill>
              <a:srgbClr val="0070C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3" name="Rectangle 132">
              <a:extLst>
                <a:ext uri="{FF2B5EF4-FFF2-40B4-BE49-F238E27FC236}">
                  <a16:creationId xmlns:a16="http://schemas.microsoft.com/office/drawing/2014/main" id="{B2576DDB-454D-C91A-A6D8-206DDF1335B0}"/>
                </a:ext>
              </a:extLst>
            </p:cNvPr>
            <p:cNvSpPr/>
            <p:nvPr/>
          </p:nvSpPr>
          <p:spPr>
            <a:xfrm>
              <a:off x="3545936" y="5421618"/>
              <a:ext cx="204267" cy="644915"/>
            </a:xfrm>
            <a:prstGeom prst="rect">
              <a:avLst/>
            </a:prstGeom>
            <a:solidFill>
              <a:srgbClr val="0070C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4" name="Rectangle 133">
              <a:extLst>
                <a:ext uri="{FF2B5EF4-FFF2-40B4-BE49-F238E27FC236}">
                  <a16:creationId xmlns:a16="http://schemas.microsoft.com/office/drawing/2014/main" id="{C236AC5E-CCCC-6257-9E22-A58F7EC7DB6B}"/>
                </a:ext>
              </a:extLst>
            </p:cNvPr>
            <p:cNvSpPr/>
            <p:nvPr/>
          </p:nvSpPr>
          <p:spPr>
            <a:xfrm>
              <a:off x="3276844" y="5425158"/>
              <a:ext cx="205447" cy="644915"/>
            </a:xfrm>
            <a:prstGeom prst="rect">
              <a:avLst/>
            </a:prstGeom>
            <a:solidFill>
              <a:srgbClr val="0070C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5" name="Rectangle 134">
              <a:extLst>
                <a:ext uri="{FF2B5EF4-FFF2-40B4-BE49-F238E27FC236}">
                  <a16:creationId xmlns:a16="http://schemas.microsoft.com/office/drawing/2014/main" id="{BFE244AF-AB95-42BB-A11F-B7B4564537EB}"/>
                </a:ext>
              </a:extLst>
            </p:cNvPr>
            <p:cNvSpPr/>
            <p:nvPr/>
          </p:nvSpPr>
          <p:spPr>
            <a:xfrm>
              <a:off x="4114394" y="5414850"/>
              <a:ext cx="186770" cy="644915"/>
            </a:xfrm>
            <a:prstGeom prst="rect">
              <a:avLst/>
            </a:prstGeom>
            <a:solidFill>
              <a:srgbClr val="0070C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6" name="Rectangle 135">
              <a:extLst>
                <a:ext uri="{FF2B5EF4-FFF2-40B4-BE49-F238E27FC236}">
                  <a16:creationId xmlns:a16="http://schemas.microsoft.com/office/drawing/2014/main" id="{37BD47FD-A00B-B8AA-B7F0-30E1B90C706E}"/>
                </a:ext>
              </a:extLst>
            </p:cNvPr>
            <p:cNvSpPr/>
            <p:nvPr/>
          </p:nvSpPr>
          <p:spPr>
            <a:xfrm>
              <a:off x="3020522" y="5414525"/>
              <a:ext cx="169791" cy="644915"/>
            </a:xfrm>
            <a:prstGeom prst="rect">
              <a:avLst/>
            </a:prstGeom>
            <a:solidFill>
              <a:srgbClr val="0070C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7" name="Rectangle 136">
              <a:extLst>
                <a:ext uri="{FF2B5EF4-FFF2-40B4-BE49-F238E27FC236}">
                  <a16:creationId xmlns:a16="http://schemas.microsoft.com/office/drawing/2014/main" id="{B1324CC9-4BF8-5B42-A54B-056DBCA91361}"/>
                </a:ext>
              </a:extLst>
            </p:cNvPr>
            <p:cNvSpPr/>
            <p:nvPr/>
          </p:nvSpPr>
          <p:spPr>
            <a:xfrm>
              <a:off x="2768621" y="5410986"/>
              <a:ext cx="125973" cy="644915"/>
            </a:xfrm>
            <a:prstGeom prst="rect">
              <a:avLst/>
            </a:prstGeom>
            <a:solidFill>
              <a:srgbClr val="0070C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8" name="Rectangle 137">
              <a:extLst>
                <a:ext uri="{FF2B5EF4-FFF2-40B4-BE49-F238E27FC236}">
                  <a16:creationId xmlns:a16="http://schemas.microsoft.com/office/drawing/2014/main" id="{18AAE65C-5049-8A8D-52C5-E3593AA8054A}"/>
                </a:ext>
              </a:extLst>
            </p:cNvPr>
            <p:cNvSpPr/>
            <p:nvPr/>
          </p:nvSpPr>
          <p:spPr>
            <a:xfrm>
              <a:off x="2506932" y="5421564"/>
              <a:ext cx="86043" cy="644915"/>
            </a:xfrm>
            <a:prstGeom prst="rect">
              <a:avLst/>
            </a:prstGeom>
            <a:solidFill>
              <a:srgbClr val="0070C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9" name="Rectangle 138">
              <a:extLst>
                <a:ext uri="{FF2B5EF4-FFF2-40B4-BE49-F238E27FC236}">
                  <a16:creationId xmlns:a16="http://schemas.microsoft.com/office/drawing/2014/main" id="{C4EFB715-70C3-1E7C-6556-98570B9FEAA8}"/>
                </a:ext>
              </a:extLst>
            </p:cNvPr>
            <p:cNvSpPr/>
            <p:nvPr/>
          </p:nvSpPr>
          <p:spPr>
            <a:xfrm>
              <a:off x="1687944" y="5415419"/>
              <a:ext cx="44153" cy="644915"/>
            </a:xfrm>
            <a:prstGeom prst="rect">
              <a:avLst/>
            </a:prstGeom>
            <a:solidFill>
              <a:srgbClr val="0070C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0" name="Rectangle 139">
              <a:extLst>
                <a:ext uri="{FF2B5EF4-FFF2-40B4-BE49-F238E27FC236}">
                  <a16:creationId xmlns:a16="http://schemas.microsoft.com/office/drawing/2014/main" id="{578F725B-1879-145A-A589-905EBB7FD544}"/>
                </a:ext>
              </a:extLst>
            </p:cNvPr>
            <p:cNvSpPr/>
            <p:nvPr/>
          </p:nvSpPr>
          <p:spPr>
            <a:xfrm>
              <a:off x="2253231" y="5426053"/>
              <a:ext cx="31746" cy="644915"/>
            </a:xfrm>
            <a:prstGeom prst="rect">
              <a:avLst/>
            </a:prstGeom>
            <a:solidFill>
              <a:srgbClr val="0070C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1" name="Rectangle 140">
              <a:extLst>
                <a:ext uri="{FF2B5EF4-FFF2-40B4-BE49-F238E27FC236}">
                  <a16:creationId xmlns:a16="http://schemas.microsoft.com/office/drawing/2014/main" id="{EDB5E6CD-9AA3-E100-E85D-933EE7A5807E}"/>
                </a:ext>
              </a:extLst>
            </p:cNvPr>
            <p:cNvSpPr/>
            <p:nvPr/>
          </p:nvSpPr>
          <p:spPr>
            <a:xfrm>
              <a:off x="4423113" y="5407445"/>
              <a:ext cx="114521" cy="644915"/>
            </a:xfrm>
            <a:prstGeom prst="rect">
              <a:avLst/>
            </a:prstGeom>
            <a:solidFill>
              <a:srgbClr val="0070C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2" name="Rectangle 141">
              <a:extLst>
                <a:ext uri="{FF2B5EF4-FFF2-40B4-BE49-F238E27FC236}">
                  <a16:creationId xmlns:a16="http://schemas.microsoft.com/office/drawing/2014/main" id="{FEB6B472-D25B-21C0-8BEF-0407F3972B7A}"/>
                </a:ext>
              </a:extLst>
            </p:cNvPr>
            <p:cNvSpPr/>
            <p:nvPr/>
          </p:nvSpPr>
          <p:spPr>
            <a:xfrm>
              <a:off x="1965801" y="5427990"/>
              <a:ext cx="31746" cy="644915"/>
            </a:xfrm>
            <a:prstGeom prst="rect">
              <a:avLst/>
            </a:prstGeom>
            <a:solidFill>
              <a:srgbClr val="0070C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3" name="Rectangle 142">
              <a:extLst>
                <a:ext uri="{FF2B5EF4-FFF2-40B4-BE49-F238E27FC236}">
                  <a16:creationId xmlns:a16="http://schemas.microsoft.com/office/drawing/2014/main" id="{ED3AF3E1-B60B-FCD7-E708-24EE85CF36EA}"/>
                </a:ext>
              </a:extLst>
            </p:cNvPr>
            <p:cNvSpPr/>
            <p:nvPr/>
          </p:nvSpPr>
          <p:spPr>
            <a:xfrm>
              <a:off x="1085669" y="5420123"/>
              <a:ext cx="104110" cy="644915"/>
            </a:xfrm>
            <a:prstGeom prst="rect">
              <a:avLst/>
            </a:prstGeom>
            <a:solidFill>
              <a:srgbClr val="0070C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4" name="Rectangle 143">
              <a:extLst>
                <a:ext uri="{FF2B5EF4-FFF2-40B4-BE49-F238E27FC236}">
                  <a16:creationId xmlns:a16="http://schemas.microsoft.com/office/drawing/2014/main" id="{045C6358-8CE8-FFDF-C577-73ECA1478A02}"/>
                </a:ext>
              </a:extLst>
            </p:cNvPr>
            <p:cNvSpPr/>
            <p:nvPr/>
          </p:nvSpPr>
          <p:spPr>
            <a:xfrm>
              <a:off x="1394138" y="5410986"/>
              <a:ext cx="58768" cy="644915"/>
            </a:xfrm>
            <a:prstGeom prst="rect">
              <a:avLst/>
            </a:prstGeom>
            <a:solidFill>
              <a:srgbClr val="0070C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59" name="Group 158">
            <a:extLst>
              <a:ext uri="{FF2B5EF4-FFF2-40B4-BE49-F238E27FC236}">
                <a16:creationId xmlns:a16="http://schemas.microsoft.com/office/drawing/2014/main" id="{17BB4260-1CD2-E1C0-938E-61BA8CC7E152}"/>
              </a:ext>
            </a:extLst>
          </p:cNvPr>
          <p:cNvGrpSpPr/>
          <p:nvPr/>
        </p:nvGrpSpPr>
        <p:grpSpPr>
          <a:xfrm>
            <a:off x="1218590" y="5420216"/>
            <a:ext cx="3182873" cy="651993"/>
            <a:chOff x="1218590" y="5420216"/>
            <a:chExt cx="3182873" cy="651993"/>
          </a:xfrm>
        </p:grpSpPr>
        <p:sp>
          <p:nvSpPr>
            <p:cNvPr id="147" name="Rectangle 146">
              <a:extLst>
                <a:ext uri="{FF2B5EF4-FFF2-40B4-BE49-F238E27FC236}">
                  <a16:creationId xmlns:a16="http://schemas.microsoft.com/office/drawing/2014/main" id="{A3A30135-2D47-35EB-71AB-051AA1090397}"/>
                </a:ext>
              </a:extLst>
            </p:cNvPr>
            <p:cNvSpPr/>
            <p:nvPr/>
          </p:nvSpPr>
          <p:spPr>
            <a:xfrm>
              <a:off x="1218590" y="5423313"/>
              <a:ext cx="133755" cy="631506"/>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8" name="Rectangle 147">
              <a:extLst>
                <a:ext uri="{FF2B5EF4-FFF2-40B4-BE49-F238E27FC236}">
                  <a16:creationId xmlns:a16="http://schemas.microsoft.com/office/drawing/2014/main" id="{98FA456C-D1E7-761F-BE29-5CF44A58A4A2}"/>
                </a:ext>
              </a:extLst>
            </p:cNvPr>
            <p:cNvSpPr/>
            <p:nvPr/>
          </p:nvSpPr>
          <p:spPr>
            <a:xfrm>
              <a:off x="1478812" y="5423501"/>
              <a:ext cx="189778" cy="631506"/>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9" name="Rectangle 148">
              <a:extLst>
                <a:ext uri="{FF2B5EF4-FFF2-40B4-BE49-F238E27FC236}">
                  <a16:creationId xmlns:a16="http://schemas.microsoft.com/office/drawing/2014/main" id="{76AD4EFC-8E63-DBFF-3114-051160F2653D}"/>
                </a:ext>
              </a:extLst>
            </p:cNvPr>
            <p:cNvSpPr/>
            <p:nvPr/>
          </p:nvSpPr>
          <p:spPr>
            <a:xfrm>
              <a:off x="1751714" y="5427049"/>
              <a:ext cx="189778" cy="631506"/>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50" name="Rectangle 149">
              <a:extLst>
                <a:ext uri="{FF2B5EF4-FFF2-40B4-BE49-F238E27FC236}">
                  <a16:creationId xmlns:a16="http://schemas.microsoft.com/office/drawing/2014/main" id="{DA9E9B43-B001-1917-4DA8-002960E50049}"/>
                </a:ext>
              </a:extLst>
            </p:cNvPr>
            <p:cNvSpPr/>
            <p:nvPr/>
          </p:nvSpPr>
          <p:spPr>
            <a:xfrm>
              <a:off x="2015128" y="5430595"/>
              <a:ext cx="208756" cy="631506"/>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51" name="Rectangle 150">
              <a:extLst>
                <a:ext uri="{FF2B5EF4-FFF2-40B4-BE49-F238E27FC236}">
                  <a16:creationId xmlns:a16="http://schemas.microsoft.com/office/drawing/2014/main" id="{978D7783-AB7B-17FA-AD4C-6235DD801D5D}"/>
                </a:ext>
              </a:extLst>
            </p:cNvPr>
            <p:cNvSpPr/>
            <p:nvPr/>
          </p:nvSpPr>
          <p:spPr>
            <a:xfrm>
              <a:off x="2313990" y="5434135"/>
              <a:ext cx="156841" cy="631506"/>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2" name="Rectangle 151">
              <a:extLst>
                <a:ext uri="{FF2B5EF4-FFF2-40B4-BE49-F238E27FC236}">
                  <a16:creationId xmlns:a16="http://schemas.microsoft.com/office/drawing/2014/main" id="{C42EBAC2-B202-830E-61C2-BB363EE9A7C4}"/>
                </a:ext>
              </a:extLst>
            </p:cNvPr>
            <p:cNvSpPr/>
            <p:nvPr/>
          </p:nvSpPr>
          <p:spPr>
            <a:xfrm>
              <a:off x="2612181" y="5430597"/>
              <a:ext cx="117837" cy="631506"/>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3" name="Rectangle 152">
              <a:extLst>
                <a:ext uri="{FF2B5EF4-FFF2-40B4-BE49-F238E27FC236}">
                  <a16:creationId xmlns:a16="http://schemas.microsoft.com/office/drawing/2014/main" id="{B3544860-6B0A-6692-E5C3-143B11F7DD57}"/>
                </a:ext>
              </a:extLst>
            </p:cNvPr>
            <p:cNvSpPr/>
            <p:nvPr/>
          </p:nvSpPr>
          <p:spPr>
            <a:xfrm>
              <a:off x="2917554" y="5433948"/>
              <a:ext cx="74441" cy="631506"/>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4" name="Rectangle 153">
              <a:extLst>
                <a:ext uri="{FF2B5EF4-FFF2-40B4-BE49-F238E27FC236}">
                  <a16:creationId xmlns:a16="http://schemas.microsoft.com/office/drawing/2014/main" id="{8891856C-662D-E2AB-0EDF-76C435C27B81}"/>
                </a:ext>
              </a:extLst>
            </p:cNvPr>
            <p:cNvSpPr/>
            <p:nvPr/>
          </p:nvSpPr>
          <p:spPr>
            <a:xfrm>
              <a:off x="3212307" y="5434388"/>
              <a:ext cx="54539" cy="637821"/>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5" name="Rectangle 154">
              <a:extLst>
                <a:ext uri="{FF2B5EF4-FFF2-40B4-BE49-F238E27FC236}">
                  <a16:creationId xmlns:a16="http://schemas.microsoft.com/office/drawing/2014/main" id="{1E5CEAE0-9DCC-3DAD-7A59-7750CCCDA995}"/>
                </a:ext>
              </a:extLst>
            </p:cNvPr>
            <p:cNvSpPr/>
            <p:nvPr/>
          </p:nvSpPr>
          <p:spPr>
            <a:xfrm>
              <a:off x="3503936" y="5430849"/>
              <a:ext cx="33865" cy="637821"/>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6" name="Rectangle 155">
              <a:extLst>
                <a:ext uri="{FF2B5EF4-FFF2-40B4-BE49-F238E27FC236}">
                  <a16:creationId xmlns:a16="http://schemas.microsoft.com/office/drawing/2014/main" id="{7422F545-296C-8DB5-8BE7-9F8FD5518641}"/>
                </a:ext>
              </a:extLst>
            </p:cNvPr>
            <p:cNvSpPr/>
            <p:nvPr/>
          </p:nvSpPr>
          <p:spPr>
            <a:xfrm>
              <a:off x="3782234" y="5420216"/>
              <a:ext cx="37251" cy="637821"/>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7" name="Rectangle 156">
              <a:extLst>
                <a:ext uri="{FF2B5EF4-FFF2-40B4-BE49-F238E27FC236}">
                  <a16:creationId xmlns:a16="http://schemas.microsoft.com/office/drawing/2014/main" id="{9949BE52-99F7-7905-6480-41461627AD1D}"/>
                </a:ext>
              </a:extLst>
            </p:cNvPr>
            <p:cNvSpPr/>
            <p:nvPr/>
          </p:nvSpPr>
          <p:spPr>
            <a:xfrm>
              <a:off x="4069000" y="5427310"/>
              <a:ext cx="30786" cy="637821"/>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8" name="Rectangle 157">
              <a:extLst>
                <a:ext uri="{FF2B5EF4-FFF2-40B4-BE49-F238E27FC236}">
                  <a16:creationId xmlns:a16="http://schemas.microsoft.com/office/drawing/2014/main" id="{7318921F-270F-D179-928D-0A1125D7A0E8}"/>
                </a:ext>
              </a:extLst>
            </p:cNvPr>
            <p:cNvSpPr/>
            <p:nvPr/>
          </p:nvSpPr>
          <p:spPr>
            <a:xfrm>
              <a:off x="4341470" y="5430846"/>
              <a:ext cx="59993" cy="637821"/>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mc:AlternateContent xmlns:mc="http://schemas.openxmlformats.org/markup-compatibility/2006" xmlns:a14="http://schemas.microsoft.com/office/drawing/2010/main">
        <mc:Choice Requires="a14">
          <p:sp>
            <p:nvSpPr>
              <p:cNvPr id="165" name="TextBox 164">
                <a:extLst>
                  <a:ext uri="{FF2B5EF4-FFF2-40B4-BE49-F238E27FC236}">
                    <a16:creationId xmlns:a16="http://schemas.microsoft.com/office/drawing/2014/main" id="{1AC996F9-53A5-0703-F545-78AEBA6080F9}"/>
                  </a:ext>
                </a:extLst>
              </p:cNvPr>
              <p:cNvSpPr txBox="1"/>
              <p:nvPr/>
            </p:nvSpPr>
            <p:spPr>
              <a:xfrm>
                <a:off x="8609943" y="4175243"/>
                <a:ext cx="309382" cy="307777"/>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400" b="1" i="1" smtClean="0">
                              <a:solidFill>
                                <a:srgbClr val="836967"/>
                              </a:solidFill>
                              <a:latin typeface="Cambria Math" panose="02040503050406030204" pitchFamily="18" charset="0"/>
                            </a:rPr>
                          </m:ctrlPr>
                        </m:sSubPr>
                        <m:e>
                          <m:r>
                            <a:rPr lang="en-GB" sz="1400" b="1" i="1" smtClean="0">
                              <a:solidFill>
                                <a:srgbClr val="836967"/>
                              </a:solidFill>
                              <a:latin typeface="Cambria Math" panose="02040503050406030204" pitchFamily="18" charset="0"/>
                            </a:rPr>
                            <m:t>𝑽</m:t>
                          </m:r>
                        </m:e>
                        <m:sub>
                          <m:r>
                            <a:rPr lang="en-GB" sz="1400" b="1" i="1" smtClean="0">
                              <a:latin typeface="Cambria Math" panose="02040503050406030204" pitchFamily="18" charset="0"/>
                            </a:rPr>
                            <m:t>𝒅𝒄</m:t>
                          </m:r>
                        </m:sub>
                      </m:sSub>
                    </m:oMath>
                  </m:oMathPara>
                </a14:m>
                <a:endParaRPr lang="en-GB" sz="1400" dirty="0"/>
              </a:p>
            </p:txBody>
          </p:sp>
        </mc:Choice>
        <mc:Fallback xmlns="">
          <p:sp>
            <p:nvSpPr>
              <p:cNvPr id="165" name="TextBox 164">
                <a:extLst>
                  <a:ext uri="{FF2B5EF4-FFF2-40B4-BE49-F238E27FC236}">
                    <a16:creationId xmlns:a16="http://schemas.microsoft.com/office/drawing/2014/main" id="{1AC996F9-53A5-0703-F545-78AEBA6080F9}"/>
                  </a:ext>
                </a:extLst>
              </p:cNvPr>
              <p:cNvSpPr txBox="1">
                <a:spLocks noRot="1" noChangeAspect="1" noMove="1" noResize="1" noEditPoints="1" noAdjustHandles="1" noChangeArrowheads="1" noChangeShapeType="1" noTextEdit="1"/>
              </p:cNvSpPr>
              <p:nvPr/>
            </p:nvSpPr>
            <p:spPr>
              <a:xfrm>
                <a:off x="8609943" y="4175243"/>
                <a:ext cx="309382" cy="307777"/>
              </a:xfrm>
              <a:prstGeom prst="rect">
                <a:avLst/>
              </a:prstGeom>
              <a:blipFill>
                <a:blip r:embed="rId12"/>
                <a:stretch>
                  <a:fillRect r="-30189"/>
                </a:stretch>
              </a:blipFill>
              <a:ln>
                <a:solidFill>
                  <a:schemeClr val="bg1"/>
                </a:solidFill>
              </a:ln>
            </p:spPr>
            <p:txBody>
              <a:bodyPr/>
              <a:lstStyle/>
              <a:p>
                <a:r>
                  <a:rPr lang="en-GB">
                    <a:noFill/>
                  </a:rPr>
                  <a:t> </a:t>
                </a:r>
              </a:p>
            </p:txBody>
          </p:sp>
        </mc:Fallback>
      </mc:AlternateContent>
      <p:sp>
        <p:nvSpPr>
          <p:cNvPr id="116" name="Rectangle 115">
            <a:extLst>
              <a:ext uri="{FF2B5EF4-FFF2-40B4-BE49-F238E27FC236}">
                <a16:creationId xmlns:a16="http://schemas.microsoft.com/office/drawing/2014/main" id="{526DAC97-F45F-4D96-17C3-D2E54003110B}"/>
              </a:ext>
            </a:extLst>
          </p:cNvPr>
          <p:cNvSpPr/>
          <p:nvPr/>
        </p:nvSpPr>
        <p:spPr>
          <a:xfrm>
            <a:off x="8142915" y="4217891"/>
            <a:ext cx="850985" cy="227864"/>
          </a:xfrm>
          <a:prstGeom prst="rect">
            <a:avLst/>
          </a:prstGeom>
          <a:solidFill>
            <a:srgbClr val="0070C0">
              <a:alpha val="3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26807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3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1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09"/>
                                        </p:tgtEl>
                                        <p:attrNameLst>
                                          <p:attrName>style.visibility</p:attrName>
                                        </p:attrNameLst>
                                      </p:cBhvr>
                                      <p:to>
                                        <p:strVal val="visible"/>
                                      </p:to>
                                    </p:set>
                                  </p:childTnLst>
                                </p:cTn>
                              </p:par>
                              <p:par>
                                <p:cTn id="47" presetID="1" presetClass="exit" presetSubtype="0" fill="hold" nodeType="withEffect">
                                  <p:stCondLst>
                                    <p:cond delay="0"/>
                                  </p:stCondLst>
                                  <p:childTnLst>
                                    <p:set>
                                      <p:cBhvr>
                                        <p:cTn id="48" dur="1" fill="hold">
                                          <p:stCondLst>
                                            <p:cond delay="0"/>
                                          </p:stCondLst>
                                        </p:cTn>
                                        <p:tgtEl>
                                          <p:spTgt spid="106"/>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1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 grpId="0" animBg="1"/>
      <p:bldP spid="113" grpId="0" animBg="1"/>
      <p:bldP spid="114" grpId="0" animBg="1"/>
      <p:bldP spid="115" grpId="0" animBg="1"/>
      <p:bldP spid="117" grpId="0" animBg="1"/>
      <p:bldP spid="11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DAB49-4E83-D5C9-EF6D-0F2CE1E6855E}"/>
              </a:ext>
            </a:extLst>
          </p:cNvPr>
          <p:cNvSpPr>
            <a:spLocks noGrp="1"/>
          </p:cNvSpPr>
          <p:nvPr>
            <p:ph type="title"/>
          </p:nvPr>
        </p:nvSpPr>
        <p:spPr>
          <a:xfrm>
            <a:off x="185741" y="125608"/>
            <a:ext cx="7886700" cy="721053"/>
          </a:xfrm>
        </p:spPr>
        <p:txBody>
          <a:bodyPr/>
          <a:lstStyle/>
          <a:p>
            <a:r>
              <a:rPr lang="en-US" dirty="0"/>
              <a:t>Operation</a:t>
            </a:r>
          </a:p>
        </p:txBody>
      </p:sp>
      <p:pic>
        <p:nvPicPr>
          <p:cNvPr id="4" name="Picture 3">
            <a:extLst>
              <a:ext uri="{FF2B5EF4-FFF2-40B4-BE49-F238E27FC236}">
                <a16:creationId xmlns:a16="http://schemas.microsoft.com/office/drawing/2014/main" id="{E4420B68-FF33-2416-AE45-875F40A1C131}"/>
              </a:ext>
            </a:extLst>
          </p:cNvPr>
          <p:cNvPicPr>
            <a:picLocks noChangeAspect="1"/>
          </p:cNvPicPr>
          <p:nvPr/>
        </p:nvPicPr>
        <p:blipFill>
          <a:blip r:embed="rId3"/>
          <a:stretch>
            <a:fillRect/>
          </a:stretch>
        </p:blipFill>
        <p:spPr>
          <a:xfrm>
            <a:off x="-61147" y="975444"/>
            <a:ext cx="6230219" cy="4248743"/>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71D1AD2-FA7B-FF62-8A71-D2D14E73EF5B}"/>
                  </a:ext>
                </a:extLst>
              </p:cNvPr>
              <p:cNvSpPr txBox="1"/>
              <p:nvPr/>
            </p:nvSpPr>
            <p:spPr>
              <a:xfrm>
                <a:off x="5411525" y="1389104"/>
                <a:ext cx="234563" cy="307777"/>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400" b="1" i="1" smtClean="0">
                              <a:solidFill>
                                <a:srgbClr val="836967"/>
                              </a:solidFill>
                              <a:latin typeface="Cambria Math" panose="02040503050406030204" pitchFamily="18" charset="0"/>
                            </a:rPr>
                          </m:ctrlPr>
                        </m:sSubPr>
                        <m:e>
                          <m:r>
                            <a:rPr lang="en-GB" sz="1400" b="1" i="1" smtClean="0">
                              <a:solidFill>
                                <a:srgbClr val="836967"/>
                              </a:solidFill>
                              <a:latin typeface="Cambria Math" panose="02040503050406030204" pitchFamily="18" charset="0"/>
                            </a:rPr>
                            <m:t>𝑽</m:t>
                          </m:r>
                        </m:e>
                        <m:sub>
                          <m:r>
                            <a:rPr lang="en-GB" sz="1400" b="1" i="1" smtClean="0">
                              <a:latin typeface="Cambria Math" panose="02040503050406030204" pitchFamily="18" charset="0"/>
                            </a:rPr>
                            <m:t>𝒅𝒄</m:t>
                          </m:r>
                        </m:sub>
                      </m:sSub>
                    </m:oMath>
                  </m:oMathPara>
                </a14:m>
                <a:endParaRPr lang="en-GB" sz="1400" dirty="0"/>
              </a:p>
            </p:txBody>
          </p:sp>
        </mc:Choice>
        <mc:Fallback xmlns="">
          <p:sp>
            <p:nvSpPr>
              <p:cNvPr id="6" name="TextBox 5">
                <a:extLst>
                  <a:ext uri="{FF2B5EF4-FFF2-40B4-BE49-F238E27FC236}">
                    <a16:creationId xmlns:a16="http://schemas.microsoft.com/office/drawing/2014/main" id="{871D1AD2-FA7B-FF62-8A71-D2D14E73EF5B}"/>
                  </a:ext>
                </a:extLst>
              </p:cNvPr>
              <p:cNvSpPr txBox="1">
                <a:spLocks noRot="1" noChangeAspect="1" noMove="1" noResize="1" noEditPoints="1" noAdjustHandles="1" noChangeArrowheads="1" noChangeShapeType="1" noTextEdit="1"/>
              </p:cNvSpPr>
              <p:nvPr/>
            </p:nvSpPr>
            <p:spPr>
              <a:xfrm>
                <a:off x="5411525" y="1389104"/>
                <a:ext cx="234563" cy="307777"/>
              </a:xfrm>
              <a:prstGeom prst="rect">
                <a:avLst/>
              </a:prstGeom>
              <a:blipFill>
                <a:blip r:embed="rId4"/>
                <a:stretch>
                  <a:fillRect r="-70000"/>
                </a:stretch>
              </a:blipFill>
              <a:ln>
                <a:solidFill>
                  <a:schemeClr val="bg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B84E363-524A-13FC-91B3-66F848C1808A}"/>
                  </a:ext>
                </a:extLst>
              </p:cNvPr>
              <p:cNvSpPr txBox="1"/>
              <p:nvPr/>
            </p:nvSpPr>
            <p:spPr>
              <a:xfrm>
                <a:off x="5446643" y="2606979"/>
                <a:ext cx="234563" cy="307777"/>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400" b="1" i="1" smtClean="0">
                              <a:solidFill>
                                <a:srgbClr val="836967"/>
                              </a:solidFill>
                              <a:latin typeface="Cambria Math" panose="02040503050406030204" pitchFamily="18" charset="0"/>
                            </a:rPr>
                          </m:ctrlPr>
                        </m:sSubPr>
                        <m:e>
                          <m:r>
                            <a:rPr lang="en-GB" sz="1400" b="1" i="1" smtClean="0">
                              <a:solidFill>
                                <a:srgbClr val="836967"/>
                              </a:solidFill>
                              <a:latin typeface="Cambria Math" panose="02040503050406030204" pitchFamily="18" charset="0"/>
                            </a:rPr>
                            <m:t>𝑽</m:t>
                          </m:r>
                        </m:e>
                        <m:sub>
                          <m:r>
                            <a:rPr lang="en-GB" sz="1400" b="1" i="1" smtClean="0">
                              <a:latin typeface="Cambria Math" panose="02040503050406030204" pitchFamily="18" charset="0"/>
                            </a:rPr>
                            <m:t>𝒅𝒄</m:t>
                          </m:r>
                        </m:sub>
                      </m:sSub>
                    </m:oMath>
                  </m:oMathPara>
                </a14:m>
                <a:endParaRPr lang="en-GB" sz="1400" dirty="0"/>
              </a:p>
            </p:txBody>
          </p:sp>
        </mc:Choice>
        <mc:Fallback xmlns="">
          <p:sp>
            <p:nvSpPr>
              <p:cNvPr id="7" name="TextBox 6">
                <a:extLst>
                  <a:ext uri="{FF2B5EF4-FFF2-40B4-BE49-F238E27FC236}">
                    <a16:creationId xmlns:a16="http://schemas.microsoft.com/office/drawing/2014/main" id="{FB84E363-524A-13FC-91B3-66F848C1808A}"/>
                  </a:ext>
                </a:extLst>
              </p:cNvPr>
              <p:cNvSpPr txBox="1">
                <a:spLocks noRot="1" noChangeAspect="1" noMove="1" noResize="1" noEditPoints="1" noAdjustHandles="1" noChangeArrowheads="1" noChangeShapeType="1" noTextEdit="1"/>
              </p:cNvSpPr>
              <p:nvPr/>
            </p:nvSpPr>
            <p:spPr>
              <a:xfrm>
                <a:off x="5446643" y="2606979"/>
                <a:ext cx="234563" cy="307777"/>
              </a:xfrm>
              <a:prstGeom prst="rect">
                <a:avLst/>
              </a:prstGeom>
              <a:blipFill>
                <a:blip r:embed="rId5"/>
                <a:stretch>
                  <a:fillRect r="-68293"/>
                </a:stretch>
              </a:blipFill>
              <a:ln>
                <a:solidFill>
                  <a:schemeClr val="bg1"/>
                </a:solidFill>
              </a:ln>
            </p:spPr>
            <p:txBody>
              <a:bodyPr/>
              <a:lstStyle/>
              <a:p>
                <a:r>
                  <a:rPr lang="en-GB">
                    <a:noFill/>
                  </a:rPr>
                  <a:t> </a:t>
                </a:r>
              </a:p>
            </p:txBody>
          </p:sp>
        </mc:Fallback>
      </mc:AlternateContent>
      <p:grpSp>
        <p:nvGrpSpPr>
          <p:cNvPr id="79" name="Group 78">
            <a:extLst>
              <a:ext uri="{FF2B5EF4-FFF2-40B4-BE49-F238E27FC236}">
                <a16:creationId xmlns:a16="http://schemas.microsoft.com/office/drawing/2014/main" id="{C458F530-CF01-A1DB-3B29-76D75E9A53A1}"/>
              </a:ext>
            </a:extLst>
          </p:cNvPr>
          <p:cNvGrpSpPr/>
          <p:nvPr/>
        </p:nvGrpSpPr>
        <p:grpSpPr>
          <a:xfrm>
            <a:off x="6020762" y="1058351"/>
            <a:ext cx="2818997" cy="2193997"/>
            <a:chOff x="6205954" y="430619"/>
            <a:chExt cx="2818997" cy="2193997"/>
          </a:xfrm>
        </p:grpSpPr>
        <p:pic>
          <p:nvPicPr>
            <p:cNvPr id="8" name="Picture 7">
              <a:extLst>
                <a:ext uri="{FF2B5EF4-FFF2-40B4-BE49-F238E27FC236}">
                  <a16:creationId xmlns:a16="http://schemas.microsoft.com/office/drawing/2014/main" id="{8C3A9BD0-F668-14F2-D8D8-B4B7E7700DBF}"/>
                </a:ext>
              </a:extLst>
            </p:cNvPr>
            <p:cNvPicPr>
              <a:picLocks noChangeAspect="1"/>
            </p:cNvPicPr>
            <p:nvPr/>
          </p:nvPicPr>
          <p:blipFill>
            <a:blip r:embed="rId6"/>
            <a:stretch>
              <a:fillRect/>
            </a:stretch>
          </p:blipFill>
          <p:spPr>
            <a:xfrm>
              <a:off x="6205954" y="430619"/>
              <a:ext cx="2818997" cy="2193997"/>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DEDDC91-6896-053F-F8A0-79FA626B6FC3}"/>
                    </a:ext>
                  </a:extLst>
                </p:cNvPr>
                <p:cNvSpPr txBox="1"/>
                <p:nvPr/>
              </p:nvSpPr>
              <p:spPr>
                <a:xfrm>
                  <a:off x="7167576" y="1452249"/>
                  <a:ext cx="275144" cy="266039"/>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100" b="1" i="1" smtClean="0">
                                <a:solidFill>
                                  <a:srgbClr val="836967"/>
                                </a:solidFill>
                                <a:latin typeface="Cambria Math" panose="02040503050406030204" pitchFamily="18" charset="0"/>
                              </a:rPr>
                            </m:ctrlPr>
                          </m:sSubPr>
                          <m:e>
                            <m:r>
                              <a:rPr lang="en-GB" sz="1100" b="1" i="1" smtClean="0">
                                <a:solidFill>
                                  <a:srgbClr val="836967"/>
                                </a:solidFill>
                                <a:latin typeface="Cambria Math" panose="02040503050406030204" pitchFamily="18" charset="0"/>
                              </a:rPr>
                              <m:t>𝒗</m:t>
                            </m:r>
                          </m:e>
                          <m:sub>
                            <m:r>
                              <a:rPr lang="en-GB" sz="1100" b="1" i="1" smtClean="0">
                                <a:latin typeface="Cambria Math" panose="02040503050406030204" pitchFamily="18" charset="0"/>
                              </a:rPr>
                              <m:t>𝑨𝑵</m:t>
                            </m:r>
                          </m:sub>
                        </m:sSub>
                      </m:oMath>
                    </m:oMathPara>
                  </a14:m>
                  <a:endParaRPr lang="en-US" sz="1100" b="1" dirty="0"/>
                </a:p>
              </p:txBody>
            </p:sp>
          </mc:Choice>
          <mc:Fallback xmlns="">
            <p:sp>
              <p:nvSpPr>
                <p:cNvPr id="9" name="TextBox 8">
                  <a:extLst>
                    <a:ext uri="{FF2B5EF4-FFF2-40B4-BE49-F238E27FC236}">
                      <a16:creationId xmlns:a16="http://schemas.microsoft.com/office/drawing/2014/main" id="{7DEDDC91-6896-053F-F8A0-79FA626B6FC3}"/>
                    </a:ext>
                  </a:extLst>
                </p:cNvPr>
                <p:cNvSpPr txBox="1">
                  <a:spLocks noRot="1" noChangeAspect="1" noMove="1" noResize="1" noEditPoints="1" noAdjustHandles="1" noChangeArrowheads="1" noChangeShapeType="1" noTextEdit="1"/>
                </p:cNvSpPr>
                <p:nvPr/>
              </p:nvSpPr>
              <p:spPr>
                <a:xfrm>
                  <a:off x="7167576" y="1452249"/>
                  <a:ext cx="275144" cy="266039"/>
                </a:xfrm>
                <a:prstGeom prst="rect">
                  <a:avLst/>
                </a:prstGeom>
                <a:blipFill>
                  <a:blip r:embed="rId7"/>
                  <a:stretch>
                    <a:fillRect r="-25000"/>
                  </a:stretch>
                </a:blipFill>
                <a:ln>
                  <a:solidFill>
                    <a:schemeClr val="bg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4EED36DB-70A4-4F1E-C4C9-C1FA57E35FA6}"/>
                    </a:ext>
                  </a:extLst>
                </p:cNvPr>
                <p:cNvSpPr txBox="1"/>
                <p:nvPr/>
              </p:nvSpPr>
              <p:spPr>
                <a:xfrm>
                  <a:off x="8433953" y="1452249"/>
                  <a:ext cx="275144" cy="266039"/>
                </a:xfrm>
                <a:prstGeom prst="rect">
                  <a:avLst/>
                </a:prstGeom>
                <a:noFill/>
                <a:ln>
                  <a:no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100" b="1" i="1" smtClean="0">
                                <a:solidFill>
                                  <a:srgbClr val="836967"/>
                                </a:solidFill>
                                <a:latin typeface="Cambria Math" panose="02040503050406030204" pitchFamily="18" charset="0"/>
                              </a:rPr>
                            </m:ctrlPr>
                          </m:sSubPr>
                          <m:e>
                            <m:r>
                              <a:rPr lang="en-GB" sz="1100" b="1" i="1" smtClean="0">
                                <a:solidFill>
                                  <a:srgbClr val="836967"/>
                                </a:solidFill>
                                <a:latin typeface="Cambria Math" panose="02040503050406030204" pitchFamily="18" charset="0"/>
                              </a:rPr>
                              <m:t>𝒗</m:t>
                            </m:r>
                          </m:e>
                          <m:sub>
                            <m:r>
                              <a:rPr lang="en-GB" sz="1100" b="1" i="1" smtClean="0">
                                <a:latin typeface="Cambria Math" panose="02040503050406030204" pitchFamily="18" charset="0"/>
                              </a:rPr>
                              <m:t>𝑩𝑵</m:t>
                            </m:r>
                          </m:sub>
                        </m:sSub>
                      </m:oMath>
                    </m:oMathPara>
                  </a14:m>
                  <a:endParaRPr lang="en-US" sz="1100" b="1" dirty="0"/>
                </a:p>
              </p:txBody>
            </p:sp>
          </mc:Choice>
          <mc:Fallback xmlns="">
            <p:sp>
              <p:nvSpPr>
                <p:cNvPr id="10" name="TextBox 9">
                  <a:extLst>
                    <a:ext uri="{FF2B5EF4-FFF2-40B4-BE49-F238E27FC236}">
                      <a16:creationId xmlns:a16="http://schemas.microsoft.com/office/drawing/2014/main" id="{4EED36DB-70A4-4F1E-C4C9-C1FA57E35FA6}"/>
                    </a:ext>
                  </a:extLst>
                </p:cNvPr>
                <p:cNvSpPr txBox="1">
                  <a:spLocks noRot="1" noChangeAspect="1" noMove="1" noResize="1" noEditPoints="1" noAdjustHandles="1" noChangeArrowheads="1" noChangeShapeType="1" noTextEdit="1"/>
                </p:cNvSpPr>
                <p:nvPr/>
              </p:nvSpPr>
              <p:spPr>
                <a:xfrm>
                  <a:off x="8433953" y="1452249"/>
                  <a:ext cx="275144" cy="266039"/>
                </a:xfrm>
                <a:prstGeom prst="rect">
                  <a:avLst/>
                </a:prstGeom>
                <a:blipFill>
                  <a:blip r:embed="rId8"/>
                  <a:stretch>
                    <a:fillRect r="-33333"/>
                  </a:stretch>
                </a:blipFill>
                <a:ln>
                  <a:noFill/>
                </a:ln>
              </p:spPr>
              <p:txBody>
                <a:bodyPr/>
                <a:lstStyle/>
                <a:p>
                  <a:r>
                    <a:rPr lang="en-GB">
                      <a:noFill/>
                    </a:rPr>
                    <a:t> </a:t>
                  </a:r>
                </a:p>
              </p:txBody>
            </p:sp>
          </mc:Fallback>
        </mc:AlternateContent>
      </p:grpSp>
      <p:grpSp>
        <p:nvGrpSpPr>
          <p:cNvPr id="78" name="Group 77">
            <a:extLst>
              <a:ext uri="{FF2B5EF4-FFF2-40B4-BE49-F238E27FC236}">
                <a16:creationId xmlns:a16="http://schemas.microsoft.com/office/drawing/2014/main" id="{1E0EFE44-AD73-41ED-8326-BB809B02C251}"/>
              </a:ext>
            </a:extLst>
          </p:cNvPr>
          <p:cNvGrpSpPr/>
          <p:nvPr/>
        </p:nvGrpSpPr>
        <p:grpSpPr>
          <a:xfrm>
            <a:off x="1233064" y="999275"/>
            <a:ext cx="3800662" cy="4270419"/>
            <a:chOff x="1479952" y="1328459"/>
            <a:chExt cx="3800662" cy="4270419"/>
          </a:xfrm>
        </p:grpSpPr>
        <p:cxnSp>
          <p:nvCxnSpPr>
            <p:cNvPr id="12" name="Straight Connector 11">
              <a:extLst>
                <a:ext uri="{FF2B5EF4-FFF2-40B4-BE49-F238E27FC236}">
                  <a16:creationId xmlns:a16="http://schemas.microsoft.com/office/drawing/2014/main" id="{C658E9A4-D76F-4CC8-D5F0-F4437C7E5864}"/>
                </a:ext>
              </a:extLst>
            </p:cNvPr>
            <p:cNvCxnSpPr>
              <a:cxnSpLocks/>
            </p:cNvCxnSpPr>
            <p:nvPr/>
          </p:nvCxnSpPr>
          <p:spPr>
            <a:xfrm flipV="1">
              <a:off x="1519400" y="1347157"/>
              <a:ext cx="403" cy="416661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1694F67-BE4C-A07D-664B-3D248E5288D4}"/>
                </a:ext>
              </a:extLst>
            </p:cNvPr>
            <p:cNvCxnSpPr>
              <a:cxnSpLocks/>
            </p:cNvCxnSpPr>
            <p:nvPr/>
          </p:nvCxnSpPr>
          <p:spPr>
            <a:xfrm flipV="1">
              <a:off x="1479952" y="1328459"/>
              <a:ext cx="403" cy="416661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E3C1865-B123-0F17-ECB1-506E75305F0E}"/>
                </a:ext>
              </a:extLst>
            </p:cNvPr>
            <p:cNvCxnSpPr>
              <a:cxnSpLocks/>
            </p:cNvCxnSpPr>
            <p:nvPr/>
          </p:nvCxnSpPr>
          <p:spPr>
            <a:xfrm flipV="1">
              <a:off x="1646396" y="1345290"/>
              <a:ext cx="403" cy="416661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8F8E9B3-D1FE-A33C-F508-3505CD0FCF85}"/>
                </a:ext>
              </a:extLst>
            </p:cNvPr>
            <p:cNvCxnSpPr>
              <a:cxnSpLocks/>
            </p:cNvCxnSpPr>
            <p:nvPr/>
          </p:nvCxnSpPr>
          <p:spPr>
            <a:xfrm flipV="1">
              <a:off x="1719775" y="1336666"/>
              <a:ext cx="403" cy="416661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D6A26252-2D65-AD19-890A-F7D4115123D7}"/>
                </a:ext>
              </a:extLst>
            </p:cNvPr>
            <p:cNvCxnSpPr>
              <a:cxnSpLocks/>
            </p:cNvCxnSpPr>
            <p:nvPr/>
          </p:nvCxnSpPr>
          <p:spPr>
            <a:xfrm flipV="1">
              <a:off x="1968562" y="1350967"/>
              <a:ext cx="403" cy="416661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947F8335-23CC-410F-5D5D-DC92FFCDFF76}"/>
                </a:ext>
              </a:extLst>
            </p:cNvPr>
            <p:cNvCxnSpPr>
              <a:cxnSpLocks/>
            </p:cNvCxnSpPr>
            <p:nvPr/>
          </p:nvCxnSpPr>
          <p:spPr>
            <a:xfrm flipV="1">
              <a:off x="2070221" y="1344618"/>
              <a:ext cx="403" cy="416661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D622A59-BDD9-317E-6E39-6424EE001840}"/>
                </a:ext>
              </a:extLst>
            </p:cNvPr>
            <p:cNvCxnSpPr>
              <a:cxnSpLocks/>
            </p:cNvCxnSpPr>
            <p:nvPr/>
          </p:nvCxnSpPr>
          <p:spPr>
            <a:xfrm flipV="1">
              <a:off x="3000374" y="1354652"/>
              <a:ext cx="403" cy="416661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6D7F018-E509-210E-8C80-E7D0D8CAF1AA}"/>
                </a:ext>
              </a:extLst>
            </p:cNvPr>
            <p:cNvCxnSpPr>
              <a:cxnSpLocks/>
            </p:cNvCxnSpPr>
            <p:nvPr/>
          </p:nvCxnSpPr>
          <p:spPr>
            <a:xfrm flipV="1">
              <a:off x="1894905" y="1353731"/>
              <a:ext cx="0" cy="4126728"/>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D40731C-4D2C-33FC-B9E0-19778627A8EB}"/>
                </a:ext>
              </a:extLst>
            </p:cNvPr>
            <p:cNvCxnSpPr>
              <a:cxnSpLocks/>
            </p:cNvCxnSpPr>
            <p:nvPr/>
          </p:nvCxnSpPr>
          <p:spPr>
            <a:xfrm flipV="1">
              <a:off x="2806119" y="1351837"/>
              <a:ext cx="403" cy="416661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E44BE4AD-9D57-348B-79DC-0B7D8F0CFC5B}"/>
                </a:ext>
              </a:extLst>
            </p:cNvPr>
            <p:cNvCxnSpPr>
              <a:cxnSpLocks/>
            </p:cNvCxnSpPr>
            <p:nvPr/>
          </p:nvCxnSpPr>
          <p:spPr>
            <a:xfrm flipV="1">
              <a:off x="2603763" y="1361361"/>
              <a:ext cx="403" cy="416661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FD0E31C-799A-E9DE-0B0D-EADB69BB7C14}"/>
                </a:ext>
              </a:extLst>
            </p:cNvPr>
            <p:cNvCxnSpPr>
              <a:cxnSpLocks/>
            </p:cNvCxnSpPr>
            <p:nvPr/>
          </p:nvCxnSpPr>
          <p:spPr>
            <a:xfrm flipV="1">
              <a:off x="2292768" y="1373907"/>
              <a:ext cx="403" cy="416661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2419C06B-E868-A99D-5515-8FBB32550747}"/>
                </a:ext>
              </a:extLst>
            </p:cNvPr>
            <p:cNvCxnSpPr>
              <a:cxnSpLocks/>
            </p:cNvCxnSpPr>
            <p:nvPr/>
          </p:nvCxnSpPr>
          <p:spPr>
            <a:xfrm flipV="1">
              <a:off x="2897405" y="1359267"/>
              <a:ext cx="403" cy="416661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B9B31A48-563C-7962-B49B-FC63178D9BA0}"/>
                </a:ext>
              </a:extLst>
            </p:cNvPr>
            <p:cNvCxnSpPr>
              <a:cxnSpLocks/>
            </p:cNvCxnSpPr>
            <p:nvPr/>
          </p:nvCxnSpPr>
          <p:spPr>
            <a:xfrm flipV="1">
              <a:off x="3165636" y="1386792"/>
              <a:ext cx="40095" cy="4150819"/>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E39DC789-6B5C-5248-43AF-E88232E339A6}"/>
                </a:ext>
              </a:extLst>
            </p:cNvPr>
            <p:cNvCxnSpPr>
              <a:cxnSpLocks/>
            </p:cNvCxnSpPr>
            <p:nvPr/>
          </p:nvCxnSpPr>
          <p:spPr>
            <a:xfrm flipV="1">
              <a:off x="3060615" y="1354613"/>
              <a:ext cx="403" cy="416661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F3C63E97-E922-8633-06AA-49EB4BF2E1C9}"/>
                </a:ext>
              </a:extLst>
            </p:cNvPr>
            <p:cNvCxnSpPr>
              <a:cxnSpLocks/>
            </p:cNvCxnSpPr>
            <p:nvPr/>
          </p:nvCxnSpPr>
          <p:spPr>
            <a:xfrm flipV="1">
              <a:off x="2638444" y="1361880"/>
              <a:ext cx="11925" cy="4132445"/>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577186BF-4CD4-401E-42A7-3A2CCB326BBC}"/>
                </a:ext>
              </a:extLst>
            </p:cNvPr>
            <p:cNvCxnSpPr>
              <a:cxnSpLocks/>
            </p:cNvCxnSpPr>
            <p:nvPr/>
          </p:nvCxnSpPr>
          <p:spPr>
            <a:xfrm flipV="1">
              <a:off x="3222186" y="1337726"/>
              <a:ext cx="403" cy="416661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A92542BA-F583-66CA-E3FE-5E2C6E5299F0}"/>
                </a:ext>
              </a:extLst>
            </p:cNvPr>
            <p:cNvCxnSpPr>
              <a:cxnSpLocks/>
            </p:cNvCxnSpPr>
            <p:nvPr/>
          </p:nvCxnSpPr>
          <p:spPr>
            <a:xfrm flipV="1">
              <a:off x="2091197" y="1345890"/>
              <a:ext cx="66758" cy="4156413"/>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441A7AC5-DF6C-562F-4D78-FDC778ADB858}"/>
                </a:ext>
              </a:extLst>
            </p:cNvPr>
            <p:cNvCxnSpPr>
              <a:cxnSpLocks/>
            </p:cNvCxnSpPr>
            <p:nvPr/>
          </p:nvCxnSpPr>
          <p:spPr>
            <a:xfrm flipV="1">
              <a:off x="2239265" y="1339104"/>
              <a:ext cx="443" cy="416661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469E6383-1389-9CA8-6F79-779E4B906517}"/>
                </a:ext>
              </a:extLst>
            </p:cNvPr>
            <p:cNvCxnSpPr>
              <a:cxnSpLocks/>
            </p:cNvCxnSpPr>
            <p:nvPr/>
          </p:nvCxnSpPr>
          <p:spPr>
            <a:xfrm flipV="1">
              <a:off x="1809047" y="1354961"/>
              <a:ext cx="403" cy="416661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11C76AE3-73C7-1113-5EE9-E914D54A5C18}"/>
                </a:ext>
              </a:extLst>
            </p:cNvPr>
            <p:cNvCxnSpPr>
              <a:cxnSpLocks/>
            </p:cNvCxnSpPr>
            <p:nvPr/>
          </p:nvCxnSpPr>
          <p:spPr>
            <a:xfrm flipV="1">
              <a:off x="2739873" y="1363765"/>
              <a:ext cx="17552" cy="4169083"/>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BEA8664C-3D61-F3DB-2103-07F3751C8A57}"/>
                </a:ext>
              </a:extLst>
            </p:cNvPr>
            <p:cNvCxnSpPr>
              <a:cxnSpLocks/>
            </p:cNvCxnSpPr>
            <p:nvPr/>
          </p:nvCxnSpPr>
          <p:spPr>
            <a:xfrm flipV="1">
              <a:off x="3556260" y="1364390"/>
              <a:ext cx="403" cy="416661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83C7071C-4152-9E49-77E9-02B150DCB08F}"/>
                </a:ext>
              </a:extLst>
            </p:cNvPr>
            <p:cNvCxnSpPr>
              <a:cxnSpLocks/>
            </p:cNvCxnSpPr>
            <p:nvPr/>
          </p:nvCxnSpPr>
          <p:spPr>
            <a:xfrm flipV="1">
              <a:off x="3504113" y="1354158"/>
              <a:ext cx="403" cy="416661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534EBAD3-AC2B-BE4A-30A9-34AE1427FB2B}"/>
                </a:ext>
              </a:extLst>
            </p:cNvPr>
            <p:cNvCxnSpPr>
              <a:cxnSpLocks/>
            </p:cNvCxnSpPr>
            <p:nvPr/>
          </p:nvCxnSpPr>
          <p:spPr>
            <a:xfrm flipV="1">
              <a:off x="3666324" y="1362523"/>
              <a:ext cx="403" cy="416661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56B8E553-BEE0-6156-7E19-AACACA5290E8}"/>
                </a:ext>
              </a:extLst>
            </p:cNvPr>
            <p:cNvCxnSpPr>
              <a:cxnSpLocks/>
            </p:cNvCxnSpPr>
            <p:nvPr/>
          </p:nvCxnSpPr>
          <p:spPr>
            <a:xfrm flipV="1">
              <a:off x="3748169" y="1353899"/>
              <a:ext cx="403" cy="416661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A9DFE806-FA6E-9927-72F7-1D8E633AB843}"/>
                </a:ext>
              </a:extLst>
            </p:cNvPr>
            <p:cNvCxnSpPr>
              <a:cxnSpLocks/>
            </p:cNvCxnSpPr>
            <p:nvPr/>
          </p:nvCxnSpPr>
          <p:spPr>
            <a:xfrm flipV="1">
              <a:off x="4005422" y="1368200"/>
              <a:ext cx="403" cy="416661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960C03CD-FA29-30B3-BED5-EF1320F428E8}"/>
                </a:ext>
              </a:extLst>
            </p:cNvPr>
            <p:cNvCxnSpPr>
              <a:cxnSpLocks/>
            </p:cNvCxnSpPr>
            <p:nvPr/>
          </p:nvCxnSpPr>
          <p:spPr>
            <a:xfrm flipV="1">
              <a:off x="4107081" y="1361851"/>
              <a:ext cx="403" cy="416661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11DFD0C4-FF89-5C96-3B85-BA9801D4E5A4}"/>
                </a:ext>
              </a:extLst>
            </p:cNvPr>
            <p:cNvCxnSpPr>
              <a:cxnSpLocks/>
            </p:cNvCxnSpPr>
            <p:nvPr/>
          </p:nvCxnSpPr>
          <p:spPr>
            <a:xfrm flipV="1">
              <a:off x="5033001" y="1371885"/>
              <a:ext cx="403" cy="416661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6D31EB01-FC16-D969-1E1B-A6046D171113}"/>
                </a:ext>
              </a:extLst>
            </p:cNvPr>
            <p:cNvCxnSpPr>
              <a:cxnSpLocks/>
            </p:cNvCxnSpPr>
            <p:nvPr/>
          </p:nvCxnSpPr>
          <p:spPr>
            <a:xfrm flipV="1">
              <a:off x="3931765" y="1370964"/>
              <a:ext cx="0" cy="4126728"/>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28353CED-A9B9-98D4-38E2-7A8B2B8FF596}"/>
                </a:ext>
              </a:extLst>
            </p:cNvPr>
            <p:cNvCxnSpPr>
              <a:cxnSpLocks/>
            </p:cNvCxnSpPr>
            <p:nvPr/>
          </p:nvCxnSpPr>
          <p:spPr>
            <a:xfrm flipV="1">
              <a:off x="4842979" y="1369070"/>
              <a:ext cx="403" cy="416661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BA29F8A9-A568-5585-D950-938684002769}"/>
                </a:ext>
              </a:extLst>
            </p:cNvPr>
            <p:cNvCxnSpPr>
              <a:cxnSpLocks/>
            </p:cNvCxnSpPr>
            <p:nvPr/>
          </p:nvCxnSpPr>
          <p:spPr>
            <a:xfrm flipV="1">
              <a:off x="4623691" y="1382827"/>
              <a:ext cx="403" cy="416661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64AA8C2D-CC90-C9E7-9CE6-B5B10F5B9774}"/>
                </a:ext>
              </a:extLst>
            </p:cNvPr>
            <p:cNvCxnSpPr>
              <a:cxnSpLocks/>
            </p:cNvCxnSpPr>
            <p:nvPr/>
          </p:nvCxnSpPr>
          <p:spPr>
            <a:xfrm flipV="1">
              <a:off x="4325395" y="1361509"/>
              <a:ext cx="403" cy="416661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698DE6F8-54CD-ECE3-6A30-D5F026366A34}"/>
                </a:ext>
              </a:extLst>
            </p:cNvPr>
            <p:cNvCxnSpPr>
              <a:cxnSpLocks/>
            </p:cNvCxnSpPr>
            <p:nvPr/>
          </p:nvCxnSpPr>
          <p:spPr>
            <a:xfrm flipV="1">
              <a:off x="4951197" y="1376500"/>
              <a:ext cx="403" cy="416661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F2BC361E-474D-29BC-90F4-952D60955E4C}"/>
                </a:ext>
              </a:extLst>
            </p:cNvPr>
            <p:cNvCxnSpPr>
              <a:cxnSpLocks/>
            </p:cNvCxnSpPr>
            <p:nvPr/>
          </p:nvCxnSpPr>
          <p:spPr>
            <a:xfrm flipV="1">
              <a:off x="5199388" y="1404025"/>
              <a:ext cx="40095" cy="4150819"/>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B026B7EA-8DF4-5F16-6672-13D792D5F14A}"/>
                </a:ext>
              </a:extLst>
            </p:cNvPr>
            <p:cNvCxnSpPr>
              <a:cxnSpLocks/>
            </p:cNvCxnSpPr>
            <p:nvPr/>
          </p:nvCxnSpPr>
          <p:spPr>
            <a:xfrm flipV="1">
              <a:off x="5105941" y="1371846"/>
              <a:ext cx="403" cy="416661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5E793552-A6F8-DED0-B847-4BC0EF906E78}"/>
                </a:ext>
              </a:extLst>
            </p:cNvPr>
            <p:cNvCxnSpPr>
              <a:cxnSpLocks/>
            </p:cNvCxnSpPr>
            <p:nvPr/>
          </p:nvCxnSpPr>
          <p:spPr>
            <a:xfrm flipV="1">
              <a:off x="4675304" y="1379113"/>
              <a:ext cx="11925" cy="4132445"/>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C66BCF37-2ABA-6333-6336-13587CECF34C}"/>
                </a:ext>
              </a:extLst>
            </p:cNvPr>
            <p:cNvCxnSpPr>
              <a:cxnSpLocks/>
            </p:cNvCxnSpPr>
            <p:nvPr/>
          </p:nvCxnSpPr>
          <p:spPr>
            <a:xfrm flipV="1">
              <a:off x="5280211" y="1380357"/>
              <a:ext cx="403" cy="416661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23170BC9-8103-5F99-EA2C-9077DAF38A15}"/>
                </a:ext>
              </a:extLst>
            </p:cNvPr>
            <p:cNvCxnSpPr>
              <a:cxnSpLocks/>
            </p:cNvCxnSpPr>
            <p:nvPr/>
          </p:nvCxnSpPr>
          <p:spPr>
            <a:xfrm flipV="1">
              <a:off x="4157689" y="1363123"/>
              <a:ext cx="66758" cy="4156413"/>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82ABBDC4-02C5-C497-BE61-910601EF6CEB}"/>
                </a:ext>
              </a:extLst>
            </p:cNvPr>
            <p:cNvCxnSpPr>
              <a:cxnSpLocks/>
            </p:cNvCxnSpPr>
            <p:nvPr/>
          </p:nvCxnSpPr>
          <p:spPr>
            <a:xfrm flipV="1">
              <a:off x="4276125" y="1356337"/>
              <a:ext cx="443" cy="416661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C6BDF0CF-E179-B3C8-2044-76F5D28ABA3A}"/>
                </a:ext>
              </a:extLst>
            </p:cNvPr>
            <p:cNvCxnSpPr>
              <a:cxnSpLocks/>
            </p:cNvCxnSpPr>
            <p:nvPr/>
          </p:nvCxnSpPr>
          <p:spPr>
            <a:xfrm flipV="1">
              <a:off x="3833208" y="1372194"/>
              <a:ext cx="403" cy="416661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FB07E2BE-DEDE-D01C-AB57-4BE9EBE741BB}"/>
                </a:ext>
              </a:extLst>
            </p:cNvPr>
            <p:cNvCxnSpPr>
              <a:cxnSpLocks/>
            </p:cNvCxnSpPr>
            <p:nvPr/>
          </p:nvCxnSpPr>
          <p:spPr>
            <a:xfrm flipV="1">
              <a:off x="4776733" y="1380998"/>
              <a:ext cx="17552" cy="4169083"/>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7D0516B4-7548-514F-5DFE-EDF12C04F4D9}"/>
                </a:ext>
              </a:extLst>
            </p:cNvPr>
            <p:cNvCxnSpPr>
              <a:cxnSpLocks/>
            </p:cNvCxnSpPr>
            <p:nvPr/>
          </p:nvCxnSpPr>
          <p:spPr>
            <a:xfrm flipV="1">
              <a:off x="2458454" y="1343642"/>
              <a:ext cx="403" cy="416661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DD33DC18-7875-BE31-414C-8A7A81297A32}"/>
                </a:ext>
              </a:extLst>
            </p:cNvPr>
            <p:cNvCxnSpPr>
              <a:cxnSpLocks/>
            </p:cNvCxnSpPr>
            <p:nvPr/>
          </p:nvCxnSpPr>
          <p:spPr>
            <a:xfrm flipV="1">
              <a:off x="2398202" y="1382634"/>
              <a:ext cx="403" cy="416661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F65D0CBF-673A-A422-8718-9488B81DB005}"/>
                </a:ext>
              </a:extLst>
            </p:cNvPr>
            <p:cNvCxnSpPr>
              <a:cxnSpLocks/>
            </p:cNvCxnSpPr>
            <p:nvPr/>
          </p:nvCxnSpPr>
          <p:spPr>
            <a:xfrm flipV="1">
              <a:off x="4450284" y="1400362"/>
              <a:ext cx="403" cy="416661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B8023402-5E81-588B-64FF-3455B2EA0D2D}"/>
                </a:ext>
              </a:extLst>
            </p:cNvPr>
            <p:cNvCxnSpPr>
              <a:cxnSpLocks/>
            </p:cNvCxnSpPr>
            <p:nvPr/>
          </p:nvCxnSpPr>
          <p:spPr>
            <a:xfrm flipV="1">
              <a:off x="4510537" y="1432266"/>
              <a:ext cx="403" cy="4166612"/>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grpSp>
      <p:grpSp>
        <p:nvGrpSpPr>
          <p:cNvPr id="102" name="Group 101">
            <a:extLst>
              <a:ext uri="{FF2B5EF4-FFF2-40B4-BE49-F238E27FC236}">
                <a16:creationId xmlns:a16="http://schemas.microsoft.com/office/drawing/2014/main" id="{76A31832-F874-4836-DFED-A406AE59E492}"/>
              </a:ext>
            </a:extLst>
          </p:cNvPr>
          <p:cNvGrpSpPr/>
          <p:nvPr/>
        </p:nvGrpSpPr>
        <p:grpSpPr>
          <a:xfrm>
            <a:off x="673142" y="5285218"/>
            <a:ext cx="4658375" cy="717306"/>
            <a:chOff x="673142" y="5285218"/>
            <a:chExt cx="4658375" cy="717306"/>
          </a:xfrm>
        </p:grpSpPr>
        <p:pic>
          <p:nvPicPr>
            <p:cNvPr id="101" name="Picture 100">
              <a:extLst>
                <a:ext uri="{FF2B5EF4-FFF2-40B4-BE49-F238E27FC236}">
                  <a16:creationId xmlns:a16="http://schemas.microsoft.com/office/drawing/2014/main" id="{D5B44F4A-447B-98B3-EF7D-40BCE4204E0D}"/>
                </a:ext>
              </a:extLst>
            </p:cNvPr>
            <p:cNvPicPr>
              <a:picLocks noChangeAspect="1"/>
            </p:cNvPicPr>
            <p:nvPr/>
          </p:nvPicPr>
          <p:blipFill>
            <a:blip r:embed="rId9"/>
            <a:stretch>
              <a:fillRect/>
            </a:stretch>
          </p:blipFill>
          <p:spPr>
            <a:xfrm>
              <a:off x="673142" y="5285218"/>
              <a:ext cx="4658375" cy="695422"/>
            </a:xfrm>
            <a:prstGeom prst="rect">
              <a:avLst/>
            </a:prstGeom>
          </p:spPr>
        </p:pic>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65FBBB12-8ACF-BF51-DB4D-F7412583EA27}"/>
                    </a:ext>
                  </a:extLst>
                </p:cNvPr>
                <p:cNvSpPr txBox="1"/>
                <p:nvPr/>
              </p:nvSpPr>
              <p:spPr>
                <a:xfrm>
                  <a:off x="2810587" y="5325416"/>
                  <a:ext cx="341162" cy="338554"/>
                </a:xfrm>
                <a:prstGeom prst="rect">
                  <a:avLst/>
                </a:prstGeom>
                <a:solidFill>
                  <a:schemeClr val="bg1"/>
                </a:solidFill>
                <a:ln>
                  <a:no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600" b="1" i="1" smtClean="0">
                                <a:solidFill>
                                  <a:schemeClr val="tx1"/>
                                </a:solidFill>
                                <a:latin typeface="Cambria Math" panose="02040503050406030204" pitchFamily="18" charset="0"/>
                              </a:rPr>
                            </m:ctrlPr>
                          </m:sSubPr>
                          <m:e>
                            <m:r>
                              <a:rPr lang="en-GB" sz="1600" b="1" i="1" smtClean="0">
                                <a:solidFill>
                                  <a:schemeClr val="tx1"/>
                                </a:solidFill>
                                <a:latin typeface="Cambria Math" panose="02040503050406030204" pitchFamily="18" charset="0"/>
                              </a:rPr>
                              <m:t>𝑽</m:t>
                            </m:r>
                          </m:e>
                          <m:sub>
                            <m:r>
                              <a:rPr lang="en-GB" sz="1600" b="1" i="1" smtClean="0">
                                <a:solidFill>
                                  <a:schemeClr val="tx1"/>
                                </a:solidFill>
                                <a:latin typeface="Cambria Math" panose="02040503050406030204" pitchFamily="18" charset="0"/>
                              </a:rPr>
                              <m:t>𝒅𝒄</m:t>
                            </m:r>
                          </m:sub>
                        </m:sSub>
                      </m:oMath>
                    </m:oMathPara>
                  </a14:m>
                  <a:endParaRPr lang="en-GB" dirty="0"/>
                </a:p>
              </p:txBody>
            </p:sp>
          </mc:Choice>
          <mc:Fallback xmlns="">
            <p:sp>
              <p:nvSpPr>
                <p:cNvPr id="85" name="TextBox 84">
                  <a:extLst>
                    <a:ext uri="{FF2B5EF4-FFF2-40B4-BE49-F238E27FC236}">
                      <a16:creationId xmlns:a16="http://schemas.microsoft.com/office/drawing/2014/main" id="{65FBBB12-8ACF-BF51-DB4D-F7412583EA27}"/>
                    </a:ext>
                  </a:extLst>
                </p:cNvPr>
                <p:cNvSpPr txBox="1">
                  <a:spLocks noRot="1" noChangeAspect="1" noMove="1" noResize="1" noEditPoints="1" noAdjustHandles="1" noChangeArrowheads="1" noChangeShapeType="1" noTextEdit="1"/>
                </p:cNvSpPr>
                <p:nvPr/>
              </p:nvSpPr>
              <p:spPr>
                <a:xfrm>
                  <a:off x="2810587" y="5325416"/>
                  <a:ext cx="341162" cy="338554"/>
                </a:xfrm>
                <a:prstGeom prst="rect">
                  <a:avLst/>
                </a:prstGeom>
                <a:blipFill>
                  <a:blip r:embed="rId10"/>
                  <a:stretch>
                    <a:fillRect r="-30357"/>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CDEA9F91-D633-DA90-5B60-606B27E82A1A}"/>
                    </a:ext>
                  </a:extLst>
                </p:cNvPr>
                <p:cNvSpPr txBox="1"/>
                <p:nvPr/>
              </p:nvSpPr>
              <p:spPr>
                <a:xfrm>
                  <a:off x="4758602" y="5325416"/>
                  <a:ext cx="341162" cy="338554"/>
                </a:xfrm>
                <a:prstGeom prst="rect">
                  <a:avLst/>
                </a:prstGeom>
                <a:solidFill>
                  <a:schemeClr val="bg1"/>
                </a:solidFill>
                <a:ln>
                  <a:no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600" b="1" i="1" smtClean="0">
                                <a:solidFill>
                                  <a:schemeClr val="tx1"/>
                                </a:solidFill>
                                <a:latin typeface="Cambria Math" panose="02040503050406030204" pitchFamily="18" charset="0"/>
                              </a:rPr>
                            </m:ctrlPr>
                          </m:sSubPr>
                          <m:e>
                            <m:r>
                              <a:rPr lang="en-GB" sz="1600" b="1" i="1" smtClean="0">
                                <a:solidFill>
                                  <a:schemeClr val="tx1"/>
                                </a:solidFill>
                                <a:latin typeface="Cambria Math" panose="02040503050406030204" pitchFamily="18" charset="0"/>
                              </a:rPr>
                              <m:t>𝑽</m:t>
                            </m:r>
                          </m:e>
                          <m:sub>
                            <m:r>
                              <a:rPr lang="en-GB" sz="1600" b="1" i="1" smtClean="0">
                                <a:solidFill>
                                  <a:schemeClr val="tx1"/>
                                </a:solidFill>
                                <a:latin typeface="Cambria Math" panose="02040503050406030204" pitchFamily="18" charset="0"/>
                              </a:rPr>
                              <m:t>𝒅𝒄</m:t>
                            </m:r>
                          </m:sub>
                        </m:sSub>
                      </m:oMath>
                    </m:oMathPara>
                  </a14:m>
                  <a:endParaRPr lang="en-GB" dirty="0"/>
                </a:p>
              </p:txBody>
            </p:sp>
          </mc:Choice>
          <mc:Fallback xmlns="">
            <p:sp>
              <p:nvSpPr>
                <p:cNvPr id="86" name="TextBox 85">
                  <a:extLst>
                    <a:ext uri="{FF2B5EF4-FFF2-40B4-BE49-F238E27FC236}">
                      <a16:creationId xmlns:a16="http://schemas.microsoft.com/office/drawing/2014/main" id="{CDEA9F91-D633-DA90-5B60-606B27E82A1A}"/>
                    </a:ext>
                  </a:extLst>
                </p:cNvPr>
                <p:cNvSpPr txBox="1">
                  <a:spLocks noRot="1" noChangeAspect="1" noMove="1" noResize="1" noEditPoints="1" noAdjustHandles="1" noChangeArrowheads="1" noChangeShapeType="1" noTextEdit="1"/>
                </p:cNvSpPr>
                <p:nvPr/>
              </p:nvSpPr>
              <p:spPr>
                <a:xfrm>
                  <a:off x="4758602" y="5325416"/>
                  <a:ext cx="341162" cy="338554"/>
                </a:xfrm>
                <a:prstGeom prst="rect">
                  <a:avLst/>
                </a:prstGeom>
                <a:blipFill>
                  <a:blip r:embed="rId11"/>
                  <a:stretch>
                    <a:fillRect r="-28571"/>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1DBC300C-0B12-2ABC-E14D-CA02E50D0591}"/>
                    </a:ext>
                  </a:extLst>
                </p:cNvPr>
                <p:cNvSpPr txBox="1"/>
                <p:nvPr/>
              </p:nvSpPr>
              <p:spPr>
                <a:xfrm>
                  <a:off x="4990355" y="5663970"/>
                  <a:ext cx="341162" cy="338554"/>
                </a:xfrm>
                <a:prstGeom prst="rect">
                  <a:avLst/>
                </a:prstGeom>
                <a:solidFill>
                  <a:schemeClr val="bg1"/>
                </a:solidFill>
                <a:ln>
                  <a:no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600" b="1" i="1" smtClean="0">
                                <a:solidFill>
                                  <a:schemeClr val="tx1"/>
                                </a:solidFill>
                                <a:latin typeface="Cambria Math" panose="02040503050406030204" pitchFamily="18" charset="0"/>
                              </a:rPr>
                            </m:ctrlPr>
                          </m:sSubPr>
                          <m:e>
                            <m:r>
                              <a:rPr lang="en-GB" sz="1600" b="1" i="1" smtClean="0">
                                <a:solidFill>
                                  <a:schemeClr val="tx1"/>
                                </a:solidFill>
                                <a:latin typeface="Cambria Math" panose="02040503050406030204" pitchFamily="18" charset="0"/>
                              </a:rPr>
                              <m:t>𝑽</m:t>
                            </m:r>
                          </m:e>
                          <m:sub>
                            <m:r>
                              <a:rPr lang="en-GB" sz="1600" b="1" i="1" smtClean="0">
                                <a:solidFill>
                                  <a:schemeClr val="tx1"/>
                                </a:solidFill>
                                <a:latin typeface="Cambria Math" panose="02040503050406030204" pitchFamily="18" charset="0"/>
                              </a:rPr>
                              <m:t>𝒅𝒄</m:t>
                            </m:r>
                          </m:sub>
                        </m:sSub>
                      </m:oMath>
                    </m:oMathPara>
                  </a14:m>
                  <a:endParaRPr lang="en-GB" dirty="0"/>
                </a:p>
              </p:txBody>
            </p:sp>
          </mc:Choice>
          <mc:Fallback xmlns="">
            <p:sp>
              <p:nvSpPr>
                <p:cNvPr id="87" name="TextBox 86">
                  <a:extLst>
                    <a:ext uri="{FF2B5EF4-FFF2-40B4-BE49-F238E27FC236}">
                      <a16:creationId xmlns:a16="http://schemas.microsoft.com/office/drawing/2014/main" id="{1DBC300C-0B12-2ABC-E14D-CA02E50D0591}"/>
                    </a:ext>
                  </a:extLst>
                </p:cNvPr>
                <p:cNvSpPr txBox="1">
                  <a:spLocks noRot="1" noChangeAspect="1" noMove="1" noResize="1" noEditPoints="1" noAdjustHandles="1" noChangeArrowheads="1" noChangeShapeType="1" noTextEdit="1"/>
                </p:cNvSpPr>
                <p:nvPr/>
              </p:nvSpPr>
              <p:spPr>
                <a:xfrm>
                  <a:off x="4990355" y="5663970"/>
                  <a:ext cx="341162" cy="338554"/>
                </a:xfrm>
                <a:prstGeom prst="rect">
                  <a:avLst/>
                </a:prstGeom>
                <a:blipFill>
                  <a:blip r:embed="rId12"/>
                  <a:stretch>
                    <a:fillRect r="-28571"/>
                  </a:stretch>
                </a:blipFill>
                <a:ln>
                  <a:noFill/>
                </a:ln>
              </p:spPr>
              <p:txBody>
                <a:bodyPr/>
                <a:lstStyle/>
                <a:p>
                  <a:r>
                    <a:rPr lang="en-GB">
                      <a:noFill/>
                    </a:rPr>
                    <a:t> </a:t>
                  </a:r>
                </a:p>
              </p:txBody>
            </p:sp>
          </mc:Fallback>
        </mc:AlternateContent>
      </p:grpSp>
      <p:grpSp>
        <p:nvGrpSpPr>
          <p:cNvPr id="105" name="Group 104">
            <a:extLst>
              <a:ext uri="{FF2B5EF4-FFF2-40B4-BE49-F238E27FC236}">
                <a16:creationId xmlns:a16="http://schemas.microsoft.com/office/drawing/2014/main" id="{59DE4D5B-8D74-E910-8484-DDAB0830A5BA}"/>
              </a:ext>
            </a:extLst>
          </p:cNvPr>
          <p:cNvGrpSpPr/>
          <p:nvPr/>
        </p:nvGrpSpPr>
        <p:grpSpPr>
          <a:xfrm>
            <a:off x="645074" y="5934920"/>
            <a:ext cx="4525006" cy="638264"/>
            <a:chOff x="645074" y="5934920"/>
            <a:chExt cx="4525006" cy="638264"/>
          </a:xfrm>
        </p:grpSpPr>
        <p:pic>
          <p:nvPicPr>
            <p:cNvPr id="104" name="Picture 103">
              <a:extLst>
                <a:ext uri="{FF2B5EF4-FFF2-40B4-BE49-F238E27FC236}">
                  <a16:creationId xmlns:a16="http://schemas.microsoft.com/office/drawing/2014/main" id="{9A678E7D-CA85-1017-BC97-5A856E347C9B}"/>
                </a:ext>
              </a:extLst>
            </p:cNvPr>
            <p:cNvPicPr>
              <a:picLocks noChangeAspect="1"/>
            </p:cNvPicPr>
            <p:nvPr/>
          </p:nvPicPr>
          <p:blipFill>
            <a:blip r:embed="rId13"/>
            <a:stretch>
              <a:fillRect/>
            </a:stretch>
          </p:blipFill>
          <p:spPr>
            <a:xfrm>
              <a:off x="645074" y="5934920"/>
              <a:ext cx="4525006" cy="638264"/>
            </a:xfrm>
            <a:prstGeom prst="rect">
              <a:avLst/>
            </a:prstGeom>
          </p:spPr>
        </p:pic>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B38BE426-25FF-7057-DB79-504678CA33BD}"/>
                    </a:ext>
                  </a:extLst>
                </p:cNvPr>
                <p:cNvSpPr txBox="1"/>
                <p:nvPr/>
              </p:nvSpPr>
              <p:spPr>
                <a:xfrm>
                  <a:off x="2843530" y="5948233"/>
                  <a:ext cx="341162" cy="338554"/>
                </a:xfrm>
                <a:prstGeom prst="rect">
                  <a:avLst/>
                </a:prstGeom>
                <a:solidFill>
                  <a:schemeClr val="bg1"/>
                </a:solidFill>
                <a:ln>
                  <a:no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600" b="1" i="1" smtClean="0">
                                <a:solidFill>
                                  <a:schemeClr val="tx1"/>
                                </a:solidFill>
                                <a:latin typeface="Cambria Math" panose="02040503050406030204" pitchFamily="18" charset="0"/>
                              </a:rPr>
                            </m:ctrlPr>
                          </m:sSubPr>
                          <m:e>
                            <m:r>
                              <a:rPr lang="en-GB" sz="1600" b="1" i="1" smtClean="0">
                                <a:solidFill>
                                  <a:schemeClr val="tx1"/>
                                </a:solidFill>
                                <a:latin typeface="Cambria Math" panose="02040503050406030204" pitchFamily="18" charset="0"/>
                              </a:rPr>
                              <m:t>𝑽</m:t>
                            </m:r>
                          </m:e>
                          <m:sub>
                            <m:r>
                              <a:rPr lang="en-GB" sz="1600" b="1" i="1" smtClean="0">
                                <a:solidFill>
                                  <a:schemeClr val="tx1"/>
                                </a:solidFill>
                                <a:latin typeface="Cambria Math" panose="02040503050406030204" pitchFamily="18" charset="0"/>
                              </a:rPr>
                              <m:t>𝒅𝒄</m:t>
                            </m:r>
                          </m:sub>
                        </m:sSub>
                      </m:oMath>
                    </m:oMathPara>
                  </a14:m>
                  <a:endParaRPr lang="en-GB" dirty="0"/>
                </a:p>
              </p:txBody>
            </p:sp>
          </mc:Choice>
          <mc:Fallback xmlns="">
            <p:sp>
              <p:nvSpPr>
                <p:cNvPr id="88" name="TextBox 87">
                  <a:extLst>
                    <a:ext uri="{FF2B5EF4-FFF2-40B4-BE49-F238E27FC236}">
                      <a16:creationId xmlns:a16="http://schemas.microsoft.com/office/drawing/2014/main" id="{B38BE426-25FF-7057-DB79-504678CA33BD}"/>
                    </a:ext>
                  </a:extLst>
                </p:cNvPr>
                <p:cNvSpPr txBox="1">
                  <a:spLocks noRot="1" noChangeAspect="1" noMove="1" noResize="1" noEditPoints="1" noAdjustHandles="1" noChangeArrowheads="1" noChangeShapeType="1" noTextEdit="1"/>
                </p:cNvSpPr>
                <p:nvPr/>
              </p:nvSpPr>
              <p:spPr>
                <a:xfrm>
                  <a:off x="2843530" y="5948233"/>
                  <a:ext cx="341162" cy="338554"/>
                </a:xfrm>
                <a:prstGeom prst="rect">
                  <a:avLst/>
                </a:prstGeom>
                <a:blipFill>
                  <a:blip r:embed="rId14"/>
                  <a:stretch>
                    <a:fillRect r="-30357"/>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51E7E92C-0B1E-F1F6-F79B-E95C84356C0F}"/>
                    </a:ext>
                  </a:extLst>
                </p:cNvPr>
                <p:cNvSpPr txBox="1"/>
                <p:nvPr/>
              </p:nvSpPr>
              <p:spPr>
                <a:xfrm>
                  <a:off x="3899409" y="5970331"/>
                  <a:ext cx="341162" cy="338554"/>
                </a:xfrm>
                <a:prstGeom prst="rect">
                  <a:avLst/>
                </a:prstGeom>
                <a:solidFill>
                  <a:schemeClr val="bg1"/>
                </a:solidFill>
                <a:ln>
                  <a:no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600" b="1" i="1" smtClean="0">
                                <a:solidFill>
                                  <a:schemeClr val="tx1"/>
                                </a:solidFill>
                                <a:latin typeface="Cambria Math" panose="02040503050406030204" pitchFamily="18" charset="0"/>
                              </a:rPr>
                            </m:ctrlPr>
                          </m:sSubPr>
                          <m:e>
                            <m:r>
                              <a:rPr lang="en-GB" sz="1600" b="1" i="1" smtClean="0">
                                <a:solidFill>
                                  <a:schemeClr val="tx1"/>
                                </a:solidFill>
                                <a:latin typeface="Cambria Math" panose="02040503050406030204" pitchFamily="18" charset="0"/>
                              </a:rPr>
                              <m:t>𝑽</m:t>
                            </m:r>
                          </m:e>
                          <m:sub>
                            <m:r>
                              <a:rPr lang="en-GB" sz="1600" b="1" i="1" smtClean="0">
                                <a:solidFill>
                                  <a:schemeClr val="tx1"/>
                                </a:solidFill>
                                <a:latin typeface="Cambria Math" panose="02040503050406030204" pitchFamily="18" charset="0"/>
                              </a:rPr>
                              <m:t>𝒅𝒄</m:t>
                            </m:r>
                          </m:sub>
                        </m:sSub>
                      </m:oMath>
                    </m:oMathPara>
                  </a14:m>
                  <a:endParaRPr lang="en-GB" dirty="0"/>
                </a:p>
              </p:txBody>
            </p:sp>
          </mc:Choice>
          <mc:Fallback xmlns="">
            <p:sp>
              <p:nvSpPr>
                <p:cNvPr id="89" name="TextBox 88">
                  <a:extLst>
                    <a:ext uri="{FF2B5EF4-FFF2-40B4-BE49-F238E27FC236}">
                      <a16:creationId xmlns:a16="http://schemas.microsoft.com/office/drawing/2014/main" id="{51E7E92C-0B1E-F1F6-F79B-E95C84356C0F}"/>
                    </a:ext>
                  </a:extLst>
                </p:cNvPr>
                <p:cNvSpPr txBox="1">
                  <a:spLocks noRot="1" noChangeAspect="1" noMove="1" noResize="1" noEditPoints="1" noAdjustHandles="1" noChangeArrowheads="1" noChangeShapeType="1" noTextEdit="1"/>
                </p:cNvSpPr>
                <p:nvPr/>
              </p:nvSpPr>
              <p:spPr>
                <a:xfrm>
                  <a:off x="3899409" y="5970331"/>
                  <a:ext cx="341162" cy="338554"/>
                </a:xfrm>
                <a:prstGeom prst="rect">
                  <a:avLst/>
                </a:prstGeom>
                <a:blipFill>
                  <a:blip r:embed="rId15"/>
                  <a:stretch>
                    <a:fillRect r="-28571"/>
                  </a:stretch>
                </a:blipFill>
                <a:ln>
                  <a:noFill/>
                </a:ln>
              </p:spPr>
              <p:txBody>
                <a:bodyPr/>
                <a:lstStyle/>
                <a:p>
                  <a:r>
                    <a:rPr lang="en-GB">
                      <a:noFill/>
                    </a:rPr>
                    <a:t> </a:t>
                  </a:r>
                </a:p>
              </p:txBody>
            </p:sp>
          </mc:Fallback>
        </mc:AlternateContent>
      </p:grpSp>
      <p:pic>
        <p:nvPicPr>
          <p:cNvPr id="93" name="Picture 92">
            <a:extLst>
              <a:ext uri="{FF2B5EF4-FFF2-40B4-BE49-F238E27FC236}">
                <a16:creationId xmlns:a16="http://schemas.microsoft.com/office/drawing/2014/main" id="{E2377A0A-FFD8-7682-233F-087F7533AB59}"/>
              </a:ext>
            </a:extLst>
          </p:cNvPr>
          <p:cNvPicPr>
            <a:picLocks noChangeAspect="1"/>
          </p:cNvPicPr>
          <p:nvPr/>
        </p:nvPicPr>
        <p:blipFill>
          <a:blip r:embed="rId16"/>
          <a:stretch>
            <a:fillRect/>
          </a:stretch>
        </p:blipFill>
        <p:spPr>
          <a:xfrm>
            <a:off x="5493725" y="3570637"/>
            <a:ext cx="3675126" cy="1404476"/>
          </a:xfrm>
          <a:prstGeom prst="rect">
            <a:avLst/>
          </a:prstGeom>
        </p:spPr>
      </p:pic>
      <p:grpSp>
        <p:nvGrpSpPr>
          <p:cNvPr id="94" name="Group 93">
            <a:extLst>
              <a:ext uri="{FF2B5EF4-FFF2-40B4-BE49-F238E27FC236}">
                <a16:creationId xmlns:a16="http://schemas.microsoft.com/office/drawing/2014/main" id="{9000F316-0578-5808-4C69-24D42F6D0F53}"/>
              </a:ext>
            </a:extLst>
          </p:cNvPr>
          <p:cNvGrpSpPr/>
          <p:nvPr/>
        </p:nvGrpSpPr>
        <p:grpSpPr>
          <a:xfrm>
            <a:off x="5632257" y="5188395"/>
            <a:ext cx="3318256" cy="1244137"/>
            <a:chOff x="440681" y="4802860"/>
            <a:chExt cx="4310256" cy="1747628"/>
          </a:xfrm>
        </p:grpSpPr>
        <p:pic>
          <p:nvPicPr>
            <p:cNvPr id="95" name="Picture 94">
              <a:extLst>
                <a:ext uri="{FF2B5EF4-FFF2-40B4-BE49-F238E27FC236}">
                  <a16:creationId xmlns:a16="http://schemas.microsoft.com/office/drawing/2014/main" id="{D53AF5F7-2CFD-80FB-CE31-423C52FA013E}"/>
                </a:ext>
              </a:extLst>
            </p:cNvPr>
            <p:cNvPicPr>
              <a:picLocks noChangeAspect="1"/>
            </p:cNvPicPr>
            <p:nvPr/>
          </p:nvPicPr>
          <p:blipFill>
            <a:blip r:embed="rId17"/>
            <a:stretch>
              <a:fillRect/>
            </a:stretch>
          </p:blipFill>
          <p:spPr>
            <a:xfrm>
              <a:off x="440681" y="4802860"/>
              <a:ext cx="4183718" cy="1747628"/>
            </a:xfrm>
            <a:prstGeom prst="rect">
              <a:avLst/>
            </a:prstGeom>
          </p:spPr>
        </p:pic>
        <mc:AlternateContent xmlns:mc="http://schemas.openxmlformats.org/markup-compatibility/2006" xmlns:a14="http://schemas.microsoft.com/office/drawing/2010/main">
          <mc:Choice Requires="a14">
            <p:sp>
              <p:nvSpPr>
                <p:cNvPr id="96" name="TextBox 95">
                  <a:extLst>
                    <a:ext uri="{FF2B5EF4-FFF2-40B4-BE49-F238E27FC236}">
                      <a16:creationId xmlns:a16="http://schemas.microsoft.com/office/drawing/2014/main" id="{06DA6534-8E9F-4864-A085-845B4443DE5E}"/>
                    </a:ext>
                  </a:extLst>
                </p:cNvPr>
                <p:cNvSpPr txBox="1"/>
                <p:nvPr/>
              </p:nvSpPr>
              <p:spPr>
                <a:xfrm>
                  <a:off x="934839" y="5175753"/>
                  <a:ext cx="353465" cy="338554"/>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600" b="1" i="1" smtClean="0">
                                <a:solidFill>
                                  <a:srgbClr val="836967"/>
                                </a:solidFill>
                                <a:latin typeface="Cambria Math" panose="02040503050406030204" pitchFamily="18" charset="0"/>
                              </a:rPr>
                            </m:ctrlPr>
                          </m:sSubPr>
                          <m:e>
                            <m:r>
                              <a:rPr lang="en-GB" sz="1600" b="1" i="1" smtClean="0">
                                <a:latin typeface="Cambria Math" panose="02040503050406030204" pitchFamily="18" charset="0"/>
                              </a:rPr>
                              <m:t>𝑻</m:t>
                            </m:r>
                          </m:e>
                          <m:sub>
                            <m:r>
                              <a:rPr lang="en-GB" sz="1600" b="1" i="1" smtClean="0">
                                <a:latin typeface="Cambria Math" panose="02040503050406030204" pitchFamily="18" charset="0"/>
                              </a:rPr>
                              <m:t>𝑨</m:t>
                            </m:r>
                            <m:r>
                              <a:rPr lang="en-GB" sz="1600" b="1" i="1" smtClean="0">
                                <a:latin typeface="Cambria Math" panose="02040503050406030204" pitchFamily="18" charset="0"/>
                              </a:rPr>
                              <m:t>+</m:t>
                            </m:r>
                          </m:sub>
                        </m:sSub>
                      </m:oMath>
                    </m:oMathPara>
                  </a14:m>
                  <a:endParaRPr lang="en-US" sz="1600" b="1" dirty="0"/>
                </a:p>
              </p:txBody>
            </p:sp>
          </mc:Choice>
          <mc:Fallback xmlns="">
            <p:sp>
              <p:nvSpPr>
                <p:cNvPr id="96" name="TextBox 95">
                  <a:extLst>
                    <a:ext uri="{FF2B5EF4-FFF2-40B4-BE49-F238E27FC236}">
                      <a16:creationId xmlns:a16="http://schemas.microsoft.com/office/drawing/2014/main" id="{06DA6534-8E9F-4864-A085-845B4443DE5E}"/>
                    </a:ext>
                  </a:extLst>
                </p:cNvPr>
                <p:cNvSpPr txBox="1">
                  <a:spLocks noRot="1" noChangeAspect="1" noMove="1" noResize="1" noEditPoints="1" noAdjustHandles="1" noChangeArrowheads="1" noChangeShapeType="1" noTextEdit="1"/>
                </p:cNvSpPr>
                <p:nvPr/>
              </p:nvSpPr>
              <p:spPr>
                <a:xfrm>
                  <a:off x="934839" y="5175753"/>
                  <a:ext cx="353465" cy="338554"/>
                </a:xfrm>
                <a:prstGeom prst="rect">
                  <a:avLst/>
                </a:prstGeom>
                <a:blipFill>
                  <a:blip r:embed="rId18"/>
                  <a:stretch>
                    <a:fillRect r="-65957" b="-34146"/>
                  </a:stretch>
                </a:blipFill>
                <a:ln>
                  <a:solidFill>
                    <a:schemeClr val="bg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BFE1A306-D236-1FB0-D44C-2358FE782AA9}"/>
                    </a:ext>
                  </a:extLst>
                </p:cNvPr>
                <p:cNvSpPr txBox="1"/>
                <p:nvPr/>
              </p:nvSpPr>
              <p:spPr>
                <a:xfrm>
                  <a:off x="2165261" y="5181815"/>
                  <a:ext cx="353465" cy="338554"/>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600" b="1" i="1" smtClean="0">
                                <a:solidFill>
                                  <a:srgbClr val="836967"/>
                                </a:solidFill>
                                <a:latin typeface="Cambria Math" panose="02040503050406030204" pitchFamily="18" charset="0"/>
                              </a:rPr>
                            </m:ctrlPr>
                          </m:sSubPr>
                          <m:e>
                            <m:r>
                              <a:rPr lang="en-GB" sz="1600" b="1" i="1" smtClean="0">
                                <a:latin typeface="Cambria Math" panose="02040503050406030204" pitchFamily="18" charset="0"/>
                              </a:rPr>
                              <m:t>𝑻</m:t>
                            </m:r>
                          </m:e>
                          <m:sub>
                            <m:r>
                              <a:rPr lang="en-GB" sz="1600" b="1" i="1" smtClean="0">
                                <a:latin typeface="Cambria Math" panose="02040503050406030204" pitchFamily="18" charset="0"/>
                              </a:rPr>
                              <m:t>𝑩</m:t>
                            </m:r>
                            <m:r>
                              <a:rPr lang="en-GB" sz="1600" b="1" i="1" smtClean="0">
                                <a:latin typeface="Cambria Math" panose="02040503050406030204" pitchFamily="18" charset="0"/>
                              </a:rPr>
                              <m:t>+</m:t>
                            </m:r>
                          </m:sub>
                        </m:sSub>
                      </m:oMath>
                    </m:oMathPara>
                  </a14:m>
                  <a:endParaRPr lang="en-US" sz="1600" b="1" dirty="0"/>
                </a:p>
              </p:txBody>
            </p:sp>
          </mc:Choice>
          <mc:Fallback xmlns="">
            <p:sp>
              <p:nvSpPr>
                <p:cNvPr id="97" name="TextBox 96">
                  <a:extLst>
                    <a:ext uri="{FF2B5EF4-FFF2-40B4-BE49-F238E27FC236}">
                      <a16:creationId xmlns:a16="http://schemas.microsoft.com/office/drawing/2014/main" id="{BFE1A306-D236-1FB0-D44C-2358FE782AA9}"/>
                    </a:ext>
                  </a:extLst>
                </p:cNvPr>
                <p:cNvSpPr txBox="1">
                  <a:spLocks noRot="1" noChangeAspect="1" noMove="1" noResize="1" noEditPoints="1" noAdjustHandles="1" noChangeArrowheads="1" noChangeShapeType="1" noTextEdit="1"/>
                </p:cNvSpPr>
                <p:nvPr/>
              </p:nvSpPr>
              <p:spPr>
                <a:xfrm>
                  <a:off x="2165261" y="5181815"/>
                  <a:ext cx="353465" cy="338554"/>
                </a:xfrm>
                <a:prstGeom prst="rect">
                  <a:avLst/>
                </a:prstGeom>
                <a:blipFill>
                  <a:blip r:embed="rId19"/>
                  <a:stretch>
                    <a:fillRect r="-71739" b="-30952"/>
                  </a:stretch>
                </a:blipFill>
                <a:ln>
                  <a:solidFill>
                    <a:schemeClr val="bg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8" name="TextBox 97">
                  <a:extLst>
                    <a:ext uri="{FF2B5EF4-FFF2-40B4-BE49-F238E27FC236}">
                      <a16:creationId xmlns:a16="http://schemas.microsoft.com/office/drawing/2014/main" id="{2D3348A0-1323-A553-4847-BD9022797123}"/>
                    </a:ext>
                  </a:extLst>
                </p:cNvPr>
                <p:cNvSpPr txBox="1"/>
                <p:nvPr/>
              </p:nvSpPr>
              <p:spPr>
                <a:xfrm>
                  <a:off x="3167050" y="6018440"/>
                  <a:ext cx="353465" cy="338554"/>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600" b="1" i="1" smtClean="0">
                                <a:solidFill>
                                  <a:srgbClr val="836967"/>
                                </a:solidFill>
                                <a:latin typeface="Cambria Math" panose="02040503050406030204" pitchFamily="18" charset="0"/>
                              </a:rPr>
                            </m:ctrlPr>
                          </m:sSubPr>
                          <m:e>
                            <m:r>
                              <a:rPr lang="en-GB" sz="1600" b="1" i="1" smtClean="0">
                                <a:latin typeface="Cambria Math" panose="02040503050406030204" pitchFamily="18" charset="0"/>
                              </a:rPr>
                              <m:t>𝑻</m:t>
                            </m:r>
                          </m:e>
                          <m:sub>
                            <m:r>
                              <a:rPr lang="en-GB" sz="1600" b="1" i="1" smtClean="0">
                                <a:latin typeface="Cambria Math" panose="02040503050406030204" pitchFamily="18" charset="0"/>
                              </a:rPr>
                              <m:t>𝑨</m:t>
                            </m:r>
                            <m:r>
                              <a:rPr lang="en-GB" sz="1600" b="1" i="1" smtClean="0">
                                <a:latin typeface="Cambria Math" panose="02040503050406030204" pitchFamily="18" charset="0"/>
                              </a:rPr>
                              <m:t>−</m:t>
                            </m:r>
                          </m:sub>
                        </m:sSub>
                      </m:oMath>
                    </m:oMathPara>
                  </a14:m>
                  <a:endParaRPr lang="en-US" sz="1600" b="1" dirty="0"/>
                </a:p>
              </p:txBody>
            </p:sp>
          </mc:Choice>
          <mc:Fallback xmlns="">
            <p:sp>
              <p:nvSpPr>
                <p:cNvPr id="98" name="TextBox 97">
                  <a:extLst>
                    <a:ext uri="{FF2B5EF4-FFF2-40B4-BE49-F238E27FC236}">
                      <a16:creationId xmlns:a16="http://schemas.microsoft.com/office/drawing/2014/main" id="{2D3348A0-1323-A553-4847-BD9022797123}"/>
                    </a:ext>
                  </a:extLst>
                </p:cNvPr>
                <p:cNvSpPr txBox="1">
                  <a:spLocks noRot="1" noChangeAspect="1" noMove="1" noResize="1" noEditPoints="1" noAdjustHandles="1" noChangeArrowheads="1" noChangeShapeType="1" noTextEdit="1"/>
                </p:cNvSpPr>
                <p:nvPr/>
              </p:nvSpPr>
              <p:spPr>
                <a:xfrm>
                  <a:off x="3167050" y="6018440"/>
                  <a:ext cx="353465" cy="338554"/>
                </a:xfrm>
                <a:prstGeom prst="rect">
                  <a:avLst/>
                </a:prstGeom>
                <a:blipFill>
                  <a:blip r:embed="rId20"/>
                  <a:stretch>
                    <a:fillRect r="-59574" b="-30952"/>
                  </a:stretch>
                </a:blipFill>
                <a:ln>
                  <a:solidFill>
                    <a:schemeClr val="bg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8A3F4A4A-5251-1BF1-4DDC-57F52157DF75}"/>
                    </a:ext>
                  </a:extLst>
                </p:cNvPr>
                <p:cNvSpPr txBox="1"/>
                <p:nvPr/>
              </p:nvSpPr>
              <p:spPr>
                <a:xfrm>
                  <a:off x="4397472" y="6024502"/>
                  <a:ext cx="353465" cy="338554"/>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600" b="1" i="1" smtClean="0">
                                <a:solidFill>
                                  <a:srgbClr val="836967"/>
                                </a:solidFill>
                                <a:latin typeface="Cambria Math" panose="02040503050406030204" pitchFamily="18" charset="0"/>
                              </a:rPr>
                            </m:ctrlPr>
                          </m:sSubPr>
                          <m:e>
                            <m:r>
                              <a:rPr lang="en-GB" sz="1600" b="1" i="1" smtClean="0">
                                <a:latin typeface="Cambria Math" panose="02040503050406030204" pitchFamily="18" charset="0"/>
                              </a:rPr>
                              <m:t>𝑻</m:t>
                            </m:r>
                          </m:e>
                          <m:sub>
                            <m:r>
                              <a:rPr lang="en-GB" sz="1600" b="1" i="1" smtClean="0">
                                <a:latin typeface="Cambria Math" panose="02040503050406030204" pitchFamily="18" charset="0"/>
                              </a:rPr>
                              <m:t>𝑩</m:t>
                            </m:r>
                            <m:r>
                              <a:rPr lang="en-GB" sz="1600" b="1" i="1" smtClean="0">
                                <a:latin typeface="Cambria Math" panose="02040503050406030204" pitchFamily="18" charset="0"/>
                              </a:rPr>
                              <m:t>−</m:t>
                            </m:r>
                          </m:sub>
                        </m:sSub>
                      </m:oMath>
                    </m:oMathPara>
                  </a14:m>
                  <a:endParaRPr lang="en-US" sz="1600" b="1" dirty="0"/>
                </a:p>
              </p:txBody>
            </p:sp>
          </mc:Choice>
          <mc:Fallback xmlns="">
            <p:sp>
              <p:nvSpPr>
                <p:cNvPr id="99" name="TextBox 98">
                  <a:extLst>
                    <a:ext uri="{FF2B5EF4-FFF2-40B4-BE49-F238E27FC236}">
                      <a16:creationId xmlns:a16="http://schemas.microsoft.com/office/drawing/2014/main" id="{8A3F4A4A-5251-1BF1-4DDC-57F52157DF75}"/>
                    </a:ext>
                  </a:extLst>
                </p:cNvPr>
                <p:cNvSpPr txBox="1">
                  <a:spLocks noRot="1" noChangeAspect="1" noMove="1" noResize="1" noEditPoints="1" noAdjustHandles="1" noChangeArrowheads="1" noChangeShapeType="1" noTextEdit="1"/>
                </p:cNvSpPr>
                <p:nvPr/>
              </p:nvSpPr>
              <p:spPr>
                <a:xfrm>
                  <a:off x="4397472" y="6024502"/>
                  <a:ext cx="353465" cy="338554"/>
                </a:xfrm>
                <a:prstGeom prst="rect">
                  <a:avLst/>
                </a:prstGeom>
                <a:blipFill>
                  <a:blip r:embed="rId21"/>
                  <a:stretch>
                    <a:fillRect r="-65217" b="-34146"/>
                  </a:stretch>
                </a:blipFill>
                <a:ln>
                  <a:solidFill>
                    <a:schemeClr val="bg1"/>
                  </a:solidFill>
                </a:ln>
              </p:spPr>
              <p:txBody>
                <a:bodyPr/>
                <a:lstStyle/>
                <a:p>
                  <a:r>
                    <a:rPr lang="en-GB">
                      <a:noFill/>
                    </a:rPr>
                    <a:t> </a:t>
                  </a:r>
                </a:p>
              </p:txBody>
            </p:sp>
          </mc:Fallback>
        </mc:AlternateContent>
      </p:grpSp>
    </p:spTree>
    <p:extLst>
      <p:ext uri="{BB962C8B-B14F-4D97-AF65-F5344CB8AC3E}">
        <p14:creationId xmlns:p14="http://schemas.microsoft.com/office/powerpoint/2010/main" val="1081485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DAB49-4E83-D5C9-EF6D-0F2CE1E6855E}"/>
              </a:ext>
            </a:extLst>
          </p:cNvPr>
          <p:cNvSpPr>
            <a:spLocks noGrp="1"/>
          </p:cNvSpPr>
          <p:nvPr>
            <p:ph type="title"/>
          </p:nvPr>
        </p:nvSpPr>
        <p:spPr>
          <a:xfrm>
            <a:off x="185741" y="53010"/>
            <a:ext cx="7886700" cy="595912"/>
          </a:xfrm>
        </p:spPr>
        <p:txBody>
          <a:bodyPr>
            <a:normAutofit fontScale="90000"/>
          </a:bodyPr>
          <a:lstStyle/>
          <a:p>
            <a:r>
              <a:rPr lang="en-US" dirty="0"/>
              <a:t>Harmonics</a:t>
            </a:r>
          </a:p>
        </p:txBody>
      </p:sp>
      <p:sp>
        <p:nvSpPr>
          <p:cNvPr id="17" name="Title 1">
            <a:extLst>
              <a:ext uri="{FF2B5EF4-FFF2-40B4-BE49-F238E27FC236}">
                <a16:creationId xmlns:a16="http://schemas.microsoft.com/office/drawing/2014/main" id="{4100A584-C9BA-C39F-A4D3-ABF895CCF570}"/>
              </a:ext>
            </a:extLst>
          </p:cNvPr>
          <p:cNvSpPr txBox="1">
            <a:spLocks/>
          </p:cNvSpPr>
          <p:nvPr/>
        </p:nvSpPr>
        <p:spPr>
          <a:xfrm>
            <a:off x="301488" y="450084"/>
            <a:ext cx="8358064" cy="232651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Tx/>
              <a:buChar char="-"/>
            </a:pPr>
            <a:r>
              <a:rPr lang="en-US" sz="2800" b="1" dirty="0"/>
              <a:t>What are harmonics?</a:t>
            </a:r>
          </a:p>
          <a:p>
            <a:pPr marL="914400" lvl="1" indent="-457200">
              <a:buFontTx/>
              <a:buChar char="-"/>
            </a:pPr>
            <a:r>
              <a:rPr lang="en-US" sz="2000" dirty="0"/>
              <a:t>Pure Sinusoid is required.</a:t>
            </a:r>
          </a:p>
          <a:p>
            <a:pPr marL="914400" lvl="1" indent="-457200">
              <a:buFontTx/>
              <a:buChar char="-"/>
            </a:pPr>
            <a:r>
              <a:rPr lang="en-US" sz="2000" dirty="0"/>
              <a:t>The output is different both in square-wave and PWM switching</a:t>
            </a:r>
          </a:p>
          <a:p>
            <a:pPr marL="914400" lvl="1" indent="-457200">
              <a:buFontTx/>
              <a:buChar char="-"/>
            </a:pPr>
            <a:r>
              <a:rPr lang="en-US" sz="2000" dirty="0"/>
              <a:t>There is need to analyze the </a:t>
            </a:r>
            <a:r>
              <a:rPr lang="en-US" sz="2000" dirty="0">
                <a:solidFill>
                  <a:srgbClr val="FF0000"/>
                </a:solidFill>
              </a:rPr>
              <a:t>presence of other sinusoids </a:t>
            </a:r>
            <a:r>
              <a:rPr lang="en-US" sz="2000" dirty="0"/>
              <a:t>having </a:t>
            </a:r>
            <a:r>
              <a:rPr lang="en-US" sz="2000" dirty="0">
                <a:solidFill>
                  <a:srgbClr val="FF0000"/>
                </a:solidFill>
              </a:rPr>
              <a:t>frequencies multiple of desired sinusoid, </a:t>
            </a:r>
            <a:r>
              <a:rPr lang="en-US" sz="2000" b="1" i="1" dirty="0">
                <a:solidFill>
                  <a:srgbClr val="7030A0"/>
                </a:solidFill>
              </a:rPr>
              <a:t>called harmonics</a:t>
            </a:r>
            <a:r>
              <a:rPr lang="en-US" sz="2000" dirty="0">
                <a:solidFill>
                  <a:srgbClr val="FF0000"/>
                </a:solidFill>
              </a:rPr>
              <a:t>,  </a:t>
            </a:r>
            <a:r>
              <a:rPr lang="en-US" sz="2000" dirty="0"/>
              <a:t>available in output.</a:t>
            </a:r>
          </a:p>
          <a:p>
            <a:pPr marL="914400" lvl="1" indent="-457200">
              <a:buFontTx/>
              <a:buChar char="-"/>
            </a:pPr>
            <a:endParaRPr lang="en-US" sz="2000" dirty="0"/>
          </a:p>
        </p:txBody>
      </p:sp>
      <p:pic>
        <p:nvPicPr>
          <p:cNvPr id="6" name="Picture 5">
            <a:extLst>
              <a:ext uri="{FF2B5EF4-FFF2-40B4-BE49-F238E27FC236}">
                <a16:creationId xmlns:a16="http://schemas.microsoft.com/office/drawing/2014/main" id="{917DA11D-04E5-A498-DE9B-793E4A020007}"/>
              </a:ext>
            </a:extLst>
          </p:cNvPr>
          <p:cNvPicPr>
            <a:picLocks noChangeAspect="1"/>
          </p:cNvPicPr>
          <p:nvPr/>
        </p:nvPicPr>
        <p:blipFill>
          <a:blip r:embed="rId3"/>
          <a:stretch>
            <a:fillRect/>
          </a:stretch>
        </p:blipFill>
        <p:spPr>
          <a:xfrm>
            <a:off x="185740" y="2907791"/>
            <a:ext cx="4322251" cy="3088173"/>
          </a:xfrm>
          <a:prstGeom prst="rect">
            <a:avLst/>
          </a:prstGeom>
        </p:spPr>
      </p:pic>
      <p:pic>
        <p:nvPicPr>
          <p:cNvPr id="8" name="Picture 7">
            <a:extLst>
              <a:ext uri="{FF2B5EF4-FFF2-40B4-BE49-F238E27FC236}">
                <a16:creationId xmlns:a16="http://schemas.microsoft.com/office/drawing/2014/main" id="{6F79488A-911A-8DFF-563A-6F82CC08397F}"/>
              </a:ext>
            </a:extLst>
          </p:cNvPr>
          <p:cNvPicPr>
            <a:picLocks noChangeAspect="1"/>
          </p:cNvPicPr>
          <p:nvPr/>
        </p:nvPicPr>
        <p:blipFill>
          <a:blip r:embed="rId4"/>
          <a:stretch>
            <a:fillRect/>
          </a:stretch>
        </p:blipFill>
        <p:spPr>
          <a:xfrm>
            <a:off x="4778297" y="2907792"/>
            <a:ext cx="4018502" cy="2635512"/>
          </a:xfrm>
          <a:prstGeom prst="rect">
            <a:avLst/>
          </a:prstGeom>
        </p:spPr>
      </p:pic>
      <p:pic>
        <p:nvPicPr>
          <p:cNvPr id="11" name="Picture 10">
            <a:extLst>
              <a:ext uri="{FF2B5EF4-FFF2-40B4-BE49-F238E27FC236}">
                <a16:creationId xmlns:a16="http://schemas.microsoft.com/office/drawing/2014/main" id="{8FD3571A-155A-2660-D870-F35A28AA2919}"/>
              </a:ext>
            </a:extLst>
          </p:cNvPr>
          <p:cNvPicPr>
            <a:picLocks noChangeAspect="1"/>
          </p:cNvPicPr>
          <p:nvPr/>
        </p:nvPicPr>
        <p:blipFill>
          <a:blip r:embed="rId5"/>
          <a:stretch>
            <a:fillRect/>
          </a:stretch>
        </p:blipFill>
        <p:spPr>
          <a:xfrm>
            <a:off x="4998398" y="5674501"/>
            <a:ext cx="3578300" cy="469065"/>
          </a:xfrm>
          <a:prstGeom prst="rect">
            <a:avLst/>
          </a:prstGeom>
        </p:spPr>
      </p:pic>
    </p:spTree>
    <p:extLst>
      <p:ext uri="{BB962C8B-B14F-4D97-AF65-F5344CB8AC3E}">
        <p14:creationId xmlns:p14="http://schemas.microsoft.com/office/powerpoint/2010/main" val="3110308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
                                            <p:txEl>
                                              <p:pRg st="1" end="1"/>
                                            </p:txEl>
                                          </p:spTgt>
                                        </p:tgtEl>
                                        <p:attrNameLst>
                                          <p:attrName>style.visibility</p:attrName>
                                        </p:attrNameLst>
                                      </p:cBhvr>
                                      <p:to>
                                        <p:strVal val="visible"/>
                                      </p:to>
                                    </p:set>
                                    <p:anim calcmode="lin" valueType="num">
                                      <p:cBhvr additive="base">
                                        <p:cTn id="7" dur="500" fill="hold"/>
                                        <p:tgtEl>
                                          <p:spTgt spid="1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7">
                                            <p:txEl>
                                              <p:pRg st="2" end="2"/>
                                            </p:txEl>
                                          </p:spTgt>
                                        </p:tgtEl>
                                        <p:attrNameLst>
                                          <p:attrName>style.visibility</p:attrName>
                                        </p:attrNameLst>
                                      </p:cBhvr>
                                      <p:to>
                                        <p:strVal val="visible"/>
                                      </p:to>
                                    </p:set>
                                    <p:anim calcmode="lin" valueType="num">
                                      <p:cBhvr additive="base">
                                        <p:cTn id="13" dur="500" fill="hold"/>
                                        <p:tgtEl>
                                          <p:spTgt spid="17">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7">
                                            <p:txEl>
                                              <p:pRg st="3" end="3"/>
                                            </p:txEl>
                                          </p:spTgt>
                                        </p:tgtEl>
                                        <p:attrNameLst>
                                          <p:attrName>style.visibility</p:attrName>
                                        </p:attrNameLst>
                                      </p:cBhvr>
                                      <p:to>
                                        <p:strVal val="visible"/>
                                      </p:to>
                                    </p:set>
                                    <p:anim calcmode="lin" valueType="num">
                                      <p:cBhvr additive="base">
                                        <p:cTn id="19" dur="500" fill="hold"/>
                                        <p:tgtEl>
                                          <p:spTgt spid="1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42CD7ED8-2593-05DD-E063-85B4F02F28F3}"/>
              </a:ext>
            </a:extLst>
          </p:cNvPr>
          <p:cNvGrpSpPr/>
          <p:nvPr/>
        </p:nvGrpSpPr>
        <p:grpSpPr>
          <a:xfrm>
            <a:off x="290453" y="2304909"/>
            <a:ext cx="2818997" cy="2193997"/>
            <a:chOff x="6205954" y="430619"/>
            <a:chExt cx="2818997" cy="2193997"/>
          </a:xfrm>
        </p:grpSpPr>
        <p:pic>
          <p:nvPicPr>
            <p:cNvPr id="5" name="Picture 4">
              <a:extLst>
                <a:ext uri="{FF2B5EF4-FFF2-40B4-BE49-F238E27FC236}">
                  <a16:creationId xmlns:a16="http://schemas.microsoft.com/office/drawing/2014/main" id="{1E465843-5602-A319-F9D9-0E5715D2F968}"/>
                </a:ext>
              </a:extLst>
            </p:cNvPr>
            <p:cNvPicPr>
              <a:picLocks noChangeAspect="1"/>
            </p:cNvPicPr>
            <p:nvPr/>
          </p:nvPicPr>
          <p:blipFill>
            <a:blip r:embed="rId3"/>
            <a:stretch>
              <a:fillRect/>
            </a:stretch>
          </p:blipFill>
          <p:spPr>
            <a:xfrm>
              <a:off x="6205954" y="430619"/>
              <a:ext cx="2818997" cy="2193997"/>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F481498-049A-68B4-F7EA-6A45B562EA9F}"/>
                    </a:ext>
                  </a:extLst>
                </p:cNvPr>
                <p:cNvSpPr txBox="1"/>
                <p:nvPr/>
              </p:nvSpPr>
              <p:spPr>
                <a:xfrm>
                  <a:off x="7167576" y="1452249"/>
                  <a:ext cx="275144" cy="266039"/>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100" b="1" i="1" smtClean="0">
                                <a:solidFill>
                                  <a:srgbClr val="836967"/>
                                </a:solidFill>
                                <a:latin typeface="Cambria Math" panose="02040503050406030204" pitchFamily="18" charset="0"/>
                              </a:rPr>
                            </m:ctrlPr>
                          </m:sSubPr>
                          <m:e>
                            <m:r>
                              <a:rPr lang="en-GB" sz="1100" b="1" i="1" smtClean="0">
                                <a:solidFill>
                                  <a:srgbClr val="836967"/>
                                </a:solidFill>
                                <a:latin typeface="Cambria Math" panose="02040503050406030204" pitchFamily="18" charset="0"/>
                              </a:rPr>
                              <m:t>𝒗</m:t>
                            </m:r>
                          </m:e>
                          <m:sub>
                            <m:r>
                              <a:rPr lang="en-GB" sz="1100" b="1" i="1" smtClean="0">
                                <a:latin typeface="Cambria Math" panose="02040503050406030204" pitchFamily="18" charset="0"/>
                              </a:rPr>
                              <m:t>𝑨𝑵</m:t>
                            </m:r>
                          </m:sub>
                        </m:sSub>
                      </m:oMath>
                    </m:oMathPara>
                  </a14:m>
                  <a:endParaRPr lang="en-US" sz="1100" b="1" dirty="0"/>
                </a:p>
              </p:txBody>
            </p:sp>
          </mc:Choice>
          <mc:Fallback xmlns="">
            <p:sp>
              <p:nvSpPr>
                <p:cNvPr id="9" name="TextBox 8">
                  <a:extLst>
                    <a:ext uri="{FF2B5EF4-FFF2-40B4-BE49-F238E27FC236}">
                      <a16:creationId xmlns:a16="http://schemas.microsoft.com/office/drawing/2014/main" id="{CF481498-049A-68B4-F7EA-6A45B562EA9F}"/>
                    </a:ext>
                  </a:extLst>
                </p:cNvPr>
                <p:cNvSpPr txBox="1">
                  <a:spLocks noRot="1" noChangeAspect="1" noMove="1" noResize="1" noEditPoints="1" noAdjustHandles="1" noChangeArrowheads="1" noChangeShapeType="1" noTextEdit="1"/>
                </p:cNvSpPr>
                <p:nvPr/>
              </p:nvSpPr>
              <p:spPr>
                <a:xfrm>
                  <a:off x="7167576" y="1452249"/>
                  <a:ext cx="275144" cy="266039"/>
                </a:xfrm>
                <a:prstGeom prst="rect">
                  <a:avLst/>
                </a:prstGeom>
                <a:blipFill>
                  <a:blip r:embed="rId4"/>
                  <a:stretch>
                    <a:fillRect r="-25000"/>
                  </a:stretch>
                </a:blipFill>
                <a:ln>
                  <a:solidFill>
                    <a:schemeClr val="bg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E404A8EF-8860-58BD-B6D5-84E0E682FBCE}"/>
                    </a:ext>
                  </a:extLst>
                </p:cNvPr>
                <p:cNvSpPr txBox="1"/>
                <p:nvPr/>
              </p:nvSpPr>
              <p:spPr>
                <a:xfrm>
                  <a:off x="8433953" y="1452249"/>
                  <a:ext cx="275144" cy="266039"/>
                </a:xfrm>
                <a:prstGeom prst="rect">
                  <a:avLst/>
                </a:prstGeom>
                <a:noFill/>
                <a:ln>
                  <a:no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100" b="1" i="1" smtClean="0">
                                <a:solidFill>
                                  <a:srgbClr val="836967"/>
                                </a:solidFill>
                                <a:latin typeface="Cambria Math" panose="02040503050406030204" pitchFamily="18" charset="0"/>
                              </a:rPr>
                            </m:ctrlPr>
                          </m:sSubPr>
                          <m:e>
                            <m:r>
                              <a:rPr lang="en-GB" sz="1100" b="1" i="1" smtClean="0">
                                <a:solidFill>
                                  <a:srgbClr val="836967"/>
                                </a:solidFill>
                                <a:latin typeface="Cambria Math" panose="02040503050406030204" pitchFamily="18" charset="0"/>
                              </a:rPr>
                              <m:t>𝒗</m:t>
                            </m:r>
                          </m:e>
                          <m:sub>
                            <m:r>
                              <a:rPr lang="en-GB" sz="1100" b="1" i="1" smtClean="0">
                                <a:latin typeface="Cambria Math" panose="02040503050406030204" pitchFamily="18" charset="0"/>
                              </a:rPr>
                              <m:t>𝑩𝑵</m:t>
                            </m:r>
                          </m:sub>
                        </m:sSub>
                      </m:oMath>
                    </m:oMathPara>
                  </a14:m>
                  <a:endParaRPr lang="en-US" sz="1100" b="1" dirty="0"/>
                </a:p>
              </p:txBody>
            </p:sp>
          </mc:Choice>
          <mc:Fallback xmlns="">
            <p:sp>
              <p:nvSpPr>
                <p:cNvPr id="13" name="TextBox 12">
                  <a:extLst>
                    <a:ext uri="{FF2B5EF4-FFF2-40B4-BE49-F238E27FC236}">
                      <a16:creationId xmlns:a16="http://schemas.microsoft.com/office/drawing/2014/main" id="{E404A8EF-8860-58BD-B6D5-84E0E682FBCE}"/>
                    </a:ext>
                  </a:extLst>
                </p:cNvPr>
                <p:cNvSpPr txBox="1">
                  <a:spLocks noRot="1" noChangeAspect="1" noMove="1" noResize="1" noEditPoints="1" noAdjustHandles="1" noChangeArrowheads="1" noChangeShapeType="1" noTextEdit="1"/>
                </p:cNvSpPr>
                <p:nvPr/>
              </p:nvSpPr>
              <p:spPr>
                <a:xfrm>
                  <a:off x="8433953" y="1452249"/>
                  <a:ext cx="275144" cy="266039"/>
                </a:xfrm>
                <a:prstGeom prst="rect">
                  <a:avLst/>
                </a:prstGeom>
                <a:blipFill>
                  <a:blip r:embed="rId5"/>
                  <a:stretch>
                    <a:fillRect r="-33333"/>
                  </a:stretch>
                </a:blipFill>
                <a:ln>
                  <a:noFill/>
                </a:ln>
              </p:spPr>
              <p:txBody>
                <a:bodyPr/>
                <a:lstStyle/>
                <a:p>
                  <a:r>
                    <a:rPr lang="en-GB">
                      <a:noFill/>
                    </a:rPr>
                    <a:t> </a:t>
                  </a:r>
                </a:p>
              </p:txBody>
            </p:sp>
          </mc:Fallback>
        </mc:AlternateContent>
      </p:grpSp>
      <p:sp>
        <p:nvSpPr>
          <p:cNvPr id="2" name="Title 1">
            <a:extLst>
              <a:ext uri="{FF2B5EF4-FFF2-40B4-BE49-F238E27FC236}">
                <a16:creationId xmlns:a16="http://schemas.microsoft.com/office/drawing/2014/main" id="{83CDAB49-4E83-D5C9-EF6D-0F2CE1E6855E}"/>
              </a:ext>
            </a:extLst>
          </p:cNvPr>
          <p:cNvSpPr>
            <a:spLocks noGrp="1"/>
          </p:cNvSpPr>
          <p:nvPr>
            <p:ph type="title"/>
          </p:nvPr>
        </p:nvSpPr>
        <p:spPr>
          <a:xfrm>
            <a:off x="185741" y="53010"/>
            <a:ext cx="7886700" cy="595912"/>
          </a:xfrm>
        </p:spPr>
        <p:txBody>
          <a:bodyPr>
            <a:normAutofit fontScale="90000"/>
          </a:bodyPr>
          <a:lstStyle/>
          <a:p>
            <a:r>
              <a:rPr lang="en-US" dirty="0"/>
              <a:t>Harmonics</a:t>
            </a:r>
          </a:p>
        </p:txBody>
      </p:sp>
      <p:sp>
        <p:nvSpPr>
          <p:cNvPr id="17" name="Title 1">
            <a:extLst>
              <a:ext uri="{FF2B5EF4-FFF2-40B4-BE49-F238E27FC236}">
                <a16:creationId xmlns:a16="http://schemas.microsoft.com/office/drawing/2014/main" id="{4100A584-C9BA-C39F-A4D3-ABF895CCF570}"/>
              </a:ext>
            </a:extLst>
          </p:cNvPr>
          <p:cNvSpPr txBox="1">
            <a:spLocks/>
          </p:cNvSpPr>
          <p:nvPr/>
        </p:nvSpPr>
        <p:spPr>
          <a:xfrm>
            <a:off x="301488" y="450084"/>
            <a:ext cx="8358064" cy="232651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Tx/>
              <a:buChar char="-"/>
            </a:pPr>
            <a:r>
              <a:rPr lang="en-US" sz="2800" b="1" dirty="0"/>
              <a:t>What are harmonics?</a:t>
            </a:r>
          </a:p>
          <a:p>
            <a:pPr marL="914400" lvl="1" indent="-457200">
              <a:buFontTx/>
              <a:buChar char="-"/>
            </a:pPr>
            <a:r>
              <a:rPr lang="en-US" sz="2000" dirty="0"/>
              <a:t>Pure Sinusoid is required.</a:t>
            </a:r>
          </a:p>
          <a:p>
            <a:pPr marL="914400" lvl="1" indent="-457200">
              <a:buFontTx/>
              <a:buChar char="-"/>
            </a:pPr>
            <a:r>
              <a:rPr lang="en-US" sz="2000" dirty="0"/>
              <a:t>The output is different both in square-wave and PWM switching</a:t>
            </a:r>
          </a:p>
          <a:p>
            <a:pPr marL="914400" lvl="1" indent="-457200">
              <a:buFontTx/>
              <a:buChar char="-"/>
            </a:pPr>
            <a:r>
              <a:rPr lang="en-US" sz="2000" dirty="0"/>
              <a:t>There is need to analyze the </a:t>
            </a:r>
            <a:r>
              <a:rPr lang="en-US" sz="2000" dirty="0">
                <a:solidFill>
                  <a:srgbClr val="FF0000"/>
                </a:solidFill>
              </a:rPr>
              <a:t>presence of other sinusoids </a:t>
            </a:r>
            <a:r>
              <a:rPr lang="en-US" sz="2000" dirty="0"/>
              <a:t>having </a:t>
            </a:r>
            <a:r>
              <a:rPr lang="en-US" sz="2000" dirty="0">
                <a:solidFill>
                  <a:srgbClr val="FF0000"/>
                </a:solidFill>
              </a:rPr>
              <a:t>frequencies multiple of desired sinusoid, </a:t>
            </a:r>
            <a:r>
              <a:rPr lang="en-US" sz="2000" b="1" i="1" dirty="0">
                <a:solidFill>
                  <a:srgbClr val="7030A0"/>
                </a:solidFill>
              </a:rPr>
              <a:t>called harmonics</a:t>
            </a:r>
            <a:r>
              <a:rPr lang="en-US" sz="2000" dirty="0">
                <a:solidFill>
                  <a:srgbClr val="FF0000"/>
                </a:solidFill>
              </a:rPr>
              <a:t>,  </a:t>
            </a:r>
            <a:r>
              <a:rPr lang="en-US" sz="2000" dirty="0"/>
              <a:t>available in output.</a:t>
            </a:r>
          </a:p>
          <a:p>
            <a:pPr marL="914400" lvl="1" indent="-457200">
              <a:buFontTx/>
              <a:buChar char="-"/>
            </a:pPr>
            <a:endParaRPr lang="en-US" sz="2000" dirty="0"/>
          </a:p>
        </p:txBody>
      </p:sp>
      <p:grpSp>
        <p:nvGrpSpPr>
          <p:cNvPr id="58" name="Group 57">
            <a:extLst>
              <a:ext uri="{FF2B5EF4-FFF2-40B4-BE49-F238E27FC236}">
                <a16:creationId xmlns:a16="http://schemas.microsoft.com/office/drawing/2014/main" id="{E1A48BD9-00C4-5BDE-1FE2-F652DAF1DBA2}"/>
              </a:ext>
            </a:extLst>
          </p:cNvPr>
          <p:cNvGrpSpPr/>
          <p:nvPr/>
        </p:nvGrpSpPr>
        <p:grpSpPr>
          <a:xfrm>
            <a:off x="4472488" y="2202362"/>
            <a:ext cx="4168171" cy="1924297"/>
            <a:chOff x="4472488" y="2202362"/>
            <a:chExt cx="4168171" cy="1924297"/>
          </a:xfrm>
        </p:grpSpPr>
        <p:grpSp>
          <p:nvGrpSpPr>
            <p:cNvPr id="38" name="Group 37">
              <a:extLst>
                <a:ext uri="{FF2B5EF4-FFF2-40B4-BE49-F238E27FC236}">
                  <a16:creationId xmlns:a16="http://schemas.microsoft.com/office/drawing/2014/main" id="{A4672B2F-146B-32CF-BACB-8929D591A340}"/>
                </a:ext>
              </a:extLst>
            </p:cNvPr>
            <p:cNvGrpSpPr/>
            <p:nvPr/>
          </p:nvGrpSpPr>
          <p:grpSpPr>
            <a:xfrm>
              <a:off x="4828065" y="2202362"/>
              <a:ext cx="3812594" cy="1924297"/>
              <a:chOff x="4828065" y="2202362"/>
              <a:chExt cx="3812594" cy="1924297"/>
            </a:xfrm>
          </p:grpSpPr>
          <p:grpSp>
            <p:nvGrpSpPr>
              <p:cNvPr id="47" name="Group 46">
                <a:extLst>
                  <a:ext uri="{FF2B5EF4-FFF2-40B4-BE49-F238E27FC236}">
                    <a16:creationId xmlns:a16="http://schemas.microsoft.com/office/drawing/2014/main" id="{84C7CFCE-9F6F-73C3-211E-D8C92625843E}"/>
                  </a:ext>
                </a:extLst>
              </p:cNvPr>
              <p:cNvGrpSpPr/>
              <p:nvPr/>
            </p:nvGrpSpPr>
            <p:grpSpPr>
              <a:xfrm>
                <a:off x="4828065" y="2202362"/>
                <a:ext cx="3812594" cy="1924297"/>
                <a:chOff x="4456696" y="4361226"/>
                <a:chExt cx="3812594" cy="1924297"/>
              </a:xfrm>
            </p:grpSpPr>
            <p:sp>
              <p:nvSpPr>
                <p:cNvPr id="21" name="TextBox 20">
                  <a:extLst>
                    <a:ext uri="{FF2B5EF4-FFF2-40B4-BE49-F238E27FC236}">
                      <a16:creationId xmlns:a16="http://schemas.microsoft.com/office/drawing/2014/main" id="{91D8A456-E284-C6B8-56C3-CE8E99CAB7A7}"/>
                    </a:ext>
                  </a:extLst>
                </p:cNvPr>
                <p:cNvSpPr txBox="1"/>
                <p:nvPr/>
              </p:nvSpPr>
              <p:spPr>
                <a:xfrm>
                  <a:off x="4545158" y="5916191"/>
                  <a:ext cx="3365088" cy="369332"/>
                </a:xfrm>
                <a:prstGeom prst="rect">
                  <a:avLst/>
                </a:prstGeom>
                <a:noFill/>
              </p:spPr>
              <p:txBody>
                <a:bodyPr wrap="none" rtlCol="0">
                  <a:spAutoFit/>
                </a:bodyPr>
                <a:lstStyle/>
                <a:p>
                  <a:r>
                    <a:rPr lang="en-US" dirty="0">
                      <a:solidFill>
                        <a:srgbClr val="FF0000"/>
                      </a:solidFill>
                    </a:rPr>
                    <a:t>Output (PWM Switching - Bipolar)</a:t>
                  </a:r>
                </a:p>
              </p:txBody>
            </p:sp>
            <p:grpSp>
              <p:nvGrpSpPr>
                <p:cNvPr id="46" name="Group 45">
                  <a:extLst>
                    <a:ext uri="{FF2B5EF4-FFF2-40B4-BE49-F238E27FC236}">
                      <a16:creationId xmlns:a16="http://schemas.microsoft.com/office/drawing/2014/main" id="{AF480E5E-892C-F2A9-DB86-A8E22EF81B4B}"/>
                    </a:ext>
                  </a:extLst>
                </p:cNvPr>
                <p:cNvGrpSpPr/>
                <p:nvPr/>
              </p:nvGrpSpPr>
              <p:grpSpPr>
                <a:xfrm>
                  <a:off x="4456696" y="4361226"/>
                  <a:ext cx="3812594" cy="1415283"/>
                  <a:chOff x="4456696" y="4361226"/>
                  <a:chExt cx="3812594" cy="1415283"/>
                </a:xfrm>
              </p:grpSpPr>
              <p:pic>
                <p:nvPicPr>
                  <p:cNvPr id="15" name="Picture 14">
                    <a:extLst>
                      <a:ext uri="{FF2B5EF4-FFF2-40B4-BE49-F238E27FC236}">
                        <a16:creationId xmlns:a16="http://schemas.microsoft.com/office/drawing/2014/main" id="{0319454D-1B2A-6AB5-8E8D-A3F289518F3E}"/>
                      </a:ext>
                    </a:extLst>
                  </p:cNvPr>
                  <p:cNvPicPr>
                    <a:picLocks noChangeAspect="1"/>
                  </p:cNvPicPr>
                  <p:nvPr/>
                </p:nvPicPr>
                <p:blipFill>
                  <a:blip r:embed="rId6"/>
                  <a:stretch>
                    <a:fillRect/>
                  </a:stretch>
                </p:blipFill>
                <p:spPr>
                  <a:xfrm>
                    <a:off x="4456696" y="4465936"/>
                    <a:ext cx="3404419" cy="1310573"/>
                  </a:xfrm>
                  <a:prstGeom prst="rect">
                    <a:avLst/>
                  </a:prstGeom>
                </p:spPr>
              </p:pic>
              <p:sp>
                <p:nvSpPr>
                  <p:cNvPr id="40" name="TextBox 39">
                    <a:extLst>
                      <a:ext uri="{FF2B5EF4-FFF2-40B4-BE49-F238E27FC236}">
                        <a16:creationId xmlns:a16="http://schemas.microsoft.com/office/drawing/2014/main" id="{05F739C6-FF45-45F6-9FD2-8A4794213E77}"/>
                      </a:ext>
                    </a:extLst>
                  </p:cNvPr>
                  <p:cNvSpPr txBox="1"/>
                  <p:nvPr/>
                </p:nvSpPr>
                <p:spPr>
                  <a:xfrm>
                    <a:off x="6179694" y="4465936"/>
                    <a:ext cx="1240965" cy="253916"/>
                  </a:xfrm>
                  <a:prstGeom prst="rect">
                    <a:avLst/>
                  </a:prstGeom>
                  <a:solidFill>
                    <a:schemeClr val="bg1"/>
                  </a:solidFill>
                </p:spPr>
                <p:txBody>
                  <a:bodyPr wrap="square" rtlCol="0">
                    <a:spAutoFit/>
                  </a:bodyPr>
                  <a:lstStyle/>
                  <a:p>
                    <a:r>
                      <a:rPr lang="en-US" sz="1050" dirty="0"/>
                      <a:t>Desired</a:t>
                    </a:r>
                  </a:p>
                </p:txBody>
              </p:sp>
              <p:grpSp>
                <p:nvGrpSpPr>
                  <p:cNvPr id="41" name="Group 40">
                    <a:extLst>
                      <a:ext uri="{FF2B5EF4-FFF2-40B4-BE49-F238E27FC236}">
                        <a16:creationId xmlns:a16="http://schemas.microsoft.com/office/drawing/2014/main" id="{12BE2F33-965E-5B58-7167-050AA942568C}"/>
                      </a:ext>
                    </a:extLst>
                  </p:cNvPr>
                  <p:cNvGrpSpPr/>
                  <p:nvPr/>
                </p:nvGrpSpPr>
                <p:grpSpPr>
                  <a:xfrm>
                    <a:off x="7773160" y="4592142"/>
                    <a:ext cx="315090" cy="177628"/>
                    <a:chOff x="7802868" y="2718573"/>
                    <a:chExt cx="431800" cy="298278"/>
                  </a:xfrm>
                </p:grpSpPr>
                <p:pic>
                  <p:nvPicPr>
                    <p:cNvPr id="42" name="Picture 41">
                      <a:extLst>
                        <a:ext uri="{FF2B5EF4-FFF2-40B4-BE49-F238E27FC236}">
                          <a16:creationId xmlns:a16="http://schemas.microsoft.com/office/drawing/2014/main" id="{C7EE8376-88A8-16CD-79F0-ED2C999EEAAA}"/>
                        </a:ext>
                      </a:extLst>
                    </p:cNvPr>
                    <p:cNvPicPr>
                      <a:picLocks noChangeAspect="1"/>
                    </p:cNvPicPr>
                    <p:nvPr/>
                  </p:nvPicPr>
                  <p:blipFill>
                    <a:blip r:embed="rId7"/>
                    <a:stretch>
                      <a:fillRect/>
                    </a:stretch>
                  </p:blipFill>
                  <p:spPr>
                    <a:xfrm>
                      <a:off x="7802868" y="2718573"/>
                      <a:ext cx="431800" cy="241300"/>
                    </a:xfrm>
                    <a:prstGeom prst="rect">
                      <a:avLst/>
                    </a:prstGeom>
                  </p:spPr>
                </p:pic>
                <p:sp>
                  <p:nvSpPr>
                    <p:cNvPr id="43" name="Rectangle 42">
                      <a:extLst>
                        <a:ext uri="{FF2B5EF4-FFF2-40B4-BE49-F238E27FC236}">
                          <a16:creationId xmlns:a16="http://schemas.microsoft.com/office/drawing/2014/main" id="{6D376AEB-1111-AB97-264C-3FB578FA8238}"/>
                        </a:ext>
                      </a:extLst>
                    </p:cNvPr>
                    <p:cNvSpPr/>
                    <p:nvPr/>
                  </p:nvSpPr>
                  <p:spPr>
                    <a:xfrm>
                      <a:off x="7802868" y="2901468"/>
                      <a:ext cx="58247" cy="11538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6688E251-356A-2D65-B63F-B0231A6F636F}"/>
                        </a:ext>
                      </a:extLst>
                    </p:cNvPr>
                    <p:cNvSpPr/>
                    <p:nvPr/>
                  </p:nvSpPr>
                  <p:spPr>
                    <a:xfrm>
                      <a:off x="7903649" y="2953840"/>
                      <a:ext cx="166466" cy="6224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5" name="TextBox 44">
                    <a:extLst>
                      <a:ext uri="{FF2B5EF4-FFF2-40B4-BE49-F238E27FC236}">
                        <a16:creationId xmlns:a16="http://schemas.microsoft.com/office/drawing/2014/main" id="{ACAF97BA-0285-C6E8-C75B-C94EC808D481}"/>
                      </a:ext>
                    </a:extLst>
                  </p:cNvPr>
                  <p:cNvSpPr txBox="1"/>
                  <p:nvPr/>
                </p:nvSpPr>
                <p:spPr>
                  <a:xfrm>
                    <a:off x="7667056" y="4361226"/>
                    <a:ext cx="602234" cy="253916"/>
                  </a:xfrm>
                  <a:prstGeom prst="rect">
                    <a:avLst/>
                  </a:prstGeom>
                  <a:solidFill>
                    <a:schemeClr val="bg1"/>
                  </a:solidFill>
                </p:spPr>
                <p:txBody>
                  <a:bodyPr wrap="square" rtlCol="0">
                    <a:spAutoFit/>
                  </a:bodyPr>
                  <a:lstStyle/>
                  <a:p>
                    <a:r>
                      <a:rPr lang="en-US" sz="1050" dirty="0"/>
                      <a:t>Actual</a:t>
                    </a:r>
                  </a:p>
                </p:txBody>
              </p:sp>
            </p:grpSp>
          </p:gr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76D1A8B8-009A-EA83-33AD-334D606BDF3E}"/>
                      </a:ext>
                    </a:extLst>
                  </p:cNvPr>
                  <p:cNvSpPr txBox="1"/>
                  <p:nvPr/>
                </p:nvSpPr>
                <p:spPr>
                  <a:xfrm>
                    <a:off x="4866299" y="2243318"/>
                    <a:ext cx="216310" cy="261610"/>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100" b="1" i="1" smtClean="0">
                                  <a:solidFill>
                                    <a:schemeClr val="tx1"/>
                                  </a:solidFill>
                                  <a:latin typeface="Cambria Math" panose="02040503050406030204" pitchFamily="18" charset="0"/>
                                </a:rPr>
                              </m:ctrlPr>
                            </m:sSubPr>
                            <m:e>
                              <m:r>
                                <a:rPr lang="en-GB" sz="1100" b="1" i="1" smtClean="0">
                                  <a:solidFill>
                                    <a:schemeClr val="tx1"/>
                                  </a:solidFill>
                                  <a:latin typeface="Cambria Math" panose="02040503050406030204" pitchFamily="18" charset="0"/>
                                </a:rPr>
                                <m:t>𝒗</m:t>
                              </m:r>
                            </m:e>
                            <m:sub>
                              <m:r>
                                <a:rPr lang="en-GB" sz="1100" b="1" i="1" smtClean="0">
                                  <a:solidFill>
                                    <a:schemeClr val="tx1"/>
                                  </a:solidFill>
                                  <a:latin typeface="Cambria Math" panose="02040503050406030204" pitchFamily="18" charset="0"/>
                                </a:rPr>
                                <m:t>𝒐</m:t>
                              </m:r>
                            </m:sub>
                          </m:sSub>
                        </m:oMath>
                      </m:oMathPara>
                    </a14:m>
                    <a:endParaRPr lang="en-US" sz="1100" b="1" dirty="0"/>
                  </a:p>
                </p:txBody>
              </p:sp>
            </mc:Choice>
            <mc:Fallback xmlns="">
              <p:sp>
                <p:nvSpPr>
                  <p:cNvPr id="36" name="TextBox 35">
                    <a:extLst>
                      <a:ext uri="{FF2B5EF4-FFF2-40B4-BE49-F238E27FC236}">
                        <a16:creationId xmlns:a16="http://schemas.microsoft.com/office/drawing/2014/main" id="{76D1A8B8-009A-EA83-33AD-334D606BDF3E}"/>
                      </a:ext>
                    </a:extLst>
                  </p:cNvPr>
                  <p:cNvSpPr txBox="1">
                    <a:spLocks noRot="1" noChangeAspect="1" noMove="1" noResize="1" noEditPoints="1" noAdjustHandles="1" noChangeArrowheads="1" noChangeShapeType="1" noTextEdit="1"/>
                  </p:cNvSpPr>
                  <p:nvPr/>
                </p:nvSpPr>
                <p:spPr>
                  <a:xfrm>
                    <a:off x="4866299" y="2243318"/>
                    <a:ext cx="216310" cy="261610"/>
                  </a:xfrm>
                  <a:prstGeom prst="rect">
                    <a:avLst/>
                  </a:prstGeom>
                  <a:blipFill>
                    <a:blip r:embed="rId8"/>
                    <a:stretch>
                      <a:fillRect r="-18421"/>
                    </a:stretch>
                  </a:blipFill>
                  <a:ln>
                    <a:solidFill>
                      <a:schemeClr val="bg1"/>
                    </a:solidFill>
                  </a:ln>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E26E0B09-414F-CD8C-7001-D80F5AEACF8D}"/>
                    </a:ext>
                  </a:extLst>
                </p:cNvPr>
                <p:cNvSpPr txBox="1"/>
                <p:nvPr/>
              </p:nvSpPr>
              <p:spPr>
                <a:xfrm>
                  <a:off x="4603725" y="2477404"/>
                  <a:ext cx="234563" cy="307777"/>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400" b="1" i="1" smtClean="0">
                                <a:solidFill>
                                  <a:srgbClr val="836967"/>
                                </a:solidFill>
                                <a:latin typeface="Cambria Math" panose="02040503050406030204" pitchFamily="18" charset="0"/>
                              </a:rPr>
                            </m:ctrlPr>
                          </m:sSubPr>
                          <m:e>
                            <m:r>
                              <a:rPr lang="en-GB" sz="1400" b="1" i="1" smtClean="0">
                                <a:solidFill>
                                  <a:srgbClr val="836967"/>
                                </a:solidFill>
                                <a:latin typeface="Cambria Math" panose="02040503050406030204" pitchFamily="18" charset="0"/>
                              </a:rPr>
                              <m:t>𝑽</m:t>
                            </m:r>
                          </m:e>
                          <m:sub>
                            <m:r>
                              <a:rPr lang="en-GB" sz="1400" b="1" i="1" smtClean="0">
                                <a:latin typeface="Cambria Math" panose="02040503050406030204" pitchFamily="18" charset="0"/>
                              </a:rPr>
                              <m:t>𝒅𝒄</m:t>
                            </m:r>
                          </m:sub>
                        </m:sSub>
                      </m:oMath>
                    </m:oMathPara>
                  </a14:m>
                  <a:endParaRPr lang="en-GB" sz="1400" dirty="0"/>
                </a:p>
              </p:txBody>
            </p:sp>
          </mc:Choice>
          <mc:Fallback xmlns="">
            <p:sp>
              <p:nvSpPr>
                <p:cNvPr id="51" name="TextBox 50">
                  <a:extLst>
                    <a:ext uri="{FF2B5EF4-FFF2-40B4-BE49-F238E27FC236}">
                      <a16:creationId xmlns:a16="http://schemas.microsoft.com/office/drawing/2014/main" id="{E26E0B09-414F-CD8C-7001-D80F5AEACF8D}"/>
                    </a:ext>
                  </a:extLst>
                </p:cNvPr>
                <p:cNvSpPr txBox="1">
                  <a:spLocks noRot="1" noChangeAspect="1" noMove="1" noResize="1" noEditPoints="1" noAdjustHandles="1" noChangeArrowheads="1" noChangeShapeType="1" noTextEdit="1"/>
                </p:cNvSpPr>
                <p:nvPr/>
              </p:nvSpPr>
              <p:spPr>
                <a:xfrm>
                  <a:off x="4603725" y="2477404"/>
                  <a:ext cx="234563" cy="307777"/>
                </a:xfrm>
                <a:prstGeom prst="rect">
                  <a:avLst/>
                </a:prstGeom>
                <a:blipFill>
                  <a:blip r:embed="rId9"/>
                  <a:stretch>
                    <a:fillRect r="-68293"/>
                  </a:stretch>
                </a:blipFill>
                <a:ln>
                  <a:solidFill>
                    <a:schemeClr val="bg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B2F4D1CD-2EDC-5519-1521-FBF786859AF1}"/>
                    </a:ext>
                  </a:extLst>
                </p:cNvPr>
                <p:cNvSpPr txBox="1"/>
                <p:nvPr/>
              </p:nvSpPr>
              <p:spPr>
                <a:xfrm>
                  <a:off x="4472488" y="3385262"/>
                  <a:ext cx="234563" cy="307777"/>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400" b="1" i="1" smtClean="0">
                                <a:solidFill>
                                  <a:srgbClr val="836967"/>
                                </a:solidFill>
                                <a:latin typeface="Cambria Math" panose="02040503050406030204" pitchFamily="18" charset="0"/>
                              </a:rPr>
                            </m:ctrlPr>
                          </m:sSubPr>
                          <m:e>
                            <m:r>
                              <a:rPr lang="en-GB" sz="1400" b="1" i="1" smtClean="0">
                                <a:solidFill>
                                  <a:srgbClr val="836967"/>
                                </a:solidFill>
                                <a:latin typeface="Cambria Math" panose="02040503050406030204" pitchFamily="18" charset="0"/>
                              </a:rPr>
                              <m:t>−</m:t>
                            </m:r>
                            <m:r>
                              <a:rPr lang="en-GB" sz="1400" b="1" i="1" smtClean="0">
                                <a:solidFill>
                                  <a:srgbClr val="836967"/>
                                </a:solidFill>
                                <a:latin typeface="Cambria Math" panose="02040503050406030204" pitchFamily="18" charset="0"/>
                              </a:rPr>
                              <m:t>𝑽</m:t>
                            </m:r>
                          </m:e>
                          <m:sub>
                            <m:r>
                              <a:rPr lang="en-GB" sz="1400" b="1" i="1" smtClean="0">
                                <a:latin typeface="Cambria Math" panose="02040503050406030204" pitchFamily="18" charset="0"/>
                              </a:rPr>
                              <m:t>𝒅𝒄</m:t>
                            </m:r>
                          </m:sub>
                        </m:sSub>
                      </m:oMath>
                    </m:oMathPara>
                  </a14:m>
                  <a:endParaRPr lang="en-GB" sz="1400" dirty="0"/>
                </a:p>
              </p:txBody>
            </p:sp>
          </mc:Choice>
          <mc:Fallback xmlns="">
            <p:sp>
              <p:nvSpPr>
                <p:cNvPr id="52" name="TextBox 51">
                  <a:extLst>
                    <a:ext uri="{FF2B5EF4-FFF2-40B4-BE49-F238E27FC236}">
                      <a16:creationId xmlns:a16="http://schemas.microsoft.com/office/drawing/2014/main" id="{B2F4D1CD-2EDC-5519-1521-FBF786859AF1}"/>
                    </a:ext>
                  </a:extLst>
                </p:cNvPr>
                <p:cNvSpPr txBox="1">
                  <a:spLocks noRot="1" noChangeAspect="1" noMove="1" noResize="1" noEditPoints="1" noAdjustHandles="1" noChangeArrowheads="1" noChangeShapeType="1" noTextEdit="1"/>
                </p:cNvSpPr>
                <p:nvPr/>
              </p:nvSpPr>
              <p:spPr>
                <a:xfrm>
                  <a:off x="4472488" y="3385262"/>
                  <a:ext cx="234563" cy="307777"/>
                </a:xfrm>
                <a:prstGeom prst="rect">
                  <a:avLst/>
                </a:prstGeom>
                <a:blipFill>
                  <a:blip r:embed="rId10"/>
                  <a:stretch>
                    <a:fillRect r="-125000"/>
                  </a:stretch>
                </a:blipFill>
                <a:ln>
                  <a:solidFill>
                    <a:schemeClr val="bg1"/>
                  </a:solidFill>
                </a:ln>
              </p:spPr>
              <p:txBody>
                <a:bodyPr/>
                <a:lstStyle/>
                <a:p>
                  <a:r>
                    <a:rPr lang="en-GB">
                      <a:noFill/>
                    </a:rPr>
                    <a:t> </a:t>
                  </a:r>
                </a:p>
              </p:txBody>
            </p:sp>
          </mc:Fallback>
        </mc:AlternateContent>
      </p:grpSp>
      <p:grpSp>
        <p:nvGrpSpPr>
          <p:cNvPr id="59" name="Group 58">
            <a:extLst>
              <a:ext uri="{FF2B5EF4-FFF2-40B4-BE49-F238E27FC236}">
                <a16:creationId xmlns:a16="http://schemas.microsoft.com/office/drawing/2014/main" id="{9DB420EF-7DEE-7527-2170-5A0F318084F5}"/>
              </a:ext>
            </a:extLst>
          </p:cNvPr>
          <p:cNvGrpSpPr/>
          <p:nvPr/>
        </p:nvGrpSpPr>
        <p:grpSpPr>
          <a:xfrm>
            <a:off x="4443864" y="4197091"/>
            <a:ext cx="4352854" cy="2191739"/>
            <a:chOff x="4443864" y="4197091"/>
            <a:chExt cx="4352854" cy="2191739"/>
          </a:xfrm>
        </p:grpSpPr>
        <p:grpSp>
          <p:nvGrpSpPr>
            <p:cNvPr id="50" name="Group 49">
              <a:extLst>
                <a:ext uri="{FF2B5EF4-FFF2-40B4-BE49-F238E27FC236}">
                  <a16:creationId xmlns:a16="http://schemas.microsoft.com/office/drawing/2014/main" id="{7670A760-07EC-55EA-F317-C42508CE61DA}"/>
                </a:ext>
              </a:extLst>
            </p:cNvPr>
            <p:cNvGrpSpPr/>
            <p:nvPr/>
          </p:nvGrpSpPr>
          <p:grpSpPr>
            <a:xfrm>
              <a:off x="4791842" y="4197091"/>
              <a:ext cx="4004876" cy="2191739"/>
              <a:chOff x="4791842" y="3950601"/>
              <a:chExt cx="4004876" cy="2191739"/>
            </a:xfrm>
          </p:grpSpPr>
          <p:grpSp>
            <p:nvGrpSpPr>
              <p:cNvPr id="33" name="Group 32">
                <a:extLst>
                  <a:ext uri="{FF2B5EF4-FFF2-40B4-BE49-F238E27FC236}">
                    <a16:creationId xmlns:a16="http://schemas.microsoft.com/office/drawing/2014/main" id="{45B32FBF-972B-275C-5EB9-C983EACC209F}"/>
                  </a:ext>
                </a:extLst>
              </p:cNvPr>
              <p:cNvGrpSpPr/>
              <p:nvPr/>
            </p:nvGrpSpPr>
            <p:grpSpPr>
              <a:xfrm>
                <a:off x="4899997" y="4066331"/>
                <a:ext cx="3896721" cy="2076009"/>
                <a:chOff x="4899997" y="4066331"/>
                <a:chExt cx="3896721" cy="2076009"/>
              </a:xfrm>
            </p:grpSpPr>
            <p:sp>
              <p:nvSpPr>
                <p:cNvPr id="23" name="TextBox 22">
                  <a:extLst>
                    <a:ext uri="{FF2B5EF4-FFF2-40B4-BE49-F238E27FC236}">
                      <a16:creationId xmlns:a16="http://schemas.microsoft.com/office/drawing/2014/main" id="{4CE5301F-FC43-0008-83D0-A5F9D83F7C2F}"/>
                    </a:ext>
                  </a:extLst>
                </p:cNvPr>
                <p:cNvSpPr txBox="1"/>
                <p:nvPr/>
              </p:nvSpPr>
              <p:spPr>
                <a:xfrm>
                  <a:off x="4974454" y="5773008"/>
                  <a:ext cx="3509359" cy="369332"/>
                </a:xfrm>
                <a:prstGeom prst="rect">
                  <a:avLst/>
                </a:prstGeom>
                <a:noFill/>
              </p:spPr>
              <p:txBody>
                <a:bodyPr wrap="none" rtlCol="0">
                  <a:spAutoFit/>
                </a:bodyPr>
                <a:lstStyle/>
                <a:p>
                  <a:r>
                    <a:rPr lang="en-US" dirty="0">
                      <a:solidFill>
                        <a:srgbClr val="FF0000"/>
                      </a:solidFill>
                    </a:rPr>
                    <a:t>Output (PWM Switching - Unipolar)</a:t>
                  </a:r>
                </a:p>
              </p:txBody>
            </p:sp>
            <p:pic>
              <p:nvPicPr>
                <p:cNvPr id="29" name="Picture 28">
                  <a:extLst>
                    <a:ext uri="{FF2B5EF4-FFF2-40B4-BE49-F238E27FC236}">
                      <a16:creationId xmlns:a16="http://schemas.microsoft.com/office/drawing/2014/main" id="{2E9BB685-2B9A-07B1-417F-5C4FB60DD5FE}"/>
                    </a:ext>
                  </a:extLst>
                </p:cNvPr>
                <p:cNvPicPr>
                  <a:picLocks noChangeAspect="1"/>
                </p:cNvPicPr>
                <p:nvPr/>
              </p:nvPicPr>
              <p:blipFill>
                <a:blip r:embed="rId11"/>
                <a:stretch>
                  <a:fillRect/>
                </a:stretch>
              </p:blipFill>
              <p:spPr>
                <a:xfrm>
                  <a:off x="4899997" y="4179178"/>
                  <a:ext cx="3896721" cy="1421880"/>
                </a:xfrm>
                <a:prstGeom prst="rect">
                  <a:avLst/>
                </a:prstGeom>
              </p:spPr>
            </p:pic>
            <p:pic>
              <p:nvPicPr>
                <p:cNvPr id="30" name="Picture 29">
                  <a:extLst>
                    <a:ext uri="{FF2B5EF4-FFF2-40B4-BE49-F238E27FC236}">
                      <a16:creationId xmlns:a16="http://schemas.microsoft.com/office/drawing/2014/main" id="{DBFA9DA5-7FA9-F588-44F5-31BB8E66C462}"/>
                    </a:ext>
                  </a:extLst>
                </p:cNvPr>
                <p:cNvPicPr>
                  <a:picLocks noChangeAspect="1"/>
                </p:cNvPicPr>
                <p:nvPr/>
              </p:nvPicPr>
              <p:blipFill>
                <a:blip r:embed="rId8"/>
                <a:stretch>
                  <a:fillRect/>
                </a:stretch>
              </p:blipFill>
              <p:spPr>
                <a:xfrm>
                  <a:off x="6425281" y="4243649"/>
                  <a:ext cx="315090" cy="143697"/>
                </a:xfrm>
                <a:prstGeom prst="rect">
                  <a:avLst/>
                </a:prstGeom>
              </p:spPr>
            </p:pic>
            <p:sp>
              <p:nvSpPr>
                <p:cNvPr id="31" name="TextBox 30">
                  <a:extLst>
                    <a:ext uri="{FF2B5EF4-FFF2-40B4-BE49-F238E27FC236}">
                      <a16:creationId xmlns:a16="http://schemas.microsoft.com/office/drawing/2014/main" id="{368458C2-262D-BEAE-FA46-5CF806A40688}"/>
                    </a:ext>
                  </a:extLst>
                </p:cNvPr>
                <p:cNvSpPr txBox="1"/>
                <p:nvPr/>
              </p:nvSpPr>
              <p:spPr>
                <a:xfrm>
                  <a:off x="6646566" y="4066331"/>
                  <a:ext cx="602234" cy="253916"/>
                </a:xfrm>
                <a:prstGeom prst="rect">
                  <a:avLst/>
                </a:prstGeom>
                <a:solidFill>
                  <a:schemeClr val="bg1"/>
                </a:solidFill>
              </p:spPr>
              <p:txBody>
                <a:bodyPr wrap="square" rtlCol="0">
                  <a:spAutoFit/>
                </a:bodyPr>
                <a:lstStyle/>
                <a:p>
                  <a:r>
                    <a:rPr lang="en-US" sz="1050" dirty="0"/>
                    <a:t>Actual</a:t>
                  </a:r>
                </a:p>
              </p:txBody>
            </p:sp>
            <p:sp>
              <p:nvSpPr>
                <p:cNvPr id="32" name="TextBox 31">
                  <a:extLst>
                    <a:ext uri="{FF2B5EF4-FFF2-40B4-BE49-F238E27FC236}">
                      <a16:creationId xmlns:a16="http://schemas.microsoft.com/office/drawing/2014/main" id="{D96931EF-9192-B0FF-8CD9-4E034013812A}"/>
                    </a:ext>
                  </a:extLst>
                </p:cNvPr>
                <p:cNvSpPr txBox="1"/>
                <p:nvPr/>
              </p:nvSpPr>
              <p:spPr>
                <a:xfrm>
                  <a:off x="6646566" y="4606207"/>
                  <a:ext cx="1240965" cy="253916"/>
                </a:xfrm>
                <a:prstGeom prst="rect">
                  <a:avLst/>
                </a:prstGeom>
                <a:solidFill>
                  <a:schemeClr val="bg1"/>
                </a:solidFill>
              </p:spPr>
              <p:txBody>
                <a:bodyPr wrap="square" rtlCol="0">
                  <a:spAutoFit/>
                </a:bodyPr>
                <a:lstStyle/>
                <a:p>
                  <a:r>
                    <a:rPr lang="en-US" sz="1050" dirty="0"/>
                    <a:t>Desired</a:t>
                  </a:r>
                </a:p>
              </p:txBody>
            </p:sp>
          </p:grp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E7A95649-37C8-FA8F-5252-074950E1DE8C}"/>
                      </a:ext>
                    </a:extLst>
                  </p:cNvPr>
                  <p:cNvSpPr txBox="1"/>
                  <p:nvPr/>
                </p:nvSpPr>
                <p:spPr>
                  <a:xfrm>
                    <a:off x="4791842" y="3950601"/>
                    <a:ext cx="216310" cy="261610"/>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100" b="1" i="1" smtClean="0">
                                  <a:solidFill>
                                    <a:schemeClr val="tx1"/>
                                  </a:solidFill>
                                  <a:latin typeface="Cambria Math" panose="02040503050406030204" pitchFamily="18" charset="0"/>
                                </a:rPr>
                              </m:ctrlPr>
                            </m:sSubPr>
                            <m:e>
                              <m:r>
                                <a:rPr lang="en-GB" sz="1100" b="1" i="1" smtClean="0">
                                  <a:solidFill>
                                    <a:schemeClr val="tx1"/>
                                  </a:solidFill>
                                  <a:latin typeface="Cambria Math" panose="02040503050406030204" pitchFamily="18" charset="0"/>
                                </a:rPr>
                                <m:t>𝒗</m:t>
                              </m:r>
                            </m:e>
                            <m:sub>
                              <m:r>
                                <a:rPr lang="en-GB" sz="1100" b="1" i="1" smtClean="0">
                                  <a:solidFill>
                                    <a:schemeClr val="tx1"/>
                                  </a:solidFill>
                                  <a:latin typeface="Cambria Math" panose="02040503050406030204" pitchFamily="18" charset="0"/>
                                </a:rPr>
                                <m:t>𝒐</m:t>
                              </m:r>
                            </m:sub>
                          </m:sSub>
                        </m:oMath>
                      </m:oMathPara>
                    </a14:m>
                    <a:endParaRPr lang="en-US" sz="1100" b="1" dirty="0"/>
                  </a:p>
                </p:txBody>
              </p:sp>
            </mc:Choice>
            <mc:Fallback xmlns="">
              <p:sp>
                <p:nvSpPr>
                  <p:cNvPr id="49" name="TextBox 48">
                    <a:extLst>
                      <a:ext uri="{FF2B5EF4-FFF2-40B4-BE49-F238E27FC236}">
                        <a16:creationId xmlns:a16="http://schemas.microsoft.com/office/drawing/2014/main" id="{E7A95649-37C8-FA8F-5252-074950E1DE8C}"/>
                      </a:ext>
                    </a:extLst>
                  </p:cNvPr>
                  <p:cNvSpPr txBox="1">
                    <a:spLocks noRot="1" noChangeAspect="1" noMove="1" noResize="1" noEditPoints="1" noAdjustHandles="1" noChangeArrowheads="1" noChangeShapeType="1" noTextEdit="1"/>
                  </p:cNvSpPr>
                  <p:nvPr/>
                </p:nvSpPr>
                <p:spPr>
                  <a:xfrm>
                    <a:off x="4791842" y="3950601"/>
                    <a:ext cx="216310" cy="261610"/>
                  </a:xfrm>
                  <a:prstGeom prst="rect">
                    <a:avLst/>
                  </a:prstGeom>
                  <a:blipFill>
                    <a:blip r:embed="rId8"/>
                    <a:stretch>
                      <a:fillRect r="-18421"/>
                    </a:stretch>
                  </a:blipFill>
                  <a:ln>
                    <a:solidFill>
                      <a:schemeClr val="bg1"/>
                    </a:solidFill>
                  </a:ln>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368560AB-C128-A174-3521-DD8D27251F70}"/>
                    </a:ext>
                  </a:extLst>
                </p:cNvPr>
                <p:cNvSpPr txBox="1"/>
                <p:nvPr/>
              </p:nvSpPr>
              <p:spPr>
                <a:xfrm>
                  <a:off x="4446636" y="4336250"/>
                  <a:ext cx="234563" cy="307777"/>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400" b="1" i="1" smtClean="0">
                                <a:solidFill>
                                  <a:srgbClr val="836967"/>
                                </a:solidFill>
                                <a:latin typeface="Cambria Math" panose="02040503050406030204" pitchFamily="18" charset="0"/>
                              </a:rPr>
                            </m:ctrlPr>
                          </m:sSubPr>
                          <m:e>
                            <m:r>
                              <a:rPr lang="en-GB" sz="1400" b="1" i="1" smtClean="0">
                                <a:solidFill>
                                  <a:srgbClr val="836967"/>
                                </a:solidFill>
                                <a:latin typeface="Cambria Math" panose="02040503050406030204" pitchFamily="18" charset="0"/>
                              </a:rPr>
                              <m:t>𝑽</m:t>
                            </m:r>
                          </m:e>
                          <m:sub>
                            <m:r>
                              <a:rPr lang="en-GB" sz="1400" b="1" i="1" smtClean="0">
                                <a:latin typeface="Cambria Math" panose="02040503050406030204" pitchFamily="18" charset="0"/>
                              </a:rPr>
                              <m:t>𝒅𝒄</m:t>
                            </m:r>
                          </m:sub>
                        </m:sSub>
                      </m:oMath>
                    </m:oMathPara>
                  </a14:m>
                  <a:endParaRPr lang="en-GB" sz="1400" dirty="0"/>
                </a:p>
              </p:txBody>
            </p:sp>
          </mc:Choice>
          <mc:Fallback xmlns="">
            <p:sp>
              <p:nvSpPr>
                <p:cNvPr id="53" name="TextBox 52">
                  <a:extLst>
                    <a:ext uri="{FF2B5EF4-FFF2-40B4-BE49-F238E27FC236}">
                      <a16:creationId xmlns:a16="http://schemas.microsoft.com/office/drawing/2014/main" id="{368560AB-C128-A174-3521-DD8D27251F70}"/>
                    </a:ext>
                  </a:extLst>
                </p:cNvPr>
                <p:cNvSpPr txBox="1">
                  <a:spLocks noRot="1" noChangeAspect="1" noMove="1" noResize="1" noEditPoints="1" noAdjustHandles="1" noChangeArrowheads="1" noChangeShapeType="1" noTextEdit="1"/>
                </p:cNvSpPr>
                <p:nvPr/>
              </p:nvSpPr>
              <p:spPr>
                <a:xfrm>
                  <a:off x="4446636" y="4336250"/>
                  <a:ext cx="234563" cy="307777"/>
                </a:xfrm>
                <a:prstGeom prst="rect">
                  <a:avLst/>
                </a:prstGeom>
                <a:blipFill>
                  <a:blip r:embed="rId9"/>
                  <a:stretch>
                    <a:fillRect r="-68293"/>
                  </a:stretch>
                </a:blipFill>
                <a:ln>
                  <a:solidFill>
                    <a:schemeClr val="bg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F194CEF5-D8B1-0ACE-D108-AFF9619F1990}"/>
                    </a:ext>
                  </a:extLst>
                </p:cNvPr>
                <p:cNvSpPr txBox="1"/>
                <p:nvPr/>
              </p:nvSpPr>
              <p:spPr>
                <a:xfrm>
                  <a:off x="4443864" y="5677757"/>
                  <a:ext cx="234563" cy="307777"/>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400" b="1" i="1" smtClean="0">
                                <a:solidFill>
                                  <a:srgbClr val="836967"/>
                                </a:solidFill>
                                <a:latin typeface="Cambria Math" panose="02040503050406030204" pitchFamily="18" charset="0"/>
                              </a:rPr>
                            </m:ctrlPr>
                          </m:sSubPr>
                          <m:e>
                            <m:r>
                              <a:rPr lang="en-GB" sz="1400" b="1" i="1" smtClean="0">
                                <a:solidFill>
                                  <a:srgbClr val="836967"/>
                                </a:solidFill>
                                <a:latin typeface="Cambria Math" panose="02040503050406030204" pitchFamily="18" charset="0"/>
                              </a:rPr>
                              <m:t>−</m:t>
                            </m:r>
                            <m:r>
                              <a:rPr lang="en-GB" sz="1400" b="1" i="1" smtClean="0">
                                <a:solidFill>
                                  <a:srgbClr val="836967"/>
                                </a:solidFill>
                                <a:latin typeface="Cambria Math" panose="02040503050406030204" pitchFamily="18" charset="0"/>
                              </a:rPr>
                              <m:t>𝑽</m:t>
                            </m:r>
                          </m:e>
                          <m:sub>
                            <m:r>
                              <a:rPr lang="en-GB" sz="1400" b="1" i="1" smtClean="0">
                                <a:latin typeface="Cambria Math" panose="02040503050406030204" pitchFamily="18" charset="0"/>
                              </a:rPr>
                              <m:t>𝒅𝒄</m:t>
                            </m:r>
                          </m:sub>
                        </m:sSub>
                      </m:oMath>
                    </m:oMathPara>
                  </a14:m>
                  <a:endParaRPr lang="en-GB" sz="1400" dirty="0"/>
                </a:p>
              </p:txBody>
            </p:sp>
          </mc:Choice>
          <mc:Fallback xmlns="">
            <p:sp>
              <p:nvSpPr>
                <p:cNvPr id="54" name="TextBox 53">
                  <a:extLst>
                    <a:ext uri="{FF2B5EF4-FFF2-40B4-BE49-F238E27FC236}">
                      <a16:creationId xmlns:a16="http://schemas.microsoft.com/office/drawing/2014/main" id="{F194CEF5-D8B1-0ACE-D108-AFF9619F1990}"/>
                    </a:ext>
                  </a:extLst>
                </p:cNvPr>
                <p:cNvSpPr txBox="1">
                  <a:spLocks noRot="1" noChangeAspect="1" noMove="1" noResize="1" noEditPoints="1" noAdjustHandles="1" noChangeArrowheads="1" noChangeShapeType="1" noTextEdit="1"/>
                </p:cNvSpPr>
                <p:nvPr/>
              </p:nvSpPr>
              <p:spPr>
                <a:xfrm>
                  <a:off x="4443864" y="5677757"/>
                  <a:ext cx="234563" cy="307777"/>
                </a:xfrm>
                <a:prstGeom prst="rect">
                  <a:avLst/>
                </a:prstGeom>
                <a:blipFill>
                  <a:blip r:embed="rId10"/>
                  <a:stretch>
                    <a:fillRect r="-125000"/>
                  </a:stretch>
                </a:blipFill>
                <a:ln>
                  <a:solidFill>
                    <a:schemeClr val="bg1"/>
                  </a:solidFill>
                </a:ln>
              </p:spPr>
              <p:txBody>
                <a:bodyPr/>
                <a:lstStyle/>
                <a:p>
                  <a:r>
                    <a:rPr lang="en-GB">
                      <a:noFill/>
                    </a:rPr>
                    <a:t> </a:t>
                  </a:r>
                </a:p>
              </p:txBody>
            </p:sp>
          </mc:Fallback>
        </mc:AlternateContent>
      </p:grpSp>
      <p:grpSp>
        <p:nvGrpSpPr>
          <p:cNvPr id="57" name="Group 56">
            <a:extLst>
              <a:ext uri="{FF2B5EF4-FFF2-40B4-BE49-F238E27FC236}">
                <a16:creationId xmlns:a16="http://schemas.microsoft.com/office/drawing/2014/main" id="{824F9173-7B30-CE77-CF91-38D953DD3897}"/>
              </a:ext>
            </a:extLst>
          </p:cNvPr>
          <p:cNvGrpSpPr/>
          <p:nvPr/>
        </p:nvGrpSpPr>
        <p:grpSpPr>
          <a:xfrm>
            <a:off x="-50214" y="4425669"/>
            <a:ext cx="4441782" cy="2193996"/>
            <a:chOff x="-50214" y="4425669"/>
            <a:chExt cx="4441782" cy="2193996"/>
          </a:xfrm>
        </p:grpSpPr>
        <p:grpSp>
          <p:nvGrpSpPr>
            <p:cNvPr id="35" name="Group 34">
              <a:extLst>
                <a:ext uri="{FF2B5EF4-FFF2-40B4-BE49-F238E27FC236}">
                  <a16:creationId xmlns:a16="http://schemas.microsoft.com/office/drawing/2014/main" id="{3069F957-0936-426D-7F42-5AD170BCF365}"/>
                </a:ext>
              </a:extLst>
            </p:cNvPr>
            <p:cNvGrpSpPr/>
            <p:nvPr/>
          </p:nvGrpSpPr>
          <p:grpSpPr>
            <a:xfrm>
              <a:off x="185741" y="4425669"/>
              <a:ext cx="4205827" cy="2193996"/>
              <a:chOff x="185741" y="4815267"/>
              <a:chExt cx="4205827" cy="1511739"/>
            </a:xfrm>
          </p:grpSpPr>
          <p:grpSp>
            <p:nvGrpSpPr>
              <p:cNvPr id="48" name="Group 47">
                <a:extLst>
                  <a:ext uri="{FF2B5EF4-FFF2-40B4-BE49-F238E27FC236}">
                    <a16:creationId xmlns:a16="http://schemas.microsoft.com/office/drawing/2014/main" id="{BDA6CA2E-48D9-E722-EAA5-796EFB8C6B3B}"/>
                  </a:ext>
                </a:extLst>
              </p:cNvPr>
              <p:cNvGrpSpPr/>
              <p:nvPr/>
            </p:nvGrpSpPr>
            <p:grpSpPr>
              <a:xfrm>
                <a:off x="185741" y="4877397"/>
                <a:ext cx="4205827" cy="1449609"/>
                <a:chOff x="4239764" y="2701874"/>
                <a:chExt cx="4205827" cy="1449609"/>
              </a:xfrm>
            </p:grpSpPr>
            <p:grpSp>
              <p:nvGrpSpPr>
                <p:cNvPr id="20" name="Group 19">
                  <a:extLst>
                    <a:ext uri="{FF2B5EF4-FFF2-40B4-BE49-F238E27FC236}">
                      <a16:creationId xmlns:a16="http://schemas.microsoft.com/office/drawing/2014/main" id="{DC239E6C-ACBE-B1BA-C4F0-062BD2D8A82A}"/>
                    </a:ext>
                  </a:extLst>
                </p:cNvPr>
                <p:cNvGrpSpPr/>
                <p:nvPr/>
              </p:nvGrpSpPr>
              <p:grpSpPr>
                <a:xfrm>
                  <a:off x="4239764" y="2701874"/>
                  <a:ext cx="3926466" cy="1133721"/>
                  <a:chOff x="4328446" y="3092057"/>
                  <a:chExt cx="3926466" cy="1133721"/>
                </a:xfrm>
              </p:grpSpPr>
              <p:pic>
                <p:nvPicPr>
                  <p:cNvPr id="16" name="Picture 15">
                    <a:extLst>
                      <a:ext uri="{FF2B5EF4-FFF2-40B4-BE49-F238E27FC236}">
                        <a16:creationId xmlns:a16="http://schemas.microsoft.com/office/drawing/2014/main" id="{098647FA-0797-8AFD-A09B-10D0FA944E93}"/>
                      </a:ext>
                    </a:extLst>
                  </p:cNvPr>
                  <p:cNvPicPr>
                    <a:picLocks noChangeAspect="1"/>
                  </p:cNvPicPr>
                  <p:nvPr/>
                </p:nvPicPr>
                <p:blipFill>
                  <a:blip r:embed="rId12"/>
                  <a:stretch>
                    <a:fillRect/>
                  </a:stretch>
                </p:blipFill>
                <p:spPr>
                  <a:xfrm>
                    <a:off x="4480520" y="3229406"/>
                    <a:ext cx="3774392" cy="996372"/>
                  </a:xfrm>
                  <a:prstGeom prst="rect">
                    <a:avLst/>
                  </a:prstGeom>
                </p:spPr>
              </p:pic>
              <p:pic>
                <p:nvPicPr>
                  <p:cNvPr id="18" name="Picture 17">
                    <a:extLst>
                      <a:ext uri="{FF2B5EF4-FFF2-40B4-BE49-F238E27FC236}">
                        <a16:creationId xmlns:a16="http://schemas.microsoft.com/office/drawing/2014/main" id="{D213FD14-7736-3FA1-FB21-BA1B93922B03}"/>
                      </a:ext>
                    </a:extLst>
                  </p:cNvPr>
                  <p:cNvPicPr>
                    <a:picLocks noChangeAspect="1"/>
                  </p:cNvPicPr>
                  <p:nvPr/>
                </p:nvPicPr>
                <p:blipFill>
                  <a:blip r:embed="rId13"/>
                  <a:stretch>
                    <a:fillRect/>
                  </a:stretch>
                </p:blipFill>
                <p:spPr>
                  <a:xfrm>
                    <a:off x="4328446" y="3092057"/>
                    <a:ext cx="546100" cy="241300"/>
                  </a:xfrm>
                  <a:prstGeom prst="rect">
                    <a:avLst/>
                  </a:prstGeom>
                </p:spPr>
              </p:pic>
            </p:grpSp>
            <p:sp>
              <p:nvSpPr>
                <p:cNvPr id="19" name="TextBox 18">
                  <a:extLst>
                    <a:ext uri="{FF2B5EF4-FFF2-40B4-BE49-F238E27FC236}">
                      <a16:creationId xmlns:a16="http://schemas.microsoft.com/office/drawing/2014/main" id="{2866C8F7-786C-FE0B-6161-A61137D633D5}"/>
                    </a:ext>
                  </a:extLst>
                </p:cNvPr>
                <p:cNvSpPr txBox="1"/>
                <p:nvPr/>
              </p:nvSpPr>
              <p:spPr>
                <a:xfrm>
                  <a:off x="4675861" y="3782151"/>
                  <a:ext cx="3292312" cy="369332"/>
                </a:xfrm>
                <a:prstGeom prst="rect">
                  <a:avLst/>
                </a:prstGeom>
                <a:noFill/>
              </p:spPr>
              <p:txBody>
                <a:bodyPr wrap="none" rtlCol="0">
                  <a:spAutoFit/>
                </a:bodyPr>
                <a:lstStyle/>
                <a:p>
                  <a:r>
                    <a:rPr lang="en-US" b="1" dirty="0">
                      <a:solidFill>
                        <a:srgbClr val="FF0000"/>
                      </a:solidFill>
                    </a:rPr>
                    <a:t>Output (Square Wave Switching)</a:t>
                  </a:r>
                </a:p>
              </p:txBody>
            </p:sp>
            <p:sp>
              <p:nvSpPr>
                <p:cNvPr id="24" name="TextBox 23">
                  <a:extLst>
                    <a:ext uri="{FF2B5EF4-FFF2-40B4-BE49-F238E27FC236}">
                      <a16:creationId xmlns:a16="http://schemas.microsoft.com/office/drawing/2014/main" id="{6E85DC2E-4DD2-9016-10E0-FB268337DDDC}"/>
                    </a:ext>
                  </a:extLst>
                </p:cNvPr>
                <p:cNvSpPr txBox="1"/>
                <p:nvPr/>
              </p:nvSpPr>
              <p:spPr>
                <a:xfrm>
                  <a:off x="5819357" y="2741538"/>
                  <a:ext cx="602234" cy="253916"/>
                </a:xfrm>
                <a:prstGeom prst="rect">
                  <a:avLst/>
                </a:prstGeom>
                <a:solidFill>
                  <a:schemeClr val="bg1"/>
                </a:solidFill>
              </p:spPr>
              <p:txBody>
                <a:bodyPr wrap="square" rtlCol="0">
                  <a:spAutoFit/>
                </a:bodyPr>
                <a:lstStyle/>
                <a:p>
                  <a:r>
                    <a:rPr lang="en-US" sz="1050" dirty="0"/>
                    <a:t>Desired</a:t>
                  </a:r>
                </a:p>
              </p:txBody>
            </p:sp>
            <p:grpSp>
              <p:nvGrpSpPr>
                <p:cNvPr id="37" name="Group 36">
                  <a:extLst>
                    <a:ext uri="{FF2B5EF4-FFF2-40B4-BE49-F238E27FC236}">
                      <a16:creationId xmlns:a16="http://schemas.microsoft.com/office/drawing/2014/main" id="{7AC20B99-C250-5E31-C61F-8427E6D91928}"/>
                    </a:ext>
                  </a:extLst>
                </p:cNvPr>
                <p:cNvGrpSpPr/>
                <p:nvPr/>
              </p:nvGrpSpPr>
              <p:grpSpPr>
                <a:xfrm>
                  <a:off x="7949461" y="2965302"/>
                  <a:ext cx="315090" cy="177628"/>
                  <a:chOff x="7802868" y="2718573"/>
                  <a:chExt cx="431800" cy="298278"/>
                </a:xfrm>
              </p:grpSpPr>
              <p:pic>
                <p:nvPicPr>
                  <p:cNvPr id="26" name="Picture 25">
                    <a:extLst>
                      <a:ext uri="{FF2B5EF4-FFF2-40B4-BE49-F238E27FC236}">
                        <a16:creationId xmlns:a16="http://schemas.microsoft.com/office/drawing/2014/main" id="{EF9A639F-C902-911B-B228-7B676C71E0DB}"/>
                      </a:ext>
                    </a:extLst>
                  </p:cNvPr>
                  <p:cNvPicPr>
                    <a:picLocks noChangeAspect="1"/>
                  </p:cNvPicPr>
                  <p:nvPr/>
                </p:nvPicPr>
                <p:blipFill>
                  <a:blip r:embed="rId8"/>
                  <a:stretch>
                    <a:fillRect/>
                  </a:stretch>
                </p:blipFill>
                <p:spPr>
                  <a:xfrm>
                    <a:off x="7802868" y="2718573"/>
                    <a:ext cx="431800" cy="241300"/>
                  </a:xfrm>
                  <a:prstGeom prst="rect">
                    <a:avLst/>
                  </a:prstGeom>
                </p:spPr>
              </p:pic>
              <p:sp>
                <p:nvSpPr>
                  <p:cNvPr id="27" name="Rectangle 26">
                    <a:extLst>
                      <a:ext uri="{FF2B5EF4-FFF2-40B4-BE49-F238E27FC236}">
                        <a16:creationId xmlns:a16="http://schemas.microsoft.com/office/drawing/2014/main" id="{BC520D47-0DE2-A736-BA4F-6261B13F4041}"/>
                      </a:ext>
                    </a:extLst>
                  </p:cNvPr>
                  <p:cNvSpPr/>
                  <p:nvPr/>
                </p:nvSpPr>
                <p:spPr>
                  <a:xfrm>
                    <a:off x="7802868" y="2901468"/>
                    <a:ext cx="58247" cy="11538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13EF78B2-9165-55B1-7B05-BFC513D0FD43}"/>
                      </a:ext>
                    </a:extLst>
                  </p:cNvPr>
                  <p:cNvSpPr/>
                  <p:nvPr/>
                </p:nvSpPr>
                <p:spPr>
                  <a:xfrm>
                    <a:off x="7903649" y="2953840"/>
                    <a:ext cx="166466" cy="6224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9" name="TextBox 38">
                  <a:extLst>
                    <a:ext uri="{FF2B5EF4-FFF2-40B4-BE49-F238E27FC236}">
                      <a16:creationId xmlns:a16="http://schemas.microsoft.com/office/drawing/2014/main" id="{D8DFE37E-F97F-653F-7A9F-DFF11CB2EE97}"/>
                    </a:ext>
                  </a:extLst>
                </p:cNvPr>
                <p:cNvSpPr txBox="1"/>
                <p:nvPr/>
              </p:nvSpPr>
              <p:spPr>
                <a:xfrm>
                  <a:off x="7843357" y="2734386"/>
                  <a:ext cx="602234" cy="253916"/>
                </a:xfrm>
                <a:prstGeom prst="rect">
                  <a:avLst/>
                </a:prstGeom>
                <a:solidFill>
                  <a:schemeClr val="bg1"/>
                </a:solidFill>
              </p:spPr>
              <p:txBody>
                <a:bodyPr wrap="square" rtlCol="0">
                  <a:spAutoFit/>
                </a:bodyPr>
                <a:lstStyle/>
                <a:p>
                  <a:r>
                    <a:rPr lang="en-US" sz="1050" dirty="0"/>
                    <a:t>Actual</a:t>
                  </a:r>
                </a:p>
              </p:txBody>
            </p:sp>
          </p:gr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BB28D20D-1A1F-C661-0F5C-F05DC1DC8ACB}"/>
                      </a:ext>
                    </a:extLst>
                  </p:cNvPr>
                  <p:cNvSpPr txBox="1"/>
                  <p:nvPr/>
                </p:nvSpPr>
                <p:spPr>
                  <a:xfrm>
                    <a:off x="353717" y="4815267"/>
                    <a:ext cx="216310" cy="261610"/>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100" b="1" i="1" smtClean="0">
                                  <a:solidFill>
                                    <a:schemeClr val="tx1"/>
                                  </a:solidFill>
                                  <a:latin typeface="Cambria Math" panose="02040503050406030204" pitchFamily="18" charset="0"/>
                                </a:rPr>
                              </m:ctrlPr>
                            </m:sSubPr>
                            <m:e>
                              <m:r>
                                <a:rPr lang="en-GB" sz="1100" b="1" i="1" smtClean="0">
                                  <a:solidFill>
                                    <a:schemeClr val="tx1"/>
                                  </a:solidFill>
                                  <a:latin typeface="Cambria Math" panose="02040503050406030204" pitchFamily="18" charset="0"/>
                                </a:rPr>
                                <m:t>𝒗</m:t>
                              </m:r>
                            </m:e>
                            <m:sub>
                              <m:r>
                                <a:rPr lang="en-GB" sz="1100" b="1" i="1" smtClean="0">
                                  <a:solidFill>
                                    <a:schemeClr val="tx1"/>
                                  </a:solidFill>
                                  <a:latin typeface="Cambria Math" panose="02040503050406030204" pitchFamily="18" charset="0"/>
                                </a:rPr>
                                <m:t>𝒐</m:t>
                              </m:r>
                            </m:sub>
                          </m:sSub>
                        </m:oMath>
                      </m:oMathPara>
                    </a14:m>
                    <a:endParaRPr lang="en-US" sz="1100" b="1" dirty="0"/>
                  </a:p>
                </p:txBody>
              </p:sp>
            </mc:Choice>
            <mc:Fallback xmlns="">
              <p:sp>
                <p:nvSpPr>
                  <p:cNvPr id="34" name="TextBox 33">
                    <a:extLst>
                      <a:ext uri="{FF2B5EF4-FFF2-40B4-BE49-F238E27FC236}">
                        <a16:creationId xmlns:a16="http://schemas.microsoft.com/office/drawing/2014/main" id="{BB28D20D-1A1F-C661-0F5C-F05DC1DC8ACB}"/>
                      </a:ext>
                    </a:extLst>
                  </p:cNvPr>
                  <p:cNvSpPr txBox="1">
                    <a:spLocks noRot="1" noChangeAspect="1" noMove="1" noResize="1" noEditPoints="1" noAdjustHandles="1" noChangeArrowheads="1" noChangeShapeType="1" noTextEdit="1"/>
                  </p:cNvSpPr>
                  <p:nvPr/>
                </p:nvSpPr>
                <p:spPr>
                  <a:xfrm>
                    <a:off x="353717" y="4815267"/>
                    <a:ext cx="216310" cy="261610"/>
                  </a:xfrm>
                  <a:prstGeom prst="rect">
                    <a:avLst/>
                  </a:prstGeom>
                  <a:blipFill>
                    <a:blip r:embed="rId14"/>
                    <a:stretch>
                      <a:fillRect r="-18421"/>
                    </a:stretch>
                  </a:blipFill>
                  <a:ln>
                    <a:solidFill>
                      <a:schemeClr val="bg1"/>
                    </a:solidFill>
                  </a:ln>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33F6FED5-BD52-BEC4-20DD-3FACF347B08E}"/>
                    </a:ext>
                  </a:extLst>
                </p:cNvPr>
                <p:cNvSpPr txBox="1"/>
                <p:nvPr/>
              </p:nvSpPr>
              <p:spPr>
                <a:xfrm>
                  <a:off x="41268" y="4952814"/>
                  <a:ext cx="234563" cy="307777"/>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400" b="1" i="1" smtClean="0">
                                <a:solidFill>
                                  <a:srgbClr val="836967"/>
                                </a:solidFill>
                                <a:latin typeface="Cambria Math" panose="02040503050406030204" pitchFamily="18" charset="0"/>
                              </a:rPr>
                            </m:ctrlPr>
                          </m:sSubPr>
                          <m:e>
                            <m:r>
                              <a:rPr lang="en-GB" sz="1400" b="1" i="1" smtClean="0">
                                <a:solidFill>
                                  <a:srgbClr val="836967"/>
                                </a:solidFill>
                                <a:latin typeface="Cambria Math" panose="02040503050406030204" pitchFamily="18" charset="0"/>
                              </a:rPr>
                              <m:t>𝑽</m:t>
                            </m:r>
                          </m:e>
                          <m:sub>
                            <m:r>
                              <a:rPr lang="en-GB" sz="1400" b="1" i="1" smtClean="0">
                                <a:latin typeface="Cambria Math" panose="02040503050406030204" pitchFamily="18" charset="0"/>
                              </a:rPr>
                              <m:t>𝒅𝒄</m:t>
                            </m:r>
                          </m:sub>
                        </m:sSub>
                      </m:oMath>
                    </m:oMathPara>
                  </a14:m>
                  <a:endParaRPr lang="en-GB" sz="1400" dirty="0"/>
                </a:p>
              </p:txBody>
            </p:sp>
          </mc:Choice>
          <mc:Fallback xmlns="">
            <p:sp>
              <p:nvSpPr>
                <p:cNvPr id="55" name="TextBox 54">
                  <a:extLst>
                    <a:ext uri="{FF2B5EF4-FFF2-40B4-BE49-F238E27FC236}">
                      <a16:creationId xmlns:a16="http://schemas.microsoft.com/office/drawing/2014/main" id="{33F6FED5-BD52-BEC4-20DD-3FACF347B08E}"/>
                    </a:ext>
                  </a:extLst>
                </p:cNvPr>
                <p:cNvSpPr txBox="1">
                  <a:spLocks noRot="1" noChangeAspect="1" noMove="1" noResize="1" noEditPoints="1" noAdjustHandles="1" noChangeArrowheads="1" noChangeShapeType="1" noTextEdit="1"/>
                </p:cNvSpPr>
                <p:nvPr/>
              </p:nvSpPr>
              <p:spPr>
                <a:xfrm>
                  <a:off x="41268" y="4952814"/>
                  <a:ext cx="234563" cy="307777"/>
                </a:xfrm>
                <a:prstGeom prst="rect">
                  <a:avLst/>
                </a:prstGeom>
                <a:blipFill>
                  <a:blip r:embed="rId15"/>
                  <a:stretch>
                    <a:fillRect r="-70000"/>
                  </a:stretch>
                </a:blipFill>
                <a:ln>
                  <a:solidFill>
                    <a:schemeClr val="bg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0F24CA30-F6F8-A312-8A15-DC6C03AAFEEC}"/>
                    </a:ext>
                  </a:extLst>
                </p:cNvPr>
                <p:cNvSpPr txBox="1"/>
                <p:nvPr/>
              </p:nvSpPr>
              <p:spPr>
                <a:xfrm>
                  <a:off x="-50214" y="5908378"/>
                  <a:ext cx="234563" cy="307777"/>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400" b="1" i="1" smtClean="0">
                                <a:solidFill>
                                  <a:srgbClr val="836967"/>
                                </a:solidFill>
                                <a:latin typeface="Cambria Math" panose="02040503050406030204" pitchFamily="18" charset="0"/>
                              </a:rPr>
                            </m:ctrlPr>
                          </m:sSubPr>
                          <m:e>
                            <m:r>
                              <a:rPr lang="en-GB" sz="1400" b="1" i="1" smtClean="0">
                                <a:solidFill>
                                  <a:srgbClr val="836967"/>
                                </a:solidFill>
                                <a:latin typeface="Cambria Math" panose="02040503050406030204" pitchFamily="18" charset="0"/>
                              </a:rPr>
                              <m:t>−</m:t>
                            </m:r>
                            <m:r>
                              <a:rPr lang="en-GB" sz="1400" b="1" i="1" smtClean="0">
                                <a:solidFill>
                                  <a:srgbClr val="836967"/>
                                </a:solidFill>
                                <a:latin typeface="Cambria Math" panose="02040503050406030204" pitchFamily="18" charset="0"/>
                              </a:rPr>
                              <m:t>𝑽</m:t>
                            </m:r>
                          </m:e>
                          <m:sub>
                            <m:r>
                              <a:rPr lang="en-GB" sz="1400" b="1" i="1" smtClean="0">
                                <a:latin typeface="Cambria Math" panose="02040503050406030204" pitchFamily="18" charset="0"/>
                              </a:rPr>
                              <m:t>𝒅𝒄</m:t>
                            </m:r>
                          </m:sub>
                        </m:sSub>
                      </m:oMath>
                    </m:oMathPara>
                  </a14:m>
                  <a:endParaRPr lang="en-GB" sz="1400" dirty="0"/>
                </a:p>
              </p:txBody>
            </p:sp>
          </mc:Choice>
          <mc:Fallback xmlns="">
            <p:sp>
              <p:nvSpPr>
                <p:cNvPr id="56" name="TextBox 55">
                  <a:extLst>
                    <a:ext uri="{FF2B5EF4-FFF2-40B4-BE49-F238E27FC236}">
                      <a16:creationId xmlns:a16="http://schemas.microsoft.com/office/drawing/2014/main" id="{0F24CA30-F6F8-A312-8A15-DC6C03AAFEEC}"/>
                    </a:ext>
                  </a:extLst>
                </p:cNvPr>
                <p:cNvSpPr txBox="1">
                  <a:spLocks noRot="1" noChangeAspect="1" noMove="1" noResize="1" noEditPoints="1" noAdjustHandles="1" noChangeArrowheads="1" noChangeShapeType="1" noTextEdit="1"/>
                </p:cNvSpPr>
                <p:nvPr/>
              </p:nvSpPr>
              <p:spPr>
                <a:xfrm>
                  <a:off x="-50214" y="5908378"/>
                  <a:ext cx="234563" cy="307777"/>
                </a:xfrm>
                <a:prstGeom prst="rect">
                  <a:avLst/>
                </a:prstGeom>
                <a:blipFill>
                  <a:blip r:embed="rId10"/>
                  <a:stretch>
                    <a:fillRect r="-125000"/>
                  </a:stretch>
                </a:blipFill>
                <a:ln>
                  <a:solidFill>
                    <a:schemeClr val="bg1"/>
                  </a:solidFill>
                </a:ln>
              </p:spPr>
              <p:txBody>
                <a:bodyPr/>
                <a:lstStyle/>
                <a:p>
                  <a:r>
                    <a:rPr lang="en-GB">
                      <a:noFill/>
                    </a:rPr>
                    <a:t> </a:t>
                  </a:r>
                </a:p>
              </p:txBody>
            </p:sp>
          </mc:Fallback>
        </mc:AlternateContent>
      </p:grpSp>
    </p:spTree>
    <p:extLst>
      <p:ext uri="{BB962C8B-B14F-4D97-AF65-F5344CB8AC3E}">
        <p14:creationId xmlns:p14="http://schemas.microsoft.com/office/powerpoint/2010/main" val="474672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 name="Group 72">
            <a:extLst>
              <a:ext uri="{FF2B5EF4-FFF2-40B4-BE49-F238E27FC236}">
                <a16:creationId xmlns:a16="http://schemas.microsoft.com/office/drawing/2014/main" id="{4EBD32ED-77D2-9F38-FEFA-3DEE75BE0BF5}"/>
              </a:ext>
            </a:extLst>
          </p:cNvPr>
          <p:cNvGrpSpPr/>
          <p:nvPr/>
        </p:nvGrpSpPr>
        <p:grpSpPr>
          <a:xfrm>
            <a:off x="4198387" y="3615070"/>
            <a:ext cx="3690963" cy="3169236"/>
            <a:chOff x="4198387" y="3615070"/>
            <a:chExt cx="3690963" cy="3169236"/>
          </a:xfrm>
        </p:grpSpPr>
        <p:pic>
          <p:nvPicPr>
            <p:cNvPr id="69" name="Picture 68" descr="A diagram of different waves&#10;&#10;Description automatically generated">
              <a:extLst>
                <a:ext uri="{FF2B5EF4-FFF2-40B4-BE49-F238E27FC236}">
                  <a16:creationId xmlns:a16="http://schemas.microsoft.com/office/drawing/2014/main" id="{D2E075A3-095A-BA95-47DF-841ED583B6F3}"/>
                </a:ext>
              </a:extLst>
            </p:cNvPr>
            <p:cNvPicPr>
              <a:picLocks noChangeAspect="1"/>
            </p:cNvPicPr>
            <p:nvPr/>
          </p:nvPicPr>
          <p:blipFill>
            <a:blip r:embed="rId3"/>
            <a:stretch>
              <a:fillRect/>
            </a:stretch>
          </p:blipFill>
          <p:spPr>
            <a:xfrm>
              <a:off x="4198387" y="3615075"/>
              <a:ext cx="3690963" cy="3169231"/>
            </a:xfrm>
            <a:prstGeom prst="rect">
              <a:avLst/>
            </a:prstGeom>
          </p:spPr>
        </p:pic>
        <p:cxnSp>
          <p:nvCxnSpPr>
            <p:cNvPr id="71" name="Straight Arrow Connector 70">
              <a:extLst>
                <a:ext uri="{FF2B5EF4-FFF2-40B4-BE49-F238E27FC236}">
                  <a16:creationId xmlns:a16="http://schemas.microsoft.com/office/drawing/2014/main" id="{6850EF48-7C48-1CDE-BB52-DFEF5AF66453}"/>
                </a:ext>
              </a:extLst>
            </p:cNvPr>
            <p:cNvCxnSpPr>
              <a:cxnSpLocks/>
            </p:cNvCxnSpPr>
            <p:nvPr/>
          </p:nvCxnSpPr>
          <p:spPr>
            <a:xfrm>
              <a:off x="5266136" y="3615070"/>
              <a:ext cx="0" cy="3169236"/>
            </a:xfrm>
            <a:prstGeom prst="straightConnector1">
              <a:avLst/>
            </a:prstGeom>
            <a:ln w="15875">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57" name="Group 56">
            <a:extLst>
              <a:ext uri="{FF2B5EF4-FFF2-40B4-BE49-F238E27FC236}">
                <a16:creationId xmlns:a16="http://schemas.microsoft.com/office/drawing/2014/main" id="{901958A1-094A-2E73-9DEE-2F3EDA318BB8}"/>
              </a:ext>
            </a:extLst>
          </p:cNvPr>
          <p:cNvGrpSpPr/>
          <p:nvPr/>
        </p:nvGrpSpPr>
        <p:grpSpPr>
          <a:xfrm>
            <a:off x="261598" y="4680422"/>
            <a:ext cx="2719257" cy="1584547"/>
            <a:chOff x="261598" y="4680422"/>
            <a:chExt cx="2719257" cy="1584547"/>
          </a:xfrm>
        </p:grpSpPr>
        <p:pic>
          <p:nvPicPr>
            <p:cNvPr id="56" name="Picture 55">
              <a:extLst>
                <a:ext uri="{FF2B5EF4-FFF2-40B4-BE49-F238E27FC236}">
                  <a16:creationId xmlns:a16="http://schemas.microsoft.com/office/drawing/2014/main" id="{F992E7A9-D2C6-D8CD-C80E-ED53E607A7C5}"/>
                </a:ext>
              </a:extLst>
            </p:cNvPr>
            <p:cNvPicPr>
              <a:picLocks noChangeAspect="1"/>
            </p:cNvPicPr>
            <p:nvPr/>
          </p:nvPicPr>
          <p:blipFill>
            <a:blip r:embed="rId4"/>
            <a:stretch>
              <a:fillRect/>
            </a:stretch>
          </p:blipFill>
          <p:spPr>
            <a:xfrm>
              <a:off x="261598" y="5740016"/>
              <a:ext cx="2719257" cy="524953"/>
            </a:xfrm>
            <a:prstGeom prst="rect">
              <a:avLst/>
            </a:prstGeom>
          </p:spPr>
        </p:pic>
        <p:grpSp>
          <p:nvGrpSpPr>
            <p:cNvPr id="14" name="Group 13">
              <a:extLst>
                <a:ext uri="{FF2B5EF4-FFF2-40B4-BE49-F238E27FC236}">
                  <a16:creationId xmlns:a16="http://schemas.microsoft.com/office/drawing/2014/main" id="{F46AFB43-B522-3A34-48B7-48BAB79B3B44}"/>
                </a:ext>
              </a:extLst>
            </p:cNvPr>
            <p:cNvGrpSpPr/>
            <p:nvPr/>
          </p:nvGrpSpPr>
          <p:grpSpPr>
            <a:xfrm>
              <a:off x="274369" y="4680422"/>
              <a:ext cx="2706486" cy="1137183"/>
              <a:chOff x="4885161" y="1876117"/>
              <a:chExt cx="2706486" cy="1137183"/>
            </a:xfrm>
          </p:grpSpPr>
          <p:pic>
            <p:nvPicPr>
              <p:cNvPr id="9" name="Picture 8">
                <a:extLst>
                  <a:ext uri="{FF2B5EF4-FFF2-40B4-BE49-F238E27FC236}">
                    <a16:creationId xmlns:a16="http://schemas.microsoft.com/office/drawing/2014/main" id="{BF7D44F0-DB83-FAEB-4F86-45A59C03B52D}"/>
                  </a:ext>
                </a:extLst>
              </p:cNvPr>
              <p:cNvPicPr>
                <a:picLocks noChangeAspect="1"/>
              </p:cNvPicPr>
              <p:nvPr/>
            </p:nvPicPr>
            <p:blipFill>
              <a:blip r:embed="rId5"/>
              <a:stretch>
                <a:fillRect/>
              </a:stretch>
            </p:blipFill>
            <p:spPr>
              <a:xfrm>
                <a:off x="4885161" y="1892596"/>
                <a:ext cx="2706486" cy="1120704"/>
              </a:xfrm>
              <a:prstGeom prst="rect">
                <a:avLst/>
              </a:prstGeom>
            </p:spPr>
          </p:pic>
          <p:sp>
            <p:nvSpPr>
              <p:cNvPr id="13" name="Oval 12">
                <a:extLst>
                  <a:ext uri="{FF2B5EF4-FFF2-40B4-BE49-F238E27FC236}">
                    <a16:creationId xmlns:a16="http://schemas.microsoft.com/office/drawing/2014/main" id="{A7D3A76B-B07D-FD40-1BF3-920ECB902E3A}"/>
                  </a:ext>
                </a:extLst>
              </p:cNvPr>
              <p:cNvSpPr/>
              <p:nvPr/>
            </p:nvSpPr>
            <p:spPr>
              <a:xfrm>
                <a:off x="5688416" y="1876117"/>
                <a:ext cx="414670" cy="324824"/>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 name="Title 1">
            <a:extLst>
              <a:ext uri="{FF2B5EF4-FFF2-40B4-BE49-F238E27FC236}">
                <a16:creationId xmlns:a16="http://schemas.microsoft.com/office/drawing/2014/main" id="{83CDAB49-4E83-D5C9-EF6D-0F2CE1E6855E}"/>
              </a:ext>
            </a:extLst>
          </p:cNvPr>
          <p:cNvSpPr>
            <a:spLocks noGrp="1"/>
          </p:cNvSpPr>
          <p:nvPr>
            <p:ph type="title"/>
          </p:nvPr>
        </p:nvSpPr>
        <p:spPr>
          <a:xfrm>
            <a:off x="185741" y="125608"/>
            <a:ext cx="7886700" cy="721053"/>
          </a:xfrm>
        </p:spPr>
        <p:txBody>
          <a:bodyPr/>
          <a:lstStyle/>
          <a:p>
            <a:r>
              <a:rPr lang="en-US" dirty="0"/>
              <a:t>Harmonics</a:t>
            </a:r>
          </a:p>
        </p:txBody>
      </p:sp>
      <p:sp>
        <p:nvSpPr>
          <p:cNvPr id="17" name="Title 1">
            <a:extLst>
              <a:ext uri="{FF2B5EF4-FFF2-40B4-BE49-F238E27FC236}">
                <a16:creationId xmlns:a16="http://schemas.microsoft.com/office/drawing/2014/main" id="{4100A584-C9BA-C39F-A4D3-ABF895CCF570}"/>
              </a:ext>
            </a:extLst>
          </p:cNvPr>
          <p:cNvSpPr txBox="1">
            <a:spLocks/>
          </p:cNvSpPr>
          <p:nvPr/>
        </p:nvSpPr>
        <p:spPr>
          <a:xfrm>
            <a:off x="185741" y="703034"/>
            <a:ext cx="8851933" cy="128449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Tx/>
              <a:buChar char="-"/>
            </a:pPr>
            <a:r>
              <a:rPr lang="en-US" sz="2800" b="1" dirty="0"/>
              <a:t>Harmonics in Square Wave Switching</a:t>
            </a:r>
          </a:p>
          <a:p>
            <a:pPr marL="914400" lvl="1" indent="-457200" algn="just">
              <a:buFontTx/>
              <a:buChar char="-"/>
            </a:pPr>
            <a:r>
              <a:rPr lang="en-US" dirty="0"/>
              <a:t>There is need to analyze the </a:t>
            </a:r>
            <a:r>
              <a:rPr lang="en-US" dirty="0">
                <a:solidFill>
                  <a:srgbClr val="FF0000"/>
                </a:solidFill>
              </a:rPr>
              <a:t>presence of other sinusoids </a:t>
            </a:r>
            <a:r>
              <a:rPr lang="en-US" dirty="0"/>
              <a:t>having </a:t>
            </a:r>
            <a:r>
              <a:rPr lang="en-US" dirty="0">
                <a:solidFill>
                  <a:srgbClr val="FF0000"/>
                </a:solidFill>
              </a:rPr>
              <a:t>frequencies multiple of desired sinusoid, </a:t>
            </a:r>
            <a:r>
              <a:rPr lang="en-US" b="1" i="1" dirty="0">
                <a:solidFill>
                  <a:srgbClr val="7030A0"/>
                </a:solidFill>
              </a:rPr>
              <a:t>called harmonics</a:t>
            </a:r>
            <a:r>
              <a:rPr lang="en-US" dirty="0">
                <a:solidFill>
                  <a:srgbClr val="FF0000"/>
                </a:solidFill>
              </a:rPr>
              <a:t>,  </a:t>
            </a:r>
            <a:r>
              <a:rPr lang="en-US" dirty="0"/>
              <a:t>available in output.</a:t>
            </a:r>
          </a:p>
          <a:p>
            <a:pPr marL="914400" lvl="1" indent="-457200">
              <a:buFontTx/>
              <a:buChar char="-"/>
            </a:pPr>
            <a:endParaRPr lang="en-US" sz="2000" dirty="0"/>
          </a:p>
        </p:txBody>
      </p:sp>
      <p:sp>
        <p:nvSpPr>
          <p:cNvPr id="58" name="Down Arrow 57">
            <a:extLst>
              <a:ext uri="{FF2B5EF4-FFF2-40B4-BE49-F238E27FC236}">
                <a16:creationId xmlns:a16="http://schemas.microsoft.com/office/drawing/2014/main" id="{F1E158BB-EDEC-01BF-9A56-DC3AEF890B8C}"/>
              </a:ext>
            </a:extLst>
          </p:cNvPr>
          <p:cNvSpPr/>
          <p:nvPr/>
        </p:nvSpPr>
        <p:spPr>
          <a:xfrm>
            <a:off x="6488811" y="3446938"/>
            <a:ext cx="373395" cy="31339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F6EC7A45-5FE5-0389-04E7-BD0151F09A9B}"/>
              </a:ext>
            </a:extLst>
          </p:cNvPr>
          <p:cNvGrpSpPr/>
          <p:nvPr/>
        </p:nvGrpSpPr>
        <p:grpSpPr>
          <a:xfrm>
            <a:off x="352246" y="2081636"/>
            <a:ext cx="2818997" cy="2193997"/>
            <a:chOff x="6205954" y="430619"/>
            <a:chExt cx="2818997" cy="2193997"/>
          </a:xfrm>
        </p:grpSpPr>
        <p:pic>
          <p:nvPicPr>
            <p:cNvPr id="15" name="Picture 14">
              <a:extLst>
                <a:ext uri="{FF2B5EF4-FFF2-40B4-BE49-F238E27FC236}">
                  <a16:creationId xmlns:a16="http://schemas.microsoft.com/office/drawing/2014/main" id="{3F4DFEE9-D100-391A-4F9A-5F5731F1F836}"/>
                </a:ext>
              </a:extLst>
            </p:cNvPr>
            <p:cNvPicPr>
              <a:picLocks noChangeAspect="1"/>
            </p:cNvPicPr>
            <p:nvPr/>
          </p:nvPicPr>
          <p:blipFill>
            <a:blip r:embed="rId6"/>
            <a:stretch>
              <a:fillRect/>
            </a:stretch>
          </p:blipFill>
          <p:spPr>
            <a:xfrm>
              <a:off x="6205954" y="430619"/>
              <a:ext cx="2818997" cy="2193997"/>
            </a:xfrm>
            <a:prstGeom prst="rect">
              <a:avLst/>
            </a:prstGeom>
          </p:spPr>
        </p:pic>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9685060D-7D86-3274-DCC9-FCFD5CE4877C}"/>
                    </a:ext>
                  </a:extLst>
                </p:cNvPr>
                <p:cNvSpPr txBox="1"/>
                <p:nvPr/>
              </p:nvSpPr>
              <p:spPr>
                <a:xfrm>
                  <a:off x="7167576" y="1452249"/>
                  <a:ext cx="275144" cy="266039"/>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100" b="1" i="1" smtClean="0">
                                <a:solidFill>
                                  <a:srgbClr val="836967"/>
                                </a:solidFill>
                                <a:latin typeface="Cambria Math" panose="02040503050406030204" pitchFamily="18" charset="0"/>
                              </a:rPr>
                            </m:ctrlPr>
                          </m:sSubPr>
                          <m:e>
                            <m:r>
                              <a:rPr lang="en-GB" sz="1100" b="1" i="1" smtClean="0">
                                <a:solidFill>
                                  <a:srgbClr val="836967"/>
                                </a:solidFill>
                                <a:latin typeface="Cambria Math" panose="02040503050406030204" pitchFamily="18" charset="0"/>
                              </a:rPr>
                              <m:t>𝒗</m:t>
                            </m:r>
                          </m:e>
                          <m:sub>
                            <m:r>
                              <a:rPr lang="en-GB" sz="1100" b="1" i="1" smtClean="0">
                                <a:latin typeface="Cambria Math" panose="02040503050406030204" pitchFamily="18" charset="0"/>
                              </a:rPr>
                              <m:t>𝑨𝑵</m:t>
                            </m:r>
                          </m:sub>
                        </m:sSub>
                      </m:oMath>
                    </m:oMathPara>
                  </a14:m>
                  <a:endParaRPr lang="en-US" sz="1100" b="1" dirty="0"/>
                </a:p>
              </p:txBody>
            </p:sp>
          </mc:Choice>
          <mc:Fallback xmlns="">
            <p:sp>
              <p:nvSpPr>
                <p:cNvPr id="16" name="TextBox 15">
                  <a:extLst>
                    <a:ext uri="{FF2B5EF4-FFF2-40B4-BE49-F238E27FC236}">
                      <a16:creationId xmlns:a16="http://schemas.microsoft.com/office/drawing/2014/main" id="{9685060D-7D86-3274-DCC9-FCFD5CE4877C}"/>
                    </a:ext>
                  </a:extLst>
                </p:cNvPr>
                <p:cNvSpPr txBox="1">
                  <a:spLocks noRot="1" noChangeAspect="1" noMove="1" noResize="1" noEditPoints="1" noAdjustHandles="1" noChangeArrowheads="1" noChangeShapeType="1" noTextEdit="1"/>
                </p:cNvSpPr>
                <p:nvPr/>
              </p:nvSpPr>
              <p:spPr>
                <a:xfrm>
                  <a:off x="7167576" y="1452249"/>
                  <a:ext cx="275144" cy="266039"/>
                </a:xfrm>
                <a:prstGeom prst="rect">
                  <a:avLst/>
                </a:prstGeom>
                <a:blipFill>
                  <a:blip r:embed="rId7"/>
                  <a:stretch>
                    <a:fillRect r="-27660"/>
                  </a:stretch>
                </a:blipFill>
                <a:ln>
                  <a:solidFill>
                    <a:schemeClr val="bg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C5043037-0AB8-B247-55B5-1DB3E0B0667E}"/>
                    </a:ext>
                  </a:extLst>
                </p:cNvPr>
                <p:cNvSpPr txBox="1"/>
                <p:nvPr/>
              </p:nvSpPr>
              <p:spPr>
                <a:xfrm>
                  <a:off x="8433953" y="1452249"/>
                  <a:ext cx="275144" cy="266039"/>
                </a:xfrm>
                <a:prstGeom prst="rect">
                  <a:avLst/>
                </a:prstGeom>
                <a:noFill/>
                <a:ln>
                  <a:no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100" b="1" i="1" smtClean="0">
                                <a:solidFill>
                                  <a:srgbClr val="836967"/>
                                </a:solidFill>
                                <a:latin typeface="Cambria Math" panose="02040503050406030204" pitchFamily="18" charset="0"/>
                              </a:rPr>
                            </m:ctrlPr>
                          </m:sSubPr>
                          <m:e>
                            <m:r>
                              <a:rPr lang="en-GB" sz="1100" b="1" i="1" smtClean="0">
                                <a:solidFill>
                                  <a:srgbClr val="836967"/>
                                </a:solidFill>
                                <a:latin typeface="Cambria Math" panose="02040503050406030204" pitchFamily="18" charset="0"/>
                              </a:rPr>
                              <m:t>𝒗</m:t>
                            </m:r>
                          </m:e>
                          <m:sub>
                            <m:r>
                              <a:rPr lang="en-GB" sz="1100" b="1" i="1" smtClean="0">
                                <a:latin typeface="Cambria Math" panose="02040503050406030204" pitchFamily="18" charset="0"/>
                              </a:rPr>
                              <m:t>𝑩𝑵</m:t>
                            </m:r>
                          </m:sub>
                        </m:sSub>
                      </m:oMath>
                    </m:oMathPara>
                  </a14:m>
                  <a:endParaRPr lang="en-US" sz="1100" b="1" dirty="0"/>
                </a:p>
              </p:txBody>
            </p:sp>
          </mc:Choice>
          <mc:Fallback xmlns="">
            <p:sp>
              <p:nvSpPr>
                <p:cNvPr id="18" name="TextBox 17">
                  <a:extLst>
                    <a:ext uri="{FF2B5EF4-FFF2-40B4-BE49-F238E27FC236}">
                      <a16:creationId xmlns:a16="http://schemas.microsoft.com/office/drawing/2014/main" id="{C5043037-0AB8-B247-55B5-1DB3E0B0667E}"/>
                    </a:ext>
                  </a:extLst>
                </p:cNvPr>
                <p:cNvSpPr txBox="1">
                  <a:spLocks noRot="1" noChangeAspect="1" noMove="1" noResize="1" noEditPoints="1" noAdjustHandles="1" noChangeArrowheads="1" noChangeShapeType="1" noTextEdit="1"/>
                </p:cNvSpPr>
                <p:nvPr/>
              </p:nvSpPr>
              <p:spPr>
                <a:xfrm>
                  <a:off x="8433953" y="1452249"/>
                  <a:ext cx="275144" cy="266039"/>
                </a:xfrm>
                <a:prstGeom prst="rect">
                  <a:avLst/>
                </a:prstGeom>
                <a:blipFill>
                  <a:blip r:embed="rId8"/>
                  <a:stretch>
                    <a:fillRect r="-33333"/>
                  </a:stretch>
                </a:blipFill>
                <a:ln>
                  <a:noFill/>
                </a:ln>
              </p:spPr>
              <p:txBody>
                <a:bodyPr/>
                <a:lstStyle/>
                <a:p>
                  <a:r>
                    <a:rPr lang="en-GB">
                      <a:noFill/>
                    </a:rPr>
                    <a:t> </a:t>
                  </a:r>
                </a:p>
              </p:txBody>
            </p:sp>
          </mc:Fallback>
        </mc:AlternateContent>
      </p:grpSp>
      <p:grpSp>
        <p:nvGrpSpPr>
          <p:cNvPr id="24" name="Group 23">
            <a:extLst>
              <a:ext uri="{FF2B5EF4-FFF2-40B4-BE49-F238E27FC236}">
                <a16:creationId xmlns:a16="http://schemas.microsoft.com/office/drawing/2014/main" id="{6B3DF499-7F06-2CAD-6558-D4714806FB70}"/>
              </a:ext>
            </a:extLst>
          </p:cNvPr>
          <p:cNvGrpSpPr/>
          <p:nvPr/>
        </p:nvGrpSpPr>
        <p:grpSpPr>
          <a:xfrm>
            <a:off x="4800125" y="1638108"/>
            <a:ext cx="3716555" cy="1853695"/>
            <a:chOff x="4800125" y="1638108"/>
            <a:chExt cx="3716555" cy="1853695"/>
          </a:xfrm>
        </p:grpSpPr>
        <p:grpSp>
          <p:nvGrpSpPr>
            <p:cNvPr id="31" name="Group 30">
              <a:extLst>
                <a:ext uri="{FF2B5EF4-FFF2-40B4-BE49-F238E27FC236}">
                  <a16:creationId xmlns:a16="http://schemas.microsoft.com/office/drawing/2014/main" id="{22F66D5C-D4A4-D338-18CB-2F42BB55330A}"/>
                </a:ext>
              </a:extLst>
            </p:cNvPr>
            <p:cNvGrpSpPr/>
            <p:nvPr/>
          </p:nvGrpSpPr>
          <p:grpSpPr>
            <a:xfrm>
              <a:off x="4998908" y="1638108"/>
              <a:ext cx="3517772" cy="1853695"/>
              <a:chOff x="4682078" y="3061678"/>
              <a:chExt cx="3673096" cy="2072522"/>
            </a:xfrm>
          </p:grpSpPr>
          <p:pic>
            <p:nvPicPr>
              <p:cNvPr id="4" name="Picture 3">
                <a:extLst>
                  <a:ext uri="{FF2B5EF4-FFF2-40B4-BE49-F238E27FC236}">
                    <a16:creationId xmlns:a16="http://schemas.microsoft.com/office/drawing/2014/main" id="{AED66A45-AE0C-FC66-C197-86D07A36AB48}"/>
                  </a:ext>
                </a:extLst>
              </p:cNvPr>
              <p:cNvPicPr>
                <a:picLocks noChangeAspect="1"/>
              </p:cNvPicPr>
              <p:nvPr/>
            </p:nvPicPr>
            <p:blipFill>
              <a:blip r:embed="rId9"/>
              <a:stretch>
                <a:fillRect/>
              </a:stretch>
            </p:blipFill>
            <p:spPr>
              <a:xfrm>
                <a:off x="4768594" y="3061678"/>
                <a:ext cx="3586580" cy="2072522"/>
              </a:xfrm>
              <a:prstGeom prst="rect">
                <a:avLst/>
              </a:prstGeom>
            </p:spPr>
          </p:pic>
          <p:sp>
            <p:nvSpPr>
              <p:cNvPr id="22" name="Rectangle 21">
                <a:extLst>
                  <a:ext uri="{FF2B5EF4-FFF2-40B4-BE49-F238E27FC236}">
                    <a16:creationId xmlns:a16="http://schemas.microsoft.com/office/drawing/2014/main" id="{973F5375-DBBA-EA6A-CDFE-CF1856267F4A}"/>
                  </a:ext>
                </a:extLst>
              </p:cNvPr>
              <p:cNvSpPr/>
              <p:nvPr/>
            </p:nvSpPr>
            <p:spPr>
              <a:xfrm>
                <a:off x="7538482" y="3788539"/>
                <a:ext cx="372138" cy="33855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7CDDF56D-F3FE-952A-075E-749583BA1DC1}"/>
                  </a:ext>
                </a:extLst>
              </p:cNvPr>
              <p:cNvSpPr/>
              <p:nvPr/>
            </p:nvSpPr>
            <p:spPr>
              <a:xfrm>
                <a:off x="7442782" y="4175470"/>
                <a:ext cx="555227" cy="46814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Picture 28">
                <a:extLst>
                  <a:ext uri="{FF2B5EF4-FFF2-40B4-BE49-F238E27FC236}">
                    <a16:creationId xmlns:a16="http://schemas.microsoft.com/office/drawing/2014/main" id="{833354F6-29E5-D1CD-7861-92F46F7FF75D}"/>
                  </a:ext>
                </a:extLst>
              </p:cNvPr>
              <p:cNvPicPr>
                <a:picLocks noChangeAspect="1"/>
              </p:cNvPicPr>
              <p:nvPr/>
            </p:nvPicPr>
            <p:blipFill>
              <a:blip r:embed="rId10"/>
              <a:stretch>
                <a:fillRect/>
              </a:stretch>
            </p:blipFill>
            <p:spPr>
              <a:xfrm>
                <a:off x="4682078" y="4206369"/>
                <a:ext cx="279028" cy="468368"/>
              </a:xfrm>
              <a:prstGeom prst="rect">
                <a:avLst/>
              </a:prstGeom>
            </p:spPr>
          </p:pic>
        </p:gr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E10534CB-9D1F-56AF-F693-32CA923B58D2}"/>
                    </a:ext>
                  </a:extLst>
                </p:cNvPr>
                <p:cNvSpPr txBox="1"/>
                <p:nvPr/>
              </p:nvSpPr>
              <p:spPr>
                <a:xfrm>
                  <a:off x="5088835" y="1638875"/>
                  <a:ext cx="397565" cy="277389"/>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200" b="1" i="1" smtClean="0">
                                <a:solidFill>
                                  <a:schemeClr val="tx1"/>
                                </a:solidFill>
                                <a:latin typeface="Cambria Math" panose="02040503050406030204" pitchFamily="18" charset="0"/>
                              </a:rPr>
                            </m:ctrlPr>
                          </m:sSubPr>
                          <m:e>
                            <m:r>
                              <a:rPr lang="en-GB" sz="1200" b="1" i="1" smtClean="0">
                                <a:solidFill>
                                  <a:schemeClr val="tx1"/>
                                </a:solidFill>
                                <a:latin typeface="Cambria Math" panose="02040503050406030204" pitchFamily="18" charset="0"/>
                              </a:rPr>
                              <m:t>𝒗</m:t>
                            </m:r>
                          </m:e>
                          <m:sub>
                            <m:r>
                              <a:rPr lang="en-GB" sz="1200" b="1" i="1" smtClean="0">
                                <a:solidFill>
                                  <a:schemeClr val="tx1"/>
                                </a:solidFill>
                                <a:latin typeface="Cambria Math" panose="02040503050406030204" pitchFamily="18" charset="0"/>
                              </a:rPr>
                              <m:t>𝒐</m:t>
                            </m:r>
                          </m:sub>
                        </m:sSub>
                      </m:oMath>
                    </m:oMathPara>
                  </a14:m>
                  <a:endParaRPr lang="en-US" sz="1200" b="1" dirty="0"/>
                </a:p>
              </p:txBody>
            </p:sp>
          </mc:Choice>
          <mc:Fallback xmlns="">
            <p:sp>
              <p:nvSpPr>
                <p:cNvPr id="19" name="TextBox 18">
                  <a:extLst>
                    <a:ext uri="{FF2B5EF4-FFF2-40B4-BE49-F238E27FC236}">
                      <a16:creationId xmlns:a16="http://schemas.microsoft.com/office/drawing/2014/main" id="{E10534CB-9D1F-56AF-F693-32CA923B58D2}"/>
                    </a:ext>
                  </a:extLst>
                </p:cNvPr>
                <p:cNvSpPr txBox="1">
                  <a:spLocks noRot="1" noChangeAspect="1" noMove="1" noResize="1" noEditPoints="1" noAdjustHandles="1" noChangeArrowheads="1" noChangeShapeType="1" noTextEdit="1"/>
                </p:cNvSpPr>
                <p:nvPr/>
              </p:nvSpPr>
              <p:spPr>
                <a:xfrm>
                  <a:off x="5088835" y="1638875"/>
                  <a:ext cx="397565" cy="277389"/>
                </a:xfrm>
                <a:prstGeom prst="rect">
                  <a:avLst/>
                </a:prstGeom>
                <a:blipFill>
                  <a:blip r:embed="rId11"/>
                  <a:stretch>
                    <a:fillRect/>
                  </a:stretch>
                </a:blipFill>
                <a:ln>
                  <a:solidFill>
                    <a:schemeClr val="bg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66B26750-4DFF-F308-193F-48F3CF747145}"/>
                    </a:ext>
                  </a:extLst>
                </p:cNvPr>
                <p:cNvSpPr txBox="1"/>
                <p:nvPr/>
              </p:nvSpPr>
              <p:spPr>
                <a:xfrm>
                  <a:off x="4998908" y="1987530"/>
                  <a:ext cx="270343" cy="276999"/>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200" b="1" i="1" smtClean="0">
                                <a:solidFill>
                                  <a:schemeClr val="tx1"/>
                                </a:solidFill>
                                <a:latin typeface="Cambria Math" panose="02040503050406030204" pitchFamily="18" charset="0"/>
                              </a:rPr>
                            </m:ctrlPr>
                          </m:sSubPr>
                          <m:e>
                            <m:r>
                              <a:rPr lang="en-GB" sz="1200" b="1" i="1" smtClean="0">
                                <a:solidFill>
                                  <a:schemeClr val="tx1"/>
                                </a:solidFill>
                                <a:latin typeface="Cambria Math" panose="02040503050406030204" pitchFamily="18" charset="0"/>
                              </a:rPr>
                              <m:t>𝑽</m:t>
                            </m:r>
                          </m:e>
                          <m:sub>
                            <m:r>
                              <a:rPr lang="en-GB" sz="1200" b="1" i="1" smtClean="0">
                                <a:solidFill>
                                  <a:schemeClr val="tx1"/>
                                </a:solidFill>
                                <a:latin typeface="Cambria Math" panose="02040503050406030204" pitchFamily="18" charset="0"/>
                              </a:rPr>
                              <m:t>𝒅𝒄</m:t>
                            </m:r>
                          </m:sub>
                        </m:sSub>
                      </m:oMath>
                    </m:oMathPara>
                  </a14:m>
                  <a:endParaRPr lang="en-US" sz="1200" b="1" dirty="0"/>
                </a:p>
              </p:txBody>
            </p:sp>
          </mc:Choice>
          <mc:Fallback xmlns="">
            <p:sp>
              <p:nvSpPr>
                <p:cNvPr id="20" name="TextBox 19">
                  <a:extLst>
                    <a:ext uri="{FF2B5EF4-FFF2-40B4-BE49-F238E27FC236}">
                      <a16:creationId xmlns:a16="http://schemas.microsoft.com/office/drawing/2014/main" id="{66B26750-4DFF-F308-193F-48F3CF747145}"/>
                    </a:ext>
                  </a:extLst>
                </p:cNvPr>
                <p:cNvSpPr txBox="1">
                  <a:spLocks noRot="1" noChangeAspect="1" noMove="1" noResize="1" noEditPoints="1" noAdjustHandles="1" noChangeArrowheads="1" noChangeShapeType="1" noTextEdit="1"/>
                </p:cNvSpPr>
                <p:nvPr/>
              </p:nvSpPr>
              <p:spPr>
                <a:xfrm>
                  <a:off x="4998908" y="1987530"/>
                  <a:ext cx="270343" cy="276999"/>
                </a:xfrm>
                <a:prstGeom prst="rect">
                  <a:avLst/>
                </a:prstGeom>
                <a:blipFill>
                  <a:blip r:embed="rId12"/>
                  <a:stretch>
                    <a:fillRect r="-32609"/>
                  </a:stretch>
                </a:blipFill>
                <a:ln>
                  <a:solidFill>
                    <a:schemeClr val="bg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DE665388-236E-21FD-3EBF-8735643EC508}"/>
                    </a:ext>
                  </a:extLst>
                </p:cNvPr>
                <p:cNvSpPr txBox="1"/>
                <p:nvPr/>
              </p:nvSpPr>
              <p:spPr>
                <a:xfrm>
                  <a:off x="4800125" y="2732894"/>
                  <a:ext cx="431743" cy="276999"/>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200" b="1" i="1" smtClean="0">
                                <a:solidFill>
                                  <a:schemeClr val="tx1"/>
                                </a:solidFill>
                                <a:latin typeface="Cambria Math" panose="02040503050406030204" pitchFamily="18" charset="0"/>
                              </a:rPr>
                            </m:ctrlPr>
                          </m:sSubPr>
                          <m:e>
                            <m:r>
                              <a:rPr lang="en-GB" sz="1200" b="1" i="1" smtClean="0">
                                <a:solidFill>
                                  <a:schemeClr val="tx1"/>
                                </a:solidFill>
                                <a:latin typeface="Cambria Math" panose="02040503050406030204" pitchFamily="18" charset="0"/>
                              </a:rPr>
                              <m:t>−</m:t>
                            </m:r>
                            <m:r>
                              <a:rPr lang="en-GB" sz="1200" b="1" i="1" smtClean="0">
                                <a:solidFill>
                                  <a:schemeClr val="tx1"/>
                                </a:solidFill>
                                <a:latin typeface="Cambria Math" panose="02040503050406030204" pitchFamily="18" charset="0"/>
                              </a:rPr>
                              <m:t>𝑽</m:t>
                            </m:r>
                          </m:e>
                          <m:sub>
                            <m:r>
                              <a:rPr lang="en-GB" sz="1200" b="1" i="1" smtClean="0">
                                <a:solidFill>
                                  <a:schemeClr val="tx1"/>
                                </a:solidFill>
                                <a:latin typeface="Cambria Math" panose="02040503050406030204" pitchFamily="18" charset="0"/>
                              </a:rPr>
                              <m:t>𝒅𝒄</m:t>
                            </m:r>
                          </m:sub>
                        </m:sSub>
                      </m:oMath>
                    </m:oMathPara>
                  </a14:m>
                  <a:endParaRPr lang="en-US" sz="1200" b="1" dirty="0"/>
                </a:p>
              </p:txBody>
            </p:sp>
          </mc:Choice>
          <mc:Fallback xmlns="">
            <p:sp>
              <p:nvSpPr>
                <p:cNvPr id="21" name="TextBox 20">
                  <a:extLst>
                    <a:ext uri="{FF2B5EF4-FFF2-40B4-BE49-F238E27FC236}">
                      <a16:creationId xmlns:a16="http://schemas.microsoft.com/office/drawing/2014/main" id="{DE665388-236E-21FD-3EBF-8735643EC508}"/>
                    </a:ext>
                  </a:extLst>
                </p:cNvPr>
                <p:cNvSpPr txBox="1">
                  <a:spLocks noRot="1" noChangeAspect="1" noMove="1" noResize="1" noEditPoints="1" noAdjustHandles="1" noChangeArrowheads="1" noChangeShapeType="1" noTextEdit="1"/>
                </p:cNvSpPr>
                <p:nvPr/>
              </p:nvSpPr>
              <p:spPr>
                <a:xfrm>
                  <a:off x="4800125" y="2732894"/>
                  <a:ext cx="431743" cy="276999"/>
                </a:xfrm>
                <a:prstGeom prst="rect">
                  <a:avLst/>
                </a:prstGeom>
                <a:blipFill>
                  <a:blip r:embed="rId13"/>
                  <a:stretch>
                    <a:fillRect r="-9589"/>
                  </a:stretch>
                </a:blipFill>
                <a:ln>
                  <a:solidFill>
                    <a:schemeClr val="bg1"/>
                  </a:solidFill>
                </a:ln>
              </p:spPr>
              <p:txBody>
                <a:bodyPr/>
                <a:lstStyle/>
                <a:p>
                  <a:r>
                    <a:rPr lang="en-GB">
                      <a:noFill/>
                    </a:rPr>
                    <a:t> </a:t>
                  </a:r>
                </a:p>
              </p:txBody>
            </p:sp>
          </mc:Fallback>
        </mc:AlternateContent>
      </p:grpSp>
    </p:spTree>
    <p:extLst>
      <p:ext uri="{BB962C8B-B14F-4D97-AF65-F5344CB8AC3E}">
        <p14:creationId xmlns:p14="http://schemas.microsoft.com/office/powerpoint/2010/main" val="531009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
                                            <p:txEl>
                                              <p:pRg st="1" end="1"/>
                                            </p:txEl>
                                          </p:spTgt>
                                        </p:tgtEl>
                                        <p:attrNameLst>
                                          <p:attrName>style.visibility</p:attrName>
                                        </p:attrNameLst>
                                      </p:cBhvr>
                                      <p:to>
                                        <p:strVal val="visible"/>
                                      </p:to>
                                    </p:set>
                                    <p:anim calcmode="lin" valueType="num">
                                      <p:cBhvr additive="base">
                                        <p:cTn id="7" dur="500" fill="hold"/>
                                        <p:tgtEl>
                                          <p:spTgt spid="1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CF08F9DF-303A-A069-ED1F-CDE950D89459}"/>
              </a:ext>
            </a:extLst>
          </p:cNvPr>
          <p:cNvPicPr>
            <a:picLocks noChangeAspect="1"/>
          </p:cNvPicPr>
          <p:nvPr/>
        </p:nvPicPr>
        <p:blipFill>
          <a:blip r:embed="rId3"/>
          <a:stretch>
            <a:fillRect/>
          </a:stretch>
        </p:blipFill>
        <p:spPr>
          <a:xfrm>
            <a:off x="4571952" y="1611283"/>
            <a:ext cx="3724979" cy="1859441"/>
          </a:xfrm>
          <a:prstGeom prst="rect">
            <a:avLst/>
          </a:prstGeom>
        </p:spPr>
      </p:pic>
      <p:grpSp>
        <p:nvGrpSpPr>
          <p:cNvPr id="57" name="Group 56">
            <a:extLst>
              <a:ext uri="{FF2B5EF4-FFF2-40B4-BE49-F238E27FC236}">
                <a16:creationId xmlns:a16="http://schemas.microsoft.com/office/drawing/2014/main" id="{901958A1-094A-2E73-9DEE-2F3EDA318BB8}"/>
              </a:ext>
            </a:extLst>
          </p:cNvPr>
          <p:cNvGrpSpPr/>
          <p:nvPr/>
        </p:nvGrpSpPr>
        <p:grpSpPr>
          <a:xfrm>
            <a:off x="261598" y="4680422"/>
            <a:ext cx="2719257" cy="1584547"/>
            <a:chOff x="261598" y="4680422"/>
            <a:chExt cx="2719257" cy="1584547"/>
          </a:xfrm>
        </p:grpSpPr>
        <p:pic>
          <p:nvPicPr>
            <p:cNvPr id="56" name="Picture 55">
              <a:extLst>
                <a:ext uri="{FF2B5EF4-FFF2-40B4-BE49-F238E27FC236}">
                  <a16:creationId xmlns:a16="http://schemas.microsoft.com/office/drawing/2014/main" id="{F992E7A9-D2C6-D8CD-C80E-ED53E607A7C5}"/>
                </a:ext>
              </a:extLst>
            </p:cNvPr>
            <p:cNvPicPr>
              <a:picLocks noChangeAspect="1"/>
            </p:cNvPicPr>
            <p:nvPr/>
          </p:nvPicPr>
          <p:blipFill>
            <a:blip r:embed="rId4"/>
            <a:stretch>
              <a:fillRect/>
            </a:stretch>
          </p:blipFill>
          <p:spPr>
            <a:xfrm>
              <a:off x="261598" y="5740016"/>
              <a:ext cx="2719257" cy="524953"/>
            </a:xfrm>
            <a:prstGeom prst="rect">
              <a:avLst/>
            </a:prstGeom>
          </p:spPr>
        </p:pic>
        <p:grpSp>
          <p:nvGrpSpPr>
            <p:cNvPr id="14" name="Group 13">
              <a:extLst>
                <a:ext uri="{FF2B5EF4-FFF2-40B4-BE49-F238E27FC236}">
                  <a16:creationId xmlns:a16="http://schemas.microsoft.com/office/drawing/2014/main" id="{F46AFB43-B522-3A34-48B7-48BAB79B3B44}"/>
                </a:ext>
              </a:extLst>
            </p:cNvPr>
            <p:cNvGrpSpPr/>
            <p:nvPr/>
          </p:nvGrpSpPr>
          <p:grpSpPr>
            <a:xfrm>
              <a:off x="274369" y="4680422"/>
              <a:ext cx="2706486" cy="1137183"/>
              <a:chOff x="4885161" y="1876117"/>
              <a:chExt cx="2706486" cy="1137183"/>
            </a:xfrm>
          </p:grpSpPr>
          <p:pic>
            <p:nvPicPr>
              <p:cNvPr id="9" name="Picture 8">
                <a:extLst>
                  <a:ext uri="{FF2B5EF4-FFF2-40B4-BE49-F238E27FC236}">
                    <a16:creationId xmlns:a16="http://schemas.microsoft.com/office/drawing/2014/main" id="{BF7D44F0-DB83-FAEB-4F86-45A59C03B52D}"/>
                  </a:ext>
                </a:extLst>
              </p:cNvPr>
              <p:cNvPicPr>
                <a:picLocks noChangeAspect="1"/>
              </p:cNvPicPr>
              <p:nvPr/>
            </p:nvPicPr>
            <p:blipFill>
              <a:blip r:embed="rId5"/>
              <a:stretch>
                <a:fillRect/>
              </a:stretch>
            </p:blipFill>
            <p:spPr>
              <a:xfrm>
                <a:off x="4885161" y="1892596"/>
                <a:ext cx="2706486" cy="1120704"/>
              </a:xfrm>
              <a:prstGeom prst="rect">
                <a:avLst/>
              </a:prstGeom>
            </p:spPr>
          </p:pic>
          <p:sp>
            <p:nvSpPr>
              <p:cNvPr id="13" name="Oval 12">
                <a:extLst>
                  <a:ext uri="{FF2B5EF4-FFF2-40B4-BE49-F238E27FC236}">
                    <a16:creationId xmlns:a16="http://schemas.microsoft.com/office/drawing/2014/main" id="{A7D3A76B-B07D-FD40-1BF3-920ECB902E3A}"/>
                  </a:ext>
                </a:extLst>
              </p:cNvPr>
              <p:cNvSpPr/>
              <p:nvPr/>
            </p:nvSpPr>
            <p:spPr>
              <a:xfrm>
                <a:off x="5688416" y="1876117"/>
                <a:ext cx="414670" cy="324824"/>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 name="Title 1">
            <a:extLst>
              <a:ext uri="{FF2B5EF4-FFF2-40B4-BE49-F238E27FC236}">
                <a16:creationId xmlns:a16="http://schemas.microsoft.com/office/drawing/2014/main" id="{83CDAB49-4E83-D5C9-EF6D-0F2CE1E6855E}"/>
              </a:ext>
            </a:extLst>
          </p:cNvPr>
          <p:cNvSpPr>
            <a:spLocks noGrp="1"/>
          </p:cNvSpPr>
          <p:nvPr>
            <p:ph type="title"/>
          </p:nvPr>
        </p:nvSpPr>
        <p:spPr>
          <a:xfrm>
            <a:off x="185741" y="125608"/>
            <a:ext cx="7886700" cy="721053"/>
          </a:xfrm>
        </p:spPr>
        <p:txBody>
          <a:bodyPr/>
          <a:lstStyle/>
          <a:p>
            <a:r>
              <a:rPr lang="en-US" dirty="0"/>
              <a:t>Harmonics</a:t>
            </a:r>
          </a:p>
        </p:txBody>
      </p:sp>
      <p:sp>
        <p:nvSpPr>
          <p:cNvPr id="17" name="Title 1">
            <a:extLst>
              <a:ext uri="{FF2B5EF4-FFF2-40B4-BE49-F238E27FC236}">
                <a16:creationId xmlns:a16="http://schemas.microsoft.com/office/drawing/2014/main" id="{4100A584-C9BA-C39F-A4D3-ABF895CCF570}"/>
              </a:ext>
            </a:extLst>
          </p:cNvPr>
          <p:cNvSpPr txBox="1">
            <a:spLocks/>
          </p:cNvSpPr>
          <p:nvPr/>
        </p:nvSpPr>
        <p:spPr>
          <a:xfrm>
            <a:off x="185741" y="703034"/>
            <a:ext cx="8851933" cy="128449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Tx/>
              <a:buChar char="-"/>
            </a:pPr>
            <a:r>
              <a:rPr lang="en-US" sz="2800" b="1" dirty="0"/>
              <a:t>Harmonics in Square Wave Switching</a:t>
            </a:r>
          </a:p>
          <a:p>
            <a:pPr marL="914400" lvl="1" indent="-457200" algn="just">
              <a:buFontTx/>
              <a:buChar char="-"/>
            </a:pPr>
            <a:r>
              <a:rPr lang="en-US" dirty="0"/>
              <a:t>There is need to analyze the </a:t>
            </a:r>
            <a:r>
              <a:rPr lang="en-US" dirty="0">
                <a:solidFill>
                  <a:srgbClr val="FF0000"/>
                </a:solidFill>
              </a:rPr>
              <a:t>presence of other sinusoids </a:t>
            </a:r>
            <a:r>
              <a:rPr lang="en-US" dirty="0"/>
              <a:t>having </a:t>
            </a:r>
            <a:r>
              <a:rPr lang="en-US" dirty="0">
                <a:solidFill>
                  <a:srgbClr val="FF0000"/>
                </a:solidFill>
              </a:rPr>
              <a:t>frequencies multiple of desired sinusoid, </a:t>
            </a:r>
            <a:r>
              <a:rPr lang="en-US" b="1" i="1" dirty="0">
                <a:solidFill>
                  <a:srgbClr val="7030A0"/>
                </a:solidFill>
              </a:rPr>
              <a:t>called harmonics</a:t>
            </a:r>
            <a:r>
              <a:rPr lang="en-US" dirty="0">
                <a:solidFill>
                  <a:srgbClr val="FF0000"/>
                </a:solidFill>
              </a:rPr>
              <a:t>,  </a:t>
            </a:r>
            <a:r>
              <a:rPr lang="en-US" dirty="0"/>
              <a:t>available in output.</a:t>
            </a:r>
          </a:p>
          <a:p>
            <a:pPr marL="914400" lvl="1" indent="-457200">
              <a:buFontTx/>
              <a:buChar char="-"/>
            </a:pPr>
            <a:endParaRPr lang="en-US" sz="2000" dirty="0"/>
          </a:p>
        </p:txBody>
      </p:sp>
      <p:pic>
        <p:nvPicPr>
          <p:cNvPr id="5" name="Picture 4">
            <a:extLst>
              <a:ext uri="{FF2B5EF4-FFF2-40B4-BE49-F238E27FC236}">
                <a16:creationId xmlns:a16="http://schemas.microsoft.com/office/drawing/2014/main" id="{2B286808-71DA-E9E1-5138-C726DF7FE48B}"/>
              </a:ext>
            </a:extLst>
          </p:cNvPr>
          <p:cNvPicPr>
            <a:picLocks noChangeAspect="1"/>
          </p:cNvPicPr>
          <p:nvPr/>
        </p:nvPicPr>
        <p:blipFill>
          <a:blip r:embed="rId6"/>
          <a:stretch>
            <a:fillRect/>
          </a:stretch>
        </p:blipFill>
        <p:spPr>
          <a:xfrm>
            <a:off x="4695978" y="4951312"/>
            <a:ext cx="3690128" cy="1817851"/>
          </a:xfrm>
          <a:prstGeom prst="rect">
            <a:avLst/>
          </a:prstGeom>
        </p:spPr>
      </p:pic>
      <p:cxnSp>
        <p:nvCxnSpPr>
          <p:cNvPr id="38" name="Straight Arrow Connector 37">
            <a:extLst>
              <a:ext uri="{FF2B5EF4-FFF2-40B4-BE49-F238E27FC236}">
                <a16:creationId xmlns:a16="http://schemas.microsoft.com/office/drawing/2014/main" id="{AA2A8E96-C69F-DFFA-1E23-C55246F62563}"/>
              </a:ext>
            </a:extLst>
          </p:cNvPr>
          <p:cNvCxnSpPr>
            <a:cxnSpLocks/>
          </p:cNvCxnSpPr>
          <p:nvPr/>
        </p:nvCxnSpPr>
        <p:spPr>
          <a:xfrm flipV="1">
            <a:off x="5434346" y="5258463"/>
            <a:ext cx="359024" cy="6587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 name="Left Brace 48">
            <a:extLst>
              <a:ext uri="{FF2B5EF4-FFF2-40B4-BE49-F238E27FC236}">
                <a16:creationId xmlns:a16="http://schemas.microsoft.com/office/drawing/2014/main" id="{6782B6B0-FD48-6CC6-CFE9-BADF5D8FFF4D}"/>
              </a:ext>
            </a:extLst>
          </p:cNvPr>
          <p:cNvSpPr/>
          <p:nvPr/>
        </p:nvSpPr>
        <p:spPr>
          <a:xfrm rot="5400000">
            <a:off x="6326367" y="5097694"/>
            <a:ext cx="344933" cy="1887895"/>
          </a:xfrm>
          <a:prstGeom prst="leftBrace">
            <a:avLst/>
          </a:prstGeom>
          <a:ln w="158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52" name="Picture 51">
            <a:extLst>
              <a:ext uri="{FF2B5EF4-FFF2-40B4-BE49-F238E27FC236}">
                <a16:creationId xmlns:a16="http://schemas.microsoft.com/office/drawing/2014/main" id="{70DC25C9-EC66-903A-DC0A-BE3047A84F02}"/>
              </a:ext>
            </a:extLst>
          </p:cNvPr>
          <p:cNvPicPr>
            <a:picLocks noChangeAspect="1"/>
          </p:cNvPicPr>
          <p:nvPr/>
        </p:nvPicPr>
        <p:blipFill>
          <a:blip r:embed="rId7"/>
          <a:stretch>
            <a:fillRect/>
          </a:stretch>
        </p:blipFill>
        <p:spPr>
          <a:xfrm>
            <a:off x="6896474" y="5513111"/>
            <a:ext cx="1175967" cy="442093"/>
          </a:xfrm>
          <a:prstGeom prst="rect">
            <a:avLst/>
          </a:prstGeom>
        </p:spPr>
      </p:pic>
      <p:cxnSp>
        <p:nvCxnSpPr>
          <p:cNvPr id="53" name="Straight Arrow Connector 52">
            <a:extLst>
              <a:ext uri="{FF2B5EF4-FFF2-40B4-BE49-F238E27FC236}">
                <a16:creationId xmlns:a16="http://schemas.microsoft.com/office/drawing/2014/main" id="{2C915F2E-15CB-7C6E-0E67-A81C08407372}"/>
              </a:ext>
            </a:extLst>
          </p:cNvPr>
          <p:cNvCxnSpPr>
            <a:cxnSpLocks/>
          </p:cNvCxnSpPr>
          <p:nvPr/>
        </p:nvCxnSpPr>
        <p:spPr>
          <a:xfrm flipV="1">
            <a:off x="6582809" y="5817605"/>
            <a:ext cx="501158" cy="13365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8" name="Down Arrow 57">
            <a:extLst>
              <a:ext uri="{FF2B5EF4-FFF2-40B4-BE49-F238E27FC236}">
                <a16:creationId xmlns:a16="http://schemas.microsoft.com/office/drawing/2014/main" id="{F1E158BB-EDEC-01BF-9A56-DC3AEF890B8C}"/>
              </a:ext>
            </a:extLst>
          </p:cNvPr>
          <p:cNvSpPr/>
          <p:nvPr/>
        </p:nvSpPr>
        <p:spPr>
          <a:xfrm>
            <a:off x="6051586" y="3736255"/>
            <a:ext cx="373395" cy="31339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TextBox 58">
            <a:extLst>
              <a:ext uri="{FF2B5EF4-FFF2-40B4-BE49-F238E27FC236}">
                <a16:creationId xmlns:a16="http://schemas.microsoft.com/office/drawing/2014/main" id="{07DE2076-8C72-E6FE-9DDE-500842FE38C7}"/>
              </a:ext>
            </a:extLst>
          </p:cNvPr>
          <p:cNvSpPr txBox="1"/>
          <p:nvPr/>
        </p:nvSpPr>
        <p:spPr>
          <a:xfrm>
            <a:off x="5365600" y="4082498"/>
            <a:ext cx="2277739" cy="369332"/>
          </a:xfrm>
          <a:prstGeom prst="rect">
            <a:avLst/>
          </a:prstGeom>
          <a:noFill/>
        </p:spPr>
        <p:txBody>
          <a:bodyPr wrap="none" rtlCol="0">
            <a:spAutoFit/>
          </a:bodyPr>
          <a:lstStyle/>
          <a:p>
            <a:r>
              <a:rPr lang="en-US" dirty="0"/>
              <a:t>Fourier Series Analysis</a:t>
            </a:r>
          </a:p>
        </p:txBody>
      </p:sp>
      <p:sp>
        <p:nvSpPr>
          <p:cNvPr id="60" name="Down Arrow 59">
            <a:extLst>
              <a:ext uri="{FF2B5EF4-FFF2-40B4-BE49-F238E27FC236}">
                <a16:creationId xmlns:a16="http://schemas.microsoft.com/office/drawing/2014/main" id="{473B940B-0C43-25A0-E14E-99CF913C3DFD}"/>
              </a:ext>
            </a:extLst>
          </p:cNvPr>
          <p:cNvSpPr/>
          <p:nvPr/>
        </p:nvSpPr>
        <p:spPr>
          <a:xfrm>
            <a:off x="6051585" y="4526508"/>
            <a:ext cx="373395" cy="31339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F768E78D-C683-473A-33F3-D2319612EDF8}"/>
              </a:ext>
            </a:extLst>
          </p:cNvPr>
          <p:cNvGrpSpPr/>
          <p:nvPr/>
        </p:nvGrpSpPr>
        <p:grpSpPr>
          <a:xfrm>
            <a:off x="5812344" y="5000484"/>
            <a:ext cx="2390098" cy="452223"/>
            <a:chOff x="5627551" y="4954203"/>
            <a:chExt cx="2390098" cy="452223"/>
          </a:xfrm>
        </p:grpSpPr>
        <p:pic>
          <p:nvPicPr>
            <p:cNvPr id="32" name="Picture 31">
              <a:extLst>
                <a:ext uri="{FF2B5EF4-FFF2-40B4-BE49-F238E27FC236}">
                  <a16:creationId xmlns:a16="http://schemas.microsoft.com/office/drawing/2014/main" id="{02FECF94-9D19-A5BF-62C3-641648927B3B}"/>
                </a:ext>
              </a:extLst>
            </p:cNvPr>
            <p:cNvPicPr>
              <a:picLocks noChangeAspect="1"/>
            </p:cNvPicPr>
            <p:nvPr/>
          </p:nvPicPr>
          <p:blipFill>
            <a:blip r:embed="rId8"/>
            <a:stretch>
              <a:fillRect/>
            </a:stretch>
          </p:blipFill>
          <p:spPr>
            <a:xfrm>
              <a:off x="5627551" y="4954203"/>
              <a:ext cx="1826981" cy="452223"/>
            </a:xfrm>
            <a:prstGeom prst="rect">
              <a:avLst/>
            </a:prstGeom>
          </p:spPr>
        </p:pic>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827D0536-5947-D8D3-109D-79125F4EEDC8}"/>
                    </a:ext>
                  </a:extLst>
                </p:cNvPr>
                <p:cNvSpPr txBox="1"/>
                <p:nvPr/>
              </p:nvSpPr>
              <p:spPr>
                <a:xfrm>
                  <a:off x="6395349" y="5027745"/>
                  <a:ext cx="1622300" cy="307777"/>
                </a:xfrm>
                <a:prstGeom prst="rect">
                  <a:avLst/>
                </a:prstGeom>
                <a:solidFill>
                  <a:schemeClr val="bg1"/>
                </a:solidFill>
                <a:ln>
                  <a:solidFill>
                    <a:schemeClr val="bg1"/>
                  </a:solidFill>
                </a:ln>
              </p:spPr>
              <p:txBody>
                <a:bodyPr wrap="square">
                  <a:spAutoFit/>
                </a:bodyPr>
                <a:lstStyle/>
                <a:p>
                  <a14:m>
                    <m:oMath xmlns:m="http://schemas.openxmlformats.org/officeDocument/2006/math">
                      <m:sSub>
                        <m:sSubPr>
                          <m:ctrlPr>
                            <a:rPr lang="en-US" sz="1400" b="1" i="1" smtClean="0">
                              <a:solidFill>
                                <a:schemeClr val="tx1"/>
                              </a:solidFill>
                              <a:latin typeface="Cambria Math" panose="02040503050406030204" pitchFamily="18" charset="0"/>
                            </a:rPr>
                          </m:ctrlPr>
                        </m:sSubPr>
                        <m:e>
                          <m:r>
                            <a:rPr lang="en-GB" sz="1400" b="1" i="1" smtClean="0">
                              <a:solidFill>
                                <a:schemeClr val="tx1"/>
                              </a:solidFill>
                              <a:latin typeface="Cambria Math" panose="02040503050406030204" pitchFamily="18" charset="0"/>
                            </a:rPr>
                            <m:t>𝑽</m:t>
                          </m:r>
                        </m:e>
                        <m:sub>
                          <m:r>
                            <a:rPr lang="en-GB" sz="1400" b="1" i="1" smtClean="0">
                              <a:solidFill>
                                <a:schemeClr val="tx1"/>
                              </a:solidFill>
                              <a:latin typeface="Cambria Math" panose="02040503050406030204" pitchFamily="18" charset="0"/>
                            </a:rPr>
                            <m:t>𝒅𝒄</m:t>
                          </m:r>
                        </m:sub>
                      </m:sSub>
                    </m:oMath>
                  </a14:m>
                  <a:r>
                    <a:rPr lang="en-US" sz="1400" b="1" dirty="0"/>
                    <a:t> </a:t>
                  </a:r>
                  <a14:m>
                    <m:oMath xmlns:m="http://schemas.openxmlformats.org/officeDocument/2006/math">
                      <m:sSub>
                        <m:sSubPr>
                          <m:ctrlPr>
                            <a:rPr lang="en-US" sz="1400" b="1" i="1">
                              <a:latin typeface="Cambria Math" panose="02040503050406030204" pitchFamily="18" charset="0"/>
                            </a:rPr>
                          </m:ctrlPr>
                        </m:sSubPr>
                        <m:e>
                          <m:r>
                            <a:rPr lang="en-GB" sz="1400" b="1" i="1" smtClean="0">
                              <a:latin typeface="Cambria Math" panose="02040503050406030204" pitchFamily="18" charset="0"/>
                            </a:rPr>
                            <m:t>=</m:t>
                          </m:r>
                          <m:r>
                            <a:rPr lang="en-GB" sz="1400" b="1" i="1" smtClean="0">
                              <a:latin typeface="Cambria Math" panose="02040503050406030204" pitchFamily="18" charset="0"/>
                            </a:rPr>
                            <m:t>𝟏</m:t>
                          </m:r>
                          <m:r>
                            <a:rPr lang="en-GB" sz="1400" b="1" i="1" smtClean="0">
                              <a:latin typeface="Cambria Math" panose="02040503050406030204" pitchFamily="18" charset="0"/>
                            </a:rPr>
                            <m:t>.</m:t>
                          </m:r>
                          <m:r>
                            <a:rPr lang="en-GB" sz="1400" b="1" i="1" smtClean="0">
                              <a:latin typeface="Cambria Math" panose="02040503050406030204" pitchFamily="18" charset="0"/>
                            </a:rPr>
                            <m:t>𝟐𝟑𝟕</m:t>
                          </m:r>
                          <m:r>
                            <a:rPr lang="en-GB" sz="1400" b="1" i="1" smtClean="0">
                              <a:latin typeface="Cambria Math" panose="02040503050406030204" pitchFamily="18" charset="0"/>
                            </a:rPr>
                            <m:t> </m:t>
                          </m:r>
                          <m:r>
                            <a:rPr lang="en-GB" sz="1400" b="1" i="1">
                              <a:latin typeface="Cambria Math" panose="02040503050406030204" pitchFamily="18" charset="0"/>
                            </a:rPr>
                            <m:t>𝑽</m:t>
                          </m:r>
                        </m:e>
                        <m:sub>
                          <m:r>
                            <a:rPr lang="en-GB" sz="1400" b="1" i="1">
                              <a:latin typeface="Cambria Math" panose="02040503050406030204" pitchFamily="18" charset="0"/>
                            </a:rPr>
                            <m:t>𝒅𝒄</m:t>
                          </m:r>
                        </m:sub>
                      </m:sSub>
                    </m:oMath>
                  </a14:m>
                  <a:endParaRPr lang="en-US" sz="1200" b="1" dirty="0"/>
                </a:p>
              </p:txBody>
            </p:sp>
          </mc:Choice>
          <mc:Fallback xmlns="">
            <p:sp>
              <p:nvSpPr>
                <p:cNvPr id="16" name="TextBox 15">
                  <a:extLst>
                    <a:ext uri="{FF2B5EF4-FFF2-40B4-BE49-F238E27FC236}">
                      <a16:creationId xmlns:a16="http://schemas.microsoft.com/office/drawing/2014/main" id="{827D0536-5947-D8D3-109D-79125F4EEDC8}"/>
                    </a:ext>
                  </a:extLst>
                </p:cNvPr>
                <p:cNvSpPr txBox="1">
                  <a:spLocks noRot="1" noChangeAspect="1" noMove="1" noResize="1" noEditPoints="1" noAdjustHandles="1" noChangeArrowheads="1" noChangeShapeType="1" noTextEdit="1"/>
                </p:cNvSpPr>
                <p:nvPr/>
              </p:nvSpPr>
              <p:spPr>
                <a:xfrm>
                  <a:off x="6395349" y="5027745"/>
                  <a:ext cx="1622300" cy="307777"/>
                </a:xfrm>
                <a:prstGeom prst="rect">
                  <a:avLst/>
                </a:prstGeom>
                <a:blipFill>
                  <a:blip r:embed="rId9"/>
                  <a:stretch>
                    <a:fillRect/>
                  </a:stretch>
                </a:blipFill>
                <a:ln>
                  <a:solidFill>
                    <a:schemeClr val="bg1"/>
                  </a:solidFill>
                </a:ln>
              </p:spPr>
              <p:txBody>
                <a:bodyPr/>
                <a:lstStyle/>
                <a:p>
                  <a:r>
                    <a:rPr lang="en-GB">
                      <a:noFill/>
                    </a:rPr>
                    <a:t> </a:t>
                  </a:r>
                </a:p>
              </p:txBody>
            </p:sp>
          </mc:Fallback>
        </mc:AlternateContent>
      </p:grpSp>
      <p:grpSp>
        <p:nvGrpSpPr>
          <p:cNvPr id="20" name="Group 19">
            <a:extLst>
              <a:ext uri="{FF2B5EF4-FFF2-40B4-BE49-F238E27FC236}">
                <a16:creationId xmlns:a16="http://schemas.microsoft.com/office/drawing/2014/main" id="{2306797F-6652-F5E9-ADFE-D05DF820BA8C}"/>
              </a:ext>
            </a:extLst>
          </p:cNvPr>
          <p:cNvGrpSpPr/>
          <p:nvPr/>
        </p:nvGrpSpPr>
        <p:grpSpPr>
          <a:xfrm>
            <a:off x="4908755" y="4456733"/>
            <a:ext cx="379177" cy="531112"/>
            <a:chOff x="4908755" y="4456733"/>
            <a:chExt cx="379177" cy="531112"/>
          </a:xfrm>
        </p:grpSpPr>
        <p:pic>
          <p:nvPicPr>
            <p:cNvPr id="62" name="Picture 61">
              <a:extLst>
                <a:ext uri="{FF2B5EF4-FFF2-40B4-BE49-F238E27FC236}">
                  <a16:creationId xmlns:a16="http://schemas.microsoft.com/office/drawing/2014/main" id="{1677C5E0-CE83-83DE-6DD7-F4D5A5670BBF}"/>
                </a:ext>
              </a:extLst>
            </p:cNvPr>
            <p:cNvPicPr>
              <a:picLocks noChangeAspect="1"/>
            </p:cNvPicPr>
            <p:nvPr/>
          </p:nvPicPr>
          <p:blipFill>
            <a:blip r:embed="rId10"/>
            <a:stretch>
              <a:fillRect/>
            </a:stretch>
          </p:blipFill>
          <p:spPr>
            <a:xfrm>
              <a:off x="4921821" y="4456733"/>
              <a:ext cx="366111" cy="231130"/>
            </a:xfrm>
            <a:prstGeom prst="rect">
              <a:avLst/>
            </a:prstGeom>
          </p:spPr>
        </p:pic>
        <p:cxnSp>
          <p:nvCxnSpPr>
            <p:cNvPr id="64" name="Straight Connector 63">
              <a:extLst>
                <a:ext uri="{FF2B5EF4-FFF2-40B4-BE49-F238E27FC236}">
                  <a16:creationId xmlns:a16="http://schemas.microsoft.com/office/drawing/2014/main" id="{2DBD1E54-B426-4EC1-65DF-A0BDA5C34468}"/>
                </a:ext>
              </a:extLst>
            </p:cNvPr>
            <p:cNvCxnSpPr/>
            <p:nvPr/>
          </p:nvCxnSpPr>
          <p:spPr>
            <a:xfrm>
              <a:off x="4914537" y="4674689"/>
              <a:ext cx="36611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B099357-CD82-9545-1D42-3EA1F6080073}"/>
                    </a:ext>
                  </a:extLst>
                </p:cNvPr>
                <p:cNvSpPr txBox="1"/>
                <p:nvPr/>
              </p:nvSpPr>
              <p:spPr>
                <a:xfrm>
                  <a:off x="4908755" y="4706987"/>
                  <a:ext cx="307637" cy="280858"/>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200" b="1" i="1" smtClean="0">
                                <a:solidFill>
                                  <a:schemeClr val="tx1"/>
                                </a:solidFill>
                                <a:latin typeface="Cambria Math" panose="02040503050406030204" pitchFamily="18" charset="0"/>
                              </a:rPr>
                            </m:ctrlPr>
                          </m:sSubPr>
                          <m:e>
                            <m:r>
                              <a:rPr lang="en-GB" sz="1200" b="1" i="1" smtClean="0">
                                <a:solidFill>
                                  <a:schemeClr val="tx1"/>
                                </a:solidFill>
                                <a:latin typeface="Cambria Math" panose="02040503050406030204" pitchFamily="18" charset="0"/>
                              </a:rPr>
                              <m:t>𝑽</m:t>
                            </m:r>
                          </m:e>
                          <m:sub>
                            <m:r>
                              <a:rPr lang="en-GB" sz="1200" b="1" i="1" smtClean="0">
                                <a:solidFill>
                                  <a:schemeClr val="tx1"/>
                                </a:solidFill>
                                <a:latin typeface="Cambria Math" panose="02040503050406030204" pitchFamily="18" charset="0"/>
                              </a:rPr>
                              <m:t>𝒅𝒄</m:t>
                            </m:r>
                          </m:sub>
                        </m:sSub>
                      </m:oMath>
                    </m:oMathPara>
                  </a14:m>
                  <a:endParaRPr lang="en-US" sz="1200" b="1" dirty="0"/>
                </a:p>
              </p:txBody>
            </p:sp>
          </mc:Choice>
          <mc:Fallback xmlns="">
            <p:sp>
              <p:nvSpPr>
                <p:cNvPr id="19" name="TextBox 18">
                  <a:extLst>
                    <a:ext uri="{FF2B5EF4-FFF2-40B4-BE49-F238E27FC236}">
                      <a16:creationId xmlns:a16="http://schemas.microsoft.com/office/drawing/2014/main" id="{BB099357-CD82-9545-1D42-3EA1F6080073}"/>
                    </a:ext>
                  </a:extLst>
                </p:cNvPr>
                <p:cNvSpPr txBox="1">
                  <a:spLocks noRot="1" noChangeAspect="1" noMove="1" noResize="1" noEditPoints="1" noAdjustHandles="1" noChangeArrowheads="1" noChangeShapeType="1" noTextEdit="1"/>
                </p:cNvSpPr>
                <p:nvPr/>
              </p:nvSpPr>
              <p:spPr>
                <a:xfrm>
                  <a:off x="4908755" y="4706987"/>
                  <a:ext cx="307637" cy="280858"/>
                </a:xfrm>
                <a:prstGeom prst="rect">
                  <a:avLst/>
                </a:prstGeom>
                <a:blipFill>
                  <a:blip r:embed="rId11"/>
                  <a:stretch>
                    <a:fillRect r="-15094"/>
                  </a:stretch>
                </a:blipFill>
                <a:ln>
                  <a:solidFill>
                    <a:schemeClr val="bg1"/>
                  </a:solidFill>
                </a:ln>
              </p:spPr>
              <p:txBody>
                <a:bodyPr/>
                <a:lstStyle/>
                <a:p>
                  <a:r>
                    <a:rPr lang="en-GB">
                      <a:noFill/>
                    </a:rPr>
                    <a:t> </a:t>
                  </a:r>
                </a:p>
              </p:txBody>
            </p:sp>
          </mc:Fallback>
        </mc:AlternateContent>
      </p:grpSp>
      <p:pic>
        <p:nvPicPr>
          <p:cNvPr id="21" name="Picture 20">
            <a:extLst>
              <a:ext uri="{FF2B5EF4-FFF2-40B4-BE49-F238E27FC236}">
                <a16:creationId xmlns:a16="http://schemas.microsoft.com/office/drawing/2014/main" id="{CDDF1167-E1AD-E68A-7CB4-DCED251DC8BE}"/>
              </a:ext>
            </a:extLst>
          </p:cNvPr>
          <p:cNvPicPr>
            <a:picLocks noChangeAspect="1"/>
          </p:cNvPicPr>
          <p:nvPr/>
        </p:nvPicPr>
        <p:blipFill>
          <a:blip r:embed="rId12"/>
          <a:stretch>
            <a:fillRect/>
          </a:stretch>
        </p:blipFill>
        <p:spPr>
          <a:xfrm>
            <a:off x="594238" y="1896534"/>
            <a:ext cx="3128410" cy="2437722"/>
          </a:xfrm>
          <a:prstGeom prst="rect">
            <a:avLst/>
          </a:prstGeom>
        </p:spPr>
      </p:pic>
      <p:sp>
        <p:nvSpPr>
          <p:cNvPr id="24" name="Rectangle 23">
            <a:extLst>
              <a:ext uri="{FF2B5EF4-FFF2-40B4-BE49-F238E27FC236}">
                <a16:creationId xmlns:a16="http://schemas.microsoft.com/office/drawing/2014/main" id="{E7245B22-7842-874B-62B9-9A9E7F6395B6}"/>
              </a:ext>
            </a:extLst>
          </p:cNvPr>
          <p:cNvSpPr/>
          <p:nvPr/>
        </p:nvSpPr>
        <p:spPr>
          <a:xfrm>
            <a:off x="5254871" y="4839900"/>
            <a:ext cx="179475" cy="2114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343894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58" grpId="0" animBg="1"/>
      <p:bldP spid="59" grpId="0"/>
      <p:bldP spid="6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Rounded Rectangle 70">
            <a:extLst>
              <a:ext uri="{FF2B5EF4-FFF2-40B4-BE49-F238E27FC236}">
                <a16:creationId xmlns:a16="http://schemas.microsoft.com/office/drawing/2014/main" id="{8EED8608-39DF-54AC-0017-C56288C50979}"/>
              </a:ext>
            </a:extLst>
          </p:cNvPr>
          <p:cNvSpPr/>
          <p:nvPr/>
        </p:nvSpPr>
        <p:spPr>
          <a:xfrm>
            <a:off x="79927" y="4565993"/>
            <a:ext cx="4060008" cy="2166399"/>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ounded Rectangle 69">
            <a:extLst>
              <a:ext uri="{FF2B5EF4-FFF2-40B4-BE49-F238E27FC236}">
                <a16:creationId xmlns:a16="http://schemas.microsoft.com/office/drawing/2014/main" id="{4A0CFBAD-AF85-8FC5-5CD1-6CED526D81B5}"/>
              </a:ext>
            </a:extLst>
          </p:cNvPr>
          <p:cNvSpPr/>
          <p:nvPr/>
        </p:nvSpPr>
        <p:spPr>
          <a:xfrm>
            <a:off x="85060" y="2084496"/>
            <a:ext cx="3991805" cy="2296118"/>
          </a:xfrm>
          <a:prstGeom prst="round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3CDAB49-4E83-D5C9-EF6D-0F2CE1E6855E}"/>
              </a:ext>
            </a:extLst>
          </p:cNvPr>
          <p:cNvSpPr>
            <a:spLocks noGrp="1"/>
          </p:cNvSpPr>
          <p:nvPr>
            <p:ph type="title"/>
          </p:nvPr>
        </p:nvSpPr>
        <p:spPr>
          <a:xfrm>
            <a:off x="185741" y="125608"/>
            <a:ext cx="7886700" cy="721053"/>
          </a:xfrm>
        </p:spPr>
        <p:txBody>
          <a:bodyPr/>
          <a:lstStyle/>
          <a:p>
            <a:r>
              <a:rPr lang="en-US" dirty="0"/>
              <a:t>Harmonics</a:t>
            </a:r>
          </a:p>
        </p:txBody>
      </p:sp>
      <p:sp>
        <p:nvSpPr>
          <p:cNvPr id="17" name="Title 1">
            <a:extLst>
              <a:ext uri="{FF2B5EF4-FFF2-40B4-BE49-F238E27FC236}">
                <a16:creationId xmlns:a16="http://schemas.microsoft.com/office/drawing/2014/main" id="{4100A584-C9BA-C39F-A4D3-ABF895CCF570}"/>
              </a:ext>
            </a:extLst>
          </p:cNvPr>
          <p:cNvSpPr txBox="1">
            <a:spLocks/>
          </p:cNvSpPr>
          <p:nvPr/>
        </p:nvSpPr>
        <p:spPr>
          <a:xfrm>
            <a:off x="185741" y="703034"/>
            <a:ext cx="8851933" cy="128449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Tx/>
              <a:buChar char="-"/>
            </a:pPr>
            <a:r>
              <a:rPr lang="en-US" sz="2800" b="1" dirty="0"/>
              <a:t>Harmonics in PWM Switching</a:t>
            </a:r>
          </a:p>
          <a:p>
            <a:pPr marL="914400" lvl="1" indent="-457200" algn="just">
              <a:buFontTx/>
              <a:buChar char="-"/>
            </a:pPr>
            <a:r>
              <a:rPr lang="en-US" dirty="0"/>
              <a:t>To analyze </a:t>
            </a:r>
            <a:r>
              <a:rPr lang="en-US" dirty="0">
                <a:solidFill>
                  <a:srgbClr val="FF0000"/>
                </a:solidFill>
              </a:rPr>
              <a:t>“</a:t>
            </a:r>
            <a:r>
              <a:rPr lang="en-US" b="1" i="1" dirty="0">
                <a:solidFill>
                  <a:srgbClr val="7030A0"/>
                </a:solidFill>
              </a:rPr>
              <a:t>harmonics</a:t>
            </a:r>
            <a:r>
              <a:rPr lang="en-US" dirty="0">
                <a:solidFill>
                  <a:srgbClr val="FF0000"/>
                </a:solidFill>
              </a:rPr>
              <a:t>” </a:t>
            </a:r>
            <a:r>
              <a:rPr lang="en-US" dirty="0"/>
              <a:t>for PWM switching we need to understand two new terms:</a:t>
            </a:r>
          </a:p>
          <a:p>
            <a:pPr marL="1371600" lvl="2" indent="-457200" algn="just">
              <a:buFontTx/>
              <a:buChar char="-"/>
            </a:pPr>
            <a:r>
              <a:rPr lang="en-US" b="1" i="1" dirty="0">
                <a:solidFill>
                  <a:srgbClr val="FF0000"/>
                </a:solidFill>
              </a:rPr>
              <a:t>Amplitude Modulation Ratio </a:t>
            </a:r>
            <a:r>
              <a:rPr lang="en-US" dirty="0"/>
              <a:t>and </a:t>
            </a:r>
            <a:r>
              <a:rPr lang="en-US" b="1" i="1" dirty="0">
                <a:solidFill>
                  <a:srgbClr val="7030A0"/>
                </a:solidFill>
              </a:rPr>
              <a:t>Frequency Modulation Ratio</a:t>
            </a:r>
            <a:r>
              <a:rPr lang="en-US" dirty="0"/>
              <a:t>.</a:t>
            </a:r>
          </a:p>
          <a:p>
            <a:pPr marL="914400" lvl="1" indent="-457200">
              <a:buFontTx/>
              <a:buChar char="-"/>
            </a:pPr>
            <a:endParaRPr lang="en-US" sz="2000" dirty="0"/>
          </a:p>
        </p:txBody>
      </p:sp>
      <p:grpSp>
        <p:nvGrpSpPr>
          <p:cNvPr id="82" name="Group 81">
            <a:extLst>
              <a:ext uri="{FF2B5EF4-FFF2-40B4-BE49-F238E27FC236}">
                <a16:creationId xmlns:a16="http://schemas.microsoft.com/office/drawing/2014/main" id="{E8608F13-BE68-15EB-EB2A-69250B138365}"/>
              </a:ext>
            </a:extLst>
          </p:cNvPr>
          <p:cNvGrpSpPr/>
          <p:nvPr/>
        </p:nvGrpSpPr>
        <p:grpSpPr>
          <a:xfrm>
            <a:off x="4210525" y="1777953"/>
            <a:ext cx="4355323" cy="2142968"/>
            <a:chOff x="4210525" y="1777953"/>
            <a:chExt cx="4355323" cy="2142968"/>
          </a:xfrm>
        </p:grpSpPr>
        <p:pic>
          <p:nvPicPr>
            <p:cNvPr id="26" name="Picture 25">
              <a:extLst>
                <a:ext uri="{FF2B5EF4-FFF2-40B4-BE49-F238E27FC236}">
                  <a16:creationId xmlns:a16="http://schemas.microsoft.com/office/drawing/2014/main" id="{EEFDB103-B13C-2796-6878-14E59A8353AB}"/>
                </a:ext>
              </a:extLst>
            </p:cNvPr>
            <p:cNvPicPr>
              <a:picLocks noChangeAspect="1"/>
            </p:cNvPicPr>
            <p:nvPr/>
          </p:nvPicPr>
          <p:blipFill>
            <a:blip r:embed="rId3"/>
            <a:stretch>
              <a:fillRect/>
            </a:stretch>
          </p:blipFill>
          <p:spPr>
            <a:xfrm>
              <a:off x="4285327" y="3336807"/>
              <a:ext cx="4280521" cy="584114"/>
            </a:xfrm>
            <a:prstGeom prst="rect">
              <a:avLst/>
            </a:prstGeom>
          </p:spPr>
        </p:pic>
        <p:grpSp>
          <p:nvGrpSpPr>
            <p:cNvPr id="16" name="Group 15">
              <a:extLst>
                <a:ext uri="{FF2B5EF4-FFF2-40B4-BE49-F238E27FC236}">
                  <a16:creationId xmlns:a16="http://schemas.microsoft.com/office/drawing/2014/main" id="{F51DFA53-9E42-5767-D540-0367584DFFDC}"/>
                </a:ext>
              </a:extLst>
            </p:cNvPr>
            <p:cNvGrpSpPr/>
            <p:nvPr/>
          </p:nvGrpSpPr>
          <p:grpSpPr>
            <a:xfrm>
              <a:off x="4210525" y="1777953"/>
              <a:ext cx="4157298" cy="1686518"/>
              <a:chOff x="1637445" y="3949693"/>
              <a:chExt cx="5869109" cy="2422172"/>
            </a:xfrm>
          </p:grpSpPr>
          <p:pic>
            <p:nvPicPr>
              <p:cNvPr id="18" name="Picture 17">
                <a:extLst>
                  <a:ext uri="{FF2B5EF4-FFF2-40B4-BE49-F238E27FC236}">
                    <a16:creationId xmlns:a16="http://schemas.microsoft.com/office/drawing/2014/main" id="{90CEFBB8-7C0D-910A-6D27-CBC6115786ED}"/>
                  </a:ext>
                </a:extLst>
              </p:cNvPr>
              <p:cNvPicPr>
                <a:picLocks noChangeAspect="1"/>
              </p:cNvPicPr>
              <p:nvPr/>
            </p:nvPicPr>
            <p:blipFill>
              <a:blip r:embed="rId4"/>
              <a:stretch>
                <a:fillRect/>
              </a:stretch>
            </p:blipFill>
            <p:spPr>
              <a:xfrm>
                <a:off x="1637445" y="3949693"/>
                <a:ext cx="5869109" cy="2422172"/>
              </a:xfrm>
              <a:prstGeom prst="rect">
                <a:avLst/>
              </a:prstGeom>
            </p:spPr>
          </p:pic>
          <p:sp>
            <p:nvSpPr>
              <p:cNvPr id="19" name="Rectangle 18">
                <a:extLst>
                  <a:ext uri="{FF2B5EF4-FFF2-40B4-BE49-F238E27FC236}">
                    <a16:creationId xmlns:a16="http://schemas.microsoft.com/office/drawing/2014/main" id="{3314A5FA-73E9-F221-A2AA-0D036EECA649}"/>
                  </a:ext>
                </a:extLst>
              </p:cNvPr>
              <p:cNvSpPr/>
              <p:nvPr/>
            </p:nvSpPr>
            <p:spPr>
              <a:xfrm>
                <a:off x="2890684" y="5189033"/>
                <a:ext cx="108155" cy="115093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a:t>
                </a:r>
              </a:p>
            </p:txBody>
          </p:sp>
          <p:sp>
            <p:nvSpPr>
              <p:cNvPr id="20" name="Rectangle 19">
                <a:extLst>
                  <a:ext uri="{FF2B5EF4-FFF2-40B4-BE49-F238E27FC236}">
                    <a16:creationId xmlns:a16="http://schemas.microsoft.com/office/drawing/2014/main" id="{A8C59190-F7AF-4FC5-4E37-9FCCBA685F77}"/>
                  </a:ext>
                </a:extLst>
              </p:cNvPr>
              <p:cNvSpPr/>
              <p:nvPr/>
            </p:nvSpPr>
            <p:spPr>
              <a:xfrm>
                <a:off x="3210232" y="5220929"/>
                <a:ext cx="108155" cy="115093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B73FBF4E-05A5-1F58-A2E8-069BD52B45A0}"/>
                  </a:ext>
                </a:extLst>
              </p:cNvPr>
              <p:cNvSpPr/>
              <p:nvPr/>
            </p:nvSpPr>
            <p:spPr>
              <a:xfrm>
                <a:off x="2914236" y="4848789"/>
                <a:ext cx="61051" cy="27552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a:t>
                </a:r>
              </a:p>
            </p:txBody>
          </p:sp>
          <p:sp>
            <p:nvSpPr>
              <p:cNvPr id="24" name="Rectangle 23">
                <a:extLst>
                  <a:ext uri="{FF2B5EF4-FFF2-40B4-BE49-F238E27FC236}">
                    <a16:creationId xmlns:a16="http://schemas.microsoft.com/office/drawing/2014/main" id="{6E6CA5F4-2650-015E-DCCE-E10EFF55584C}"/>
                  </a:ext>
                </a:extLst>
              </p:cNvPr>
              <p:cNvSpPr/>
              <p:nvPr/>
            </p:nvSpPr>
            <p:spPr>
              <a:xfrm>
                <a:off x="3246704" y="4859421"/>
                <a:ext cx="61051" cy="27552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a:t>
                </a:r>
              </a:p>
            </p:txBody>
          </p:sp>
        </p:grpSp>
      </p:grpSp>
      <p:grpSp>
        <p:nvGrpSpPr>
          <p:cNvPr id="63" name="Group 62">
            <a:extLst>
              <a:ext uri="{FF2B5EF4-FFF2-40B4-BE49-F238E27FC236}">
                <a16:creationId xmlns:a16="http://schemas.microsoft.com/office/drawing/2014/main" id="{C7B54462-C346-BF55-C203-B714A2B66FAC}"/>
              </a:ext>
            </a:extLst>
          </p:cNvPr>
          <p:cNvGrpSpPr/>
          <p:nvPr/>
        </p:nvGrpSpPr>
        <p:grpSpPr>
          <a:xfrm>
            <a:off x="211177" y="2311515"/>
            <a:ext cx="3865688" cy="530840"/>
            <a:chOff x="190597" y="4678021"/>
            <a:chExt cx="3865688" cy="530840"/>
          </a:xfrm>
        </p:grpSpPr>
        <p:pic>
          <p:nvPicPr>
            <p:cNvPr id="27" name="Picture 26">
              <a:extLst>
                <a:ext uri="{FF2B5EF4-FFF2-40B4-BE49-F238E27FC236}">
                  <a16:creationId xmlns:a16="http://schemas.microsoft.com/office/drawing/2014/main" id="{AA148478-2758-D773-5742-FEFC76B5381E}"/>
                </a:ext>
              </a:extLst>
            </p:cNvPr>
            <p:cNvPicPr>
              <a:picLocks noChangeAspect="1"/>
            </p:cNvPicPr>
            <p:nvPr/>
          </p:nvPicPr>
          <p:blipFill>
            <a:blip r:embed="rId5"/>
            <a:stretch>
              <a:fillRect/>
            </a:stretch>
          </p:blipFill>
          <p:spPr>
            <a:xfrm>
              <a:off x="190597" y="4678021"/>
              <a:ext cx="1118555" cy="530840"/>
            </a:xfrm>
            <a:prstGeom prst="rect">
              <a:avLst/>
            </a:prstGeom>
          </p:spPr>
        </p:pic>
        <p:sp>
          <p:nvSpPr>
            <p:cNvPr id="28" name="Right Arrow 27">
              <a:extLst>
                <a:ext uri="{FF2B5EF4-FFF2-40B4-BE49-F238E27FC236}">
                  <a16:creationId xmlns:a16="http://schemas.microsoft.com/office/drawing/2014/main" id="{6B22F084-B45D-9260-F083-2D3FE0D5005C}"/>
                </a:ext>
              </a:extLst>
            </p:cNvPr>
            <p:cNvSpPr/>
            <p:nvPr/>
          </p:nvSpPr>
          <p:spPr>
            <a:xfrm>
              <a:off x="1402216" y="4870471"/>
              <a:ext cx="309626" cy="2331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29628235-F95D-71A0-3920-0B5474332F5F}"/>
                </a:ext>
              </a:extLst>
            </p:cNvPr>
            <p:cNvSpPr txBox="1"/>
            <p:nvPr/>
          </p:nvSpPr>
          <p:spPr>
            <a:xfrm>
              <a:off x="1791049" y="4795851"/>
              <a:ext cx="2265236" cy="307777"/>
            </a:xfrm>
            <a:prstGeom prst="rect">
              <a:avLst/>
            </a:prstGeom>
            <a:noFill/>
          </p:spPr>
          <p:txBody>
            <a:bodyPr wrap="none" rtlCol="0">
              <a:spAutoFit/>
            </a:bodyPr>
            <a:lstStyle/>
            <a:p>
              <a:r>
                <a:rPr lang="en-US" sz="1400" dirty="0">
                  <a:solidFill>
                    <a:srgbClr val="FF0000"/>
                  </a:solidFill>
                </a:rPr>
                <a:t>Amplitude Modulation Ratio</a:t>
              </a:r>
            </a:p>
          </p:txBody>
        </p:sp>
      </p:grpSp>
      <p:grpSp>
        <p:nvGrpSpPr>
          <p:cNvPr id="84" name="Group 83">
            <a:extLst>
              <a:ext uri="{FF2B5EF4-FFF2-40B4-BE49-F238E27FC236}">
                <a16:creationId xmlns:a16="http://schemas.microsoft.com/office/drawing/2014/main" id="{2F47DDC9-0751-1888-BF25-8F151C78D4D4}"/>
              </a:ext>
            </a:extLst>
          </p:cNvPr>
          <p:cNvGrpSpPr/>
          <p:nvPr/>
        </p:nvGrpSpPr>
        <p:grpSpPr>
          <a:xfrm>
            <a:off x="323658" y="4764142"/>
            <a:ext cx="3585813" cy="685708"/>
            <a:chOff x="323658" y="4764142"/>
            <a:chExt cx="3585813" cy="685708"/>
          </a:xfrm>
        </p:grpSpPr>
        <p:pic>
          <p:nvPicPr>
            <p:cNvPr id="37" name="Picture 36">
              <a:extLst>
                <a:ext uri="{FF2B5EF4-FFF2-40B4-BE49-F238E27FC236}">
                  <a16:creationId xmlns:a16="http://schemas.microsoft.com/office/drawing/2014/main" id="{F7A41AD5-8B47-5DD9-0857-FDAABEC4F19B}"/>
                </a:ext>
              </a:extLst>
            </p:cNvPr>
            <p:cNvPicPr>
              <a:picLocks noChangeAspect="1"/>
            </p:cNvPicPr>
            <p:nvPr/>
          </p:nvPicPr>
          <p:blipFill>
            <a:blip r:embed="rId6"/>
            <a:stretch>
              <a:fillRect/>
            </a:stretch>
          </p:blipFill>
          <p:spPr>
            <a:xfrm>
              <a:off x="323658" y="4764142"/>
              <a:ext cx="844890" cy="685708"/>
            </a:xfrm>
            <a:prstGeom prst="rect">
              <a:avLst/>
            </a:prstGeom>
          </p:spPr>
        </p:pic>
        <p:sp>
          <p:nvSpPr>
            <p:cNvPr id="39" name="Right Arrow 38">
              <a:extLst>
                <a:ext uri="{FF2B5EF4-FFF2-40B4-BE49-F238E27FC236}">
                  <a16:creationId xmlns:a16="http://schemas.microsoft.com/office/drawing/2014/main" id="{A87390E0-ACF7-A7AE-610E-94DDDFF46174}"/>
                </a:ext>
              </a:extLst>
            </p:cNvPr>
            <p:cNvSpPr/>
            <p:nvPr/>
          </p:nvSpPr>
          <p:spPr>
            <a:xfrm>
              <a:off x="1277356" y="4990417"/>
              <a:ext cx="309626" cy="2331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24F7FC2E-96B3-B3FC-4323-9D6581F3F242}"/>
                </a:ext>
              </a:extLst>
            </p:cNvPr>
            <p:cNvSpPr txBox="1"/>
            <p:nvPr/>
          </p:nvSpPr>
          <p:spPr>
            <a:xfrm>
              <a:off x="1646607" y="4953106"/>
              <a:ext cx="2262864" cy="307777"/>
            </a:xfrm>
            <a:prstGeom prst="rect">
              <a:avLst/>
            </a:prstGeom>
            <a:noFill/>
          </p:spPr>
          <p:txBody>
            <a:bodyPr wrap="none" rtlCol="0">
              <a:spAutoFit/>
            </a:bodyPr>
            <a:lstStyle/>
            <a:p>
              <a:r>
                <a:rPr lang="en-US" sz="1400" dirty="0">
                  <a:solidFill>
                    <a:srgbClr val="FF0000"/>
                  </a:solidFill>
                </a:rPr>
                <a:t>Frequency Modulation Ratio</a:t>
              </a:r>
            </a:p>
          </p:txBody>
        </p:sp>
      </p:grpSp>
      <p:cxnSp>
        <p:nvCxnSpPr>
          <p:cNvPr id="42" name="Straight Arrow Connector 41">
            <a:extLst>
              <a:ext uri="{FF2B5EF4-FFF2-40B4-BE49-F238E27FC236}">
                <a16:creationId xmlns:a16="http://schemas.microsoft.com/office/drawing/2014/main" id="{33F9889F-5298-F15C-9206-D9E7F4ED1A52}"/>
              </a:ext>
            </a:extLst>
          </p:cNvPr>
          <p:cNvCxnSpPr>
            <a:cxnSpLocks/>
            <a:stCxn id="50" idx="1"/>
          </p:cNvCxnSpPr>
          <p:nvPr/>
        </p:nvCxnSpPr>
        <p:spPr>
          <a:xfrm flipV="1">
            <a:off x="1246482" y="2195938"/>
            <a:ext cx="4078104" cy="1124291"/>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0959ADFC-6419-268B-C648-D6FCB78B2ACE}"/>
              </a:ext>
            </a:extLst>
          </p:cNvPr>
          <p:cNvCxnSpPr>
            <a:cxnSpLocks/>
            <a:stCxn id="55" idx="1"/>
          </p:cNvCxnSpPr>
          <p:nvPr/>
        </p:nvCxnSpPr>
        <p:spPr>
          <a:xfrm flipV="1">
            <a:off x="1246482" y="2084496"/>
            <a:ext cx="4637863" cy="1835517"/>
          </a:xfrm>
          <a:prstGeom prst="straightConnector1">
            <a:avLst/>
          </a:prstGeom>
          <a:ln w="19050">
            <a:solidFill>
              <a:srgbClr val="7030A0"/>
            </a:solidFill>
            <a:tailEnd type="triangle"/>
          </a:ln>
        </p:spPr>
        <p:style>
          <a:lnRef idx="1">
            <a:schemeClr val="accent1"/>
          </a:lnRef>
          <a:fillRef idx="0">
            <a:schemeClr val="accent1"/>
          </a:fillRef>
          <a:effectRef idx="0">
            <a:schemeClr val="accent1"/>
          </a:effectRef>
          <a:fontRef idx="minor">
            <a:schemeClr val="tx1"/>
          </a:fontRef>
        </p:style>
      </p:cxnSp>
      <p:grpSp>
        <p:nvGrpSpPr>
          <p:cNvPr id="64" name="Group 63">
            <a:extLst>
              <a:ext uri="{FF2B5EF4-FFF2-40B4-BE49-F238E27FC236}">
                <a16:creationId xmlns:a16="http://schemas.microsoft.com/office/drawing/2014/main" id="{10FA7E4C-D458-1E57-1220-1F4EC99621E1}"/>
              </a:ext>
            </a:extLst>
          </p:cNvPr>
          <p:cNvGrpSpPr/>
          <p:nvPr/>
        </p:nvGrpSpPr>
        <p:grpSpPr>
          <a:xfrm>
            <a:off x="263647" y="3166340"/>
            <a:ext cx="3201199" cy="307777"/>
            <a:chOff x="187056" y="5190641"/>
            <a:chExt cx="3201199" cy="307777"/>
          </a:xfrm>
        </p:grpSpPr>
        <p:pic>
          <p:nvPicPr>
            <p:cNvPr id="47" name="Picture 46">
              <a:extLst>
                <a:ext uri="{FF2B5EF4-FFF2-40B4-BE49-F238E27FC236}">
                  <a16:creationId xmlns:a16="http://schemas.microsoft.com/office/drawing/2014/main" id="{C03745BE-6639-1940-C256-7A2A32F2D76A}"/>
                </a:ext>
              </a:extLst>
            </p:cNvPr>
            <p:cNvPicPr>
              <a:picLocks noChangeAspect="1"/>
            </p:cNvPicPr>
            <p:nvPr/>
          </p:nvPicPr>
          <p:blipFill>
            <a:blip r:embed="rId7"/>
            <a:stretch>
              <a:fillRect/>
            </a:stretch>
          </p:blipFill>
          <p:spPr>
            <a:xfrm>
              <a:off x="187056" y="5202130"/>
              <a:ext cx="625652" cy="278068"/>
            </a:xfrm>
            <a:prstGeom prst="rect">
              <a:avLst/>
            </a:prstGeom>
          </p:spPr>
        </p:pic>
        <p:sp>
          <p:nvSpPr>
            <p:cNvPr id="48" name="Right Arrow 47">
              <a:extLst>
                <a:ext uri="{FF2B5EF4-FFF2-40B4-BE49-F238E27FC236}">
                  <a16:creationId xmlns:a16="http://schemas.microsoft.com/office/drawing/2014/main" id="{80E4CCA1-C302-419F-DFB2-0105B8BBE07F}"/>
                </a:ext>
              </a:extLst>
            </p:cNvPr>
            <p:cNvSpPr/>
            <p:nvPr/>
          </p:nvSpPr>
          <p:spPr>
            <a:xfrm>
              <a:off x="845670" y="5224585"/>
              <a:ext cx="309626" cy="2331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TextBox 49">
              <a:extLst>
                <a:ext uri="{FF2B5EF4-FFF2-40B4-BE49-F238E27FC236}">
                  <a16:creationId xmlns:a16="http://schemas.microsoft.com/office/drawing/2014/main" id="{CF5931C0-2D5F-A470-373B-57CC558D84AD}"/>
                </a:ext>
              </a:extLst>
            </p:cNvPr>
            <p:cNvSpPr txBox="1"/>
            <p:nvPr/>
          </p:nvSpPr>
          <p:spPr>
            <a:xfrm>
              <a:off x="1169891" y="5190641"/>
              <a:ext cx="2218364" cy="307777"/>
            </a:xfrm>
            <a:prstGeom prst="rect">
              <a:avLst/>
            </a:prstGeom>
            <a:noFill/>
          </p:spPr>
          <p:txBody>
            <a:bodyPr wrap="none" rtlCol="0">
              <a:spAutoFit/>
            </a:bodyPr>
            <a:lstStyle/>
            <a:p>
              <a:r>
                <a:rPr lang="en-US" sz="1400" dirty="0">
                  <a:solidFill>
                    <a:srgbClr val="FF0000"/>
                  </a:solidFill>
                </a:rPr>
                <a:t>Peak Value of Control Signal</a:t>
              </a:r>
            </a:p>
          </p:txBody>
        </p:sp>
      </p:grpSp>
      <p:grpSp>
        <p:nvGrpSpPr>
          <p:cNvPr id="83" name="Group 82">
            <a:extLst>
              <a:ext uri="{FF2B5EF4-FFF2-40B4-BE49-F238E27FC236}">
                <a16:creationId xmlns:a16="http://schemas.microsoft.com/office/drawing/2014/main" id="{7AFDE8CE-F1DD-FA57-ED56-18298D90BF25}"/>
              </a:ext>
            </a:extLst>
          </p:cNvPr>
          <p:cNvGrpSpPr/>
          <p:nvPr/>
        </p:nvGrpSpPr>
        <p:grpSpPr>
          <a:xfrm>
            <a:off x="293711" y="3699203"/>
            <a:ext cx="3363303" cy="374698"/>
            <a:chOff x="293711" y="3699203"/>
            <a:chExt cx="3363303" cy="374698"/>
          </a:xfrm>
        </p:grpSpPr>
        <p:sp>
          <p:nvSpPr>
            <p:cNvPr id="55" name="TextBox 54">
              <a:extLst>
                <a:ext uri="{FF2B5EF4-FFF2-40B4-BE49-F238E27FC236}">
                  <a16:creationId xmlns:a16="http://schemas.microsoft.com/office/drawing/2014/main" id="{5472E9F1-02EF-4BA6-2165-0862631F32E5}"/>
                </a:ext>
              </a:extLst>
            </p:cNvPr>
            <p:cNvSpPr txBox="1"/>
            <p:nvPr/>
          </p:nvSpPr>
          <p:spPr>
            <a:xfrm>
              <a:off x="1246482" y="3766124"/>
              <a:ext cx="2410532" cy="307777"/>
            </a:xfrm>
            <a:prstGeom prst="rect">
              <a:avLst/>
            </a:prstGeom>
            <a:noFill/>
          </p:spPr>
          <p:txBody>
            <a:bodyPr wrap="none" rtlCol="0">
              <a:spAutoFit/>
            </a:bodyPr>
            <a:lstStyle/>
            <a:p>
              <a:r>
                <a:rPr lang="en-US" sz="1400" dirty="0">
                  <a:solidFill>
                    <a:srgbClr val="FF0000"/>
                  </a:solidFill>
                </a:rPr>
                <a:t>Peak Value of Triangular Signal</a:t>
              </a:r>
            </a:p>
          </p:txBody>
        </p:sp>
        <p:pic>
          <p:nvPicPr>
            <p:cNvPr id="68" name="Picture 67">
              <a:extLst>
                <a:ext uri="{FF2B5EF4-FFF2-40B4-BE49-F238E27FC236}">
                  <a16:creationId xmlns:a16="http://schemas.microsoft.com/office/drawing/2014/main" id="{A790E1AA-BDF4-BB22-4F41-6F3F1CA1CD1C}"/>
                </a:ext>
              </a:extLst>
            </p:cNvPr>
            <p:cNvPicPr>
              <a:picLocks noChangeAspect="1"/>
            </p:cNvPicPr>
            <p:nvPr/>
          </p:nvPicPr>
          <p:blipFill>
            <a:blip r:embed="rId8"/>
            <a:stretch>
              <a:fillRect/>
            </a:stretch>
          </p:blipFill>
          <p:spPr>
            <a:xfrm>
              <a:off x="293711" y="3699203"/>
              <a:ext cx="342900" cy="304800"/>
            </a:xfrm>
            <a:prstGeom prst="rect">
              <a:avLst/>
            </a:prstGeom>
          </p:spPr>
        </p:pic>
        <p:sp>
          <p:nvSpPr>
            <p:cNvPr id="69" name="Right Arrow 68">
              <a:extLst>
                <a:ext uri="{FF2B5EF4-FFF2-40B4-BE49-F238E27FC236}">
                  <a16:creationId xmlns:a16="http://schemas.microsoft.com/office/drawing/2014/main" id="{099B512A-1789-C512-F833-A6694F043185}"/>
                </a:ext>
              </a:extLst>
            </p:cNvPr>
            <p:cNvSpPr/>
            <p:nvPr/>
          </p:nvSpPr>
          <p:spPr>
            <a:xfrm>
              <a:off x="913078" y="3779759"/>
              <a:ext cx="309626" cy="2331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5" name="Group 84">
            <a:extLst>
              <a:ext uri="{FF2B5EF4-FFF2-40B4-BE49-F238E27FC236}">
                <a16:creationId xmlns:a16="http://schemas.microsoft.com/office/drawing/2014/main" id="{362BC333-E0B4-39D8-558F-16C953DEA315}"/>
              </a:ext>
            </a:extLst>
          </p:cNvPr>
          <p:cNvGrpSpPr/>
          <p:nvPr/>
        </p:nvGrpSpPr>
        <p:grpSpPr>
          <a:xfrm>
            <a:off x="476948" y="5455939"/>
            <a:ext cx="3175833" cy="523220"/>
            <a:chOff x="476948" y="5455939"/>
            <a:chExt cx="3175833" cy="523220"/>
          </a:xfrm>
        </p:grpSpPr>
        <p:pic>
          <p:nvPicPr>
            <p:cNvPr id="72" name="Picture 71">
              <a:extLst>
                <a:ext uri="{FF2B5EF4-FFF2-40B4-BE49-F238E27FC236}">
                  <a16:creationId xmlns:a16="http://schemas.microsoft.com/office/drawing/2014/main" id="{D5E291CD-D0BD-E8E6-4256-C6E12E12A2B2}"/>
                </a:ext>
              </a:extLst>
            </p:cNvPr>
            <p:cNvPicPr>
              <a:picLocks noChangeAspect="1"/>
            </p:cNvPicPr>
            <p:nvPr/>
          </p:nvPicPr>
          <p:blipFill>
            <a:blip r:embed="rId9"/>
            <a:stretch>
              <a:fillRect/>
            </a:stretch>
          </p:blipFill>
          <p:spPr>
            <a:xfrm>
              <a:off x="476948" y="5533385"/>
              <a:ext cx="222116" cy="253847"/>
            </a:xfrm>
            <a:prstGeom prst="rect">
              <a:avLst/>
            </a:prstGeom>
          </p:spPr>
        </p:pic>
        <p:sp>
          <p:nvSpPr>
            <p:cNvPr id="74" name="Right Arrow 73">
              <a:extLst>
                <a:ext uri="{FF2B5EF4-FFF2-40B4-BE49-F238E27FC236}">
                  <a16:creationId xmlns:a16="http://schemas.microsoft.com/office/drawing/2014/main" id="{72A44215-42AD-A7D8-BB80-AFF731D890F1}"/>
                </a:ext>
              </a:extLst>
            </p:cNvPr>
            <p:cNvSpPr/>
            <p:nvPr/>
          </p:nvSpPr>
          <p:spPr>
            <a:xfrm>
              <a:off x="832731" y="5557043"/>
              <a:ext cx="309626" cy="2331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TextBox 74">
              <a:extLst>
                <a:ext uri="{FF2B5EF4-FFF2-40B4-BE49-F238E27FC236}">
                  <a16:creationId xmlns:a16="http://schemas.microsoft.com/office/drawing/2014/main" id="{CCFF7803-3E89-795C-C556-E425ECAD92DC}"/>
                </a:ext>
              </a:extLst>
            </p:cNvPr>
            <p:cNvSpPr txBox="1"/>
            <p:nvPr/>
          </p:nvSpPr>
          <p:spPr>
            <a:xfrm>
              <a:off x="1201982" y="5455939"/>
              <a:ext cx="2450799" cy="523220"/>
            </a:xfrm>
            <a:prstGeom prst="rect">
              <a:avLst/>
            </a:prstGeom>
            <a:noFill/>
          </p:spPr>
          <p:txBody>
            <a:bodyPr wrap="none" rtlCol="0">
              <a:spAutoFit/>
            </a:bodyPr>
            <a:lstStyle/>
            <a:p>
              <a:r>
                <a:rPr lang="en-US" sz="1400" dirty="0">
                  <a:solidFill>
                    <a:srgbClr val="FF0000"/>
                  </a:solidFill>
                </a:rPr>
                <a:t>Frequency of triangular signal</a:t>
              </a:r>
            </a:p>
            <a:p>
              <a:r>
                <a:rPr lang="en-US" sz="1400" dirty="0">
                  <a:solidFill>
                    <a:srgbClr val="FF0000"/>
                  </a:solidFill>
                </a:rPr>
                <a:t>also called switching frequency</a:t>
              </a:r>
            </a:p>
          </p:txBody>
        </p:sp>
      </p:grpSp>
      <p:grpSp>
        <p:nvGrpSpPr>
          <p:cNvPr id="86" name="Group 85">
            <a:extLst>
              <a:ext uri="{FF2B5EF4-FFF2-40B4-BE49-F238E27FC236}">
                <a16:creationId xmlns:a16="http://schemas.microsoft.com/office/drawing/2014/main" id="{4AFF4A4E-55A9-96CA-56B0-2A7DE5C84555}"/>
              </a:ext>
            </a:extLst>
          </p:cNvPr>
          <p:cNvGrpSpPr/>
          <p:nvPr/>
        </p:nvGrpSpPr>
        <p:grpSpPr>
          <a:xfrm>
            <a:off x="453692" y="6049815"/>
            <a:ext cx="3734557" cy="523220"/>
            <a:chOff x="453692" y="6049815"/>
            <a:chExt cx="3734557" cy="523220"/>
          </a:xfrm>
        </p:grpSpPr>
        <p:pic>
          <p:nvPicPr>
            <p:cNvPr id="73" name="Picture 72">
              <a:extLst>
                <a:ext uri="{FF2B5EF4-FFF2-40B4-BE49-F238E27FC236}">
                  <a16:creationId xmlns:a16="http://schemas.microsoft.com/office/drawing/2014/main" id="{11B7CA90-36B4-96F4-9BCE-6F5910C08461}"/>
                </a:ext>
              </a:extLst>
            </p:cNvPr>
            <p:cNvPicPr>
              <a:picLocks noChangeAspect="1"/>
            </p:cNvPicPr>
            <p:nvPr/>
          </p:nvPicPr>
          <p:blipFill>
            <a:blip r:embed="rId10"/>
            <a:stretch>
              <a:fillRect/>
            </a:stretch>
          </p:blipFill>
          <p:spPr>
            <a:xfrm>
              <a:off x="453692" y="6177064"/>
              <a:ext cx="244328" cy="279232"/>
            </a:xfrm>
            <a:prstGeom prst="rect">
              <a:avLst/>
            </a:prstGeom>
          </p:spPr>
        </p:pic>
        <p:sp>
          <p:nvSpPr>
            <p:cNvPr id="76" name="Right Arrow 75">
              <a:extLst>
                <a:ext uri="{FF2B5EF4-FFF2-40B4-BE49-F238E27FC236}">
                  <a16:creationId xmlns:a16="http://schemas.microsoft.com/office/drawing/2014/main" id="{F7C4A4A0-0D7A-E155-7D03-B0FEA35DCF9E}"/>
                </a:ext>
              </a:extLst>
            </p:cNvPr>
            <p:cNvSpPr/>
            <p:nvPr/>
          </p:nvSpPr>
          <p:spPr>
            <a:xfrm>
              <a:off x="832731" y="6182820"/>
              <a:ext cx="309626" cy="2331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TextBox 76">
              <a:extLst>
                <a:ext uri="{FF2B5EF4-FFF2-40B4-BE49-F238E27FC236}">
                  <a16:creationId xmlns:a16="http://schemas.microsoft.com/office/drawing/2014/main" id="{7ADAB367-0260-1D42-EA11-3A766E0A7C2C}"/>
                </a:ext>
              </a:extLst>
            </p:cNvPr>
            <p:cNvSpPr txBox="1"/>
            <p:nvPr/>
          </p:nvSpPr>
          <p:spPr>
            <a:xfrm>
              <a:off x="1201982" y="6049815"/>
              <a:ext cx="2986267" cy="523220"/>
            </a:xfrm>
            <a:prstGeom prst="rect">
              <a:avLst/>
            </a:prstGeom>
            <a:noFill/>
          </p:spPr>
          <p:txBody>
            <a:bodyPr wrap="none" rtlCol="0">
              <a:spAutoFit/>
            </a:bodyPr>
            <a:lstStyle/>
            <a:p>
              <a:r>
                <a:rPr lang="en-US" sz="1400" dirty="0">
                  <a:solidFill>
                    <a:srgbClr val="FF0000"/>
                  </a:solidFill>
                </a:rPr>
                <a:t>Frequency of control signal also</a:t>
              </a:r>
            </a:p>
            <a:p>
              <a:r>
                <a:rPr lang="en-US" sz="1400" dirty="0">
                  <a:solidFill>
                    <a:srgbClr val="FF0000"/>
                  </a:solidFill>
                </a:rPr>
                <a:t>called desired fundamental frequency </a:t>
              </a:r>
            </a:p>
          </p:txBody>
        </p:sp>
      </p:grpSp>
      <p:cxnSp>
        <p:nvCxnSpPr>
          <p:cNvPr id="78" name="Straight Arrow Connector 77">
            <a:extLst>
              <a:ext uri="{FF2B5EF4-FFF2-40B4-BE49-F238E27FC236}">
                <a16:creationId xmlns:a16="http://schemas.microsoft.com/office/drawing/2014/main" id="{627E2AED-5A22-7DF4-9F07-C17F46E33A60}"/>
              </a:ext>
            </a:extLst>
          </p:cNvPr>
          <p:cNvCxnSpPr>
            <a:cxnSpLocks/>
          </p:cNvCxnSpPr>
          <p:nvPr/>
        </p:nvCxnSpPr>
        <p:spPr>
          <a:xfrm flipV="1">
            <a:off x="1142357" y="3371028"/>
            <a:ext cx="4652387" cy="2292653"/>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48157AEB-5C83-A52B-B499-744D0FC44754}"/>
              </a:ext>
            </a:extLst>
          </p:cNvPr>
          <p:cNvCxnSpPr>
            <a:cxnSpLocks/>
          </p:cNvCxnSpPr>
          <p:nvPr/>
        </p:nvCxnSpPr>
        <p:spPr>
          <a:xfrm flipV="1">
            <a:off x="1200938" y="3848133"/>
            <a:ext cx="4846864" cy="2456381"/>
          </a:xfrm>
          <a:prstGeom prst="straightConnector1">
            <a:avLst/>
          </a:prstGeom>
          <a:ln w="19050">
            <a:solidFill>
              <a:srgbClr val="7030A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4023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
                                            <p:txEl>
                                              <p:pRg st="1" end="1"/>
                                            </p:txEl>
                                          </p:spTgt>
                                        </p:tgtEl>
                                        <p:attrNameLst>
                                          <p:attrName>style.visibility</p:attrName>
                                        </p:attrNameLst>
                                      </p:cBhvr>
                                      <p:to>
                                        <p:strVal val="visible"/>
                                      </p:to>
                                    </p:set>
                                    <p:anim calcmode="lin" valueType="num">
                                      <p:cBhvr additive="base">
                                        <p:cTn id="7" dur="500" fill="hold"/>
                                        <p:tgtEl>
                                          <p:spTgt spid="1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7">
                                            <p:txEl>
                                              <p:pRg st="2" end="2"/>
                                            </p:txEl>
                                          </p:spTgt>
                                        </p:tgtEl>
                                        <p:attrNameLst>
                                          <p:attrName>style.visibility</p:attrName>
                                        </p:attrNameLst>
                                      </p:cBhvr>
                                      <p:to>
                                        <p:strVal val="visible"/>
                                      </p:to>
                                    </p:set>
                                    <p:anim calcmode="lin" valueType="num">
                                      <p:cBhvr additive="base">
                                        <p:cTn id="13" dur="500" fill="hold"/>
                                        <p:tgtEl>
                                          <p:spTgt spid="17">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8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8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8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78"/>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animBg="1"/>
      <p:bldP spid="70"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 name="Group 41">
            <a:extLst>
              <a:ext uri="{FF2B5EF4-FFF2-40B4-BE49-F238E27FC236}">
                <a16:creationId xmlns:a16="http://schemas.microsoft.com/office/drawing/2014/main" id="{859D4BEA-ACDA-D76A-5D44-F71457DB5D5A}"/>
              </a:ext>
            </a:extLst>
          </p:cNvPr>
          <p:cNvGrpSpPr/>
          <p:nvPr/>
        </p:nvGrpSpPr>
        <p:grpSpPr>
          <a:xfrm>
            <a:off x="1388139" y="3675369"/>
            <a:ext cx="6313091" cy="2557184"/>
            <a:chOff x="1388139" y="3675369"/>
            <a:chExt cx="6313091" cy="2557184"/>
          </a:xfrm>
        </p:grpSpPr>
        <p:grpSp>
          <p:nvGrpSpPr>
            <p:cNvPr id="31" name="Group 30">
              <a:extLst>
                <a:ext uri="{FF2B5EF4-FFF2-40B4-BE49-F238E27FC236}">
                  <a16:creationId xmlns:a16="http://schemas.microsoft.com/office/drawing/2014/main" id="{7A36C2D0-AE44-D388-C750-B786CA61B331}"/>
                </a:ext>
              </a:extLst>
            </p:cNvPr>
            <p:cNvGrpSpPr/>
            <p:nvPr/>
          </p:nvGrpSpPr>
          <p:grpSpPr>
            <a:xfrm>
              <a:off x="1442770" y="4077560"/>
              <a:ext cx="6258460" cy="2154993"/>
              <a:chOff x="1389050" y="4577399"/>
              <a:chExt cx="6258460" cy="2154993"/>
            </a:xfrm>
          </p:grpSpPr>
          <p:pic>
            <p:nvPicPr>
              <p:cNvPr id="29" name="Picture 28">
                <a:extLst>
                  <a:ext uri="{FF2B5EF4-FFF2-40B4-BE49-F238E27FC236}">
                    <a16:creationId xmlns:a16="http://schemas.microsoft.com/office/drawing/2014/main" id="{472A0998-CF3F-08CE-9EBC-276A3FACDFD9}"/>
                  </a:ext>
                </a:extLst>
              </p:cNvPr>
              <p:cNvPicPr>
                <a:picLocks noChangeAspect="1"/>
              </p:cNvPicPr>
              <p:nvPr/>
            </p:nvPicPr>
            <p:blipFill>
              <a:blip r:embed="rId3"/>
              <a:stretch>
                <a:fillRect/>
              </a:stretch>
            </p:blipFill>
            <p:spPr>
              <a:xfrm>
                <a:off x="1389050" y="4577399"/>
                <a:ext cx="6258460" cy="2154993"/>
              </a:xfrm>
              <a:prstGeom prst="rect">
                <a:avLst/>
              </a:prstGeom>
            </p:spPr>
          </p:pic>
          <p:sp>
            <p:nvSpPr>
              <p:cNvPr id="30" name="Rectangle 29">
                <a:extLst>
                  <a:ext uri="{FF2B5EF4-FFF2-40B4-BE49-F238E27FC236}">
                    <a16:creationId xmlns:a16="http://schemas.microsoft.com/office/drawing/2014/main" id="{BFEC451E-E8D2-0404-E6C1-297A022FD38A}"/>
                  </a:ext>
                </a:extLst>
              </p:cNvPr>
              <p:cNvSpPr/>
              <p:nvPr/>
            </p:nvSpPr>
            <p:spPr>
              <a:xfrm>
                <a:off x="4240198" y="5091597"/>
                <a:ext cx="1246202" cy="24796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9595D5BF-29FE-CA53-1234-285A3ED0C563}"/>
                </a:ext>
              </a:extLst>
            </p:cNvPr>
            <p:cNvGrpSpPr/>
            <p:nvPr/>
          </p:nvGrpSpPr>
          <p:grpSpPr>
            <a:xfrm>
              <a:off x="1388139" y="3699460"/>
              <a:ext cx="373395" cy="508129"/>
              <a:chOff x="510315" y="4035187"/>
              <a:chExt cx="373395" cy="508129"/>
            </a:xfrm>
          </p:grpSpPr>
          <p:grpSp>
            <p:nvGrpSpPr>
              <p:cNvPr id="15" name="Group 14">
                <a:extLst>
                  <a:ext uri="{FF2B5EF4-FFF2-40B4-BE49-F238E27FC236}">
                    <a16:creationId xmlns:a16="http://schemas.microsoft.com/office/drawing/2014/main" id="{CAA13DBB-20E7-A5A4-9299-E3400A9F7C73}"/>
                  </a:ext>
                </a:extLst>
              </p:cNvPr>
              <p:cNvGrpSpPr/>
              <p:nvPr/>
            </p:nvGrpSpPr>
            <p:grpSpPr>
              <a:xfrm>
                <a:off x="510315" y="4035187"/>
                <a:ext cx="373395" cy="231130"/>
                <a:chOff x="3789965" y="3501305"/>
                <a:chExt cx="468725" cy="320840"/>
              </a:xfrm>
            </p:grpSpPr>
            <p:pic>
              <p:nvPicPr>
                <p:cNvPr id="23" name="Picture 22">
                  <a:extLst>
                    <a:ext uri="{FF2B5EF4-FFF2-40B4-BE49-F238E27FC236}">
                      <a16:creationId xmlns:a16="http://schemas.microsoft.com/office/drawing/2014/main" id="{7C08D27C-8DD0-5D88-B183-16EE0A4D216F}"/>
                    </a:ext>
                  </a:extLst>
                </p:cNvPr>
                <p:cNvPicPr>
                  <a:picLocks noChangeAspect="1"/>
                </p:cNvPicPr>
                <p:nvPr/>
              </p:nvPicPr>
              <p:blipFill>
                <a:blip r:embed="rId4"/>
                <a:stretch>
                  <a:fillRect/>
                </a:stretch>
              </p:blipFill>
              <p:spPr>
                <a:xfrm>
                  <a:off x="3799109" y="3501305"/>
                  <a:ext cx="459581" cy="320840"/>
                </a:xfrm>
                <a:prstGeom prst="rect">
                  <a:avLst/>
                </a:prstGeom>
              </p:spPr>
            </p:pic>
            <p:cxnSp>
              <p:nvCxnSpPr>
                <p:cNvPr id="25" name="Straight Connector 24">
                  <a:extLst>
                    <a:ext uri="{FF2B5EF4-FFF2-40B4-BE49-F238E27FC236}">
                      <a16:creationId xmlns:a16="http://schemas.microsoft.com/office/drawing/2014/main" id="{F038BE1D-E98A-2E85-2CFD-D2991010FFC6}"/>
                    </a:ext>
                  </a:extLst>
                </p:cNvPr>
                <p:cNvCxnSpPr/>
                <p:nvPr/>
              </p:nvCxnSpPr>
              <p:spPr>
                <a:xfrm>
                  <a:off x="3789965" y="3803857"/>
                  <a:ext cx="45958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3607949-9568-67BC-2F06-375B666B97A1}"/>
                      </a:ext>
                    </a:extLst>
                  </p:cNvPr>
                  <p:cNvSpPr txBox="1"/>
                  <p:nvPr/>
                </p:nvSpPr>
                <p:spPr>
                  <a:xfrm>
                    <a:off x="564946" y="4266317"/>
                    <a:ext cx="253006" cy="276999"/>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200" b="1" i="1" smtClean="0">
                                  <a:solidFill>
                                    <a:schemeClr val="tx1"/>
                                  </a:solidFill>
                                  <a:latin typeface="Cambria Math" panose="02040503050406030204" pitchFamily="18" charset="0"/>
                                </a:rPr>
                              </m:ctrlPr>
                            </m:sSubPr>
                            <m:e>
                              <m:r>
                                <a:rPr lang="en-GB" sz="1200" b="1" i="1" smtClean="0">
                                  <a:solidFill>
                                    <a:schemeClr val="tx1"/>
                                  </a:solidFill>
                                  <a:latin typeface="Cambria Math" panose="02040503050406030204" pitchFamily="18" charset="0"/>
                                </a:rPr>
                                <m:t>𝑽</m:t>
                              </m:r>
                            </m:e>
                            <m:sub>
                              <m:r>
                                <a:rPr lang="en-GB" sz="1200" b="1" i="1" smtClean="0">
                                  <a:solidFill>
                                    <a:schemeClr val="tx1"/>
                                  </a:solidFill>
                                  <a:latin typeface="Cambria Math" panose="02040503050406030204" pitchFamily="18" charset="0"/>
                                </a:rPr>
                                <m:t>𝒅𝒄</m:t>
                              </m:r>
                            </m:sub>
                          </m:sSub>
                        </m:oMath>
                      </m:oMathPara>
                    </a14:m>
                    <a:endParaRPr lang="en-US" sz="1200" b="1" dirty="0"/>
                  </a:p>
                </p:txBody>
              </p:sp>
            </mc:Choice>
            <mc:Fallback xmlns="">
              <p:sp>
                <p:nvSpPr>
                  <p:cNvPr id="18" name="TextBox 17">
                    <a:extLst>
                      <a:ext uri="{FF2B5EF4-FFF2-40B4-BE49-F238E27FC236}">
                        <a16:creationId xmlns:a16="http://schemas.microsoft.com/office/drawing/2014/main" id="{43607949-9568-67BC-2F06-375B666B97A1}"/>
                      </a:ext>
                    </a:extLst>
                  </p:cNvPr>
                  <p:cNvSpPr txBox="1">
                    <a:spLocks noRot="1" noChangeAspect="1" noMove="1" noResize="1" noEditPoints="1" noAdjustHandles="1" noChangeArrowheads="1" noChangeShapeType="1" noTextEdit="1"/>
                  </p:cNvSpPr>
                  <p:nvPr/>
                </p:nvSpPr>
                <p:spPr>
                  <a:xfrm>
                    <a:off x="564946" y="4266317"/>
                    <a:ext cx="253006" cy="276999"/>
                  </a:xfrm>
                  <a:prstGeom prst="rect">
                    <a:avLst/>
                  </a:prstGeom>
                  <a:blipFill>
                    <a:blip r:embed="rId5"/>
                    <a:stretch>
                      <a:fillRect r="-39535"/>
                    </a:stretch>
                  </a:blipFill>
                  <a:ln>
                    <a:solidFill>
                      <a:schemeClr val="bg1"/>
                    </a:solidFill>
                  </a:ln>
                </p:spPr>
                <p:txBody>
                  <a:bodyPr/>
                  <a:lstStyle/>
                  <a:p>
                    <a:r>
                      <a:rPr lang="en-GB">
                        <a:noFill/>
                      </a:rPr>
                      <a:t> </a:t>
                    </a:r>
                  </a:p>
                </p:txBody>
              </p:sp>
            </mc:Fallback>
          </mc:AlternateContent>
        </p:grpSp>
        <p:pic>
          <p:nvPicPr>
            <p:cNvPr id="38" name="Picture 37">
              <a:extLst>
                <a:ext uri="{FF2B5EF4-FFF2-40B4-BE49-F238E27FC236}">
                  <a16:creationId xmlns:a16="http://schemas.microsoft.com/office/drawing/2014/main" id="{2CF7E09A-3773-D9E1-2184-539B47486EC8}"/>
                </a:ext>
              </a:extLst>
            </p:cNvPr>
            <p:cNvPicPr>
              <a:picLocks noChangeAspect="1"/>
            </p:cNvPicPr>
            <p:nvPr/>
          </p:nvPicPr>
          <p:blipFill>
            <a:blip r:embed="rId6"/>
            <a:stretch>
              <a:fillRect/>
            </a:stretch>
          </p:blipFill>
          <p:spPr>
            <a:xfrm>
              <a:off x="3498528" y="3675369"/>
              <a:ext cx="857370" cy="447737"/>
            </a:xfrm>
            <a:prstGeom prst="rect">
              <a:avLst/>
            </a:prstGeom>
          </p:spPr>
        </p:pic>
      </p:grpSp>
      <p:grpSp>
        <p:nvGrpSpPr>
          <p:cNvPr id="41" name="Group 40">
            <a:extLst>
              <a:ext uri="{FF2B5EF4-FFF2-40B4-BE49-F238E27FC236}">
                <a16:creationId xmlns:a16="http://schemas.microsoft.com/office/drawing/2014/main" id="{ED8571F2-2745-7D8C-7D75-75BC2D5307C7}"/>
              </a:ext>
            </a:extLst>
          </p:cNvPr>
          <p:cNvGrpSpPr/>
          <p:nvPr/>
        </p:nvGrpSpPr>
        <p:grpSpPr>
          <a:xfrm>
            <a:off x="1957095" y="4212746"/>
            <a:ext cx="1258907" cy="483676"/>
            <a:chOff x="1957095" y="4212746"/>
            <a:chExt cx="1258907" cy="483676"/>
          </a:xfrm>
        </p:grpSpPr>
        <p:cxnSp>
          <p:nvCxnSpPr>
            <p:cNvPr id="9" name="Straight Arrow Connector 8">
              <a:extLst>
                <a:ext uri="{FF2B5EF4-FFF2-40B4-BE49-F238E27FC236}">
                  <a16:creationId xmlns:a16="http://schemas.microsoft.com/office/drawing/2014/main" id="{40F2FB74-8B33-1928-D475-F04E882DA220}"/>
                </a:ext>
              </a:extLst>
            </p:cNvPr>
            <p:cNvCxnSpPr>
              <a:cxnSpLocks/>
            </p:cNvCxnSpPr>
            <p:nvPr/>
          </p:nvCxnSpPr>
          <p:spPr>
            <a:xfrm flipV="1">
              <a:off x="1957095" y="4592643"/>
              <a:ext cx="218397" cy="10377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F8B75712-5618-3B15-3146-78B8131246D5}"/>
                </a:ext>
              </a:extLst>
            </p:cNvPr>
            <p:cNvGrpSpPr/>
            <p:nvPr/>
          </p:nvGrpSpPr>
          <p:grpSpPr>
            <a:xfrm>
              <a:off x="2169766" y="4212746"/>
              <a:ext cx="1046236" cy="379012"/>
              <a:chOff x="2244223" y="4048581"/>
              <a:chExt cx="1046236" cy="379012"/>
            </a:xfrm>
          </p:grpSpPr>
          <p:pic>
            <p:nvPicPr>
              <p:cNvPr id="12" name="Picture 11">
                <a:extLst>
                  <a:ext uri="{FF2B5EF4-FFF2-40B4-BE49-F238E27FC236}">
                    <a16:creationId xmlns:a16="http://schemas.microsoft.com/office/drawing/2014/main" id="{D4E4CD7F-FE82-27DA-4F07-4A6B6851CB1A}"/>
                  </a:ext>
                </a:extLst>
              </p:cNvPr>
              <p:cNvPicPr>
                <a:picLocks noChangeAspect="1"/>
              </p:cNvPicPr>
              <p:nvPr/>
            </p:nvPicPr>
            <p:blipFill>
              <a:blip r:embed="rId7"/>
              <a:stretch>
                <a:fillRect/>
              </a:stretch>
            </p:blipFill>
            <p:spPr>
              <a:xfrm>
                <a:off x="2244223" y="4048581"/>
                <a:ext cx="1013638" cy="379012"/>
              </a:xfrm>
              <a:prstGeom prst="rect">
                <a:avLst/>
              </a:prstGeom>
            </p:spPr>
          </p:pic>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13FB6AC0-BE5A-C2B2-4E86-CFE0BE33FD3B}"/>
                      </a:ext>
                    </a:extLst>
                  </p:cNvPr>
                  <p:cNvSpPr txBox="1"/>
                  <p:nvPr/>
                </p:nvSpPr>
                <p:spPr>
                  <a:xfrm>
                    <a:off x="2692884" y="4099587"/>
                    <a:ext cx="597575" cy="276999"/>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200" b="1" i="1" smtClean="0">
                                  <a:solidFill>
                                    <a:schemeClr val="tx1"/>
                                  </a:solidFill>
                                  <a:latin typeface="Cambria Math" panose="02040503050406030204" pitchFamily="18" charset="0"/>
                                </a:rPr>
                              </m:ctrlPr>
                            </m:sSubPr>
                            <m:e>
                              <m:sSub>
                                <m:sSubPr>
                                  <m:ctrlPr>
                                    <a:rPr lang="en-US" sz="1200" b="1" i="1">
                                      <a:latin typeface="Cambria Math" panose="02040503050406030204" pitchFamily="18" charset="0"/>
                                    </a:rPr>
                                  </m:ctrlPr>
                                </m:sSubPr>
                                <m:e>
                                  <m:r>
                                    <a:rPr lang="en-GB" sz="1200" b="1" i="1" smtClean="0">
                                      <a:latin typeface="Cambria Math" panose="02040503050406030204" pitchFamily="18" charset="0"/>
                                    </a:rPr>
                                    <m:t>𝒎</m:t>
                                  </m:r>
                                </m:e>
                                <m:sub>
                                  <m:r>
                                    <a:rPr lang="en-GB" sz="1200" b="1" i="1" smtClean="0">
                                      <a:latin typeface="Cambria Math" panose="02040503050406030204" pitchFamily="18" charset="0"/>
                                    </a:rPr>
                                    <m:t>𝒂</m:t>
                                  </m:r>
                                </m:sub>
                              </m:sSub>
                              <m:r>
                                <m:rPr>
                                  <m:nor/>
                                </m:rPr>
                                <a:rPr lang="en-US" sz="1200" b="1" dirty="0"/>
                                <m:t> </m:t>
                              </m:r>
                              <m:r>
                                <a:rPr lang="en-GB" sz="1200" b="1" i="1" smtClean="0">
                                  <a:solidFill>
                                    <a:schemeClr val="tx1"/>
                                  </a:solidFill>
                                  <a:latin typeface="Cambria Math" panose="02040503050406030204" pitchFamily="18" charset="0"/>
                                </a:rPr>
                                <m:t>𝑽</m:t>
                              </m:r>
                            </m:e>
                            <m:sub>
                              <m:r>
                                <a:rPr lang="en-GB" sz="1200" b="1" i="1" smtClean="0">
                                  <a:solidFill>
                                    <a:schemeClr val="tx1"/>
                                  </a:solidFill>
                                  <a:latin typeface="Cambria Math" panose="02040503050406030204" pitchFamily="18" charset="0"/>
                                </a:rPr>
                                <m:t>𝒅𝒄</m:t>
                              </m:r>
                            </m:sub>
                          </m:sSub>
                        </m:oMath>
                      </m:oMathPara>
                    </a14:m>
                    <a:endParaRPr lang="en-US" sz="1200" b="1" dirty="0"/>
                  </a:p>
                </p:txBody>
              </p:sp>
            </mc:Choice>
            <mc:Fallback xmlns="">
              <p:sp>
                <p:nvSpPr>
                  <p:cNvPr id="20" name="TextBox 19">
                    <a:extLst>
                      <a:ext uri="{FF2B5EF4-FFF2-40B4-BE49-F238E27FC236}">
                        <a16:creationId xmlns:a16="http://schemas.microsoft.com/office/drawing/2014/main" id="{13FB6AC0-BE5A-C2B2-4E86-CFE0BE33FD3B}"/>
                      </a:ext>
                    </a:extLst>
                  </p:cNvPr>
                  <p:cNvSpPr txBox="1">
                    <a:spLocks noRot="1" noChangeAspect="1" noMove="1" noResize="1" noEditPoints="1" noAdjustHandles="1" noChangeArrowheads="1" noChangeShapeType="1" noTextEdit="1"/>
                  </p:cNvSpPr>
                  <p:nvPr/>
                </p:nvSpPr>
                <p:spPr>
                  <a:xfrm>
                    <a:off x="2692884" y="4099587"/>
                    <a:ext cx="597575" cy="276999"/>
                  </a:xfrm>
                  <a:prstGeom prst="rect">
                    <a:avLst/>
                  </a:prstGeom>
                  <a:blipFill>
                    <a:blip r:embed="rId8"/>
                    <a:stretch>
                      <a:fillRect r="-2000"/>
                    </a:stretch>
                  </a:blipFill>
                  <a:ln>
                    <a:solidFill>
                      <a:schemeClr val="bg1"/>
                    </a:solidFill>
                  </a:ln>
                </p:spPr>
                <p:txBody>
                  <a:bodyPr/>
                  <a:lstStyle/>
                  <a:p>
                    <a:r>
                      <a:rPr lang="en-GB">
                        <a:noFill/>
                      </a:rPr>
                      <a:t> </a:t>
                    </a:r>
                  </a:p>
                </p:txBody>
              </p:sp>
            </mc:Fallback>
          </mc:AlternateContent>
        </p:grpSp>
      </p:grpSp>
      <p:sp>
        <p:nvSpPr>
          <p:cNvPr id="2" name="Title 1">
            <a:extLst>
              <a:ext uri="{FF2B5EF4-FFF2-40B4-BE49-F238E27FC236}">
                <a16:creationId xmlns:a16="http://schemas.microsoft.com/office/drawing/2014/main" id="{83CDAB49-4E83-D5C9-EF6D-0F2CE1E6855E}"/>
              </a:ext>
            </a:extLst>
          </p:cNvPr>
          <p:cNvSpPr>
            <a:spLocks noGrp="1"/>
          </p:cNvSpPr>
          <p:nvPr>
            <p:ph type="title"/>
          </p:nvPr>
        </p:nvSpPr>
        <p:spPr>
          <a:xfrm>
            <a:off x="156156" y="44712"/>
            <a:ext cx="7886700" cy="721053"/>
          </a:xfrm>
        </p:spPr>
        <p:txBody>
          <a:bodyPr/>
          <a:lstStyle/>
          <a:p>
            <a:r>
              <a:rPr lang="en-US" dirty="0"/>
              <a:t>Harmonics</a:t>
            </a:r>
          </a:p>
        </p:txBody>
      </p:sp>
      <p:sp>
        <p:nvSpPr>
          <p:cNvPr id="17" name="Title 1">
            <a:extLst>
              <a:ext uri="{FF2B5EF4-FFF2-40B4-BE49-F238E27FC236}">
                <a16:creationId xmlns:a16="http://schemas.microsoft.com/office/drawing/2014/main" id="{4100A584-C9BA-C39F-A4D3-ABF895CCF570}"/>
              </a:ext>
            </a:extLst>
          </p:cNvPr>
          <p:cNvSpPr txBox="1">
            <a:spLocks/>
          </p:cNvSpPr>
          <p:nvPr/>
        </p:nvSpPr>
        <p:spPr>
          <a:xfrm>
            <a:off x="156156" y="619132"/>
            <a:ext cx="8851933" cy="442877"/>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Tx/>
              <a:buChar char="-"/>
            </a:pPr>
            <a:r>
              <a:rPr lang="en-US" sz="2800" b="1" dirty="0"/>
              <a:t>Harmonics in PWM Switching (Bipolar)</a:t>
            </a:r>
          </a:p>
        </p:txBody>
      </p:sp>
      <p:grpSp>
        <p:nvGrpSpPr>
          <p:cNvPr id="4" name="Group 3">
            <a:extLst>
              <a:ext uri="{FF2B5EF4-FFF2-40B4-BE49-F238E27FC236}">
                <a16:creationId xmlns:a16="http://schemas.microsoft.com/office/drawing/2014/main" id="{FDBAE6ED-CBA4-A427-7914-FA2A0DC3DAB6}"/>
              </a:ext>
            </a:extLst>
          </p:cNvPr>
          <p:cNvGrpSpPr/>
          <p:nvPr/>
        </p:nvGrpSpPr>
        <p:grpSpPr>
          <a:xfrm>
            <a:off x="4363182" y="1060077"/>
            <a:ext cx="3939692" cy="2738292"/>
            <a:chOff x="1242496" y="2750376"/>
            <a:chExt cx="4394200" cy="3213100"/>
          </a:xfrm>
        </p:grpSpPr>
        <p:pic>
          <p:nvPicPr>
            <p:cNvPr id="5" name="Picture 4">
              <a:extLst>
                <a:ext uri="{FF2B5EF4-FFF2-40B4-BE49-F238E27FC236}">
                  <a16:creationId xmlns:a16="http://schemas.microsoft.com/office/drawing/2014/main" id="{EC29A5D7-3AB2-BF94-5037-8F058AA0B887}"/>
                </a:ext>
              </a:extLst>
            </p:cNvPr>
            <p:cNvPicPr>
              <a:picLocks noChangeAspect="1"/>
            </p:cNvPicPr>
            <p:nvPr/>
          </p:nvPicPr>
          <p:blipFill>
            <a:blip r:embed="rId9"/>
            <a:stretch>
              <a:fillRect/>
            </a:stretch>
          </p:blipFill>
          <p:spPr>
            <a:xfrm>
              <a:off x="1242496" y="2750376"/>
              <a:ext cx="4394200" cy="3213100"/>
            </a:xfrm>
            <a:prstGeom prst="rect">
              <a:avLst/>
            </a:prstGeom>
          </p:spPr>
        </p:pic>
        <p:sp>
          <p:nvSpPr>
            <p:cNvPr id="6" name="Rectangle 5">
              <a:extLst>
                <a:ext uri="{FF2B5EF4-FFF2-40B4-BE49-F238E27FC236}">
                  <a16:creationId xmlns:a16="http://schemas.microsoft.com/office/drawing/2014/main" id="{EF988CF3-08CF-DAA9-F653-48803897056B}"/>
                </a:ext>
              </a:extLst>
            </p:cNvPr>
            <p:cNvSpPr/>
            <p:nvPr/>
          </p:nvSpPr>
          <p:spPr>
            <a:xfrm>
              <a:off x="5072934" y="4631737"/>
              <a:ext cx="230586" cy="6079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9093A92B-A509-B85A-C96F-9A0B0232C244}"/>
                </a:ext>
              </a:extLst>
            </p:cNvPr>
            <p:cNvSpPr/>
            <p:nvPr/>
          </p:nvSpPr>
          <p:spPr>
            <a:xfrm>
              <a:off x="4998196" y="5308416"/>
              <a:ext cx="306911" cy="6079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1" name="Picture 10">
            <a:extLst>
              <a:ext uri="{FF2B5EF4-FFF2-40B4-BE49-F238E27FC236}">
                <a16:creationId xmlns:a16="http://schemas.microsoft.com/office/drawing/2014/main" id="{E7F1B8A5-771F-8729-E81F-946088A7FA5E}"/>
              </a:ext>
            </a:extLst>
          </p:cNvPr>
          <p:cNvPicPr>
            <a:picLocks noChangeAspect="1"/>
          </p:cNvPicPr>
          <p:nvPr/>
        </p:nvPicPr>
        <p:blipFill>
          <a:blip r:embed="rId10"/>
          <a:stretch>
            <a:fillRect/>
          </a:stretch>
        </p:blipFill>
        <p:spPr>
          <a:xfrm>
            <a:off x="2175492" y="5920744"/>
            <a:ext cx="774457" cy="683936"/>
          </a:xfrm>
          <a:prstGeom prst="rect">
            <a:avLst/>
          </a:prstGeom>
        </p:spPr>
      </p:pic>
      <p:sp>
        <p:nvSpPr>
          <p:cNvPr id="14" name="Rectangle 13">
            <a:extLst>
              <a:ext uri="{FF2B5EF4-FFF2-40B4-BE49-F238E27FC236}">
                <a16:creationId xmlns:a16="http://schemas.microsoft.com/office/drawing/2014/main" id="{DD1C0BF3-E4FF-21D6-CD19-92034372A04C}"/>
              </a:ext>
            </a:extLst>
          </p:cNvPr>
          <p:cNvSpPr/>
          <p:nvPr/>
        </p:nvSpPr>
        <p:spPr>
          <a:xfrm>
            <a:off x="4129091" y="4729960"/>
            <a:ext cx="1494469" cy="37252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D816DE18-F535-413C-5D9F-C2481368BC87}"/>
              </a:ext>
            </a:extLst>
          </p:cNvPr>
          <p:cNvPicPr>
            <a:picLocks noChangeAspect="1"/>
          </p:cNvPicPr>
          <p:nvPr/>
        </p:nvPicPr>
        <p:blipFill>
          <a:blip r:embed="rId11"/>
          <a:stretch>
            <a:fillRect/>
          </a:stretch>
        </p:blipFill>
        <p:spPr>
          <a:xfrm>
            <a:off x="5623560" y="6013863"/>
            <a:ext cx="582254" cy="590817"/>
          </a:xfrm>
          <a:prstGeom prst="rect">
            <a:avLst/>
          </a:prstGeom>
        </p:spPr>
      </p:pic>
      <p:pic>
        <p:nvPicPr>
          <p:cNvPr id="32" name="Picture 31">
            <a:extLst>
              <a:ext uri="{FF2B5EF4-FFF2-40B4-BE49-F238E27FC236}">
                <a16:creationId xmlns:a16="http://schemas.microsoft.com/office/drawing/2014/main" id="{6486E01A-D8AF-CD4B-A69B-E121B562DC23}"/>
              </a:ext>
            </a:extLst>
          </p:cNvPr>
          <p:cNvPicPr>
            <a:picLocks noChangeAspect="1"/>
          </p:cNvPicPr>
          <p:nvPr/>
        </p:nvPicPr>
        <p:blipFill>
          <a:blip r:embed="rId12"/>
          <a:stretch>
            <a:fillRect/>
          </a:stretch>
        </p:blipFill>
        <p:spPr>
          <a:xfrm>
            <a:off x="7423328" y="6011665"/>
            <a:ext cx="582254" cy="671832"/>
          </a:xfrm>
          <a:prstGeom prst="rect">
            <a:avLst/>
          </a:prstGeom>
        </p:spPr>
      </p:pic>
      <p:cxnSp>
        <p:nvCxnSpPr>
          <p:cNvPr id="16" name="Straight Arrow Connector 15">
            <a:extLst>
              <a:ext uri="{FF2B5EF4-FFF2-40B4-BE49-F238E27FC236}">
                <a16:creationId xmlns:a16="http://schemas.microsoft.com/office/drawing/2014/main" id="{A747D390-D1DC-35E4-F3D3-5FE6B554AE41}"/>
              </a:ext>
            </a:extLst>
          </p:cNvPr>
          <p:cNvCxnSpPr>
            <a:cxnSpLocks/>
          </p:cNvCxnSpPr>
          <p:nvPr/>
        </p:nvCxnSpPr>
        <p:spPr>
          <a:xfrm flipV="1">
            <a:off x="2778034" y="5826902"/>
            <a:ext cx="503917" cy="184763"/>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1" name="Left Brace 20">
            <a:extLst>
              <a:ext uri="{FF2B5EF4-FFF2-40B4-BE49-F238E27FC236}">
                <a16:creationId xmlns:a16="http://schemas.microsoft.com/office/drawing/2014/main" id="{05B6C40D-77B2-3D1E-A143-94272616190A}"/>
              </a:ext>
            </a:extLst>
          </p:cNvPr>
          <p:cNvSpPr/>
          <p:nvPr/>
        </p:nvSpPr>
        <p:spPr>
          <a:xfrm rot="16200000">
            <a:off x="3151127" y="5191676"/>
            <a:ext cx="261649" cy="1064805"/>
          </a:xfrm>
          <a:prstGeom prst="leftBrace">
            <a:avLst>
              <a:gd name="adj1" fmla="val 8333"/>
              <a:gd name="adj2" fmla="val 56812"/>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6" name="Left Brace 25">
            <a:extLst>
              <a:ext uri="{FF2B5EF4-FFF2-40B4-BE49-F238E27FC236}">
                <a16:creationId xmlns:a16="http://schemas.microsoft.com/office/drawing/2014/main" id="{9B305FD1-B19D-B77C-3DA1-8DAD9298E832}"/>
              </a:ext>
            </a:extLst>
          </p:cNvPr>
          <p:cNvSpPr/>
          <p:nvPr/>
        </p:nvSpPr>
        <p:spPr>
          <a:xfrm rot="16200000">
            <a:off x="4722176" y="5164841"/>
            <a:ext cx="211096" cy="1143180"/>
          </a:xfrm>
          <a:prstGeom prst="leftBrace">
            <a:avLst>
              <a:gd name="adj1" fmla="val 8333"/>
              <a:gd name="adj2" fmla="val 56812"/>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cxnSp>
        <p:nvCxnSpPr>
          <p:cNvPr id="27" name="Straight Arrow Connector 26">
            <a:extLst>
              <a:ext uri="{FF2B5EF4-FFF2-40B4-BE49-F238E27FC236}">
                <a16:creationId xmlns:a16="http://schemas.microsoft.com/office/drawing/2014/main" id="{6F3FD61C-37F2-20F9-D468-085A37AAA0F8}"/>
              </a:ext>
            </a:extLst>
          </p:cNvPr>
          <p:cNvCxnSpPr>
            <a:cxnSpLocks/>
            <a:stCxn id="13" idx="1"/>
          </p:cNvCxnSpPr>
          <p:nvPr/>
        </p:nvCxnSpPr>
        <p:spPr>
          <a:xfrm flipH="1" flipV="1">
            <a:off x="4917019" y="5919283"/>
            <a:ext cx="706541" cy="38998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8C3F696B-0FF3-5818-EAB2-371E7E094211}"/>
              </a:ext>
            </a:extLst>
          </p:cNvPr>
          <p:cNvCxnSpPr>
            <a:cxnSpLocks/>
          </p:cNvCxnSpPr>
          <p:nvPr/>
        </p:nvCxnSpPr>
        <p:spPr>
          <a:xfrm flipH="1" flipV="1">
            <a:off x="6765705" y="5949674"/>
            <a:ext cx="706541" cy="38998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6" name="Left Brace 35">
            <a:extLst>
              <a:ext uri="{FF2B5EF4-FFF2-40B4-BE49-F238E27FC236}">
                <a16:creationId xmlns:a16="http://schemas.microsoft.com/office/drawing/2014/main" id="{3F56F0F0-6D70-393D-0B4B-E6C1A6D0DD5C}"/>
              </a:ext>
            </a:extLst>
          </p:cNvPr>
          <p:cNvSpPr/>
          <p:nvPr/>
        </p:nvSpPr>
        <p:spPr>
          <a:xfrm rot="16200000">
            <a:off x="6489134" y="5050238"/>
            <a:ext cx="168799" cy="1431080"/>
          </a:xfrm>
          <a:prstGeom prst="leftBrace">
            <a:avLst>
              <a:gd name="adj1" fmla="val 8333"/>
              <a:gd name="adj2" fmla="val 56812"/>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pic>
        <p:nvPicPr>
          <p:cNvPr id="40" name="Picture 39">
            <a:extLst>
              <a:ext uri="{FF2B5EF4-FFF2-40B4-BE49-F238E27FC236}">
                <a16:creationId xmlns:a16="http://schemas.microsoft.com/office/drawing/2014/main" id="{EF4E0B8C-5A06-A93E-B6C1-C8C3DDF44814}"/>
              </a:ext>
            </a:extLst>
          </p:cNvPr>
          <p:cNvPicPr>
            <a:picLocks noChangeAspect="1"/>
          </p:cNvPicPr>
          <p:nvPr/>
        </p:nvPicPr>
        <p:blipFill>
          <a:blip r:embed="rId13"/>
          <a:stretch>
            <a:fillRect/>
          </a:stretch>
        </p:blipFill>
        <p:spPr>
          <a:xfrm>
            <a:off x="524351" y="983850"/>
            <a:ext cx="3133616" cy="2438611"/>
          </a:xfrm>
          <a:prstGeom prst="rect">
            <a:avLst/>
          </a:prstGeom>
        </p:spPr>
      </p:pic>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8BBBCAED-E992-AD79-CFAA-26CEAAC1FD4E}"/>
                  </a:ext>
                </a:extLst>
              </p:cNvPr>
              <p:cNvSpPr txBox="1"/>
              <p:nvPr/>
            </p:nvSpPr>
            <p:spPr>
              <a:xfrm>
                <a:off x="5711492" y="4021762"/>
                <a:ext cx="2891114" cy="39555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sz="1800" b="1" i="1" smtClean="0">
                              <a:solidFill>
                                <a:srgbClr val="FF0000"/>
                              </a:solidFill>
                              <a:latin typeface="Cambria Math" panose="02040503050406030204" pitchFamily="18" charset="0"/>
                            </a:rPr>
                          </m:ctrlPr>
                        </m:sSubPr>
                        <m:e>
                          <m:r>
                            <a:rPr lang="en-GB" sz="1800" b="1" i="1" smtClean="0">
                              <a:solidFill>
                                <a:srgbClr val="FF0000"/>
                              </a:solidFill>
                              <a:latin typeface="Cambria Math" panose="02040503050406030204" pitchFamily="18" charset="0"/>
                            </a:rPr>
                            <m:t>𝒇</m:t>
                          </m:r>
                        </m:e>
                        <m:sub>
                          <m:r>
                            <a:rPr lang="en-GB" sz="1800" b="1" i="1" smtClean="0">
                              <a:solidFill>
                                <a:srgbClr val="FF0000"/>
                              </a:solidFill>
                              <a:latin typeface="Cambria Math" panose="02040503050406030204" pitchFamily="18" charset="0"/>
                            </a:rPr>
                            <m:t>𝒉</m:t>
                          </m:r>
                        </m:sub>
                      </m:sSub>
                      <m:r>
                        <a:rPr lang="en-GB" sz="1800" b="1" i="1" smtClean="0">
                          <a:solidFill>
                            <a:srgbClr val="FF0000"/>
                          </a:solidFill>
                          <a:latin typeface="Cambria Math" panose="02040503050406030204" pitchFamily="18" charset="0"/>
                        </a:rPr>
                        <m:t>=(</m:t>
                      </m:r>
                      <m:r>
                        <a:rPr lang="en-GB" sz="1800" b="1" i="1" smtClean="0">
                          <a:solidFill>
                            <a:srgbClr val="FF0000"/>
                          </a:solidFill>
                          <a:latin typeface="Cambria Math" panose="02040503050406030204" pitchFamily="18" charset="0"/>
                        </a:rPr>
                        <m:t>𝒋</m:t>
                      </m:r>
                      <m:sSub>
                        <m:sSubPr>
                          <m:ctrlPr>
                            <a:rPr lang="en-GB" sz="1800" b="1" i="1">
                              <a:solidFill>
                                <a:srgbClr val="FF0000"/>
                              </a:solidFill>
                              <a:latin typeface="Cambria Math" panose="02040503050406030204" pitchFamily="18" charset="0"/>
                            </a:rPr>
                          </m:ctrlPr>
                        </m:sSubPr>
                        <m:e>
                          <m:r>
                            <a:rPr lang="en-GB" sz="1800" b="1" i="1">
                              <a:solidFill>
                                <a:srgbClr val="FF0000"/>
                              </a:solidFill>
                              <a:latin typeface="Cambria Math" panose="02040503050406030204" pitchFamily="18" charset="0"/>
                            </a:rPr>
                            <m:t>𝒎</m:t>
                          </m:r>
                        </m:e>
                        <m:sub>
                          <m:r>
                            <a:rPr lang="en-GB" sz="1800" b="1" i="1" smtClean="0">
                              <a:solidFill>
                                <a:srgbClr val="FF0000"/>
                              </a:solidFill>
                              <a:latin typeface="Cambria Math" panose="02040503050406030204" pitchFamily="18" charset="0"/>
                            </a:rPr>
                            <m:t>𝒇</m:t>
                          </m:r>
                        </m:sub>
                      </m:sSub>
                      <m:r>
                        <a:rPr lang="en-GB" sz="1800" b="1" i="1" smtClean="0">
                          <a:solidFill>
                            <a:srgbClr val="FF0000"/>
                          </a:solidFill>
                          <a:latin typeface="Cambria Math" panose="02040503050406030204" pitchFamily="18" charset="0"/>
                        </a:rPr>
                        <m:t>±</m:t>
                      </m:r>
                      <m:r>
                        <a:rPr lang="en-GB" sz="1800" b="1" i="1" smtClean="0">
                          <a:solidFill>
                            <a:srgbClr val="FF0000"/>
                          </a:solidFill>
                          <a:latin typeface="Cambria Math" panose="02040503050406030204" pitchFamily="18" charset="0"/>
                        </a:rPr>
                        <m:t>𝒌</m:t>
                      </m:r>
                      <m:r>
                        <a:rPr lang="en-GB" sz="1800" b="1" i="1" smtClean="0">
                          <a:solidFill>
                            <a:srgbClr val="FF0000"/>
                          </a:solidFill>
                          <a:latin typeface="Cambria Math" panose="02040503050406030204" pitchFamily="18" charset="0"/>
                        </a:rPr>
                        <m:t>)</m:t>
                      </m:r>
                      <m:sSub>
                        <m:sSubPr>
                          <m:ctrlPr>
                            <a:rPr lang="en-GB" sz="1800" b="1" i="1">
                              <a:solidFill>
                                <a:srgbClr val="FF0000"/>
                              </a:solidFill>
                              <a:latin typeface="Cambria Math" panose="02040503050406030204" pitchFamily="18" charset="0"/>
                            </a:rPr>
                          </m:ctrlPr>
                        </m:sSubPr>
                        <m:e>
                          <m:r>
                            <a:rPr lang="en-GB" sz="1800" b="1" i="1" smtClean="0">
                              <a:solidFill>
                                <a:srgbClr val="FF0000"/>
                              </a:solidFill>
                              <a:latin typeface="Cambria Math" panose="02040503050406030204" pitchFamily="18" charset="0"/>
                            </a:rPr>
                            <m:t>𝒇</m:t>
                          </m:r>
                        </m:e>
                        <m:sub>
                          <m:r>
                            <a:rPr lang="en-GB" sz="1800" b="1" i="1" smtClean="0">
                              <a:solidFill>
                                <a:srgbClr val="FF0000"/>
                              </a:solidFill>
                              <a:latin typeface="Cambria Math" panose="02040503050406030204" pitchFamily="18" charset="0"/>
                            </a:rPr>
                            <m:t>𝟏</m:t>
                          </m:r>
                        </m:sub>
                      </m:sSub>
                    </m:oMath>
                  </m:oMathPara>
                </a14:m>
                <a:endParaRPr lang="en-GB" b="1" dirty="0">
                  <a:solidFill>
                    <a:srgbClr val="FF0000"/>
                  </a:solidFill>
                </a:endParaRPr>
              </a:p>
            </p:txBody>
          </p:sp>
        </mc:Choice>
        <mc:Fallback>
          <p:sp>
            <p:nvSpPr>
              <p:cNvPr id="8" name="TextBox 7">
                <a:extLst>
                  <a:ext uri="{FF2B5EF4-FFF2-40B4-BE49-F238E27FC236}">
                    <a16:creationId xmlns:a16="http://schemas.microsoft.com/office/drawing/2014/main" id="{8BBBCAED-E992-AD79-CFAA-26CEAAC1FD4E}"/>
                  </a:ext>
                </a:extLst>
              </p:cNvPr>
              <p:cNvSpPr txBox="1">
                <a:spLocks noRot="1" noChangeAspect="1" noMove="1" noResize="1" noEditPoints="1" noAdjustHandles="1" noChangeArrowheads="1" noChangeShapeType="1" noTextEdit="1"/>
              </p:cNvSpPr>
              <p:nvPr/>
            </p:nvSpPr>
            <p:spPr>
              <a:xfrm>
                <a:off x="5711492" y="4021762"/>
                <a:ext cx="2891114" cy="395558"/>
              </a:xfrm>
              <a:prstGeom prst="rect">
                <a:avLst/>
              </a:prstGeom>
              <a:blipFill>
                <a:blip r:embed="rId14"/>
                <a:stretch>
                  <a:fillRect b="-9231"/>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22" name="TextBox 21">
                <a:extLst>
                  <a:ext uri="{FF2B5EF4-FFF2-40B4-BE49-F238E27FC236}">
                    <a16:creationId xmlns:a16="http://schemas.microsoft.com/office/drawing/2014/main" id="{78D1AD20-C347-1FF1-0FC9-F710D8237AE6}"/>
                  </a:ext>
                </a:extLst>
              </p:cNvPr>
              <p:cNvSpPr txBox="1"/>
              <p:nvPr/>
            </p:nvSpPr>
            <p:spPr>
              <a:xfrm>
                <a:off x="6101786" y="4490756"/>
                <a:ext cx="2103400" cy="41133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1800" b="1" i="1" smtClean="0">
                          <a:solidFill>
                            <a:srgbClr val="7030A0"/>
                          </a:solidFill>
                          <a:latin typeface="Cambria Math" panose="02040503050406030204" pitchFamily="18" charset="0"/>
                        </a:rPr>
                        <m:t>𝒉</m:t>
                      </m:r>
                      <m:r>
                        <a:rPr lang="en-GB" sz="1800" b="1" i="1" smtClean="0">
                          <a:solidFill>
                            <a:srgbClr val="7030A0"/>
                          </a:solidFill>
                          <a:latin typeface="Cambria Math" panose="02040503050406030204" pitchFamily="18" charset="0"/>
                        </a:rPr>
                        <m:t>=</m:t>
                      </m:r>
                      <m:r>
                        <a:rPr lang="en-GB" sz="1800" b="1" i="1" smtClean="0">
                          <a:solidFill>
                            <a:srgbClr val="7030A0"/>
                          </a:solidFill>
                          <a:latin typeface="Cambria Math" panose="02040503050406030204" pitchFamily="18" charset="0"/>
                        </a:rPr>
                        <m:t>𝒋</m:t>
                      </m:r>
                      <m:d>
                        <m:dPr>
                          <m:ctrlPr>
                            <a:rPr lang="en-GB" sz="1800" b="1" i="1" smtClean="0">
                              <a:solidFill>
                                <a:srgbClr val="7030A0"/>
                              </a:solidFill>
                              <a:latin typeface="Cambria Math" panose="02040503050406030204" pitchFamily="18" charset="0"/>
                            </a:rPr>
                          </m:ctrlPr>
                        </m:dPr>
                        <m:e>
                          <m:sSub>
                            <m:sSubPr>
                              <m:ctrlPr>
                                <a:rPr lang="en-GB" sz="1800" b="1" i="1">
                                  <a:solidFill>
                                    <a:srgbClr val="7030A0"/>
                                  </a:solidFill>
                                  <a:latin typeface="Cambria Math" panose="02040503050406030204" pitchFamily="18" charset="0"/>
                                </a:rPr>
                              </m:ctrlPr>
                            </m:sSubPr>
                            <m:e>
                              <m:r>
                                <a:rPr lang="en-GB" sz="1800" b="1" i="1">
                                  <a:solidFill>
                                    <a:srgbClr val="7030A0"/>
                                  </a:solidFill>
                                  <a:latin typeface="Cambria Math" panose="02040503050406030204" pitchFamily="18" charset="0"/>
                                </a:rPr>
                                <m:t>𝒎</m:t>
                              </m:r>
                            </m:e>
                            <m:sub>
                              <m:r>
                                <a:rPr lang="en-GB" sz="1800" b="1" i="1">
                                  <a:solidFill>
                                    <a:srgbClr val="7030A0"/>
                                  </a:solidFill>
                                  <a:latin typeface="Cambria Math" panose="02040503050406030204" pitchFamily="18" charset="0"/>
                                </a:rPr>
                                <m:t>𝒇</m:t>
                              </m:r>
                            </m:sub>
                          </m:sSub>
                        </m:e>
                      </m:d>
                      <m:r>
                        <a:rPr lang="en-GB" sz="1800" b="1" i="1" smtClean="0">
                          <a:solidFill>
                            <a:srgbClr val="7030A0"/>
                          </a:solidFill>
                          <a:latin typeface="Cambria Math" panose="02040503050406030204" pitchFamily="18" charset="0"/>
                        </a:rPr>
                        <m:t>±</m:t>
                      </m:r>
                      <m:r>
                        <a:rPr lang="en-GB" sz="1800" b="1" i="1" smtClean="0">
                          <a:solidFill>
                            <a:srgbClr val="7030A0"/>
                          </a:solidFill>
                          <a:latin typeface="Cambria Math" panose="02040503050406030204" pitchFamily="18" charset="0"/>
                        </a:rPr>
                        <m:t>𝒌</m:t>
                      </m:r>
                    </m:oMath>
                  </m:oMathPara>
                </a14:m>
                <a:endParaRPr lang="en-GB" sz="1800" b="1" dirty="0">
                  <a:solidFill>
                    <a:srgbClr val="7030A0"/>
                  </a:solidFill>
                </a:endParaRPr>
              </a:p>
            </p:txBody>
          </p:sp>
        </mc:Choice>
        <mc:Fallback>
          <p:sp>
            <p:nvSpPr>
              <p:cNvPr id="22" name="TextBox 21">
                <a:extLst>
                  <a:ext uri="{FF2B5EF4-FFF2-40B4-BE49-F238E27FC236}">
                    <a16:creationId xmlns:a16="http://schemas.microsoft.com/office/drawing/2014/main" id="{78D1AD20-C347-1FF1-0FC9-F710D8237AE6}"/>
                  </a:ext>
                </a:extLst>
              </p:cNvPr>
              <p:cNvSpPr txBox="1">
                <a:spLocks noRot="1" noChangeAspect="1" noMove="1" noResize="1" noEditPoints="1" noAdjustHandles="1" noChangeArrowheads="1" noChangeShapeType="1" noTextEdit="1"/>
              </p:cNvSpPr>
              <p:nvPr/>
            </p:nvSpPr>
            <p:spPr>
              <a:xfrm>
                <a:off x="6101786" y="4490756"/>
                <a:ext cx="2103400" cy="411331"/>
              </a:xfrm>
              <a:prstGeom prst="rect">
                <a:avLst/>
              </a:prstGeom>
              <a:blipFill>
                <a:blip r:embed="rId15"/>
                <a:stretch>
                  <a:fillRect b="-10448"/>
                </a:stretch>
              </a:blipFill>
            </p:spPr>
            <p:txBody>
              <a:bodyPr/>
              <a:lstStyle/>
              <a:p>
                <a:r>
                  <a:rPr lang="en-GB">
                    <a:noFill/>
                  </a:rPr>
                  <a:t> </a:t>
                </a:r>
              </a:p>
            </p:txBody>
          </p:sp>
        </mc:Fallback>
      </mc:AlternateContent>
    </p:spTree>
    <p:extLst>
      <p:ext uri="{BB962C8B-B14F-4D97-AF65-F5344CB8AC3E}">
        <p14:creationId xmlns:p14="http://schemas.microsoft.com/office/powerpoint/2010/main" val="819956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6" grpId="0" animBg="1"/>
      <p:bldP spid="36" grpId="0" animBg="1"/>
      <p:bldP spid="8" grpId="0"/>
      <p:bldP spid="2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Picture 36">
            <a:extLst>
              <a:ext uri="{FF2B5EF4-FFF2-40B4-BE49-F238E27FC236}">
                <a16:creationId xmlns:a16="http://schemas.microsoft.com/office/drawing/2014/main" id="{0D26FB11-6416-36B5-1A7D-C204FE4A563E}"/>
              </a:ext>
            </a:extLst>
          </p:cNvPr>
          <p:cNvPicPr>
            <a:picLocks noChangeAspect="1"/>
          </p:cNvPicPr>
          <p:nvPr/>
        </p:nvPicPr>
        <p:blipFill>
          <a:blip r:embed="rId2"/>
          <a:stretch>
            <a:fillRect/>
          </a:stretch>
        </p:blipFill>
        <p:spPr>
          <a:xfrm>
            <a:off x="4135531" y="5002623"/>
            <a:ext cx="4752437" cy="1663353"/>
          </a:xfrm>
          <a:prstGeom prst="rect">
            <a:avLst/>
          </a:prstGeom>
        </p:spPr>
      </p:pic>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2D2C687E-7FF8-2ACF-B3F1-8740A2B6DFF2}"/>
                  </a:ext>
                </a:extLst>
              </p:cNvPr>
              <p:cNvSpPr txBox="1"/>
              <p:nvPr/>
            </p:nvSpPr>
            <p:spPr>
              <a:xfrm>
                <a:off x="429768" y="538818"/>
                <a:ext cx="8357616" cy="1223989"/>
              </a:xfrm>
              <a:prstGeom prst="rect">
                <a:avLst/>
              </a:prstGeom>
              <a:noFill/>
            </p:spPr>
            <p:txBody>
              <a:bodyPr wrap="square">
                <a:spAutoFit/>
              </a:bodyPr>
              <a:lstStyle/>
              <a:p>
                <a:r>
                  <a:rPr lang="en-GB" dirty="0"/>
                  <a:t>In the full-bridge converter circuit, </a:t>
                </a:r>
                <a14:m>
                  <m:oMath xmlns:m="http://schemas.openxmlformats.org/officeDocument/2006/math">
                    <m:sSub>
                      <m:sSubPr>
                        <m:ctrlPr>
                          <a:rPr lang="en-GB" i="1">
                            <a:latin typeface="Cambria Math" panose="02040503050406030204" pitchFamily="18" charset="0"/>
                          </a:rPr>
                        </m:ctrlPr>
                      </m:sSubPr>
                      <m:e>
                        <m:r>
                          <a:rPr lang="en-GB" b="0" i="1" smtClean="0">
                            <a:latin typeface="Cambria Math" panose="02040503050406030204" pitchFamily="18" charset="0"/>
                          </a:rPr>
                          <m:t>𝑉</m:t>
                        </m:r>
                      </m:e>
                      <m:sub>
                        <m:r>
                          <a:rPr lang="en-GB" b="0" i="1" smtClean="0">
                            <a:latin typeface="Cambria Math" panose="02040503050406030204" pitchFamily="18" charset="0"/>
                          </a:rPr>
                          <m:t>𝑑</m:t>
                        </m:r>
                      </m:sub>
                    </m:sSub>
                  </m:oMath>
                </a14:m>
                <a:r>
                  <a:rPr lang="en-GB" dirty="0"/>
                  <a:t> = 300 V, </a:t>
                </a:r>
                <a14:m>
                  <m:oMath xmlns:m="http://schemas.openxmlformats.org/officeDocument/2006/math">
                    <m:sSub>
                      <m:sSubPr>
                        <m:ctrlPr>
                          <a:rPr lang="en-GB" sz="1800" i="1" smtClean="0">
                            <a:latin typeface="Cambria Math" panose="02040503050406030204" pitchFamily="18" charset="0"/>
                          </a:rPr>
                        </m:ctrlPr>
                      </m:sSubPr>
                      <m:e>
                        <m:r>
                          <a:rPr lang="en-GB" sz="1800" b="0" i="1" smtClean="0">
                            <a:latin typeface="Cambria Math" panose="02040503050406030204" pitchFamily="18" charset="0"/>
                          </a:rPr>
                          <m:t>𝑚</m:t>
                        </m:r>
                      </m:e>
                      <m:sub>
                        <m:r>
                          <a:rPr lang="en-GB" sz="1800" b="0" i="1" smtClean="0">
                            <a:latin typeface="Cambria Math" panose="02040503050406030204" pitchFamily="18" charset="0"/>
                          </a:rPr>
                          <m:t>𝑎</m:t>
                        </m:r>
                      </m:sub>
                    </m:sSub>
                  </m:oMath>
                </a14:m>
                <a:r>
                  <a:rPr lang="en-GB" dirty="0"/>
                  <a:t> = 0.8,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𝑚</m:t>
                        </m:r>
                      </m:e>
                      <m:sub>
                        <m:r>
                          <a:rPr lang="en-GB" b="0" i="1" smtClean="0">
                            <a:latin typeface="Cambria Math" panose="02040503050406030204" pitchFamily="18" charset="0"/>
                          </a:rPr>
                          <m:t>𝑓</m:t>
                        </m:r>
                      </m:sub>
                    </m:sSub>
                  </m:oMath>
                </a14:m>
                <a:r>
                  <a:rPr lang="en-GB" dirty="0"/>
                  <a:t> = 39, and the fundamental frequency is 47 Hz. Calculate the rms values of the fundamental-frequency voltage and some of the dominant harmonics in the output voltage v, if a PWM bipolar voltage-switching scheme is used. </a:t>
                </a:r>
              </a:p>
            </p:txBody>
          </p:sp>
        </mc:Choice>
        <mc:Fallback>
          <p:sp>
            <p:nvSpPr>
              <p:cNvPr id="5" name="TextBox 4">
                <a:extLst>
                  <a:ext uri="{FF2B5EF4-FFF2-40B4-BE49-F238E27FC236}">
                    <a16:creationId xmlns:a16="http://schemas.microsoft.com/office/drawing/2014/main" id="{2D2C687E-7FF8-2ACF-B3F1-8740A2B6DFF2}"/>
                  </a:ext>
                </a:extLst>
              </p:cNvPr>
              <p:cNvSpPr txBox="1">
                <a:spLocks noRot="1" noChangeAspect="1" noMove="1" noResize="1" noEditPoints="1" noAdjustHandles="1" noChangeArrowheads="1" noChangeShapeType="1" noTextEdit="1"/>
              </p:cNvSpPr>
              <p:nvPr/>
            </p:nvSpPr>
            <p:spPr>
              <a:xfrm>
                <a:off x="429768" y="538818"/>
                <a:ext cx="8357616" cy="1223989"/>
              </a:xfrm>
              <a:prstGeom prst="rect">
                <a:avLst/>
              </a:prstGeom>
              <a:blipFill>
                <a:blip r:embed="rId3"/>
                <a:stretch>
                  <a:fillRect l="-656" t="-1990" b="-6965"/>
                </a:stretch>
              </a:blipFill>
            </p:spPr>
            <p:txBody>
              <a:bodyPr/>
              <a:lstStyle/>
              <a:p>
                <a:r>
                  <a:rPr lang="en-GB">
                    <a:noFill/>
                  </a:rPr>
                  <a:t> </a:t>
                </a:r>
              </a:p>
            </p:txBody>
          </p:sp>
        </mc:Fallback>
      </mc:AlternateContent>
      <p:pic>
        <p:nvPicPr>
          <p:cNvPr id="21" name="Picture 20">
            <a:extLst>
              <a:ext uri="{FF2B5EF4-FFF2-40B4-BE49-F238E27FC236}">
                <a16:creationId xmlns:a16="http://schemas.microsoft.com/office/drawing/2014/main" id="{B45A8191-731E-B644-E732-46C2E1F62545}"/>
              </a:ext>
            </a:extLst>
          </p:cNvPr>
          <p:cNvPicPr>
            <a:picLocks noChangeAspect="1"/>
          </p:cNvPicPr>
          <p:nvPr/>
        </p:nvPicPr>
        <p:blipFill>
          <a:blip r:embed="rId4"/>
          <a:stretch>
            <a:fillRect/>
          </a:stretch>
        </p:blipFill>
        <p:spPr>
          <a:xfrm>
            <a:off x="3593592" y="1636395"/>
            <a:ext cx="5422392" cy="2195152"/>
          </a:xfrm>
          <a:prstGeom prst="rect">
            <a:avLst/>
          </a:prstGeom>
        </p:spPr>
      </p:pic>
      <p:grpSp>
        <p:nvGrpSpPr>
          <p:cNvPr id="38" name="Group 37">
            <a:extLst>
              <a:ext uri="{FF2B5EF4-FFF2-40B4-BE49-F238E27FC236}">
                <a16:creationId xmlns:a16="http://schemas.microsoft.com/office/drawing/2014/main" id="{A7281F80-1D72-7943-26CA-A8067493BA49}"/>
              </a:ext>
            </a:extLst>
          </p:cNvPr>
          <p:cNvGrpSpPr/>
          <p:nvPr/>
        </p:nvGrpSpPr>
        <p:grpSpPr>
          <a:xfrm>
            <a:off x="0" y="2990318"/>
            <a:ext cx="3895344" cy="3961080"/>
            <a:chOff x="0" y="2990318"/>
            <a:chExt cx="3895344" cy="3961080"/>
          </a:xfrm>
        </p:grpSpPr>
        <p:pic>
          <p:nvPicPr>
            <p:cNvPr id="23" name="Picture 22">
              <a:extLst>
                <a:ext uri="{FF2B5EF4-FFF2-40B4-BE49-F238E27FC236}">
                  <a16:creationId xmlns:a16="http://schemas.microsoft.com/office/drawing/2014/main" id="{3C243940-0BB6-A38E-B081-032BA3783878}"/>
                </a:ext>
              </a:extLst>
            </p:cNvPr>
            <p:cNvPicPr>
              <a:picLocks noChangeAspect="1"/>
            </p:cNvPicPr>
            <p:nvPr/>
          </p:nvPicPr>
          <p:blipFill>
            <a:blip r:embed="rId5"/>
            <a:stretch>
              <a:fillRect/>
            </a:stretch>
          </p:blipFill>
          <p:spPr>
            <a:xfrm>
              <a:off x="0" y="2990318"/>
              <a:ext cx="3895344" cy="3328864"/>
            </a:xfrm>
            <a:prstGeom prst="rect">
              <a:avLst/>
            </a:prstGeom>
          </p:spPr>
        </p:pic>
        <p:sp>
          <p:nvSpPr>
            <p:cNvPr id="24" name="Rectangle 23">
              <a:extLst>
                <a:ext uri="{FF2B5EF4-FFF2-40B4-BE49-F238E27FC236}">
                  <a16:creationId xmlns:a16="http://schemas.microsoft.com/office/drawing/2014/main" id="{B3C0A5BC-BF7B-B118-2A86-62E182D4983F}"/>
                </a:ext>
              </a:extLst>
            </p:cNvPr>
            <p:cNvSpPr/>
            <p:nvPr/>
          </p:nvSpPr>
          <p:spPr>
            <a:xfrm>
              <a:off x="2700242" y="3039733"/>
              <a:ext cx="552261" cy="3276983"/>
            </a:xfrm>
            <a:prstGeom prst="rect">
              <a:avLst/>
            </a:prstGeom>
            <a:solidFill>
              <a:schemeClr val="accent1">
                <a:alpha val="42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2" name="Picture 31">
              <a:extLst>
                <a:ext uri="{FF2B5EF4-FFF2-40B4-BE49-F238E27FC236}">
                  <a16:creationId xmlns:a16="http://schemas.microsoft.com/office/drawing/2014/main" id="{4E8D6876-CE8B-7B8E-50FB-AB4650725C61}"/>
                </a:ext>
              </a:extLst>
            </p:cNvPr>
            <p:cNvPicPr>
              <a:picLocks noChangeAspect="1"/>
            </p:cNvPicPr>
            <p:nvPr/>
          </p:nvPicPr>
          <p:blipFill>
            <a:blip r:embed="rId6"/>
            <a:stretch>
              <a:fillRect/>
            </a:stretch>
          </p:blipFill>
          <p:spPr>
            <a:xfrm>
              <a:off x="137003" y="6366131"/>
              <a:ext cx="3621338" cy="585267"/>
            </a:xfrm>
            <a:prstGeom prst="rect">
              <a:avLst/>
            </a:prstGeom>
          </p:spPr>
        </p:pic>
      </p:grpSp>
      <mc:AlternateContent xmlns:mc="http://schemas.openxmlformats.org/markup-compatibility/2006">
        <mc:Choice xmlns:a14="http://schemas.microsoft.com/office/drawing/2010/main" Requires="a14">
          <p:sp>
            <p:nvSpPr>
              <p:cNvPr id="33" name="TextBox 32">
                <a:extLst>
                  <a:ext uri="{FF2B5EF4-FFF2-40B4-BE49-F238E27FC236}">
                    <a16:creationId xmlns:a16="http://schemas.microsoft.com/office/drawing/2014/main" id="{216393EF-A229-A024-70A8-19C617048600}"/>
                  </a:ext>
                </a:extLst>
              </p:cNvPr>
              <p:cNvSpPr txBox="1"/>
              <p:nvPr/>
            </p:nvSpPr>
            <p:spPr>
              <a:xfrm>
                <a:off x="4794218" y="4015802"/>
                <a:ext cx="3602736" cy="669799"/>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GB" b="0" i="1" smtClean="0">
                              <a:latin typeface="Cambria Math" panose="02040503050406030204" pitchFamily="18" charset="0"/>
                            </a:rPr>
                            <m:t>𝑉</m:t>
                          </m:r>
                        </m:e>
                        <m:sub>
                          <m:r>
                            <a:rPr lang="en-GB" b="0" i="1" smtClean="0">
                              <a:latin typeface="Cambria Math" panose="02040503050406030204" pitchFamily="18" charset="0"/>
                            </a:rPr>
                            <m:t>𝑟𝑚𝑠</m:t>
                          </m:r>
                        </m:sub>
                      </m:sSub>
                      <m:r>
                        <a:rPr lang="en-GB" b="0" i="1" smtClean="0">
                          <a:latin typeface="Cambria Math" panose="02040503050406030204" pitchFamily="18" charset="0"/>
                        </a:rPr>
                        <m:t>= </m:t>
                      </m:r>
                      <m:f>
                        <m:fPr>
                          <m:ctrlPr>
                            <a:rPr lang="en-GB" b="0" i="1" smtClean="0">
                              <a:latin typeface="Cambria Math" panose="02040503050406030204" pitchFamily="18" charset="0"/>
                            </a:rPr>
                          </m:ctrlPr>
                        </m:fPr>
                        <m:num>
                          <m:sSub>
                            <m:sSubPr>
                              <m:ctrlPr>
                                <a:rPr lang="en-GB" i="1">
                                  <a:latin typeface="Cambria Math" panose="02040503050406030204" pitchFamily="18" charset="0"/>
                                </a:rPr>
                              </m:ctrlPr>
                            </m:sSubPr>
                            <m:e>
                              <m:r>
                                <a:rPr lang="en-GB" i="1">
                                  <a:latin typeface="Cambria Math" panose="02040503050406030204" pitchFamily="18" charset="0"/>
                                </a:rPr>
                                <m:t>𝑉</m:t>
                              </m:r>
                            </m:e>
                            <m:sub>
                              <m:r>
                                <a:rPr lang="en-GB" b="0" i="1" smtClean="0">
                                  <a:latin typeface="Cambria Math" panose="02040503050406030204" pitchFamily="18" charset="0"/>
                                </a:rPr>
                                <m:t>𝑝𝑒𝑎𝑘</m:t>
                              </m:r>
                            </m:sub>
                          </m:sSub>
                        </m:num>
                        <m:den>
                          <m:rad>
                            <m:radPr>
                              <m:degHide m:val="on"/>
                              <m:ctrlPr>
                                <a:rPr lang="en-GB" b="0" i="1" smtClean="0">
                                  <a:latin typeface="Cambria Math" panose="02040503050406030204" pitchFamily="18" charset="0"/>
                                </a:rPr>
                              </m:ctrlPr>
                            </m:radPr>
                            <m:deg/>
                            <m:e>
                              <m:r>
                                <a:rPr lang="en-GB" b="0" i="1" smtClean="0">
                                  <a:latin typeface="Cambria Math" panose="02040503050406030204" pitchFamily="18" charset="0"/>
                                </a:rPr>
                                <m:t>2</m:t>
                              </m:r>
                            </m:e>
                          </m:rad>
                        </m:den>
                      </m:f>
                      <m:r>
                        <a:rPr lang="en-GB" b="0" i="1" smtClean="0">
                          <a:latin typeface="Cambria Math" panose="02040503050406030204" pitchFamily="18" charset="0"/>
                        </a:rPr>
                        <m:t>= </m:t>
                      </m:r>
                      <m:f>
                        <m:fPr>
                          <m:ctrlPr>
                            <a:rPr lang="en-GB" b="0" i="1" smtClean="0">
                              <a:latin typeface="Cambria Math" panose="02040503050406030204" pitchFamily="18" charset="0"/>
                            </a:rPr>
                          </m:ctrlPr>
                        </m:fPr>
                        <m:num>
                          <m:r>
                            <a:rPr lang="en-GB" b="0" i="1" smtClean="0">
                              <a:latin typeface="Cambria Math" panose="02040503050406030204" pitchFamily="18" charset="0"/>
                            </a:rPr>
                            <m:t>300</m:t>
                          </m:r>
                        </m:num>
                        <m:den>
                          <m:rad>
                            <m:radPr>
                              <m:degHide m:val="on"/>
                              <m:ctrlPr>
                                <a:rPr lang="en-GB" i="1">
                                  <a:latin typeface="Cambria Math" panose="02040503050406030204" pitchFamily="18" charset="0"/>
                                </a:rPr>
                              </m:ctrlPr>
                            </m:radPr>
                            <m:deg/>
                            <m:e>
                              <m:r>
                                <a:rPr lang="en-GB" i="1">
                                  <a:latin typeface="Cambria Math" panose="02040503050406030204" pitchFamily="18" charset="0"/>
                                </a:rPr>
                                <m:t>2</m:t>
                              </m:r>
                            </m:e>
                          </m:rad>
                        </m:den>
                      </m:f>
                      <m:r>
                        <a:rPr lang="en-GB" b="0" i="1" smtClean="0">
                          <a:latin typeface="Cambria Math" panose="02040503050406030204" pitchFamily="18" charset="0"/>
                        </a:rPr>
                        <m:t>=212.13</m:t>
                      </m:r>
                    </m:oMath>
                  </m:oMathPara>
                </a14:m>
                <a:endParaRPr lang="en-GB" dirty="0"/>
              </a:p>
            </p:txBody>
          </p:sp>
        </mc:Choice>
        <mc:Fallback>
          <p:sp>
            <p:nvSpPr>
              <p:cNvPr id="33" name="TextBox 32">
                <a:extLst>
                  <a:ext uri="{FF2B5EF4-FFF2-40B4-BE49-F238E27FC236}">
                    <a16:creationId xmlns:a16="http://schemas.microsoft.com/office/drawing/2014/main" id="{216393EF-A229-A024-70A8-19C617048600}"/>
                  </a:ext>
                </a:extLst>
              </p:cNvPr>
              <p:cNvSpPr txBox="1">
                <a:spLocks noRot="1" noChangeAspect="1" noMove="1" noResize="1" noEditPoints="1" noAdjustHandles="1" noChangeArrowheads="1" noChangeShapeType="1" noTextEdit="1"/>
              </p:cNvSpPr>
              <p:nvPr/>
            </p:nvSpPr>
            <p:spPr>
              <a:xfrm>
                <a:off x="4794218" y="4015802"/>
                <a:ext cx="3602736" cy="669799"/>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35" name="TextBox 34">
                <a:extLst>
                  <a:ext uri="{FF2B5EF4-FFF2-40B4-BE49-F238E27FC236}">
                    <a16:creationId xmlns:a16="http://schemas.microsoft.com/office/drawing/2014/main" id="{33FF0443-86CE-3048-74EC-58A7ADC2D144}"/>
                  </a:ext>
                </a:extLst>
              </p:cNvPr>
              <p:cNvSpPr txBox="1"/>
              <p:nvPr/>
            </p:nvSpPr>
            <p:spPr>
              <a:xfrm>
                <a:off x="4005358" y="4678224"/>
                <a:ext cx="5010626" cy="338554"/>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GB" sz="1600" b="1" i="1" smtClean="0">
                              <a:latin typeface="Cambria Math" panose="02040503050406030204" pitchFamily="18" charset="0"/>
                            </a:rPr>
                          </m:ctrlPr>
                        </m:sSubPr>
                        <m:e>
                          <m:r>
                            <a:rPr lang="en-GB" sz="1600" b="1" i="1" smtClean="0">
                              <a:latin typeface="Cambria Math" panose="02040503050406030204" pitchFamily="18" charset="0"/>
                            </a:rPr>
                            <m:t>𝑽</m:t>
                          </m:r>
                        </m:e>
                        <m:sub>
                          <m:r>
                            <a:rPr lang="en-GB" sz="1600" b="1" i="1" smtClean="0">
                              <a:latin typeface="Cambria Math" panose="02040503050406030204" pitchFamily="18" charset="0"/>
                            </a:rPr>
                            <m:t>𝒐</m:t>
                          </m:r>
                          <m:r>
                            <a:rPr lang="en-GB" sz="1600" b="1" i="1" smtClean="0">
                              <a:latin typeface="Cambria Math" panose="02040503050406030204" pitchFamily="18" charset="0"/>
                            </a:rPr>
                            <m:t>𝟏</m:t>
                          </m:r>
                        </m:sub>
                      </m:sSub>
                      <m:r>
                        <a:rPr lang="en-GB" sz="1600" b="1" i="1" smtClean="0">
                          <a:latin typeface="Cambria Math" panose="02040503050406030204" pitchFamily="18" charset="0"/>
                        </a:rPr>
                        <m:t>=</m:t>
                      </m:r>
                      <m:sSub>
                        <m:sSubPr>
                          <m:ctrlPr>
                            <a:rPr lang="en-GB" sz="1600" b="1" i="1">
                              <a:latin typeface="Cambria Math" panose="02040503050406030204" pitchFamily="18" charset="0"/>
                            </a:rPr>
                          </m:ctrlPr>
                        </m:sSubPr>
                        <m:e>
                          <m:r>
                            <a:rPr lang="en-GB" sz="1600" b="1" i="1">
                              <a:latin typeface="Cambria Math" panose="02040503050406030204" pitchFamily="18" charset="0"/>
                            </a:rPr>
                            <m:t>𝑽</m:t>
                          </m:r>
                        </m:e>
                        <m:sub>
                          <m:r>
                            <a:rPr lang="en-GB" sz="1600" b="1" i="1" smtClean="0">
                              <a:latin typeface="Cambria Math" panose="02040503050406030204" pitchFamily="18" charset="0"/>
                            </a:rPr>
                            <m:t>𝒓𝒎𝒔</m:t>
                          </m:r>
                        </m:sub>
                      </m:sSub>
                      <m:r>
                        <a:rPr lang="en-GB" sz="1600" b="1" i="1" smtClean="0">
                          <a:latin typeface="Cambria Math" panose="02040503050406030204" pitchFamily="18" charset="0"/>
                          <a:ea typeface="Cambria Math" panose="02040503050406030204" pitchFamily="18" charset="0"/>
                        </a:rPr>
                        <m:t>× </m:t>
                      </m:r>
                      <m:sSub>
                        <m:sSubPr>
                          <m:ctrlPr>
                            <a:rPr lang="en-GB" sz="1600" b="1" i="1" smtClean="0">
                              <a:latin typeface="Cambria Math" panose="02040503050406030204" pitchFamily="18" charset="0"/>
                              <a:ea typeface="Cambria Math" panose="02040503050406030204" pitchFamily="18" charset="0"/>
                            </a:rPr>
                          </m:ctrlPr>
                        </m:sSubPr>
                        <m:e>
                          <m:r>
                            <a:rPr lang="en-GB" sz="1600" b="1" i="1" smtClean="0">
                              <a:latin typeface="Cambria Math" panose="02040503050406030204" pitchFamily="18" charset="0"/>
                              <a:ea typeface="Cambria Math" panose="02040503050406030204" pitchFamily="18" charset="0"/>
                            </a:rPr>
                            <m:t>𝒎</m:t>
                          </m:r>
                        </m:e>
                        <m:sub>
                          <m:r>
                            <a:rPr lang="en-GB" sz="1600" b="1" i="1" smtClean="0">
                              <a:latin typeface="Cambria Math" panose="02040503050406030204" pitchFamily="18" charset="0"/>
                              <a:ea typeface="Cambria Math" panose="02040503050406030204" pitchFamily="18" charset="0"/>
                            </a:rPr>
                            <m:t>𝒂</m:t>
                          </m:r>
                        </m:sub>
                      </m:sSub>
                      <m:r>
                        <a:rPr lang="en-GB" sz="1600" b="1" i="1" smtClean="0">
                          <a:latin typeface="Cambria Math" panose="02040503050406030204" pitchFamily="18" charset="0"/>
                        </a:rPr>
                        <m:t>=</m:t>
                      </m:r>
                      <m:r>
                        <a:rPr lang="en-GB" sz="1600" b="1" i="1" smtClean="0">
                          <a:latin typeface="Cambria Math" panose="02040503050406030204" pitchFamily="18" charset="0"/>
                        </a:rPr>
                        <m:t>𝟐𝟏𝟐</m:t>
                      </m:r>
                      <m:r>
                        <a:rPr lang="en-GB" sz="1600" b="1" i="1" smtClean="0">
                          <a:latin typeface="Cambria Math" panose="02040503050406030204" pitchFamily="18" charset="0"/>
                        </a:rPr>
                        <m:t>.</m:t>
                      </m:r>
                      <m:r>
                        <a:rPr lang="en-GB" sz="1600" b="1" i="1" smtClean="0">
                          <a:latin typeface="Cambria Math" panose="02040503050406030204" pitchFamily="18" charset="0"/>
                        </a:rPr>
                        <m:t>𝟏𝟑</m:t>
                      </m:r>
                      <m:r>
                        <a:rPr lang="en-GB" sz="1600" b="1" i="1" smtClean="0">
                          <a:latin typeface="Cambria Math" panose="02040503050406030204" pitchFamily="18" charset="0"/>
                          <a:ea typeface="Cambria Math" panose="02040503050406030204" pitchFamily="18" charset="0"/>
                        </a:rPr>
                        <m:t>×</m:t>
                      </m:r>
                      <m:r>
                        <a:rPr lang="en-GB" sz="1600" b="1" i="1" smtClean="0">
                          <a:latin typeface="Cambria Math" panose="02040503050406030204" pitchFamily="18" charset="0"/>
                          <a:ea typeface="Cambria Math" panose="02040503050406030204" pitchFamily="18" charset="0"/>
                        </a:rPr>
                        <m:t>𝟎</m:t>
                      </m:r>
                      <m:r>
                        <a:rPr lang="en-GB" sz="1600" b="1" i="1" smtClean="0">
                          <a:latin typeface="Cambria Math" panose="02040503050406030204" pitchFamily="18" charset="0"/>
                          <a:ea typeface="Cambria Math" panose="02040503050406030204" pitchFamily="18" charset="0"/>
                        </a:rPr>
                        <m:t>.</m:t>
                      </m:r>
                      <m:r>
                        <a:rPr lang="en-GB" sz="1600" b="1" i="1" smtClean="0">
                          <a:latin typeface="Cambria Math" panose="02040503050406030204" pitchFamily="18" charset="0"/>
                          <a:ea typeface="Cambria Math" panose="02040503050406030204" pitchFamily="18" charset="0"/>
                        </a:rPr>
                        <m:t>𝟖</m:t>
                      </m:r>
                      <m:r>
                        <a:rPr lang="en-GB" sz="1600" b="1" i="1" smtClean="0">
                          <a:latin typeface="Cambria Math" panose="02040503050406030204" pitchFamily="18" charset="0"/>
                          <a:ea typeface="Cambria Math" panose="02040503050406030204" pitchFamily="18" charset="0"/>
                        </a:rPr>
                        <m:t>=</m:t>
                      </m:r>
                      <m:r>
                        <a:rPr lang="en-GB" sz="1600" b="1" i="1" smtClean="0">
                          <a:latin typeface="Cambria Math" panose="02040503050406030204" pitchFamily="18" charset="0"/>
                          <a:ea typeface="Cambria Math" panose="02040503050406030204" pitchFamily="18" charset="0"/>
                        </a:rPr>
                        <m:t>𝟏𝟔𝟗</m:t>
                      </m:r>
                      <m:r>
                        <a:rPr lang="en-GB" sz="1600" b="1" i="1" smtClean="0">
                          <a:latin typeface="Cambria Math" panose="02040503050406030204" pitchFamily="18" charset="0"/>
                          <a:ea typeface="Cambria Math" panose="02040503050406030204" pitchFamily="18" charset="0"/>
                        </a:rPr>
                        <m:t>.</m:t>
                      </m:r>
                      <m:r>
                        <a:rPr lang="en-GB" sz="1600" b="1" i="1" smtClean="0">
                          <a:latin typeface="Cambria Math" panose="02040503050406030204" pitchFamily="18" charset="0"/>
                          <a:ea typeface="Cambria Math" panose="02040503050406030204" pitchFamily="18" charset="0"/>
                        </a:rPr>
                        <m:t>𝟕</m:t>
                      </m:r>
                      <m:r>
                        <a:rPr lang="en-GB" sz="1600" b="1" i="1" smtClean="0">
                          <a:latin typeface="Cambria Math" panose="02040503050406030204" pitchFamily="18" charset="0"/>
                          <a:ea typeface="Cambria Math" panose="02040503050406030204" pitchFamily="18" charset="0"/>
                        </a:rPr>
                        <m:t> </m:t>
                      </m:r>
                      <m:r>
                        <a:rPr lang="en-GB" sz="1600" b="1" i="1" smtClean="0">
                          <a:latin typeface="Cambria Math" panose="02040503050406030204" pitchFamily="18" charset="0"/>
                          <a:ea typeface="Cambria Math" panose="02040503050406030204" pitchFamily="18" charset="0"/>
                        </a:rPr>
                        <m:t>𝑽</m:t>
                      </m:r>
                      <m:r>
                        <a:rPr lang="en-GB" sz="1600" b="1" i="1" smtClean="0">
                          <a:latin typeface="Cambria Math" panose="02040503050406030204" pitchFamily="18" charset="0"/>
                          <a:ea typeface="Cambria Math" panose="02040503050406030204" pitchFamily="18" charset="0"/>
                        </a:rPr>
                        <m:t> @</m:t>
                      </m:r>
                      <m:r>
                        <a:rPr lang="en-GB" sz="1600" b="1" i="1" smtClean="0">
                          <a:latin typeface="Cambria Math" panose="02040503050406030204" pitchFamily="18" charset="0"/>
                          <a:ea typeface="Cambria Math" panose="02040503050406030204" pitchFamily="18" charset="0"/>
                        </a:rPr>
                        <m:t>𝟒𝟕</m:t>
                      </m:r>
                      <m:r>
                        <a:rPr lang="en-GB" sz="1600" b="1" i="1" smtClean="0">
                          <a:latin typeface="Cambria Math" panose="02040503050406030204" pitchFamily="18" charset="0"/>
                          <a:ea typeface="Cambria Math" panose="02040503050406030204" pitchFamily="18" charset="0"/>
                        </a:rPr>
                        <m:t>𝑯𝒛</m:t>
                      </m:r>
                    </m:oMath>
                  </m:oMathPara>
                </a14:m>
                <a:endParaRPr lang="en-GB" sz="1600" b="1" dirty="0"/>
              </a:p>
            </p:txBody>
          </p:sp>
        </mc:Choice>
        <mc:Fallback>
          <p:sp>
            <p:nvSpPr>
              <p:cNvPr id="35" name="TextBox 34">
                <a:extLst>
                  <a:ext uri="{FF2B5EF4-FFF2-40B4-BE49-F238E27FC236}">
                    <a16:creationId xmlns:a16="http://schemas.microsoft.com/office/drawing/2014/main" id="{33FF0443-86CE-3048-74EC-58A7ADC2D144}"/>
                  </a:ext>
                </a:extLst>
              </p:cNvPr>
              <p:cNvSpPr txBox="1">
                <a:spLocks noRot="1" noChangeAspect="1" noMove="1" noResize="1" noEditPoints="1" noAdjustHandles="1" noChangeArrowheads="1" noChangeShapeType="1" noTextEdit="1"/>
              </p:cNvSpPr>
              <p:nvPr/>
            </p:nvSpPr>
            <p:spPr>
              <a:xfrm>
                <a:off x="4005358" y="4678224"/>
                <a:ext cx="5010626" cy="338554"/>
              </a:xfrm>
              <a:prstGeom prst="rect">
                <a:avLst/>
              </a:prstGeom>
              <a:blipFill>
                <a:blip r:embed="rId8"/>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3802500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3" grpId="0"/>
      <p:bldP spid="3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5EB248F9-A9E9-B6B7-B6B8-749D9BFCDE54}"/>
              </a:ext>
            </a:extLst>
          </p:cNvPr>
          <p:cNvPicPr>
            <a:picLocks noChangeAspect="1"/>
          </p:cNvPicPr>
          <p:nvPr/>
        </p:nvPicPr>
        <p:blipFill>
          <a:blip r:embed="rId3"/>
          <a:stretch>
            <a:fillRect/>
          </a:stretch>
        </p:blipFill>
        <p:spPr>
          <a:xfrm>
            <a:off x="1435928" y="3934378"/>
            <a:ext cx="7554379" cy="2038635"/>
          </a:xfrm>
          <a:prstGeom prst="rect">
            <a:avLst/>
          </a:prstGeom>
        </p:spPr>
      </p:pic>
      <p:grpSp>
        <p:nvGrpSpPr>
          <p:cNvPr id="41" name="Group 40">
            <a:extLst>
              <a:ext uri="{FF2B5EF4-FFF2-40B4-BE49-F238E27FC236}">
                <a16:creationId xmlns:a16="http://schemas.microsoft.com/office/drawing/2014/main" id="{ED8571F2-2745-7D8C-7D75-75BC2D5307C7}"/>
              </a:ext>
            </a:extLst>
          </p:cNvPr>
          <p:cNvGrpSpPr/>
          <p:nvPr/>
        </p:nvGrpSpPr>
        <p:grpSpPr>
          <a:xfrm>
            <a:off x="1945423" y="3909320"/>
            <a:ext cx="1258907" cy="483676"/>
            <a:chOff x="1957095" y="4212746"/>
            <a:chExt cx="1258907" cy="483676"/>
          </a:xfrm>
        </p:grpSpPr>
        <p:cxnSp>
          <p:nvCxnSpPr>
            <p:cNvPr id="9" name="Straight Arrow Connector 8">
              <a:extLst>
                <a:ext uri="{FF2B5EF4-FFF2-40B4-BE49-F238E27FC236}">
                  <a16:creationId xmlns:a16="http://schemas.microsoft.com/office/drawing/2014/main" id="{40F2FB74-8B33-1928-D475-F04E882DA220}"/>
                </a:ext>
              </a:extLst>
            </p:cNvPr>
            <p:cNvCxnSpPr>
              <a:cxnSpLocks/>
            </p:cNvCxnSpPr>
            <p:nvPr/>
          </p:nvCxnSpPr>
          <p:spPr>
            <a:xfrm flipV="1">
              <a:off x="1957095" y="4592643"/>
              <a:ext cx="218397" cy="10377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F8B75712-5618-3B15-3146-78B8131246D5}"/>
                </a:ext>
              </a:extLst>
            </p:cNvPr>
            <p:cNvGrpSpPr/>
            <p:nvPr/>
          </p:nvGrpSpPr>
          <p:grpSpPr>
            <a:xfrm>
              <a:off x="2169766" y="4212746"/>
              <a:ext cx="1046236" cy="379012"/>
              <a:chOff x="2244223" y="4048581"/>
              <a:chExt cx="1046236" cy="379012"/>
            </a:xfrm>
          </p:grpSpPr>
          <p:pic>
            <p:nvPicPr>
              <p:cNvPr id="12" name="Picture 11">
                <a:extLst>
                  <a:ext uri="{FF2B5EF4-FFF2-40B4-BE49-F238E27FC236}">
                    <a16:creationId xmlns:a16="http://schemas.microsoft.com/office/drawing/2014/main" id="{D4E4CD7F-FE82-27DA-4F07-4A6B6851CB1A}"/>
                  </a:ext>
                </a:extLst>
              </p:cNvPr>
              <p:cNvPicPr>
                <a:picLocks noChangeAspect="1"/>
              </p:cNvPicPr>
              <p:nvPr/>
            </p:nvPicPr>
            <p:blipFill>
              <a:blip r:embed="rId4"/>
              <a:stretch>
                <a:fillRect/>
              </a:stretch>
            </p:blipFill>
            <p:spPr>
              <a:xfrm>
                <a:off x="2244223" y="4048581"/>
                <a:ext cx="1013638" cy="379012"/>
              </a:xfrm>
              <a:prstGeom prst="rect">
                <a:avLst/>
              </a:prstGeom>
            </p:spPr>
          </p:pic>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13FB6AC0-BE5A-C2B2-4E86-CFE0BE33FD3B}"/>
                      </a:ext>
                    </a:extLst>
                  </p:cNvPr>
                  <p:cNvSpPr txBox="1"/>
                  <p:nvPr/>
                </p:nvSpPr>
                <p:spPr>
                  <a:xfrm>
                    <a:off x="2692884" y="4099587"/>
                    <a:ext cx="597575" cy="276999"/>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200" b="1" i="1" smtClean="0">
                                  <a:solidFill>
                                    <a:schemeClr val="tx1"/>
                                  </a:solidFill>
                                  <a:latin typeface="Cambria Math" panose="02040503050406030204" pitchFamily="18" charset="0"/>
                                </a:rPr>
                              </m:ctrlPr>
                            </m:sSubPr>
                            <m:e>
                              <m:sSub>
                                <m:sSubPr>
                                  <m:ctrlPr>
                                    <a:rPr lang="en-US" sz="1200" b="1" i="1">
                                      <a:latin typeface="Cambria Math" panose="02040503050406030204" pitchFamily="18" charset="0"/>
                                    </a:rPr>
                                  </m:ctrlPr>
                                </m:sSubPr>
                                <m:e>
                                  <m:r>
                                    <a:rPr lang="en-GB" sz="1200" b="1" i="1" smtClean="0">
                                      <a:latin typeface="Cambria Math" panose="02040503050406030204" pitchFamily="18" charset="0"/>
                                    </a:rPr>
                                    <m:t>𝒎</m:t>
                                  </m:r>
                                </m:e>
                                <m:sub>
                                  <m:r>
                                    <a:rPr lang="en-GB" sz="1200" b="1" i="1" smtClean="0">
                                      <a:latin typeface="Cambria Math" panose="02040503050406030204" pitchFamily="18" charset="0"/>
                                    </a:rPr>
                                    <m:t>𝒂</m:t>
                                  </m:r>
                                </m:sub>
                              </m:sSub>
                              <m:r>
                                <m:rPr>
                                  <m:nor/>
                                </m:rPr>
                                <a:rPr lang="en-US" sz="1200" b="1" dirty="0"/>
                                <m:t> </m:t>
                              </m:r>
                              <m:r>
                                <a:rPr lang="en-GB" sz="1200" b="1" i="1" smtClean="0">
                                  <a:solidFill>
                                    <a:schemeClr val="tx1"/>
                                  </a:solidFill>
                                  <a:latin typeface="Cambria Math" panose="02040503050406030204" pitchFamily="18" charset="0"/>
                                </a:rPr>
                                <m:t>𝑽</m:t>
                              </m:r>
                            </m:e>
                            <m:sub>
                              <m:r>
                                <a:rPr lang="en-GB" sz="1200" b="1" i="1" smtClean="0">
                                  <a:solidFill>
                                    <a:schemeClr val="tx1"/>
                                  </a:solidFill>
                                  <a:latin typeface="Cambria Math" panose="02040503050406030204" pitchFamily="18" charset="0"/>
                                </a:rPr>
                                <m:t>𝒅𝒄</m:t>
                              </m:r>
                            </m:sub>
                          </m:sSub>
                        </m:oMath>
                      </m:oMathPara>
                    </a14:m>
                    <a:endParaRPr lang="en-US" sz="1200" b="1" dirty="0"/>
                  </a:p>
                </p:txBody>
              </p:sp>
            </mc:Choice>
            <mc:Fallback xmlns="">
              <p:sp>
                <p:nvSpPr>
                  <p:cNvPr id="20" name="TextBox 19">
                    <a:extLst>
                      <a:ext uri="{FF2B5EF4-FFF2-40B4-BE49-F238E27FC236}">
                        <a16:creationId xmlns:a16="http://schemas.microsoft.com/office/drawing/2014/main" id="{13FB6AC0-BE5A-C2B2-4E86-CFE0BE33FD3B}"/>
                      </a:ext>
                    </a:extLst>
                  </p:cNvPr>
                  <p:cNvSpPr txBox="1">
                    <a:spLocks noRot="1" noChangeAspect="1" noMove="1" noResize="1" noEditPoints="1" noAdjustHandles="1" noChangeArrowheads="1" noChangeShapeType="1" noTextEdit="1"/>
                  </p:cNvSpPr>
                  <p:nvPr/>
                </p:nvSpPr>
                <p:spPr>
                  <a:xfrm>
                    <a:off x="2692884" y="4099587"/>
                    <a:ext cx="597575" cy="276999"/>
                  </a:xfrm>
                  <a:prstGeom prst="rect">
                    <a:avLst/>
                  </a:prstGeom>
                  <a:blipFill>
                    <a:blip r:embed="rId5"/>
                    <a:stretch>
                      <a:fillRect r="-2000"/>
                    </a:stretch>
                  </a:blipFill>
                  <a:ln>
                    <a:solidFill>
                      <a:schemeClr val="bg1"/>
                    </a:solidFill>
                  </a:ln>
                </p:spPr>
                <p:txBody>
                  <a:bodyPr/>
                  <a:lstStyle/>
                  <a:p>
                    <a:r>
                      <a:rPr lang="en-GB">
                        <a:noFill/>
                      </a:rPr>
                      <a:t> </a:t>
                    </a:r>
                  </a:p>
                </p:txBody>
              </p:sp>
            </mc:Fallback>
          </mc:AlternateContent>
        </p:grpSp>
      </p:grpSp>
      <p:sp>
        <p:nvSpPr>
          <p:cNvPr id="2" name="Title 1">
            <a:extLst>
              <a:ext uri="{FF2B5EF4-FFF2-40B4-BE49-F238E27FC236}">
                <a16:creationId xmlns:a16="http://schemas.microsoft.com/office/drawing/2014/main" id="{83CDAB49-4E83-D5C9-EF6D-0F2CE1E6855E}"/>
              </a:ext>
            </a:extLst>
          </p:cNvPr>
          <p:cNvSpPr>
            <a:spLocks noGrp="1"/>
          </p:cNvSpPr>
          <p:nvPr>
            <p:ph type="title"/>
          </p:nvPr>
        </p:nvSpPr>
        <p:spPr>
          <a:xfrm>
            <a:off x="156156" y="44712"/>
            <a:ext cx="7886700" cy="721053"/>
          </a:xfrm>
        </p:spPr>
        <p:txBody>
          <a:bodyPr/>
          <a:lstStyle/>
          <a:p>
            <a:r>
              <a:rPr lang="en-US" dirty="0"/>
              <a:t>Harmonics</a:t>
            </a:r>
          </a:p>
        </p:txBody>
      </p:sp>
      <p:sp>
        <p:nvSpPr>
          <p:cNvPr id="17" name="Title 1">
            <a:extLst>
              <a:ext uri="{FF2B5EF4-FFF2-40B4-BE49-F238E27FC236}">
                <a16:creationId xmlns:a16="http://schemas.microsoft.com/office/drawing/2014/main" id="{4100A584-C9BA-C39F-A4D3-ABF895CCF570}"/>
              </a:ext>
            </a:extLst>
          </p:cNvPr>
          <p:cNvSpPr txBox="1">
            <a:spLocks/>
          </p:cNvSpPr>
          <p:nvPr/>
        </p:nvSpPr>
        <p:spPr>
          <a:xfrm>
            <a:off x="156156" y="619132"/>
            <a:ext cx="8851933" cy="442877"/>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Tx/>
              <a:buChar char="-"/>
            </a:pPr>
            <a:r>
              <a:rPr lang="en-US" sz="2800" b="1" dirty="0"/>
              <a:t>Harmonics in PWM Switching </a:t>
            </a:r>
            <a:r>
              <a:rPr lang="en-US" sz="2800" b="1"/>
              <a:t>(Unipolar</a:t>
            </a:r>
            <a:r>
              <a:rPr lang="en-US" sz="2800" b="1" dirty="0"/>
              <a:t>)</a:t>
            </a:r>
          </a:p>
        </p:txBody>
      </p:sp>
      <p:sp>
        <p:nvSpPr>
          <p:cNvPr id="14" name="Rectangle 13">
            <a:extLst>
              <a:ext uri="{FF2B5EF4-FFF2-40B4-BE49-F238E27FC236}">
                <a16:creationId xmlns:a16="http://schemas.microsoft.com/office/drawing/2014/main" id="{DD1C0BF3-E4FF-21D6-CD19-92034372A04C}"/>
              </a:ext>
            </a:extLst>
          </p:cNvPr>
          <p:cNvSpPr/>
          <p:nvPr/>
        </p:nvSpPr>
        <p:spPr>
          <a:xfrm>
            <a:off x="4129091" y="4729960"/>
            <a:ext cx="1494469" cy="37252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Arrow Connector 26">
            <a:extLst>
              <a:ext uri="{FF2B5EF4-FFF2-40B4-BE49-F238E27FC236}">
                <a16:creationId xmlns:a16="http://schemas.microsoft.com/office/drawing/2014/main" id="{6F3FD61C-37F2-20F9-D468-085A37AAA0F8}"/>
              </a:ext>
            </a:extLst>
          </p:cNvPr>
          <p:cNvCxnSpPr>
            <a:cxnSpLocks/>
          </p:cNvCxnSpPr>
          <p:nvPr/>
        </p:nvCxnSpPr>
        <p:spPr>
          <a:xfrm flipH="1" flipV="1">
            <a:off x="4917019" y="5983291"/>
            <a:ext cx="706541" cy="38998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40" name="Picture 39">
            <a:extLst>
              <a:ext uri="{FF2B5EF4-FFF2-40B4-BE49-F238E27FC236}">
                <a16:creationId xmlns:a16="http://schemas.microsoft.com/office/drawing/2014/main" id="{EF4E0B8C-5A06-A93E-B6C1-C8C3DDF44814}"/>
              </a:ext>
            </a:extLst>
          </p:cNvPr>
          <p:cNvPicPr>
            <a:picLocks noChangeAspect="1"/>
          </p:cNvPicPr>
          <p:nvPr/>
        </p:nvPicPr>
        <p:blipFill>
          <a:blip r:embed="rId6"/>
          <a:stretch>
            <a:fillRect/>
          </a:stretch>
        </p:blipFill>
        <p:spPr>
          <a:xfrm>
            <a:off x="524351" y="983850"/>
            <a:ext cx="3133616" cy="2438611"/>
          </a:xfrm>
          <a:prstGeom prst="rect">
            <a:avLst/>
          </a:prstGeom>
        </p:spPr>
      </p:pic>
      <p:grpSp>
        <p:nvGrpSpPr>
          <p:cNvPr id="3" name="Group 2">
            <a:extLst>
              <a:ext uri="{FF2B5EF4-FFF2-40B4-BE49-F238E27FC236}">
                <a16:creationId xmlns:a16="http://schemas.microsoft.com/office/drawing/2014/main" id="{808FEC67-03B9-6FC5-F357-58073475C217}"/>
              </a:ext>
            </a:extLst>
          </p:cNvPr>
          <p:cNvGrpSpPr/>
          <p:nvPr/>
        </p:nvGrpSpPr>
        <p:grpSpPr>
          <a:xfrm>
            <a:off x="4572000" y="1152772"/>
            <a:ext cx="4352854" cy="2191739"/>
            <a:chOff x="4443864" y="4197091"/>
            <a:chExt cx="4352854" cy="2191739"/>
          </a:xfrm>
        </p:grpSpPr>
        <p:grpSp>
          <p:nvGrpSpPr>
            <p:cNvPr id="8" name="Group 7">
              <a:extLst>
                <a:ext uri="{FF2B5EF4-FFF2-40B4-BE49-F238E27FC236}">
                  <a16:creationId xmlns:a16="http://schemas.microsoft.com/office/drawing/2014/main" id="{0881D414-E6E2-1323-2961-570B48B3794B}"/>
                </a:ext>
              </a:extLst>
            </p:cNvPr>
            <p:cNvGrpSpPr/>
            <p:nvPr/>
          </p:nvGrpSpPr>
          <p:grpSpPr>
            <a:xfrm>
              <a:off x="4791842" y="4197091"/>
              <a:ext cx="4004876" cy="2191739"/>
              <a:chOff x="4791842" y="3950601"/>
              <a:chExt cx="4004876" cy="2191739"/>
            </a:xfrm>
          </p:grpSpPr>
          <p:grpSp>
            <p:nvGrpSpPr>
              <p:cNvPr id="28" name="Group 27">
                <a:extLst>
                  <a:ext uri="{FF2B5EF4-FFF2-40B4-BE49-F238E27FC236}">
                    <a16:creationId xmlns:a16="http://schemas.microsoft.com/office/drawing/2014/main" id="{A5C5890A-D7C1-A116-BD29-7C20A3C388AA}"/>
                  </a:ext>
                </a:extLst>
              </p:cNvPr>
              <p:cNvGrpSpPr/>
              <p:nvPr/>
            </p:nvGrpSpPr>
            <p:grpSpPr>
              <a:xfrm>
                <a:off x="4899997" y="4066331"/>
                <a:ext cx="3896721" cy="2076009"/>
                <a:chOff x="4899997" y="4066331"/>
                <a:chExt cx="3896721" cy="2076009"/>
              </a:xfrm>
            </p:grpSpPr>
            <p:sp>
              <p:nvSpPr>
                <p:cNvPr id="34" name="TextBox 33">
                  <a:extLst>
                    <a:ext uri="{FF2B5EF4-FFF2-40B4-BE49-F238E27FC236}">
                      <a16:creationId xmlns:a16="http://schemas.microsoft.com/office/drawing/2014/main" id="{9B6529FD-C80F-EB49-9338-D8E2A4BE6C78}"/>
                    </a:ext>
                  </a:extLst>
                </p:cNvPr>
                <p:cNvSpPr txBox="1"/>
                <p:nvPr/>
              </p:nvSpPr>
              <p:spPr>
                <a:xfrm>
                  <a:off x="4974454" y="5773008"/>
                  <a:ext cx="3509359" cy="369332"/>
                </a:xfrm>
                <a:prstGeom prst="rect">
                  <a:avLst/>
                </a:prstGeom>
                <a:noFill/>
              </p:spPr>
              <p:txBody>
                <a:bodyPr wrap="none" rtlCol="0">
                  <a:spAutoFit/>
                </a:bodyPr>
                <a:lstStyle/>
                <a:p>
                  <a:r>
                    <a:rPr lang="en-US" dirty="0">
                      <a:solidFill>
                        <a:srgbClr val="FF0000"/>
                      </a:solidFill>
                    </a:rPr>
                    <a:t>Output (PWM Switching - Unipolar)</a:t>
                  </a:r>
                </a:p>
              </p:txBody>
            </p:sp>
            <p:pic>
              <p:nvPicPr>
                <p:cNvPr id="37" name="Picture 36">
                  <a:extLst>
                    <a:ext uri="{FF2B5EF4-FFF2-40B4-BE49-F238E27FC236}">
                      <a16:creationId xmlns:a16="http://schemas.microsoft.com/office/drawing/2014/main" id="{919460C3-1134-C5BF-C0E4-A41AF8D2BB2D}"/>
                    </a:ext>
                  </a:extLst>
                </p:cNvPr>
                <p:cNvPicPr>
                  <a:picLocks noChangeAspect="1"/>
                </p:cNvPicPr>
                <p:nvPr/>
              </p:nvPicPr>
              <p:blipFill>
                <a:blip r:embed="rId7"/>
                <a:stretch>
                  <a:fillRect/>
                </a:stretch>
              </p:blipFill>
              <p:spPr>
                <a:xfrm>
                  <a:off x="4899997" y="4179178"/>
                  <a:ext cx="3896721" cy="1421880"/>
                </a:xfrm>
                <a:prstGeom prst="rect">
                  <a:avLst/>
                </a:prstGeom>
              </p:spPr>
            </p:pic>
            <p:pic>
              <p:nvPicPr>
                <p:cNvPr id="39" name="Picture 38">
                  <a:extLst>
                    <a:ext uri="{FF2B5EF4-FFF2-40B4-BE49-F238E27FC236}">
                      <a16:creationId xmlns:a16="http://schemas.microsoft.com/office/drawing/2014/main" id="{EF7E3740-4A39-DD0D-C457-437F6A13B96D}"/>
                    </a:ext>
                  </a:extLst>
                </p:cNvPr>
                <p:cNvPicPr>
                  <a:picLocks noChangeAspect="1"/>
                </p:cNvPicPr>
                <p:nvPr/>
              </p:nvPicPr>
              <p:blipFill>
                <a:blip r:embed="rId8"/>
                <a:stretch>
                  <a:fillRect/>
                </a:stretch>
              </p:blipFill>
              <p:spPr>
                <a:xfrm>
                  <a:off x="6425281" y="4243649"/>
                  <a:ext cx="315090" cy="143697"/>
                </a:xfrm>
                <a:prstGeom prst="rect">
                  <a:avLst/>
                </a:prstGeom>
              </p:spPr>
            </p:pic>
            <p:sp>
              <p:nvSpPr>
                <p:cNvPr id="43" name="TextBox 42">
                  <a:extLst>
                    <a:ext uri="{FF2B5EF4-FFF2-40B4-BE49-F238E27FC236}">
                      <a16:creationId xmlns:a16="http://schemas.microsoft.com/office/drawing/2014/main" id="{FE3FAF69-9410-AC82-1B9B-CFBA5E5928F1}"/>
                    </a:ext>
                  </a:extLst>
                </p:cNvPr>
                <p:cNvSpPr txBox="1"/>
                <p:nvPr/>
              </p:nvSpPr>
              <p:spPr>
                <a:xfrm>
                  <a:off x="6646566" y="4066331"/>
                  <a:ext cx="602234" cy="253916"/>
                </a:xfrm>
                <a:prstGeom prst="rect">
                  <a:avLst/>
                </a:prstGeom>
                <a:solidFill>
                  <a:schemeClr val="bg1"/>
                </a:solidFill>
              </p:spPr>
              <p:txBody>
                <a:bodyPr wrap="square" rtlCol="0">
                  <a:spAutoFit/>
                </a:bodyPr>
                <a:lstStyle/>
                <a:p>
                  <a:r>
                    <a:rPr lang="en-US" sz="1050" dirty="0"/>
                    <a:t>Actual</a:t>
                  </a:r>
                </a:p>
              </p:txBody>
            </p:sp>
            <p:sp>
              <p:nvSpPr>
                <p:cNvPr id="44" name="TextBox 43">
                  <a:extLst>
                    <a:ext uri="{FF2B5EF4-FFF2-40B4-BE49-F238E27FC236}">
                      <a16:creationId xmlns:a16="http://schemas.microsoft.com/office/drawing/2014/main" id="{3200CC7A-B31B-77F0-5654-6F4931C243F4}"/>
                    </a:ext>
                  </a:extLst>
                </p:cNvPr>
                <p:cNvSpPr txBox="1"/>
                <p:nvPr/>
              </p:nvSpPr>
              <p:spPr>
                <a:xfrm>
                  <a:off x="6646566" y="4606207"/>
                  <a:ext cx="1240965" cy="253916"/>
                </a:xfrm>
                <a:prstGeom prst="rect">
                  <a:avLst/>
                </a:prstGeom>
                <a:solidFill>
                  <a:schemeClr val="bg1"/>
                </a:solidFill>
              </p:spPr>
              <p:txBody>
                <a:bodyPr wrap="square" rtlCol="0">
                  <a:spAutoFit/>
                </a:bodyPr>
                <a:lstStyle/>
                <a:p>
                  <a:r>
                    <a:rPr lang="en-US" sz="1050" dirty="0"/>
                    <a:t>Desired</a:t>
                  </a:r>
                </a:p>
              </p:txBody>
            </p:sp>
          </p:gr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85DF22D6-90C2-8987-D94E-EAE102C4CCCF}"/>
                      </a:ext>
                    </a:extLst>
                  </p:cNvPr>
                  <p:cNvSpPr txBox="1"/>
                  <p:nvPr/>
                </p:nvSpPr>
                <p:spPr>
                  <a:xfrm>
                    <a:off x="4791842" y="3950601"/>
                    <a:ext cx="216310" cy="261610"/>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100" b="1" i="1" smtClean="0">
                                  <a:solidFill>
                                    <a:schemeClr val="tx1"/>
                                  </a:solidFill>
                                  <a:latin typeface="Cambria Math" panose="02040503050406030204" pitchFamily="18" charset="0"/>
                                </a:rPr>
                              </m:ctrlPr>
                            </m:sSubPr>
                            <m:e>
                              <m:r>
                                <a:rPr lang="en-GB" sz="1100" b="1" i="1" smtClean="0">
                                  <a:solidFill>
                                    <a:schemeClr val="tx1"/>
                                  </a:solidFill>
                                  <a:latin typeface="Cambria Math" panose="02040503050406030204" pitchFamily="18" charset="0"/>
                                </a:rPr>
                                <m:t>𝒗</m:t>
                              </m:r>
                            </m:e>
                            <m:sub>
                              <m:r>
                                <a:rPr lang="en-GB" sz="1100" b="1" i="1" smtClean="0">
                                  <a:solidFill>
                                    <a:schemeClr val="tx1"/>
                                  </a:solidFill>
                                  <a:latin typeface="Cambria Math" panose="02040503050406030204" pitchFamily="18" charset="0"/>
                                </a:rPr>
                                <m:t>𝒐</m:t>
                              </m:r>
                            </m:sub>
                          </m:sSub>
                        </m:oMath>
                      </m:oMathPara>
                    </a14:m>
                    <a:endParaRPr lang="en-US" sz="1100" b="1" dirty="0"/>
                  </a:p>
                </p:txBody>
              </p:sp>
            </mc:Choice>
            <mc:Fallback xmlns="">
              <p:sp>
                <p:nvSpPr>
                  <p:cNvPr id="33" name="TextBox 32">
                    <a:extLst>
                      <a:ext uri="{FF2B5EF4-FFF2-40B4-BE49-F238E27FC236}">
                        <a16:creationId xmlns:a16="http://schemas.microsoft.com/office/drawing/2014/main" id="{85DF22D6-90C2-8987-D94E-EAE102C4CCCF}"/>
                      </a:ext>
                    </a:extLst>
                  </p:cNvPr>
                  <p:cNvSpPr txBox="1">
                    <a:spLocks noRot="1" noChangeAspect="1" noMove="1" noResize="1" noEditPoints="1" noAdjustHandles="1" noChangeArrowheads="1" noChangeShapeType="1" noTextEdit="1"/>
                  </p:cNvSpPr>
                  <p:nvPr/>
                </p:nvSpPr>
                <p:spPr>
                  <a:xfrm>
                    <a:off x="4791842" y="3950601"/>
                    <a:ext cx="216310" cy="261610"/>
                  </a:xfrm>
                  <a:prstGeom prst="rect">
                    <a:avLst/>
                  </a:prstGeom>
                  <a:blipFill>
                    <a:blip r:embed="rId9"/>
                    <a:stretch>
                      <a:fillRect r="-18421"/>
                    </a:stretch>
                  </a:blipFill>
                  <a:ln>
                    <a:solidFill>
                      <a:schemeClr val="bg1"/>
                    </a:solidFill>
                  </a:ln>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E917FF3-E3EB-3B6D-7CC7-C1EBD8F739DA}"/>
                    </a:ext>
                  </a:extLst>
                </p:cNvPr>
                <p:cNvSpPr txBox="1"/>
                <p:nvPr/>
              </p:nvSpPr>
              <p:spPr>
                <a:xfrm>
                  <a:off x="4446636" y="4336250"/>
                  <a:ext cx="234563" cy="307777"/>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400" b="1" i="1" smtClean="0">
                                <a:solidFill>
                                  <a:srgbClr val="836967"/>
                                </a:solidFill>
                                <a:latin typeface="Cambria Math" panose="02040503050406030204" pitchFamily="18" charset="0"/>
                              </a:rPr>
                            </m:ctrlPr>
                          </m:sSubPr>
                          <m:e>
                            <m:r>
                              <a:rPr lang="en-GB" sz="1400" b="1" i="1" smtClean="0">
                                <a:solidFill>
                                  <a:srgbClr val="836967"/>
                                </a:solidFill>
                                <a:latin typeface="Cambria Math" panose="02040503050406030204" pitchFamily="18" charset="0"/>
                              </a:rPr>
                              <m:t>𝑽</m:t>
                            </m:r>
                          </m:e>
                          <m:sub>
                            <m:r>
                              <a:rPr lang="en-GB" sz="1400" b="1" i="1" smtClean="0">
                                <a:latin typeface="Cambria Math" panose="02040503050406030204" pitchFamily="18" charset="0"/>
                              </a:rPr>
                              <m:t>𝒅𝒄</m:t>
                            </m:r>
                          </m:sub>
                        </m:sSub>
                      </m:oMath>
                    </m:oMathPara>
                  </a14:m>
                  <a:endParaRPr lang="en-GB" sz="1400" dirty="0"/>
                </a:p>
              </p:txBody>
            </p:sp>
          </mc:Choice>
          <mc:Fallback xmlns="">
            <p:sp>
              <p:nvSpPr>
                <p:cNvPr id="10" name="TextBox 9">
                  <a:extLst>
                    <a:ext uri="{FF2B5EF4-FFF2-40B4-BE49-F238E27FC236}">
                      <a16:creationId xmlns:a16="http://schemas.microsoft.com/office/drawing/2014/main" id="{DE917FF3-E3EB-3B6D-7CC7-C1EBD8F739DA}"/>
                    </a:ext>
                  </a:extLst>
                </p:cNvPr>
                <p:cNvSpPr txBox="1">
                  <a:spLocks noRot="1" noChangeAspect="1" noMove="1" noResize="1" noEditPoints="1" noAdjustHandles="1" noChangeArrowheads="1" noChangeShapeType="1" noTextEdit="1"/>
                </p:cNvSpPr>
                <p:nvPr/>
              </p:nvSpPr>
              <p:spPr>
                <a:xfrm>
                  <a:off x="4446636" y="4336250"/>
                  <a:ext cx="234563" cy="307777"/>
                </a:xfrm>
                <a:prstGeom prst="rect">
                  <a:avLst/>
                </a:prstGeom>
                <a:blipFill>
                  <a:blip r:embed="rId10"/>
                  <a:stretch>
                    <a:fillRect r="-68293"/>
                  </a:stretch>
                </a:blipFill>
                <a:ln>
                  <a:solidFill>
                    <a:schemeClr val="bg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08DE1E5B-7480-B0C6-B3EC-416D7096BC4A}"/>
                    </a:ext>
                  </a:extLst>
                </p:cNvPr>
                <p:cNvSpPr txBox="1"/>
                <p:nvPr/>
              </p:nvSpPr>
              <p:spPr>
                <a:xfrm>
                  <a:off x="4443864" y="5677757"/>
                  <a:ext cx="234563" cy="307777"/>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400" b="1" i="1" smtClean="0">
                                <a:solidFill>
                                  <a:srgbClr val="836967"/>
                                </a:solidFill>
                                <a:latin typeface="Cambria Math" panose="02040503050406030204" pitchFamily="18" charset="0"/>
                              </a:rPr>
                            </m:ctrlPr>
                          </m:sSubPr>
                          <m:e>
                            <m:r>
                              <a:rPr lang="en-GB" sz="1400" b="1" i="1" smtClean="0">
                                <a:solidFill>
                                  <a:srgbClr val="836967"/>
                                </a:solidFill>
                                <a:latin typeface="Cambria Math" panose="02040503050406030204" pitchFamily="18" charset="0"/>
                              </a:rPr>
                              <m:t>−</m:t>
                            </m:r>
                            <m:r>
                              <a:rPr lang="en-GB" sz="1400" b="1" i="1" smtClean="0">
                                <a:solidFill>
                                  <a:srgbClr val="836967"/>
                                </a:solidFill>
                                <a:latin typeface="Cambria Math" panose="02040503050406030204" pitchFamily="18" charset="0"/>
                              </a:rPr>
                              <m:t>𝑽</m:t>
                            </m:r>
                          </m:e>
                          <m:sub>
                            <m:r>
                              <a:rPr lang="en-GB" sz="1400" b="1" i="1" smtClean="0">
                                <a:latin typeface="Cambria Math" panose="02040503050406030204" pitchFamily="18" charset="0"/>
                              </a:rPr>
                              <m:t>𝒅𝒄</m:t>
                            </m:r>
                          </m:sub>
                        </m:sSub>
                      </m:oMath>
                    </m:oMathPara>
                  </a14:m>
                  <a:endParaRPr lang="en-GB" sz="1400" dirty="0"/>
                </a:p>
              </p:txBody>
            </p:sp>
          </mc:Choice>
          <mc:Fallback xmlns="">
            <p:sp>
              <p:nvSpPr>
                <p:cNvPr id="22" name="TextBox 21">
                  <a:extLst>
                    <a:ext uri="{FF2B5EF4-FFF2-40B4-BE49-F238E27FC236}">
                      <a16:creationId xmlns:a16="http://schemas.microsoft.com/office/drawing/2014/main" id="{08DE1E5B-7480-B0C6-B3EC-416D7096BC4A}"/>
                    </a:ext>
                  </a:extLst>
                </p:cNvPr>
                <p:cNvSpPr txBox="1">
                  <a:spLocks noRot="1" noChangeAspect="1" noMove="1" noResize="1" noEditPoints="1" noAdjustHandles="1" noChangeArrowheads="1" noChangeShapeType="1" noTextEdit="1"/>
                </p:cNvSpPr>
                <p:nvPr/>
              </p:nvSpPr>
              <p:spPr>
                <a:xfrm>
                  <a:off x="4443864" y="5677757"/>
                  <a:ext cx="234563" cy="307777"/>
                </a:xfrm>
                <a:prstGeom prst="rect">
                  <a:avLst/>
                </a:prstGeom>
                <a:blipFill>
                  <a:blip r:embed="rId11"/>
                  <a:stretch>
                    <a:fillRect r="-125000"/>
                  </a:stretch>
                </a:blipFill>
                <a:ln>
                  <a:solidFill>
                    <a:schemeClr val="bg1"/>
                  </a:solidFill>
                </a:ln>
              </p:spPr>
              <p:txBody>
                <a:bodyPr/>
                <a:lstStyle/>
                <a:p>
                  <a:r>
                    <a:rPr lang="en-GB">
                      <a:noFill/>
                    </a:rPr>
                    <a:t> </a:t>
                  </a:r>
                </a:p>
              </p:txBody>
            </p:sp>
          </mc:Fallback>
        </mc:AlternateContent>
      </p:grpSp>
    </p:spTree>
    <p:extLst>
      <p:ext uri="{BB962C8B-B14F-4D97-AF65-F5344CB8AC3E}">
        <p14:creationId xmlns:p14="http://schemas.microsoft.com/office/powerpoint/2010/main" val="674158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BA39AD-5FF5-3700-2DA3-E82C4DF64791}"/>
              </a:ext>
            </a:extLst>
          </p:cNvPr>
          <p:cNvPicPr>
            <a:picLocks noChangeAspect="1"/>
          </p:cNvPicPr>
          <p:nvPr/>
        </p:nvPicPr>
        <p:blipFill>
          <a:blip r:embed="rId2"/>
          <a:stretch>
            <a:fillRect/>
          </a:stretch>
        </p:blipFill>
        <p:spPr>
          <a:xfrm>
            <a:off x="3252503" y="1617868"/>
            <a:ext cx="5891497" cy="1611959"/>
          </a:xfrm>
          <a:prstGeom prst="rect">
            <a:avLst/>
          </a:prstGeom>
        </p:spPr>
      </p:pic>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2D2C687E-7FF8-2ACF-B3F1-8740A2B6DFF2}"/>
                  </a:ext>
                </a:extLst>
              </p:cNvPr>
              <p:cNvSpPr txBox="1"/>
              <p:nvPr/>
            </p:nvSpPr>
            <p:spPr>
              <a:xfrm>
                <a:off x="429768" y="538818"/>
                <a:ext cx="8357616" cy="1223989"/>
              </a:xfrm>
              <a:prstGeom prst="rect">
                <a:avLst/>
              </a:prstGeom>
              <a:noFill/>
            </p:spPr>
            <p:txBody>
              <a:bodyPr wrap="square">
                <a:spAutoFit/>
              </a:bodyPr>
              <a:lstStyle/>
              <a:p>
                <a:r>
                  <a:rPr lang="en-GB" dirty="0"/>
                  <a:t>In the full-bridge converter circuit, </a:t>
                </a:r>
                <a14:m>
                  <m:oMath xmlns:m="http://schemas.openxmlformats.org/officeDocument/2006/math">
                    <m:sSub>
                      <m:sSubPr>
                        <m:ctrlPr>
                          <a:rPr lang="en-GB" i="1">
                            <a:latin typeface="Cambria Math" panose="02040503050406030204" pitchFamily="18" charset="0"/>
                          </a:rPr>
                        </m:ctrlPr>
                      </m:sSubPr>
                      <m:e>
                        <m:r>
                          <a:rPr lang="en-GB" b="0" i="1" smtClean="0">
                            <a:latin typeface="Cambria Math" panose="02040503050406030204" pitchFamily="18" charset="0"/>
                          </a:rPr>
                          <m:t>𝑉</m:t>
                        </m:r>
                      </m:e>
                      <m:sub>
                        <m:r>
                          <a:rPr lang="en-GB" b="0" i="1" smtClean="0">
                            <a:latin typeface="Cambria Math" panose="02040503050406030204" pitchFamily="18" charset="0"/>
                          </a:rPr>
                          <m:t>𝑑</m:t>
                        </m:r>
                      </m:sub>
                    </m:sSub>
                  </m:oMath>
                </a14:m>
                <a:r>
                  <a:rPr lang="en-GB" dirty="0"/>
                  <a:t> = 300 V, </a:t>
                </a:r>
                <a14:m>
                  <m:oMath xmlns:m="http://schemas.openxmlformats.org/officeDocument/2006/math">
                    <m:sSub>
                      <m:sSubPr>
                        <m:ctrlPr>
                          <a:rPr lang="en-GB" sz="1800" i="1" smtClean="0">
                            <a:latin typeface="Cambria Math" panose="02040503050406030204" pitchFamily="18" charset="0"/>
                          </a:rPr>
                        </m:ctrlPr>
                      </m:sSubPr>
                      <m:e>
                        <m:r>
                          <a:rPr lang="en-GB" sz="1800" b="0" i="1" smtClean="0">
                            <a:latin typeface="Cambria Math" panose="02040503050406030204" pitchFamily="18" charset="0"/>
                          </a:rPr>
                          <m:t>𝑚</m:t>
                        </m:r>
                      </m:e>
                      <m:sub>
                        <m:r>
                          <a:rPr lang="en-GB" sz="1800" b="0" i="1" smtClean="0">
                            <a:latin typeface="Cambria Math" panose="02040503050406030204" pitchFamily="18" charset="0"/>
                          </a:rPr>
                          <m:t>𝑎</m:t>
                        </m:r>
                      </m:sub>
                    </m:sSub>
                  </m:oMath>
                </a14:m>
                <a:r>
                  <a:rPr lang="en-GB" dirty="0"/>
                  <a:t> = 0.8,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𝑚</m:t>
                        </m:r>
                      </m:e>
                      <m:sub>
                        <m:r>
                          <a:rPr lang="en-GB" b="0" i="1" smtClean="0">
                            <a:latin typeface="Cambria Math" panose="02040503050406030204" pitchFamily="18" charset="0"/>
                          </a:rPr>
                          <m:t>𝑓</m:t>
                        </m:r>
                      </m:sub>
                    </m:sSub>
                  </m:oMath>
                </a14:m>
                <a:r>
                  <a:rPr lang="en-GB" dirty="0"/>
                  <a:t> = 38, and the fundamental frequency is 47 Hz. Calculate the rms values of the fundamental-frequency voltage and some of the dominant harmonics in the output voltage v, if a PWM bipolar voltage-switching scheme is used. </a:t>
                </a:r>
              </a:p>
            </p:txBody>
          </p:sp>
        </mc:Choice>
        <mc:Fallback>
          <p:sp>
            <p:nvSpPr>
              <p:cNvPr id="5" name="TextBox 4">
                <a:extLst>
                  <a:ext uri="{FF2B5EF4-FFF2-40B4-BE49-F238E27FC236}">
                    <a16:creationId xmlns:a16="http://schemas.microsoft.com/office/drawing/2014/main" id="{2D2C687E-7FF8-2ACF-B3F1-8740A2B6DFF2}"/>
                  </a:ext>
                </a:extLst>
              </p:cNvPr>
              <p:cNvSpPr txBox="1">
                <a:spLocks noRot="1" noChangeAspect="1" noMove="1" noResize="1" noEditPoints="1" noAdjustHandles="1" noChangeArrowheads="1" noChangeShapeType="1" noTextEdit="1"/>
              </p:cNvSpPr>
              <p:nvPr/>
            </p:nvSpPr>
            <p:spPr>
              <a:xfrm>
                <a:off x="429768" y="538818"/>
                <a:ext cx="8357616" cy="1223989"/>
              </a:xfrm>
              <a:prstGeom prst="rect">
                <a:avLst/>
              </a:prstGeom>
              <a:blipFill>
                <a:blip r:embed="rId3"/>
                <a:stretch>
                  <a:fillRect l="-656" t="-1990" b="-6965"/>
                </a:stretch>
              </a:blipFill>
            </p:spPr>
            <p:txBody>
              <a:bodyPr/>
              <a:lstStyle/>
              <a:p>
                <a:r>
                  <a:rPr lang="en-GB">
                    <a:noFill/>
                  </a:rPr>
                  <a:t> </a:t>
                </a:r>
              </a:p>
            </p:txBody>
          </p:sp>
        </mc:Fallback>
      </mc:AlternateContent>
      <p:grpSp>
        <p:nvGrpSpPr>
          <p:cNvPr id="38" name="Group 37">
            <a:extLst>
              <a:ext uri="{FF2B5EF4-FFF2-40B4-BE49-F238E27FC236}">
                <a16:creationId xmlns:a16="http://schemas.microsoft.com/office/drawing/2014/main" id="{A7281F80-1D72-7943-26CA-A8067493BA49}"/>
              </a:ext>
            </a:extLst>
          </p:cNvPr>
          <p:cNvGrpSpPr/>
          <p:nvPr/>
        </p:nvGrpSpPr>
        <p:grpSpPr>
          <a:xfrm>
            <a:off x="0" y="2990318"/>
            <a:ext cx="3895344" cy="3961080"/>
            <a:chOff x="0" y="2990318"/>
            <a:chExt cx="3895344" cy="3961080"/>
          </a:xfrm>
        </p:grpSpPr>
        <p:pic>
          <p:nvPicPr>
            <p:cNvPr id="23" name="Picture 22">
              <a:extLst>
                <a:ext uri="{FF2B5EF4-FFF2-40B4-BE49-F238E27FC236}">
                  <a16:creationId xmlns:a16="http://schemas.microsoft.com/office/drawing/2014/main" id="{3C243940-0BB6-A38E-B081-032BA3783878}"/>
                </a:ext>
              </a:extLst>
            </p:cNvPr>
            <p:cNvPicPr>
              <a:picLocks noChangeAspect="1"/>
            </p:cNvPicPr>
            <p:nvPr/>
          </p:nvPicPr>
          <p:blipFill>
            <a:blip r:embed="rId4"/>
            <a:stretch>
              <a:fillRect/>
            </a:stretch>
          </p:blipFill>
          <p:spPr>
            <a:xfrm>
              <a:off x="0" y="2990318"/>
              <a:ext cx="3895344" cy="3328864"/>
            </a:xfrm>
            <a:prstGeom prst="rect">
              <a:avLst/>
            </a:prstGeom>
          </p:spPr>
        </p:pic>
        <p:sp>
          <p:nvSpPr>
            <p:cNvPr id="24" name="Rectangle 23">
              <a:extLst>
                <a:ext uri="{FF2B5EF4-FFF2-40B4-BE49-F238E27FC236}">
                  <a16:creationId xmlns:a16="http://schemas.microsoft.com/office/drawing/2014/main" id="{B3C0A5BC-BF7B-B118-2A86-62E182D4983F}"/>
                </a:ext>
              </a:extLst>
            </p:cNvPr>
            <p:cNvSpPr/>
            <p:nvPr/>
          </p:nvSpPr>
          <p:spPr>
            <a:xfrm>
              <a:off x="2700242" y="3039733"/>
              <a:ext cx="552261" cy="3276983"/>
            </a:xfrm>
            <a:prstGeom prst="rect">
              <a:avLst/>
            </a:prstGeom>
            <a:solidFill>
              <a:schemeClr val="accent1">
                <a:alpha val="42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2" name="Picture 31">
              <a:extLst>
                <a:ext uri="{FF2B5EF4-FFF2-40B4-BE49-F238E27FC236}">
                  <a16:creationId xmlns:a16="http://schemas.microsoft.com/office/drawing/2014/main" id="{4E8D6876-CE8B-7B8E-50FB-AB4650725C61}"/>
                </a:ext>
              </a:extLst>
            </p:cNvPr>
            <p:cNvPicPr>
              <a:picLocks noChangeAspect="1"/>
            </p:cNvPicPr>
            <p:nvPr/>
          </p:nvPicPr>
          <p:blipFill>
            <a:blip r:embed="rId5"/>
            <a:stretch>
              <a:fillRect/>
            </a:stretch>
          </p:blipFill>
          <p:spPr>
            <a:xfrm>
              <a:off x="137003" y="6366131"/>
              <a:ext cx="3621338" cy="585267"/>
            </a:xfrm>
            <a:prstGeom prst="rect">
              <a:avLst/>
            </a:prstGeom>
          </p:spPr>
        </p:pic>
      </p:grpSp>
      <mc:AlternateContent xmlns:mc="http://schemas.openxmlformats.org/markup-compatibility/2006">
        <mc:Choice xmlns:a14="http://schemas.microsoft.com/office/drawing/2010/main" Requires="a14">
          <p:sp>
            <p:nvSpPr>
              <p:cNvPr id="33" name="TextBox 32">
                <a:extLst>
                  <a:ext uri="{FF2B5EF4-FFF2-40B4-BE49-F238E27FC236}">
                    <a16:creationId xmlns:a16="http://schemas.microsoft.com/office/drawing/2014/main" id="{216393EF-A229-A024-70A8-19C617048600}"/>
                  </a:ext>
                </a:extLst>
              </p:cNvPr>
              <p:cNvSpPr txBox="1"/>
              <p:nvPr/>
            </p:nvSpPr>
            <p:spPr>
              <a:xfrm>
                <a:off x="4718304" y="3476306"/>
                <a:ext cx="3602736" cy="669799"/>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GB" b="0" i="1" smtClean="0">
                              <a:latin typeface="Cambria Math" panose="02040503050406030204" pitchFamily="18" charset="0"/>
                            </a:rPr>
                            <m:t>𝑉</m:t>
                          </m:r>
                        </m:e>
                        <m:sub>
                          <m:r>
                            <a:rPr lang="en-GB" b="0" i="1" smtClean="0">
                              <a:latin typeface="Cambria Math" panose="02040503050406030204" pitchFamily="18" charset="0"/>
                            </a:rPr>
                            <m:t>𝑟𝑚𝑠</m:t>
                          </m:r>
                        </m:sub>
                      </m:sSub>
                      <m:r>
                        <a:rPr lang="en-GB" b="0" i="1" smtClean="0">
                          <a:latin typeface="Cambria Math" panose="02040503050406030204" pitchFamily="18" charset="0"/>
                        </a:rPr>
                        <m:t>= </m:t>
                      </m:r>
                      <m:f>
                        <m:fPr>
                          <m:ctrlPr>
                            <a:rPr lang="en-GB" b="0" i="1" smtClean="0">
                              <a:latin typeface="Cambria Math" panose="02040503050406030204" pitchFamily="18" charset="0"/>
                            </a:rPr>
                          </m:ctrlPr>
                        </m:fPr>
                        <m:num>
                          <m:sSub>
                            <m:sSubPr>
                              <m:ctrlPr>
                                <a:rPr lang="en-GB" i="1">
                                  <a:latin typeface="Cambria Math" panose="02040503050406030204" pitchFamily="18" charset="0"/>
                                </a:rPr>
                              </m:ctrlPr>
                            </m:sSubPr>
                            <m:e>
                              <m:r>
                                <a:rPr lang="en-GB" i="1">
                                  <a:latin typeface="Cambria Math" panose="02040503050406030204" pitchFamily="18" charset="0"/>
                                </a:rPr>
                                <m:t>𝑉</m:t>
                              </m:r>
                            </m:e>
                            <m:sub>
                              <m:r>
                                <a:rPr lang="en-GB" b="0" i="1" smtClean="0">
                                  <a:latin typeface="Cambria Math" panose="02040503050406030204" pitchFamily="18" charset="0"/>
                                </a:rPr>
                                <m:t>𝑝𝑒𝑎𝑘</m:t>
                              </m:r>
                            </m:sub>
                          </m:sSub>
                        </m:num>
                        <m:den>
                          <m:rad>
                            <m:radPr>
                              <m:degHide m:val="on"/>
                              <m:ctrlPr>
                                <a:rPr lang="en-GB" b="0" i="1" smtClean="0">
                                  <a:latin typeface="Cambria Math" panose="02040503050406030204" pitchFamily="18" charset="0"/>
                                </a:rPr>
                              </m:ctrlPr>
                            </m:radPr>
                            <m:deg/>
                            <m:e>
                              <m:r>
                                <a:rPr lang="en-GB" b="0" i="1" smtClean="0">
                                  <a:latin typeface="Cambria Math" panose="02040503050406030204" pitchFamily="18" charset="0"/>
                                </a:rPr>
                                <m:t>2</m:t>
                              </m:r>
                            </m:e>
                          </m:rad>
                        </m:den>
                      </m:f>
                      <m:r>
                        <a:rPr lang="en-GB" b="0" i="1" smtClean="0">
                          <a:latin typeface="Cambria Math" panose="02040503050406030204" pitchFamily="18" charset="0"/>
                        </a:rPr>
                        <m:t>= </m:t>
                      </m:r>
                      <m:f>
                        <m:fPr>
                          <m:ctrlPr>
                            <a:rPr lang="en-GB" b="0" i="1" smtClean="0">
                              <a:latin typeface="Cambria Math" panose="02040503050406030204" pitchFamily="18" charset="0"/>
                            </a:rPr>
                          </m:ctrlPr>
                        </m:fPr>
                        <m:num>
                          <m:r>
                            <a:rPr lang="en-GB" b="0" i="1" smtClean="0">
                              <a:latin typeface="Cambria Math" panose="02040503050406030204" pitchFamily="18" charset="0"/>
                            </a:rPr>
                            <m:t>300</m:t>
                          </m:r>
                        </m:num>
                        <m:den>
                          <m:rad>
                            <m:radPr>
                              <m:degHide m:val="on"/>
                              <m:ctrlPr>
                                <a:rPr lang="en-GB" i="1">
                                  <a:latin typeface="Cambria Math" panose="02040503050406030204" pitchFamily="18" charset="0"/>
                                </a:rPr>
                              </m:ctrlPr>
                            </m:radPr>
                            <m:deg/>
                            <m:e>
                              <m:r>
                                <a:rPr lang="en-GB" i="1">
                                  <a:latin typeface="Cambria Math" panose="02040503050406030204" pitchFamily="18" charset="0"/>
                                </a:rPr>
                                <m:t>2</m:t>
                              </m:r>
                            </m:e>
                          </m:rad>
                        </m:den>
                      </m:f>
                      <m:r>
                        <a:rPr lang="en-GB" b="0" i="1" smtClean="0">
                          <a:latin typeface="Cambria Math" panose="02040503050406030204" pitchFamily="18" charset="0"/>
                        </a:rPr>
                        <m:t>=212.13</m:t>
                      </m:r>
                    </m:oMath>
                  </m:oMathPara>
                </a14:m>
                <a:endParaRPr lang="en-GB" dirty="0"/>
              </a:p>
            </p:txBody>
          </p:sp>
        </mc:Choice>
        <mc:Fallback>
          <p:sp>
            <p:nvSpPr>
              <p:cNvPr id="33" name="TextBox 32">
                <a:extLst>
                  <a:ext uri="{FF2B5EF4-FFF2-40B4-BE49-F238E27FC236}">
                    <a16:creationId xmlns:a16="http://schemas.microsoft.com/office/drawing/2014/main" id="{216393EF-A229-A024-70A8-19C617048600}"/>
                  </a:ext>
                </a:extLst>
              </p:cNvPr>
              <p:cNvSpPr txBox="1">
                <a:spLocks noRot="1" noChangeAspect="1" noMove="1" noResize="1" noEditPoints="1" noAdjustHandles="1" noChangeArrowheads="1" noChangeShapeType="1" noTextEdit="1"/>
              </p:cNvSpPr>
              <p:nvPr/>
            </p:nvSpPr>
            <p:spPr>
              <a:xfrm>
                <a:off x="4718304" y="3476306"/>
                <a:ext cx="3602736" cy="669799"/>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35" name="TextBox 34">
                <a:extLst>
                  <a:ext uri="{FF2B5EF4-FFF2-40B4-BE49-F238E27FC236}">
                    <a16:creationId xmlns:a16="http://schemas.microsoft.com/office/drawing/2014/main" id="{33FF0443-86CE-3048-74EC-58A7ADC2D144}"/>
                  </a:ext>
                </a:extLst>
              </p:cNvPr>
              <p:cNvSpPr txBox="1"/>
              <p:nvPr/>
            </p:nvSpPr>
            <p:spPr>
              <a:xfrm>
                <a:off x="4006436" y="4265440"/>
                <a:ext cx="5010626" cy="338554"/>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GB" sz="1600" b="1" i="1" smtClean="0">
                              <a:latin typeface="Cambria Math" panose="02040503050406030204" pitchFamily="18" charset="0"/>
                            </a:rPr>
                          </m:ctrlPr>
                        </m:sSubPr>
                        <m:e>
                          <m:r>
                            <a:rPr lang="en-GB" sz="1600" b="1" i="1" smtClean="0">
                              <a:latin typeface="Cambria Math" panose="02040503050406030204" pitchFamily="18" charset="0"/>
                            </a:rPr>
                            <m:t>𝑽</m:t>
                          </m:r>
                        </m:e>
                        <m:sub>
                          <m:r>
                            <a:rPr lang="en-GB" sz="1600" b="1" i="1" smtClean="0">
                              <a:latin typeface="Cambria Math" panose="02040503050406030204" pitchFamily="18" charset="0"/>
                            </a:rPr>
                            <m:t>𝒐</m:t>
                          </m:r>
                          <m:r>
                            <a:rPr lang="en-GB" sz="1600" b="1" i="1" smtClean="0">
                              <a:latin typeface="Cambria Math" panose="02040503050406030204" pitchFamily="18" charset="0"/>
                            </a:rPr>
                            <m:t>𝟏</m:t>
                          </m:r>
                        </m:sub>
                      </m:sSub>
                      <m:r>
                        <a:rPr lang="en-GB" sz="1600" b="1" i="1" smtClean="0">
                          <a:latin typeface="Cambria Math" panose="02040503050406030204" pitchFamily="18" charset="0"/>
                        </a:rPr>
                        <m:t>=</m:t>
                      </m:r>
                      <m:sSub>
                        <m:sSubPr>
                          <m:ctrlPr>
                            <a:rPr lang="en-GB" sz="1600" b="1" i="1">
                              <a:latin typeface="Cambria Math" panose="02040503050406030204" pitchFamily="18" charset="0"/>
                            </a:rPr>
                          </m:ctrlPr>
                        </m:sSubPr>
                        <m:e>
                          <m:r>
                            <a:rPr lang="en-GB" sz="1600" b="1" i="1">
                              <a:latin typeface="Cambria Math" panose="02040503050406030204" pitchFamily="18" charset="0"/>
                            </a:rPr>
                            <m:t>𝑽</m:t>
                          </m:r>
                        </m:e>
                        <m:sub>
                          <m:r>
                            <a:rPr lang="en-GB" sz="1600" b="1" i="1" smtClean="0">
                              <a:latin typeface="Cambria Math" panose="02040503050406030204" pitchFamily="18" charset="0"/>
                            </a:rPr>
                            <m:t>𝒓𝒎𝒔</m:t>
                          </m:r>
                        </m:sub>
                      </m:sSub>
                      <m:r>
                        <a:rPr lang="en-GB" sz="1600" b="1" i="1" smtClean="0">
                          <a:latin typeface="Cambria Math" panose="02040503050406030204" pitchFamily="18" charset="0"/>
                          <a:ea typeface="Cambria Math" panose="02040503050406030204" pitchFamily="18" charset="0"/>
                        </a:rPr>
                        <m:t>× </m:t>
                      </m:r>
                      <m:sSub>
                        <m:sSubPr>
                          <m:ctrlPr>
                            <a:rPr lang="en-GB" sz="1600" b="1" i="1" smtClean="0">
                              <a:latin typeface="Cambria Math" panose="02040503050406030204" pitchFamily="18" charset="0"/>
                              <a:ea typeface="Cambria Math" panose="02040503050406030204" pitchFamily="18" charset="0"/>
                            </a:rPr>
                          </m:ctrlPr>
                        </m:sSubPr>
                        <m:e>
                          <m:r>
                            <a:rPr lang="en-GB" sz="1600" b="1" i="1" smtClean="0">
                              <a:latin typeface="Cambria Math" panose="02040503050406030204" pitchFamily="18" charset="0"/>
                              <a:ea typeface="Cambria Math" panose="02040503050406030204" pitchFamily="18" charset="0"/>
                            </a:rPr>
                            <m:t>𝒎</m:t>
                          </m:r>
                        </m:e>
                        <m:sub>
                          <m:r>
                            <a:rPr lang="en-GB" sz="1600" b="1" i="1" smtClean="0">
                              <a:latin typeface="Cambria Math" panose="02040503050406030204" pitchFamily="18" charset="0"/>
                              <a:ea typeface="Cambria Math" panose="02040503050406030204" pitchFamily="18" charset="0"/>
                            </a:rPr>
                            <m:t>𝒂</m:t>
                          </m:r>
                        </m:sub>
                      </m:sSub>
                      <m:r>
                        <a:rPr lang="en-GB" sz="1600" b="1" i="1" smtClean="0">
                          <a:latin typeface="Cambria Math" panose="02040503050406030204" pitchFamily="18" charset="0"/>
                        </a:rPr>
                        <m:t>=</m:t>
                      </m:r>
                      <m:r>
                        <a:rPr lang="en-GB" sz="1600" b="1" i="1" smtClean="0">
                          <a:latin typeface="Cambria Math" panose="02040503050406030204" pitchFamily="18" charset="0"/>
                        </a:rPr>
                        <m:t>𝟐𝟏𝟐</m:t>
                      </m:r>
                      <m:r>
                        <a:rPr lang="en-GB" sz="1600" b="1" i="1" smtClean="0">
                          <a:latin typeface="Cambria Math" panose="02040503050406030204" pitchFamily="18" charset="0"/>
                        </a:rPr>
                        <m:t>.</m:t>
                      </m:r>
                      <m:r>
                        <a:rPr lang="en-GB" sz="1600" b="1" i="1" smtClean="0">
                          <a:latin typeface="Cambria Math" panose="02040503050406030204" pitchFamily="18" charset="0"/>
                        </a:rPr>
                        <m:t>𝟏𝟑</m:t>
                      </m:r>
                      <m:r>
                        <a:rPr lang="en-GB" sz="1600" b="1" i="1" smtClean="0">
                          <a:latin typeface="Cambria Math" panose="02040503050406030204" pitchFamily="18" charset="0"/>
                          <a:ea typeface="Cambria Math" panose="02040503050406030204" pitchFamily="18" charset="0"/>
                        </a:rPr>
                        <m:t>×</m:t>
                      </m:r>
                      <m:r>
                        <a:rPr lang="en-GB" sz="1600" b="1" i="1" smtClean="0">
                          <a:latin typeface="Cambria Math" panose="02040503050406030204" pitchFamily="18" charset="0"/>
                          <a:ea typeface="Cambria Math" panose="02040503050406030204" pitchFamily="18" charset="0"/>
                        </a:rPr>
                        <m:t>𝟎</m:t>
                      </m:r>
                      <m:r>
                        <a:rPr lang="en-GB" sz="1600" b="1" i="1" smtClean="0">
                          <a:latin typeface="Cambria Math" panose="02040503050406030204" pitchFamily="18" charset="0"/>
                          <a:ea typeface="Cambria Math" panose="02040503050406030204" pitchFamily="18" charset="0"/>
                        </a:rPr>
                        <m:t>.</m:t>
                      </m:r>
                      <m:r>
                        <a:rPr lang="en-GB" sz="1600" b="1" i="1" smtClean="0">
                          <a:latin typeface="Cambria Math" panose="02040503050406030204" pitchFamily="18" charset="0"/>
                          <a:ea typeface="Cambria Math" panose="02040503050406030204" pitchFamily="18" charset="0"/>
                        </a:rPr>
                        <m:t>𝟖</m:t>
                      </m:r>
                      <m:r>
                        <a:rPr lang="en-GB" sz="1600" b="1" i="1" smtClean="0">
                          <a:latin typeface="Cambria Math" panose="02040503050406030204" pitchFamily="18" charset="0"/>
                          <a:ea typeface="Cambria Math" panose="02040503050406030204" pitchFamily="18" charset="0"/>
                        </a:rPr>
                        <m:t>=</m:t>
                      </m:r>
                      <m:r>
                        <a:rPr lang="en-GB" sz="1600" b="1" i="1" smtClean="0">
                          <a:latin typeface="Cambria Math" panose="02040503050406030204" pitchFamily="18" charset="0"/>
                          <a:ea typeface="Cambria Math" panose="02040503050406030204" pitchFamily="18" charset="0"/>
                        </a:rPr>
                        <m:t>𝟏𝟔𝟗</m:t>
                      </m:r>
                      <m:r>
                        <a:rPr lang="en-GB" sz="1600" b="1" i="1" smtClean="0">
                          <a:latin typeface="Cambria Math" panose="02040503050406030204" pitchFamily="18" charset="0"/>
                          <a:ea typeface="Cambria Math" panose="02040503050406030204" pitchFamily="18" charset="0"/>
                        </a:rPr>
                        <m:t>.</m:t>
                      </m:r>
                      <m:r>
                        <a:rPr lang="en-GB" sz="1600" b="1" i="1" smtClean="0">
                          <a:latin typeface="Cambria Math" panose="02040503050406030204" pitchFamily="18" charset="0"/>
                          <a:ea typeface="Cambria Math" panose="02040503050406030204" pitchFamily="18" charset="0"/>
                        </a:rPr>
                        <m:t>𝟕</m:t>
                      </m:r>
                      <m:r>
                        <a:rPr lang="en-GB" sz="1600" b="1" i="1" smtClean="0">
                          <a:latin typeface="Cambria Math" panose="02040503050406030204" pitchFamily="18" charset="0"/>
                          <a:ea typeface="Cambria Math" panose="02040503050406030204" pitchFamily="18" charset="0"/>
                        </a:rPr>
                        <m:t> </m:t>
                      </m:r>
                      <m:r>
                        <a:rPr lang="en-GB" sz="1600" b="1" i="1" smtClean="0">
                          <a:latin typeface="Cambria Math" panose="02040503050406030204" pitchFamily="18" charset="0"/>
                          <a:ea typeface="Cambria Math" panose="02040503050406030204" pitchFamily="18" charset="0"/>
                        </a:rPr>
                        <m:t>𝑽</m:t>
                      </m:r>
                      <m:r>
                        <a:rPr lang="en-GB" sz="1600" b="1" i="1" smtClean="0">
                          <a:latin typeface="Cambria Math" panose="02040503050406030204" pitchFamily="18" charset="0"/>
                          <a:ea typeface="Cambria Math" panose="02040503050406030204" pitchFamily="18" charset="0"/>
                        </a:rPr>
                        <m:t> @</m:t>
                      </m:r>
                      <m:r>
                        <a:rPr lang="en-GB" sz="1600" b="1" i="1" smtClean="0">
                          <a:latin typeface="Cambria Math" panose="02040503050406030204" pitchFamily="18" charset="0"/>
                          <a:ea typeface="Cambria Math" panose="02040503050406030204" pitchFamily="18" charset="0"/>
                        </a:rPr>
                        <m:t>𝟒𝟕</m:t>
                      </m:r>
                      <m:r>
                        <a:rPr lang="en-GB" sz="1600" b="1" i="1" smtClean="0">
                          <a:latin typeface="Cambria Math" panose="02040503050406030204" pitchFamily="18" charset="0"/>
                          <a:ea typeface="Cambria Math" panose="02040503050406030204" pitchFamily="18" charset="0"/>
                        </a:rPr>
                        <m:t>𝑯𝒛</m:t>
                      </m:r>
                    </m:oMath>
                  </m:oMathPara>
                </a14:m>
                <a:endParaRPr lang="en-GB" sz="1600" b="1" dirty="0"/>
              </a:p>
            </p:txBody>
          </p:sp>
        </mc:Choice>
        <mc:Fallback>
          <p:sp>
            <p:nvSpPr>
              <p:cNvPr id="35" name="TextBox 34">
                <a:extLst>
                  <a:ext uri="{FF2B5EF4-FFF2-40B4-BE49-F238E27FC236}">
                    <a16:creationId xmlns:a16="http://schemas.microsoft.com/office/drawing/2014/main" id="{33FF0443-86CE-3048-74EC-58A7ADC2D144}"/>
                  </a:ext>
                </a:extLst>
              </p:cNvPr>
              <p:cNvSpPr txBox="1">
                <a:spLocks noRot="1" noChangeAspect="1" noMove="1" noResize="1" noEditPoints="1" noAdjustHandles="1" noChangeArrowheads="1" noChangeShapeType="1" noTextEdit="1"/>
              </p:cNvSpPr>
              <p:nvPr/>
            </p:nvSpPr>
            <p:spPr>
              <a:xfrm>
                <a:off x="4006436" y="4265440"/>
                <a:ext cx="5010626" cy="338554"/>
              </a:xfrm>
              <a:prstGeom prst="rect">
                <a:avLst/>
              </a:prstGeom>
              <a:blipFill>
                <a:blip r:embed="rId7"/>
                <a:stretch>
                  <a:fillRect/>
                </a:stretch>
              </a:blipFill>
            </p:spPr>
            <p:txBody>
              <a:bodyPr/>
              <a:lstStyle/>
              <a:p>
                <a:r>
                  <a:rPr lang="en-GB">
                    <a:noFill/>
                  </a:rPr>
                  <a:t> </a:t>
                </a:r>
              </a:p>
            </p:txBody>
          </p:sp>
        </mc:Fallback>
      </mc:AlternateContent>
      <p:pic>
        <p:nvPicPr>
          <p:cNvPr id="14" name="Picture 13">
            <a:extLst>
              <a:ext uri="{FF2B5EF4-FFF2-40B4-BE49-F238E27FC236}">
                <a16:creationId xmlns:a16="http://schemas.microsoft.com/office/drawing/2014/main" id="{A34AB53D-9A07-8303-13E7-EAA37CB7955C}"/>
              </a:ext>
            </a:extLst>
          </p:cNvPr>
          <p:cNvPicPr>
            <a:picLocks noChangeAspect="1"/>
          </p:cNvPicPr>
          <p:nvPr/>
        </p:nvPicPr>
        <p:blipFill>
          <a:blip r:embed="rId8"/>
          <a:stretch>
            <a:fillRect/>
          </a:stretch>
        </p:blipFill>
        <p:spPr>
          <a:xfrm>
            <a:off x="4006436" y="4675704"/>
            <a:ext cx="3019846" cy="295316"/>
          </a:xfrm>
          <a:prstGeom prst="rect">
            <a:avLst/>
          </a:prstGeom>
        </p:spPr>
      </p:pic>
      <p:pic>
        <p:nvPicPr>
          <p:cNvPr id="16" name="Picture 15">
            <a:extLst>
              <a:ext uri="{FF2B5EF4-FFF2-40B4-BE49-F238E27FC236}">
                <a16:creationId xmlns:a16="http://schemas.microsoft.com/office/drawing/2014/main" id="{4ACA828C-C9E5-9370-A878-F2E9EA9B6222}"/>
              </a:ext>
            </a:extLst>
          </p:cNvPr>
          <p:cNvPicPr>
            <a:picLocks noChangeAspect="1"/>
          </p:cNvPicPr>
          <p:nvPr/>
        </p:nvPicPr>
        <p:blipFill>
          <a:blip r:embed="rId9"/>
          <a:stretch>
            <a:fillRect/>
          </a:stretch>
        </p:blipFill>
        <p:spPr>
          <a:xfrm>
            <a:off x="5516359" y="5029296"/>
            <a:ext cx="3134162" cy="304843"/>
          </a:xfrm>
          <a:prstGeom prst="rect">
            <a:avLst/>
          </a:prstGeom>
        </p:spPr>
      </p:pic>
      <p:pic>
        <p:nvPicPr>
          <p:cNvPr id="18" name="Picture 17">
            <a:extLst>
              <a:ext uri="{FF2B5EF4-FFF2-40B4-BE49-F238E27FC236}">
                <a16:creationId xmlns:a16="http://schemas.microsoft.com/office/drawing/2014/main" id="{5A92C67C-CAA7-7CDB-A1A3-739AFCF3F00C}"/>
              </a:ext>
            </a:extLst>
          </p:cNvPr>
          <p:cNvPicPr>
            <a:picLocks noChangeAspect="1"/>
          </p:cNvPicPr>
          <p:nvPr/>
        </p:nvPicPr>
        <p:blipFill>
          <a:blip r:embed="rId10"/>
          <a:stretch>
            <a:fillRect/>
          </a:stretch>
        </p:blipFill>
        <p:spPr>
          <a:xfrm>
            <a:off x="4044541" y="5406722"/>
            <a:ext cx="2981741" cy="276264"/>
          </a:xfrm>
          <a:prstGeom prst="rect">
            <a:avLst/>
          </a:prstGeom>
        </p:spPr>
      </p:pic>
      <p:pic>
        <p:nvPicPr>
          <p:cNvPr id="20" name="Picture 19">
            <a:extLst>
              <a:ext uri="{FF2B5EF4-FFF2-40B4-BE49-F238E27FC236}">
                <a16:creationId xmlns:a16="http://schemas.microsoft.com/office/drawing/2014/main" id="{B05F6057-968E-D2BA-FF85-CDCE4238E86E}"/>
              </a:ext>
            </a:extLst>
          </p:cNvPr>
          <p:cNvPicPr>
            <a:picLocks noChangeAspect="1"/>
          </p:cNvPicPr>
          <p:nvPr/>
        </p:nvPicPr>
        <p:blipFill>
          <a:blip r:embed="rId11"/>
          <a:stretch>
            <a:fillRect/>
          </a:stretch>
        </p:blipFill>
        <p:spPr>
          <a:xfrm>
            <a:off x="5435385" y="5769841"/>
            <a:ext cx="3181794" cy="266737"/>
          </a:xfrm>
          <a:prstGeom prst="rect">
            <a:avLst/>
          </a:prstGeom>
        </p:spPr>
      </p:pic>
    </p:spTree>
    <p:extLst>
      <p:ext uri="{BB962C8B-B14F-4D97-AF65-F5344CB8AC3E}">
        <p14:creationId xmlns:p14="http://schemas.microsoft.com/office/powerpoint/2010/main" val="4038364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3" grpId="0"/>
      <p:bldP spid="3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F8DBC839-2003-54EE-2D9B-BB12315556B7}"/>
              </a:ext>
            </a:extLst>
          </p:cNvPr>
          <p:cNvPicPr>
            <a:picLocks noChangeAspect="1"/>
          </p:cNvPicPr>
          <p:nvPr/>
        </p:nvPicPr>
        <p:blipFill>
          <a:blip r:embed="rId3"/>
          <a:stretch>
            <a:fillRect/>
          </a:stretch>
        </p:blipFill>
        <p:spPr>
          <a:xfrm>
            <a:off x="1047908" y="2849059"/>
            <a:ext cx="7554379" cy="2038635"/>
          </a:xfrm>
          <a:prstGeom prst="rect">
            <a:avLst/>
          </a:prstGeom>
        </p:spPr>
      </p:pic>
      <p:sp>
        <p:nvSpPr>
          <p:cNvPr id="2" name="Title 1">
            <a:extLst>
              <a:ext uri="{FF2B5EF4-FFF2-40B4-BE49-F238E27FC236}">
                <a16:creationId xmlns:a16="http://schemas.microsoft.com/office/drawing/2014/main" id="{83CDAB49-4E83-D5C9-EF6D-0F2CE1E6855E}"/>
              </a:ext>
            </a:extLst>
          </p:cNvPr>
          <p:cNvSpPr>
            <a:spLocks noGrp="1"/>
          </p:cNvSpPr>
          <p:nvPr>
            <p:ph type="title"/>
          </p:nvPr>
        </p:nvSpPr>
        <p:spPr>
          <a:xfrm>
            <a:off x="156156" y="-2331"/>
            <a:ext cx="7886700" cy="721053"/>
          </a:xfrm>
        </p:spPr>
        <p:txBody>
          <a:bodyPr/>
          <a:lstStyle/>
          <a:p>
            <a:r>
              <a:rPr lang="en-US" dirty="0"/>
              <a:t>Harmonics</a:t>
            </a:r>
          </a:p>
        </p:txBody>
      </p:sp>
      <p:sp>
        <p:nvSpPr>
          <p:cNvPr id="17" name="Title 1">
            <a:extLst>
              <a:ext uri="{FF2B5EF4-FFF2-40B4-BE49-F238E27FC236}">
                <a16:creationId xmlns:a16="http://schemas.microsoft.com/office/drawing/2014/main" id="{4100A584-C9BA-C39F-A4D3-ABF895CCF570}"/>
              </a:ext>
            </a:extLst>
          </p:cNvPr>
          <p:cNvSpPr txBox="1">
            <a:spLocks/>
          </p:cNvSpPr>
          <p:nvPr/>
        </p:nvSpPr>
        <p:spPr>
          <a:xfrm>
            <a:off x="2765925" y="140595"/>
            <a:ext cx="4942467" cy="442877"/>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Tx/>
              <a:buChar char="-"/>
            </a:pPr>
            <a:r>
              <a:rPr lang="en-US" sz="2800" b="1" dirty="0"/>
              <a:t>Comparing Harmonics </a:t>
            </a:r>
          </a:p>
        </p:txBody>
      </p:sp>
      <p:pic>
        <p:nvPicPr>
          <p:cNvPr id="4" name="Picture 3">
            <a:extLst>
              <a:ext uri="{FF2B5EF4-FFF2-40B4-BE49-F238E27FC236}">
                <a16:creationId xmlns:a16="http://schemas.microsoft.com/office/drawing/2014/main" id="{0FF6E6C7-FE45-44F3-3AC5-497E3D2E8A1C}"/>
              </a:ext>
            </a:extLst>
          </p:cNvPr>
          <p:cNvPicPr>
            <a:picLocks noChangeAspect="1"/>
          </p:cNvPicPr>
          <p:nvPr/>
        </p:nvPicPr>
        <p:blipFill>
          <a:blip r:embed="rId4"/>
          <a:stretch>
            <a:fillRect/>
          </a:stretch>
        </p:blipFill>
        <p:spPr>
          <a:xfrm>
            <a:off x="0" y="718477"/>
            <a:ext cx="3493168" cy="2184671"/>
          </a:xfrm>
          <a:prstGeom prst="rect">
            <a:avLst/>
          </a:prstGeom>
        </p:spPr>
      </p:pic>
      <p:grpSp>
        <p:nvGrpSpPr>
          <p:cNvPr id="5" name="Group 4">
            <a:extLst>
              <a:ext uri="{FF2B5EF4-FFF2-40B4-BE49-F238E27FC236}">
                <a16:creationId xmlns:a16="http://schemas.microsoft.com/office/drawing/2014/main" id="{B884D890-FE51-28A9-56C3-8A59F6B7822E}"/>
              </a:ext>
            </a:extLst>
          </p:cNvPr>
          <p:cNvGrpSpPr/>
          <p:nvPr/>
        </p:nvGrpSpPr>
        <p:grpSpPr>
          <a:xfrm>
            <a:off x="3508718" y="900559"/>
            <a:ext cx="5799001" cy="2320644"/>
            <a:chOff x="1388139" y="3675369"/>
            <a:chExt cx="6313091" cy="2557184"/>
          </a:xfrm>
        </p:grpSpPr>
        <p:grpSp>
          <p:nvGrpSpPr>
            <p:cNvPr id="6" name="Group 5">
              <a:extLst>
                <a:ext uri="{FF2B5EF4-FFF2-40B4-BE49-F238E27FC236}">
                  <a16:creationId xmlns:a16="http://schemas.microsoft.com/office/drawing/2014/main" id="{A472564E-9EF4-6418-9C5C-8D8BFC8DEE6F}"/>
                </a:ext>
              </a:extLst>
            </p:cNvPr>
            <p:cNvGrpSpPr/>
            <p:nvPr/>
          </p:nvGrpSpPr>
          <p:grpSpPr>
            <a:xfrm>
              <a:off x="1442770" y="4077560"/>
              <a:ext cx="6258460" cy="2154993"/>
              <a:chOff x="1389050" y="4577399"/>
              <a:chExt cx="6258460" cy="2154993"/>
            </a:xfrm>
          </p:grpSpPr>
          <p:pic>
            <p:nvPicPr>
              <p:cNvPr id="19" name="Picture 18">
                <a:extLst>
                  <a:ext uri="{FF2B5EF4-FFF2-40B4-BE49-F238E27FC236}">
                    <a16:creationId xmlns:a16="http://schemas.microsoft.com/office/drawing/2014/main" id="{8F20347F-9E13-ACBD-B596-005C378D9C45}"/>
                  </a:ext>
                </a:extLst>
              </p:cNvPr>
              <p:cNvPicPr>
                <a:picLocks noChangeAspect="1"/>
              </p:cNvPicPr>
              <p:nvPr/>
            </p:nvPicPr>
            <p:blipFill>
              <a:blip r:embed="rId5"/>
              <a:stretch>
                <a:fillRect/>
              </a:stretch>
            </p:blipFill>
            <p:spPr>
              <a:xfrm>
                <a:off x="1389050" y="4577399"/>
                <a:ext cx="6258460" cy="2154993"/>
              </a:xfrm>
              <a:prstGeom prst="rect">
                <a:avLst/>
              </a:prstGeom>
            </p:spPr>
          </p:pic>
          <p:sp>
            <p:nvSpPr>
              <p:cNvPr id="21" name="Rectangle 20">
                <a:extLst>
                  <a:ext uri="{FF2B5EF4-FFF2-40B4-BE49-F238E27FC236}">
                    <a16:creationId xmlns:a16="http://schemas.microsoft.com/office/drawing/2014/main" id="{9FA9FD8A-9621-0082-E6CA-23CCD6D07A61}"/>
                  </a:ext>
                </a:extLst>
              </p:cNvPr>
              <p:cNvSpPr/>
              <p:nvPr/>
            </p:nvSpPr>
            <p:spPr>
              <a:xfrm>
                <a:off x="4240198" y="5091597"/>
                <a:ext cx="1246202" cy="24796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Group 6">
              <a:extLst>
                <a:ext uri="{FF2B5EF4-FFF2-40B4-BE49-F238E27FC236}">
                  <a16:creationId xmlns:a16="http://schemas.microsoft.com/office/drawing/2014/main" id="{AAFAFF9B-C37B-C024-6EFD-1E9E8CA0BF29}"/>
                </a:ext>
              </a:extLst>
            </p:cNvPr>
            <p:cNvGrpSpPr/>
            <p:nvPr/>
          </p:nvGrpSpPr>
          <p:grpSpPr>
            <a:xfrm>
              <a:off x="1388139" y="3699460"/>
              <a:ext cx="373395" cy="508129"/>
              <a:chOff x="510315" y="4035187"/>
              <a:chExt cx="373395" cy="508129"/>
            </a:xfrm>
          </p:grpSpPr>
          <p:grpSp>
            <p:nvGrpSpPr>
              <p:cNvPr id="13" name="Group 12">
                <a:extLst>
                  <a:ext uri="{FF2B5EF4-FFF2-40B4-BE49-F238E27FC236}">
                    <a16:creationId xmlns:a16="http://schemas.microsoft.com/office/drawing/2014/main" id="{6960754E-6F14-8E86-4A7B-ECB269C707C5}"/>
                  </a:ext>
                </a:extLst>
              </p:cNvPr>
              <p:cNvGrpSpPr/>
              <p:nvPr/>
            </p:nvGrpSpPr>
            <p:grpSpPr>
              <a:xfrm>
                <a:off x="510315" y="4035187"/>
                <a:ext cx="373395" cy="231130"/>
                <a:chOff x="3789965" y="3501305"/>
                <a:chExt cx="468725" cy="320840"/>
              </a:xfrm>
            </p:grpSpPr>
            <p:pic>
              <p:nvPicPr>
                <p:cNvPr id="16" name="Picture 15">
                  <a:extLst>
                    <a:ext uri="{FF2B5EF4-FFF2-40B4-BE49-F238E27FC236}">
                      <a16:creationId xmlns:a16="http://schemas.microsoft.com/office/drawing/2014/main" id="{6CA9D2FE-DA60-3FC1-7DCF-1E97566D8CDF}"/>
                    </a:ext>
                  </a:extLst>
                </p:cNvPr>
                <p:cNvPicPr>
                  <a:picLocks noChangeAspect="1"/>
                </p:cNvPicPr>
                <p:nvPr/>
              </p:nvPicPr>
              <p:blipFill>
                <a:blip r:embed="rId6"/>
                <a:stretch>
                  <a:fillRect/>
                </a:stretch>
              </p:blipFill>
              <p:spPr>
                <a:xfrm>
                  <a:off x="3799109" y="3501305"/>
                  <a:ext cx="459581" cy="320840"/>
                </a:xfrm>
                <a:prstGeom prst="rect">
                  <a:avLst/>
                </a:prstGeom>
              </p:spPr>
            </p:pic>
            <p:cxnSp>
              <p:nvCxnSpPr>
                <p:cNvPr id="18" name="Straight Connector 17">
                  <a:extLst>
                    <a:ext uri="{FF2B5EF4-FFF2-40B4-BE49-F238E27FC236}">
                      <a16:creationId xmlns:a16="http://schemas.microsoft.com/office/drawing/2014/main" id="{795C4038-930B-F98B-8BEC-CB7F9EC40857}"/>
                    </a:ext>
                  </a:extLst>
                </p:cNvPr>
                <p:cNvCxnSpPr/>
                <p:nvPr/>
              </p:nvCxnSpPr>
              <p:spPr>
                <a:xfrm>
                  <a:off x="3789965" y="3803857"/>
                  <a:ext cx="45958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41C2C044-1D60-8BA6-8FEC-F7330C734B6A}"/>
                      </a:ext>
                    </a:extLst>
                  </p:cNvPr>
                  <p:cNvSpPr txBox="1"/>
                  <p:nvPr/>
                </p:nvSpPr>
                <p:spPr>
                  <a:xfrm>
                    <a:off x="564946" y="4266317"/>
                    <a:ext cx="253006" cy="276999"/>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200" b="1" i="1" smtClean="0">
                                  <a:solidFill>
                                    <a:schemeClr val="tx1"/>
                                  </a:solidFill>
                                  <a:latin typeface="Cambria Math" panose="02040503050406030204" pitchFamily="18" charset="0"/>
                                </a:rPr>
                              </m:ctrlPr>
                            </m:sSubPr>
                            <m:e>
                              <m:r>
                                <a:rPr lang="en-GB" sz="1200" b="1" i="1" smtClean="0">
                                  <a:solidFill>
                                    <a:schemeClr val="tx1"/>
                                  </a:solidFill>
                                  <a:latin typeface="Cambria Math" panose="02040503050406030204" pitchFamily="18" charset="0"/>
                                </a:rPr>
                                <m:t>𝑽</m:t>
                              </m:r>
                            </m:e>
                            <m:sub>
                              <m:r>
                                <a:rPr lang="en-GB" sz="1200" b="1" i="1" smtClean="0">
                                  <a:solidFill>
                                    <a:schemeClr val="tx1"/>
                                  </a:solidFill>
                                  <a:latin typeface="Cambria Math" panose="02040503050406030204" pitchFamily="18" charset="0"/>
                                </a:rPr>
                                <m:t>𝒅𝒄</m:t>
                              </m:r>
                            </m:sub>
                          </m:sSub>
                        </m:oMath>
                      </m:oMathPara>
                    </a14:m>
                    <a:endParaRPr lang="en-US" sz="1200" b="1" dirty="0"/>
                  </a:p>
                </p:txBody>
              </p:sp>
            </mc:Choice>
            <mc:Fallback xmlns="">
              <p:sp>
                <p:nvSpPr>
                  <p:cNvPr id="15" name="TextBox 14">
                    <a:extLst>
                      <a:ext uri="{FF2B5EF4-FFF2-40B4-BE49-F238E27FC236}">
                        <a16:creationId xmlns:a16="http://schemas.microsoft.com/office/drawing/2014/main" id="{41C2C044-1D60-8BA6-8FEC-F7330C734B6A}"/>
                      </a:ext>
                    </a:extLst>
                  </p:cNvPr>
                  <p:cNvSpPr txBox="1">
                    <a:spLocks noRot="1" noChangeAspect="1" noMove="1" noResize="1" noEditPoints="1" noAdjustHandles="1" noChangeArrowheads="1" noChangeShapeType="1" noTextEdit="1"/>
                  </p:cNvSpPr>
                  <p:nvPr/>
                </p:nvSpPr>
                <p:spPr>
                  <a:xfrm>
                    <a:off x="564946" y="4266317"/>
                    <a:ext cx="253006" cy="276999"/>
                  </a:xfrm>
                  <a:prstGeom prst="rect">
                    <a:avLst/>
                  </a:prstGeom>
                  <a:blipFill>
                    <a:blip r:embed="rId7"/>
                    <a:stretch>
                      <a:fillRect r="-50000" b="-2326"/>
                    </a:stretch>
                  </a:blipFill>
                  <a:ln>
                    <a:solidFill>
                      <a:schemeClr val="bg1"/>
                    </a:solidFill>
                  </a:ln>
                </p:spPr>
                <p:txBody>
                  <a:bodyPr/>
                  <a:lstStyle/>
                  <a:p>
                    <a:r>
                      <a:rPr lang="en-GB">
                        <a:noFill/>
                      </a:rPr>
                      <a:t> </a:t>
                    </a:r>
                  </a:p>
                </p:txBody>
              </p:sp>
            </mc:Fallback>
          </mc:AlternateContent>
        </p:grpSp>
        <p:pic>
          <p:nvPicPr>
            <p:cNvPr id="11" name="Picture 10">
              <a:extLst>
                <a:ext uri="{FF2B5EF4-FFF2-40B4-BE49-F238E27FC236}">
                  <a16:creationId xmlns:a16="http://schemas.microsoft.com/office/drawing/2014/main" id="{6E333C98-6B1D-43FD-A681-DD05607A53A5}"/>
                </a:ext>
              </a:extLst>
            </p:cNvPr>
            <p:cNvPicPr>
              <a:picLocks noChangeAspect="1"/>
            </p:cNvPicPr>
            <p:nvPr/>
          </p:nvPicPr>
          <p:blipFill>
            <a:blip r:embed="rId8"/>
            <a:stretch>
              <a:fillRect/>
            </a:stretch>
          </p:blipFill>
          <p:spPr>
            <a:xfrm>
              <a:off x="3498528" y="3675369"/>
              <a:ext cx="857370" cy="447737"/>
            </a:xfrm>
            <a:prstGeom prst="rect">
              <a:avLst/>
            </a:prstGeom>
          </p:spPr>
        </p:pic>
      </p:grpSp>
      <p:sp>
        <p:nvSpPr>
          <p:cNvPr id="26" name="TextBox 25">
            <a:extLst>
              <a:ext uri="{FF2B5EF4-FFF2-40B4-BE49-F238E27FC236}">
                <a16:creationId xmlns:a16="http://schemas.microsoft.com/office/drawing/2014/main" id="{105251D1-DA51-15EA-4079-2E30166E88C4}"/>
              </a:ext>
            </a:extLst>
          </p:cNvPr>
          <p:cNvSpPr txBox="1"/>
          <p:nvPr/>
        </p:nvSpPr>
        <p:spPr>
          <a:xfrm>
            <a:off x="240924" y="4978001"/>
            <a:ext cx="8662151" cy="1754326"/>
          </a:xfrm>
          <a:prstGeom prst="rect">
            <a:avLst/>
          </a:prstGeom>
          <a:noFill/>
        </p:spPr>
        <p:txBody>
          <a:bodyPr wrap="square">
            <a:spAutoFit/>
          </a:bodyPr>
          <a:lstStyle/>
          <a:p>
            <a:pPr marL="285750" indent="-285750" algn="just">
              <a:buFont typeface="Arial" panose="020B0604020202020204" pitchFamily="34" charset="0"/>
              <a:buChar char="•"/>
            </a:pPr>
            <a:r>
              <a:rPr lang="en-GB" dirty="0"/>
              <a:t>The Unipolar scheme has the advantage of “effectively” doubling the switching frequency as far as the output harmonics are concerned, compared to the bipolar voltage-switching scheme. </a:t>
            </a:r>
          </a:p>
          <a:p>
            <a:pPr marL="285750" indent="-285750" algn="just">
              <a:buFont typeface="Arial" panose="020B0604020202020204" pitchFamily="34" charset="0"/>
              <a:buChar char="•"/>
            </a:pPr>
            <a:r>
              <a:rPr lang="en-GB" b="1" dirty="0">
                <a:solidFill>
                  <a:srgbClr val="FF0000"/>
                </a:solidFill>
              </a:rPr>
              <a:t>The advantage of “effectively” doubling the switching frequency appears in the harmonic spectrum of the output voltage waveform, where the lowest harmonics appear as sidebands of twice the switching frequency.</a:t>
            </a:r>
          </a:p>
        </p:txBody>
      </p:sp>
      <p:sp>
        <p:nvSpPr>
          <p:cNvPr id="30" name="TextBox 29">
            <a:extLst>
              <a:ext uri="{FF2B5EF4-FFF2-40B4-BE49-F238E27FC236}">
                <a16:creationId xmlns:a16="http://schemas.microsoft.com/office/drawing/2014/main" id="{60286325-ACA7-6930-B18B-CF67FDDC8B54}"/>
              </a:ext>
            </a:extLst>
          </p:cNvPr>
          <p:cNvSpPr txBox="1"/>
          <p:nvPr/>
        </p:nvSpPr>
        <p:spPr>
          <a:xfrm>
            <a:off x="367671" y="1304813"/>
            <a:ext cx="3306726" cy="646331"/>
          </a:xfrm>
          <a:prstGeom prst="rect">
            <a:avLst/>
          </a:prstGeom>
          <a:noFill/>
        </p:spPr>
        <p:txBody>
          <a:bodyPr wrap="square">
            <a:spAutoFit/>
          </a:bodyPr>
          <a:lstStyle/>
          <a:p>
            <a:pPr algn="ctr"/>
            <a:r>
              <a:rPr lang="en-US" b="1" dirty="0">
                <a:solidFill>
                  <a:srgbClr val="FF0000"/>
                </a:solidFill>
              </a:rPr>
              <a:t>Harmonics</a:t>
            </a:r>
          </a:p>
          <a:p>
            <a:pPr algn="ctr"/>
            <a:r>
              <a:rPr lang="en-US" b="1" dirty="0">
                <a:solidFill>
                  <a:srgbClr val="FF0000"/>
                </a:solidFill>
              </a:rPr>
              <a:t>(Square Wave Switching)</a:t>
            </a:r>
            <a:endParaRPr lang="en-GB" dirty="0"/>
          </a:p>
        </p:txBody>
      </p:sp>
      <p:sp>
        <p:nvSpPr>
          <p:cNvPr id="31" name="TextBox 30">
            <a:extLst>
              <a:ext uri="{FF2B5EF4-FFF2-40B4-BE49-F238E27FC236}">
                <a16:creationId xmlns:a16="http://schemas.microsoft.com/office/drawing/2014/main" id="{CCAB3DEF-BD4A-6300-CAD5-FB99F4363F18}"/>
              </a:ext>
            </a:extLst>
          </p:cNvPr>
          <p:cNvSpPr txBox="1"/>
          <p:nvPr/>
        </p:nvSpPr>
        <p:spPr>
          <a:xfrm>
            <a:off x="4837695" y="1106474"/>
            <a:ext cx="3306726" cy="646331"/>
          </a:xfrm>
          <a:prstGeom prst="rect">
            <a:avLst/>
          </a:prstGeom>
          <a:noFill/>
        </p:spPr>
        <p:txBody>
          <a:bodyPr wrap="square">
            <a:spAutoFit/>
          </a:bodyPr>
          <a:lstStyle/>
          <a:p>
            <a:pPr algn="ctr"/>
            <a:r>
              <a:rPr lang="en-US" b="1" dirty="0">
                <a:solidFill>
                  <a:srgbClr val="FF0000"/>
                </a:solidFill>
              </a:rPr>
              <a:t>Harmonics</a:t>
            </a:r>
          </a:p>
          <a:p>
            <a:pPr algn="ctr"/>
            <a:r>
              <a:rPr lang="en-US" b="1" dirty="0">
                <a:solidFill>
                  <a:srgbClr val="FF0000"/>
                </a:solidFill>
              </a:rPr>
              <a:t>(PWM Bipolar Switching)</a:t>
            </a:r>
            <a:endParaRPr lang="en-GB" dirty="0"/>
          </a:p>
        </p:txBody>
      </p:sp>
      <p:sp>
        <p:nvSpPr>
          <p:cNvPr id="32" name="TextBox 31">
            <a:extLst>
              <a:ext uri="{FF2B5EF4-FFF2-40B4-BE49-F238E27FC236}">
                <a16:creationId xmlns:a16="http://schemas.microsoft.com/office/drawing/2014/main" id="{8CE8F33F-44E6-7A37-D7E6-29FF965A8CF8}"/>
              </a:ext>
            </a:extLst>
          </p:cNvPr>
          <p:cNvSpPr txBox="1"/>
          <p:nvPr/>
        </p:nvSpPr>
        <p:spPr>
          <a:xfrm>
            <a:off x="2765925" y="3100563"/>
            <a:ext cx="3306726" cy="646331"/>
          </a:xfrm>
          <a:prstGeom prst="rect">
            <a:avLst/>
          </a:prstGeom>
          <a:noFill/>
        </p:spPr>
        <p:txBody>
          <a:bodyPr wrap="square">
            <a:spAutoFit/>
          </a:bodyPr>
          <a:lstStyle/>
          <a:p>
            <a:pPr algn="ctr"/>
            <a:r>
              <a:rPr lang="en-US" b="1" dirty="0">
                <a:solidFill>
                  <a:srgbClr val="FF0000"/>
                </a:solidFill>
              </a:rPr>
              <a:t>Harmonics</a:t>
            </a:r>
          </a:p>
          <a:p>
            <a:pPr algn="ctr"/>
            <a:r>
              <a:rPr lang="en-US" b="1" dirty="0">
                <a:solidFill>
                  <a:srgbClr val="FF0000"/>
                </a:solidFill>
              </a:rPr>
              <a:t>(PWM Unipolar Switching)</a:t>
            </a:r>
            <a:endParaRPr lang="en-GB" dirty="0"/>
          </a:p>
        </p:txBody>
      </p:sp>
    </p:spTree>
    <p:extLst>
      <p:ext uri="{BB962C8B-B14F-4D97-AF65-F5344CB8AC3E}">
        <p14:creationId xmlns:p14="http://schemas.microsoft.com/office/powerpoint/2010/main" val="11930385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37BA538-9DCA-0C5D-DD86-EB7B0860D91E}"/>
              </a:ext>
            </a:extLst>
          </p:cNvPr>
          <p:cNvPicPr>
            <a:picLocks noChangeAspect="1"/>
          </p:cNvPicPr>
          <p:nvPr/>
        </p:nvPicPr>
        <p:blipFill>
          <a:blip r:embed="rId3"/>
          <a:stretch>
            <a:fillRect/>
          </a:stretch>
        </p:blipFill>
        <p:spPr>
          <a:xfrm>
            <a:off x="33392" y="1335701"/>
            <a:ext cx="3133616" cy="2438611"/>
          </a:xfrm>
          <a:prstGeom prst="rect">
            <a:avLst/>
          </a:prstGeom>
        </p:spPr>
      </p:pic>
      <p:pic>
        <p:nvPicPr>
          <p:cNvPr id="5" name="Picture 4">
            <a:extLst>
              <a:ext uri="{FF2B5EF4-FFF2-40B4-BE49-F238E27FC236}">
                <a16:creationId xmlns:a16="http://schemas.microsoft.com/office/drawing/2014/main" id="{A63B3F17-F81E-11DC-B957-E544064D54A7}"/>
              </a:ext>
            </a:extLst>
          </p:cNvPr>
          <p:cNvPicPr>
            <a:picLocks noChangeAspect="1"/>
          </p:cNvPicPr>
          <p:nvPr/>
        </p:nvPicPr>
        <p:blipFill>
          <a:blip r:embed="rId4"/>
          <a:stretch>
            <a:fillRect/>
          </a:stretch>
        </p:blipFill>
        <p:spPr>
          <a:xfrm>
            <a:off x="3642705" y="1138873"/>
            <a:ext cx="5425910" cy="2859272"/>
          </a:xfrm>
          <a:prstGeom prst="rect">
            <a:avLst/>
          </a:prstGeom>
        </p:spPr>
      </p:pic>
      <p:sp>
        <p:nvSpPr>
          <p:cNvPr id="2" name="Title 1">
            <a:extLst>
              <a:ext uri="{FF2B5EF4-FFF2-40B4-BE49-F238E27FC236}">
                <a16:creationId xmlns:a16="http://schemas.microsoft.com/office/drawing/2014/main" id="{83CDAB49-4E83-D5C9-EF6D-0F2CE1E6855E}"/>
              </a:ext>
            </a:extLst>
          </p:cNvPr>
          <p:cNvSpPr>
            <a:spLocks noGrp="1"/>
          </p:cNvSpPr>
          <p:nvPr>
            <p:ph type="title"/>
          </p:nvPr>
        </p:nvSpPr>
        <p:spPr>
          <a:xfrm>
            <a:off x="185741" y="36708"/>
            <a:ext cx="7886700" cy="721053"/>
          </a:xfrm>
        </p:spPr>
        <p:txBody>
          <a:bodyPr/>
          <a:lstStyle/>
          <a:p>
            <a:r>
              <a:rPr lang="en-US" dirty="0"/>
              <a:t>Practical Full Bridge Inverter</a:t>
            </a:r>
          </a:p>
        </p:txBody>
      </p:sp>
      <p:sp>
        <p:nvSpPr>
          <p:cNvPr id="17" name="Title 1">
            <a:extLst>
              <a:ext uri="{FF2B5EF4-FFF2-40B4-BE49-F238E27FC236}">
                <a16:creationId xmlns:a16="http://schemas.microsoft.com/office/drawing/2014/main" id="{4100A584-C9BA-C39F-A4D3-ABF895CCF570}"/>
              </a:ext>
            </a:extLst>
          </p:cNvPr>
          <p:cNvSpPr txBox="1">
            <a:spLocks/>
          </p:cNvSpPr>
          <p:nvPr/>
        </p:nvSpPr>
        <p:spPr>
          <a:xfrm>
            <a:off x="185741" y="576034"/>
            <a:ext cx="8851933" cy="7521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Tx/>
              <a:buChar char="-"/>
            </a:pPr>
            <a:r>
              <a:rPr lang="en-US" sz="2800" b="1" dirty="0"/>
              <a:t>Made through real components</a:t>
            </a:r>
          </a:p>
          <a:p>
            <a:pPr marL="914400" lvl="1" indent="-457200">
              <a:buFontTx/>
              <a:buChar char="-"/>
            </a:pPr>
            <a:r>
              <a:rPr lang="en-US" dirty="0">
                <a:solidFill>
                  <a:srgbClr val="FF0000"/>
                </a:solidFill>
              </a:rPr>
              <a:t>Square Wave Switching</a:t>
            </a:r>
          </a:p>
        </p:txBody>
      </p:sp>
      <p:sp>
        <p:nvSpPr>
          <p:cNvPr id="9" name="Right Arrow 8">
            <a:extLst>
              <a:ext uri="{FF2B5EF4-FFF2-40B4-BE49-F238E27FC236}">
                <a16:creationId xmlns:a16="http://schemas.microsoft.com/office/drawing/2014/main" id="{A131CF93-C612-E234-71ED-08D2D1A2B7CA}"/>
              </a:ext>
            </a:extLst>
          </p:cNvPr>
          <p:cNvSpPr/>
          <p:nvPr/>
        </p:nvSpPr>
        <p:spPr>
          <a:xfrm>
            <a:off x="3052094" y="2362234"/>
            <a:ext cx="660400" cy="5207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4" name="Right Arrow 83">
            <a:extLst>
              <a:ext uri="{FF2B5EF4-FFF2-40B4-BE49-F238E27FC236}">
                <a16:creationId xmlns:a16="http://schemas.microsoft.com/office/drawing/2014/main" id="{8CFBA112-3A63-39DF-6158-51D3180359AB}"/>
              </a:ext>
            </a:extLst>
          </p:cNvPr>
          <p:cNvSpPr/>
          <p:nvPr/>
        </p:nvSpPr>
        <p:spPr>
          <a:xfrm>
            <a:off x="3717908" y="5132336"/>
            <a:ext cx="660400" cy="5207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5" name="TextBox 84">
            <a:extLst>
              <a:ext uri="{FF2B5EF4-FFF2-40B4-BE49-F238E27FC236}">
                <a16:creationId xmlns:a16="http://schemas.microsoft.com/office/drawing/2014/main" id="{F8228B1B-4F81-485E-CCB5-28F09F8B021A}"/>
              </a:ext>
            </a:extLst>
          </p:cNvPr>
          <p:cNvSpPr txBox="1"/>
          <p:nvPr/>
        </p:nvSpPr>
        <p:spPr>
          <a:xfrm>
            <a:off x="3361348" y="5792851"/>
            <a:ext cx="1535485" cy="646331"/>
          </a:xfrm>
          <a:prstGeom prst="rect">
            <a:avLst/>
          </a:prstGeom>
          <a:noFill/>
        </p:spPr>
        <p:txBody>
          <a:bodyPr wrap="none" rtlCol="0">
            <a:spAutoFit/>
          </a:bodyPr>
          <a:lstStyle/>
          <a:p>
            <a:pPr algn="ctr"/>
            <a:r>
              <a:rPr lang="en-US" dirty="0">
                <a:solidFill>
                  <a:srgbClr val="FF0000"/>
                </a:solidFill>
              </a:rPr>
              <a:t>Avoiding </a:t>
            </a:r>
          </a:p>
          <a:p>
            <a:pPr algn="ctr"/>
            <a:r>
              <a:rPr lang="en-US" dirty="0">
                <a:solidFill>
                  <a:srgbClr val="FF0000"/>
                </a:solidFill>
              </a:rPr>
              <a:t>Shoot through</a:t>
            </a:r>
          </a:p>
        </p:txBody>
      </p:sp>
      <p:cxnSp>
        <p:nvCxnSpPr>
          <p:cNvPr id="87" name="Straight Arrow Connector 86">
            <a:extLst>
              <a:ext uri="{FF2B5EF4-FFF2-40B4-BE49-F238E27FC236}">
                <a16:creationId xmlns:a16="http://schemas.microsoft.com/office/drawing/2014/main" id="{1615A4CB-863D-FA7A-5C97-AC58375C4445}"/>
              </a:ext>
            </a:extLst>
          </p:cNvPr>
          <p:cNvCxnSpPr>
            <a:cxnSpLocks/>
          </p:cNvCxnSpPr>
          <p:nvPr/>
        </p:nvCxnSpPr>
        <p:spPr>
          <a:xfrm flipV="1">
            <a:off x="1567994" y="2226144"/>
            <a:ext cx="3638305" cy="229185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5095302C-AC87-E65E-6BA6-5698CAE9FDE9}"/>
              </a:ext>
            </a:extLst>
          </p:cNvPr>
          <p:cNvCxnSpPr>
            <a:cxnSpLocks/>
          </p:cNvCxnSpPr>
          <p:nvPr/>
        </p:nvCxnSpPr>
        <p:spPr>
          <a:xfrm flipV="1">
            <a:off x="1551940" y="3348973"/>
            <a:ext cx="7113595" cy="1169021"/>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2" name="TextBox 91">
            <a:extLst>
              <a:ext uri="{FF2B5EF4-FFF2-40B4-BE49-F238E27FC236}">
                <a16:creationId xmlns:a16="http://schemas.microsoft.com/office/drawing/2014/main" id="{E761B5C6-E1F4-ECD1-FACB-4CC0D65D3A5D}"/>
              </a:ext>
            </a:extLst>
          </p:cNvPr>
          <p:cNvSpPr txBox="1"/>
          <p:nvPr/>
        </p:nvSpPr>
        <p:spPr>
          <a:xfrm>
            <a:off x="7443972" y="3833047"/>
            <a:ext cx="1697260" cy="646331"/>
          </a:xfrm>
          <a:prstGeom prst="rect">
            <a:avLst/>
          </a:prstGeom>
          <a:noFill/>
        </p:spPr>
        <p:txBody>
          <a:bodyPr wrap="none" rtlCol="0">
            <a:spAutoFit/>
          </a:bodyPr>
          <a:lstStyle/>
          <a:p>
            <a:r>
              <a:rPr lang="en-US" dirty="0">
                <a:solidFill>
                  <a:srgbClr val="FF0000"/>
                </a:solidFill>
              </a:rPr>
              <a:t>All switches on</a:t>
            </a:r>
          </a:p>
          <a:p>
            <a:pPr algn="ctr"/>
            <a:r>
              <a:rPr lang="en-US" b="1" dirty="0">
                <a:solidFill>
                  <a:srgbClr val="FF0000"/>
                </a:solidFill>
              </a:rPr>
              <a:t>Shoot Through</a:t>
            </a:r>
          </a:p>
        </p:txBody>
      </p:sp>
      <p:cxnSp>
        <p:nvCxnSpPr>
          <p:cNvPr id="11" name="Straight Arrow Connector 10">
            <a:extLst>
              <a:ext uri="{FF2B5EF4-FFF2-40B4-BE49-F238E27FC236}">
                <a16:creationId xmlns:a16="http://schemas.microsoft.com/office/drawing/2014/main" id="{98A1DCF4-E168-FE0B-FFFF-7BFA464137AE}"/>
              </a:ext>
            </a:extLst>
          </p:cNvPr>
          <p:cNvCxnSpPr>
            <a:cxnSpLocks/>
          </p:cNvCxnSpPr>
          <p:nvPr/>
        </p:nvCxnSpPr>
        <p:spPr>
          <a:xfrm flipV="1">
            <a:off x="1988288" y="3310263"/>
            <a:ext cx="3218011" cy="2408864"/>
          </a:xfrm>
          <a:prstGeom prst="straightConnector1">
            <a:avLst/>
          </a:prstGeom>
          <a:ln w="127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A9BE25B4-8E67-EA0D-BD55-BC4AB8834E7D}"/>
              </a:ext>
            </a:extLst>
          </p:cNvPr>
          <p:cNvCxnSpPr>
            <a:cxnSpLocks/>
          </p:cNvCxnSpPr>
          <p:nvPr/>
        </p:nvCxnSpPr>
        <p:spPr>
          <a:xfrm flipV="1">
            <a:off x="1988288" y="2268676"/>
            <a:ext cx="6693301" cy="3426892"/>
          </a:xfrm>
          <a:prstGeom prst="straightConnector1">
            <a:avLst/>
          </a:prstGeom>
          <a:ln w="12700">
            <a:solidFill>
              <a:srgbClr val="0070C0"/>
            </a:solidFill>
            <a:tailEnd type="triangle"/>
          </a:ln>
        </p:spPr>
        <p:style>
          <a:lnRef idx="1">
            <a:schemeClr val="accent1"/>
          </a:lnRef>
          <a:fillRef idx="0">
            <a:schemeClr val="accent1"/>
          </a:fillRef>
          <a:effectRef idx="0">
            <a:schemeClr val="accent1"/>
          </a:effectRef>
          <a:fontRef idx="minor">
            <a:schemeClr val="tx1"/>
          </a:fontRef>
        </p:style>
      </p:cxnSp>
      <p:grpSp>
        <p:nvGrpSpPr>
          <p:cNvPr id="26" name="Group 25">
            <a:extLst>
              <a:ext uri="{FF2B5EF4-FFF2-40B4-BE49-F238E27FC236}">
                <a16:creationId xmlns:a16="http://schemas.microsoft.com/office/drawing/2014/main" id="{B6DA677F-1564-A2AD-A23D-BB14EFBF3D27}"/>
              </a:ext>
            </a:extLst>
          </p:cNvPr>
          <p:cNvGrpSpPr/>
          <p:nvPr/>
        </p:nvGrpSpPr>
        <p:grpSpPr>
          <a:xfrm>
            <a:off x="212843" y="4320495"/>
            <a:ext cx="3169451" cy="2411897"/>
            <a:chOff x="212843" y="4320495"/>
            <a:chExt cx="3169451" cy="2411897"/>
          </a:xfrm>
        </p:grpSpPr>
        <p:pic>
          <p:nvPicPr>
            <p:cNvPr id="61" name="Picture 60">
              <a:extLst>
                <a:ext uri="{FF2B5EF4-FFF2-40B4-BE49-F238E27FC236}">
                  <a16:creationId xmlns:a16="http://schemas.microsoft.com/office/drawing/2014/main" id="{EE7A6C23-0A89-9ECA-12C5-4026B0B12EAB}"/>
                </a:ext>
              </a:extLst>
            </p:cNvPr>
            <p:cNvPicPr>
              <a:picLocks noChangeAspect="1"/>
            </p:cNvPicPr>
            <p:nvPr/>
          </p:nvPicPr>
          <p:blipFill>
            <a:blip r:embed="rId5"/>
            <a:stretch>
              <a:fillRect/>
            </a:stretch>
          </p:blipFill>
          <p:spPr>
            <a:xfrm>
              <a:off x="271779" y="4320495"/>
              <a:ext cx="3110515" cy="2411897"/>
            </a:xfrm>
            <a:prstGeom prst="rect">
              <a:avLst/>
            </a:prstGeom>
          </p:spPr>
        </p:pic>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53774472-8129-0629-3A19-5EA21D8260C3}"/>
                    </a:ext>
                  </a:extLst>
                </p:cNvPr>
                <p:cNvSpPr txBox="1"/>
                <p:nvPr/>
              </p:nvSpPr>
              <p:spPr>
                <a:xfrm>
                  <a:off x="262469" y="4513852"/>
                  <a:ext cx="353465" cy="338554"/>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600" b="1" i="1" smtClean="0">
                                <a:solidFill>
                                  <a:srgbClr val="836967"/>
                                </a:solidFill>
                                <a:latin typeface="Cambria Math" panose="02040503050406030204" pitchFamily="18" charset="0"/>
                              </a:rPr>
                            </m:ctrlPr>
                          </m:sSubPr>
                          <m:e>
                            <m:r>
                              <a:rPr lang="en-GB" sz="1600" b="1" i="1" smtClean="0">
                                <a:latin typeface="Cambria Math" panose="02040503050406030204" pitchFamily="18" charset="0"/>
                              </a:rPr>
                              <m:t>𝑻</m:t>
                            </m:r>
                          </m:e>
                          <m:sub>
                            <m:r>
                              <a:rPr lang="en-GB" sz="1600" b="1" i="1" smtClean="0">
                                <a:latin typeface="Cambria Math" panose="02040503050406030204" pitchFamily="18" charset="0"/>
                              </a:rPr>
                              <m:t>𝑨</m:t>
                            </m:r>
                            <m:r>
                              <a:rPr lang="en-GB" sz="1600" b="1" i="1" smtClean="0">
                                <a:latin typeface="Cambria Math" panose="02040503050406030204" pitchFamily="18" charset="0"/>
                              </a:rPr>
                              <m:t>+</m:t>
                            </m:r>
                          </m:sub>
                        </m:sSub>
                      </m:oMath>
                    </m:oMathPara>
                  </a14:m>
                  <a:endParaRPr lang="en-US" sz="1600" b="1" dirty="0"/>
                </a:p>
              </p:txBody>
            </p:sp>
          </mc:Choice>
          <mc:Fallback xmlns="">
            <p:sp>
              <p:nvSpPr>
                <p:cNvPr id="22" name="TextBox 21">
                  <a:extLst>
                    <a:ext uri="{FF2B5EF4-FFF2-40B4-BE49-F238E27FC236}">
                      <a16:creationId xmlns:a16="http://schemas.microsoft.com/office/drawing/2014/main" id="{53774472-8129-0629-3A19-5EA21D8260C3}"/>
                    </a:ext>
                  </a:extLst>
                </p:cNvPr>
                <p:cNvSpPr txBox="1">
                  <a:spLocks noRot="1" noChangeAspect="1" noMove="1" noResize="1" noEditPoints="1" noAdjustHandles="1" noChangeArrowheads="1" noChangeShapeType="1" noTextEdit="1"/>
                </p:cNvSpPr>
                <p:nvPr/>
              </p:nvSpPr>
              <p:spPr>
                <a:xfrm>
                  <a:off x="262469" y="4513852"/>
                  <a:ext cx="353465" cy="338554"/>
                </a:xfrm>
                <a:prstGeom prst="rect">
                  <a:avLst/>
                </a:prstGeom>
                <a:blipFill>
                  <a:blip r:embed="rId6"/>
                  <a:stretch>
                    <a:fillRect r="-30000"/>
                  </a:stretch>
                </a:blipFill>
                <a:ln>
                  <a:solidFill>
                    <a:schemeClr val="bg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639F60A9-AABD-E6C9-D9E3-FEE8ABAAB731}"/>
                    </a:ext>
                  </a:extLst>
                </p:cNvPr>
                <p:cNvSpPr txBox="1"/>
                <p:nvPr/>
              </p:nvSpPr>
              <p:spPr>
                <a:xfrm>
                  <a:off x="260770" y="4853860"/>
                  <a:ext cx="467848" cy="338554"/>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600" b="1" i="1" smtClean="0">
                                <a:solidFill>
                                  <a:srgbClr val="836967"/>
                                </a:solidFill>
                                <a:latin typeface="Cambria Math" panose="02040503050406030204" pitchFamily="18" charset="0"/>
                              </a:rPr>
                            </m:ctrlPr>
                          </m:sSubPr>
                          <m:e>
                            <m:r>
                              <a:rPr lang="en-GB" sz="1600" b="1" i="1" smtClean="0">
                                <a:latin typeface="Cambria Math" panose="02040503050406030204" pitchFamily="18" charset="0"/>
                              </a:rPr>
                              <m:t>𝑻</m:t>
                            </m:r>
                          </m:e>
                          <m:sub>
                            <m:r>
                              <a:rPr lang="en-GB" sz="1600" b="1" i="1" smtClean="0">
                                <a:latin typeface="Cambria Math" panose="02040503050406030204" pitchFamily="18" charset="0"/>
                              </a:rPr>
                              <m:t>𝑩</m:t>
                            </m:r>
                            <m:r>
                              <a:rPr lang="en-GB" sz="1600" b="1" i="1" smtClean="0">
                                <a:latin typeface="Cambria Math" panose="02040503050406030204" pitchFamily="18" charset="0"/>
                              </a:rPr>
                              <m:t>−</m:t>
                            </m:r>
                          </m:sub>
                        </m:sSub>
                      </m:oMath>
                    </m:oMathPara>
                  </a14:m>
                  <a:endParaRPr lang="en-US" sz="1600" b="1" dirty="0"/>
                </a:p>
              </p:txBody>
            </p:sp>
          </mc:Choice>
          <mc:Fallback xmlns="">
            <p:sp>
              <p:nvSpPr>
                <p:cNvPr id="23" name="TextBox 22">
                  <a:extLst>
                    <a:ext uri="{FF2B5EF4-FFF2-40B4-BE49-F238E27FC236}">
                      <a16:creationId xmlns:a16="http://schemas.microsoft.com/office/drawing/2014/main" id="{639F60A9-AABD-E6C9-D9E3-FEE8ABAAB731}"/>
                    </a:ext>
                  </a:extLst>
                </p:cNvPr>
                <p:cNvSpPr txBox="1">
                  <a:spLocks noRot="1" noChangeAspect="1" noMove="1" noResize="1" noEditPoints="1" noAdjustHandles="1" noChangeArrowheads="1" noChangeShapeType="1" noTextEdit="1"/>
                </p:cNvSpPr>
                <p:nvPr/>
              </p:nvSpPr>
              <p:spPr>
                <a:xfrm>
                  <a:off x="260770" y="4853860"/>
                  <a:ext cx="467848" cy="338554"/>
                </a:xfrm>
                <a:prstGeom prst="rect">
                  <a:avLst/>
                </a:prstGeom>
                <a:blipFill>
                  <a:blip r:embed="rId7"/>
                  <a:stretch>
                    <a:fillRect/>
                  </a:stretch>
                </a:blipFill>
                <a:ln>
                  <a:solidFill>
                    <a:schemeClr val="bg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04A6DA6D-7401-E490-8F0E-64453F46B806}"/>
                    </a:ext>
                  </a:extLst>
                </p:cNvPr>
                <p:cNvSpPr txBox="1"/>
                <p:nvPr/>
              </p:nvSpPr>
              <p:spPr>
                <a:xfrm>
                  <a:off x="223668" y="5780630"/>
                  <a:ext cx="447897" cy="338554"/>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600" b="1" i="1" smtClean="0">
                                <a:solidFill>
                                  <a:srgbClr val="836967"/>
                                </a:solidFill>
                                <a:latin typeface="Cambria Math" panose="02040503050406030204" pitchFamily="18" charset="0"/>
                              </a:rPr>
                            </m:ctrlPr>
                          </m:sSubPr>
                          <m:e>
                            <m:r>
                              <a:rPr lang="en-GB" sz="1600" b="1" i="1" smtClean="0">
                                <a:latin typeface="Cambria Math" panose="02040503050406030204" pitchFamily="18" charset="0"/>
                              </a:rPr>
                              <m:t>𝑻</m:t>
                            </m:r>
                          </m:e>
                          <m:sub>
                            <m:r>
                              <a:rPr lang="en-GB" sz="1600" b="1" i="1" smtClean="0">
                                <a:latin typeface="Cambria Math" panose="02040503050406030204" pitchFamily="18" charset="0"/>
                              </a:rPr>
                              <m:t>𝑨</m:t>
                            </m:r>
                            <m:r>
                              <a:rPr lang="en-GB" sz="1600" b="1" i="1" smtClean="0">
                                <a:latin typeface="Cambria Math" panose="02040503050406030204" pitchFamily="18" charset="0"/>
                              </a:rPr>
                              <m:t>−</m:t>
                            </m:r>
                          </m:sub>
                        </m:sSub>
                      </m:oMath>
                    </m:oMathPara>
                  </a14:m>
                  <a:endParaRPr lang="en-US" sz="1600" b="1" dirty="0"/>
                </a:p>
              </p:txBody>
            </p:sp>
          </mc:Choice>
          <mc:Fallback xmlns="">
            <p:sp>
              <p:nvSpPr>
                <p:cNvPr id="24" name="TextBox 23">
                  <a:extLst>
                    <a:ext uri="{FF2B5EF4-FFF2-40B4-BE49-F238E27FC236}">
                      <a16:creationId xmlns:a16="http://schemas.microsoft.com/office/drawing/2014/main" id="{04A6DA6D-7401-E490-8F0E-64453F46B806}"/>
                    </a:ext>
                  </a:extLst>
                </p:cNvPr>
                <p:cNvSpPr txBox="1">
                  <a:spLocks noRot="1" noChangeAspect="1" noMove="1" noResize="1" noEditPoints="1" noAdjustHandles="1" noChangeArrowheads="1" noChangeShapeType="1" noTextEdit="1"/>
                </p:cNvSpPr>
                <p:nvPr/>
              </p:nvSpPr>
              <p:spPr>
                <a:xfrm>
                  <a:off x="223668" y="5780630"/>
                  <a:ext cx="447897" cy="338554"/>
                </a:xfrm>
                <a:prstGeom prst="rect">
                  <a:avLst/>
                </a:prstGeom>
                <a:blipFill>
                  <a:blip r:embed="rId8"/>
                  <a:stretch>
                    <a:fillRect/>
                  </a:stretch>
                </a:blipFill>
                <a:ln>
                  <a:solidFill>
                    <a:schemeClr val="bg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8F5E1073-F379-6A28-B84A-A7839FDF3AA4}"/>
                    </a:ext>
                  </a:extLst>
                </p:cNvPr>
                <p:cNvSpPr txBox="1"/>
                <p:nvPr/>
              </p:nvSpPr>
              <p:spPr>
                <a:xfrm>
                  <a:off x="212843" y="5455471"/>
                  <a:ext cx="467848" cy="338554"/>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600" b="1" i="1" smtClean="0">
                                <a:solidFill>
                                  <a:srgbClr val="836967"/>
                                </a:solidFill>
                                <a:latin typeface="Cambria Math" panose="02040503050406030204" pitchFamily="18" charset="0"/>
                              </a:rPr>
                            </m:ctrlPr>
                          </m:sSubPr>
                          <m:e>
                            <m:r>
                              <a:rPr lang="en-GB" sz="1600" b="1" i="1" smtClean="0">
                                <a:latin typeface="Cambria Math" panose="02040503050406030204" pitchFamily="18" charset="0"/>
                              </a:rPr>
                              <m:t>𝑻</m:t>
                            </m:r>
                          </m:e>
                          <m:sub>
                            <m:r>
                              <a:rPr lang="en-GB" sz="1600" b="1" i="1" smtClean="0">
                                <a:latin typeface="Cambria Math" panose="02040503050406030204" pitchFamily="18" charset="0"/>
                              </a:rPr>
                              <m:t>𝑩</m:t>
                            </m:r>
                            <m:r>
                              <a:rPr lang="en-GB" sz="1600" b="1" i="1" smtClean="0">
                                <a:latin typeface="Cambria Math" panose="02040503050406030204" pitchFamily="18" charset="0"/>
                              </a:rPr>
                              <m:t>+</m:t>
                            </m:r>
                          </m:sub>
                        </m:sSub>
                      </m:oMath>
                    </m:oMathPara>
                  </a14:m>
                  <a:endParaRPr lang="en-US" sz="1600" b="1" dirty="0"/>
                </a:p>
              </p:txBody>
            </p:sp>
          </mc:Choice>
          <mc:Fallback xmlns="">
            <p:sp>
              <p:nvSpPr>
                <p:cNvPr id="25" name="TextBox 24">
                  <a:extLst>
                    <a:ext uri="{FF2B5EF4-FFF2-40B4-BE49-F238E27FC236}">
                      <a16:creationId xmlns:a16="http://schemas.microsoft.com/office/drawing/2014/main" id="{8F5E1073-F379-6A28-B84A-A7839FDF3AA4}"/>
                    </a:ext>
                  </a:extLst>
                </p:cNvPr>
                <p:cNvSpPr txBox="1">
                  <a:spLocks noRot="1" noChangeAspect="1" noMove="1" noResize="1" noEditPoints="1" noAdjustHandles="1" noChangeArrowheads="1" noChangeShapeType="1" noTextEdit="1"/>
                </p:cNvSpPr>
                <p:nvPr/>
              </p:nvSpPr>
              <p:spPr>
                <a:xfrm>
                  <a:off x="212843" y="5455471"/>
                  <a:ext cx="467848" cy="338554"/>
                </a:xfrm>
                <a:prstGeom prst="rect">
                  <a:avLst/>
                </a:prstGeom>
                <a:blipFill>
                  <a:blip r:embed="rId9"/>
                  <a:stretch>
                    <a:fillRect/>
                  </a:stretch>
                </a:blipFill>
                <a:ln>
                  <a:solidFill>
                    <a:schemeClr val="bg1"/>
                  </a:solidFill>
                </a:ln>
              </p:spPr>
              <p:txBody>
                <a:bodyPr/>
                <a:lstStyle/>
                <a:p>
                  <a:r>
                    <a:rPr lang="en-GB">
                      <a:noFill/>
                    </a:rPr>
                    <a:t> </a:t>
                  </a:r>
                </a:p>
              </p:txBody>
            </p:sp>
          </mc:Fallback>
        </mc:AlternateContent>
      </p:grpSp>
      <p:grpSp>
        <p:nvGrpSpPr>
          <p:cNvPr id="31" name="Group 30">
            <a:extLst>
              <a:ext uri="{FF2B5EF4-FFF2-40B4-BE49-F238E27FC236}">
                <a16:creationId xmlns:a16="http://schemas.microsoft.com/office/drawing/2014/main" id="{1DFF198B-989E-C399-1ED1-63B4FD2B8FF4}"/>
              </a:ext>
            </a:extLst>
          </p:cNvPr>
          <p:cNvGrpSpPr/>
          <p:nvPr/>
        </p:nvGrpSpPr>
        <p:grpSpPr>
          <a:xfrm>
            <a:off x="4719938" y="4219175"/>
            <a:ext cx="3266464" cy="2711304"/>
            <a:chOff x="4719938" y="4219175"/>
            <a:chExt cx="3266464" cy="2711304"/>
          </a:xfrm>
        </p:grpSpPr>
        <p:pic>
          <p:nvPicPr>
            <p:cNvPr id="83" name="Picture 82">
              <a:extLst>
                <a:ext uri="{FF2B5EF4-FFF2-40B4-BE49-F238E27FC236}">
                  <a16:creationId xmlns:a16="http://schemas.microsoft.com/office/drawing/2014/main" id="{F20EF817-4AE9-B67A-6DA8-30BDD986E6C3}"/>
                </a:ext>
              </a:extLst>
            </p:cNvPr>
            <p:cNvPicPr>
              <a:picLocks noChangeAspect="1"/>
            </p:cNvPicPr>
            <p:nvPr/>
          </p:nvPicPr>
          <p:blipFill>
            <a:blip r:embed="rId10"/>
            <a:stretch>
              <a:fillRect/>
            </a:stretch>
          </p:blipFill>
          <p:spPr>
            <a:xfrm>
              <a:off x="4875888" y="4219175"/>
              <a:ext cx="3110514" cy="2711304"/>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729E2526-AED7-B0EE-0760-232FD49615CF}"/>
                    </a:ext>
                  </a:extLst>
                </p:cNvPr>
                <p:cNvSpPr txBox="1"/>
                <p:nvPr/>
              </p:nvSpPr>
              <p:spPr>
                <a:xfrm>
                  <a:off x="4822729" y="4425474"/>
                  <a:ext cx="353465" cy="338554"/>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600" b="1" i="1" smtClean="0">
                                <a:solidFill>
                                  <a:srgbClr val="836967"/>
                                </a:solidFill>
                                <a:latin typeface="Cambria Math" panose="02040503050406030204" pitchFamily="18" charset="0"/>
                              </a:rPr>
                            </m:ctrlPr>
                          </m:sSubPr>
                          <m:e>
                            <m:r>
                              <a:rPr lang="en-GB" sz="1600" b="1" i="1" smtClean="0">
                                <a:latin typeface="Cambria Math" panose="02040503050406030204" pitchFamily="18" charset="0"/>
                              </a:rPr>
                              <m:t>𝑻</m:t>
                            </m:r>
                          </m:e>
                          <m:sub>
                            <m:r>
                              <a:rPr lang="en-GB" sz="1600" b="1" i="1" smtClean="0">
                                <a:latin typeface="Cambria Math" panose="02040503050406030204" pitchFamily="18" charset="0"/>
                              </a:rPr>
                              <m:t>𝑨</m:t>
                            </m:r>
                            <m:r>
                              <a:rPr lang="en-GB" sz="1600" b="1" i="1" smtClean="0">
                                <a:latin typeface="Cambria Math" panose="02040503050406030204" pitchFamily="18" charset="0"/>
                              </a:rPr>
                              <m:t>+</m:t>
                            </m:r>
                          </m:sub>
                        </m:sSub>
                      </m:oMath>
                    </m:oMathPara>
                  </a14:m>
                  <a:endParaRPr lang="en-US" sz="1600" b="1" dirty="0"/>
                </a:p>
              </p:txBody>
            </p:sp>
          </mc:Choice>
          <mc:Fallback xmlns="">
            <p:sp>
              <p:nvSpPr>
                <p:cNvPr id="27" name="TextBox 26">
                  <a:extLst>
                    <a:ext uri="{FF2B5EF4-FFF2-40B4-BE49-F238E27FC236}">
                      <a16:creationId xmlns:a16="http://schemas.microsoft.com/office/drawing/2014/main" id="{729E2526-AED7-B0EE-0760-232FD49615CF}"/>
                    </a:ext>
                  </a:extLst>
                </p:cNvPr>
                <p:cNvSpPr txBox="1">
                  <a:spLocks noRot="1" noChangeAspect="1" noMove="1" noResize="1" noEditPoints="1" noAdjustHandles="1" noChangeArrowheads="1" noChangeShapeType="1" noTextEdit="1"/>
                </p:cNvSpPr>
                <p:nvPr/>
              </p:nvSpPr>
              <p:spPr>
                <a:xfrm>
                  <a:off x="4822729" y="4425474"/>
                  <a:ext cx="353465" cy="338554"/>
                </a:xfrm>
                <a:prstGeom prst="rect">
                  <a:avLst/>
                </a:prstGeom>
                <a:blipFill>
                  <a:blip r:embed="rId11"/>
                  <a:stretch>
                    <a:fillRect r="-30000"/>
                  </a:stretch>
                </a:blipFill>
                <a:ln>
                  <a:solidFill>
                    <a:schemeClr val="bg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8BC70403-55B3-C936-CF1C-47AA8F779CEB}"/>
                    </a:ext>
                  </a:extLst>
                </p:cNvPr>
                <p:cNvSpPr txBox="1"/>
                <p:nvPr/>
              </p:nvSpPr>
              <p:spPr>
                <a:xfrm>
                  <a:off x="4821030" y="4765482"/>
                  <a:ext cx="467848" cy="338554"/>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600" b="1" i="1" smtClean="0">
                                <a:solidFill>
                                  <a:srgbClr val="836967"/>
                                </a:solidFill>
                                <a:latin typeface="Cambria Math" panose="02040503050406030204" pitchFamily="18" charset="0"/>
                              </a:rPr>
                            </m:ctrlPr>
                          </m:sSubPr>
                          <m:e>
                            <m:r>
                              <a:rPr lang="en-GB" sz="1600" b="1" i="1" smtClean="0">
                                <a:latin typeface="Cambria Math" panose="02040503050406030204" pitchFamily="18" charset="0"/>
                              </a:rPr>
                              <m:t>𝑻</m:t>
                            </m:r>
                          </m:e>
                          <m:sub>
                            <m:r>
                              <a:rPr lang="en-GB" sz="1600" b="1" i="1" smtClean="0">
                                <a:latin typeface="Cambria Math" panose="02040503050406030204" pitchFamily="18" charset="0"/>
                              </a:rPr>
                              <m:t>𝑩</m:t>
                            </m:r>
                            <m:r>
                              <a:rPr lang="en-GB" sz="1600" b="1" i="1" smtClean="0">
                                <a:latin typeface="Cambria Math" panose="02040503050406030204" pitchFamily="18" charset="0"/>
                              </a:rPr>
                              <m:t>−</m:t>
                            </m:r>
                          </m:sub>
                        </m:sSub>
                      </m:oMath>
                    </m:oMathPara>
                  </a14:m>
                  <a:endParaRPr lang="en-US" sz="1600" b="1" dirty="0"/>
                </a:p>
              </p:txBody>
            </p:sp>
          </mc:Choice>
          <mc:Fallback xmlns="">
            <p:sp>
              <p:nvSpPr>
                <p:cNvPr id="28" name="TextBox 27">
                  <a:extLst>
                    <a:ext uri="{FF2B5EF4-FFF2-40B4-BE49-F238E27FC236}">
                      <a16:creationId xmlns:a16="http://schemas.microsoft.com/office/drawing/2014/main" id="{8BC70403-55B3-C936-CF1C-47AA8F779CEB}"/>
                    </a:ext>
                  </a:extLst>
                </p:cNvPr>
                <p:cNvSpPr txBox="1">
                  <a:spLocks noRot="1" noChangeAspect="1" noMove="1" noResize="1" noEditPoints="1" noAdjustHandles="1" noChangeArrowheads="1" noChangeShapeType="1" noTextEdit="1"/>
                </p:cNvSpPr>
                <p:nvPr/>
              </p:nvSpPr>
              <p:spPr>
                <a:xfrm>
                  <a:off x="4821030" y="4765482"/>
                  <a:ext cx="467848" cy="338554"/>
                </a:xfrm>
                <a:prstGeom prst="rect">
                  <a:avLst/>
                </a:prstGeom>
                <a:blipFill>
                  <a:blip r:embed="rId12"/>
                  <a:stretch>
                    <a:fillRect/>
                  </a:stretch>
                </a:blipFill>
                <a:ln>
                  <a:solidFill>
                    <a:schemeClr val="bg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4A53835E-9A5E-A804-C8A0-B5450D829E4E}"/>
                    </a:ext>
                  </a:extLst>
                </p:cNvPr>
                <p:cNvSpPr txBox="1"/>
                <p:nvPr/>
              </p:nvSpPr>
              <p:spPr>
                <a:xfrm>
                  <a:off x="4730763" y="5692252"/>
                  <a:ext cx="447897" cy="338554"/>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600" b="1" i="1" smtClean="0">
                                <a:solidFill>
                                  <a:srgbClr val="836967"/>
                                </a:solidFill>
                                <a:latin typeface="Cambria Math" panose="02040503050406030204" pitchFamily="18" charset="0"/>
                              </a:rPr>
                            </m:ctrlPr>
                          </m:sSubPr>
                          <m:e>
                            <m:r>
                              <a:rPr lang="en-GB" sz="1600" b="1" i="1" smtClean="0">
                                <a:latin typeface="Cambria Math" panose="02040503050406030204" pitchFamily="18" charset="0"/>
                              </a:rPr>
                              <m:t>𝑻</m:t>
                            </m:r>
                          </m:e>
                          <m:sub>
                            <m:r>
                              <a:rPr lang="en-GB" sz="1600" b="1" i="1" smtClean="0">
                                <a:latin typeface="Cambria Math" panose="02040503050406030204" pitchFamily="18" charset="0"/>
                              </a:rPr>
                              <m:t>𝑨</m:t>
                            </m:r>
                            <m:r>
                              <a:rPr lang="en-GB" sz="1600" b="1" i="1" smtClean="0">
                                <a:latin typeface="Cambria Math" panose="02040503050406030204" pitchFamily="18" charset="0"/>
                              </a:rPr>
                              <m:t>−</m:t>
                            </m:r>
                          </m:sub>
                        </m:sSub>
                      </m:oMath>
                    </m:oMathPara>
                  </a14:m>
                  <a:endParaRPr lang="en-US" sz="1600" b="1" dirty="0"/>
                </a:p>
              </p:txBody>
            </p:sp>
          </mc:Choice>
          <mc:Fallback xmlns="">
            <p:sp>
              <p:nvSpPr>
                <p:cNvPr id="29" name="TextBox 28">
                  <a:extLst>
                    <a:ext uri="{FF2B5EF4-FFF2-40B4-BE49-F238E27FC236}">
                      <a16:creationId xmlns:a16="http://schemas.microsoft.com/office/drawing/2014/main" id="{4A53835E-9A5E-A804-C8A0-B5450D829E4E}"/>
                    </a:ext>
                  </a:extLst>
                </p:cNvPr>
                <p:cNvSpPr txBox="1">
                  <a:spLocks noRot="1" noChangeAspect="1" noMove="1" noResize="1" noEditPoints="1" noAdjustHandles="1" noChangeArrowheads="1" noChangeShapeType="1" noTextEdit="1"/>
                </p:cNvSpPr>
                <p:nvPr/>
              </p:nvSpPr>
              <p:spPr>
                <a:xfrm>
                  <a:off x="4730763" y="5692252"/>
                  <a:ext cx="447897" cy="338554"/>
                </a:xfrm>
                <a:prstGeom prst="rect">
                  <a:avLst/>
                </a:prstGeom>
                <a:blipFill>
                  <a:blip r:embed="rId13"/>
                  <a:stretch>
                    <a:fillRect/>
                  </a:stretch>
                </a:blipFill>
                <a:ln>
                  <a:solidFill>
                    <a:schemeClr val="bg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99E85BE9-3BFC-6716-BEC1-210AAD012BB0}"/>
                    </a:ext>
                  </a:extLst>
                </p:cNvPr>
                <p:cNvSpPr txBox="1"/>
                <p:nvPr/>
              </p:nvSpPr>
              <p:spPr>
                <a:xfrm>
                  <a:off x="4719938" y="5367093"/>
                  <a:ext cx="467848" cy="338554"/>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600" b="1" i="1" smtClean="0">
                                <a:solidFill>
                                  <a:srgbClr val="836967"/>
                                </a:solidFill>
                                <a:latin typeface="Cambria Math" panose="02040503050406030204" pitchFamily="18" charset="0"/>
                              </a:rPr>
                            </m:ctrlPr>
                          </m:sSubPr>
                          <m:e>
                            <m:r>
                              <a:rPr lang="en-GB" sz="1600" b="1" i="1" smtClean="0">
                                <a:latin typeface="Cambria Math" panose="02040503050406030204" pitchFamily="18" charset="0"/>
                              </a:rPr>
                              <m:t>𝑻</m:t>
                            </m:r>
                          </m:e>
                          <m:sub>
                            <m:r>
                              <a:rPr lang="en-GB" sz="1600" b="1" i="1" smtClean="0">
                                <a:latin typeface="Cambria Math" panose="02040503050406030204" pitchFamily="18" charset="0"/>
                              </a:rPr>
                              <m:t>𝑩</m:t>
                            </m:r>
                            <m:r>
                              <a:rPr lang="en-GB" sz="1600" b="1" i="1" smtClean="0">
                                <a:latin typeface="Cambria Math" panose="02040503050406030204" pitchFamily="18" charset="0"/>
                              </a:rPr>
                              <m:t>+</m:t>
                            </m:r>
                          </m:sub>
                        </m:sSub>
                      </m:oMath>
                    </m:oMathPara>
                  </a14:m>
                  <a:endParaRPr lang="en-US" sz="1600" b="1" dirty="0"/>
                </a:p>
              </p:txBody>
            </p:sp>
          </mc:Choice>
          <mc:Fallback xmlns="">
            <p:sp>
              <p:nvSpPr>
                <p:cNvPr id="30" name="TextBox 29">
                  <a:extLst>
                    <a:ext uri="{FF2B5EF4-FFF2-40B4-BE49-F238E27FC236}">
                      <a16:creationId xmlns:a16="http://schemas.microsoft.com/office/drawing/2014/main" id="{99E85BE9-3BFC-6716-BEC1-210AAD012BB0}"/>
                    </a:ext>
                  </a:extLst>
                </p:cNvPr>
                <p:cNvSpPr txBox="1">
                  <a:spLocks noRot="1" noChangeAspect="1" noMove="1" noResize="1" noEditPoints="1" noAdjustHandles="1" noChangeArrowheads="1" noChangeShapeType="1" noTextEdit="1"/>
                </p:cNvSpPr>
                <p:nvPr/>
              </p:nvSpPr>
              <p:spPr>
                <a:xfrm>
                  <a:off x="4719938" y="5367093"/>
                  <a:ext cx="467848" cy="338554"/>
                </a:xfrm>
                <a:prstGeom prst="rect">
                  <a:avLst/>
                </a:prstGeom>
                <a:blipFill>
                  <a:blip r:embed="rId14"/>
                  <a:stretch>
                    <a:fillRect r="-1266"/>
                  </a:stretch>
                </a:blipFill>
                <a:ln>
                  <a:solidFill>
                    <a:schemeClr val="bg1"/>
                  </a:solidFill>
                </a:ln>
              </p:spPr>
              <p:txBody>
                <a:bodyPr/>
                <a:lstStyle/>
                <a:p>
                  <a:r>
                    <a:rPr lang="en-GB">
                      <a:noFill/>
                    </a:rPr>
                    <a:t> </a:t>
                  </a:r>
                </a:p>
              </p:txBody>
            </p:sp>
          </mc:Fallback>
        </mc:AlternateContent>
      </p:grpSp>
    </p:spTree>
    <p:extLst>
      <p:ext uri="{BB962C8B-B14F-4D97-AF65-F5344CB8AC3E}">
        <p14:creationId xmlns:p14="http://schemas.microsoft.com/office/powerpoint/2010/main" val="2029540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8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84" grpId="0" animBg="1"/>
      <p:bldP spid="85" grpId="0"/>
      <p:bldP spid="9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63B3F17-F81E-11DC-B957-E544064D54A7}"/>
              </a:ext>
            </a:extLst>
          </p:cNvPr>
          <p:cNvPicPr>
            <a:picLocks noChangeAspect="1"/>
          </p:cNvPicPr>
          <p:nvPr/>
        </p:nvPicPr>
        <p:blipFill>
          <a:blip r:embed="rId3"/>
          <a:stretch>
            <a:fillRect/>
          </a:stretch>
        </p:blipFill>
        <p:spPr>
          <a:xfrm>
            <a:off x="3642705" y="968745"/>
            <a:ext cx="5425910" cy="2859272"/>
          </a:xfrm>
          <a:prstGeom prst="rect">
            <a:avLst/>
          </a:prstGeom>
        </p:spPr>
      </p:pic>
      <p:pic>
        <p:nvPicPr>
          <p:cNvPr id="4" name="Picture 3">
            <a:extLst>
              <a:ext uri="{FF2B5EF4-FFF2-40B4-BE49-F238E27FC236}">
                <a16:creationId xmlns:a16="http://schemas.microsoft.com/office/drawing/2014/main" id="{137BA538-9DCA-0C5D-DD86-EB7B0860D91E}"/>
              </a:ext>
            </a:extLst>
          </p:cNvPr>
          <p:cNvPicPr>
            <a:picLocks noChangeAspect="1"/>
          </p:cNvPicPr>
          <p:nvPr/>
        </p:nvPicPr>
        <p:blipFill>
          <a:blip r:embed="rId4"/>
          <a:stretch>
            <a:fillRect/>
          </a:stretch>
        </p:blipFill>
        <p:spPr>
          <a:xfrm>
            <a:off x="33392" y="1154942"/>
            <a:ext cx="3133616" cy="2438611"/>
          </a:xfrm>
          <a:prstGeom prst="rect">
            <a:avLst/>
          </a:prstGeom>
        </p:spPr>
      </p:pic>
      <p:sp>
        <p:nvSpPr>
          <p:cNvPr id="2" name="Title 1">
            <a:extLst>
              <a:ext uri="{FF2B5EF4-FFF2-40B4-BE49-F238E27FC236}">
                <a16:creationId xmlns:a16="http://schemas.microsoft.com/office/drawing/2014/main" id="{83CDAB49-4E83-D5C9-EF6D-0F2CE1E6855E}"/>
              </a:ext>
            </a:extLst>
          </p:cNvPr>
          <p:cNvSpPr>
            <a:spLocks noGrp="1"/>
          </p:cNvSpPr>
          <p:nvPr>
            <p:ph type="title"/>
          </p:nvPr>
        </p:nvSpPr>
        <p:spPr>
          <a:xfrm>
            <a:off x="185741" y="36708"/>
            <a:ext cx="7886700" cy="721053"/>
          </a:xfrm>
        </p:spPr>
        <p:txBody>
          <a:bodyPr/>
          <a:lstStyle/>
          <a:p>
            <a:r>
              <a:rPr lang="en-US" dirty="0"/>
              <a:t>Practical Full Bridge Inverter</a:t>
            </a:r>
          </a:p>
        </p:txBody>
      </p:sp>
      <p:sp>
        <p:nvSpPr>
          <p:cNvPr id="17" name="Title 1">
            <a:extLst>
              <a:ext uri="{FF2B5EF4-FFF2-40B4-BE49-F238E27FC236}">
                <a16:creationId xmlns:a16="http://schemas.microsoft.com/office/drawing/2014/main" id="{4100A584-C9BA-C39F-A4D3-ABF895CCF570}"/>
              </a:ext>
            </a:extLst>
          </p:cNvPr>
          <p:cNvSpPr txBox="1">
            <a:spLocks/>
          </p:cNvSpPr>
          <p:nvPr/>
        </p:nvSpPr>
        <p:spPr>
          <a:xfrm>
            <a:off x="185741" y="576034"/>
            <a:ext cx="8851933" cy="7521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Tx/>
              <a:buChar char="-"/>
            </a:pPr>
            <a:r>
              <a:rPr lang="en-US" sz="2800" b="1" dirty="0"/>
              <a:t>Made through real components</a:t>
            </a:r>
          </a:p>
          <a:p>
            <a:pPr marL="914400" lvl="1" indent="-457200">
              <a:buFontTx/>
              <a:buChar char="-"/>
            </a:pPr>
            <a:r>
              <a:rPr lang="en-US" dirty="0"/>
              <a:t>PWM Switching - </a:t>
            </a:r>
            <a:r>
              <a:rPr lang="en-US" dirty="0">
                <a:solidFill>
                  <a:srgbClr val="FF0000"/>
                </a:solidFill>
              </a:rPr>
              <a:t>Bipolar</a:t>
            </a:r>
          </a:p>
        </p:txBody>
      </p:sp>
      <p:sp>
        <p:nvSpPr>
          <p:cNvPr id="9" name="Right Arrow 8">
            <a:extLst>
              <a:ext uri="{FF2B5EF4-FFF2-40B4-BE49-F238E27FC236}">
                <a16:creationId xmlns:a16="http://schemas.microsoft.com/office/drawing/2014/main" id="{A131CF93-C612-E234-71ED-08D2D1A2B7CA}"/>
              </a:ext>
            </a:extLst>
          </p:cNvPr>
          <p:cNvSpPr/>
          <p:nvPr/>
        </p:nvSpPr>
        <p:spPr>
          <a:xfrm>
            <a:off x="3052094" y="2224005"/>
            <a:ext cx="660400" cy="5207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1AEC882B-13A3-3F8D-D386-0AD3DAAFE3C7}"/>
              </a:ext>
            </a:extLst>
          </p:cNvPr>
          <p:cNvPicPr>
            <a:picLocks noChangeAspect="1"/>
          </p:cNvPicPr>
          <p:nvPr/>
        </p:nvPicPr>
        <p:blipFill>
          <a:blip r:embed="rId5"/>
          <a:stretch>
            <a:fillRect/>
          </a:stretch>
        </p:blipFill>
        <p:spPr>
          <a:xfrm>
            <a:off x="7115437" y="4388894"/>
            <a:ext cx="2041599" cy="1507753"/>
          </a:xfrm>
          <a:prstGeom prst="rect">
            <a:avLst/>
          </a:prstGeom>
        </p:spPr>
      </p:pic>
      <p:pic>
        <p:nvPicPr>
          <p:cNvPr id="6" name="Picture 5">
            <a:extLst>
              <a:ext uri="{FF2B5EF4-FFF2-40B4-BE49-F238E27FC236}">
                <a16:creationId xmlns:a16="http://schemas.microsoft.com/office/drawing/2014/main" id="{8C9A8722-85E2-F77B-AAA7-DCCC6F146289}"/>
              </a:ext>
            </a:extLst>
          </p:cNvPr>
          <p:cNvPicPr>
            <a:picLocks noChangeAspect="1"/>
          </p:cNvPicPr>
          <p:nvPr/>
        </p:nvPicPr>
        <p:blipFill>
          <a:blip r:embed="rId6"/>
          <a:stretch>
            <a:fillRect/>
          </a:stretch>
        </p:blipFill>
        <p:spPr>
          <a:xfrm>
            <a:off x="64752" y="3810233"/>
            <a:ext cx="3383030" cy="1398612"/>
          </a:xfrm>
          <a:prstGeom prst="rect">
            <a:avLst/>
          </a:prstGeom>
        </p:spPr>
      </p:pic>
      <p:cxnSp>
        <p:nvCxnSpPr>
          <p:cNvPr id="8" name="Straight Arrow Connector 7">
            <a:extLst>
              <a:ext uri="{FF2B5EF4-FFF2-40B4-BE49-F238E27FC236}">
                <a16:creationId xmlns:a16="http://schemas.microsoft.com/office/drawing/2014/main" id="{70914C12-F425-B1A9-44C4-335646AC90A2}"/>
              </a:ext>
            </a:extLst>
          </p:cNvPr>
          <p:cNvCxnSpPr>
            <a:cxnSpLocks/>
          </p:cNvCxnSpPr>
          <p:nvPr/>
        </p:nvCxnSpPr>
        <p:spPr>
          <a:xfrm flipH="1">
            <a:off x="1903228" y="4802514"/>
            <a:ext cx="308344" cy="634198"/>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59F07130-A1B9-E597-5546-5E32BE364D05}"/>
              </a:ext>
            </a:extLst>
          </p:cNvPr>
          <p:cNvCxnSpPr>
            <a:cxnSpLocks/>
          </p:cNvCxnSpPr>
          <p:nvPr/>
        </p:nvCxnSpPr>
        <p:spPr>
          <a:xfrm>
            <a:off x="520995" y="4917073"/>
            <a:ext cx="1235272" cy="1085435"/>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reeform 68">
            <a:extLst>
              <a:ext uri="{FF2B5EF4-FFF2-40B4-BE49-F238E27FC236}">
                <a16:creationId xmlns:a16="http://schemas.microsoft.com/office/drawing/2014/main" id="{B6507F41-D08D-592C-A520-B63A1DA99B96}"/>
              </a:ext>
            </a:extLst>
          </p:cNvPr>
          <p:cNvSpPr/>
          <p:nvPr/>
        </p:nvSpPr>
        <p:spPr>
          <a:xfrm rot="19439740">
            <a:off x="6360330" y="993041"/>
            <a:ext cx="2211225" cy="3195384"/>
          </a:xfrm>
          <a:custGeom>
            <a:avLst/>
            <a:gdLst>
              <a:gd name="connsiteX0" fmla="*/ 0 w 565723"/>
              <a:gd name="connsiteY0" fmla="*/ 3083442 h 3083442"/>
              <a:gd name="connsiteX1" fmla="*/ 542260 w 565723"/>
              <a:gd name="connsiteY1" fmla="*/ 1541721 h 3083442"/>
              <a:gd name="connsiteX2" fmla="*/ 425302 w 565723"/>
              <a:gd name="connsiteY2" fmla="*/ 531628 h 3083442"/>
              <a:gd name="connsiteX3" fmla="*/ 42530 w 565723"/>
              <a:gd name="connsiteY3" fmla="*/ 0 h 3083442"/>
            </a:gdLst>
            <a:ahLst/>
            <a:cxnLst>
              <a:cxn ang="0">
                <a:pos x="connsiteX0" y="connsiteY0"/>
              </a:cxn>
              <a:cxn ang="0">
                <a:pos x="connsiteX1" y="connsiteY1"/>
              </a:cxn>
              <a:cxn ang="0">
                <a:pos x="connsiteX2" y="connsiteY2"/>
              </a:cxn>
              <a:cxn ang="0">
                <a:pos x="connsiteX3" y="connsiteY3"/>
              </a:cxn>
            </a:cxnLst>
            <a:rect l="l" t="t" r="r" b="b"/>
            <a:pathLst>
              <a:path w="565723" h="3083442">
                <a:moveTo>
                  <a:pt x="0" y="3083442"/>
                </a:moveTo>
                <a:cubicBezTo>
                  <a:pt x="235688" y="2525232"/>
                  <a:pt x="471376" y="1967023"/>
                  <a:pt x="542260" y="1541721"/>
                </a:cubicBezTo>
                <a:cubicBezTo>
                  <a:pt x="613144" y="1116419"/>
                  <a:pt x="508590" y="788581"/>
                  <a:pt x="425302" y="531628"/>
                </a:cubicBezTo>
                <a:cubicBezTo>
                  <a:pt x="342014" y="274675"/>
                  <a:pt x="106325" y="83288"/>
                  <a:pt x="42530" y="0"/>
                </a:cubicBezTo>
              </a:path>
            </a:pathLst>
          </a:cu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15" name="Picture 14">
            <a:extLst>
              <a:ext uri="{FF2B5EF4-FFF2-40B4-BE49-F238E27FC236}">
                <a16:creationId xmlns:a16="http://schemas.microsoft.com/office/drawing/2014/main" id="{535EA36E-3E16-EB35-349D-ED635B8E9279}"/>
              </a:ext>
            </a:extLst>
          </p:cNvPr>
          <p:cNvPicPr>
            <a:picLocks noChangeAspect="1"/>
          </p:cNvPicPr>
          <p:nvPr/>
        </p:nvPicPr>
        <p:blipFill>
          <a:blip r:embed="rId7"/>
          <a:stretch>
            <a:fillRect/>
          </a:stretch>
        </p:blipFill>
        <p:spPr>
          <a:xfrm>
            <a:off x="1451762" y="5133753"/>
            <a:ext cx="5663675" cy="1737511"/>
          </a:xfrm>
          <a:prstGeom prst="rect">
            <a:avLst/>
          </a:prstGeom>
        </p:spPr>
      </p:pic>
      <p:sp>
        <p:nvSpPr>
          <p:cNvPr id="32" name="Free-form: Shape 31">
            <a:extLst>
              <a:ext uri="{FF2B5EF4-FFF2-40B4-BE49-F238E27FC236}">
                <a16:creationId xmlns:a16="http://schemas.microsoft.com/office/drawing/2014/main" id="{B53DB8C9-7D35-9782-75A7-62C2FBC0CBA3}"/>
              </a:ext>
            </a:extLst>
          </p:cNvPr>
          <p:cNvSpPr/>
          <p:nvPr/>
        </p:nvSpPr>
        <p:spPr>
          <a:xfrm>
            <a:off x="7304567" y="3221664"/>
            <a:ext cx="1460551" cy="1350335"/>
          </a:xfrm>
          <a:custGeom>
            <a:avLst/>
            <a:gdLst>
              <a:gd name="connsiteX0" fmla="*/ 0 w 1460551"/>
              <a:gd name="connsiteY0" fmla="*/ 1541721 h 1541721"/>
              <a:gd name="connsiteX1" fmla="*/ 1350335 w 1460551"/>
              <a:gd name="connsiteY1" fmla="*/ 499730 h 1541721"/>
              <a:gd name="connsiteX2" fmla="*/ 1339703 w 1460551"/>
              <a:gd name="connsiteY2" fmla="*/ 0 h 1541721"/>
            </a:gdLst>
            <a:ahLst/>
            <a:cxnLst>
              <a:cxn ang="0">
                <a:pos x="connsiteX0" y="connsiteY0"/>
              </a:cxn>
              <a:cxn ang="0">
                <a:pos x="connsiteX1" y="connsiteY1"/>
              </a:cxn>
              <a:cxn ang="0">
                <a:pos x="connsiteX2" y="connsiteY2"/>
              </a:cxn>
            </a:cxnLst>
            <a:rect l="l" t="t" r="r" b="b"/>
            <a:pathLst>
              <a:path w="1460551" h="1541721">
                <a:moveTo>
                  <a:pt x="0" y="1541721"/>
                </a:moveTo>
                <a:cubicBezTo>
                  <a:pt x="563525" y="1149202"/>
                  <a:pt x="1127051" y="756684"/>
                  <a:pt x="1350335" y="499730"/>
                </a:cubicBezTo>
                <a:cubicBezTo>
                  <a:pt x="1573619" y="242776"/>
                  <a:pt x="1398182" y="69112"/>
                  <a:pt x="1339703" y="0"/>
                </a:cubicBezTo>
              </a:path>
            </a:pathLst>
          </a:cu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solidFill>
                <a:schemeClr val="tx1"/>
              </a:solidFill>
            </a:endParaRPr>
          </a:p>
        </p:txBody>
      </p:sp>
      <p:sp>
        <p:nvSpPr>
          <p:cNvPr id="33" name="Free-form: Shape 32">
            <a:extLst>
              <a:ext uri="{FF2B5EF4-FFF2-40B4-BE49-F238E27FC236}">
                <a16:creationId xmlns:a16="http://schemas.microsoft.com/office/drawing/2014/main" id="{72940E6A-95ED-24B9-D970-7469C3C23B8F}"/>
              </a:ext>
            </a:extLst>
          </p:cNvPr>
          <p:cNvSpPr/>
          <p:nvPr/>
        </p:nvSpPr>
        <p:spPr>
          <a:xfrm>
            <a:off x="7889358" y="1977656"/>
            <a:ext cx="1031385" cy="3349256"/>
          </a:xfrm>
          <a:custGeom>
            <a:avLst/>
            <a:gdLst>
              <a:gd name="connsiteX0" fmla="*/ 0 w 1031385"/>
              <a:gd name="connsiteY0" fmla="*/ 3349256 h 3349256"/>
              <a:gd name="connsiteX1" fmla="*/ 776177 w 1031385"/>
              <a:gd name="connsiteY1" fmla="*/ 2073349 h 3349256"/>
              <a:gd name="connsiteX2" fmla="*/ 1031358 w 1031385"/>
              <a:gd name="connsiteY2" fmla="*/ 1509823 h 3349256"/>
              <a:gd name="connsiteX3" fmla="*/ 765544 w 1031385"/>
              <a:gd name="connsiteY3" fmla="*/ 0 h 3349256"/>
            </a:gdLst>
            <a:ahLst/>
            <a:cxnLst>
              <a:cxn ang="0">
                <a:pos x="connsiteX0" y="connsiteY0"/>
              </a:cxn>
              <a:cxn ang="0">
                <a:pos x="connsiteX1" y="connsiteY1"/>
              </a:cxn>
              <a:cxn ang="0">
                <a:pos x="connsiteX2" y="connsiteY2"/>
              </a:cxn>
              <a:cxn ang="0">
                <a:pos x="connsiteX3" y="connsiteY3"/>
              </a:cxn>
            </a:cxnLst>
            <a:rect l="l" t="t" r="r" b="b"/>
            <a:pathLst>
              <a:path w="1031385" h="3349256">
                <a:moveTo>
                  <a:pt x="0" y="3349256"/>
                </a:moveTo>
                <a:cubicBezTo>
                  <a:pt x="302142" y="2864588"/>
                  <a:pt x="604284" y="2379921"/>
                  <a:pt x="776177" y="2073349"/>
                </a:cubicBezTo>
                <a:cubicBezTo>
                  <a:pt x="948070" y="1766777"/>
                  <a:pt x="1033130" y="1855381"/>
                  <a:pt x="1031358" y="1509823"/>
                </a:cubicBezTo>
                <a:cubicBezTo>
                  <a:pt x="1029586" y="1164265"/>
                  <a:pt x="813390" y="258725"/>
                  <a:pt x="765544" y="0"/>
                </a:cubicBezTo>
              </a:path>
            </a:pathLst>
          </a:custGeom>
          <a:ln w="12700">
            <a:solidFill>
              <a:srgbClr val="7030A0"/>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solidFill>
                <a:schemeClr val="tx1"/>
              </a:solidFill>
            </a:endParaRPr>
          </a:p>
        </p:txBody>
      </p:sp>
      <p:sp>
        <p:nvSpPr>
          <p:cNvPr id="34" name="Free-form: Shape 33">
            <a:extLst>
              <a:ext uri="{FF2B5EF4-FFF2-40B4-BE49-F238E27FC236}">
                <a16:creationId xmlns:a16="http://schemas.microsoft.com/office/drawing/2014/main" id="{3F96AE5C-D294-17E2-F4F2-4E608F659DBD}"/>
              </a:ext>
            </a:extLst>
          </p:cNvPr>
          <p:cNvSpPr/>
          <p:nvPr/>
        </p:nvSpPr>
        <p:spPr>
          <a:xfrm rot="21316619">
            <a:off x="5704806" y="3221664"/>
            <a:ext cx="2640939" cy="2062717"/>
          </a:xfrm>
          <a:custGeom>
            <a:avLst/>
            <a:gdLst>
              <a:gd name="connsiteX0" fmla="*/ 1509823 w 1944945"/>
              <a:gd name="connsiteY0" fmla="*/ 2190307 h 2190307"/>
              <a:gd name="connsiteX1" fmla="*/ 1850065 w 1944945"/>
              <a:gd name="connsiteY1" fmla="*/ 1148317 h 2190307"/>
              <a:gd name="connsiteX2" fmla="*/ 0 w 1944945"/>
              <a:gd name="connsiteY2" fmla="*/ 0 h 2190307"/>
              <a:gd name="connsiteX3" fmla="*/ 0 w 1944945"/>
              <a:gd name="connsiteY3" fmla="*/ 0 h 2190307"/>
            </a:gdLst>
            <a:ahLst/>
            <a:cxnLst>
              <a:cxn ang="0">
                <a:pos x="connsiteX0" y="connsiteY0"/>
              </a:cxn>
              <a:cxn ang="0">
                <a:pos x="connsiteX1" y="connsiteY1"/>
              </a:cxn>
              <a:cxn ang="0">
                <a:pos x="connsiteX2" y="connsiteY2"/>
              </a:cxn>
              <a:cxn ang="0">
                <a:pos x="connsiteX3" y="connsiteY3"/>
              </a:cxn>
            </a:cxnLst>
            <a:rect l="l" t="t" r="r" b="b"/>
            <a:pathLst>
              <a:path w="1944945" h="2190307">
                <a:moveTo>
                  <a:pt x="1509823" y="2190307"/>
                </a:moveTo>
                <a:cubicBezTo>
                  <a:pt x="1805762" y="1851837"/>
                  <a:pt x="2101702" y="1513368"/>
                  <a:pt x="1850065" y="1148317"/>
                </a:cubicBezTo>
                <a:cubicBezTo>
                  <a:pt x="1598428" y="783266"/>
                  <a:pt x="0" y="0"/>
                  <a:pt x="0" y="0"/>
                </a:cubicBezTo>
                <a:lnTo>
                  <a:pt x="0" y="0"/>
                </a:lnTo>
              </a:path>
            </a:pathLst>
          </a:custGeom>
          <a:ln w="12700">
            <a:solidFill>
              <a:srgbClr val="7030A0"/>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solidFill>
                <a:schemeClr val="tx1"/>
              </a:solidFill>
            </a:endParaRPr>
          </a:p>
        </p:txBody>
      </p:sp>
      <p:pic>
        <p:nvPicPr>
          <p:cNvPr id="35" name="Picture 34">
            <a:extLst>
              <a:ext uri="{FF2B5EF4-FFF2-40B4-BE49-F238E27FC236}">
                <a16:creationId xmlns:a16="http://schemas.microsoft.com/office/drawing/2014/main" id="{F7D50FB8-A25A-ED81-CF46-99CB09B4DA33}"/>
              </a:ext>
            </a:extLst>
          </p:cNvPr>
          <p:cNvPicPr>
            <a:picLocks noChangeAspect="1"/>
          </p:cNvPicPr>
          <p:nvPr/>
        </p:nvPicPr>
        <p:blipFill>
          <a:blip r:embed="rId8"/>
          <a:stretch>
            <a:fillRect/>
          </a:stretch>
        </p:blipFill>
        <p:spPr>
          <a:xfrm>
            <a:off x="3565015" y="5272640"/>
            <a:ext cx="1184136" cy="298365"/>
          </a:xfrm>
          <a:prstGeom prst="rect">
            <a:avLst/>
          </a:prstGeom>
        </p:spPr>
      </p:pic>
      <p:pic>
        <p:nvPicPr>
          <p:cNvPr id="36" name="Picture 35">
            <a:extLst>
              <a:ext uri="{FF2B5EF4-FFF2-40B4-BE49-F238E27FC236}">
                <a16:creationId xmlns:a16="http://schemas.microsoft.com/office/drawing/2014/main" id="{DF68A654-EE79-A35B-E6D9-E3DD696504B3}"/>
              </a:ext>
            </a:extLst>
          </p:cNvPr>
          <p:cNvPicPr>
            <a:picLocks noChangeAspect="1"/>
          </p:cNvPicPr>
          <p:nvPr/>
        </p:nvPicPr>
        <p:blipFill>
          <a:blip r:embed="rId9"/>
          <a:stretch>
            <a:fillRect/>
          </a:stretch>
        </p:blipFill>
        <p:spPr>
          <a:xfrm>
            <a:off x="4471197" y="6315940"/>
            <a:ext cx="959570" cy="226240"/>
          </a:xfrm>
          <a:prstGeom prst="rect">
            <a:avLst/>
          </a:prstGeom>
        </p:spPr>
      </p:pic>
    </p:spTree>
    <p:extLst>
      <p:ext uri="{BB962C8B-B14F-4D97-AF65-F5344CB8AC3E}">
        <p14:creationId xmlns:p14="http://schemas.microsoft.com/office/powerpoint/2010/main" val="4131196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animBg="1"/>
      <p:bldP spid="32" grpId="0" animBg="1"/>
      <p:bldP spid="33" grpId="0" animBg="1"/>
      <p:bldP spid="3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41">
            <a:extLst>
              <a:ext uri="{FF2B5EF4-FFF2-40B4-BE49-F238E27FC236}">
                <a16:creationId xmlns:a16="http://schemas.microsoft.com/office/drawing/2014/main" id="{165BF45C-3540-7814-98DA-33914B856C29}"/>
              </a:ext>
            </a:extLst>
          </p:cNvPr>
          <p:cNvPicPr>
            <a:picLocks noChangeAspect="1"/>
          </p:cNvPicPr>
          <p:nvPr/>
        </p:nvPicPr>
        <p:blipFill>
          <a:blip r:embed="rId3"/>
          <a:stretch>
            <a:fillRect/>
          </a:stretch>
        </p:blipFill>
        <p:spPr>
          <a:xfrm>
            <a:off x="587859" y="1924493"/>
            <a:ext cx="2220543" cy="1443745"/>
          </a:xfrm>
          <a:prstGeom prst="rect">
            <a:avLst/>
          </a:prstGeom>
        </p:spPr>
      </p:pic>
      <p:sp>
        <p:nvSpPr>
          <p:cNvPr id="2" name="Title 1">
            <a:extLst>
              <a:ext uri="{FF2B5EF4-FFF2-40B4-BE49-F238E27FC236}">
                <a16:creationId xmlns:a16="http://schemas.microsoft.com/office/drawing/2014/main" id="{83CDAB49-4E83-D5C9-EF6D-0F2CE1E6855E}"/>
              </a:ext>
            </a:extLst>
          </p:cNvPr>
          <p:cNvSpPr>
            <a:spLocks noGrp="1"/>
          </p:cNvSpPr>
          <p:nvPr>
            <p:ph type="title"/>
          </p:nvPr>
        </p:nvSpPr>
        <p:spPr>
          <a:xfrm>
            <a:off x="185741" y="125608"/>
            <a:ext cx="7886700" cy="721053"/>
          </a:xfrm>
        </p:spPr>
        <p:txBody>
          <a:bodyPr/>
          <a:lstStyle/>
          <a:p>
            <a:r>
              <a:rPr lang="en-US" dirty="0"/>
              <a:t>Practical Full Bridge Inverter</a:t>
            </a:r>
          </a:p>
        </p:txBody>
      </p:sp>
      <p:sp>
        <p:nvSpPr>
          <p:cNvPr id="17" name="Title 1">
            <a:extLst>
              <a:ext uri="{FF2B5EF4-FFF2-40B4-BE49-F238E27FC236}">
                <a16:creationId xmlns:a16="http://schemas.microsoft.com/office/drawing/2014/main" id="{4100A584-C9BA-C39F-A4D3-ABF895CCF570}"/>
              </a:ext>
            </a:extLst>
          </p:cNvPr>
          <p:cNvSpPr txBox="1">
            <a:spLocks/>
          </p:cNvSpPr>
          <p:nvPr/>
        </p:nvSpPr>
        <p:spPr>
          <a:xfrm>
            <a:off x="121943" y="703034"/>
            <a:ext cx="8851933" cy="98754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Tx/>
              <a:buChar char="-"/>
            </a:pPr>
            <a:r>
              <a:rPr lang="en-US" sz="2800" b="1" dirty="0"/>
              <a:t>Made through real components</a:t>
            </a:r>
          </a:p>
          <a:p>
            <a:pPr marL="914400" lvl="1" indent="-457200">
              <a:buFontTx/>
              <a:buChar char="-"/>
            </a:pPr>
            <a:r>
              <a:rPr lang="en-US" sz="2800" dirty="0"/>
              <a:t>Avoiding shoot through in PWM – </a:t>
            </a:r>
            <a:r>
              <a:rPr lang="en-US" sz="2800" dirty="0">
                <a:solidFill>
                  <a:srgbClr val="FF0000"/>
                </a:solidFill>
              </a:rPr>
              <a:t>Bipolar Switching</a:t>
            </a:r>
            <a:endParaRPr lang="en-US" sz="2400" dirty="0">
              <a:solidFill>
                <a:srgbClr val="FF0000"/>
              </a:solidFill>
            </a:endParaRPr>
          </a:p>
        </p:txBody>
      </p:sp>
      <p:sp>
        <p:nvSpPr>
          <p:cNvPr id="9" name="Right Arrow 8">
            <a:extLst>
              <a:ext uri="{FF2B5EF4-FFF2-40B4-BE49-F238E27FC236}">
                <a16:creationId xmlns:a16="http://schemas.microsoft.com/office/drawing/2014/main" id="{A131CF93-C612-E234-71ED-08D2D1A2B7CA}"/>
              </a:ext>
            </a:extLst>
          </p:cNvPr>
          <p:cNvSpPr/>
          <p:nvPr/>
        </p:nvSpPr>
        <p:spPr>
          <a:xfrm>
            <a:off x="3033606" y="2318815"/>
            <a:ext cx="660400" cy="5207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8" name="Straight Connector 37">
            <a:extLst>
              <a:ext uri="{FF2B5EF4-FFF2-40B4-BE49-F238E27FC236}">
                <a16:creationId xmlns:a16="http://schemas.microsoft.com/office/drawing/2014/main" id="{549924CE-8B0C-2BE8-CED3-0EA945FB0A72}"/>
              </a:ext>
            </a:extLst>
          </p:cNvPr>
          <p:cNvCxnSpPr>
            <a:cxnSpLocks/>
          </p:cNvCxnSpPr>
          <p:nvPr/>
        </p:nvCxnSpPr>
        <p:spPr>
          <a:xfrm>
            <a:off x="1254644" y="1935126"/>
            <a:ext cx="0" cy="144374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B78E6066-1D7A-BCCC-C923-92B1581D43EC}"/>
                  </a:ext>
                </a:extLst>
              </p:cNvPr>
              <p:cNvSpPr txBox="1"/>
              <p:nvPr/>
            </p:nvSpPr>
            <p:spPr>
              <a:xfrm>
                <a:off x="225896" y="1980261"/>
                <a:ext cx="353465" cy="338554"/>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600" b="1" i="1" smtClean="0">
                              <a:solidFill>
                                <a:srgbClr val="836967"/>
                              </a:solidFill>
                              <a:latin typeface="Cambria Math" panose="02040503050406030204" pitchFamily="18" charset="0"/>
                            </a:rPr>
                          </m:ctrlPr>
                        </m:sSubPr>
                        <m:e>
                          <m:r>
                            <a:rPr lang="en-GB" sz="1600" b="1" i="1" smtClean="0">
                              <a:latin typeface="Cambria Math" panose="02040503050406030204" pitchFamily="18" charset="0"/>
                            </a:rPr>
                            <m:t>𝑻</m:t>
                          </m:r>
                        </m:e>
                        <m:sub>
                          <m:r>
                            <a:rPr lang="en-GB" sz="1600" b="1" i="1" smtClean="0">
                              <a:latin typeface="Cambria Math" panose="02040503050406030204" pitchFamily="18" charset="0"/>
                            </a:rPr>
                            <m:t>+</m:t>
                          </m:r>
                        </m:sub>
                      </m:sSub>
                    </m:oMath>
                  </m:oMathPara>
                </a14:m>
                <a:endParaRPr lang="en-US" sz="1600" b="1" dirty="0"/>
              </a:p>
            </p:txBody>
          </p:sp>
        </mc:Choice>
        <mc:Fallback xmlns="">
          <p:sp>
            <p:nvSpPr>
              <p:cNvPr id="39" name="TextBox 38">
                <a:extLst>
                  <a:ext uri="{FF2B5EF4-FFF2-40B4-BE49-F238E27FC236}">
                    <a16:creationId xmlns:a16="http://schemas.microsoft.com/office/drawing/2014/main" id="{B78E6066-1D7A-BCCC-C923-92B1581D43EC}"/>
                  </a:ext>
                </a:extLst>
              </p:cNvPr>
              <p:cNvSpPr txBox="1">
                <a:spLocks noRot="1" noChangeAspect="1" noMove="1" noResize="1" noEditPoints="1" noAdjustHandles="1" noChangeArrowheads="1" noChangeShapeType="1" noTextEdit="1"/>
              </p:cNvSpPr>
              <p:nvPr/>
            </p:nvSpPr>
            <p:spPr>
              <a:xfrm>
                <a:off x="225896" y="1980261"/>
                <a:ext cx="353465" cy="338554"/>
              </a:xfrm>
              <a:prstGeom prst="rect">
                <a:avLst/>
              </a:prstGeom>
              <a:blipFill>
                <a:blip r:embed="rId4"/>
                <a:stretch>
                  <a:fillRect r="-3333"/>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2455C65C-30BE-EB9D-A5A7-FA235F42D38D}"/>
                  </a:ext>
                </a:extLst>
              </p:cNvPr>
              <p:cNvSpPr txBox="1"/>
              <p:nvPr/>
            </p:nvSpPr>
            <p:spPr>
              <a:xfrm>
                <a:off x="197540" y="2887574"/>
                <a:ext cx="353465" cy="338554"/>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600" b="1" i="1" smtClean="0">
                              <a:solidFill>
                                <a:srgbClr val="836967"/>
                              </a:solidFill>
                              <a:latin typeface="Cambria Math" panose="02040503050406030204" pitchFamily="18" charset="0"/>
                            </a:rPr>
                          </m:ctrlPr>
                        </m:sSubPr>
                        <m:e>
                          <m:r>
                            <a:rPr lang="en-GB" sz="1600" b="1" i="1" smtClean="0">
                              <a:latin typeface="Cambria Math" panose="02040503050406030204" pitchFamily="18" charset="0"/>
                            </a:rPr>
                            <m:t>𝑻</m:t>
                          </m:r>
                        </m:e>
                        <m:sub>
                          <m:r>
                            <a:rPr lang="en-GB" sz="1600" b="1" i="1" smtClean="0">
                              <a:latin typeface="Cambria Math" panose="02040503050406030204" pitchFamily="18" charset="0"/>
                            </a:rPr>
                            <m:t>−</m:t>
                          </m:r>
                        </m:sub>
                      </m:sSub>
                    </m:oMath>
                  </m:oMathPara>
                </a14:m>
                <a:endParaRPr lang="en-US" sz="1600" b="1" dirty="0"/>
              </a:p>
            </p:txBody>
          </p:sp>
        </mc:Choice>
        <mc:Fallback xmlns="">
          <p:sp>
            <p:nvSpPr>
              <p:cNvPr id="40" name="TextBox 39">
                <a:extLst>
                  <a:ext uri="{FF2B5EF4-FFF2-40B4-BE49-F238E27FC236}">
                    <a16:creationId xmlns:a16="http://schemas.microsoft.com/office/drawing/2014/main" id="{2455C65C-30BE-EB9D-A5A7-FA235F42D38D}"/>
                  </a:ext>
                </a:extLst>
              </p:cNvPr>
              <p:cNvSpPr txBox="1">
                <a:spLocks noRot="1" noChangeAspect="1" noMove="1" noResize="1" noEditPoints="1" noAdjustHandles="1" noChangeArrowheads="1" noChangeShapeType="1" noTextEdit="1"/>
              </p:cNvSpPr>
              <p:nvPr/>
            </p:nvSpPr>
            <p:spPr>
              <a:xfrm>
                <a:off x="197540" y="2887574"/>
                <a:ext cx="353465" cy="338554"/>
              </a:xfrm>
              <a:prstGeom prst="rect">
                <a:avLst/>
              </a:prstGeom>
              <a:blipFill>
                <a:blip r:embed="rId5"/>
                <a:stretch>
                  <a:fillRect/>
                </a:stretch>
              </a:blipFill>
              <a:ln>
                <a:solidFill>
                  <a:schemeClr val="bg1"/>
                </a:solidFill>
              </a:ln>
            </p:spPr>
            <p:txBody>
              <a:bodyPr/>
              <a:lstStyle/>
              <a:p>
                <a:r>
                  <a:rPr lang="en-US">
                    <a:noFill/>
                  </a:rPr>
                  <a:t> </a:t>
                </a:r>
              </a:p>
            </p:txBody>
          </p:sp>
        </mc:Fallback>
      </mc:AlternateContent>
      <p:cxnSp>
        <p:nvCxnSpPr>
          <p:cNvPr id="41" name="Straight Connector 40">
            <a:extLst>
              <a:ext uri="{FF2B5EF4-FFF2-40B4-BE49-F238E27FC236}">
                <a16:creationId xmlns:a16="http://schemas.microsoft.com/office/drawing/2014/main" id="{52514E63-4BF9-9F20-0951-CA1CEECD7BD0}"/>
              </a:ext>
            </a:extLst>
          </p:cNvPr>
          <p:cNvCxnSpPr>
            <a:cxnSpLocks/>
          </p:cNvCxnSpPr>
          <p:nvPr/>
        </p:nvCxnSpPr>
        <p:spPr>
          <a:xfrm>
            <a:off x="1906775" y="1937729"/>
            <a:ext cx="0" cy="1387977"/>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pic>
        <p:nvPicPr>
          <p:cNvPr id="36" name="Picture 35">
            <a:extLst>
              <a:ext uri="{FF2B5EF4-FFF2-40B4-BE49-F238E27FC236}">
                <a16:creationId xmlns:a16="http://schemas.microsoft.com/office/drawing/2014/main" id="{CC67BA00-7A96-D555-E61D-3D32025EE633}"/>
              </a:ext>
            </a:extLst>
          </p:cNvPr>
          <p:cNvPicPr>
            <a:picLocks noChangeAspect="1"/>
          </p:cNvPicPr>
          <p:nvPr/>
        </p:nvPicPr>
        <p:blipFill>
          <a:blip r:embed="rId6"/>
          <a:stretch>
            <a:fillRect/>
          </a:stretch>
        </p:blipFill>
        <p:spPr>
          <a:xfrm>
            <a:off x="616215" y="1935126"/>
            <a:ext cx="2371556" cy="3217942"/>
          </a:xfrm>
          <a:prstGeom prst="rect">
            <a:avLst/>
          </a:prstGeom>
        </p:spPr>
      </p:pic>
      <p:sp>
        <p:nvSpPr>
          <p:cNvPr id="45" name="TextBox 44">
            <a:extLst>
              <a:ext uri="{FF2B5EF4-FFF2-40B4-BE49-F238E27FC236}">
                <a16:creationId xmlns:a16="http://schemas.microsoft.com/office/drawing/2014/main" id="{84BB2081-5ABD-A6DF-27A4-A33F6319C02E}"/>
              </a:ext>
            </a:extLst>
          </p:cNvPr>
          <p:cNvSpPr txBox="1"/>
          <p:nvPr/>
        </p:nvSpPr>
        <p:spPr>
          <a:xfrm>
            <a:off x="3937751" y="2394499"/>
            <a:ext cx="2353016" cy="369332"/>
          </a:xfrm>
          <a:prstGeom prst="rect">
            <a:avLst/>
          </a:prstGeom>
          <a:noFill/>
        </p:spPr>
        <p:txBody>
          <a:bodyPr wrap="none" rtlCol="0">
            <a:spAutoFit/>
          </a:bodyPr>
          <a:lstStyle/>
          <a:p>
            <a:r>
              <a:rPr lang="en-US" dirty="0"/>
              <a:t>Causing Shoot Through</a:t>
            </a:r>
          </a:p>
        </p:txBody>
      </p:sp>
      <p:cxnSp>
        <p:nvCxnSpPr>
          <p:cNvPr id="47" name="Straight Connector 46">
            <a:extLst>
              <a:ext uri="{FF2B5EF4-FFF2-40B4-BE49-F238E27FC236}">
                <a16:creationId xmlns:a16="http://schemas.microsoft.com/office/drawing/2014/main" id="{620B5E7A-8B69-1A03-294A-72833D2AEB99}"/>
              </a:ext>
            </a:extLst>
          </p:cNvPr>
          <p:cNvCxnSpPr/>
          <p:nvPr/>
        </p:nvCxnSpPr>
        <p:spPr>
          <a:xfrm>
            <a:off x="1244011" y="1818167"/>
            <a:ext cx="0" cy="333490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B96537AC-2B50-D3BE-F4D1-69ED00D6EDC3}"/>
              </a:ext>
            </a:extLst>
          </p:cNvPr>
          <p:cNvCxnSpPr/>
          <p:nvPr/>
        </p:nvCxnSpPr>
        <p:spPr>
          <a:xfrm>
            <a:off x="2087527" y="1818167"/>
            <a:ext cx="0" cy="333490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17F471A2-BAF8-7172-415D-01C20FDF56B0}"/>
              </a:ext>
            </a:extLst>
          </p:cNvPr>
          <p:cNvCxnSpPr/>
          <p:nvPr/>
        </p:nvCxnSpPr>
        <p:spPr>
          <a:xfrm>
            <a:off x="1410588" y="1818167"/>
            <a:ext cx="0" cy="3334901"/>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AE708C97-1670-0C98-D4E7-0938DC508909}"/>
              </a:ext>
            </a:extLst>
          </p:cNvPr>
          <p:cNvCxnSpPr/>
          <p:nvPr/>
        </p:nvCxnSpPr>
        <p:spPr>
          <a:xfrm>
            <a:off x="1949307" y="1825166"/>
            <a:ext cx="0" cy="3334901"/>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sp>
        <p:nvSpPr>
          <p:cNvPr id="51" name="Right Arrow 50">
            <a:extLst>
              <a:ext uri="{FF2B5EF4-FFF2-40B4-BE49-F238E27FC236}">
                <a16:creationId xmlns:a16="http://schemas.microsoft.com/office/drawing/2014/main" id="{3DA4C22D-E2DD-2009-8C6A-F92BEC967BFE}"/>
              </a:ext>
            </a:extLst>
          </p:cNvPr>
          <p:cNvSpPr/>
          <p:nvPr/>
        </p:nvSpPr>
        <p:spPr>
          <a:xfrm>
            <a:off x="3033606" y="4057791"/>
            <a:ext cx="660400" cy="5207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TextBox 51">
            <a:extLst>
              <a:ext uri="{FF2B5EF4-FFF2-40B4-BE49-F238E27FC236}">
                <a16:creationId xmlns:a16="http://schemas.microsoft.com/office/drawing/2014/main" id="{E764C037-9399-67C5-5535-8A07A5E9646B}"/>
              </a:ext>
            </a:extLst>
          </p:cNvPr>
          <p:cNvSpPr txBox="1"/>
          <p:nvPr/>
        </p:nvSpPr>
        <p:spPr>
          <a:xfrm>
            <a:off x="3937751" y="4133475"/>
            <a:ext cx="4922438" cy="369332"/>
          </a:xfrm>
          <a:prstGeom prst="rect">
            <a:avLst/>
          </a:prstGeom>
          <a:noFill/>
        </p:spPr>
        <p:txBody>
          <a:bodyPr wrap="none" rtlCol="0">
            <a:spAutoFit/>
          </a:bodyPr>
          <a:lstStyle/>
          <a:p>
            <a:r>
              <a:rPr lang="en-US" dirty="0"/>
              <a:t>Additional of blanking time to avoid shoot through</a:t>
            </a:r>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B15AD717-5EED-9676-21A5-4919DE6A5963}"/>
                  </a:ext>
                </a:extLst>
              </p:cNvPr>
              <p:cNvSpPr txBox="1"/>
              <p:nvPr/>
            </p:nvSpPr>
            <p:spPr>
              <a:xfrm>
                <a:off x="207818" y="3595494"/>
                <a:ext cx="353465" cy="338554"/>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600" b="1" i="1" smtClean="0">
                              <a:solidFill>
                                <a:srgbClr val="836967"/>
                              </a:solidFill>
                              <a:latin typeface="Cambria Math" panose="02040503050406030204" pitchFamily="18" charset="0"/>
                            </a:rPr>
                          </m:ctrlPr>
                        </m:sSubPr>
                        <m:e>
                          <m:r>
                            <a:rPr lang="en-GB" sz="1600" b="1" i="1" smtClean="0">
                              <a:latin typeface="Cambria Math" panose="02040503050406030204" pitchFamily="18" charset="0"/>
                            </a:rPr>
                            <m:t>𝑻</m:t>
                          </m:r>
                        </m:e>
                        <m:sub>
                          <m:r>
                            <a:rPr lang="en-GB" sz="1600" b="1" i="1" smtClean="0">
                              <a:latin typeface="Cambria Math" panose="02040503050406030204" pitchFamily="18" charset="0"/>
                            </a:rPr>
                            <m:t>+</m:t>
                          </m:r>
                        </m:sub>
                      </m:sSub>
                    </m:oMath>
                  </m:oMathPara>
                </a14:m>
                <a:endParaRPr lang="en-US" sz="1600" b="1" dirty="0"/>
              </a:p>
            </p:txBody>
          </p:sp>
        </mc:Choice>
        <mc:Fallback xmlns="">
          <p:sp>
            <p:nvSpPr>
              <p:cNvPr id="53" name="TextBox 52">
                <a:extLst>
                  <a:ext uri="{FF2B5EF4-FFF2-40B4-BE49-F238E27FC236}">
                    <a16:creationId xmlns:a16="http://schemas.microsoft.com/office/drawing/2014/main" id="{B15AD717-5EED-9676-21A5-4919DE6A5963}"/>
                  </a:ext>
                </a:extLst>
              </p:cNvPr>
              <p:cNvSpPr txBox="1">
                <a:spLocks noRot="1" noChangeAspect="1" noMove="1" noResize="1" noEditPoints="1" noAdjustHandles="1" noChangeArrowheads="1" noChangeShapeType="1" noTextEdit="1"/>
              </p:cNvSpPr>
              <p:nvPr/>
            </p:nvSpPr>
            <p:spPr>
              <a:xfrm>
                <a:off x="207818" y="3595494"/>
                <a:ext cx="353465" cy="338554"/>
              </a:xfrm>
              <a:prstGeom prst="rect">
                <a:avLst/>
              </a:prstGeom>
              <a:blipFill>
                <a:blip r:embed="rId7"/>
                <a:stretch>
                  <a:fillRect r="-3333"/>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F69AA8D1-C3FA-20C7-7FAF-DE27D7FA9BE6}"/>
                  </a:ext>
                </a:extLst>
              </p:cNvPr>
              <p:cNvSpPr txBox="1"/>
              <p:nvPr/>
            </p:nvSpPr>
            <p:spPr>
              <a:xfrm>
                <a:off x="179462" y="4502807"/>
                <a:ext cx="353465" cy="338554"/>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600" b="1" i="1" smtClean="0">
                              <a:solidFill>
                                <a:srgbClr val="836967"/>
                              </a:solidFill>
                              <a:latin typeface="Cambria Math" panose="02040503050406030204" pitchFamily="18" charset="0"/>
                            </a:rPr>
                          </m:ctrlPr>
                        </m:sSubPr>
                        <m:e>
                          <m:r>
                            <a:rPr lang="en-GB" sz="1600" b="1" i="1" smtClean="0">
                              <a:latin typeface="Cambria Math" panose="02040503050406030204" pitchFamily="18" charset="0"/>
                            </a:rPr>
                            <m:t>𝑻</m:t>
                          </m:r>
                        </m:e>
                        <m:sub>
                          <m:r>
                            <a:rPr lang="en-GB" sz="1600" b="1" i="1" smtClean="0">
                              <a:latin typeface="Cambria Math" panose="02040503050406030204" pitchFamily="18" charset="0"/>
                            </a:rPr>
                            <m:t>−</m:t>
                          </m:r>
                        </m:sub>
                      </m:sSub>
                    </m:oMath>
                  </m:oMathPara>
                </a14:m>
                <a:endParaRPr lang="en-US" sz="1600" b="1" dirty="0"/>
              </a:p>
            </p:txBody>
          </p:sp>
        </mc:Choice>
        <mc:Fallback xmlns="">
          <p:sp>
            <p:nvSpPr>
              <p:cNvPr id="54" name="TextBox 53">
                <a:extLst>
                  <a:ext uri="{FF2B5EF4-FFF2-40B4-BE49-F238E27FC236}">
                    <a16:creationId xmlns:a16="http://schemas.microsoft.com/office/drawing/2014/main" id="{F69AA8D1-C3FA-20C7-7FAF-DE27D7FA9BE6}"/>
                  </a:ext>
                </a:extLst>
              </p:cNvPr>
              <p:cNvSpPr txBox="1">
                <a:spLocks noRot="1" noChangeAspect="1" noMove="1" noResize="1" noEditPoints="1" noAdjustHandles="1" noChangeArrowheads="1" noChangeShapeType="1" noTextEdit="1"/>
              </p:cNvSpPr>
              <p:nvPr/>
            </p:nvSpPr>
            <p:spPr>
              <a:xfrm>
                <a:off x="179462" y="4502807"/>
                <a:ext cx="353465" cy="338554"/>
              </a:xfrm>
              <a:prstGeom prst="rect">
                <a:avLst/>
              </a:prstGeom>
              <a:blipFill>
                <a:blip r:embed="rId8"/>
                <a:stretch>
                  <a:fillRect/>
                </a:stretch>
              </a:blipFill>
              <a:ln>
                <a:solidFill>
                  <a:schemeClr val="bg1"/>
                </a:solidFill>
              </a:ln>
            </p:spPr>
            <p:txBody>
              <a:bodyPr/>
              <a:lstStyle/>
              <a:p>
                <a:r>
                  <a:rPr lang="en-US">
                    <a:noFill/>
                  </a:rPr>
                  <a:t> </a:t>
                </a:r>
              </a:p>
            </p:txBody>
          </p:sp>
        </mc:Fallback>
      </mc:AlternateContent>
      <p:cxnSp>
        <p:nvCxnSpPr>
          <p:cNvPr id="56" name="Straight Arrow Connector 55">
            <a:extLst>
              <a:ext uri="{FF2B5EF4-FFF2-40B4-BE49-F238E27FC236}">
                <a16:creationId xmlns:a16="http://schemas.microsoft.com/office/drawing/2014/main" id="{B42D2D40-7AE1-38F3-9B89-28295617FEBA}"/>
              </a:ext>
            </a:extLst>
          </p:cNvPr>
          <p:cNvCxnSpPr/>
          <p:nvPr/>
        </p:nvCxnSpPr>
        <p:spPr>
          <a:xfrm>
            <a:off x="1254644" y="5160067"/>
            <a:ext cx="329607" cy="39012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25584364-10D8-1A58-22B5-7DB7D60D06F6}"/>
              </a:ext>
            </a:extLst>
          </p:cNvPr>
          <p:cNvCxnSpPr>
            <a:cxnSpLocks/>
          </p:cNvCxnSpPr>
          <p:nvPr/>
        </p:nvCxnSpPr>
        <p:spPr>
          <a:xfrm flipH="1">
            <a:off x="1733109" y="5160067"/>
            <a:ext cx="269363" cy="39012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A1E9D63A-2EC8-4225-494C-CD0E78DCF74D}"/>
              </a:ext>
            </a:extLst>
          </p:cNvPr>
          <p:cNvSpPr txBox="1"/>
          <p:nvPr/>
        </p:nvSpPr>
        <p:spPr>
          <a:xfrm>
            <a:off x="1092836" y="5557194"/>
            <a:ext cx="1210588" cy="307777"/>
          </a:xfrm>
          <a:prstGeom prst="rect">
            <a:avLst/>
          </a:prstGeom>
          <a:noFill/>
        </p:spPr>
        <p:txBody>
          <a:bodyPr wrap="none" rtlCol="0">
            <a:spAutoFit/>
          </a:bodyPr>
          <a:lstStyle/>
          <a:p>
            <a:r>
              <a:rPr lang="en-US" sz="1400" dirty="0"/>
              <a:t>Blanking Time</a:t>
            </a:r>
          </a:p>
        </p:txBody>
      </p:sp>
    </p:spTree>
    <p:extLst>
      <p:ext uri="{BB962C8B-B14F-4D97-AF65-F5344CB8AC3E}">
        <p14:creationId xmlns:p14="http://schemas.microsoft.com/office/powerpoint/2010/main" val="3481069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2"/>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57"/>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56"/>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39" grpId="0" animBg="1"/>
      <p:bldP spid="40" grpId="0" animBg="1"/>
      <p:bldP spid="45" grpId="0"/>
      <p:bldP spid="51" grpId="0" animBg="1"/>
      <p:bldP spid="52" grpId="0"/>
      <p:bldP spid="53" grpId="0" animBg="1"/>
      <p:bldP spid="54" grpId="0" animBg="1"/>
      <p:bldP spid="61"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C6EF043-9211-8E4A-0E92-BAB3213ECEF0}"/>
              </a:ext>
            </a:extLst>
          </p:cNvPr>
          <p:cNvPicPr>
            <a:picLocks noChangeAspect="1"/>
          </p:cNvPicPr>
          <p:nvPr/>
        </p:nvPicPr>
        <p:blipFill>
          <a:blip r:embed="rId2"/>
          <a:stretch>
            <a:fillRect/>
          </a:stretch>
        </p:blipFill>
        <p:spPr>
          <a:xfrm>
            <a:off x="5163874" y="1447774"/>
            <a:ext cx="3960250" cy="2086918"/>
          </a:xfrm>
          <a:prstGeom prst="rect">
            <a:avLst/>
          </a:prstGeom>
        </p:spPr>
      </p:pic>
      <p:sp>
        <p:nvSpPr>
          <p:cNvPr id="2" name="Title 1">
            <a:extLst>
              <a:ext uri="{FF2B5EF4-FFF2-40B4-BE49-F238E27FC236}">
                <a16:creationId xmlns:a16="http://schemas.microsoft.com/office/drawing/2014/main" id="{3903EC39-A15E-D4E0-05CF-5C8DE3E259E5}"/>
              </a:ext>
            </a:extLst>
          </p:cNvPr>
          <p:cNvSpPr>
            <a:spLocks noGrp="1"/>
          </p:cNvSpPr>
          <p:nvPr>
            <p:ph type="title"/>
          </p:nvPr>
        </p:nvSpPr>
        <p:spPr>
          <a:xfrm>
            <a:off x="203348" y="13436"/>
            <a:ext cx="7886700" cy="676274"/>
          </a:xfrm>
        </p:spPr>
        <p:txBody>
          <a:bodyPr>
            <a:normAutofit fontScale="90000"/>
          </a:bodyPr>
          <a:lstStyle/>
          <a:p>
            <a:r>
              <a:rPr lang="en-US" dirty="0"/>
              <a:t>Avoiding Shoot through</a:t>
            </a:r>
          </a:p>
        </p:txBody>
      </p:sp>
      <p:sp>
        <p:nvSpPr>
          <p:cNvPr id="96" name="Freeform 95">
            <a:extLst>
              <a:ext uri="{FF2B5EF4-FFF2-40B4-BE49-F238E27FC236}">
                <a16:creationId xmlns:a16="http://schemas.microsoft.com/office/drawing/2014/main" id="{EB6DE853-2F1E-C63B-2949-FF0D02CD76E5}"/>
              </a:ext>
            </a:extLst>
          </p:cNvPr>
          <p:cNvSpPr/>
          <p:nvPr/>
        </p:nvSpPr>
        <p:spPr>
          <a:xfrm rot="1364276">
            <a:off x="8328062" y="3082787"/>
            <a:ext cx="496686" cy="2019230"/>
          </a:xfrm>
          <a:custGeom>
            <a:avLst/>
            <a:gdLst>
              <a:gd name="connsiteX0" fmla="*/ 0 w 565723"/>
              <a:gd name="connsiteY0" fmla="*/ 3083442 h 3083442"/>
              <a:gd name="connsiteX1" fmla="*/ 542260 w 565723"/>
              <a:gd name="connsiteY1" fmla="*/ 1541721 h 3083442"/>
              <a:gd name="connsiteX2" fmla="*/ 425302 w 565723"/>
              <a:gd name="connsiteY2" fmla="*/ 531628 h 3083442"/>
              <a:gd name="connsiteX3" fmla="*/ 42530 w 565723"/>
              <a:gd name="connsiteY3" fmla="*/ 0 h 3083442"/>
            </a:gdLst>
            <a:ahLst/>
            <a:cxnLst>
              <a:cxn ang="0">
                <a:pos x="connsiteX0" y="connsiteY0"/>
              </a:cxn>
              <a:cxn ang="0">
                <a:pos x="connsiteX1" y="connsiteY1"/>
              </a:cxn>
              <a:cxn ang="0">
                <a:pos x="connsiteX2" y="connsiteY2"/>
              </a:cxn>
              <a:cxn ang="0">
                <a:pos x="connsiteX3" y="connsiteY3"/>
              </a:cxn>
            </a:cxnLst>
            <a:rect l="l" t="t" r="r" b="b"/>
            <a:pathLst>
              <a:path w="565723" h="3083442">
                <a:moveTo>
                  <a:pt x="0" y="3083442"/>
                </a:moveTo>
                <a:cubicBezTo>
                  <a:pt x="235688" y="2525232"/>
                  <a:pt x="471376" y="1967023"/>
                  <a:pt x="542260" y="1541721"/>
                </a:cubicBezTo>
                <a:cubicBezTo>
                  <a:pt x="613144" y="1116419"/>
                  <a:pt x="508590" y="788581"/>
                  <a:pt x="425302" y="531628"/>
                </a:cubicBezTo>
                <a:cubicBezTo>
                  <a:pt x="342014" y="274675"/>
                  <a:pt x="106325" y="83288"/>
                  <a:pt x="42530" y="0"/>
                </a:cubicBezTo>
              </a:path>
            </a:pathLst>
          </a:cu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98" name="Picture 97">
            <a:extLst>
              <a:ext uri="{FF2B5EF4-FFF2-40B4-BE49-F238E27FC236}">
                <a16:creationId xmlns:a16="http://schemas.microsoft.com/office/drawing/2014/main" id="{6D9A76BE-0AA1-71CA-4D48-357C4C2D212B}"/>
              </a:ext>
            </a:extLst>
          </p:cNvPr>
          <p:cNvPicPr>
            <a:picLocks noChangeAspect="1"/>
          </p:cNvPicPr>
          <p:nvPr/>
        </p:nvPicPr>
        <p:blipFill>
          <a:blip r:embed="rId3"/>
          <a:stretch>
            <a:fillRect/>
          </a:stretch>
        </p:blipFill>
        <p:spPr>
          <a:xfrm>
            <a:off x="-47855" y="1148519"/>
            <a:ext cx="5140842" cy="1800479"/>
          </a:xfrm>
          <a:prstGeom prst="rect">
            <a:avLst/>
          </a:prstGeom>
        </p:spPr>
      </p:pic>
      <p:sp>
        <p:nvSpPr>
          <p:cNvPr id="99" name="Rectangle 98">
            <a:extLst>
              <a:ext uri="{FF2B5EF4-FFF2-40B4-BE49-F238E27FC236}">
                <a16:creationId xmlns:a16="http://schemas.microsoft.com/office/drawing/2014/main" id="{367C2F22-D8CE-44FA-CD97-AFDA76C88ED3}"/>
              </a:ext>
            </a:extLst>
          </p:cNvPr>
          <p:cNvSpPr/>
          <p:nvPr/>
        </p:nvSpPr>
        <p:spPr>
          <a:xfrm>
            <a:off x="956922" y="2064123"/>
            <a:ext cx="53163" cy="63795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Rectangle 99">
            <a:extLst>
              <a:ext uri="{FF2B5EF4-FFF2-40B4-BE49-F238E27FC236}">
                <a16:creationId xmlns:a16="http://schemas.microsoft.com/office/drawing/2014/main" id="{175C168D-0117-9DEF-86C5-D2B7B351F52A}"/>
              </a:ext>
            </a:extLst>
          </p:cNvPr>
          <p:cNvSpPr/>
          <p:nvPr/>
        </p:nvSpPr>
        <p:spPr>
          <a:xfrm>
            <a:off x="1651583" y="2048758"/>
            <a:ext cx="53163" cy="63795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1" name="Straight Arrow Connector 100">
            <a:extLst>
              <a:ext uri="{FF2B5EF4-FFF2-40B4-BE49-F238E27FC236}">
                <a16:creationId xmlns:a16="http://schemas.microsoft.com/office/drawing/2014/main" id="{6A5A0CED-2A1C-36A0-28CD-3828CCC90E13}"/>
              </a:ext>
            </a:extLst>
          </p:cNvPr>
          <p:cNvCxnSpPr>
            <a:cxnSpLocks/>
            <a:stCxn id="107" idx="2"/>
          </p:cNvCxnSpPr>
          <p:nvPr/>
        </p:nvCxnSpPr>
        <p:spPr>
          <a:xfrm>
            <a:off x="1406997" y="1410110"/>
            <a:ext cx="32589" cy="26200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F5648925-B759-AFB3-1495-39C0D1A66E00}"/>
                  </a:ext>
                </a:extLst>
              </p:cNvPr>
              <p:cNvSpPr txBox="1"/>
              <p:nvPr/>
            </p:nvSpPr>
            <p:spPr>
              <a:xfrm>
                <a:off x="5331500" y="1202557"/>
                <a:ext cx="423124"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600" b="1" i="1" smtClean="0">
                              <a:solidFill>
                                <a:srgbClr val="7030A0"/>
                              </a:solidFill>
                              <a:latin typeface="Cambria Math" panose="02040503050406030204" pitchFamily="18" charset="0"/>
                            </a:rPr>
                          </m:ctrlPr>
                        </m:sSubPr>
                        <m:e>
                          <m:r>
                            <a:rPr lang="en-US" sz="1600" b="1" i="1">
                              <a:solidFill>
                                <a:srgbClr val="7030A0"/>
                              </a:solidFill>
                              <a:latin typeface="Cambria Math" panose="02040503050406030204" pitchFamily="18" charset="0"/>
                            </a:rPr>
                            <m:t>𝒗</m:t>
                          </m:r>
                        </m:e>
                        <m:sub>
                          <m:r>
                            <a:rPr lang="en-US" sz="1600" b="1" i="1">
                              <a:solidFill>
                                <a:srgbClr val="7030A0"/>
                              </a:solidFill>
                              <a:latin typeface="Cambria Math" panose="02040503050406030204" pitchFamily="18" charset="0"/>
                            </a:rPr>
                            <m:t>𝒕𝒓𝒊</m:t>
                          </m:r>
                          <m:r>
                            <a:rPr lang="en-GB" sz="1600" b="1" i="1" smtClean="0">
                              <a:solidFill>
                                <a:srgbClr val="7030A0"/>
                              </a:solidFill>
                              <a:latin typeface="Cambria Math" panose="02040503050406030204" pitchFamily="18" charset="0"/>
                            </a:rPr>
                            <m:t>+</m:t>
                          </m:r>
                        </m:sub>
                      </m:sSub>
                    </m:oMath>
                  </m:oMathPara>
                </a14:m>
                <a:endParaRPr lang="en-US" sz="1600" b="1" dirty="0"/>
              </a:p>
            </p:txBody>
          </p:sp>
        </mc:Choice>
        <mc:Fallback xmlns="">
          <p:sp>
            <p:nvSpPr>
              <p:cNvPr id="102" name="TextBox 101">
                <a:extLst>
                  <a:ext uri="{FF2B5EF4-FFF2-40B4-BE49-F238E27FC236}">
                    <a16:creationId xmlns:a16="http://schemas.microsoft.com/office/drawing/2014/main" id="{F5648925-B759-AFB3-1495-39C0D1A66E00}"/>
                  </a:ext>
                </a:extLst>
              </p:cNvPr>
              <p:cNvSpPr txBox="1">
                <a:spLocks noRot="1" noChangeAspect="1" noMove="1" noResize="1" noEditPoints="1" noAdjustHandles="1" noChangeArrowheads="1" noChangeShapeType="1" noTextEdit="1"/>
              </p:cNvSpPr>
              <p:nvPr/>
            </p:nvSpPr>
            <p:spPr>
              <a:xfrm>
                <a:off x="5331500" y="1202557"/>
                <a:ext cx="423124" cy="338554"/>
              </a:xfrm>
              <a:prstGeom prst="rect">
                <a:avLst/>
              </a:prstGeom>
              <a:blipFill>
                <a:blip r:embed="rId4"/>
                <a:stretch>
                  <a:fillRect r="-31884"/>
                </a:stretch>
              </a:blipFill>
            </p:spPr>
            <p:txBody>
              <a:bodyPr/>
              <a:lstStyle/>
              <a:p>
                <a:r>
                  <a:rPr lang="en-GB">
                    <a:noFill/>
                  </a:rPr>
                  <a:t> </a:t>
                </a:r>
              </a:p>
            </p:txBody>
          </p:sp>
        </mc:Fallback>
      </mc:AlternateContent>
      <p:cxnSp>
        <p:nvCxnSpPr>
          <p:cNvPr id="103" name="Straight Arrow Connector 102">
            <a:extLst>
              <a:ext uri="{FF2B5EF4-FFF2-40B4-BE49-F238E27FC236}">
                <a16:creationId xmlns:a16="http://schemas.microsoft.com/office/drawing/2014/main" id="{1C975F8C-0359-8A8D-47F9-740B6D1946DA}"/>
              </a:ext>
            </a:extLst>
          </p:cNvPr>
          <p:cNvCxnSpPr>
            <a:cxnSpLocks/>
          </p:cNvCxnSpPr>
          <p:nvPr/>
        </p:nvCxnSpPr>
        <p:spPr>
          <a:xfrm flipH="1">
            <a:off x="5092987" y="1410110"/>
            <a:ext cx="288881" cy="0"/>
          </a:xfrm>
          <a:prstGeom prst="straightConnector1">
            <a:avLst/>
          </a:prstGeom>
          <a:ln w="127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A0498198-68DB-4E5F-E4CE-AEB2B3AD0BF3}"/>
              </a:ext>
            </a:extLst>
          </p:cNvPr>
          <p:cNvCxnSpPr>
            <a:cxnSpLocks/>
          </p:cNvCxnSpPr>
          <p:nvPr/>
        </p:nvCxnSpPr>
        <p:spPr>
          <a:xfrm flipH="1" flipV="1">
            <a:off x="4766654" y="2598443"/>
            <a:ext cx="161692" cy="176538"/>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8B439F68-5787-AB57-27F5-2099397F4492}"/>
                  </a:ext>
                </a:extLst>
              </p:cNvPr>
              <p:cNvSpPr txBox="1"/>
              <p:nvPr/>
            </p:nvSpPr>
            <p:spPr>
              <a:xfrm>
                <a:off x="4880563" y="2675944"/>
                <a:ext cx="423124"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600" b="1" i="1" smtClean="0">
                              <a:solidFill>
                                <a:srgbClr val="FF0000"/>
                              </a:solidFill>
                              <a:latin typeface="Cambria Math" panose="02040503050406030204" pitchFamily="18" charset="0"/>
                            </a:rPr>
                          </m:ctrlPr>
                        </m:sSubPr>
                        <m:e>
                          <m:r>
                            <a:rPr lang="en-US" sz="1600" b="1" i="1">
                              <a:solidFill>
                                <a:srgbClr val="FF0000"/>
                              </a:solidFill>
                              <a:latin typeface="Cambria Math" panose="02040503050406030204" pitchFamily="18" charset="0"/>
                            </a:rPr>
                            <m:t>𝒗</m:t>
                          </m:r>
                        </m:e>
                        <m:sub>
                          <m:r>
                            <a:rPr lang="en-US" sz="1600" b="1" i="1">
                              <a:solidFill>
                                <a:srgbClr val="FF0000"/>
                              </a:solidFill>
                              <a:latin typeface="Cambria Math" panose="02040503050406030204" pitchFamily="18" charset="0"/>
                            </a:rPr>
                            <m:t>𝒕𝒓𝒊</m:t>
                          </m:r>
                          <m:r>
                            <a:rPr lang="en-GB" sz="1600" b="1" i="1" smtClean="0">
                              <a:solidFill>
                                <a:srgbClr val="FF0000"/>
                              </a:solidFill>
                              <a:latin typeface="Cambria Math" panose="02040503050406030204" pitchFamily="18" charset="0"/>
                            </a:rPr>
                            <m:t>−</m:t>
                          </m:r>
                        </m:sub>
                      </m:sSub>
                    </m:oMath>
                  </m:oMathPara>
                </a14:m>
                <a:endParaRPr lang="en-US" sz="1600" b="1" dirty="0">
                  <a:solidFill>
                    <a:srgbClr val="FF0000"/>
                  </a:solidFill>
                </a:endParaRPr>
              </a:p>
            </p:txBody>
          </p:sp>
        </mc:Choice>
        <mc:Fallback xmlns="">
          <p:sp>
            <p:nvSpPr>
              <p:cNvPr id="105" name="TextBox 104">
                <a:extLst>
                  <a:ext uri="{FF2B5EF4-FFF2-40B4-BE49-F238E27FC236}">
                    <a16:creationId xmlns:a16="http://schemas.microsoft.com/office/drawing/2014/main" id="{8B439F68-5787-AB57-27F5-2099397F4492}"/>
                  </a:ext>
                </a:extLst>
              </p:cNvPr>
              <p:cNvSpPr txBox="1">
                <a:spLocks noRot="1" noChangeAspect="1" noMove="1" noResize="1" noEditPoints="1" noAdjustHandles="1" noChangeArrowheads="1" noChangeShapeType="1" noTextEdit="1"/>
              </p:cNvSpPr>
              <p:nvPr/>
            </p:nvSpPr>
            <p:spPr>
              <a:xfrm>
                <a:off x="4880563" y="2675944"/>
                <a:ext cx="423124" cy="338554"/>
              </a:xfrm>
              <a:prstGeom prst="rect">
                <a:avLst/>
              </a:prstGeom>
              <a:blipFill>
                <a:blip r:embed="rId5"/>
                <a:stretch>
                  <a:fillRect r="-2753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6" name="TextBox 105">
                <a:extLst>
                  <a:ext uri="{FF2B5EF4-FFF2-40B4-BE49-F238E27FC236}">
                    <a16:creationId xmlns:a16="http://schemas.microsoft.com/office/drawing/2014/main" id="{E709ACDA-E42F-0DDF-942F-7F40162C9455}"/>
                  </a:ext>
                </a:extLst>
              </p:cNvPr>
              <p:cNvSpPr txBox="1"/>
              <p:nvPr/>
            </p:nvSpPr>
            <p:spPr>
              <a:xfrm>
                <a:off x="3968189" y="2565709"/>
                <a:ext cx="423124"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600" b="1" i="1" smtClean="0">
                              <a:solidFill>
                                <a:srgbClr val="836967"/>
                              </a:solidFill>
                              <a:latin typeface="Cambria Math" panose="02040503050406030204" pitchFamily="18" charset="0"/>
                            </a:rPr>
                          </m:ctrlPr>
                        </m:sSubPr>
                        <m:e>
                          <m:r>
                            <a:rPr lang="en-US" sz="1600" b="1" i="1">
                              <a:latin typeface="Cambria Math" panose="02040503050406030204" pitchFamily="18" charset="0"/>
                            </a:rPr>
                            <m:t>𝒗</m:t>
                          </m:r>
                        </m:e>
                        <m:sub>
                          <m:r>
                            <a:rPr lang="en-US" sz="1600" b="1" i="1">
                              <a:latin typeface="Cambria Math" panose="02040503050406030204" pitchFamily="18" charset="0"/>
                            </a:rPr>
                            <m:t>𝒕𝒓𝒊</m:t>
                          </m:r>
                        </m:sub>
                      </m:sSub>
                    </m:oMath>
                  </m:oMathPara>
                </a14:m>
                <a:endParaRPr lang="en-US" sz="1600" b="1" dirty="0"/>
              </a:p>
            </p:txBody>
          </p:sp>
        </mc:Choice>
        <mc:Fallback xmlns="">
          <p:sp>
            <p:nvSpPr>
              <p:cNvPr id="106" name="TextBox 105">
                <a:extLst>
                  <a:ext uri="{FF2B5EF4-FFF2-40B4-BE49-F238E27FC236}">
                    <a16:creationId xmlns:a16="http://schemas.microsoft.com/office/drawing/2014/main" id="{E709ACDA-E42F-0DDF-942F-7F40162C9455}"/>
                  </a:ext>
                </a:extLst>
              </p:cNvPr>
              <p:cNvSpPr txBox="1">
                <a:spLocks noRot="1" noChangeAspect="1" noMove="1" noResize="1" noEditPoints="1" noAdjustHandles="1" noChangeArrowheads="1" noChangeShapeType="1" noTextEdit="1"/>
              </p:cNvSpPr>
              <p:nvPr/>
            </p:nvSpPr>
            <p:spPr>
              <a:xfrm>
                <a:off x="3968189" y="2565709"/>
                <a:ext cx="423124" cy="338554"/>
              </a:xfrm>
              <a:prstGeom prst="rect">
                <a:avLst/>
              </a:prstGeom>
              <a:blipFill>
                <a:blip r:embed="rId6"/>
                <a:stretch>
                  <a:fillRect r="-869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7" name="TextBox 106">
                <a:extLst>
                  <a:ext uri="{FF2B5EF4-FFF2-40B4-BE49-F238E27FC236}">
                    <a16:creationId xmlns:a16="http://schemas.microsoft.com/office/drawing/2014/main" id="{EA9FCC74-E6CF-570F-3313-E7C46D01B763}"/>
                  </a:ext>
                </a:extLst>
              </p:cNvPr>
              <p:cNvSpPr txBox="1"/>
              <p:nvPr/>
            </p:nvSpPr>
            <p:spPr>
              <a:xfrm>
                <a:off x="956922" y="1071556"/>
                <a:ext cx="900149"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600" b="1" i="1" smtClean="0">
                              <a:solidFill>
                                <a:srgbClr val="836967"/>
                              </a:solidFill>
                              <a:latin typeface="Cambria Math" panose="02040503050406030204" pitchFamily="18" charset="0"/>
                            </a:rPr>
                          </m:ctrlPr>
                        </m:sSubPr>
                        <m:e>
                          <m:r>
                            <a:rPr lang="en-US" sz="1600" b="1" i="1">
                              <a:latin typeface="Cambria Math" panose="02040503050406030204" pitchFamily="18" charset="0"/>
                            </a:rPr>
                            <m:t>𝒗</m:t>
                          </m:r>
                        </m:e>
                        <m:sub>
                          <m:r>
                            <a:rPr lang="en-GB" sz="1600" b="1" i="1" smtClean="0">
                              <a:latin typeface="Cambria Math" panose="02040503050406030204" pitchFamily="18" charset="0"/>
                            </a:rPr>
                            <m:t>𝒄𝒐𝒏𝒕𝒓𝒐𝒍</m:t>
                          </m:r>
                        </m:sub>
                      </m:sSub>
                    </m:oMath>
                  </m:oMathPara>
                </a14:m>
                <a:endParaRPr lang="en-US" sz="1600" b="1" dirty="0"/>
              </a:p>
            </p:txBody>
          </p:sp>
        </mc:Choice>
        <mc:Fallback xmlns="">
          <p:sp>
            <p:nvSpPr>
              <p:cNvPr id="107" name="TextBox 106">
                <a:extLst>
                  <a:ext uri="{FF2B5EF4-FFF2-40B4-BE49-F238E27FC236}">
                    <a16:creationId xmlns:a16="http://schemas.microsoft.com/office/drawing/2014/main" id="{EA9FCC74-E6CF-570F-3313-E7C46D01B763}"/>
                  </a:ext>
                </a:extLst>
              </p:cNvPr>
              <p:cNvSpPr txBox="1">
                <a:spLocks noRot="1" noChangeAspect="1" noMove="1" noResize="1" noEditPoints="1" noAdjustHandles="1" noChangeArrowheads="1" noChangeShapeType="1" noTextEdit="1"/>
              </p:cNvSpPr>
              <p:nvPr/>
            </p:nvSpPr>
            <p:spPr>
              <a:xfrm>
                <a:off x="956922" y="1071556"/>
                <a:ext cx="900149" cy="338554"/>
              </a:xfrm>
              <a:prstGeom prst="rect">
                <a:avLst/>
              </a:prstGeom>
              <a:blipFill>
                <a:blip r:embed="rId7"/>
                <a:stretch>
                  <a:fillRect/>
                </a:stretch>
              </a:blipFill>
            </p:spPr>
            <p:txBody>
              <a:bodyPr/>
              <a:lstStyle/>
              <a:p>
                <a:r>
                  <a:rPr lang="en-GB">
                    <a:noFill/>
                  </a:rPr>
                  <a:t> </a:t>
                </a:r>
              </a:p>
            </p:txBody>
          </p:sp>
        </mc:Fallback>
      </mc:AlternateContent>
      <p:cxnSp>
        <p:nvCxnSpPr>
          <p:cNvPr id="108" name="Straight Connector 107">
            <a:extLst>
              <a:ext uri="{FF2B5EF4-FFF2-40B4-BE49-F238E27FC236}">
                <a16:creationId xmlns:a16="http://schemas.microsoft.com/office/drawing/2014/main" id="{6ADFE998-781A-5CFE-15B7-BF5B533B482F}"/>
              </a:ext>
            </a:extLst>
          </p:cNvPr>
          <p:cNvCxnSpPr>
            <a:cxnSpLocks/>
          </p:cNvCxnSpPr>
          <p:nvPr/>
        </p:nvCxnSpPr>
        <p:spPr>
          <a:xfrm>
            <a:off x="85450" y="1410110"/>
            <a:ext cx="9970" cy="3535741"/>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0CFFF1D6-CA8E-CAF0-99C9-4D3738B40D58}"/>
              </a:ext>
            </a:extLst>
          </p:cNvPr>
          <p:cNvCxnSpPr/>
          <p:nvPr/>
        </p:nvCxnSpPr>
        <p:spPr>
          <a:xfrm flipV="1">
            <a:off x="-47855" y="3473582"/>
            <a:ext cx="5944445" cy="76912"/>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9368F87E-7A45-1E1E-A355-74B233A54CEC}"/>
              </a:ext>
            </a:extLst>
          </p:cNvPr>
          <p:cNvCxnSpPr/>
          <p:nvPr/>
        </p:nvCxnSpPr>
        <p:spPr>
          <a:xfrm flipV="1">
            <a:off x="-47856" y="4377654"/>
            <a:ext cx="5944445" cy="76912"/>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B9390F3E-39D8-ECD0-E619-413F7AB03285}"/>
              </a:ext>
            </a:extLst>
          </p:cNvPr>
          <p:cNvCxnSpPr>
            <a:cxnSpLocks/>
          </p:cNvCxnSpPr>
          <p:nvPr/>
        </p:nvCxnSpPr>
        <p:spPr>
          <a:xfrm>
            <a:off x="340400" y="1410110"/>
            <a:ext cx="50304" cy="3526597"/>
          </a:xfrm>
          <a:prstGeom prst="line">
            <a:avLst/>
          </a:prstGeom>
          <a:ln w="22225">
            <a:solidFill>
              <a:srgbClr val="7030A0"/>
            </a:solidFill>
            <a:prstDash val="sysDot"/>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48F79963-EDD9-FB57-42C3-A1B5FF9843A3}"/>
              </a:ext>
            </a:extLst>
          </p:cNvPr>
          <p:cNvCxnSpPr>
            <a:cxnSpLocks/>
          </p:cNvCxnSpPr>
          <p:nvPr/>
        </p:nvCxnSpPr>
        <p:spPr>
          <a:xfrm>
            <a:off x="693141" y="1410110"/>
            <a:ext cx="49199" cy="3526597"/>
          </a:xfrm>
          <a:prstGeom prst="line">
            <a:avLst/>
          </a:prstGeom>
          <a:ln w="22225">
            <a:solidFill>
              <a:srgbClr val="7030A0"/>
            </a:solidFill>
            <a:prstDash val="sysDot"/>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B829ECC8-0AAD-76F8-296A-B35BC08E6A2B}"/>
              </a:ext>
            </a:extLst>
          </p:cNvPr>
          <p:cNvCxnSpPr>
            <a:cxnSpLocks/>
          </p:cNvCxnSpPr>
          <p:nvPr/>
        </p:nvCxnSpPr>
        <p:spPr>
          <a:xfrm>
            <a:off x="810852" y="1386257"/>
            <a:ext cx="3317" cy="3541306"/>
          </a:xfrm>
          <a:prstGeom prst="line">
            <a:avLst/>
          </a:prstGeom>
          <a:ln w="222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B2A02B23-2159-6393-564A-99C32148B01E}"/>
              </a:ext>
            </a:extLst>
          </p:cNvPr>
          <p:cNvCxnSpPr>
            <a:cxnSpLocks/>
          </p:cNvCxnSpPr>
          <p:nvPr/>
        </p:nvCxnSpPr>
        <p:spPr>
          <a:xfrm>
            <a:off x="956922" y="1386257"/>
            <a:ext cx="0" cy="3550450"/>
          </a:xfrm>
          <a:prstGeom prst="line">
            <a:avLst/>
          </a:prstGeom>
          <a:ln w="222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3E5B3183-6731-47EE-82F9-0C4C774F8B2E}"/>
              </a:ext>
            </a:extLst>
          </p:cNvPr>
          <p:cNvCxnSpPr>
            <a:cxnSpLocks/>
          </p:cNvCxnSpPr>
          <p:nvPr/>
        </p:nvCxnSpPr>
        <p:spPr>
          <a:xfrm>
            <a:off x="1049396" y="1403483"/>
            <a:ext cx="0" cy="3524080"/>
          </a:xfrm>
          <a:prstGeom prst="line">
            <a:avLst/>
          </a:prstGeom>
          <a:ln w="22225">
            <a:solidFill>
              <a:srgbClr val="7030A0"/>
            </a:solidFill>
            <a:prstDash val="sysDot"/>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7C2463EF-A631-2580-BE33-DCE67098F796}"/>
              </a:ext>
            </a:extLst>
          </p:cNvPr>
          <p:cNvCxnSpPr>
            <a:cxnSpLocks/>
          </p:cNvCxnSpPr>
          <p:nvPr/>
        </p:nvCxnSpPr>
        <p:spPr>
          <a:xfrm>
            <a:off x="1640674" y="1411434"/>
            <a:ext cx="0" cy="3461265"/>
          </a:xfrm>
          <a:prstGeom prst="line">
            <a:avLst/>
          </a:prstGeom>
          <a:ln w="22225">
            <a:solidFill>
              <a:srgbClr val="7030A0"/>
            </a:solidFill>
            <a:prstDash val="sysDot"/>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C453D084-F22D-1951-AA64-E7AEB9F133D6}"/>
              </a:ext>
            </a:extLst>
          </p:cNvPr>
          <p:cNvCxnSpPr/>
          <p:nvPr/>
        </p:nvCxnSpPr>
        <p:spPr>
          <a:xfrm>
            <a:off x="335003" y="2941579"/>
            <a:ext cx="367767" cy="0"/>
          </a:xfrm>
          <a:prstGeom prst="line">
            <a:avLst/>
          </a:prstGeom>
          <a:ln w="2222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BA5F9388-FA00-FC03-23B1-4D9C0BDDA67B}"/>
              </a:ext>
            </a:extLst>
          </p:cNvPr>
          <p:cNvCxnSpPr/>
          <p:nvPr/>
        </p:nvCxnSpPr>
        <p:spPr>
          <a:xfrm>
            <a:off x="800953" y="3831366"/>
            <a:ext cx="155969" cy="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9" name="Elbow Connector 118">
            <a:extLst>
              <a:ext uri="{FF2B5EF4-FFF2-40B4-BE49-F238E27FC236}">
                <a16:creationId xmlns:a16="http://schemas.microsoft.com/office/drawing/2014/main" id="{A00669A0-BB85-6245-8447-42C6AC911A0C}"/>
              </a:ext>
            </a:extLst>
          </p:cNvPr>
          <p:cNvCxnSpPr>
            <a:cxnSpLocks/>
          </p:cNvCxnSpPr>
          <p:nvPr/>
        </p:nvCxnSpPr>
        <p:spPr>
          <a:xfrm rot="5400000" flipH="1" flipV="1">
            <a:off x="-75943" y="3121261"/>
            <a:ext cx="608915" cy="249553"/>
          </a:xfrm>
          <a:prstGeom prst="bentConnector3">
            <a:avLst>
              <a:gd name="adj1" fmla="val -56"/>
            </a:avLst>
          </a:prstGeom>
          <a:ln w="2222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20" name="Elbow Connector 119">
            <a:extLst>
              <a:ext uri="{FF2B5EF4-FFF2-40B4-BE49-F238E27FC236}">
                <a16:creationId xmlns:a16="http://schemas.microsoft.com/office/drawing/2014/main" id="{7279AE63-8A1F-5674-B007-7AD7876C3204}"/>
              </a:ext>
            </a:extLst>
          </p:cNvPr>
          <p:cNvCxnSpPr>
            <a:cxnSpLocks/>
          </p:cNvCxnSpPr>
          <p:nvPr/>
        </p:nvCxnSpPr>
        <p:spPr>
          <a:xfrm rot="16200000" flipV="1">
            <a:off x="572568" y="3077180"/>
            <a:ext cx="608914" cy="337714"/>
          </a:xfrm>
          <a:prstGeom prst="bentConnector3">
            <a:avLst>
              <a:gd name="adj1" fmla="val 3436"/>
            </a:avLst>
          </a:prstGeom>
          <a:ln w="2222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21" name="Elbow Connector 120">
            <a:extLst>
              <a:ext uri="{FF2B5EF4-FFF2-40B4-BE49-F238E27FC236}">
                <a16:creationId xmlns:a16="http://schemas.microsoft.com/office/drawing/2014/main" id="{C38FCFDD-44B3-2C1B-7BCF-B679DC252DF6}"/>
              </a:ext>
            </a:extLst>
          </p:cNvPr>
          <p:cNvCxnSpPr>
            <a:cxnSpLocks/>
          </p:cNvCxnSpPr>
          <p:nvPr/>
        </p:nvCxnSpPr>
        <p:spPr>
          <a:xfrm flipV="1">
            <a:off x="68873" y="3831366"/>
            <a:ext cx="745296" cy="616112"/>
          </a:xfrm>
          <a:prstGeom prst="bentConnector3">
            <a:avLst>
              <a:gd name="adj1" fmla="val 99456"/>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2" name="Elbow Connector 121">
            <a:extLst>
              <a:ext uri="{FF2B5EF4-FFF2-40B4-BE49-F238E27FC236}">
                <a16:creationId xmlns:a16="http://schemas.microsoft.com/office/drawing/2014/main" id="{361DB890-8FE3-D870-0F7F-81DFCC434119}"/>
              </a:ext>
            </a:extLst>
          </p:cNvPr>
          <p:cNvCxnSpPr>
            <a:cxnSpLocks/>
          </p:cNvCxnSpPr>
          <p:nvPr/>
        </p:nvCxnSpPr>
        <p:spPr>
          <a:xfrm rot="16200000" flipV="1">
            <a:off x="818006" y="3970565"/>
            <a:ext cx="608914" cy="337714"/>
          </a:xfrm>
          <a:prstGeom prst="bentConnector3">
            <a:avLst>
              <a:gd name="adj1" fmla="val 1108"/>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3" name="Elbow Connector 122">
            <a:extLst>
              <a:ext uri="{FF2B5EF4-FFF2-40B4-BE49-F238E27FC236}">
                <a16:creationId xmlns:a16="http://schemas.microsoft.com/office/drawing/2014/main" id="{424FF34C-23FC-A796-88DC-3DCEDCD8F08C}"/>
              </a:ext>
            </a:extLst>
          </p:cNvPr>
          <p:cNvCxnSpPr>
            <a:cxnSpLocks/>
          </p:cNvCxnSpPr>
          <p:nvPr/>
        </p:nvCxnSpPr>
        <p:spPr>
          <a:xfrm flipV="1">
            <a:off x="1047618" y="2953378"/>
            <a:ext cx="602684" cy="581315"/>
          </a:xfrm>
          <a:prstGeom prst="bentConnector3">
            <a:avLst>
              <a:gd name="adj1" fmla="val 603"/>
            </a:avLst>
          </a:prstGeom>
          <a:ln w="22225">
            <a:solidFill>
              <a:srgbClr val="7030A0"/>
            </a:solidFill>
          </a:ln>
        </p:spPr>
        <p:style>
          <a:lnRef idx="1">
            <a:schemeClr val="accent1"/>
          </a:lnRef>
          <a:fillRef idx="0">
            <a:schemeClr val="accent1"/>
          </a:fillRef>
          <a:effectRef idx="0">
            <a:schemeClr val="accent1"/>
          </a:effectRef>
          <a:fontRef idx="minor">
            <a:schemeClr val="tx1"/>
          </a:fontRef>
        </p:style>
      </p:cxnSp>
      <p:sp>
        <p:nvSpPr>
          <p:cNvPr id="124" name="Rectangle 123">
            <a:extLst>
              <a:ext uri="{FF2B5EF4-FFF2-40B4-BE49-F238E27FC236}">
                <a16:creationId xmlns:a16="http://schemas.microsoft.com/office/drawing/2014/main" id="{18B2CD08-409D-9C42-6B0E-7C127B8FECE6}"/>
              </a:ext>
            </a:extLst>
          </p:cNvPr>
          <p:cNvSpPr/>
          <p:nvPr/>
        </p:nvSpPr>
        <p:spPr>
          <a:xfrm>
            <a:off x="712714" y="2941575"/>
            <a:ext cx="91189" cy="1512987"/>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Rectangle 124">
            <a:extLst>
              <a:ext uri="{FF2B5EF4-FFF2-40B4-BE49-F238E27FC236}">
                <a16:creationId xmlns:a16="http://schemas.microsoft.com/office/drawing/2014/main" id="{F413437A-1B54-8B01-DF44-D90603726F0C}"/>
              </a:ext>
            </a:extLst>
          </p:cNvPr>
          <p:cNvSpPr/>
          <p:nvPr/>
        </p:nvSpPr>
        <p:spPr>
          <a:xfrm>
            <a:off x="967952" y="2941575"/>
            <a:ext cx="91189" cy="1512987"/>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6" name="Elbow Connector 125">
            <a:extLst>
              <a:ext uri="{FF2B5EF4-FFF2-40B4-BE49-F238E27FC236}">
                <a16:creationId xmlns:a16="http://schemas.microsoft.com/office/drawing/2014/main" id="{5D670AEE-1693-BDFE-D89F-98AE87472264}"/>
              </a:ext>
            </a:extLst>
          </p:cNvPr>
          <p:cNvCxnSpPr>
            <a:cxnSpLocks/>
          </p:cNvCxnSpPr>
          <p:nvPr/>
        </p:nvCxnSpPr>
        <p:spPr>
          <a:xfrm rot="16200000" flipV="1">
            <a:off x="1511069" y="3088160"/>
            <a:ext cx="608914" cy="337714"/>
          </a:xfrm>
          <a:prstGeom prst="bentConnector3">
            <a:avLst>
              <a:gd name="adj1" fmla="val 3436"/>
            </a:avLst>
          </a:prstGeom>
          <a:ln w="2222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27" name="Straight Arrow Connector 126">
            <a:extLst>
              <a:ext uri="{FF2B5EF4-FFF2-40B4-BE49-F238E27FC236}">
                <a16:creationId xmlns:a16="http://schemas.microsoft.com/office/drawing/2014/main" id="{F77DF9D8-1480-91DB-59BD-825CB55BC603}"/>
              </a:ext>
            </a:extLst>
          </p:cNvPr>
          <p:cNvCxnSpPr>
            <a:cxnSpLocks/>
            <a:stCxn id="124" idx="2"/>
          </p:cNvCxnSpPr>
          <p:nvPr/>
        </p:nvCxnSpPr>
        <p:spPr>
          <a:xfrm>
            <a:off x="758309" y="4454562"/>
            <a:ext cx="107469" cy="86226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8" name="Straight Arrow Connector 127">
            <a:extLst>
              <a:ext uri="{FF2B5EF4-FFF2-40B4-BE49-F238E27FC236}">
                <a16:creationId xmlns:a16="http://schemas.microsoft.com/office/drawing/2014/main" id="{1EEF8A9E-ADD3-A203-96DC-4C2BC5D28DC0}"/>
              </a:ext>
            </a:extLst>
          </p:cNvPr>
          <p:cNvCxnSpPr>
            <a:cxnSpLocks/>
            <a:stCxn id="125" idx="2"/>
          </p:cNvCxnSpPr>
          <p:nvPr/>
        </p:nvCxnSpPr>
        <p:spPr>
          <a:xfrm>
            <a:off x="1013547" y="4454562"/>
            <a:ext cx="1089" cy="86226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9" name="TextBox 128">
            <a:extLst>
              <a:ext uri="{FF2B5EF4-FFF2-40B4-BE49-F238E27FC236}">
                <a16:creationId xmlns:a16="http://schemas.microsoft.com/office/drawing/2014/main" id="{542A1440-05ED-68DD-FC08-C6F2B402D53D}"/>
              </a:ext>
            </a:extLst>
          </p:cNvPr>
          <p:cNvSpPr txBox="1"/>
          <p:nvPr/>
        </p:nvSpPr>
        <p:spPr>
          <a:xfrm>
            <a:off x="374363" y="5323829"/>
            <a:ext cx="1210588" cy="307777"/>
          </a:xfrm>
          <a:prstGeom prst="rect">
            <a:avLst/>
          </a:prstGeom>
          <a:noFill/>
        </p:spPr>
        <p:txBody>
          <a:bodyPr wrap="square" rtlCol="0">
            <a:spAutoFit/>
          </a:bodyPr>
          <a:lstStyle/>
          <a:p>
            <a:r>
              <a:rPr lang="en-US" sz="1400" dirty="0"/>
              <a:t>Blanking Time</a:t>
            </a:r>
          </a:p>
        </p:txBody>
      </p:sp>
      <p:pic>
        <p:nvPicPr>
          <p:cNvPr id="138" name="Picture 137">
            <a:extLst>
              <a:ext uri="{FF2B5EF4-FFF2-40B4-BE49-F238E27FC236}">
                <a16:creationId xmlns:a16="http://schemas.microsoft.com/office/drawing/2014/main" id="{9AE43525-7246-4106-C43C-5FCF6E508DDD}"/>
              </a:ext>
            </a:extLst>
          </p:cNvPr>
          <p:cNvPicPr>
            <a:picLocks noChangeAspect="1"/>
          </p:cNvPicPr>
          <p:nvPr/>
        </p:nvPicPr>
        <p:blipFill>
          <a:blip r:embed="rId8"/>
          <a:stretch>
            <a:fillRect/>
          </a:stretch>
        </p:blipFill>
        <p:spPr>
          <a:xfrm>
            <a:off x="3181717" y="5012469"/>
            <a:ext cx="1848015" cy="1269343"/>
          </a:xfrm>
          <a:prstGeom prst="rect">
            <a:avLst/>
          </a:prstGeom>
        </p:spPr>
      </p:pic>
      <p:pic>
        <p:nvPicPr>
          <p:cNvPr id="4" name="Picture 3">
            <a:extLst>
              <a:ext uri="{FF2B5EF4-FFF2-40B4-BE49-F238E27FC236}">
                <a16:creationId xmlns:a16="http://schemas.microsoft.com/office/drawing/2014/main" id="{EB4F15D2-30A7-762D-4955-FB088BD6D522}"/>
              </a:ext>
            </a:extLst>
          </p:cNvPr>
          <p:cNvPicPr>
            <a:picLocks noChangeAspect="1"/>
          </p:cNvPicPr>
          <p:nvPr/>
        </p:nvPicPr>
        <p:blipFill>
          <a:blip r:embed="rId9"/>
          <a:stretch>
            <a:fillRect/>
          </a:stretch>
        </p:blipFill>
        <p:spPr>
          <a:xfrm>
            <a:off x="4434083" y="4519340"/>
            <a:ext cx="4131191" cy="2266511"/>
          </a:xfrm>
          <a:prstGeom prst="rect">
            <a:avLst/>
          </a:prstGeom>
        </p:spPr>
      </p:pic>
      <p:sp>
        <p:nvSpPr>
          <p:cNvPr id="5" name="Free-form: Shape 4">
            <a:extLst>
              <a:ext uri="{FF2B5EF4-FFF2-40B4-BE49-F238E27FC236}">
                <a16:creationId xmlns:a16="http://schemas.microsoft.com/office/drawing/2014/main" id="{015D0918-59C2-CCB1-3A61-E3ACCB48B602}"/>
              </a:ext>
            </a:extLst>
          </p:cNvPr>
          <p:cNvSpPr/>
          <p:nvPr/>
        </p:nvSpPr>
        <p:spPr>
          <a:xfrm>
            <a:off x="6385839" y="2254108"/>
            <a:ext cx="2119562" cy="2636875"/>
          </a:xfrm>
          <a:custGeom>
            <a:avLst/>
            <a:gdLst>
              <a:gd name="connsiteX0" fmla="*/ 1733107 w 2264089"/>
              <a:gd name="connsiteY0" fmla="*/ 2573079 h 2573079"/>
              <a:gd name="connsiteX1" fmla="*/ 2158409 w 2264089"/>
              <a:gd name="connsiteY1" fmla="*/ 1626782 h 2573079"/>
              <a:gd name="connsiteX2" fmla="*/ 0 w 2264089"/>
              <a:gd name="connsiteY2" fmla="*/ 0 h 2573079"/>
            </a:gdLst>
            <a:ahLst/>
            <a:cxnLst>
              <a:cxn ang="0">
                <a:pos x="connsiteX0" y="connsiteY0"/>
              </a:cxn>
              <a:cxn ang="0">
                <a:pos x="connsiteX1" y="connsiteY1"/>
              </a:cxn>
              <a:cxn ang="0">
                <a:pos x="connsiteX2" y="connsiteY2"/>
              </a:cxn>
            </a:cxnLst>
            <a:rect l="l" t="t" r="r" b="b"/>
            <a:pathLst>
              <a:path w="2264089" h="2573079">
                <a:moveTo>
                  <a:pt x="1733107" y="2573079"/>
                </a:moveTo>
                <a:cubicBezTo>
                  <a:pt x="2090183" y="2314353"/>
                  <a:pt x="2447260" y="2055628"/>
                  <a:pt x="2158409" y="1626782"/>
                </a:cubicBezTo>
                <a:cubicBezTo>
                  <a:pt x="1869558" y="1197935"/>
                  <a:pt x="934779" y="598967"/>
                  <a:pt x="0" y="0"/>
                </a:cubicBezTo>
              </a:path>
            </a:pathLst>
          </a:cu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solidFill>
                <a:schemeClr val="tx1"/>
              </a:solidFill>
            </a:endParaRPr>
          </a:p>
        </p:txBody>
      </p:sp>
      <p:sp>
        <p:nvSpPr>
          <p:cNvPr id="6" name="Free-form: Shape 5">
            <a:extLst>
              <a:ext uri="{FF2B5EF4-FFF2-40B4-BE49-F238E27FC236}">
                <a16:creationId xmlns:a16="http://schemas.microsoft.com/office/drawing/2014/main" id="{061F7DB1-202A-455E-FA2A-E241A32682C0}"/>
              </a:ext>
            </a:extLst>
          </p:cNvPr>
          <p:cNvSpPr/>
          <p:nvPr/>
        </p:nvSpPr>
        <p:spPr>
          <a:xfrm>
            <a:off x="7389628" y="2296639"/>
            <a:ext cx="1703149" cy="3934047"/>
          </a:xfrm>
          <a:custGeom>
            <a:avLst/>
            <a:gdLst>
              <a:gd name="connsiteX0" fmla="*/ 0 w 1703149"/>
              <a:gd name="connsiteY0" fmla="*/ 3934047 h 3934047"/>
              <a:gd name="connsiteX1" fmla="*/ 1509823 w 1703149"/>
              <a:gd name="connsiteY1" fmla="*/ 2392326 h 3934047"/>
              <a:gd name="connsiteX2" fmla="*/ 1669312 w 1703149"/>
              <a:gd name="connsiteY2" fmla="*/ 1307805 h 3934047"/>
              <a:gd name="connsiteX3" fmla="*/ 1382232 w 1703149"/>
              <a:gd name="connsiteY3" fmla="*/ 0 h 3934047"/>
            </a:gdLst>
            <a:ahLst/>
            <a:cxnLst>
              <a:cxn ang="0">
                <a:pos x="connsiteX0" y="connsiteY0"/>
              </a:cxn>
              <a:cxn ang="0">
                <a:pos x="connsiteX1" y="connsiteY1"/>
              </a:cxn>
              <a:cxn ang="0">
                <a:pos x="connsiteX2" y="connsiteY2"/>
              </a:cxn>
              <a:cxn ang="0">
                <a:pos x="connsiteX3" y="connsiteY3"/>
              </a:cxn>
            </a:cxnLst>
            <a:rect l="l" t="t" r="r" b="b"/>
            <a:pathLst>
              <a:path w="1703149" h="3934047">
                <a:moveTo>
                  <a:pt x="0" y="3934047"/>
                </a:moveTo>
                <a:cubicBezTo>
                  <a:pt x="615802" y="3382040"/>
                  <a:pt x="1231604" y="2830033"/>
                  <a:pt x="1509823" y="2392326"/>
                </a:cubicBezTo>
                <a:cubicBezTo>
                  <a:pt x="1788042" y="1954619"/>
                  <a:pt x="1690577" y="1706526"/>
                  <a:pt x="1669312" y="1307805"/>
                </a:cubicBezTo>
                <a:cubicBezTo>
                  <a:pt x="1648047" y="909084"/>
                  <a:pt x="1430079" y="203791"/>
                  <a:pt x="1382232" y="0"/>
                </a:cubicBezTo>
              </a:path>
            </a:pathLst>
          </a:custGeom>
          <a:ln w="12700">
            <a:solidFill>
              <a:srgbClr val="7030A0"/>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solidFill>
                <a:srgbClr val="7030A0"/>
              </a:solidFill>
            </a:endParaRPr>
          </a:p>
        </p:txBody>
      </p:sp>
      <p:sp>
        <p:nvSpPr>
          <p:cNvPr id="7" name="Free-form: Shape 6">
            <a:extLst>
              <a:ext uri="{FF2B5EF4-FFF2-40B4-BE49-F238E27FC236}">
                <a16:creationId xmlns:a16="http://schemas.microsoft.com/office/drawing/2014/main" id="{525ABDD4-6D79-F13B-1CAB-6AD887C3E540}"/>
              </a:ext>
            </a:extLst>
          </p:cNvPr>
          <p:cNvSpPr/>
          <p:nvPr/>
        </p:nvSpPr>
        <p:spPr>
          <a:xfrm>
            <a:off x="6464089" y="3253569"/>
            <a:ext cx="1384705" cy="2849526"/>
          </a:xfrm>
          <a:custGeom>
            <a:avLst/>
            <a:gdLst>
              <a:gd name="connsiteX0" fmla="*/ 1265274 w 1660646"/>
              <a:gd name="connsiteY0" fmla="*/ 2934586 h 2934586"/>
              <a:gd name="connsiteX1" fmla="*/ 1584251 w 1660646"/>
              <a:gd name="connsiteY1" fmla="*/ 1095154 h 2934586"/>
              <a:gd name="connsiteX2" fmla="*/ 0 w 1660646"/>
              <a:gd name="connsiteY2" fmla="*/ 0 h 2934586"/>
            </a:gdLst>
            <a:ahLst/>
            <a:cxnLst>
              <a:cxn ang="0">
                <a:pos x="connsiteX0" y="connsiteY0"/>
              </a:cxn>
              <a:cxn ang="0">
                <a:pos x="connsiteX1" y="connsiteY1"/>
              </a:cxn>
              <a:cxn ang="0">
                <a:pos x="connsiteX2" y="connsiteY2"/>
              </a:cxn>
            </a:cxnLst>
            <a:rect l="l" t="t" r="r" b="b"/>
            <a:pathLst>
              <a:path w="1660646" h="2934586">
                <a:moveTo>
                  <a:pt x="1265274" y="2934586"/>
                </a:moveTo>
                <a:cubicBezTo>
                  <a:pt x="1530202" y="2259419"/>
                  <a:pt x="1795130" y="1584252"/>
                  <a:pt x="1584251" y="1095154"/>
                </a:cubicBezTo>
                <a:cubicBezTo>
                  <a:pt x="1373372" y="606056"/>
                  <a:pt x="686686" y="303028"/>
                  <a:pt x="0" y="0"/>
                </a:cubicBezTo>
              </a:path>
            </a:pathLst>
          </a:custGeom>
          <a:ln w="12700">
            <a:solidFill>
              <a:srgbClr val="7030A0"/>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solidFill>
                <a:srgbClr val="7030A0"/>
              </a:solidFill>
            </a:endParaRPr>
          </a:p>
        </p:txBody>
      </p:sp>
      <p:sp>
        <p:nvSpPr>
          <p:cNvPr id="9" name="TextBox 8">
            <a:extLst>
              <a:ext uri="{FF2B5EF4-FFF2-40B4-BE49-F238E27FC236}">
                <a16:creationId xmlns:a16="http://schemas.microsoft.com/office/drawing/2014/main" id="{96C50400-AECA-20B6-7032-1782C45DBBB5}"/>
              </a:ext>
            </a:extLst>
          </p:cNvPr>
          <p:cNvSpPr txBox="1"/>
          <p:nvPr/>
        </p:nvSpPr>
        <p:spPr>
          <a:xfrm>
            <a:off x="390704" y="575792"/>
            <a:ext cx="7881774" cy="461665"/>
          </a:xfrm>
          <a:prstGeom prst="rect">
            <a:avLst/>
          </a:prstGeom>
          <a:noFill/>
        </p:spPr>
        <p:txBody>
          <a:bodyPr wrap="square">
            <a:spAutoFit/>
          </a:bodyPr>
          <a:lstStyle/>
          <a:p>
            <a:pPr marL="914400" lvl="1" indent="-457200">
              <a:buFontTx/>
              <a:buChar char="-"/>
            </a:pPr>
            <a:r>
              <a:rPr lang="en-US" sz="2400" dirty="0"/>
              <a:t>Avoiding shoot through in PWM – </a:t>
            </a:r>
            <a:r>
              <a:rPr lang="en-US" sz="2400" dirty="0">
                <a:solidFill>
                  <a:srgbClr val="FF0000"/>
                </a:solidFill>
              </a:rPr>
              <a:t>Bipolar Switching</a:t>
            </a:r>
            <a:endParaRPr lang="en-US" sz="2000" dirty="0">
              <a:solidFill>
                <a:srgbClr val="FF0000"/>
              </a:solidFill>
            </a:endParaRPr>
          </a:p>
        </p:txBody>
      </p:sp>
    </p:spTree>
    <p:extLst>
      <p:ext uri="{BB962C8B-B14F-4D97-AF65-F5344CB8AC3E}">
        <p14:creationId xmlns:p14="http://schemas.microsoft.com/office/powerpoint/2010/main" val="406500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1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1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1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2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2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15"/>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1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23"/>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121"/>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126"/>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24"/>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125"/>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128"/>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127"/>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29"/>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138"/>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4"/>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5"/>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96"/>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7"/>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 grpId="0" animBg="1"/>
      <p:bldP spid="102" grpId="0"/>
      <p:bldP spid="105" grpId="0"/>
      <p:bldP spid="124" grpId="0" animBg="1"/>
      <p:bldP spid="125" grpId="0" animBg="1"/>
      <p:bldP spid="129" grpId="0"/>
      <p:bldP spid="5" grpId="0" animBg="1"/>
      <p:bldP spid="6" grpId="0" animBg="1"/>
      <p:bldP spid="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63B3F17-F81E-11DC-B957-E544064D54A7}"/>
              </a:ext>
            </a:extLst>
          </p:cNvPr>
          <p:cNvPicPr>
            <a:picLocks noChangeAspect="1"/>
          </p:cNvPicPr>
          <p:nvPr/>
        </p:nvPicPr>
        <p:blipFill>
          <a:blip r:embed="rId3"/>
          <a:stretch>
            <a:fillRect/>
          </a:stretch>
        </p:blipFill>
        <p:spPr>
          <a:xfrm>
            <a:off x="3642705" y="968745"/>
            <a:ext cx="5425910" cy="2859272"/>
          </a:xfrm>
          <a:prstGeom prst="rect">
            <a:avLst/>
          </a:prstGeom>
        </p:spPr>
      </p:pic>
      <p:pic>
        <p:nvPicPr>
          <p:cNvPr id="4" name="Picture 3">
            <a:extLst>
              <a:ext uri="{FF2B5EF4-FFF2-40B4-BE49-F238E27FC236}">
                <a16:creationId xmlns:a16="http://schemas.microsoft.com/office/drawing/2014/main" id="{137BA538-9DCA-0C5D-DD86-EB7B0860D91E}"/>
              </a:ext>
            </a:extLst>
          </p:cNvPr>
          <p:cNvPicPr>
            <a:picLocks noChangeAspect="1"/>
          </p:cNvPicPr>
          <p:nvPr/>
        </p:nvPicPr>
        <p:blipFill>
          <a:blip r:embed="rId4"/>
          <a:stretch>
            <a:fillRect/>
          </a:stretch>
        </p:blipFill>
        <p:spPr>
          <a:xfrm>
            <a:off x="33392" y="1154942"/>
            <a:ext cx="3133616" cy="2438611"/>
          </a:xfrm>
          <a:prstGeom prst="rect">
            <a:avLst/>
          </a:prstGeom>
        </p:spPr>
      </p:pic>
      <p:sp>
        <p:nvSpPr>
          <p:cNvPr id="2" name="Title 1">
            <a:extLst>
              <a:ext uri="{FF2B5EF4-FFF2-40B4-BE49-F238E27FC236}">
                <a16:creationId xmlns:a16="http://schemas.microsoft.com/office/drawing/2014/main" id="{83CDAB49-4E83-D5C9-EF6D-0F2CE1E6855E}"/>
              </a:ext>
            </a:extLst>
          </p:cNvPr>
          <p:cNvSpPr>
            <a:spLocks noGrp="1"/>
          </p:cNvSpPr>
          <p:nvPr>
            <p:ph type="title"/>
          </p:nvPr>
        </p:nvSpPr>
        <p:spPr>
          <a:xfrm>
            <a:off x="185741" y="36708"/>
            <a:ext cx="7886700" cy="721053"/>
          </a:xfrm>
        </p:spPr>
        <p:txBody>
          <a:bodyPr/>
          <a:lstStyle/>
          <a:p>
            <a:r>
              <a:rPr lang="en-US" dirty="0"/>
              <a:t>Practical Full Bridge Inverter</a:t>
            </a:r>
          </a:p>
        </p:txBody>
      </p:sp>
      <p:sp>
        <p:nvSpPr>
          <p:cNvPr id="17" name="Title 1">
            <a:extLst>
              <a:ext uri="{FF2B5EF4-FFF2-40B4-BE49-F238E27FC236}">
                <a16:creationId xmlns:a16="http://schemas.microsoft.com/office/drawing/2014/main" id="{4100A584-C9BA-C39F-A4D3-ABF895CCF570}"/>
              </a:ext>
            </a:extLst>
          </p:cNvPr>
          <p:cNvSpPr txBox="1">
            <a:spLocks/>
          </p:cNvSpPr>
          <p:nvPr/>
        </p:nvSpPr>
        <p:spPr>
          <a:xfrm>
            <a:off x="185741" y="576034"/>
            <a:ext cx="8851933" cy="84741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Tx/>
              <a:buChar char="-"/>
            </a:pPr>
            <a:r>
              <a:rPr lang="en-US" sz="2800" b="1" dirty="0"/>
              <a:t>Made through real components</a:t>
            </a:r>
          </a:p>
          <a:p>
            <a:pPr marL="914400" lvl="1" indent="-457200">
              <a:buFontTx/>
              <a:buChar char="-"/>
            </a:pPr>
            <a:r>
              <a:rPr lang="en-US" sz="2000" dirty="0"/>
              <a:t>PWM Switching - </a:t>
            </a:r>
            <a:r>
              <a:rPr lang="en-US" sz="2000" dirty="0">
                <a:solidFill>
                  <a:srgbClr val="FF0000"/>
                </a:solidFill>
              </a:rPr>
              <a:t>Unipolar</a:t>
            </a:r>
          </a:p>
        </p:txBody>
      </p:sp>
      <p:sp>
        <p:nvSpPr>
          <p:cNvPr id="9" name="Right Arrow 8">
            <a:extLst>
              <a:ext uri="{FF2B5EF4-FFF2-40B4-BE49-F238E27FC236}">
                <a16:creationId xmlns:a16="http://schemas.microsoft.com/office/drawing/2014/main" id="{A131CF93-C612-E234-71ED-08D2D1A2B7CA}"/>
              </a:ext>
            </a:extLst>
          </p:cNvPr>
          <p:cNvSpPr/>
          <p:nvPr/>
        </p:nvSpPr>
        <p:spPr>
          <a:xfrm>
            <a:off x="3052094" y="2224005"/>
            <a:ext cx="660400" cy="5207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5" name="Picture 34">
            <a:extLst>
              <a:ext uri="{FF2B5EF4-FFF2-40B4-BE49-F238E27FC236}">
                <a16:creationId xmlns:a16="http://schemas.microsoft.com/office/drawing/2014/main" id="{F7D50FB8-A25A-ED81-CF46-99CB09B4DA33}"/>
              </a:ext>
            </a:extLst>
          </p:cNvPr>
          <p:cNvPicPr>
            <a:picLocks noChangeAspect="1"/>
          </p:cNvPicPr>
          <p:nvPr/>
        </p:nvPicPr>
        <p:blipFill>
          <a:blip r:embed="rId5"/>
          <a:stretch>
            <a:fillRect/>
          </a:stretch>
        </p:blipFill>
        <p:spPr>
          <a:xfrm>
            <a:off x="3328203" y="5112622"/>
            <a:ext cx="1184136" cy="298365"/>
          </a:xfrm>
          <a:prstGeom prst="rect">
            <a:avLst/>
          </a:prstGeom>
        </p:spPr>
      </p:pic>
      <p:pic>
        <p:nvPicPr>
          <p:cNvPr id="36" name="Picture 35">
            <a:extLst>
              <a:ext uri="{FF2B5EF4-FFF2-40B4-BE49-F238E27FC236}">
                <a16:creationId xmlns:a16="http://schemas.microsoft.com/office/drawing/2014/main" id="{DF68A654-EE79-A35B-E6D9-E3DD696504B3}"/>
              </a:ext>
            </a:extLst>
          </p:cNvPr>
          <p:cNvPicPr>
            <a:picLocks noChangeAspect="1"/>
          </p:cNvPicPr>
          <p:nvPr/>
        </p:nvPicPr>
        <p:blipFill>
          <a:blip r:embed="rId6"/>
          <a:stretch>
            <a:fillRect/>
          </a:stretch>
        </p:blipFill>
        <p:spPr>
          <a:xfrm>
            <a:off x="3424294" y="6344211"/>
            <a:ext cx="1309183" cy="308669"/>
          </a:xfrm>
          <a:prstGeom prst="rect">
            <a:avLst/>
          </a:prstGeom>
        </p:spPr>
      </p:pic>
      <p:pic>
        <p:nvPicPr>
          <p:cNvPr id="24" name="Picture 23">
            <a:extLst>
              <a:ext uri="{FF2B5EF4-FFF2-40B4-BE49-F238E27FC236}">
                <a16:creationId xmlns:a16="http://schemas.microsoft.com/office/drawing/2014/main" id="{A68B6A93-1D41-7F13-67F5-BE67DE3A5782}"/>
              </a:ext>
            </a:extLst>
          </p:cNvPr>
          <p:cNvPicPr>
            <a:picLocks noChangeAspect="1"/>
          </p:cNvPicPr>
          <p:nvPr/>
        </p:nvPicPr>
        <p:blipFill>
          <a:blip r:embed="rId7"/>
          <a:stretch>
            <a:fillRect/>
          </a:stretch>
        </p:blipFill>
        <p:spPr>
          <a:xfrm>
            <a:off x="280992" y="3551731"/>
            <a:ext cx="3793820" cy="1561525"/>
          </a:xfrm>
          <a:prstGeom prst="rect">
            <a:avLst/>
          </a:prstGeom>
        </p:spPr>
      </p:pic>
      <p:pic>
        <p:nvPicPr>
          <p:cNvPr id="44" name="Picture 43">
            <a:extLst>
              <a:ext uri="{FF2B5EF4-FFF2-40B4-BE49-F238E27FC236}">
                <a16:creationId xmlns:a16="http://schemas.microsoft.com/office/drawing/2014/main" id="{40CA4623-5AA0-D71E-B800-E667B6F034A0}"/>
              </a:ext>
            </a:extLst>
          </p:cNvPr>
          <p:cNvPicPr>
            <a:picLocks noChangeAspect="1"/>
          </p:cNvPicPr>
          <p:nvPr/>
        </p:nvPicPr>
        <p:blipFill>
          <a:blip r:embed="rId8"/>
          <a:stretch>
            <a:fillRect/>
          </a:stretch>
        </p:blipFill>
        <p:spPr>
          <a:xfrm>
            <a:off x="1435127" y="5166003"/>
            <a:ext cx="3233934" cy="1115963"/>
          </a:xfrm>
          <a:prstGeom prst="rect">
            <a:avLst/>
          </a:prstGeom>
        </p:spPr>
      </p:pic>
      <p:pic>
        <p:nvPicPr>
          <p:cNvPr id="45" name="Picture 44">
            <a:extLst>
              <a:ext uri="{FF2B5EF4-FFF2-40B4-BE49-F238E27FC236}">
                <a16:creationId xmlns:a16="http://schemas.microsoft.com/office/drawing/2014/main" id="{8FCAC097-2D0E-A7A3-B1F8-EAD8303F5D62}"/>
              </a:ext>
            </a:extLst>
          </p:cNvPr>
          <p:cNvPicPr>
            <a:picLocks noChangeAspect="1"/>
          </p:cNvPicPr>
          <p:nvPr/>
        </p:nvPicPr>
        <p:blipFill>
          <a:blip r:embed="rId9"/>
          <a:stretch>
            <a:fillRect/>
          </a:stretch>
        </p:blipFill>
        <p:spPr>
          <a:xfrm>
            <a:off x="4929873" y="5166003"/>
            <a:ext cx="3860175" cy="1297347"/>
          </a:xfrm>
          <a:prstGeom prst="rect">
            <a:avLst/>
          </a:prstGeom>
        </p:spPr>
      </p:pic>
      <p:pic>
        <p:nvPicPr>
          <p:cNvPr id="47" name="Picture 46">
            <a:extLst>
              <a:ext uri="{FF2B5EF4-FFF2-40B4-BE49-F238E27FC236}">
                <a16:creationId xmlns:a16="http://schemas.microsoft.com/office/drawing/2014/main" id="{17B00E1E-B43D-1166-7F6E-E67DA06E52D1}"/>
              </a:ext>
            </a:extLst>
          </p:cNvPr>
          <p:cNvPicPr>
            <a:picLocks noChangeAspect="1"/>
          </p:cNvPicPr>
          <p:nvPr/>
        </p:nvPicPr>
        <p:blipFill>
          <a:blip r:embed="rId10"/>
          <a:stretch>
            <a:fillRect/>
          </a:stretch>
        </p:blipFill>
        <p:spPr>
          <a:xfrm>
            <a:off x="6956293" y="5063024"/>
            <a:ext cx="1505160" cy="371527"/>
          </a:xfrm>
          <a:prstGeom prst="rect">
            <a:avLst/>
          </a:prstGeom>
        </p:spPr>
      </p:pic>
      <p:pic>
        <p:nvPicPr>
          <p:cNvPr id="49" name="Picture 48">
            <a:extLst>
              <a:ext uri="{FF2B5EF4-FFF2-40B4-BE49-F238E27FC236}">
                <a16:creationId xmlns:a16="http://schemas.microsoft.com/office/drawing/2014/main" id="{62CDAE83-4AFB-A2A2-62D0-EAF44B28B5F4}"/>
              </a:ext>
            </a:extLst>
          </p:cNvPr>
          <p:cNvPicPr>
            <a:picLocks noChangeAspect="1"/>
          </p:cNvPicPr>
          <p:nvPr/>
        </p:nvPicPr>
        <p:blipFill>
          <a:blip r:embed="rId11"/>
          <a:stretch>
            <a:fillRect/>
          </a:stretch>
        </p:blipFill>
        <p:spPr>
          <a:xfrm>
            <a:off x="7089485" y="5889255"/>
            <a:ext cx="1514686" cy="314369"/>
          </a:xfrm>
          <a:prstGeom prst="rect">
            <a:avLst/>
          </a:prstGeom>
        </p:spPr>
      </p:pic>
      <p:cxnSp>
        <p:nvCxnSpPr>
          <p:cNvPr id="10" name="Straight Arrow Connector 9">
            <a:extLst>
              <a:ext uri="{FF2B5EF4-FFF2-40B4-BE49-F238E27FC236}">
                <a16:creationId xmlns:a16="http://schemas.microsoft.com/office/drawing/2014/main" id="{59F07130-A1B9-E597-5546-5E32BE364D05}"/>
              </a:ext>
            </a:extLst>
          </p:cNvPr>
          <p:cNvCxnSpPr>
            <a:cxnSpLocks/>
          </p:cNvCxnSpPr>
          <p:nvPr/>
        </p:nvCxnSpPr>
        <p:spPr>
          <a:xfrm flipV="1">
            <a:off x="3633940" y="1988288"/>
            <a:ext cx="1618544" cy="349901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70914C12-F425-B1A9-44C4-335646AC90A2}"/>
              </a:ext>
            </a:extLst>
          </p:cNvPr>
          <p:cNvCxnSpPr>
            <a:cxnSpLocks/>
          </p:cNvCxnSpPr>
          <p:nvPr/>
        </p:nvCxnSpPr>
        <p:spPr>
          <a:xfrm flipV="1">
            <a:off x="4110519" y="3356887"/>
            <a:ext cx="1203993" cy="2669944"/>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1C4091E6-600E-6A58-2E24-95725EB2EAA9}"/>
              </a:ext>
            </a:extLst>
          </p:cNvPr>
          <p:cNvCxnSpPr>
            <a:cxnSpLocks/>
          </p:cNvCxnSpPr>
          <p:nvPr/>
        </p:nvCxnSpPr>
        <p:spPr>
          <a:xfrm flipV="1">
            <a:off x="7466347" y="1988288"/>
            <a:ext cx="1137824" cy="349901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A2CA3279-174E-F128-57E1-49DB24E54E0C}"/>
              </a:ext>
            </a:extLst>
          </p:cNvPr>
          <p:cNvCxnSpPr>
            <a:cxnSpLocks/>
          </p:cNvCxnSpPr>
          <p:nvPr/>
        </p:nvCxnSpPr>
        <p:spPr>
          <a:xfrm flipV="1">
            <a:off x="7999051" y="3329063"/>
            <a:ext cx="710397" cy="2952903"/>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1184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56"/>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7FA549-A561-36C5-DE5D-2F73579A0624}"/>
              </a:ext>
            </a:extLst>
          </p:cNvPr>
          <p:cNvSpPr>
            <a:spLocks noGrp="1"/>
          </p:cNvSpPr>
          <p:nvPr>
            <p:ph type="title"/>
          </p:nvPr>
        </p:nvSpPr>
        <p:spPr>
          <a:xfrm>
            <a:off x="628650" y="16042"/>
            <a:ext cx="7886700" cy="1924058"/>
          </a:xfrm>
        </p:spPr>
        <p:txBody>
          <a:bodyPr>
            <a:normAutofit/>
          </a:bodyPr>
          <a:lstStyle/>
          <a:p>
            <a:pPr algn="ctr"/>
            <a:r>
              <a:rPr lang="en-GB" dirty="0">
                <a:solidFill>
                  <a:srgbClr val="FF0000"/>
                </a:solidFill>
              </a:rPr>
              <a:t>To avoid shoot through in Unipolar two circuits made for Bipolar shall be used </a:t>
            </a:r>
          </a:p>
        </p:txBody>
      </p:sp>
      <p:pic>
        <p:nvPicPr>
          <p:cNvPr id="6" name="Picture 5">
            <a:extLst>
              <a:ext uri="{FF2B5EF4-FFF2-40B4-BE49-F238E27FC236}">
                <a16:creationId xmlns:a16="http://schemas.microsoft.com/office/drawing/2014/main" id="{C0DF4C3F-C955-EB8E-A529-832194CEC575}"/>
              </a:ext>
            </a:extLst>
          </p:cNvPr>
          <p:cNvPicPr>
            <a:picLocks noChangeAspect="1"/>
          </p:cNvPicPr>
          <p:nvPr/>
        </p:nvPicPr>
        <p:blipFill>
          <a:blip r:embed="rId2"/>
          <a:stretch>
            <a:fillRect/>
          </a:stretch>
        </p:blipFill>
        <p:spPr>
          <a:xfrm>
            <a:off x="4378193" y="2091175"/>
            <a:ext cx="4545684" cy="1924058"/>
          </a:xfrm>
          <a:prstGeom prst="rect">
            <a:avLst/>
          </a:prstGeom>
        </p:spPr>
      </p:pic>
      <p:pic>
        <p:nvPicPr>
          <p:cNvPr id="23" name="Picture 22">
            <a:extLst>
              <a:ext uri="{FF2B5EF4-FFF2-40B4-BE49-F238E27FC236}">
                <a16:creationId xmlns:a16="http://schemas.microsoft.com/office/drawing/2014/main" id="{CC4362D6-574A-545D-F696-E70D4FD6AB09}"/>
              </a:ext>
            </a:extLst>
          </p:cNvPr>
          <p:cNvPicPr>
            <a:picLocks noChangeAspect="1"/>
          </p:cNvPicPr>
          <p:nvPr/>
        </p:nvPicPr>
        <p:blipFill>
          <a:blip r:embed="rId3"/>
          <a:stretch>
            <a:fillRect/>
          </a:stretch>
        </p:blipFill>
        <p:spPr>
          <a:xfrm>
            <a:off x="5361185" y="4230659"/>
            <a:ext cx="3606651" cy="1924058"/>
          </a:xfrm>
          <a:prstGeom prst="rect">
            <a:avLst/>
          </a:prstGeom>
        </p:spPr>
      </p:pic>
      <p:cxnSp>
        <p:nvCxnSpPr>
          <p:cNvPr id="25" name="Connector: Elbow 24">
            <a:extLst>
              <a:ext uri="{FF2B5EF4-FFF2-40B4-BE49-F238E27FC236}">
                <a16:creationId xmlns:a16="http://schemas.microsoft.com/office/drawing/2014/main" id="{9B5BEDF6-1F59-0A17-95ED-3414E6EA6D3C}"/>
              </a:ext>
            </a:extLst>
          </p:cNvPr>
          <p:cNvCxnSpPr/>
          <p:nvPr/>
        </p:nvCxnSpPr>
        <p:spPr>
          <a:xfrm rot="16200000" flipH="1">
            <a:off x="4432860" y="3574116"/>
            <a:ext cx="2170706" cy="286247"/>
          </a:xfrm>
          <a:prstGeom prst="bentConnector3">
            <a:avLst>
              <a:gd name="adj1" fmla="val 99817"/>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Connector: Elbow 27">
            <a:extLst>
              <a:ext uri="{FF2B5EF4-FFF2-40B4-BE49-F238E27FC236}">
                <a16:creationId xmlns:a16="http://schemas.microsoft.com/office/drawing/2014/main" id="{0510A7B7-6FFB-1623-338B-AD1DCECB7B38}"/>
              </a:ext>
            </a:extLst>
          </p:cNvPr>
          <p:cNvCxnSpPr>
            <a:cxnSpLocks/>
          </p:cNvCxnSpPr>
          <p:nvPr/>
        </p:nvCxnSpPr>
        <p:spPr>
          <a:xfrm rot="16200000" flipH="1">
            <a:off x="4371921" y="4366894"/>
            <a:ext cx="2127937" cy="409907"/>
          </a:xfrm>
          <a:prstGeom prst="bentConnector3">
            <a:avLst>
              <a:gd name="adj1" fmla="val 99817"/>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32" name="Picture 31">
            <a:extLst>
              <a:ext uri="{FF2B5EF4-FFF2-40B4-BE49-F238E27FC236}">
                <a16:creationId xmlns:a16="http://schemas.microsoft.com/office/drawing/2014/main" id="{DF5BBD7F-52AF-DA40-AD39-C8CAE501D663}"/>
              </a:ext>
            </a:extLst>
          </p:cNvPr>
          <p:cNvPicPr>
            <a:picLocks noChangeAspect="1"/>
          </p:cNvPicPr>
          <p:nvPr/>
        </p:nvPicPr>
        <p:blipFill>
          <a:blip r:embed="rId4"/>
          <a:stretch>
            <a:fillRect/>
          </a:stretch>
        </p:blipFill>
        <p:spPr>
          <a:xfrm>
            <a:off x="176164" y="3863130"/>
            <a:ext cx="4037853" cy="1272711"/>
          </a:xfrm>
          <a:prstGeom prst="rect">
            <a:avLst/>
          </a:prstGeom>
        </p:spPr>
      </p:pic>
    </p:spTree>
    <p:extLst>
      <p:ext uri="{BB962C8B-B14F-4D97-AF65-F5344CB8AC3E}">
        <p14:creationId xmlns:p14="http://schemas.microsoft.com/office/powerpoint/2010/main" val="34564752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BC357-484A-B0C4-C159-6D5F7AF8E8B0}"/>
              </a:ext>
            </a:extLst>
          </p:cNvPr>
          <p:cNvSpPr>
            <a:spLocks noGrp="1"/>
          </p:cNvSpPr>
          <p:nvPr>
            <p:ph type="title"/>
          </p:nvPr>
        </p:nvSpPr>
        <p:spPr>
          <a:xfrm>
            <a:off x="628650" y="365127"/>
            <a:ext cx="7886700" cy="610234"/>
          </a:xfrm>
        </p:spPr>
        <p:txBody>
          <a:bodyPr>
            <a:normAutofit fontScale="90000"/>
          </a:bodyPr>
          <a:lstStyle/>
          <a:p>
            <a:r>
              <a:rPr lang="en-GB" dirty="0"/>
              <a:t>Comparison of different Schemes</a:t>
            </a:r>
          </a:p>
        </p:txBody>
      </p:sp>
      <p:graphicFrame>
        <p:nvGraphicFramePr>
          <p:cNvPr id="4" name="Table 4">
            <a:extLst>
              <a:ext uri="{FF2B5EF4-FFF2-40B4-BE49-F238E27FC236}">
                <a16:creationId xmlns:a16="http://schemas.microsoft.com/office/drawing/2014/main" id="{40C6443A-3B78-5749-94A6-7CAB46CECA6F}"/>
              </a:ext>
            </a:extLst>
          </p:cNvPr>
          <p:cNvGraphicFramePr>
            <a:graphicFrameLocks noGrp="1"/>
          </p:cNvGraphicFramePr>
          <p:nvPr>
            <p:extLst>
              <p:ext uri="{D42A27DB-BD31-4B8C-83A1-F6EECF244321}">
                <p14:modId xmlns:p14="http://schemas.microsoft.com/office/powerpoint/2010/main" val="2713394978"/>
              </p:ext>
            </p:extLst>
          </p:nvPr>
        </p:nvGraphicFramePr>
        <p:xfrm>
          <a:off x="628650" y="975361"/>
          <a:ext cx="7624354" cy="2108200"/>
        </p:xfrm>
        <a:graphic>
          <a:graphicData uri="http://schemas.openxmlformats.org/drawingml/2006/table">
            <a:tbl>
              <a:tblPr firstRow="1" bandRow="1">
                <a:tableStyleId>{5C22544A-7EE6-4342-B048-85BDC9FD1C3A}</a:tableStyleId>
              </a:tblPr>
              <a:tblGrid>
                <a:gridCol w="2799806">
                  <a:extLst>
                    <a:ext uri="{9D8B030D-6E8A-4147-A177-3AD203B41FA5}">
                      <a16:colId xmlns:a16="http://schemas.microsoft.com/office/drawing/2014/main" val="3178589834"/>
                    </a:ext>
                  </a:extLst>
                </a:gridCol>
                <a:gridCol w="4824548">
                  <a:extLst>
                    <a:ext uri="{9D8B030D-6E8A-4147-A177-3AD203B41FA5}">
                      <a16:colId xmlns:a16="http://schemas.microsoft.com/office/drawing/2014/main" val="3606819547"/>
                    </a:ext>
                  </a:extLst>
                </a:gridCol>
              </a:tblGrid>
              <a:tr h="370840">
                <a:tc>
                  <a:txBody>
                    <a:bodyPr/>
                    <a:lstStyle/>
                    <a:p>
                      <a:endParaRPr lang="en-GB"/>
                    </a:p>
                  </a:txBody>
                  <a:tcPr/>
                </a:tc>
                <a:tc>
                  <a:txBody>
                    <a:bodyPr/>
                    <a:lstStyle/>
                    <a:p>
                      <a:pPr algn="ctr"/>
                      <a:r>
                        <a:rPr lang="en-GB" dirty="0"/>
                        <a:t>Half Bridge ~ Full Bridge</a:t>
                      </a:r>
                    </a:p>
                  </a:txBody>
                  <a:tcPr/>
                </a:tc>
                <a:extLst>
                  <a:ext uri="{0D108BD9-81ED-4DB2-BD59-A6C34878D82A}">
                    <a16:rowId xmlns:a16="http://schemas.microsoft.com/office/drawing/2014/main" val="526782629"/>
                  </a:ext>
                </a:extLst>
              </a:tr>
              <a:tr h="370840">
                <a:tc>
                  <a:txBody>
                    <a:bodyPr/>
                    <a:lstStyle/>
                    <a:p>
                      <a:endParaRPr lang="en-GB" dirty="0"/>
                    </a:p>
                    <a:p>
                      <a:r>
                        <a:rPr lang="en-GB" dirty="0"/>
                        <a:t>     Output Power</a:t>
                      </a:r>
                    </a:p>
                    <a:p>
                      <a:r>
                        <a:rPr lang="en-GB" dirty="0"/>
                        <a:t>Square Wave Switching</a:t>
                      </a:r>
                    </a:p>
                  </a:txBody>
                  <a:tcPr/>
                </a:tc>
                <a:tc>
                  <a:txBody>
                    <a:bodyPr/>
                    <a:lstStyle/>
                    <a:p>
                      <a:r>
                        <a:rPr lang="en-US" sz="1800" kern="1200" dirty="0">
                          <a:solidFill>
                            <a:schemeClr val="dk1"/>
                          </a:solidFill>
                          <a:effectLst/>
                          <a:latin typeface="+mn-lt"/>
                          <a:ea typeface="+mn-ea"/>
                          <a:cs typeface="+mn-cs"/>
                        </a:rPr>
                        <a:t>With the same dc input voltage, the maximum output voltage of the half-bridge inverter is half that of the full-bridge inverter. Hence, in case of low power applications we can use the half-bridge inverters and save one-leg of full bridge inverter.</a:t>
                      </a:r>
                      <a:endParaRPr lang="en-GB" dirty="0"/>
                    </a:p>
                  </a:txBody>
                  <a:tcPr/>
                </a:tc>
                <a:extLst>
                  <a:ext uri="{0D108BD9-81ED-4DB2-BD59-A6C34878D82A}">
                    <a16:rowId xmlns:a16="http://schemas.microsoft.com/office/drawing/2014/main" val="1046547733"/>
                  </a:ext>
                </a:extLst>
              </a:tr>
            </a:tbl>
          </a:graphicData>
        </a:graphic>
      </p:graphicFrame>
    </p:spTree>
    <p:extLst>
      <p:ext uri="{BB962C8B-B14F-4D97-AF65-F5344CB8AC3E}">
        <p14:creationId xmlns:p14="http://schemas.microsoft.com/office/powerpoint/2010/main" val="12455731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BC357-484A-B0C4-C159-6D5F7AF8E8B0}"/>
              </a:ext>
            </a:extLst>
          </p:cNvPr>
          <p:cNvSpPr>
            <a:spLocks noGrp="1"/>
          </p:cNvSpPr>
          <p:nvPr>
            <p:ph type="title"/>
          </p:nvPr>
        </p:nvSpPr>
        <p:spPr>
          <a:xfrm>
            <a:off x="628650" y="365127"/>
            <a:ext cx="7886700" cy="610234"/>
          </a:xfrm>
        </p:spPr>
        <p:txBody>
          <a:bodyPr>
            <a:normAutofit fontScale="90000"/>
          </a:bodyPr>
          <a:lstStyle/>
          <a:p>
            <a:r>
              <a:rPr lang="en-GB" dirty="0"/>
              <a:t>Comparison of different Schemes</a:t>
            </a:r>
          </a:p>
        </p:txBody>
      </p:sp>
      <p:graphicFrame>
        <p:nvGraphicFramePr>
          <p:cNvPr id="7" name="Table 4">
            <a:extLst>
              <a:ext uri="{FF2B5EF4-FFF2-40B4-BE49-F238E27FC236}">
                <a16:creationId xmlns:a16="http://schemas.microsoft.com/office/drawing/2014/main" id="{F3CEE483-12E4-3223-E1DC-2DE1B35AB64B}"/>
              </a:ext>
            </a:extLst>
          </p:cNvPr>
          <p:cNvGraphicFramePr>
            <a:graphicFrameLocks noGrp="1"/>
          </p:cNvGraphicFramePr>
          <p:nvPr>
            <p:extLst>
              <p:ext uri="{D42A27DB-BD31-4B8C-83A1-F6EECF244321}">
                <p14:modId xmlns:p14="http://schemas.microsoft.com/office/powerpoint/2010/main" val="3035885807"/>
              </p:ext>
            </p:extLst>
          </p:nvPr>
        </p:nvGraphicFramePr>
        <p:xfrm>
          <a:off x="393519" y="1101635"/>
          <a:ext cx="8323761" cy="4942840"/>
        </p:xfrm>
        <a:graphic>
          <a:graphicData uri="http://schemas.openxmlformats.org/drawingml/2006/table">
            <a:tbl>
              <a:tblPr firstRow="1" bandRow="1">
                <a:tableStyleId>{5C22544A-7EE6-4342-B048-85BDC9FD1C3A}</a:tableStyleId>
              </a:tblPr>
              <a:tblGrid>
                <a:gridCol w="1234984">
                  <a:extLst>
                    <a:ext uri="{9D8B030D-6E8A-4147-A177-3AD203B41FA5}">
                      <a16:colId xmlns:a16="http://schemas.microsoft.com/office/drawing/2014/main" val="3178589834"/>
                    </a:ext>
                  </a:extLst>
                </a:gridCol>
                <a:gridCol w="3030583">
                  <a:extLst>
                    <a:ext uri="{9D8B030D-6E8A-4147-A177-3AD203B41FA5}">
                      <a16:colId xmlns:a16="http://schemas.microsoft.com/office/drawing/2014/main" val="3606819547"/>
                    </a:ext>
                  </a:extLst>
                </a:gridCol>
                <a:gridCol w="4058194">
                  <a:extLst>
                    <a:ext uri="{9D8B030D-6E8A-4147-A177-3AD203B41FA5}">
                      <a16:colId xmlns:a16="http://schemas.microsoft.com/office/drawing/2014/main" val="3241199984"/>
                    </a:ext>
                  </a:extLst>
                </a:gridCol>
              </a:tblGrid>
              <a:tr h="370840">
                <a:tc>
                  <a:txBody>
                    <a:bodyPr/>
                    <a:lstStyle/>
                    <a:p>
                      <a:endParaRPr lang="en-GB" dirty="0"/>
                    </a:p>
                  </a:txBody>
                  <a:tcPr/>
                </a:tc>
                <a:tc>
                  <a:txBody>
                    <a:bodyPr/>
                    <a:lstStyle/>
                    <a:p>
                      <a:pPr algn="ctr"/>
                      <a:r>
                        <a:rPr lang="en-GB" dirty="0"/>
                        <a:t>Square Wave Switching</a:t>
                      </a:r>
                    </a:p>
                  </a:txBody>
                  <a:tcPr/>
                </a:tc>
                <a:tc>
                  <a:txBody>
                    <a:bodyPr/>
                    <a:lstStyle/>
                    <a:p>
                      <a:pPr algn="ctr"/>
                      <a:r>
                        <a:rPr lang="en-GB" dirty="0"/>
                        <a:t>PWM Switching</a:t>
                      </a:r>
                    </a:p>
                  </a:txBody>
                  <a:tcPr/>
                </a:tc>
                <a:extLst>
                  <a:ext uri="{0D108BD9-81ED-4DB2-BD59-A6C34878D82A}">
                    <a16:rowId xmlns:a16="http://schemas.microsoft.com/office/drawing/2014/main" val="526782629"/>
                  </a:ext>
                </a:extLst>
              </a:tr>
              <a:tr h="370840">
                <a:tc rowSpan="2">
                  <a:txBody>
                    <a:bodyPr/>
                    <a:lstStyle/>
                    <a:p>
                      <a:endParaRPr lang="en-GB" dirty="0"/>
                    </a:p>
                    <a:p>
                      <a:endParaRPr lang="en-GB" dirty="0"/>
                    </a:p>
                    <a:p>
                      <a:r>
                        <a:rPr lang="en-GB" dirty="0"/>
                        <a:t>Harmonics in</a:t>
                      </a:r>
                    </a:p>
                    <a:p>
                      <a:r>
                        <a:rPr lang="en-GB" dirty="0"/>
                        <a:t>Half or Full Bridge Inverter</a:t>
                      </a:r>
                    </a:p>
                    <a:p>
                      <a:endParaRPr lang="en-GB" dirty="0"/>
                    </a:p>
                  </a:txBody>
                  <a:tcPr/>
                </a:tc>
                <a:tc>
                  <a:txBody>
                    <a:bodyPr/>
                    <a:lstStyle/>
                    <a:p>
                      <a:pPr algn="just"/>
                      <a:r>
                        <a:rPr lang="en-GB" dirty="0"/>
                        <a:t>The abrupt switching in square waves generates a significant number of harmonics. Harmonics are multiples of the fundamental frequency (the desired AC output frequency) that distort the waveform and can cause problems for connected equipment.</a:t>
                      </a:r>
                    </a:p>
                  </a:txBody>
                  <a:tcPr/>
                </a:tc>
                <a:tc>
                  <a:txBody>
                    <a:bodyPr/>
                    <a:lstStyle/>
                    <a:p>
                      <a:pPr algn="just"/>
                      <a:r>
                        <a:rPr lang="en-GB" dirty="0"/>
                        <a:t>PWM uses a more sophisticated approach. It generates a pulse train with a constant frequency (carrier frequency) but varies the width of each pulse (duty cycle). By carefully controlling the duty cycle, PWM can effectively synthesize a sinusoidal output voltage. This approach "spreads out" the harmonics to higher frequencies, making them easier to filter.</a:t>
                      </a:r>
                    </a:p>
                  </a:txBody>
                  <a:tcPr/>
                </a:tc>
                <a:extLst>
                  <a:ext uri="{0D108BD9-81ED-4DB2-BD59-A6C34878D82A}">
                    <a16:rowId xmlns:a16="http://schemas.microsoft.com/office/drawing/2014/main" val="1046547733"/>
                  </a:ext>
                </a:extLst>
              </a:tr>
              <a:tr h="370840">
                <a:tc vMerge="1">
                  <a:txBody>
                    <a:bodyPr/>
                    <a:lstStyle/>
                    <a:p>
                      <a:endParaRPr lang="en-GB" dirty="0"/>
                    </a:p>
                  </a:txBody>
                  <a:tcPr/>
                </a:tc>
                <a:tc>
                  <a:txBody>
                    <a:bodyPr/>
                    <a:lstStyle/>
                    <a:p>
                      <a:pPr algn="just"/>
                      <a:r>
                        <a:rPr lang="en-GB" dirty="0"/>
                        <a:t>To mitigate these harmonics and achieve a cleaner output waveform, square wave inverters need bulky and expensive filtering components.</a:t>
                      </a:r>
                    </a:p>
                  </a:txBody>
                  <a:tcPr/>
                </a:tc>
                <a:tc>
                  <a:txBody>
                    <a:bodyPr/>
                    <a:lstStyle/>
                    <a:p>
                      <a:pPr algn="just"/>
                      <a:r>
                        <a:rPr lang="en-GB" dirty="0"/>
                        <a:t>As a result of this harmonic shaping, PWM inverters require smaller and more efficient filters to achieve the same level of output quality compared to square wave inverters.</a:t>
                      </a:r>
                    </a:p>
                  </a:txBody>
                  <a:tcPr/>
                </a:tc>
                <a:extLst>
                  <a:ext uri="{0D108BD9-81ED-4DB2-BD59-A6C34878D82A}">
                    <a16:rowId xmlns:a16="http://schemas.microsoft.com/office/drawing/2014/main" val="1369262297"/>
                  </a:ext>
                </a:extLst>
              </a:tr>
            </a:tbl>
          </a:graphicData>
        </a:graphic>
      </p:graphicFrame>
    </p:spTree>
    <p:extLst>
      <p:ext uri="{BB962C8B-B14F-4D97-AF65-F5344CB8AC3E}">
        <p14:creationId xmlns:p14="http://schemas.microsoft.com/office/powerpoint/2010/main" val="34913708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BC357-484A-B0C4-C159-6D5F7AF8E8B0}"/>
              </a:ext>
            </a:extLst>
          </p:cNvPr>
          <p:cNvSpPr>
            <a:spLocks noGrp="1"/>
          </p:cNvSpPr>
          <p:nvPr>
            <p:ph type="title"/>
          </p:nvPr>
        </p:nvSpPr>
        <p:spPr>
          <a:xfrm>
            <a:off x="628650" y="365127"/>
            <a:ext cx="7886700" cy="610234"/>
          </a:xfrm>
        </p:spPr>
        <p:txBody>
          <a:bodyPr>
            <a:normAutofit fontScale="90000"/>
          </a:bodyPr>
          <a:lstStyle/>
          <a:p>
            <a:r>
              <a:rPr lang="en-GB" dirty="0"/>
              <a:t>Comparison of different Schemes</a:t>
            </a:r>
          </a:p>
        </p:txBody>
      </p:sp>
      <p:graphicFrame>
        <p:nvGraphicFramePr>
          <p:cNvPr id="4" name="Table 4">
            <a:extLst>
              <a:ext uri="{FF2B5EF4-FFF2-40B4-BE49-F238E27FC236}">
                <a16:creationId xmlns:a16="http://schemas.microsoft.com/office/drawing/2014/main" id="{40C6443A-3B78-5749-94A6-7CAB46CECA6F}"/>
              </a:ext>
            </a:extLst>
          </p:cNvPr>
          <p:cNvGraphicFramePr>
            <a:graphicFrameLocks noGrp="1"/>
          </p:cNvGraphicFramePr>
          <p:nvPr>
            <p:extLst>
              <p:ext uri="{D42A27DB-BD31-4B8C-83A1-F6EECF244321}">
                <p14:modId xmlns:p14="http://schemas.microsoft.com/office/powerpoint/2010/main" val="2239334387"/>
              </p:ext>
            </p:extLst>
          </p:nvPr>
        </p:nvGraphicFramePr>
        <p:xfrm>
          <a:off x="628650" y="975361"/>
          <a:ext cx="7217800" cy="2108200"/>
        </p:xfrm>
        <a:graphic>
          <a:graphicData uri="http://schemas.openxmlformats.org/drawingml/2006/table">
            <a:tbl>
              <a:tblPr firstRow="1" bandRow="1">
                <a:tableStyleId>{5C22544A-7EE6-4342-B048-85BDC9FD1C3A}</a:tableStyleId>
              </a:tblPr>
              <a:tblGrid>
                <a:gridCol w="2393252">
                  <a:extLst>
                    <a:ext uri="{9D8B030D-6E8A-4147-A177-3AD203B41FA5}">
                      <a16:colId xmlns:a16="http://schemas.microsoft.com/office/drawing/2014/main" val="3178589834"/>
                    </a:ext>
                  </a:extLst>
                </a:gridCol>
                <a:gridCol w="4824548">
                  <a:extLst>
                    <a:ext uri="{9D8B030D-6E8A-4147-A177-3AD203B41FA5}">
                      <a16:colId xmlns:a16="http://schemas.microsoft.com/office/drawing/2014/main" val="3606819547"/>
                    </a:ext>
                  </a:extLst>
                </a:gridCol>
              </a:tblGrid>
              <a:tr h="370840">
                <a:tc>
                  <a:txBody>
                    <a:bodyPr/>
                    <a:lstStyle/>
                    <a:p>
                      <a:endParaRPr lang="en-GB"/>
                    </a:p>
                  </a:txBody>
                  <a:tcPr/>
                </a:tc>
                <a:tc>
                  <a:txBody>
                    <a:bodyPr/>
                    <a:lstStyle/>
                    <a:p>
                      <a:pPr algn="ctr"/>
                      <a:r>
                        <a:rPr lang="en-GB" dirty="0"/>
                        <a:t>Bipolar ~ Unipolar</a:t>
                      </a:r>
                    </a:p>
                  </a:txBody>
                  <a:tcPr/>
                </a:tc>
                <a:extLst>
                  <a:ext uri="{0D108BD9-81ED-4DB2-BD59-A6C34878D82A}">
                    <a16:rowId xmlns:a16="http://schemas.microsoft.com/office/drawing/2014/main" val="526782629"/>
                  </a:ext>
                </a:extLst>
              </a:tr>
              <a:tr h="370840">
                <a:tc>
                  <a:txBody>
                    <a:bodyPr/>
                    <a:lstStyle/>
                    <a:p>
                      <a:endParaRPr lang="en-GB" dirty="0"/>
                    </a:p>
                    <a:p>
                      <a:r>
                        <a:rPr lang="en-GB" dirty="0"/>
                        <a:t>     Harmonics</a:t>
                      </a:r>
                    </a:p>
                    <a:p>
                      <a:r>
                        <a:rPr lang="en-GB" dirty="0"/>
                        <a:t>PWM Switching</a:t>
                      </a:r>
                    </a:p>
                  </a:txBody>
                  <a:tcPr/>
                </a:tc>
                <a:tc>
                  <a:txBody>
                    <a:bodyPr/>
                    <a:lstStyle/>
                    <a:p>
                      <a:pPr algn="just"/>
                      <a:r>
                        <a:rPr lang="en-GB" dirty="0"/>
                        <a:t>In unipolar scheme, the advantage of “effectively” doubling the switching frequency appears in the harmonic spectrum of the output voltage waveform, where the lowest harmonics appear as sidebands of twice the switching frequency.</a:t>
                      </a:r>
                    </a:p>
                  </a:txBody>
                  <a:tcPr/>
                </a:tc>
                <a:extLst>
                  <a:ext uri="{0D108BD9-81ED-4DB2-BD59-A6C34878D82A}">
                    <a16:rowId xmlns:a16="http://schemas.microsoft.com/office/drawing/2014/main" val="1046547733"/>
                  </a:ext>
                </a:extLst>
              </a:tr>
            </a:tbl>
          </a:graphicData>
        </a:graphic>
      </p:graphicFrame>
    </p:spTree>
    <p:extLst>
      <p:ext uri="{BB962C8B-B14F-4D97-AF65-F5344CB8AC3E}">
        <p14:creationId xmlns:p14="http://schemas.microsoft.com/office/powerpoint/2010/main" val="19581373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023A5-5956-7BCE-9CC5-6D2D1055ED68}"/>
              </a:ext>
            </a:extLst>
          </p:cNvPr>
          <p:cNvSpPr>
            <a:spLocks noGrp="1"/>
          </p:cNvSpPr>
          <p:nvPr>
            <p:ph type="title"/>
          </p:nvPr>
        </p:nvSpPr>
        <p:spPr>
          <a:xfrm>
            <a:off x="628650" y="365127"/>
            <a:ext cx="7886700" cy="803716"/>
          </a:xfrm>
        </p:spPr>
        <p:txBody>
          <a:bodyPr/>
          <a:lstStyle/>
          <a:p>
            <a:r>
              <a:rPr lang="en-GB" dirty="0"/>
              <a:t>Summary</a:t>
            </a:r>
          </a:p>
        </p:txBody>
      </p:sp>
      <p:sp>
        <p:nvSpPr>
          <p:cNvPr id="3" name="Content Placeholder 2">
            <a:extLst>
              <a:ext uri="{FF2B5EF4-FFF2-40B4-BE49-F238E27FC236}">
                <a16:creationId xmlns:a16="http://schemas.microsoft.com/office/drawing/2014/main" id="{59E63388-0F99-30DE-7206-6822F4BBD4C0}"/>
              </a:ext>
            </a:extLst>
          </p:cNvPr>
          <p:cNvSpPr>
            <a:spLocks noGrp="1"/>
          </p:cNvSpPr>
          <p:nvPr>
            <p:ph idx="1"/>
          </p:nvPr>
        </p:nvSpPr>
        <p:spPr>
          <a:xfrm>
            <a:off x="628650" y="1253331"/>
            <a:ext cx="7886700" cy="5103926"/>
          </a:xfrm>
        </p:spPr>
        <p:txBody>
          <a:bodyPr>
            <a:normAutofit fontScale="92500" lnSpcReduction="10000"/>
          </a:bodyPr>
          <a:lstStyle/>
          <a:p>
            <a:r>
              <a:rPr lang="en-GB" dirty="0"/>
              <a:t>Full Bridge DC-AC Converter studied with following switching option:</a:t>
            </a:r>
          </a:p>
          <a:p>
            <a:pPr lvl="1"/>
            <a:r>
              <a:rPr lang="en-GB" dirty="0"/>
              <a:t>Square Wave Switching</a:t>
            </a:r>
          </a:p>
          <a:p>
            <a:pPr lvl="1"/>
            <a:r>
              <a:rPr lang="en-GB" dirty="0"/>
              <a:t>PWM Bipolar Switching</a:t>
            </a:r>
          </a:p>
          <a:p>
            <a:pPr lvl="1"/>
            <a:r>
              <a:rPr lang="en-GB" dirty="0"/>
              <a:t>PWM Unipolar switching</a:t>
            </a:r>
          </a:p>
          <a:p>
            <a:r>
              <a:rPr lang="en-GB" dirty="0"/>
              <a:t> following aspects were studied for each switching:</a:t>
            </a:r>
          </a:p>
          <a:p>
            <a:pPr marL="742950" lvl="1" indent="-285750"/>
            <a:r>
              <a:rPr lang="en-US" dirty="0"/>
              <a:t>Ideal Circuit Diagram</a:t>
            </a:r>
          </a:p>
          <a:p>
            <a:pPr marL="742950" lvl="1" indent="-285750"/>
            <a:r>
              <a:rPr lang="en-US" dirty="0"/>
              <a:t>Operation</a:t>
            </a:r>
          </a:p>
          <a:p>
            <a:pPr marL="742950" lvl="1" indent="-285750"/>
            <a:r>
              <a:rPr lang="en-US" dirty="0"/>
              <a:t>Output Voltage (Waveform)</a:t>
            </a:r>
          </a:p>
          <a:p>
            <a:pPr marL="742950" lvl="1" indent="-285750"/>
            <a:r>
              <a:rPr lang="en-US" dirty="0"/>
              <a:t>Harmonics</a:t>
            </a:r>
          </a:p>
          <a:p>
            <a:pPr marL="742950" lvl="1" indent="-285750"/>
            <a:r>
              <a:rPr lang="en-US" dirty="0"/>
              <a:t>Practical Circuit Diagram</a:t>
            </a:r>
          </a:p>
          <a:p>
            <a:pPr marL="742950" lvl="1" indent="-285750">
              <a:buFont typeface="Arial" panose="020B0604020202020204" pitchFamily="34" charset="0"/>
              <a:buChar char="•"/>
            </a:pPr>
            <a:r>
              <a:rPr lang="en-US" dirty="0"/>
              <a:t>Avoiding shoot through</a:t>
            </a:r>
          </a:p>
          <a:p>
            <a:pPr marL="285750" indent="-285750"/>
            <a:r>
              <a:rPr lang="en-US" dirty="0"/>
              <a:t>A comparison is made in </a:t>
            </a:r>
            <a:r>
              <a:rPr lang="en-US"/>
              <a:t>different single-phase inverters.</a:t>
            </a:r>
            <a:endParaRPr lang="en-US" dirty="0"/>
          </a:p>
          <a:p>
            <a:pPr lvl="1"/>
            <a:endParaRPr lang="en-GB" dirty="0"/>
          </a:p>
          <a:p>
            <a:pPr lvl="1"/>
            <a:endParaRPr lang="en-GB" dirty="0"/>
          </a:p>
        </p:txBody>
      </p:sp>
    </p:spTree>
    <p:extLst>
      <p:ext uri="{BB962C8B-B14F-4D97-AF65-F5344CB8AC3E}">
        <p14:creationId xmlns:p14="http://schemas.microsoft.com/office/powerpoint/2010/main" val="408490465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15986</TotalTime>
  <Words>1513</Words>
  <Application>Microsoft Office PowerPoint</Application>
  <PresentationFormat>On-screen Show (4:3)</PresentationFormat>
  <Paragraphs>322</Paragraphs>
  <Slides>32</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宋体</vt:lpstr>
      <vt:lpstr>Arial</vt:lpstr>
      <vt:lpstr>Calibri</vt:lpstr>
      <vt:lpstr>Calibri Light</vt:lpstr>
      <vt:lpstr>Cambria Math</vt:lpstr>
      <vt:lpstr>Office Theme</vt:lpstr>
      <vt:lpstr>Power Electronics</vt:lpstr>
      <vt:lpstr>Schemes of Inverters to study</vt:lpstr>
      <vt:lpstr>Schemes of Inverters to study</vt:lpstr>
      <vt:lpstr>Inverter Types</vt:lpstr>
      <vt:lpstr>Operation</vt:lpstr>
      <vt:lpstr>Operation</vt:lpstr>
      <vt:lpstr>Operation</vt:lpstr>
      <vt:lpstr>Operation</vt:lpstr>
      <vt:lpstr>Operation</vt:lpstr>
      <vt:lpstr>Operation</vt:lpstr>
      <vt:lpstr>Operation</vt:lpstr>
      <vt:lpstr>Operation</vt:lpstr>
      <vt:lpstr>Harmonics</vt:lpstr>
      <vt:lpstr>Harmonics</vt:lpstr>
      <vt:lpstr>Harmonics</vt:lpstr>
      <vt:lpstr>Harmonics</vt:lpstr>
      <vt:lpstr>Harmonics</vt:lpstr>
      <vt:lpstr>Harmonics</vt:lpstr>
      <vt:lpstr>PowerPoint Presentation</vt:lpstr>
      <vt:lpstr>Harmonics</vt:lpstr>
      <vt:lpstr>PowerPoint Presentation</vt:lpstr>
      <vt:lpstr>Harmonics</vt:lpstr>
      <vt:lpstr>Practical Full Bridge Inverter</vt:lpstr>
      <vt:lpstr>Practical Full Bridge Inverter</vt:lpstr>
      <vt:lpstr>Practical Full Bridge Inverter</vt:lpstr>
      <vt:lpstr>Avoiding Shoot through</vt:lpstr>
      <vt:lpstr>Practical Full Bridge Inverter</vt:lpstr>
      <vt:lpstr>To avoid shoot through in Unipolar two circuits made for Bipolar shall be used </vt:lpstr>
      <vt:lpstr>Comparison of different Schemes</vt:lpstr>
      <vt:lpstr>Comparison of different Schemes</vt:lpstr>
      <vt:lpstr>Comparison of different Schemes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we have studied so far</dc:title>
  <dc:creator>Shuja Ansari</dc:creator>
  <cp:lastModifiedBy>Atif Jafri</cp:lastModifiedBy>
  <cp:revision>57</cp:revision>
  <dcterms:created xsi:type="dcterms:W3CDTF">2022-04-24T21:36:35Z</dcterms:created>
  <dcterms:modified xsi:type="dcterms:W3CDTF">2025-05-13T05:48:39Z</dcterms:modified>
</cp:coreProperties>
</file>