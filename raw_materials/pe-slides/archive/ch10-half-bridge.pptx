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7" r:id="rId2"/>
    <p:sldId id="296" r:id="rId3"/>
    <p:sldId id="297" r:id="rId4"/>
    <p:sldId id="301" r:id="rId5"/>
    <p:sldId id="309" r:id="rId6"/>
    <p:sldId id="319" r:id="rId7"/>
    <p:sldId id="320" r:id="rId8"/>
    <p:sldId id="307" r:id="rId9"/>
    <p:sldId id="310" r:id="rId10"/>
    <p:sldId id="311" r:id="rId11"/>
    <p:sldId id="313" r:id="rId12"/>
    <p:sldId id="314" r:id="rId13"/>
    <p:sldId id="331" r:id="rId14"/>
    <p:sldId id="315" r:id="rId15"/>
    <p:sldId id="329" r:id="rId16"/>
    <p:sldId id="317" r:id="rId17"/>
    <p:sldId id="318" r:id="rId18"/>
    <p:sldId id="332" r:id="rId19"/>
    <p:sldId id="334" r:id="rId20"/>
    <p:sldId id="335" r:id="rId21"/>
    <p:sldId id="323" r:id="rId22"/>
    <p:sldId id="328" r:id="rId23"/>
    <p:sldId id="327" r:id="rId24"/>
    <p:sldId id="32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8"/>
    <p:restoredTop sz="92944" autoAdjust="0"/>
  </p:normalViewPr>
  <p:slideViewPr>
    <p:cSldViewPr snapToGrid="0" snapToObjects="1">
      <p:cViewPr varScale="1">
        <p:scale>
          <a:sx n="69" d="100"/>
          <a:sy n="69" d="100"/>
        </p:scale>
        <p:origin x="10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59AF1-813F-0445-B1FB-86B77D94D98E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78384-6AAA-0A48-A2E9-CB4562A52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1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AF669-ACFE-D942-AAF4-46B993C76BA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331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13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1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80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60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06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7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45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0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19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8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51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5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43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78384-6AAA-0A48-A2E9-CB4562A52E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4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3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1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7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6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0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5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2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3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E316E-B748-1744-A085-17D24E381026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7354C-152B-0042-9C47-F2793FA44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89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6.png"/><Relationship Id="rId3" Type="http://schemas.openxmlformats.org/officeDocument/2006/relationships/image" Target="../media/image15.emf"/><Relationship Id="rId7" Type="http://schemas.openxmlformats.org/officeDocument/2006/relationships/image" Target="../media/image20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7.png"/><Relationship Id="rId5" Type="http://schemas.openxmlformats.org/officeDocument/2006/relationships/image" Target="../media/image3.emf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5.png"/><Relationship Id="rId3" Type="http://schemas.openxmlformats.org/officeDocument/2006/relationships/image" Target="../media/image15.emf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7.png"/><Relationship Id="rId5" Type="http://schemas.openxmlformats.org/officeDocument/2006/relationships/image" Target="../media/image3.emf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emf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image" Target="../media/image29.png"/><Relationship Id="rId4" Type="http://schemas.openxmlformats.org/officeDocument/2006/relationships/image" Target="../media/image30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3" Type="http://schemas.openxmlformats.org/officeDocument/2006/relationships/image" Target="../media/image36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5" Type="http://schemas.openxmlformats.org/officeDocument/2006/relationships/image" Target="../media/image3.emf"/><Relationship Id="rId10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42.png"/><Relationship Id="rId1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33.png"/><Relationship Id="rId3" Type="http://schemas.openxmlformats.org/officeDocument/2006/relationships/image" Target="../media/image38.jpe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33.png"/><Relationship Id="rId3" Type="http://schemas.openxmlformats.org/officeDocument/2006/relationships/image" Target="../media/image40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16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14.png"/><Relationship Id="rId9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.emf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54.png"/><Relationship Id="rId4" Type="http://schemas.openxmlformats.org/officeDocument/2006/relationships/image" Target="../media/image15.emf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55.png"/><Relationship Id="rId21" Type="http://schemas.openxmlformats.org/officeDocument/2006/relationships/image" Target="../media/image62.png"/><Relationship Id="rId12" Type="http://schemas.openxmlformats.org/officeDocument/2006/relationships/image" Target="../media/image61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0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.png"/><Relationship Id="rId15" Type="http://schemas.openxmlformats.org/officeDocument/2006/relationships/image" Target="../media/image54.png"/><Relationship Id="rId1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4.png"/><Relationship Id="rId5" Type="http://schemas.openxmlformats.org/officeDocument/2006/relationships/image" Target="../media/image41.png"/><Relationship Id="rId10" Type="http://schemas.openxmlformats.org/officeDocument/2006/relationships/image" Target="../media/image56.png"/><Relationship Id="rId4" Type="http://schemas.openxmlformats.org/officeDocument/2006/relationships/image" Target="../media/image40.png"/><Relationship Id="rId9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7.png"/><Relationship Id="rId5" Type="http://schemas.openxmlformats.org/officeDocument/2006/relationships/image" Target="../media/image41.png"/><Relationship Id="rId10" Type="http://schemas.openxmlformats.org/officeDocument/2006/relationships/image" Target="../media/image56.png"/><Relationship Id="rId4" Type="http://schemas.openxmlformats.org/officeDocument/2006/relationships/image" Target="../media/image40.png"/><Relationship Id="rId9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emf"/><Relationship Id="rId5" Type="http://schemas.openxmlformats.org/officeDocument/2006/relationships/image" Target="../media/image3.emf"/><Relationship Id="rId4" Type="http://schemas.openxmlformats.org/officeDocument/2006/relationships/image" Target="../media/image67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70.png"/><Relationship Id="rId7" Type="http://schemas.openxmlformats.org/officeDocument/2006/relationships/image" Target="../media/image7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8.png"/><Relationship Id="rId4" Type="http://schemas.openxmlformats.org/officeDocument/2006/relationships/image" Target="../media/image6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image" Target="../media/image750.png"/><Relationship Id="rId4" Type="http://schemas.openxmlformats.org/officeDocument/2006/relationships/image" Target="../media/image74.png"/><Relationship Id="rId9" Type="http://schemas.openxmlformats.org/officeDocument/2006/relationships/image" Target="../media/image7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F1B502C-B4A1-564D-BFAD-ECFD17C92B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741488"/>
            <a:ext cx="7772400" cy="1111250"/>
          </a:xfrm>
        </p:spPr>
        <p:txBody>
          <a:bodyPr/>
          <a:lstStyle/>
          <a:p>
            <a:pPr eaLnBrk="1" hangingPunct="1"/>
            <a:r>
              <a:rPr lang="en-GB" altLang="en-US" b="1">
                <a:solidFill>
                  <a:srgbClr val="0066FF"/>
                </a:solidFill>
              </a:rPr>
              <a:t>Power Electronics</a:t>
            </a:r>
          </a:p>
        </p:txBody>
      </p:sp>
      <p:sp>
        <p:nvSpPr>
          <p:cNvPr id="3075" name="Subtitle 2">
            <a:extLst>
              <a:ext uri="{FF2B5EF4-FFF2-40B4-BE49-F238E27FC236}">
                <a16:creationId xmlns:a16="http://schemas.microsoft.com/office/drawing/2014/main" id="{D06D2ED2-EC67-7248-AF25-4CA45054E0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9388" y="2852739"/>
            <a:ext cx="8713787" cy="130728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rgbClr val="FF0000"/>
                </a:solidFill>
              </a:rPr>
              <a:t>DC-AC Converters (Inverters)</a:t>
            </a:r>
          </a:p>
          <a:p>
            <a:r>
              <a:rPr lang="ja-JP" altLang="en-US" sz="3600" b="1">
                <a:solidFill>
                  <a:srgbClr val="FF0000"/>
                </a:solidFill>
              </a:rPr>
              <a:t>逆变器</a:t>
            </a:r>
            <a:endParaRPr lang="en-GB" altLang="en-US" sz="3600" b="1" dirty="0">
              <a:solidFill>
                <a:srgbClr val="FF0000"/>
              </a:solidFill>
            </a:endParaRPr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9CD9EE9E-BAFC-C54E-9B39-5D041AB7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D69D0D-B3EA-3346-8D3D-5EAB83A603F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pic>
        <p:nvPicPr>
          <p:cNvPr id="3077" name="Picture 4" descr="http://www.ranklogos.com/wp-content/uploads/2012/06/university-of-glasgow.gif">
            <a:extLst>
              <a:ext uri="{FF2B5EF4-FFF2-40B4-BE49-F238E27FC236}">
                <a16:creationId xmlns:a16="http://schemas.microsoft.com/office/drawing/2014/main" id="{2BD010EB-7DC6-3C48-9AA2-CF362429C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52400"/>
            <a:ext cx="3529012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Box 2">
            <a:extLst>
              <a:ext uri="{FF2B5EF4-FFF2-40B4-BE49-F238E27FC236}">
                <a16:creationId xmlns:a16="http://schemas.microsoft.com/office/drawing/2014/main" id="{1AC343B6-D271-4148-8991-CB73C14FE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243" y="5463652"/>
            <a:ext cx="6767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dirty="0"/>
              <a:t>Please read </a:t>
            </a:r>
            <a:r>
              <a:rPr lang="en-GB" altLang="en-US" sz="2800" dirty="0">
                <a:solidFill>
                  <a:srgbClr val="0000FF"/>
                </a:solidFill>
              </a:rPr>
              <a:t>Chapter </a:t>
            </a:r>
            <a:r>
              <a:rPr lang="en-US" altLang="en-US" sz="2800" dirty="0">
                <a:solidFill>
                  <a:srgbClr val="0000FF"/>
                </a:solidFill>
                <a:ea typeface="宋体" panose="02010600030101010101" pitchFamily="2" charset="-122"/>
              </a:rPr>
              <a:t>8</a:t>
            </a:r>
            <a:r>
              <a:rPr lang="en-GB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in</a:t>
            </a:r>
            <a:r>
              <a:rPr lang="en-GB" altLang="en-US" sz="2800" dirty="0"/>
              <a:t> the textbook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80C26-1BEB-484F-9A68-BC39F219BF4F}"/>
              </a:ext>
            </a:extLst>
          </p:cNvPr>
          <p:cNvSpPr txBox="1"/>
          <p:nvPr/>
        </p:nvSpPr>
        <p:spPr>
          <a:xfrm>
            <a:off x="3244381" y="4488670"/>
            <a:ext cx="2440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Dr Atif Jafri</a:t>
            </a:r>
          </a:p>
          <a:p>
            <a:pPr algn="ctr"/>
            <a:r>
              <a:rPr lang="en-US" dirty="0" err="1"/>
              <a:t>Atif.Jafri@glasgow.ac.uk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A7EB-20D9-86F0-BDC2-E486D731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00" y="114025"/>
            <a:ext cx="7886700" cy="1325563"/>
          </a:xfrm>
        </p:spPr>
        <p:txBody>
          <a:bodyPr/>
          <a:lstStyle/>
          <a:p>
            <a:r>
              <a:rPr lang="en-US" dirty="0"/>
              <a:t>Scheme of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165E-0A96-8A11-605E-35E09228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Fundamental</a:t>
            </a:r>
          </a:p>
          <a:p>
            <a:r>
              <a:rPr lang="en-US" dirty="0"/>
              <a:t>Types of Inverters</a:t>
            </a:r>
          </a:p>
          <a:p>
            <a:r>
              <a:rPr lang="en-US" dirty="0"/>
              <a:t>Half-bridge Inverter</a:t>
            </a:r>
          </a:p>
          <a:p>
            <a:pPr marL="742950" lvl="1" indent="-285750"/>
            <a:r>
              <a:rPr lang="en-US" dirty="0"/>
              <a:t>Ideal Circuit Diagram</a:t>
            </a:r>
          </a:p>
          <a:p>
            <a:pPr marL="742950" lvl="1" indent="-285750"/>
            <a:r>
              <a:rPr lang="en-US" dirty="0"/>
              <a:t>Operation</a:t>
            </a:r>
          </a:p>
          <a:p>
            <a:pPr marL="742950" lvl="1" indent="-285750"/>
            <a:r>
              <a:rPr lang="en-US" dirty="0"/>
              <a:t>Output Waveform</a:t>
            </a:r>
          </a:p>
          <a:p>
            <a:pPr marL="742950" lvl="1" indent="-285750"/>
            <a:r>
              <a:rPr lang="en-US" dirty="0"/>
              <a:t>Harmonics</a:t>
            </a:r>
          </a:p>
          <a:p>
            <a:pPr marL="742950" lvl="1" indent="-285750"/>
            <a:r>
              <a:rPr lang="en-US" dirty="0"/>
              <a:t>Practical Circuit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Avoiding shoot through</a:t>
            </a:r>
          </a:p>
          <a:p>
            <a:pPr marL="0" indent="0">
              <a:buNone/>
            </a:pP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68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E79C-7635-024B-98AB-943F7FD1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D2E46-331A-0A41-9B1E-2620A8D20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DC-AC Converters are known as inverters </a:t>
            </a:r>
          </a:p>
          <a:p>
            <a:r>
              <a:rPr lang="en-GB" dirty="0"/>
              <a:t>Role is to convert a DC signal to AC </a:t>
            </a:r>
          </a:p>
          <a:p>
            <a:r>
              <a:rPr lang="en-GB" dirty="0"/>
              <a:t>Ideally, output should be sinusoidal.</a:t>
            </a:r>
          </a:p>
          <a:p>
            <a:r>
              <a:rPr lang="en-GB" dirty="0"/>
              <a:t>In reality, these are non-sinusoidal and contain harmonics </a:t>
            </a:r>
          </a:p>
          <a:p>
            <a:r>
              <a:rPr lang="en-GB" dirty="0"/>
              <a:t>This is fine for low and medium power applications </a:t>
            </a:r>
          </a:p>
          <a:p>
            <a:r>
              <a:rPr lang="en-GB" dirty="0"/>
              <a:t>Divided into two main types</a:t>
            </a:r>
          </a:p>
          <a:p>
            <a:pPr lvl="1"/>
            <a:r>
              <a:rPr lang="en-GB" dirty="0"/>
              <a:t>Single Phase </a:t>
            </a:r>
          </a:p>
          <a:p>
            <a:pPr lvl="1"/>
            <a:r>
              <a:rPr lang="en-GB" dirty="0"/>
              <a:t>Three Phase </a:t>
            </a:r>
          </a:p>
          <a:p>
            <a:r>
              <a:rPr lang="en-GB" dirty="0"/>
              <a:t>Semiconductor devices typically used</a:t>
            </a:r>
          </a:p>
          <a:p>
            <a:r>
              <a:rPr lang="en-GB" dirty="0"/>
              <a:t>The basic building block is the ‘Bridge’ circuit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7CBBF7-2918-7444-8AB1-FDBB10BB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646" y="506546"/>
            <a:ext cx="4602634" cy="1042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6CD66B-57FA-D94A-85F6-06AE8C4034E0}"/>
              </a:ext>
            </a:extLst>
          </p:cNvPr>
          <p:cNvSpPr txBox="1"/>
          <p:nvPr/>
        </p:nvSpPr>
        <p:spPr>
          <a:xfrm>
            <a:off x="6123073" y="6545433"/>
            <a:ext cx="29706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https://</a:t>
            </a:r>
            <a:r>
              <a:rPr lang="en-GB" sz="1050" dirty="0" err="1"/>
              <a:t>www.youtube.com</a:t>
            </a:r>
            <a:r>
              <a:rPr lang="en-GB" sz="1050" dirty="0"/>
              <a:t>/</a:t>
            </a:r>
            <a:r>
              <a:rPr lang="en-GB" sz="1050" dirty="0" err="1"/>
              <a:t>watch?v</a:t>
            </a:r>
            <a:r>
              <a:rPr lang="en-GB" sz="1050" dirty="0"/>
              <a:t>=qVeERT4nyz8</a:t>
            </a:r>
          </a:p>
        </p:txBody>
      </p:sp>
    </p:spTree>
    <p:extLst>
      <p:ext uri="{BB962C8B-B14F-4D97-AF65-F5344CB8AC3E}">
        <p14:creationId xmlns:p14="http://schemas.microsoft.com/office/powerpoint/2010/main" val="281953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4" y="202468"/>
            <a:ext cx="7886700" cy="784053"/>
          </a:xfrm>
        </p:spPr>
        <p:txBody>
          <a:bodyPr/>
          <a:lstStyle/>
          <a:p>
            <a:r>
              <a:rPr lang="en-US" b="1" dirty="0"/>
              <a:t>Inverter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FDF3D-DC39-4F6B-6B35-06FE3BAA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46" y="1910479"/>
            <a:ext cx="2316724" cy="2738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31583-534B-B430-F1C9-F90B1A1ACD26}"/>
              </a:ext>
            </a:extLst>
          </p:cNvPr>
          <p:cNvSpPr txBox="1"/>
          <p:nvPr/>
        </p:nvSpPr>
        <p:spPr>
          <a:xfrm>
            <a:off x="628650" y="5053913"/>
            <a:ext cx="2666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Half Bridge Inverter (Ideal)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AD06B-01A8-12FE-A502-D70CCC06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228" y="1511690"/>
            <a:ext cx="4068608" cy="3166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048724-1E38-20DC-4F7A-364F7093594F}"/>
              </a:ext>
            </a:extLst>
          </p:cNvPr>
          <p:cNvSpPr txBox="1"/>
          <p:nvPr/>
        </p:nvSpPr>
        <p:spPr>
          <a:xfrm>
            <a:off x="4515121" y="5053913"/>
            <a:ext cx="2621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Full Bridge Inverter (Ideal)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F5E854-5ABC-0141-C1B6-52F7ACBD05DC}"/>
              </a:ext>
            </a:extLst>
          </p:cNvPr>
          <p:cNvSpPr txBox="1">
            <a:spLocks/>
          </p:cNvSpPr>
          <p:nvPr/>
        </p:nvSpPr>
        <p:spPr>
          <a:xfrm>
            <a:off x="571771" y="869633"/>
            <a:ext cx="7886700" cy="56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- </a:t>
            </a:r>
            <a:r>
              <a:rPr lang="en-US" sz="3200" b="1" dirty="0"/>
              <a:t>Half and Full Bridge</a:t>
            </a:r>
          </a:p>
        </p:txBody>
      </p:sp>
    </p:spTree>
    <p:extLst>
      <p:ext uri="{BB962C8B-B14F-4D97-AF65-F5344CB8AC3E}">
        <p14:creationId xmlns:p14="http://schemas.microsoft.com/office/powerpoint/2010/main" val="138905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0E2679-4602-78B3-AB84-EB626D48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4" y="202468"/>
            <a:ext cx="7886700" cy="784053"/>
          </a:xfrm>
        </p:spPr>
        <p:txBody>
          <a:bodyPr/>
          <a:lstStyle/>
          <a:p>
            <a:r>
              <a:rPr lang="en-US" b="1" dirty="0"/>
              <a:t>Inverter Types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E928F3-1150-F107-D169-FF9F3185C50A}"/>
              </a:ext>
            </a:extLst>
          </p:cNvPr>
          <p:cNvSpPr txBox="1">
            <a:spLocks/>
          </p:cNvSpPr>
          <p:nvPr/>
        </p:nvSpPr>
        <p:spPr>
          <a:xfrm>
            <a:off x="571771" y="837706"/>
            <a:ext cx="7886700" cy="56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3-Leg (For 3-phase inverter)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D22822-8FE4-2B3E-C4CC-EEB232EF5676}"/>
              </a:ext>
            </a:extLst>
          </p:cNvPr>
          <p:cNvGrpSpPr/>
          <p:nvPr/>
        </p:nvGrpSpPr>
        <p:grpSpPr>
          <a:xfrm>
            <a:off x="1339381" y="1904196"/>
            <a:ext cx="6465237" cy="2777080"/>
            <a:chOff x="1339381" y="1904196"/>
            <a:chExt cx="6465237" cy="27770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3381AD-DA88-98EE-DA5D-22B9DF7BB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9381" y="1904196"/>
              <a:ext cx="6465237" cy="277708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321C438-2E59-27EC-584B-482C82666621}"/>
                    </a:ext>
                  </a:extLst>
                </p:cNvPr>
                <p:cNvSpPr txBox="1"/>
                <p:nvPr/>
              </p:nvSpPr>
              <p:spPr>
                <a:xfrm>
                  <a:off x="2899455" y="2462593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321C438-2E59-27EC-584B-482C82666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455" y="2462593"/>
                  <a:ext cx="54979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CABB08-D194-F416-BC23-2FD21DF46E36}"/>
                    </a:ext>
                  </a:extLst>
                </p:cNvPr>
                <p:cNvSpPr txBox="1"/>
                <p:nvPr/>
              </p:nvSpPr>
              <p:spPr>
                <a:xfrm>
                  <a:off x="2899455" y="3841410"/>
                  <a:ext cx="549797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oMath>
                    </m:oMathPara>
                  </a14:m>
                  <a:endParaRPr lang="en-GB" b="1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CABB08-D194-F416-BC23-2FD21DF46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455" y="3841410"/>
                  <a:ext cx="549797" cy="646331"/>
                </a:xfrm>
                <a:prstGeom prst="rect">
                  <a:avLst/>
                </a:prstGeom>
                <a:blipFill>
                  <a:blip r:embed="rId4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8540E4D-896E-0E6E-A170-F04A3F693692}"/>
                    </a:ext>
                  </a:extLst>
                </p:cNvPr>
                <p:cNvSpPr txBox="1"/>
                <p:nvPr/>
              </p:nvSpPr>
              <p:spPr>
                <a:xfrm>
                  <a:off x="3830170" y="2451018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8540E4D-896E-0E6E-A170-F04A3F693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170" y="2451018"/>
                  <a:ext cx="54979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7D6E33-0A53-2C43-D469-C17D3EF041EA}"/>
                    </a:ext>
                  </a:extLst>
                </p:cNvPr>
                <p:cNvSpPr txBox="1"/>
                <p:nvPr/>
              </p:nvSpPr>
              <p:spPr>
                <a:xfrm>
                  <a:off x="3830170" y="3841409"/>
                  <a:ext cx="549797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oMath>
                    </m:oMathPara>
                  </a14:m>
                  <a:endParaRPr lang="en-GB" b="1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87D6E33-0A53-2C43-D469-C17D3EF04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0170" y="3841409"/>
                  <a:ext cx="549797" cy="646331"/>
                </a:xfrm>
                <a:prstGeom prst="rect">
                  <a:avLst/>
                </a:prstGeom>
                <a:blipFill>
                  <a:blip r:embed="rId6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A2D090-3B0A-65C3-FF84-4429D55D0551}"/>
                    </a:ext>
                  </a:extLst>
                </p:cNvPr>
                <p:cNvSpPr txBox="1"/>
                <p:nvPr/>
              </p:nvSpPr>
              <p:spPr>
                <a:xfrm>
                  <a:off x="4723355" y="2476093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A2D090-3B0A-65C3-FF84-4429D55D0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3355" y="2476093"/>
                  <a:ext cx="54979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8A2B64-85B1-BFEC-365B-4210CF7C61ED}"/>
                    </a:ext>
                  </a:extLst>
                </p:cNvPr>
                <p:cNvSpPr txBox="1"/>
                <p:nvPr/>
              </p:nvSpPr>
              <p:spPr>
                <a:xfrm>
                  <a:off x="4734427" y="3841408"/>
                  <a:ext cx="549797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oMath>
                    </m:oMathPara>
                  </a14:m>
                  <a:endParaRPr lang="en-GB" b="1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98A2B64-85B1-BFEC-365B-4210CF7C6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4427" y="3841408"/>
                  <a:ext cx="549797" cy="646331"/>
                </a:xfrm>
                <a:prstGeom prst="rect">
                  <a:avLst/>
                </a:prstGeom>
                <a:blipFill>
                  <a:blip r:embed="rId8"/>
                  <a:stretch>
                    <a:fillRect r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5406393-AA28-3197-FF4B-2B5D92FC8613}"/>
              </a:ext>
            </a:extLst>
          </p:cNvPr>
          <p:cNvSpPr txBox="1"/>
          <p:nvPr/>
        </p:nvSpPr>
        <p:spPr>
          <a:xfrm>
            <a:off x="3068999" y="5139466"/>
            <a:ext cx="2142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3-Leg Inverter (Ideal)</a:t>
            </a:r>
          </a:p>
        </p:txBody>
      </p:sp>
    </p:spTree>
    <p:extLst>
      <p:ext uri="{BB962C8B-B14F-4D97-AF65-F5344CB8AC3E}">
        <p14:creationId xmlns:p14="http://schemas.microsoft.com/office/powerpoint/2010/main" val="375436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FC66-CFB2-78E5-77A1-A4F410D9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55" y="265428"/>
            <a:ext cx="7886700" cy="1325563"/>
          </a:xfrm>
        </p:spPr>
        <p:txBody>
          <a:bodyPr/>
          <a:lstStyle/>
          <a:p>
            <a:r>
              <a:rPr lang="en-US" dirty="0"/>
              <a:t>Schemes of Inverters to study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B0F78-3D15-1695-26EA-EAB24B80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234915"/>
              </p:ext>
            </p:extLst>
          </p:nvPr>
        </p:nvGraphicFramePr>
        <p:xfrm>
          <a:off x="523015" y="1590991"/>
          <a:ext cx="8277740" cy="320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601">
                  <a:extLst>
                    <a:ext uri="{9D8B030D-6E8A-4147-A177-3AD203B41FA5}">
                      <a16:colId xmlns:a16="http://schemas.microsoft.com/office/drawing/2014/main" val="377065385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123568636"/>
                    </a:ext>
                  </a:extLst>
                </a:gridCol>
                <a:gridCol w="2741141">
                  <a:extLst>
                    <a:ext uri="{9D8B030D-6E8A-4147-A177-3AD203B41FA5}">
                      <a16:colId xmlns:a16="http://schemas.microsoft.com/office/drawing/2014/main" val="2443411702"/>
                    </a:ext>
                  </a:extLst>
                </a:gridCol>
                <a:gridCol w="3288955">
                  <a:extLst>
                    <a:ext uri="{9D8B030D-6E8A-4147-A177-3AD203B41FA5}">
                      <a16:colId xmlns:a16="http://schemas.microsoft.com/office/drawing/2014/main" val="211384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Switching Schemes</a:t>
                      </a: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Ideal Circuit Diagram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Output Waveform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Harmonics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Practical Circuit Diagram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Avoiding shoot 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30956"/>
                  </a:ext>
                </a:extLst>
              </a:tr>
              <a:tr h="320040">
                <a:tc rowSpan="4">
                  <a:txBody>
                    <a:bodyPr/>
                    <a:lstStyle/>
                    <a:p>
                      <a:r>
                        <a:rPr lang="en-US" dirty="0"/>
                        <a:t>Single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762962"/>
                  </a:ext>
                </a:extLst>
              </a:tr>
              <a:tr h="45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1971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24368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(Bipolar &amp; Unipolar)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363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Three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3-Leg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05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2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FC66-CFB2-78E5-77A1-A4F410D9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55" y="265428"/>
            <a:ext cx="7886700" cy="1325563"/>
          </a:xfrm>
        </p:spPr>
        <p:txBody>
          <a:bodyPr/>
          <a:lstStyle/>
          <a:p>
            <a:r>
              <a:rPr lang="en-US" dirty="0"/>
              <a:t>Schemes of Inverters to study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EB0F78-3D15-1695-26EA-EAB24B80B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109085"/>
              </p:ext>
            </p:extLst>
          </p:nvPr>
        </p:nvGraphicFramePr>
        <p:xfrm>
          <a:off x="523015" y="1590991"/>
          <a:ext cx="8277740" cy="320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601">
                  <a:extLst>
                    <a:ext uri="{9D8B030D-6E8A-4147-A177-3AD203B41FA5}">
                      <a16:colId xmlns:a16="http://schemas.microsoft.com/office/drawing/2014/main" val="3770653852"/>
                    </a:ext>
                  </a:extLst>
                </a:gridCol>
                <a:gridCol w="902043">
                  <a:extLst>
                    <a:ext uri="{9D8B030D-6E8A-4147-A177-3AD203B41FA5}">
                      <a16:colId xmlns:a16="http://schemas.microsoft.com/office/drawing/2014/main" val="3123568636"/>
                    </a:ext>
                  </a:extLst>
                </a:gridCol>
                <a:gridCol w="2741141">
                  <a:extLst>
                    <a:ext uri="{9D8B030D-6E8A-4147-A177-3AD203B41FA5}">
                      <a16:colId xmlns:a16="http://schemas.microsoft.com/office/drawing/2014/main" val="2443411702"/>
                    </a:ext>
                  </a:extLst>
                </a:gridCol>
                <a:gridCol w="3288955">
                  <a:extLst>
                    <a:ext uri="{9D8B030D-6E8A-4147-A177-3AD203B41FA5}">
                      <a16:colId xmlns:a16="http://schemas.microsoft.com/office/drawing/2014/main" val="2113842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Phase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Switching Schemes</a:t>
                      </a: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Operation in different switching schemes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Output Waveform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Harmonics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Practical Circuit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Avoiding shoot through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30956"/>
                  </a:ext>
                </a:extLst>
              </a:tr>
              <a:tr h="320040">
                <a:tc rowSpan="4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Single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Half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762962"/>
                  </a:ext>
                </a:extLst>
              </a:tr>
              <a:tr h="45307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1971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24368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(Bipolar &amp; Unipolar)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3632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Three Phase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3-Leg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Square Wave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8905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Pules Width Modulation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08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84" y="63131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FDF3D-DC39-4F6B-6B35-06FE3BAA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70" y="1927917"/>
            <a:ext cx="2316724" cy="27382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431583-534B-B430-F1C9-F90B1A1ACD26}"/>
              </a:ext>
            </a:extLst>
          </p:cNvPr>
          <p:cNvSpPr txBox="1"/>
          <p:nvPr/>
        </p:nvSpPr>
        <p:spPr>
          <a:xfrm>
            <a:off x="3238590" y="1517501"/>
            <a:ext cx="2666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Half Bridge Inverter (Ideal)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1367F-07DB-D26C-F55F-0FF5B54B5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868" y="1908022"/>
            <a:ext cx="2316724" cy="2738292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62FF0EB5-A72E-1BCB-6024-5AB7EBBF7DC1}"/>
              </a:ext>
            </a:extLst>
          </p:cNvPr>
          <p:cNvSpPr/>
          <p:nvPr/>
        </p:nvSpPr>
        <p:spPr>
          <a:xfrm rot="14388781">
            <a:off x="1881953" y="2325695"/>
            <a:ext cx="706862" cy="703071"/>
          </a:xfrm>
          <a:custGeom>
            <a:avLst/>
            <a:gdLst>
              <a:gd name="connsiteX0" fmla="*/ 753784 w 905250"/>
              <a:gd name="connsiteY0" fmla="*/ 0 h 753999"/>
              <a:gd name="connsiteX1" fmla="*/ 877352 w 905250"/>
              <a:gd name="connsiteY1" fmla="*/ 518984 h 753999"/>
              <a:gd name="connsiteX2" fmla="*/ 284227 w 905250"/>
              <a:gd name="connsiteY2" fmla="*/ 753762 h 753999"/>
              <a:gd name="connsiteX3" fmla="*/ 22 w 905250"/>
              <a:gd name="connsiteY3" fmla="*/ 481914 h 753999"/>
              <a:gd name="connsiteX4" fmla="*/ 296584 w 905250"/>
              <a:gd name="connsiteY4" fmla="*/ 98854 h 753999"/>
              <a:gd name="connsiteX5" fmla="*/ 296584 w 905250"/>
              <a:gd name="connsiteY5" fmla="*/ 98854 h 75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250" h="753999">
                <a:moveTo>
                  <a:pt x="753784" y="0"/>
                </a:moveTo>
                <a:cubicBezTo>
                  <a:pt x="854697" y="196678"/>
                  <a:pt x="955611" y="393357"/>
                  <a:pt x="877352" y="518984"/>
                </a:cubicBezTo>
                <a:cubicBezTo>
                  <a:pt x="799093" y="644611"/>
                  <a:pt x="430449" y="759940"/>
                  <a:pt x="284227" y="753762"/>
                </a:cubicBezTo>
                <a:cubicBezTo>
                  <a:pt x="138005" y="747584"/>
                  <a:pt x="-2038" y="591065"/>
                  <a:pt x="22" y="481914"/>
                </a:cubicBezTo>
                <a:cubicBezTo>
                  <a:pt x="2081" y="372763"/>
                  <a:pt x="296584" y="98854"/>
                  <a:pt x="296584" y="98854"/>
                </a:cubicBezTo>
                <a:lnTo>
                  <a:pt x="296584" y="98854"/>
                </a:lnTo>
              </a:path>
            </a:pathLst>
          </a:custGeom>
          <a:noFill/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F3326B8-DC0F-08CE-2C2E-61B2F23E84D0}"/>
              </a:ext>
            </a:extLst>
          </p:cNvPr>
          <p:cNvSpPr/>
          <p:nvPr/>
        </p:nvSpPr>
        <p:spPr>
          <a:xfrm rot="2704593">
            <a:off x="5826621" y="3451042"/>
            <a:ext cx="706862" cy="565723"/>
          </a:xfrm>
          <a:custGeom>
            <a:avLst/>
            <a:gdLst>
              <a:gd name="connsiteX0" fmla="*/ 753784 w 905250"/>
              <a:gd name="connsiteY0" fmla="*/ 0 h 753999"/>
              <a:gd name="connsiteX1" fmla="*/ 877352 w 905250"/>
              <a:gd name="connsiteY1" fmla="*/ 518984 h 753999"/>
              <a:gd name="connsiteX2" fmla="*/ 284227 w 905250"/>
              <a:gd name="connsiteY2" fmla="*/ 753762 h 753999"/>
              <a:gd name="connsiteX3" fmla="*/ 22 w 905250"/>
              <a:gd name="connsiteY3" fmla="*/ 481914 h 753999"/>
              <a:gd name="connsiteX4" fmla="*/ 296584 w 905250"/>
              <a:gd name="connsiteY4" fmla="*/ 98854 h 753999"/>
              <a:gd name="connsiteX5" fmla="*/ 296584 w 905250"/>
              <a:gd name="connsiteY5" fmla="*/ 98854 h 75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250" h="753999">
                <a:moveTo>
                  <a:pt x="753784" y="0"/>
                </a:moveTo>
                <a:cubicBezTo>
                  <a:pt x="854697" y="196678"/>
                  <a:pt x="955611" y="393357"/>
                  <a:pt x="877352" y="518984"/>
                </a:cubicBezTo>
                <a:cubicBezTo>
                  <a:pt x="799093" y="644611"/>
                  <a:pt x="430449" y="759940"/>
                  <a:pt x="284227" y="753762"/>
                </a:cubicBezTo>
                <a:cubicBezTo>
                  <a:pt x="138005" y="747584"/>
                  <a:pt x="-2038" y="591065"/>
                  <a:pt x="22" y="481914"/>
                </a:cubicBezTo>
                <a:cubicBezTo>
                  <a:pt x="2081" y="372763"/>
                  <a:pt x="296584" y="98854"/>
                  <a:pt x="296584" y="98854"/>
                </a:cubicBezTo>
                <a:lnTo>
                  <a:pt x="296584" y="98854"/>
                </a:lnTo>
              </a:path>
            </a:pathLst>
          </a:custGeom>
          <a:noFill/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E4E2D-D8D5-FEDF-B2D9-9A77FB9C3C8D}"/>
              </a:ext>
            </a:extLst>
          </p:cNvPr>
          <p:cNvSpPr txBox="1"/>
          <p:nvPr/>
        </p:nvSpPr>
        <p:spPr>
          <a:xfrm>
            <a:off x="3370768" y="227873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Closed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DAE81-7773-33E3-DF41-598F9CCD3E56}"/>
              </a:ext>
            </a:extLst>
          </p:cNvPr>
          <p:cNvSpPr txBox="1"/>
          <p:nvPr/>
        </p:nvSpPr>
        <p:spPr>
          <a:xfrm>
            <a:off x="7386821" y="387207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Closed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93553-973D-74DB-EB9A-E602D98D1F17}"/>
              </a:ext>
            </a:extLst>
          </p:cNvPr>
          <p:cNvSpPr txBox="1"/>
          <p:nvPr/>
        </p:nvSpPr>
        <p:spPr>
          <a:xfrm>
            <a:off x="7386820" y="2278731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Open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65E35-A1BB-F76F-35FC-C4242E01AD8D}"/>
              </a:ext>
            </a:extLst>
          </p:cNvPr>
          <p:cNvSpPr txBox="1"/>
          <p:nvPr/>
        </p:nvSpPr>
        <p:spPr>
          <a:xfrm>
            <a:off x="3427674" y="390056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Open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628650" y="803314"/>
            <a:ext cx="7886700" cy="56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- Square Wave Switching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02B1EE-9446-77F3-0050-0F2285A8E152}"/>
              </a:ext>
            </a:extLst>
          </p:cNvPr>
          <p:cNvGrpSpPr/>
          <p:nvPr/>
        </p:nvGrpSpPr>
        <p:grpSpPr>
          <a:xfrm>
            <a:off x="2730099" y="2219295"/>
            <a:ext cx="308919" cy="530105"/>
            <a:chOff x="2376137" y="2245847"/>
            <a:chExt cx="308919" cy="48191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65239F9-FE80-1763-B0D0-E4278701D0BE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3DD113-30CE-9EBA-CC8E-BED3F68385D6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DD538E-DB95-6546-0438-B36EF0C2500F}"/>
              </a:ext>
            </a:extLst>
          </p:cNvPr>
          <p:cNvGrpSpPr/>
          <p:nvPr/>
        </p:nvGrpSpPr>
        <p:grpSpPr>
          <a:xfrm>
            <a:off x="6711921" y="3778600"/>
            <a:ext cx="308919" cy="530105"/>
            <a:chOff x="2376137" y="2221752"/>
            <a:chExt cx="308919" cy="53010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35BDE9-7A69-2632-4530-0AD710379A39}"/>
                </a:ext>
              </a:extLst>
            </p:cNvPr>
            <p:cNvSpPr/>
            <p:nvPr/>
          </p:nvSpPr>
          <p:spPr>
            <a:xfrm>
              <a:off x="2376137" y="2245847"/>
              <a:ext cx="308919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E8BABD-665A-36F2-3E23-56B6BFA89ED3}"/>
                </a:ext>
              </a:extLst>
            </p:cNvPr>
            <p:cNvCxnSpPr>
              <a:cxnSpLocks/>
            </p:cNvCxnSpPr>
            <p:nvPr/>
          </p:nvCxnSpPr>
          <p:spPr>
            <a:xfrm>
              <a:off x="2521453" y="2221752"/>
              <a:ext cx="0" cy="5301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921285-8075-5C2B-B775-A708EABA4180}"/>
              </a:ext>
            </a:extLst>
          </p:cNvPr>
          <p:cNvGrpSpPr/>
          <p:nvPr/>
        </p:nvGrpSpPr>
        <p:grpSpPr>
          <a:xfrm>
            <a:off x="2141742" y="4971938"/>
            <a:ext cx="4715495" cy="1339138"/>
            <a:chOff x="2305345" y="4284819"/>
            <a:chExt cx="4715495" cy="133913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CC866BF-E0B6-D7B7-7D93-D373CC495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5345" y="4284819"/>
              <a:ext cx="4715495" cy="118309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2DEFC3A-76FD-28D2-A271-36B85388F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5973" y="4601550"/>
              <a:ext cx="188925" cy="23090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F99C3D4-062C-2E2F-3F63-C5A201005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1225" y="5393048"/>
              <a:ext cx="188925" cy="230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82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5741" y="486135"/>
                <a:ext cx="8358064" cy="383122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buFontTx/>
                  <a:buChar char="-"/>
                </a:pPr>
                <a:r>
                  <a:rPr lang="en-US" sz="3200" b="1" dirty="0"/>
                  <a:t>Pulse Width Modulation (PWM) Switching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400" dirty="0"/>
                  <a:t>Is a type of switching technique.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400" dirty="0"/>
                  <a:t>Use two signals called </a:t>
                </a:r>
                <a:endParaRPr lang="en-GB" sz="2400" b="1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1371600" lvl="2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r>
                  <a:rPr lang="en-US" sz="2400" dirty="0"/>
                  <a:t> (Triangular Signal)</a:t>
                </a:r>
              </a:p>
              <a:p>
                <a:pPr marL="1828800" lvl="3" indent="-457200">
                  <a:buFontTx/>
                  <a:buChar char="-"/>
                </a:pPr>
                <a:r>
                  <a:rPr lang="en-US" sz="2400" dirty="0"/>
                  <a:t>Has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dirty="0"/>
                  <a:t> (called switching frequency)</a:t>
                </a:r>
              </a:p>
              <a:p>
                <a:pPr marL="1371600" lvl="2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𝒄𝒐𝒏𝒕𝒓𝒐𝒍</m:t>
                        </m:r>
                      </m:sub>
                    </m:sSub>
                  </m:oMath>
                </a14:m>
                <a:r>
                  <a:rPr lang="en-US" sz="2400" dirty="0"/>
                  <a:t> (Control Signal)</a:t>
                </a:r>
              </a:p>
              <a:p>
                <a:pPr marL="1828800" lvl="3" indent="-457200">
                  <a:buFontTx/>
                  <a:buChar char="-"/>
                </a:pPr>
                <a:r>
                  <a:rPr lang="en-US" sz="2400" dirty="0"/>
                  <a:t>Has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GB" sz="24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dirty="0"/>
                  <a:t> (desired fundamental frequency)</a:t>
                </a:r>
              </a:p>
              <a:p>
                <a:pPr marL="1828800" lvl="3" indent="-457200">
                  <a:buFontTx/>
                  <a:buChar char="-"/>
                </a:pPr>
                <a:endParaRPr lang="en-US" sz="2400" dirty="0"/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1" y="486135"/>
                <a:ext cx="8358064" cy="3831221"/>
              </a:xfrm>
              <a:prstGeom prst="rect">
                <a:avLst/>
              </a:prstGeom>
              <a:blipFill>
                <a:blip r:embed="rId3"/>
                <a:stretch>
                  <a:fillRect l="-1973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7F00807-A0B3-2EBF-9F4C-6C0CB5B3C134}"/>
              </a:ext>
            </a:extLst>
          </p:cNvPr>
          <p:cNvGrpSpPr/>
          <p:nvPr/>
        </p:nvGrpSpPr>
        <p:grpSpPr>
          <a:xfrm>
            <a:off x="1637445" y="3949693"/>
            <a:ext cx="5869109" cy="2422172"/>
            <a:chOff x="1637445" y="3949693"/>
            <a:chExt cx="5869109" cy="24221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11B1E9-773A-7E46-D181-DBB818017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7445" y="3949693"/>
              <a:ext cx="5869109" cy="2422172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B13C8-17D0-3C08-2AAB-0F20B9C943DF}"/>
                </a:ext>
              </a:extLst>
            </p:cNvPr>
            <p:cNvSpPr/>
            <p:nvPr/>
          </p:nvSpPr>
          <p:spPr>
            <a:xfrm>
              <a:off x="2890684" y="5189033"/>
              <a:ext cx="108155" cy="1150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34D59D-AA9F-2661-2011-66FB9707A58E}"/>
                </a:ext>
              </a:extLst>
            </p:cNvPr>
            <p:cNvSpPr/>
            <p:nvPr/>
          </p:nvSpPr>
          <p:spPr>
            <a:xfrm>
              <a:off x="3210232" y="5220929"/>
              <a:ext cx="108155" cy="11509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F0C4CB-0118-648B-6361-E90FF923A8D4}"/>
                </a:ext>
              </a:extLst>
            </p:cNvPr>
            <p:cNvSpPr/>
            <p:nvPr/>
          </p:nvSpPr>
          <p:spPr>
            <a:xfrm>
              <a:off x="2914236" y="4848789"/>
              <a:ext cx="61051" cy="2755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DD7EE7-26D3-8E01-1071-95E3C11A346E}"/>
                </a:ext>
              </a:extLst>
            </p:cNvPr>
            <p:cNvSpPr/>
            <p:nvPr/>
          </p:nvSpPr>
          <p:spPr>
            <a:xfrm>
              <a:off x="3246704" y="4859421"/>
              <a:ext cx="61051" cy="2755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28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51AA102-64AE-4676-B308-56EA4381E79B}"/>
              </a:ext>
            </a:extLst>
          </p:cNvPr>
          <p:cNvGrpSpPr/>
          <p:nvPr/>
        </p:nvGrpSpPr>
        <p:grpSpPr>
          <a:xfrm>
            <a:off x="1242496" y="2750376"/>
            <a:ext cx="4394200" cy="3213100"/>
            <a:chOff x="1242496" y="2750376"/>
            <a:chExt cx="4394200" cy="32131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DA8637C-62A7-B6FD-32DE-F6718952F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2496" y="2750376"/>
              <a:ext cx="4394200" cy="3213100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5DA523C-1FB9-ED3E-3636-C66B99DB57B3}"/>
                </a:ext>
              </a:extLst>
            </p:cNvPr>
            <p:cNvSpPr/>
            <p:nvPr/>
          </p:nvSpPr>
          <p:spPr>
            <a:xfrm>
              <a:off x="5072934" y="4631737"/>
              <a:ext cx="230586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A46449-BA52-C244-01CF-47E19ADA4E2E}"/>
                </a:ext>
              </a:extLst>
            </p:cNvPr>
            <p:cNvSpPr/>
            <p:nvPr/>
          </p:nvSpPr>
          <p:spPr>
            <a:xfrm>
              <a:off x="4998196" y="5308416"/>
              <a:ext cx="306911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488" y="744286"/>
                <a:ext cx="8358064" cy="23265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buFontTx/>
                  <a:buChar char="-"/>
                </a:pPr>
                <a:r>
                  <a:rPr lang="en-US" sz="2800" b="1" dirty="0"/>
                  <a:t>Pulse Width Modulation (PWM) Switching</a:t>
                </a:r>
              </a:p>
              <a:p>
                <a:pPr marL="914400" lvl="1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000" b="1" i="1"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r>
                  <a:rPr lang="en-US" sz="2000" dirty="0"/>
                  <a:t> (Triangular Signal) is compared with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𝒄𝒐𝒏𝒕𝒓𝒐𝒍</m:t>
                        </m:r>
                      </m:sub>
                    </m:sSub>
                  </m:oMath>
                </a14:m>
                <a:r>
                  <a:rPr lang="en-US" sz="2000" dirty="0"/>
                  <a:t> (Control Signal)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000" dirty="0"/>
                  <a:t>Based on comparison result different switches are made closed (ON) and open (OFF)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000" dirty="0"/>
                  <a:t>Output voltage swings between </a:t>
                </a:r>
                <a:r>
                  <a:rPr lang="en-GB" sz="2000" dirty="0"/>
                  <a:t>positive</a:t>
                </a:r>
                <a:r>
                  <a:rPr lang="en-GB" sz="2000" dirty="0">
                    <a:solidFill>
                      <a:schemeClr val="tx1"/>
                    </a:solidFill>
                  </a:rPr>
                  <a:t> and negative voltages</a:t>
                </a:r>
                <a:endParaRPr lang="en-US" sz="2000" dirty="0"/>
              </a:p>
              <a:p>
                <a:pPr marL="1828800" lvl="3" indent="-457200">
                  <a:buFontTx/>
                  <a:buChar char="-"/>
                </a:pPr>
                <a:endParaRPr lang="en-US" sz="2000" dirty="0"/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88" y="744286"/>
                <a:ext cx="8358064" cy="2326511"/>
              </a:xfrm>
              <a:prstGeom prst="rect">
                <a:avLst/>
              </a:prstGeom>
              <a:blipFill>
                <a:blip r:embed="rId4"/>
                <a:stretch>
                  <a:fillRect l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5707881" y="3051247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10"/>
                  <a:stretch>
                    <a:fillRect r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B55F925-CBDB-42D4-6949-A549CC955527}"/>
              </a:ext>
            </a:extLst>
          </p:cNvPr>
          <p:cNvSpPr/>
          <p:nvPr/>
        </p:nvSpPr>
        <p:spPr>
          <a:xfrm>
            <a:off x="1411627" y="4742713"/>
            <a:ext cx="93682" cy="10607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2CBCD0-7921-7D42-87FA-8DE4B15F8468}"/>
              </a:ext>
            </a:extLst>
          </p:cNvPr>
          <p:cNvCxnSpPr/>
          <p:nvPr/>
        </p:nvCxnSpPr>
        <p:spPr>
          <a:xfrm flipH="1" flipV="1">
            <a:off x="1482812" y="2899480"/>
            <a:ext cx="46841" cy="294270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>
            <a:extLst>
              <a:ext uri="{FF2B5EF4-FFF2-40B4-BE49-F238E27FC236}">
                <a16:creationId xmlns:a16="http://schemas.microsoft.com/office/drawing/2014/main" id="{F754329F-C9D6-4618-8223-5E9397458861}"/>
              </a:ext>
            </a:extLst>
          </p:cNvPr>
          <p:cNvSpPr/>
          <p:nvPr/>
        </p:nvSpPr>
        <p:spPr>
          <a:xfrm>
            <a:off x="1411627" y="3518185"/>
            <a:ext cx="96225" cy="563309"/>
          </a:xfrm>
          <a:custGeom>
            <a:avLst/>
            <a:gdLst>
              <a:gd name="connsiteX0" fmla="*/ 0 w 84779"/>
              <a:gd name="connsiteY0" fmla="*/ 54500 h 599507"/>
              <a:gd name="connsiteX1" fmla="*/ 54501 w 84779"/>
              <a:gd name="connsiteY1" fmla="*/ 0 h 599507"/>
              <a:gd name="connsiteX2" fmla="*/ 84779 w 84779"/>
              <a:gd name="connsiteY2" fmla="*/ 78723 h 599507"/>
              <a:gd name="connsiteX3" fmla="*/ 36334 w 84779"/>
              <a:gd name="connsiteY3" fmla="*/ 599507 h 599507"/>
              <a:gd name="connsiteX4" fmla="*/ 0 w 84779"/>
              <a:gd name="connsiteY4" fmla="*/ 54500 h 599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779" h="599507">
                <a:moveTo>
                  <a:pt x="0" y="54500"/>
                </a:moveTo>
                <a:lnTo>
                  <a:pt x="54501" y="0"/>
                </a:lnTo>
                <a:lnTo>
                  <a:pt x="84779" y="78723"/>
                </a:lnTo>
                <a:lnTo>
                  <a:pt x="36334" y="599507"/>
                </a:lnTo>
                <a:lnTo>
                  <a:pt x="0" y="545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AC2F317-362C-4918-E68E-B49D6B9459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755" y="3664822"/>
            <a:ext cx="897890" cy="2262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1CEAC8C-B73E-8D5C-E387-6686F4F975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61188" y="3928298"/>
            <a:ext cx="1224243" cy="21885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9A5ACD2-60EC-CBFE-DA94-821FAFF1C94C}"/>
              </a:ext>
            </a:extLst>
          </p:cNvPr>
          <p:cNvGrpSpPr/>
          <p:nvPr/>
        </p:nvGrpSpPr>
        <p:grpSpPr>
          <a:xfrm>
            <a:off x="7347622" y="3357996"/>
            <a:ext cx="243471" cy="471821"/>
            <a:chOff x="2376137" y="2245847"/>
            <a:chExt cx="376775" cy="481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775256-021B-70FC-B697-9CF70412EA68}"/>
                </a:ext>
              </a:extLst>
            </p:cNvPr>
            <p:cNvSpPr/>
            <p:nvPr/>
          </p:nvSpPr>
          <p:spPr>
            <a:xfrm>
              <a:off x="2376137" y="2245847"/>
              <a:ext cx="376775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67D6C51-59BA-4F3E-BBBD-900BAF4BB4E0}"/>
                </a:ext>
              </a:extLst>
            </p:cNvPr>
            <p:cNvCxnSpPr>
              <a:cxnSpLocks/>
            </p:cNvCxnSpPr>
            <p:nvPr/>
          </p:nvCxnSpPr>
          <p:spPr>
            <a:xfrm>
              <a:off x="2439157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/>
              <p:nvPr/>
            </p:nvSpPr>
            <p:spPr>
              <a:xfrm>
                <a:off x="223216" y="4631737"/>
                <a:ext cx="898398" cy="353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𝑨𝒐</m:t>
                        </m:r>
                      </m:sub>
                    </m:sSub>
                  </m:oMath>
                </a14:m>
                <a:r>
                  <a:rPr lang="en-US" sz="1200" dirty="0"/>
                  <a:t> = </a:t>
                </a:r>
                <a:r>
                  <a:rPr lang="en-US" sz="1200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𝑑𝑐</m:t>
                            </m:r>
                          </m:sub>
                        </m:sSub>
                      </m:num>
                      <m:den>
                        <m:r>
                          <a:rPr lang="en-GB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216" y="4631737"/>
                <a:ext cx="898398" cy="35362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AA7EFA-170E-F368-669D-4F315B2C7ADB}"/>
              </a:ext>
            </a:extLst>
          </p:cNvPr>
          <p:cNvCxnSpPr>
            <a:stCxn id="33" idx="3"/>
          </p:cNvCxnSpPr>
          <p:nvPr/>
        </p:nvCxnSpPr>
        <p:spPr>
          <a:xfrm flipV="1">
            <a:off x="1121614" y="4742713"/>
            <a:ext cx="245506" cy="658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 38">
            <a:extLst>
              <a:ext uri="{FF2B5EF4-FFF2-40B4-BE49-F238E27FC236}">
                <a16:creationId xmlns:a16="http://schemas.microsoft.com/office/drawing/2014/main" id="{04A69EDB-0E1A-08A1-92DE-EC228A5D9125}"/>
              </a:ext>
            </a:extLst>
          </p:cNvPr>
          <p:cNvSpPr/>
          <p:nvPr/>
        </p:nvSpPr>
        <p:spPr>
          <a:xfrm rot="14388781">
            <a:off x="6477022" y="3421310"/>
            <a:ext cx="706862" cy="703071"/>
          </a:xfrm>
          <a:custGeom>
            <a:avLst/>
            <a:gdLst>
              <a:gd name="connsiteX0" fmla="*/ 753784 w 905250"/>
              <a:gd name="connsiteY0" fmla="*/ 0 h 753999"/>
              <a:gd name="connsiteX1" fmla="*/ 877352 w 905250"/>
              <a:gd name="connsiteY1" fmla="*/ 518984 h 753999"/>
              <a:gd name="connsiteX2" fmla="*/ 284227 w 905250"/>
              <a:gd name="connsiteY2" fmla="*/ 753762 h 753999"/>
              <a:gd name="connsiteX3" fmla="*/ 22 w 905250"/>
              <a:gd name="connsiteY3" fmla="*/ 481914 h 753999"/>
              <a:gd name="connsiteX4" fmla="*/ 296584 w 905250"/>
              <a:gd name="connsiteY4" fmla="*/ 98854 h 753999"/>
              <a:gd name="connsiteX5" fmla="*/ 296584 w 905250"/>
              <a:gd name="connsiteY5" fmla="*/ 98854 h 75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250" h="753999">
                <a:moveTo>
                  <a:pt x="753784" y="0"/>
                </a:moveTo>
                <a:cubicBezTo>
                  <a:pt x="854697" y="196678"/>
                  <a:pt x="955611" y="393357"/>
                  <a:pt x="877352" y="518984"/>
                </a:cubicBezTo>
                <a:cubicBezTo>
                  <a:pt x="799093" y="644611"/>
                  <a:pt x="430449" y="759940"/>
                  <a:pt x="284227" y="753762"/>
                </a:cubicBezTo>
                <a:cubicBezTo>
                  <a:pt x="138005" y="747584"/>
                  <a:pt x="-2038" y="591065"/>
                  <a:pt x="22" y="481914"/>
                </a:cubicBezTo>
                <a:cubicBezTo>
                  <a:pt x="2081" y="372763"/>
                  <a:pt x="296584" y="98854"/>
                  <a:pt x="296584" y="98854"/>
                </a:cubicBezTo>
                <a:lnTo>
                  <a:pt x="296584" y="98854"/>
                </a:lnTo>
              </a:path>
            </a:pathLst>
          </a:custGeom>
          <a:noFill/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33" grpId="0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51AA102-64AE-4676-B308-56EA4381E79B}"/>
              </a:ext>
            </a:extLst>
          </p:cNvPr>
          <p:cNvGrpSpPr/>
          <p:nvPr/>
        </p:nvGrpSpPr>
        <p:grpSpPr>
          <a:xfrm>
            <a:off x="1242496" y="2750376"/>
            <a:ext cx="4394200" cy="3213100"/>
            <a:chOff x="1242496" y="2750376"/>
            <a:chExt cx="4394200" cy="321310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DA8637C-62A7-B6FD-32DE-F6718952F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2496" y="2750376"/>
              <a:ext cx="4394200" cy="3213100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5DA523C-1FB9-ED3E-3636-C66B99DB57B3}"/>
                </a:ext>
              </a:extLst>
            </p:cNvPr>
            <p:cNvSpPr/>
            <p:nvPr/>
          </p:nvSpPr>
          <p:spPr>
            <a:xfrm>
              <a:off x="5072934" y="4631737"/>
              <a:ext cx="230586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A46449-BA52-C244-01CF-47E19ADA4E2E}"/>
                </a:ext>
              </a:extLst>
            </p:cNvPr>
            <p:cNvSpPr/>
            <p:nvPr/>
          </p:nvSpPr>
          <p:spPr>
            <a:xfrm>
              <a:off x="4998196" y="5308416"/>
              <a:ext cx="306911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488" y="744286"/>
                <a:ext cx="8358064" cy="232651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buFontTx/>
                  <a:buChar char="-"/>
                </a:pPr>
                <a:r>
                  <a:rPr lang="en-US" sz="2800" b="1" dirty="0"/>
                  <a:t>Pulse Width Modulation (PWM) Switching</a:t>
                </a:r>
              </a:p>
              <a:p>
                <a:pPr marL="914400" lvl="1" indent="-45720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000" b="1" i="1">
                            <a:latin typeface="Cambria Math" panose="02040503050406030204" pitchFamily="18" charset="0"/>
                          </a:rPr>
                          <m:t>𝒕𝒓𝒊</m:t>
                        </m:r>
                      </m:sub>
                    </m:sSub>
                  </m:oMath>
                </a14:m>
                <a:r>
                  <a:rPr lang="en-US" sz="2000" dirty="0"/>
                  <a:t> (Triangular Signal) is compared with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2000" b="1" i="1" smtClean="0">
                            <a:latin typeface="Cambria Math" panose="02040503050406030204" pitchFamily="18" charset="0"/>
                          </a:rPr>
                          <m:t>𝒄𝒐𝒏𝒕𝒓𝒐𝒍</m:t>
                        </m:r>
                      </m:sub>
                    </m:sSub>
                  </m:oMath>
                </a14:m>
                <a:r>
                  <a:rPr lang="en-US" sz="2000" dirty="0"/>
                  <a:t> (Control Signal)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000" dirty="0"/>
                  <a:t>Based on comparison result different switches are made closed (ON) and open (OFF)</a:t>
                </a:r>
              </a:p>
              <a:p>
                <a:pPr marL="914400" lvl="1" indent="-457200">
                  <a:buFontTx/>
                  <a:buChar char="-"/>
                </a:pPr>
                <a:r>
                  <a:rPr lang="en-US" sz="2000" dirty="0"/>
                  <a:t>Output voltage swings between </a:t>
                </a:r>
                <a:r>
                  <a:rPr lang="en-GB" sz="2000" dirty="0">
                    <a:solidFill>
                      <a:schemeClr val="tx1"/>
                    </a:solidFill>
                  </a:rPr>
                  <a:t>positive and negative voltages</a:t>
                </a:r>
                <a:endParaRPr lang="en-US" sz="2000" dirty="0"/>
              </a:p>
              <a:p>
                <a:pPr marL="1828800" lvl="3" indent="-457200">
                  <a:buFontTx/>
                  <a:buChar char="-"/>
                </a:pPr>
                <a:endParaRPr lang="en-US" sz="2000" dirty="0"/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100A584-C9BA-C39F-A4D3-ABF895CCF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88" y="744286"/>
                <a:ext cx="8358064" cy="2326511"/>
              </a:xfrm>
              <a:prstGeom prst="rect">
                <a:avLst/>
              </a:prstGeom>
              <a:blipFill>
                <a:blip r:embed="rId4"/>
                <a:stretch>
                  <a:fillRect l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5707881" y="3051247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10"/>
                  <a:stretch>
                    <a:fillRect r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B55F925-CBDB-42D4-6949-A549CC955527}"/>
              </a:ext>
            </a:extLst>
          </p:cNvPr>
          <p:cNvSpPr/>
          <p:nvPr/>
        </p:nvSpPr>
        <p:spPr>
          <a:xfrm>
            <a:off x="1520816" y="4742713"/>
            <a:ext cx="85165" cy="106070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2CBCD0-7921-7D42-87FA-8DE4B15F8468}"/>
              </a:ext>
            </a:extLst>
          </p:cNvPr>
          <p:cNvCxnSpPr>
            <a:cxnSpLocks/>
          </p:cNvCxnSpPr>
          <p:nvPr/>
        </p:nvCxnSpPr>
        <p:spPr>
          <a:xfrm flipH="1" flipV="1">
            <a:off x="1507426" y="2899480"/>
            <a:ext cx="3061" cy="2903937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A5ACD2-60EC-CBFE-DA94-821FAFF1C94C}"/>
              </a:ext>
            </a:extLst>
          </p:cNvPr>
          <p:cNvGrpSpPr/>
          <p:nvPr/>
        </p:nvGrpSpPr>
        <p:grpSpPr>
          <a:xfrm>
            <a:off x="7342089" y="4967904"/>
            <a:ext cx="243471" cy="471821"/>
            <a:chOff x="2376137" y="2245847"/>
            <a:chExt cx="376775" cy="481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775256-021B-70FC-B697-9CF70412EA68}"/>
                </a:ext>
              </a:extLst>
            </p:cNvPr>
            <p:cNvSpPr/>
            <p:nvPr/>
          </p:nvSpPr>
          <p:spPr>
            <a:xfrm>
              <a:off x="2376137" y="2245847"/>
              <a:ext cx="376775" cy="4819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67D6C51-59BA-4F3E-BBBD-900BAF4BB4E0}"/>
                </a:ext>
              </a:extLst>
            </p:cNvPr>
            <p:cNvCxnSpPr>
              <a:cxnSpLocks/>
            </p:cNvCxnSpPr>
            <p:nvPr/>
          </p:nvCxnSpPr>
          <p:spPr>
            <a:xfrm>
              <a:off x="2439157" y="2245847"/>
              <a:ext cx="0" cy="481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/>
              <p:nvPr/>
            </p:nvSpPr>
            <p:spPr>
              <a:xfrm>
                <a:off x="353193" y="5685597"/>
                <a:ext cx="898398" cy="353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GB" sz="1200" b="1" i="1" smtClean="0">
                            <a:latin typeface="Cambria Math" panose="02040503050406030204" pitchFamily="18" charset="0"/>
                          </a:rPr>
                          <m:t>𝑨𝒐</m:t>
                        </m:r>
                      </m:sub>
                    </m:sSub>
                  </m:oMath>
                </a14:m>
                <a:r>
                  <a:rPr lang="en-US" sz="1200" dirty="0"/>
                  <a:t> = -</a:t>
                </a:r>
                <a:r>
                  <a:rPr lang="en-US" sz="1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GB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𝑑𝑐</m:t>
                            </m:r>
                          </m:sub>
                        </m:sSub>
                      </m:num>
                      <m:den>
                        <m:r>
                          <a:rPr lang="en-GB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76AA8D5-A2DC-833E-3D38-CFBA6C7CF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93" y="5685597"/>
                <a:ext cx="898398" cy="3536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7AA7EFA-170E-F368-669D-4F315B2C7ADB}"/>
              </a:ext>
            </a:extLst>
          </p:cNvPr>
          <p:cNvCxnSpPr>
            <a:stCxn id="33" idx="3"/>
          </p:cNvCxnSpPr>
          <p:nvPr/>
        </p:nvCxnSpPr>
        <p:spPr>
          <a:xfrm flipV="1">
            <a:off x="1251591" y="5796573"/>
            <a:ext cx="245506" cy="658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 3">
            <a:extLst>
              <a:ext uri="{FF2B5EF4-FFF2-40B4-BE49-F238E27FC236}">
                <a16:creationId xmlns:a16="http://schemas.microsoft.com/office/drawing/2014/main" id="{EACC16F9-6D50-A3BE-9BA7-46ABE1E5BA2A}"/>
              </a:ext>
            </a:extLst>
          </p:cNvPr>
          <p:cNvSpPr/>
          <p:nvPr/>
        </p:nvSpPr>
        <p:spPr>
          <a:xfrm>
            <a:off x="1520371" y="3142343"/>
            <a:ext cx="76200" cy="290286"/>
          </a:xfrm>
          <a:custGeom>
            <a:avLst/>
            <a:gdLst>
              <a:gd name="connsiteX0" fmla="*/ 47172 w 76200"/>
              <a:gd name="connsiteY0" fmla="*/ 0 h 290286"/>
              <a:gd name="connsiteX1" fmla="*/ 76200 w 76200"/>
              <a:gd name="connsiteY1" fmla="*/ 239486 h 290286"/>
              <a:gd name="connsiteX2" fmla="*/ 0 w 76200"/>
              <a:gd name="connsiteY2" fmla="*/ 290286 h 290286"/>
              <a:gd name="connsiteX3" fmla="*/ 47172 w 76200"/>
              <a:gd name="connsiteY3" fmla="*/ 0 h 290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290286">
                <a:moveTo>
                  <a:pt x="47172" y="0"/>
                </a:moveTo>
                <a:lnTo>
                  <a:pt x="76200" y="239486"/>
                </a:lnTo>
                <a:lnTo>
                  <a:pt x="0" y="290286"/>
                </a:lnTo>
                <a:lnTo>
                  <a:pt x="47172" y="0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0DCBF-1188-FEF6-23AE-F9A33BBAB2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730" y="3220700"/>
            <a:ext cx="714079" cy="168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3886A8-FF3C-D5EB-6B1A-390870F3AC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4896" y="4291690"/>
            <a:ext cx="1107370" cy="184562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130B2D8A-51B4-8B1D-A04E-4A6BD31AD7DB}"/>
              </a:ext>
            </a:extLst>
          </p:cNvPr>
          <p:cNvSpPr/>
          <p:nvPr/>
        </p:nvSpPr>
        <p:spPr>
          <a:xfrm rot="2704593">
            <a:off x="6359660" y="4588274"/>
            <a:ext cx="706862" cy="565723"/>
          </a:xfrm>
          <a:custGeom>
            <a:avLst/>
            <a:gdLst>
              <a:gd name="connsiteX0" fmla="*/ 753784 w 905250"/>
              <a:gd name="connsiteY0" fmla="*/ 0 h 753999"/>
              <a:gd name="connsiteX1" fmla="*/ 877352 w 905250"/>
              <a:gd name="connsiteY1" fmla="*/ 518984 h 753999"/>
              <a:gd name="connsiteX2" fmla="*/ 284227 w 905250"/>
              <a:gd name="connsiteY2" fmla="*/ 753762 h 753999"/>
              <a:gd name="connsiteX3" fmla="*/ 22 w 905250"/>
              <a:gd name="connsiteY3" fmla="*/ 481914 h 753999"/>
              <a:gd name="connsiteX4" fmla="*/ 296584 w 905250"/>
              <a:gd name="connsiteY4" fmla="*/ 98854 h 753999"/>
              <a:gd name="connsiteX5" fmla="*/ 296584 w 905250"/>
              <a:gd name="connsiteY5" fmla="*/ 98854 h 75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5250" h="753999">
                <a:moveTo>
                  <a:pt x="753784" y="0"/>
                </a:moveTo>
                <a:cubicBezTo>
                  <a:pt x="854697" y="196678"/>
                  <a:pt x="955611" y="393357"/>
                  <a:pt x="877352" y="518984"/>
                </a:cubicBezTo>
                <a:cubicBezTo>
                  <a:pt x="799093" y="644611"/>
                  <a:pt x="430449" y="759940"/>
                  <a:pt x="284227" y="753762"/>
                </a:cubicBezTo>
                <a:cubicBezTo>
                  <a:pt x="138005" y="747584"/>
                  <a:pt x="-2038" y="591065"/>
                  <a:pt x="22" y="481914"/>
                </a:cubicBezTo>
                <a:cubicBezTo>
                  <a:pt x="2081" y="372763"/>
                  <a:pt x="296584" y="98854"/>
                  <a:pt x="296584" y="98854"/>
                </a:cubicBezTo>
                <a:lnTo>
                  <a:pt x="296584" y="98854"/>
                </a:lnTo>
              </a:path>
            </a:pathLst>
          </a:custGeom>
          <a:noFill/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0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3" grpId="0"/>
      <p:bldP spid="4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301488" y="744286"/>
            <a:ext cx="8358064" cy="232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What are harmonics?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Pure Sinusoid is required.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The output is different both in square-wave and PWM switching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There is need to analyze the </a:t>
            </a:r>
            <a:r>
              <a:rPr lang="en-US" sz="2000" dirty="0">
                <a:solidFill>
                  <a:srgbClr val="FF0000"/>
                </a:solidFill>
              </a:rPr>
              <a:t>presence of other sinusoids </a:t>
            </a:r>
            <a:r>
              <a:rPr lang="en-US" sz="2000" dirty="0"/>
              <a:t>having </a:t>
            </a:r>
            <a:r>
              <a:rPr lang="en-US" sz="2000" dirty="0">
                <a:solidFill>
                  <a:srgbClr val="FF0000"/>
                </a:solidFill>
              </a:rPr>
              <a:t>frequencies multiple of desired sinusoid, </a:t>
            </a:r>
            <a:r>
              <a:rPr lang="en-US" sz="2000" b="1" i="1" dirty="0">
                <a:solidFill>
                  <a:srgbClr val="7030A0"/>
                </a:solidFill>
              </a:rPr>
              <a:t>called harmonics</a:t>
            </a:r>
            <a:r>
              <a:rPr lang="en-US" sz="2000" dirty="0">
                <a:solidFill>
                  <a:srgbClr val="FF0000"/>
                </a:solidFill>
              </a:rPr>
              <a:t>,  </a:t>
            </a:r>
            <a:r>
              <a:rPr lang="en-US" sz="2000" dirty="0"/>
              <a:t>available in output.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974852" y="3222996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DA6CA2E-48D9-E722-EAA5-796EFB8C6B3B}"/>
              </a:ext>
            </a:extLst>
          </p:cNvPr>
          <p:cNvGrpSpPr/>
          <p:nvPr/>
        </p:nvGrpSpPr>
        <p:grpSpPr>
          <a:xfrm>
            <a:off x="4231969" y="3081552"/>
            <a:ext cx="4205827" cy="1449609"/>
            <a:chOff x="4239764" y="2701874"/>
            <a:chExt cx="4205827" cy="144960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C239E6C-ACBE-B1BA-C4F0-062BD2D8A82A}"/>
                </a:ext>
              </a:extLst>
            </p:cNvPr>
            <p:cNvGrpSpPr/>
            <p:nvPr/>
          </p:nvGrpSpPr>
          <p:grpSpPr>
            <a:xfrm>
              <a:off x="4239764" y="2701874"/>
              <a:ext cx="3926466" cy="1133721"/>
              <a:chOff x="4328446" y="3092057"/>
              <a:chExt cx="3926466" cy="1133721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98647FA-0797-8AFD-A09B-10D0FA944E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80520" y="3229406"/>
                <a:ext cx="3774392" cy="996372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D213FD14-7736-3FA1-FB21-BA1B93922B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28446" y="3092057"/>
                <a:ext cx="546100" cy="2413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66C8F7-786C-FE0B-6161-A61137D633D5}"/>
                </a:ext>
              </a:extLst>
            </p:cNvPr>
            <p:cNvSpPr txBox="1"/>
            <p:nvPr/>
          </p:nvSpPr>
          <p:spPr>
            <a:xfrm>
              <a:off x="4675861" y="3782151"/>
              <a:ext cx="3292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Output (Square Wave Switching)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85DC2E-4DD2-9016-10E0-FB268337DDDC}"/>
                </a:ext>
              </a:extLst>
            </p:cNvPr>
            <p:cNvSpPr txBox="1"/>
            <p:nvPr/>
          </p:nvSpPr>
          <p:spPr>
            <a:xfrm>
              <a:off x="5819357" y="2741538"/>
              <a:ext cx="602234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Desired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AC20B99-C250-5E31-C61F-8427E6D91928}"/>
                </a:ext>
              </a:extLst>
            </p:cNvPr>
            <p:cNvGrpSpPr/>
            <p:nvPr/>
          </p:nvGrpSpPr>
          <p:grpSpPr>
            <a:xfrm>
              <a:off x="7949461" y="2965302"/>
              <a:ext cx="315090" cy="177628"/>
              <a:chOff x="7802868" y="2718573"/>
              <a:chExt cx="431800" cy="298278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EF9A639F-C902-911B-B228-7B676C71E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2868" y="2718573"/>
                <a:ext cx="431800" cy="241300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C520D47-0DE2-A736-BA4F-6261B13F4041}"/>
                  </a:ext>
                </a:extLst>
              </p:cNvPr>
              <p:cNvSpPr/>
              <p:nvPr/>
            </p:nvSpPr>
            <p:spPr>
              <a:xfrm>
                <a:off x="7802868" y="2901468"/>
                <a:ext cx="58247" cy="11538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3EF78B2-9165-55B1-7B05-BFC513D0FD43}"/>
                  </a:ext>
                </a:extLst>
              </p:cNvPr>
              <p:cNvSpPr/>
              <p:nvPr/>
            </p:nvSpPr>
            <p:spPr>
              <a:xfrm>
                <a:off x="7903649" y="2953840"/>
                <a:ext cx="166466" cy="622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DFE37E-F97F-653F-7A9F-DFF11CB2EE97}"/>
                </a:ext>
              </a:extLst>
            </p:cNvPr>
            <p:cNvSpPr txBox="1"/>
            <p:nvPr/>
          </p:nvSpPr>
          <p:spPr>
            <a:xfrm>
              <a:off x="7843357" y="2734386"/>
              <a:ext cx="602234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Actual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4C7CFCE-9F6F-73C3-211E-D8C92625843E}"/>
              </a:ext>
            </a:extLst>
          </p:cNvPr>
          <p:cNvGrpSpPr/>
          <p:nvPr/>
        </p:nvGrpSpPr>
        <p:grpSpPr>
          <a:xfrm>
            <a:off x="4371461" y="4663605"/>
            <a:ext cx="3812594" cy="1847746"/>
            <a:chOff x="4456696" y="4361226"/>
            <a:chExt cx="3812594" cy="184774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D8A456-E284-C6B8-56C3-CE8E99CAB7A7}"/>
                </a:ext>
              </a:extLst>
            </p:cNvPr>
            <p:cNvSpPr txBox="1"/>
            <p:nvPr/>
          </p:nvSpPr>
          <p:spPr>
            <a:xfrm>
              <a:off x="5060261" y="5839640"/>
              <a:ext cx="2523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Output (PWM Switching)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F480E5E-892C-F2A9-DB86-A8E22EF81B4B}"/>
                </a:ext>
              </a:extLst>
            </p:cNvPr>
            <p:cNvGrpSpPr/>
            <p:nvPr/>
          </p:nvGrpSpPr>
          <p:grpSpPr>
            <a:xfrm>
              <a:off x="4456696" y="4361226"/>
              <a:ext cx="3812594" cy="1415283"/>
              <a:chOff x="4456696" y="4361226"/>
              <a:chExt cx="3812594" cy="1415283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0319454D-1B2A-6AB5-8E8D-A3F289518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56696" y="4465936"/>
                <a:ext cx="3404419" cy="1310573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F739C6-FF45-45F6-9FD2-8A4794213E77}"/>
                  </a:ext>
                </a:extLst>
              </p:cNvPr>
              <p:cNvSpPr txBox="1"/>
              <p:nvPr/>
            </p:nvSpPr>
            <p:spPr>
              <a:xfrm>
                <a:off x="6179694" y="4465936"/>
                <a:ext cx="1240965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Desired</a:t>
                </a: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2BE2F33-965E-5B58-7167-050AA942568C}"/>
                  </a:ext>
                </a:extLst>
              </p:cNvPr>
              <p:cNvGrpSpPr/>
              <p:nvPr/>
            </p:nvGrpSpPr>
            <p:grpSpPr>
              <a:xfrm>
                <a:off x="7773160" y="4592142"/>
                <a:ext cx="315090" cy="177628"/>
                <a:chOff x="7802868" y="2718573"/>
                <a:chExt cx="431800" cy="298278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C7EE8376-88A8-16CD-79F0-ED2C999EE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02868" y="2718573"/>
                  <a:ext cx="431800" cy="241300"/>
                </a:xfrm>
                <a:prstGeom prst="rect">
                  <a:avLst/>
                </a:prstGeom>
              </p:spPr>
            </p:pic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D376AEB-1111-AB97-264C-3FB578FA8238}"/>
                    </a:ext>
                  </a:extLst>
                </p:cNvPr>
                <p:cNvSpPr/>
                <p:nvPr/>
              </p:nvSpPr>
              <p:spPr>
                <a:xfrm>
                  <a:off x="7802868" y="2901468"/>
                  <a:ext cx="58247" cy="1153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688E251-356A-2D65-B63F-B0231A6F636F}"/>
                    </a:ext>
                  </a:extLst>
                </p:cNvPr>
                <p:cNvSpPr/>
                <p:nvPr/>
              </p:nvSpPr>
              <p:spPr>
                <a:xfrm>
                  <a:off x="7903649" y="2953840"/>
                  <a:ext cx="166466" cy="622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CAF97BA-0285-C6E8-C75B-C94EC808D481}"/>
                  </a:ext>
                </a:extLst>
              </p:cNvPr>
              <p:cNvSpPr txBox="1"/>
              <p:nvPr/>
            </p:nvSpPr>
            <p:spPr>
              <a:xfrm>
                <a:off x="7667056" y="4361226"/>
                <a:ext cx="602234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Actual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030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901958A1-094A-2E73-9DEE-2F3EDA318BB8}"/>
              </a:ext>
            </a:extLst>
          </p:cNvPr>
          <p:cNvGrpSpPr/>
          <p:nvPr/>
        </p:nvGrpSpPr>
        <p:grpSpPr>
          <a:xfrm>
            <a:off x="1025355" y="4696901"/>
            <a:ext cx="2719257" cy="1584547"/>
            <a:chOff x="261598" y="4680422"/>
            <a:chExt cx="2719257" cy="1584547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992E7A9-D2C6-D8CD-C80E-ED53E607A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598" y="5740016"/>
              <a:ext cx="2719257" cy="52495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6AFB43-B522-3A34-48B7-48BAB79B3B44}"/>
                </a:ext>
              </a:extLst>
            </p:cNvPr>
            <p:cNvGrpSpPr/>
            <p:nvPr/>
          </p:nvGrpSpPr>
          <p:grpSpPr>
            <a:xfrm>
              <a:off x="274369" y="4680422"/>
              <a:ext cx="2706486" cy="1137183"/>
              <a:chOff x="4885161" y="1876117"/>
              <a:chExt cx="2706486" cy="113718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F7D44F0-DB83-FAEB-4F86-45A59C03B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5161" y="1892596"/>
                <a:ext cx="2706486" cy="1120704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D3A76B-B07D-FD40-1BF3-920ECB902E3A}"/>
                  </a:ext>
                </a:extLst>
              </p:cNvPr>
              <p:cNvSpPr/>
              <p:nvPr/>
            </p:nvSpPr>
            <p:spPr>
              <a:xfrm>
                <a:off x="5688416" y="1876117"/>
                <a:ext cx="414670" cy="32482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703034"/>
            <a:ext cx="8851933" cy="128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Square Wave Switching</a:t>
            </a:r>
          </a:p>
          <a:p>
            <a:pPr marL="914400" lvl="1" indent="-457200" algn="just">
              <a:buFontTx/>
              <a:buChar char="-"/>
            </a:pPr>
            <a:r>
              <a:rPr lang="en-US" dirty="0"/>
              <a:t>There is need to analyze the </a:t>
            </a:r>
            <a:r>
              <a:rPr lang="en-US" dirty="0">
                <a:solidFill>
                  <a:srgbClr val="FF0000"/>
                </a:solidFill>
              </a:rPr>
              <a:t>presence of other sinusoids </a:t>
            </a:r>
            <a:r>
              <a:rPr lang="en-US" dirty="0"/>
              <a:t>having </a:t>
            </a:r>
            <a:r>
              <a:rPr lang="en-US" dirty="0">
                <a:solidFill>
                  <a:srgbClr val="FF0000"/>
                </a:solidFill>
              </a:rPr>
              <a:t>frequencies multiple of desired sinusoid, </a:t>
            </a:r>
            <a:r>
              <a:rPr lang="en-US" b="1" i="1" dirty="0">
                <a:solidFill>
                  <a:srgbClr val="7030A0"/>
                </a:solidFill>
              </a:rPr>
              <a:t>called harmonics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/>
              <a:t>available in output.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928795" y="1864376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26" name="Picture 2" descr="The first four partial sums of the Fourier series for a square wave. As more harmonics are added, the partial sums converge to (become more and more like) the square wave.">
            <a:extLst>
              <a:ext uri="{FF2B5EF4-FFF2-40B4-BE49-F238E27FC236}">
                <a16:creationId xmlns:a16="http://schemas.microsoft.com/office/drawing/2014/main" id="{9AD209C3-E00C-F6C4-19AE-1308F426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352" y="2026344"/>
            <a:ext cx="238125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57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4EBD32ED-77D2-9F38-FEFA-3DEE75BE0BF5}"/>
              </a:ext>
            </a:extLst>
          </p:cNvPr>
          <p:cNvGrpSpPr/>
          <p:nvPr/>
        </p:nvGrpSpPr>
        <p:grpSpPr>
          <a:xfrm>
            <a:off x="4198387" y="3615070"/>
            <a:ext cx="3690963" cy="3169236"/>
            <a:chOff x="4198387" y="3615070"/>
            <a:chExt cx="3690963" cy="3169236"/>
          </a:xfrm>
        </p:grpSpPr>
        <p:pic>
          <p:nvPicPr>
            <p:cNvPr id="69" name="Picture 68" descr="A diagram of different waves&#10;&#10;Description automatically generated">
              <a:extLst>
                <a:ext uri="{FF2B5EF4-FFF2-40B4-BE49-F238E27FC236}">
                  <a16:creationId xmlns:a16="http://schemas.microsoft.com/office/drawing/2014/main" id="{D2E075A3-095A-BA95-47DF-841ED583B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8387" y="3615075"/>
              <a:ext cx="3690963" cy="3169231"/>
            </a:xfrm>
            <a:prstGeom prst="rect">
              <a:avLst/>
            </a:prstGeom>
          </p:spPr>
        </p:pic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850EF48-7C48-1CDE-BB52-DFEF5AF66453}"/>
                </a:ext>
              </a:extLst>
            </p:cNvPr>
            <p:cNvCxnSpPr>
              <a:cxnSpLocks/>
            </p:cNvCxnSpPr>
            <p:nvPr/>
          </p:nvCxnSpPr>
          <p:spPr>
            <a:xfrm>
              <a:off x="5266136" y="3615070"/>
              <a:ext cx="0" cy="3169236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01958A1-094A-2E73-9DEE-2F3EDA318BB8}"/>
              </a:ext>
            </a:extLst>
          </p:cNvPr>
          <p:cNvGrpSpPr/>
          <p:nvPr/>
        </p:nvGrpSpPr>
        <p:grpSpPr>
          <a:xfrm>
            <a:off x="261598" y="4680422"/>
            <a:ext cx="2719257" cy="1584547"/>
            <a:chOff x="261598" y="4680422"/>
            <a:chExt cx="2719257" cy="1584547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992E7A9-D2C6-D8CD-C80E-ED53E607A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1598" y="5740016"/>
              <a:ext cx="2719257" cy="52495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6AFB43-B522-3A34-48B7-48BAB79B3B44}"/>
                </a:ext>
              </a:extLst>
            </p:cNvPr>
            <p:cNvGrpSpPr/>
            <p:nvPr/>
          </p:nvGrpSpPr>
          <p:grpSpPr>
            <a:xfrm>
              <a:off x="274369" y="4680422"/>
              <a:ext cx="2706486" cy="1137183"/>
              <a:chOff x="4885161" y="1876117"/>
              <a:chExt cx="2706486" cy="113718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F7D44F0-DB83-FAEB-4F86-45A59C03B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85161" y="1892596"/>
                <a:ext cx="2706486" cy="1120704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D3A76B-B07D-FD40-1BF3-920ECB902E3A}"/>
                  </a:ext>
                </a:extLst>
              </p:cNvPr>
              <p:cNvSpPr/>
              <p:nvPr/>
            </p:nvSpPr>
            <p:spPr>
              <a:xfrm>
                <a:off x="5688416" y="1876117"/>
                <a:ext cx="414670" cy="32482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F66D5C-D4A4-D338-18CB-2F42BB55330A}"/>
              </a:ext>
            </a:extLst>
          </p:cNvPr>
          <p:cNvGrpSpPr/>
          <p:nvPr/>
        </p:nvGrpSpPr>
        <p:grpSpPr>
          <a:xfrm>
            <a:off x="4878092" y="1638108"/>
            <a:ext cx="3638587" cy="1853695"/>
            <a:chOff x="4555928" y="3061678"/>
            <a:chExt cx="3799246" cy="207252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D66A45-AE0C-FC66-C197-86D07A36A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68594" y="3061678"/>
              <a:ext cx="3586580" cy="2072522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3F5375-DBBA-EA6A-CDFE-CF1856267F4A}"/>
                </a:ext>
              </a:extLst>
            </p:cNvPr>
            <p:cNvSpPr/>
            <p:nvPr/>
          </p:nvSpPr>
          <p:spPr>
            <a:xfrm>
              <a:off x="7538482" y="3788539"/>
              <a:ext cx="37213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DDF56D-F3FE-952A-075E-749583BA1DC1}"/>
                </a:ext>
              </a:extLst>
            </p:cNvPr>
            <p:cNvSpPr/>
            <p:nvPr/>
          </p:nvSpPr>
          <p:spPr>
            <a:xfrm>
              <a:off x="7442782" y="4175470"/>
              <a:ext cx="555227" cy="4681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5ADCBC6-C005-1723-EFD0-0C68229C3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88306" y="3486949"/>
              <a:ext cx="279028" cy="46836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33354F6-29E5-D1CD-7861-92F46F7FF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82078" y="4206369"/>
              <a:ext cx="279028" cy="46836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414536-D91B-3BA0-6AB4-51DA1CF08157}"/>
                </a:ext>
              </a:extLst>
            </p:cNvPr>
            <p:cNvSpPr txBox="1"/>
            <p:nvPr/>
          </p:nvSpPr>
          <p:spPr>
            <a:xfrm>
              <a:off x="4555928" y="425588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703034"/>
            <a:ext cx="8851933" cy="128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Square Wave Switching</a:t>
            </a:r>
          </a:p>
          <a:p>
            <a:pPr marL="914400" lvl="1" indent="-457200" algn="just">
              <a:buFontTx/>
              <a:buChar char="-"/>
            </a:pPr>
            <a:r>
              <a:rPr lang="en-US" dirty="0"/>
              <a:t>There is need to analyze the </a:t>
            </a:r>
            <a:r>
              <a:rPr lang="en-US" dirty="0">
                <a:solidFill>
                  <a:srgbClr val="FF0000"/>
                </a:solidFill>
              </a:rPr>
              <a:t>presence of other sinusoids </a:t>
            </a:r>
            <a:r>
              <a:rPr lang="en-US" dirty="0"/>
              <a:t>having </a:t>
            </a:r>
            <a:r>
              <a:rPr lang="en-US" dirty="0">
                <a:solidFill>
                  <a:srgbClr val="FF0000"/>
                </a:solidFill>
              </a:rPr>
              <a:t>frequencies multiple of desired sinusoid, </a:t>
            </a:r>
            <a:r>
              <a:rPr lang="en-US" b="1" i="1" dirty="0">
                <a:solidFill>
                  <a:srgbClr val="7030A0"/>
                </a:solidFill>
              </a:rPr>
              <a:t>called harmonics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/>
              <a:t>available in output.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401690" y="1777952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Down Arrow 57">
            <a:extLst>
              <a:ext uri="{FF2B5EF4-FFF2-40B4-BE49-F238E27FC236}">
                <a16:creationId xmlns:a16="http://schemas.microsoft.com/office/drawing/2014/main" id="{F1E158BB-EDEC-01BF-9A56-DC3AEF890B8C}"/>
              </a:ext>
            </a:extLst>
          </p:cNvPr>
          <p:cNvSpPr/>
          <p:nvPr/>
        </p:nvSpPr>
        <p:spPr>
          <a:xfrm>
            <a:off x="6488811" y="3446938"/>
            <a:ext cx="373395" cy="3133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BEC242C9-2C7A-EDA5-7AD5-5D1EBE118394}"/>
              </a:ext>
            </a:extLst>
          </p:cNvPr>
          <p:cNvGrpSpPr/>
          <p:nvPr/>
        </p:nvGrpSpPr>
        <p:grpSpPr>
          <a:xfrm>
            <a:off x="4914537" y="4456729"/>
            <a:ext cx="373395" cy="605325"/>
            <a:chOff x="3789965" y="3501305"/>
            <a:chExt cx="468725" cy="840275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126213DA-0028-80CA-456B-20ADE853B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7978" y="3714810"/>
              <a:ext cx="373395" cy="62677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677C5E0-CE83-83DE-6DD7-F4D5A5670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9109" y="3501305"/>
              <a:ext cx="459581" cy="320840"/>
            </a:xfrm>
            <a:prstGeom prst="rect">
              <a:avLst/>
            </a:prstGeom>
          </p:spPr>
        </p:pic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DBD1E54-B426-4EC1-65DF-A0BDA5C34468}"/>
                </a:ext>
              </a:extLst>
            </p:cNvPr>
            <p:cNvCxnSpPr/>
            <p:nvPr/>
          </p:nvCxnSpPr>
          <p:spPr>
            <a:xfrm>
              <a:off x="3789965" y="3803857"/>
              <a:ext cx="45958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01958A1-094A-2E73-9DEE-2F3EDA318BB8}"/>
              </a:ext>
            </a:extLst>
          </p:cNvPr>
          <p:cNvGrpSpPr/>
          <p:nvPr/>
        </p:nvGrpSpPr>
        <p:grpSpPr>
          <a:xfrm>
            <a:off x="261598" y="4680422"/>
            <a:ext cx="2719257" cy="1584547"/>
            <a:chOff x="261598" y="4680422"/>
            <a:chExt cx="2719257" cy="1584547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992E7A9-D2C6-D8CD-C80E-ED53E607A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598" y="5740016"/>
              <a:ext cx="2719257" cy="524953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46AFB43-B522-3A34-48B7-48BAB79B3B44}"/>
                </a:ext>
              </a:extLst>
            </p:cNvPr>
            <p:cNvGrpSpPr/>
            <p:nvPr/>
          </p:nvGrpSpPr>
          <p:grpSpPr>
            <a:xfrm>
              <a:off x="274369" y="4680422"/>
              <a:ext cx="2706486" cy="1137183"/>
              <a:chOff x="4885161" y="1876117"/>
              <a:chExt cx="2706486" cy="113718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F7D44F0-DB83-FAEB-4F86-45A59C03B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5161" y="1892596"/>
                <a:ext cx="2706486" cy="1120704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D3A76B-B07D-FD40-1BF3-920ECB902E3A}"/>
                  </a:ext>
                </a:extLst>
              </p:cNvPr>
              <p:cNvSpPr/>
              <p:nvPr/>
            </p:nvSpPr>
            <p:spPr>
              <a:xfrm>
                <a:off x="5688416" y="1876117"/>
                <a:ext cx="414670" cy="32482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F66D5C-D4A4-D338-18CB-2F42BB55330A}"/>
              </a:ext>
            </a:extLst>
          </p:cNvPr>
          <p:cNvGrpSpPr/>
          <p:nvPr/>
        </p:nvGrpSpPr>
        <p:grpSpPr>
          <a:xfrm>
            <a:off x="4672645" y="1719673"/>
            <a:ext cx="3799246" cy="2072522"/>
            <a:chOff x="4555928" y="3061678"/>
            <a:chExt cx="3799246" cy="207252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ED66A45-AE0C-FC66-C197-86D07A36A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68594" y="3061678"/>
              <a:ext cx="3586580" cy="2072522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3F5375-DBBA-EA6A-CDFE-CF1856267F4A}"/>
                </a:ext>
              </a:extLst>
            </p:cNvPr>
            <p:cNvSpPr/>
            <p:nvPr/>
          </p:nvSpPr>
          <p:spPr>
            <a:xfrm>
              <a:off x="7538482" y="3788539"/>
              <a:ext cx="37213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DDF56D-F3FE-952A-075E-749583BA1DC1}"/>
                </a:ext>
              </a:extLst>
            </p:cNvPr>
            <p:cNvSpPr/>
            <p:nvPr/>
          </p:nvSpPr>
          <p:spPr>
            <a:xfrm>
              <a:off x="7442782" y="4175470"/>
              <a:ext cx="555227" cy="4681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5ADCBC6-C005-1723-EFD0-0C68229C3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306" y="3486949"/>
              <a:ext cx="279028" cy="46836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33354F6-29E5-D1CD-7861-92F46F7FF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2078" y="4206369"/>
              <a:ext cx="279028" cy="468368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D414536-D91B-3BA0-6AB4-51DA1CF08157}"/>
                </a:ext>
              </a:extLst>
            </p:cNvPr>
            <p:cNvSpPr txBox="1"/>
            <p:nvPr/>
          </p:nvSpPr>
          <p:spPr>
            <a:xfrm>
              <a:off x="4555928" y="4255887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703034"/>
            <a:ext cx="8851933" cy="128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Square Wave Switching</a:t>
            </a:r>
          </a:p>
          <a:p>
            <a:pPr marL="914400" lvl="1" indent="-457200" algn="just">
              <a:buFontTx/>
              <a:buChar char="-"/>
            </a:pPr>
            <a:r>
              <a:rPr lang="en-US" dirty="0"/>
              <a:t>There is need to analyze the </a:t>
            </a:r>
            <a:r>
              <a:rPr lang="en-US" dirty="0">
                <a:solidFill>
                  <a:srgbClr val="FF0000"/>
                </a:solidFill>
              </a:rPr>
              <a:t>presence of other sinusoids </a:t>
            </a:r>
            <a:r>
              <a:rPr lang="en-US" dirty="0"/>
              <a:t>having </a:t>
            </a:r>
            <a:r>
              <a:rPr lang="en-US" dirty="0">
                <a:solidFill>
                  <a:srgbClr val="FF0000"/>
                </a:solidFill>
              </a:rPr>
              <a:t>frequencies multiple of desired sinusoid, </a:t>
            </a:r>
            <a:r>
              <a:rPr lang="en-US" b="1" i="1" dirty="0">
                <a:solidFill>
                  <a:srgbClr val="7030A0"/>
                </a:solidFill>
              </a:rPr>
              <a:t>called harmonics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/>
              <a:t>available in output.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72260E-3366-11F0-0BC2-42E5A9703A07}"/>
              </a:ext>
            </a:extLst>
          </p:cNvPr>
          <p:cNvGrpSpPr/>
          <p:nvPr/>
        </p:nvGrpSpPr>
        <p:grpSpPr>
          <a:xfrm>
            <a:off x="401690" y="1777952"/>
            <a:ext cx="2504028" cy="2738292"/>
            <a:chOff x="6430422" y="3351662"/>
            <a:chExt cx="2504028" cy="27382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4E00D8-C730-13D2-E04D-B81938B1B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30422" y="3351662"/>
              <a:ext cx="2316724" cy="27382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/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US" b="0" i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B1496ED-BD68-898C-24E4-8F9AE691D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15" y="3689475"/>
                  <a:ext cx="54979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/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lang="en-GB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11235EC-4B67-A55E-F520-D72E4F6F7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4653" y="5309965"/>
                  <a:ext cx="54979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F6123D-A48E-E28D-9E43-AE8FC8143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91248" y="4339623"/>
              <a:ext cx="279400" cy="215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/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207A811-4FE0-FC7B-0E06-718B49668F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2796" y="4486791"/>
                  <a:ext cx="219919" cy="338554"/>
                </a:xfrm>
                <a:prstGeom prst="rect">
                  <a:avLst/>
                </a:prstGeom>
                <a:blipFill>
                  <a:blip r:embed="rId12"/>
                  <a:stretch>
                    <a:fillRect r="-3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/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D076C87-1576-D4B6-B80C-2F90DFC4D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8688" y="4509039"/>
                  <a:ext cx="219919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286808-71DA-E9E1-5138-C726DF7FE4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5978" y="5006969"/>
            <a:ext cx="3690128" cy="1817851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68139F8-035B-5681-4006-DDB3AF1A697B}"/>
              </a:ext>
            </a:extLst>
          </p:cNvPr>
          <p:cNvGrpSpPr/>
          <p:nvPr/>
        </p:nvGrpSpPr>
        <p:grpSpPr>
          <a:xfrm>
            <a:off x="5627551" y="4948437"/>
            <a:ext cx="1826981" cy="489635"/>
            <a:chOff x="747590" y="5519088"/>
            <a:chExt cx="1826981" cy="48963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2FECF94-9D19-A5BF-62C3-641648927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47590" y="5524854"/>
              <a:ext cx="1826981" cy="452223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DA58977-0904-D880-27AE-480E1F50D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4006" y="5540355"/>
              <a:ext cx="279028" cy="468368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7CCE77-F45B-C9D6-FA33-5BE82250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0300" y="5519088"/>
              <a:ext cx="269793" cy="452867"/>
            </a:xfrm>
            <a:prstGeom prst="rect">
              <a:avLst/>
            </a:prstGeom>
          </p:spPr>
        </p:pic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A2A8E96-C69F-DFFA-1E23-C55246F62563}"/>
              </a:ext>
            </a:extLst>
          </p:cNvPr>
          <p:cNvCxnSpPr>
            <a:cxnSpLocks/>
          </p:cNvCxnSpPr>
          <p:nvPr/>
        </p:nvCxnSpPr>
        <p:spPr>
          <a:xfrm flipV="1">
            <a:off x="5434346" y="5258463"/>
            <a:ext cx="359024" cy="658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ft Brace 48">
            <a:extLst>
              <a:ext uri="{FF2B5EF4-FFF2-40B4-BE49-F238E27FC236}">
                <a16:creationId xmlns:a16="http://schemas.microsoft.com/office/drawing/2014/main" id="{6782B6B0-FD48-6CC6-CFE9-BADF5D8FFF4D}"/>
              </a:ext>
            </a:extLst>
          </p:cNvPr>
          <p:cNvSpPr/>
          <p:nvPr/>
        </p:nvSpPr>
        <p:spPr>
          <a:xfrm rot="5400000">
            <a:off x="6326367" y="5097694"/>
            <a:ext cx="344933" cy="1887895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0DC25C9-EC66-903A-DC0A-BE3047A84F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474" y="5513111"/>
            <a:ext cx="1175967" cy="442093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C915F2E-15CB-7C6E-0E67-A81C08407372}"/>
              </a:ext>
            </a:extLst>
          </p:cNvPr>
          <p:cNvCxnSpPr>
            <a:cxnSpLocks/>
          </p:cNvCxnSpPr>
          <p:nvPr/>
        </p:nvCxnSpPr>
        <p:spPr>
          <a:xfrm flipV="1">
            <a:off x="6582809" y="5817605"/>
            <a:ext cx="501158" cy="13365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Down Arrow 57">
            <a:extLst>
              <a:ext uri="{FF2B5EF4-FFF2-40B4-BE49-F238E27FC236}">
                <a16:creationId xmlns:a16="http://schemas.microsoft.com/office/drawing/2014/main" id="{F1E158BB-EDEC-01BF-9A56-DC3AEF890B8C}"/>
              </a:ext>
            </a:extLst>
          </p:cNvPr>
          <p:cNvSpPr/>
          <p:nvPr/>
        </p:nvSpPr>
        <p:spPr>
          <a:xfrm>
            <a:off x="6051586" y="3736255"/>
            <a:ext cx="373395" cy="3133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DE2076-8C72-E6FE-9DDE-500842FE38C7}"/>
              </a:ext>
            </a:extLst>
          </p:cNvPr>
          <p:cNvSpPr txBox="1"/>
          <p:nvPr/>
        </p:nvSpPr>
        <p:spPr>
          <a:xfrm>
            <a:off x="5513651" y="4082498"/>
            <a:ext cx="14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Fourier Series</a:t>
            </a:r>
          </a:p>
        </p:txBody>
      </p:sp>
      <p:sp>
        <p:nvSpPr>
          <p:cNvPr id="60" name="Down Arrow 59">
            <a:extLst>
              <a:ext uri="{FF2B5EF4-FFF2-40B4-BE49-F238E27FC236}">
                <a16:creationId xmlns:a16="http://schemas.microsoft.com/office/drawing/2014/main" id="{473B940B-0C43-25A0-E14E-99CF913C3DFD}"/>
              </a:ext>
            </a:extLst>
          </p:cNvPr>
          <p:cNvSpPr/>
          <p:nvPr/>
        </p:nvSpPr>
        <p:spPr>
          <a:xfrm>
            <a:off x="6051585" y="4526508"/>
            <a:ext cx="373395" cy="3133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CE132BE-DE08-442F-113C-7CA6518A31A9}"/>
              </a:ext>
            </a:extLst>
          </p:cNvPr>
          <p:cNvSpPr/>
          <p:nvPr/>
        </p:nvSpPr>
        <p:spPr>
          <a:xfrm>
            <a:off x="4826227" y="5056487"/>
            <a:ext cx="229679" cy="15454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9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8" grpId="0" animBg="1"/>
      <p:bldP spid="59" grpId="0"/>
      <p:bldP spid="60" grpId="0" animBg="1"/>
      <p:bldP spid="6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EED8608-39DF-54AC-0017-C56288C50979}"/>
              </a:ext>
            </a:extLst>
          </p:cNvPr>
          <p:cNvSpPr/>
          <p:nvPr/>
        </p:nvSpPr>
        <p:spPr>
          <a:xfrm>
            <a:off x="79927" y="4565993"/>
            <a:ext cx="4060008" cy="216639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A0CFBAD-AF85-8FC5-5CD1-6CED526D81B5}"/>
              </a:ext>
            </a:extLst>
          </p:cNvPr>
          <p:cNvSpPr/>
          <p:nvPr/>
        </p:nvSpPr>
        <p:spPr>
          <a:xfrm>
            <a:off x="85060" y="2084496"/>
            <a:ext cx="3991805" cy="229611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703034"/>
            <a:ext cx="8851933" cy="128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</a:t>
            </a:r>
          </a:p>
          <a:p>
            <a:pPr marL="914400" lvl="1" indent="-457200" algn="just">
              <a:buFontTx/>
              <a:buChar char="-"/>
            </a:pPr>
            <a:r>
              <a:rPr lang="en-US" dirty="0"/>
              <a:t>To analyze 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b="1" i="1" dirty="0">
                <a:solidFill>
                  <a:srgbClr val="7030A0"/>
                </a:solidFill>
              </a:rPr>
              <a:t>harmonics</a:t>
            </a:r>
            <a:r>
              <a:rPr lang="en-US" dirty="0">
                <a:solidFill>
                  <a:srgbClr val="FF0000"/>
                </a:solidFill>
              </a:rPr>
              <a:t>” </a:t>
            </a:r>
            <a:r>
              <a:rPr lang="en-US" dirty="0"/>
              <a:t>for PWM switching we need to understand two new terms:</a:t>
            </a:r>
          </a:p>
          <a:p>
            <a:pPr marL="1371600" lvl="2" indent="-457200" algn="just">
              <a:buFontTx/>
              <a:buChar char="-"/>
            </a:pPr>
            <a:r>
              <a:rPr lang="en-US" b="1" i="1" dirty="0">
                <a:solidFill>
                  <a:srgbClr val="FF0000"/>
                </a:solidFill>
              </a:rPr>
              <a:t>Amplitude Modulation Ratio </a:t>
            </a:r>
            <a:r>
              <a:rPr lang="en-US" dirty="0"/>
              <a:t>and </a:t>
            </a:r>
            <a:r>
              <a:rPr lang="en-US" b="1" i="1" dirty="0">
                <a:solidFill>
                  <a:srgbClr val="7030A0"/>
                </a:solidFill>
              </a:rPr>
              <a:t>Frequency Modulation Ratio</a:t>
            </a:r>
            <a:r>
              <a:rPr lang="en-US" dirty="0"/>
              <a:t>.</a:t>
            </a:r>
          </a:p>
          <a:p>
            <a:pPr marL="914400" lvl="1" indent="-457200">
              <a:buFontTx/>
              <a:buChar char="-"/>
            </a:pPr>
            <a:endParaRPr lang="en-US" sz="200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8608F13-BE68-15EB-EB2A-69250B138365}"/>
              </a:ext>
            </a:extLst>
          </p:cNvPr>
          <p:cNvGrpSpPr/>
          <p:nvPr/>
        </p:nvGrpSpPr>
        <p:grpSpPr>
          <a:xfrm>
            <a:off x="4210525" y="1777953"/>
            <a:ext cx="4355323" cy="2142968"/>
            <a:chOff x="4210525" y="1777953"/>
            <a:chExt cx="4355323" cy="214296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EFDB103-B13C-2796-6878-14E59A835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5327" y="3336807"/>
              <a:ext cx="4280521" cy="584114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51DFA53-9E42-5767-D540-0367584DFFDC}"/>
                </a:ext>
              </a:extLst>
            </p:cNvPr>
            <p:cNvGrpSpPr/>
            <p:nvPr/>
          </p:nvGrpSpPr>
          <p:grpSpPr>
            <a:xfrm>
              <a:off x="4210525" y="1777953"/>
              <a:ext cx="4157298" cy="1686518"/>
              <a:chOff x="1637445" y="3949693"/>
              <a:chExt cx="5869109" cy="2422172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0CEFBB8-7C0D-910A-6D27-CBC611578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7445" y="3949693"/>
                <a:ext cx="5869109" cy="2422172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314A5FA-73E9-F221-A2AA-0D036EECA649}"/>
                  </a:ext>
                </a:extLst>
              </p:cNvPr>
              <p:cNvSpPr/>
              <p:nvPr/>
            </p:nvSpPr>
            <p:spPr>
              <a:xfrm>
                <a:off x="2890684" y="5189033"/>
                <a:ext cx="108155" cy="11509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8C59190-F7AF-4FC5-4E37-9FCCBA685F77}"/>
                  </a:ext>
                </a:extLst>
              </p:cNvPr>
              <p:cNvSpPr/>
              <p:nvPr/>
            </p:nvSpPr>
            <p:spPr>
              <a:xfrm>
                <a:off x="3210232" y="5220929"/>
                <a:ext cx="108155" cy="11509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73FBF4E-05A5-1F58-A2E8-069BD52B45A0}"/>
                  </a:ext>
                </a:extLst>
              </p:cNvPr>
              <p:cNvSpPr/>
              <p:nvPr/>
            </p:nvSpPr>
            <p:spPr>
              <a:xfrm>
                <a:off x="2914236" y="4848789"/>
                <a:ext cx="61051" cy="2755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E6CA5F4-2650-015E-DCCE-E10EFF55584C}"/>
                  </a:ext>
                </a:extLst>
              </p:cNvPr>
              <p:cNvSpPr/>
              <p:nvPr/>
            </p:nvSpPr>
            <p:spPr>
              <a:xfrm>
                <a:off x="3246704" y="4859421"/>
                <a:ext cx="61051" cy="2755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7B54462-C346-BF55-C203-B714A2B66FAC}"/>
              </a:ext>
            </a:extLst>
          </p:cNvPr>
          <p:cNvGrpSpPr/>
          <p:nvPr/>
        </p:nvGrpSpPr>
        <p:grpSpPr>
          <a:xfrm>
            <a:off x="211177" y="2311515"/>
            <a:ext cx="3865688" cy="530840"/>
            <a:chOff x="190597" y="4678021"/>
            <a:chExt cx="3865688" cy="53084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A148478-2758-D773-5742-FEFC76B53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0597" y="4678021"/>
              <a:ext cx="1118555" cy="530840"/>
            </a:xfrm>
            <a:prstGeom prst="rect">
              <a:avLst/>
            </a:prstGeom>
          </p:spPr>
        </p:pic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6B22F084-B45D-9260-F083-2D3FE0D5005C}"/>
                </a:ext>
              </a:extLst>
            </p:cNvPr>
            <p:cNvSpPr/>
            <p:nvPr/>
          </p:nvSpPr>
          <p:spPr>
            <a:xfrm>
              <a:off x="1402216" y="4870471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9628235-F95D-71A0-3920-0B5474332F5F}"/>
                </a:ext>
              </a:extLst>
            </p:cNvPr>
            <p:cNvSpPr txBox="1"/>
            <p:nvPr/>
          </p:nvSpPr>
          <p:spPr>
            <a:xfrm>
              <a:off x="1791049" y="4795851"/>
              <a:ext cx="22652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Amplitude Modulation Ratio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F47DDC9-0751-1888-BF25-8F151C78D4D4}"/>
              </a:ext>
            </a:extLst>
          </p:cNvPr>
          <p:cNvGrpSpPr/>
          <p:nvPr/>
        </p:nvGrpSpPr>
        <p:grpSpPr>
          <a:xfrm>
            <a:off x="323658" y="4764142"/>
            <a:ext cx="3585813" cy="685708"/>
            <a:chOff x="323658" y="4764142"/>
            <a:chExt cx="3585813" cy="685708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7A41AD5-8B47-5DD9-0857-FDAABEC4F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3658" y="4764142"/>
              <a:ext cx="844890" cy="685708"/>
            </a:xfrm>
            <a:prstGeom prst="rect">
              <a:avLst/>
            </a:prstGeom>
          </p:spPr>
        </p:pic>
        <p:sp>
          <p:nvSpPr>
            <p:cNvPr id="39" name="Right Arrow 38">
              <a:extLst>
                <a:ext uri="{FF2B5EF4-FFF2-40B4-BE49-F238E27FC236}">
                  <a16:creationId xmlns:a16="http://schemas.microsoft.com/office/drawing/2014/main" id="{A87390E0-ACF7-A7AE-610E-94DDDFF46174}"/>
                </a:ext>
              </a:extLst>
            </p:cNvPr>
            <p:cNvSpPr/>
            <p:nvPr/>
          </p:nvSpPr>
          <p:spPr>
            <a:xfrm>
              <a:off x="1277356" y="4990417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4F7FC2E-96B3-B3FC-4323-9D6581F3F242}"/>
                </a:ext>
              </a:extLst>
            </p:cNvPr>
            <p:cNvSpPr txBox="1"/>
            <p:nvPr/>
          </p:nvSpPr>
          <p:spPr>
            <a:xfrm>
              <a:off x="1646607" y="4953106"/>
              <a:ext cx="22628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Frequency Modulation Ratio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F9889F-5298-F15C-9206-D9E7F4ED1A52}"/>
              </a:ext>
            </a:extLst>
          </p:cNvPr>
          <p:cNvCxnSpPr>
            <a:cxnSpLocks/>
            <a:stCxn id="50" idx="1"/>
          </p:cNvCxnSpPr>
          <p:nvPr/>
        </p:nvCxnSpPr>
        <p:spPr>
          <a:xfrm flipV="1">
            <a:off x="1246482" y="2195938"/>
            <a:ext cx="4078104" cy="11242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959ADFC-6419-268B-C648-D6FCB78B2ACE}"/>
              </a:ext>
            </a:extLst>
          </p:cNvPr>
          <p:cNvCxnSpPr>
            <a:cxnSpLocks/>
            <a:stCxn id="55" idx="1"/>
          </p:cNvCxnSpPr>
          <p:nvPr/>
        </p:nvCxnSpPr>
        <p:spPr>
          <a:xfrm flipV="1">
            <a:off x="1246482" y="2084496"/>
            <a:ext cx="4637863" cy="183551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0FA7E4C-D458-1E57-1220-1F4EC99621E1}"/>
              </a:ext>
            </a:extLst>
          </p:cNvPr>
          <p:cNvGrpSpPr/>
          <p:nvPr/>
        </p:nvGrpSpPr>
        <p:grpSpPr>
          <a:xfrm>
            <a:off x="263647" y="3166340"/>
            <a:ext cx="3201199" cy="307777"/>
            <a:chOff x="187056" y="5190641"/>
            <a:chExt cx="3201199" cy="307777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03745BE-6639-1940-C256-7A2A32F2D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7056" y="5202130"/>
              <a:ext cx="625652" cy="278068"/>
            </a:xfrm>
            <a:prstGeom prst="rect">
              <a:avLst/>
            </a:prstGeom>
          </p:spPr>
        </p:pic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80E4CCA1-C302-419F-DFB2-0105B8BBE07F}"/>
                </a:ext>
              </a:extLst>
            </p:cNvPr>
            <p:cNvSpPr/>
            <p:nvPr/>
          </p:nvSpPr>
          <p:spPr>
            <a:xfrm>
              <a:off x="845670" y="5224585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F5931C0-2D5F-A470-373B-57CC558D84AD}"/>
                </a:ext>
              </a:extLst>
            </p:cNvPr>
            <p:cNvSpPr txBox="1"/>
            <p:nvPr/>
          </p:nvSpPr>
          <p:spPr>
            <a:xfrm>
              <a:off x="1169891" y="5190641"/>
              <a:ext cx="2218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Peak Value of Control Signal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AFDE8CE-F1DD-FA57-ED56-18298D90BF25}"/>
              </a:ext>
            </a:extLst>
          </p:cNvPr>
          <p:cNvGrpSpPr/>
          <p:nvPr/>
        </p:nvGrpSpPr>
        <p:grpSpPr>
          <a:xfrm>
            <a:off x="293711" y="3699203"/>
            <a:ext cx="3363303" cy="374698"/>
            <a:chOff x="293711" y="3699203"/>
            <a:chExt cx="3363303" cy="37469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472E9F1-02EF-4BA6-2165-0862631F32E5}"/>
                </a:ext>
              </a:extLst>
            </p:cNvPr>
            <p:cNvSpPr txBox="1"/>
            <p:nvPr/>
          </p:nvSpPr>
          <p:spPr>
            <a:xfrm>
              <a:off x="1246482" y="3766124"/>
              <a:ext cx="24105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Peak Value of Triangular Signal</a:t>
              </a:r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790E1AA-BDF4-BB22-4F41-6F3F1CA1C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3711" y="3699203"/>
              <a:ext cx="342900" cy="304800"/>
            </a:xfrm>
            <a:prstGeom prst="rect">
              <a:avLst/>
            </a:prstGeom>
          </p:spPr>
        </p:pic>
        <p:sp>
          <p:nvSpPr>
            <p:cNvPr id="69" name="Right Arrow 68">
              <a:extLst>
                <a:ext uri="{FF2B5EF4-FFF2-40B4-BE49-F238E27FC236}">
                  <a16:creationId xmlns:a16="http://schemas.microsoft.com/office/drawing/2014/main" id="{099B512A-1789-C512-F833-A6694F043185}"/>
                </a:ext>
              </a:extLst>
            </p:cNvPr>
            <p:cNvSpPr/>
            <p:nvPr/>
          </p:nvSpPr>
          <p:spPr>
            <a:xfrm>
              <a:off x="913078" y="3779759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62BC333-E0B4-39D8-558F-16C953DEA315}"/>
              </a:ext>
            </a:extLst>
          </p:cNvPr>
          <p:cNvGrpSpPr/>
          <p:nvPr/>
        </p:nvGrpSpPr>
        <p:grpSpPr>
          <a:xfrm>
            <a:off x="476948" y="5455939"/>
            <a:ext cx="3175833" cy="523220"/>
            <a:chOff x="476948" y="5455939"/>
            <a:chExt cx="3175833" cy="52322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5E291CD-D0BD-E8E6-4256-C6E12E12A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6948" y="5533385"/>
              <a:ext cx="222116" cy="253847"/>
            </a:xfrm>
            <a:prstGeom prst="rect">
              <a:avLst/>
            </a:prstGeom>
          </p:spPr>
        </p:pic>
        <p:sp>
          <p:nvSpPr>
            <p:cNvPr id="74" name="Right Arrow 73">
              <a:extLst>
                <a:ext uri="{FF2B5EF4-FFF2-40B4-BE49-F238E27FC236}">
                  <a16:creationId xmlns:a16="http://schemas.microsoft.com/office/drawing/2014/main" id="{72A44215-42AD-A7D8-BB80-AFF731D890F1}"/>
                </a:ext>
              </a:extLst>
            </p:cNvPr>
            <p:cNvSpPr/>
            <p:nvPr/>
          </p:nvSpPr>
          <p:spPr>
            <a:xfrm>
              <a:off x="832731" y="5557043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CFF7803-3E89-795C-C556-E425ECAD92DC}"/>
                </a:ext>
              </a:extLst>
            </p:cNvPr>
            <p:cNvSpPr txBox="1"/>
            <p:nvPr/>
          </p:nvSpPr>
          <p:spPr>
            <a:xfrm>
              <a:off x="1201982" y="5455939"/>
              <a:ext cx="24507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Frequency of triangular signal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also called switching frequency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AFF4A4E-55A9-96CA-56B0-2A7DE5C84555}"/>
              </a:ext>
            </a:extLst>
          </p:cNvPr>
          <p:cNvGrpSpPr/>
          <p:nvPr/>
        </p:nvGrpSpPr>
        <p:grpSpPr>
          <a:xfrm>
            <a:off x="453692" y="6049815"/>
            <a:ext cx="3734557" cy="523220"/>
            <a:chOff x="453692" y="6049815"/>
            <a:chExt cx="3734557" cy="523220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1B7CA90-36B4-96F4-9BCE-6F5910C08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3692" y="6177064"/>
              <a:ext cx="244328" cy="279232"/>
            </a:xfrm>
            <a:prstGeom prst="rect">
              <a:avLst/>
            </a:prstGeom>
          </p:spPr>
        </p:pic>
        <p:sp>
          <p:nvSpPr>
            <p:cNvPr id="76" name="Right Arrow 75">
              <a:extLst>
                <a:ext uri="{FF2B5EF4-FFF2-40B4-BE49-F238E27FC236}">
                  <a16:creationId xmlns:a16="http://schemas.microsoft.com/office/drawing/2014/main" id="{F7C4A4A0-0D7A-E155-7D03-B0FEA35DCF9E}"/>
                </a:ext>
              </a:extLst>
            </p:cNvPr>
            <p:cNvSpPr/>
            <p:nvPr/>
          </p:nvSpPr>
          <p:spPr>
            <a:xfrm>
              <a:off x="832731" y="6182820"/>
              <a:ext cx="309626" cy="2331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ADAB367-0260-1D42-EA11-3A766E0A7C2C}"/>
                </a:ext>
              </a:extLst>
            </p:cNvPr>
            <p:cNvSpPr txBox="1"/>
            <p:nvPr/>
          </p:nvSpPr>
          <p:spPr>
            <a:xfrm>
              <a:off x="1201982" y="6049815"/>
              <a:ext cx="29862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Frequency of control signal also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called desired fundamental frequency </a:t>
              </a:r>
            </a:p>
          </p:txBody>
        </p: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27E2AED-5A22-7DF4-9F07-C17F46E33A60}"/>
              </a:ext>
            </a:extLst>
          </p:cNvPr>
          <p:cNvCxnSpPr>
            <a:cxnSpLocks/>
          </p:cNvCxnSpPr>
          <p:nvPr/>
        </p:nvCxnSpPr>
        <p:spPr>
          <a:xfrm flipV="1">
            <a:off x="1142357" y="3371028"/>
            <a:ext cx="4652387" cy="22926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8157AEB-5C83-A52B-B499-744D0FC44754}"/>
              </a:ext>
            </a:extLst>
          </p:cNvPr>
          <p:cNvCxnSpPr>
            <a:cxnSpLocks/>
          </p:cNvCxnSpPr>
          <p:nvPr/>
        </p:nvCxnSpPr>
        <p:spPr>
          <a:xfrm flipV="1">
            <a:off x="1200938" y="3848133"/>
            <a:ext cx="4846864" cy="2456381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02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44712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56156" y="619132"/>
            <a:ext cx="8851933" cy="442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A6AD4-FC0E-D9DB-354E-E51CBF9F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44" y="1031098"/>
            <a:ext cx="2316724" cy="273829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DBAE6ED-CBA4-A427-7914-FA2A0DC3DAB6}"/>
              </a:ext>
            </a:extLst>
          </p:cNvPr>
          <p:cNvGrpSpPr/>
          <p:nvPr/>
        </p:nvGrpSpPr>
        <p:grpSpPr>
          <a:xfrm>
            <a:off x="4363182" y="1060077"/>
            <a:ext cx="3939692" cy="2738292"/>
            <a:chOff x="1242496" y="2750376"/>
            <a:chExt cx="4394200" cy="32131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29A5D7-3AB2-BF94-5037-8F058AA0B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2496" y="2750376"/>
              <a:ext cx="4394200" cy="32131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88CF3-08CF-DAA9-F653-48803897056B}"/>
                </a:ext>
              </a:extLst>
            </p:cNvPr>
            <p:cNvSpPr/>
            <p:nvPr/>
          </p:nvSpPr>
          <p:spPr>
            <a:xfrm>
              <a:off x="5072934" y="4631737"/>
              <a:ext cx="230586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93A92B-A509-B85A-C96F-9A0B0232C244}"/>
                </a:ext>
              </a:extLst>
            </p:cNvPr>
            <p:cNvSpPr/>
            <p:nvPr/>
          </p:nvSpPr>
          <p:spPr>
            <a:xfrm>
              <a:off x="4998196" y="5308416"/>
              <a:ext cx="306911" cy="607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27618F-244C-7CAE-AC34-B7C93CBA3594}"/>
              </a:ext>
            </a:extLst>
          </p:cNvPr>
          <p:cNvGrpSpPr/>
          <p:nvPr/>
        </p:nvGrpSpPr>
        <p:grpSpPr>
          <a:xfrm>
            <a:off x="1442770" y="3731402"/>
            <a:ext cx="6258460" cy="2501151"/>
            <a:chOff x="1442770" y="3731402"/>
            <a:chExt cx="6258460" cy="250115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B1580A5-C976-CC34-D1BB-2D8F19F53792}"/>
                </a:ext>
              </a:extLst>
            </p:cNvPr>
            <p:cNvGrpSpPr/>
            <p:nvPr/>
          </p:nvGrpSpPr>
          <p:grpSpPr>
            <a:xfrm>
              <a:off x="1442770" y="3731402"/>
              <a:ext cx="6258460" cy="2501151"/>
              <a:chOff x="1442770" y="3731402"/>
              <a:chExt cx="6258460" cy="250115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A36C2D0-AE44-D388-C750-B786CA61B331}"/>
                  </a:ext>
                </a:extLst>
              </p:cNvPr>
              <p:cNvGrpSpPr/>
              <p:nvPr/>
            </p:nvGrpSpPr>
            <p:grpSpPr>
              <a:xfrm>
                <a:off x="1442770" y="4077560"/>
                <a:ext cx="6258460" cy="2154993"/>
                <a:chOff x="1389050" y="4577399"/>
                <a:chExt cx="6258460" cy="2154993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472A0998-CF3F-08CE-9EBC-276A3FACDF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9050" y="4577399"/>
                  <a:ext cx="6258460" cy="2154993"/>
                </a:xfrm>
                <a:prstGeom prst="rect">
                  <a:avLst/>
                </a:prstGeom>
              </p:spPr>
            </p:pic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FEC451E-E8D2-0404-E6C1-297A022FD38A}"/>
                    </a:ext>
                  </a:extLst>
                </p:cNvPr>
                <p:cNvSpPr/>
                <p:nvPr/>
              </p:nvSpPr>
              <p:spPr>
                <a:xfrm>
                  <a:off x="4240198" y="5091597"/>
                  <a:ext cx="1246202" cy="247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AA13DBB-20E7-A5A4-9299-E3400A9F7C73}"/>
                  </a:ext>
                </a:extLst>
              </p:cNvPr>
              <p:cNvGrpSpPr/>
              <p:nvPr/>
            </p:nvGrpSpPr>
            <p:grpSpPr>
              <a:xfrm>
                <a:off x="1802097" y="3731402"/>
                <a:ext cx="373395" cy="605325"/>
                <a:chOff x="3789965" y="3501305"/>
                <a:chExt cx="468725" cy="840275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6A90293-4F5A-C438-567A-16DC0D259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7978" y="3714810"/>
                  <a:ext cx="373395" cy="62677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7C08D27C-8DD0-5D88-B183-16EE0A4D21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9109" y="3501305"/>
                  <a:ext cx="459581" cy="320840"/>
                </a:xfrm>
                <a:prstGeom prst="rect">
                  <a:avLst/>
                </a:prstGeom>
              </p:spPr>
            </p:pic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038BE1D-E98A-2E85-2CFD-D2991010FFC6}"/>
                    </a:ext>
                  </a:extLst>
                </p:cNvPr>
                <p:cNvCxnSpPr/>
                <p:nvPr/>
              </p:nvCxnSpPr>
              <p:spPr>
                <a:xfrm>
                  <a:off x="3789965" y="3803857"/>
                  <a:ext cx="45958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2CF7E09A-3773-D9E1-2184-539B47486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63182" y="3884286"/>
                <a:ext cx="857370" cy="447737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F78EFD-A83D-D537-1F3D-F8DAD4AC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965201" y="4298174"/>
              <a:ext cx="903143" cy="4419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53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44712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56156" y="619132"/>
            <a:ext cx="8851933" cy="442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/>
              <p:nvPr/>
            </p:nvSpPr>
            <p:spPr>
              <a:xfrm>
                <a:off x="277103" y="4862603"/>
                <a:ext cx="825165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2. The amplitude of the fundamental-frequency component of the output voltage varies linearly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GB" sz="2000" dirty="0"/>
                  <a:t> (provided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sz="2000" dirty="0"/>
                  <a:t>).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03" y="4862603"/>
                <a:ext cx="8251652" cy="707886"/>
              </a:xfrm>
              <a:prstGeom prst="rect">
                <a:avLst/>
              </a:prstGeom>
              <a:blipFill>
                <a:blip r:embed="rId11"/>
                <a:stretch>
                  <a:fillRect l="-739" t="-5172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9CA94C0-4B3E-1B0E-5D02-6295210ED4DB}"/>
              </a:ext>
            </a:extLst>
          </p:cNvPr>
          <p:cNvGrpSpPr/>
          <p:nvPr/>
        </p:nvGrpSpPr>
        <p:grpSpPr>
          <a:xfrm>
            <a:off x="331609" y="4051673"/>
            <a:ext cx="7859489" cy="872226"/>
            <a:chOff x="331609" y="4502120"/>
            <a:chExt cx="7859489" cy="8722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7DDFCD7-09FE-CAEE-736F-3AEA4E2D3D1E}"/>
                    </a:ext>
                  </a:extLst>
                </p:cNvPr>
                <p:cNvSpPr txBox="1"/>
                <p:nvPr/>
              </p:nvSpPr>
              <p:spPr>
                <a:xfrm>
                  <a:off x="331609" y="4502120"/>
                  <a:ext cx="7859489" cy="8722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2000" dirty="0"/>
                    <a:t>1. The peak amplitude of the fundamental-frequency component            is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a14:m>
                  <a:r>
                    <a:rPr lang="en-GB" sz="2000" dirty="0"/>
                    <a:t>times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f>
                            <m:f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a14:m>
                  <a:r>
                    <a:rPr lang="en-GB" sz="2000" dirty="0"/>
                    <a:t>.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7DDFCD7-09FE-CAEE-736F-3AEA4E2D3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609" y="4502120"/>
                  <a:ext cx="7859489" cy="872226"/>
                </a:xfrm>
                <a:prstGeom prst="rect">
                  <a:avLst/>
                </a:prstGeom>
                <a:blipFill>
                  <a:blip r:embed="rId12"/>
                  <a:stretch>
                    <a:fillRect l="-775" t="-4196" r="-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5C8C6A7-F0B4-C98F-1888-2BC7B0E38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223219" y="4530231"/>
              <a:ext cx="570909" cy="32422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246741-52CB-4249-510A-2C90AB051275}"/>
                  </a:ext>
                </a:extLst>
              </p:cNvPr>
              <p:cNvSpPr txBox="1"/>
              <p:nvPr/>
            </p:nvSpPr>
            <p:spPr>
              <a:xfrm>
                <a:off x="268213" y="5665310"/>
                <a:ext cx="8654406" cy="1040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3. The harmonics in the inverter output voltage waveform appear as sidebands, centred around the switching frequency and its multiples, that is, around harmonics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000" dirty="0"/>
                  <a:t> 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000" dirty="0"/>
                  <a:t>, 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000" dirty="0"/>
                  <a:t>, and so on.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246741-52CB-4249-510A-2C90AB051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3" y="5665310"/>
                <a:ext cx="8654406" cy="1040285"/>
              </a:xfrm>
              <a:prstGeom prst="rect">
                <a:avLst/>
              </a:prstGeom>
              <a:blipFill>
                <a:blip r:embed="rId14"/>
                <a:stretch>
                  <a:fillRect l="-775" t="-2924" b="-7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2A42A6A-A850-4B18-5AB9-F67AE46787D8}"/>
              </a:ext>
            </a:extLst>
          </p:cNvPr>
          <p:cNvGrpSpPr/>
          <p:nvPr/>
        </p:nvGrpSpPr>
        <p:grpSpPr>
          <a:xfrm>
            <a:off x="1442770" y="1145218"/>
            <a:ext cx="6258460" cy="2501151"/>
            <a:chOff x="1442770" y="3731402"/>
            <a:chExt cx="6258460" cy="250115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BA5AC82-1346-9EDC-EF8D-E03F4A35C100}"/>
                </a:ext>
              </a:extLst>
            </p:cNvPr>
            <p:cNvGrpSpPr/>
            <p:nvPr/>
          </p:nvGrpSpPr>
          <p:grpSpPr>
            <a:xfrm>
              <a:off x="1442770" y="4077560"/>
              <a:ext cx="6258460" cy="2154993"/>
              <a:chOff x="1389050" y="4577399"/>
              <a:chExt cx="6258460" cy="2154993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D2BE0DB-DF09-2B75-8CA0-CF21874A1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89050" y="4577399"/>
                <a:ext cx="6258460" cy="2154993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50957D4-28AB-794E-0838-9C47796F3595}"/>
                  </a:ext>
                </a:extLst>
              </p:cNvPr>
              <p:cNvSpPr/>
              <p:nvPr/>
            </p:nvSpPr>
            <p:spPr>
              <a:xfrm>
                <a:off x="4240198" y="5091597"/>
                <a:ext cx="1246202" cy="2479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4190D97-6872-902B-3556-6124E2624BA8}"/>
                </a:ext>
              </a:extLst>
            </p:cNvPr>
            <p:cNvGrpSpPr/>
            <p:nvPr/>
          </p:nvGrpSpPr>
          <p:grpSpPr>
            <a:xfrm>
              <a:off x="1802097" y="3731402"/>
              <a:ext cx="373395" cy="605325"/>
              <a:chOff x="3789965" y="3501305"/>
              <a:chExt cx="468725" cy="84027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BF24B0CF-7C16-B9FA-F437-D797ABC02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17978" y="3714810"/>
                <a:ext cx="373395" cy="62677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4A7A258B-C4A2-D5D8-3ECD-093E848067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99109" y="3501305"/>
                <a:ext cx="459581" cy="320840"/>
              </a:xfrm>
              <a:prstGeom prst="rect">
                <a:avLst/>
              </a:prstGeom>
            </p:spPr>
          </p:pic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591263E-BEB1-CD05-124F-D4F43BA1C681}"/>
                  </a:ext>
                </a:extLst>
              </p:cNvPr>
              <p:cNvCxnSpPr/>
              <p:nvPr/>
            </p:nvCxnSpPr>
            <p:spPr>
              <a:xfrm>
                <a:off x="3789965" y="3803857"/>
                <a:ext cx="45958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13F927-99A1-BC18-E272-33A72C738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63182" y="3884286"/>
              <a:ext cx="857370" cy="447737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E87C5EA2-8399-2606-7829-63212BE115D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75492" y="3334560"/>
            <a:ext cx="774457" cy="68393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0199CE2-C221-8147-25C9-31151E99DF50}"/>
              </a:ext>
            </a:extLst>
          </p:cNvPr>
          <p:cNvSpPr/>
          <p:nvPr/>
        </p:nvSpPr>
        <p:spPr>
          <a:xfrm>
            <a:off x="4129091" y="2143776"/>
            <a:ext cx="1494469" cy="372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93CD8C8-DD3E-88B9-FD23-77EE804298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3560" y="3427679"/>
            <a:ext cx="582254" cy="59081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311D776-484D-69EE-0166-9DC9D8F356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23328" y="3425481"/>
            <a:ext cx="582254" cy="67183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43B151D-C4CA-5FBC-0C8A-353DD2E3434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5152" y="1701812"/>
            <a:ext cx="903143" cy="441964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027CF26-F9D3-08B5-778A-BE55C40410D8}"/>
              </a:ext>
            </a:extLst>
          </p:cNvPr>
          <p:cNvCxnSpPr>
            <a:cxnSpLocks/>
          </p:cNvCxnSpPr>
          <p:nvPr/>
        </p:nvCxnSpPr>
        <p:spPr>
          <a:xfrm flipV="1">
            <a:off x="1957095" y="2006459"/>
            <a:ext cx="218397" cy="1037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32D3B6-9FBE-7748-081E-B6FAB46A81AD}"/>
              </a:ext>
            </a:extLst>
          </p:cNvPr>
          <p:cNvCxnSpPr>
            <a:cxnSpLocks/>
          </p:cNvCxnSpPr>
          <p:nvPr/>
        </p:nvCxnSpPr>
        <p:spPr>
          <a:xfrm flipV="1">
            <a:off x="2778034" y="3240718"/>
            <a:ext cx="503917" cy="1847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eft Brace 45">
            <a:extLst>
              <a:ext uri="{FF2B5EF4-FFF2-40B4-BE49-F238E27FC236}">
                <a16:creationId xmlns:a16="http://schemas.microsoft.com/office/drawing/2014/main" id="{98FE9674-81D0-E851-278F-87C205CF2F6F}"/>
              </a:ext>
            </a:extLst>
          </p:cNvPr>
          <p:cNvSpPr/>
          <p:nvPr/>
        </p:nvSpPr>
        <p:spPr>
          <a:xfrm rot="16200000">
            <a:off x="3151127" y="2605492"/>
            <a:ext cx="261649" cy="1064805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CF6164D2-7630-F46E-8317-FFD9E5538AA7}"/>
              </a:ext>
            </a:extLst>
          </p:cNvPr>
          <p:cNvSpPr/>
          <p:nvPr/>
        </p:nvSpPr>
        <p:spPr>
          <a:xfrm rot="16200000">
            <a:off x="4722176" y="2578657"/>
            <a:ext cx="211096" cy="11431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FFCA06-A94E-0FED-BB6C-DDDCB030420F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4917019" y="3333099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51EDE0-7D8B-ADCD-ACEE-6A2AD41E28C2}"/>
              </a:ext>
            </a:extLst>
          </p:cNvPr>
          <p:cNvCxnSpPr>
            <a:cxnSpLocks/>
          </p:cNvCxnSpPr>
          <p:nvPr/>
        </p:nvCxnSpPr>
        <p:spPr>
          <a:xfrm flipH="1" flipV="1">
            <a:off x="6765705" y="3363490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eft Brace 49">
            <a:extLst>
              <a:ext uri="{FF2B5EF4-FFF2-40B4-BE49-F238E27FC236}">
                <a16:creationId xmlns:a16="http://schemas.microsoft.com/office/drawing/2014/main" id="{D490BC98-1B87-4C84-64CA-A3A71920F023}"/>
              </a:ext>
            </a:extLst>
          </p:cNvPr>
          <p:cNvSpPr/>
          <p:nvPr/>
        </p:nvSpPr>
        <p:spPr>
          <a:xfrm rot="16200000">
            <a:off x="6489134" y="2464054"/>
            <a:ext cx="168799" cy="14310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58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46" grpId="0" animBg="1"/>
      <p:bldP spid="47" grpId="0" animBg="1"/>
      <p:bldP spid="5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B1580A5-C976-CC34-D1BB-2D8F19F53792}"/>
              </a:ext>
            </a:extLst>
          </p:cNvPr>
          <p:cNvGrpSpPr/>
          <p:nvPr/>
        </p:nvGrpSpPr>
        <p:grpSpPr>
          <a:xfrm>
            <a:off x="1164868" y="990715"/>
            <a:ext cx="6258460" cy="2501151"/>
            <a:chOff x="1442770" y="3731402"/>
            <a:chExt cx="6258460" cy="250115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A36C2D0-AE44-D388-C750-B786CA61B331}"/>
                </a:ext>
              </a:extLst>
            </p:cNvPr>
            <p:cNvGrpSpPr/>
            <p:nvPr/>
          </p:nvGrpSpPr>
          <p:grpSpPr>
            <a:xfrm>
              <a:off x="1442770" y="4077560"/>
              <a:ext cx="6258460" cy="2154993"/>
              <a:chOff x="1389050" y="4577399"/>
              <a:chExt cx="6258460" cy="2154993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72A0998-CF3F-08CE-9EBC-276A3FACDF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9050" y="4577399"/>
                <a:ext cx="6258460" cy="2154993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FEC451E-E8D2-0404-E6C1-297A022FD38A}"/>
                  </a:ext>
                </a:extLst>
              </p:cNvPr>
              <p:cNvSpPr/>
              <p:nvPr/>
            </p:nvSpPr>
            <p:spPr>
              <a:xfrm>
                <a:off x="4240198" y="5091597"/>
                <a:ext cx="1246202" cy="2479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A13DBB-20E7-A5A4-9299-E3400A9F7C73}"/>
                </a:ext>
              </a:extLst>
            </p:cNvPr>
            <p:cNvGrpSpPr/>
            <p:nvPr/>
          </p:nvGrpSpPr>
          <p:grpSpPr>
            <a:xfrm>
              <a:off x="1802097" y="3731402"/>
              <a:ext cx="373395" cy="605325"/>
              <a:chOff x="3789965" y="3501305"/>
              <a:chExt cx="468725" cy="840275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6A90293-4F5A-C438-567A-16DC0D259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7978" y="3714810"/>
                <a:ext cx="373395" cy="62677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C08D27C-8DD0-5D88-B183-16EE0A4D2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9109" y="3501305"/>
                <a:ext cx="459581" cy="320840"/>
              </a:xfrm>
              <a:prstGeom prst="rect">
                <a:avLst/>
              </a:prstGeom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038BE1D-E98A-2E85-2CFD-D2991010FFC6}"/>
                  </a:ext>
                </a:extLst>
              </p:cNvPr>
              <p:cNvCxnSpPr/>
              <p:nvPr/>
            </p:nvCxnSpPr>
            <p:spPr>
              <a:xfrm>
                <a:off x="3789965" y="3803857"/>
                <a:ext cx="45958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F7E09A-3773-D9E1-2184-539B47486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3182" y="3884286"/>
              <a:ext cx="857370" cy="4477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44712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56156" y="619132"/>
            <a:ext cx="8851933" cy="442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F1B8A5-771F-8729-E81F-946088A7F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590" y="3180057"/>
            <a:ext cx="774457" cy="6839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1C0BF3-E4FF-21D6-CD19-92034372A04C}"/>
              </a:ext>
            </a:extLst>
          </p:cNvPr>
          <p:cNvSpPr/>
          <p:nvPr/>
        </p:nvSpPr>
        <p:spPr>
          <a:xfrm>
            <a:off x="3851189" y="1989273"/>
            <a:ext cx="1494469" cy="372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16DE18-F535-413C-5D9F-C2481368BC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658" y="3273176"/>
            <a:ext cx="582254" cy="5908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86E01A-D8AF-CD4B-A69B-E121B562D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5426" y="3270978"/>
            <a:ext cx="582254" cy="671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78EFD-A83D-D537-1F3D-F8DAD4AC0E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7250" y="1547309"/>
            <a:ext cx="903143" cy="4419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F2FB74-8B33-1928-D475-F04E882DA220}"/>
              </a:ext>
            </a:extLst>
          </p:cNvPr>
          <p:cNvCxnSpPr>
            <a:cxnSpLocks/>
          </p:cNvCxnSpPr>
          <p:nvPr/>
        </p:nvCxnSpPr>
        <p:spPr>
          <a:xfrm flipV="1">
            <a:off x="1679193" y="1851956"/>
            <a:ext cx="218397" cy="1037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7D390-D1DC-35E4-F3D3-5FE6B554AE41}"/>
              </a:ext>
            </a:extLst>
          </p:cNvPr>
          <p:cNvCxnSpPr>
            <a:cxnSpLocks/>
          </p:cNvCxnSpPr>
          <p:nvPr/>
        </p:nvCxnSpPr>
        <p:spPr>
          <a:xfrm flipV="1">
            <a:off x="2500132" y="3086215"/>
            <a:ext cx="503917" cy="1847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05B6C40D-77B2-3D1E-A143-94272616190A}"/>
              </a:ext>
            </a:extLst>
          </p:cNvPr>
          <p:cNvSpPr/>
          <p:nvPr/>
        </p:nvSpPr>
        <p:spPr>
          <a:xfrm rot="16200000">
            <a:off x="2873225" y="2450989"/>
            <a:ext cx="261649" cy="1064805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B305FD1-B19D-B77C-3DA1-8DAD9298E832}"/>
              </a:ext>
            </a:extLst>
          </p:cNvPr>
          <p:cNvSpPr/>
          <p:nvPr/>
        </p:nvSpPr>
        <p:spPr>
          <a:xfrm rot="16200000">
            <a:off x="4444274" y="2424154"/>
            <a:ext cx="211096" cy="11431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3FD61C-37F2-20F9-D468-085A37AAA0F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39117" y="3178596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3F696B-0FF3-5818-EAB2-371E7E094211}"/>
              </a:ext>
            </a:extLst>
          </p:cNvPr>
          <p:cNvCxnSpPr>
            <a:cxnSpLocks/>
          </p:cNvCxnSpPr>
          <p:nvPr/>
        </p:nvCxnSpPr>
        <p:spPr>
          <a:xfrm flipH="1" flipV="1">
            <a:off x="6487803" y="3208987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3F56F0F0-6D70-393D-0B4B-E6C1A6D0DD5C}"/>
              </a:ext>
            </a:extLst>
          </p:cNvPr>
          <p:cNvSpPr/>
          <p:nvPr/>
        </p:nvSpPr>
        <p:spPr>
          <a:xfrm rot="16200000">
            <a:off x="6211232" y="2309551"/>
            <a:ext cx="168799" cy="14310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/>
              <p:nvPr/>
            </p:nvSpPr>
            <p:spPr>
              <a:xfrm>
                <a:off x="268213" y="3948712"/>
                <a:ext cx="8251652" cy="1040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4. Theoretically, the frequencies at which voltage harmonics occur can be indicated as: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3" y="3948712"/>
                <a:ext cx="8251652" cy="1040285"/>
              </a:xfrm>
              <a:prstGeom prst="rect">
                <a:avLst/>
              </a:prstGeom>
              <a:blipFill>
                <a:blip r:embed="rId11"/>
                <a:stretch>
                  <a:fillRect l="-812" t="-3529" b="-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246741-52CB-4249-510A-2C90AB051275}"/>
                  </a:ext>
                </a:extLst>
              </p:cNvPr>
              <p:cNvSpPr txBox="1"/>
              <p:nvPr/>
            </p:nvSpPr>
            <p:spPr>
              <a:xfrm>
                <a:off x="311914" y="5014149"/>
                <a:ext cx="8654406" cy="1092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5. the harmonic order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000" dirty="0"/>
                  <a:t> corresponds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sz="2000" dirty="0"/>
                  <a:t> sideband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dirty="0"/>
                  <a:t> times the frequency modulation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000" dirty="0"/>
                  <a:t> 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246741-52CB-4249-510A-2C90AB051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14" y="5014149"/>
                <a:ext cx="8654406" cy="1092543"/>
              </a:xfrm>
              <a:prstGeom prst="rect">
                <a:avLst/>
              </a:prstGeom>
              <a:blipFill>
                <a:blip r:embed="rId12"/>
                <a:stretch>
                  <a:fillRect l="-704" t="-2793" r="-1056" b="-27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41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B1580A5-C976-CC34-D1BB-2D8F19F53792}"/>
              </a:ext>
            </a:extLst>
          </p:cNvPr>
          <p:cNvGrpSpPr/>
          <p:nvPr/>
        </p:nvGrpSpPr>
        <p:grpSpPr>
          <a:xfrm>
            <a:off x="1164868" y="990715"/>
            <a:ext cx="6258460" cy="2501151"/>
            <a:chOff x="1442770" y="3731402"/>
            <a:chExt cx="6258460" cy="250115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A36C2D0-AE44-D388-C750-B786CA61B331}"/>
                </a:ext>
              </a:extLst>
            </p:cNvPr>
            <p:cNvGrpSpPr/>
            <p:nvPr/>
          </p:nvGrpSpPr>
          <p:grpSpPr>
            <a:xfrm>
              <a:off x="1442770" y="4077560"/>
              <a:ext cx="6258460" cy="2154993"/>
              <a:chOff x="1389050" y="4577399"/>
              <a:chExt cx="6258460" cy="2154993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72A0998-CF3F-08CE-9EBC-276A3FACDF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9050" y="4577399"/>
                <a:ext cx="6258460" cy="2154993"/>
              </a:xfrm>
              <a:prstGeom prst="rect">
                <a:avLst/>
              </a:prstGeom>
            </p:spPr>
          </p:pic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FEC451E-E8D2-0404-E6C1-297A022FD38A}"/>
                  </a:ext>
                </a:extLst>
              </p:cNvPr>
              <p:cNvSpPr/>
              <p:nvPr/>
            </p:nvSpPr>
            <p:spPr>
              <a:xfrm>
                <a:off x="4240198" y="5091597"/>
                <a:ext cx="1246202" cy="2479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A13DBB-20E7-A5A4-9299-E3400A9F7C73}"/>
                </a:ext>
              </a:extLst>
            </p:cNvPr>
            <p:cNvGrpSpPr/>
            <p:nvPr/>
          </p:nvGrpSpPr>
          <p:grpSpPr>
            <a:xfrm>
              <a:off x="1802097" y="3731402"/>
              <a:ext cx="373395" cy="605325"/>
              <a:chOff x="3789965" y="3501305"/>
              <a:chExt cx="468725" cy="840275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6A90293-4F5A-C438-567A-16DC0D259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17978" y="3714810"/>
                <a:ext cx="373395" cy="62677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C08D27C-8DD0-5D88-B183-16EE0A4D2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9109" y="3501305"/>
                <a:ext cx="459581" cy="320840"/>
              </a:xfrm>
              <a:prstGeom prst="rect">
                <a:avLst/>
              </a:prstGeom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038BE1D-E98A-2E85-2CFD-D2991010FFC6}"/>
                  </a:ext>
                </a:extLst>
              </p:cNvPr>
              <p:cNvCxnSpPr/>
              <p:nvPr/>
            </p:nvCxnSpPr>
            <p:spPr>
              <a:xfrm>
                <a:off x="3789965" y="3803857"/>
                <a:ext cx="45958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F7E09A-3773-D9E1-2184-539B47486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3182" y="3884286"/>
              <a:ext cx="857370" cy="44773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6" y="44712"/>
            <a:ext cx="7886700" cy="721053"/>
          </a:xfrm>
        </p:spPr>
        <p:txBody>
          <a:bodyPr/>
          <a:lstStyle/>
          <a:p>
            <a:r>
              <a:rPr lang="en-US" dirty="0"/>
              <a:t>Harmonics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56156" y="619132"/>
            <a:ext cx="8851933" cy="442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Harmonics in PWM Switching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F1B8A5-771F-8729-E81F-946088A7F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590" y="3180057"/>
            <a:ext cx="774457" cy="6839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1C0BF3-E4FF-21D6-CD19-92034372A04C}"/>
              </a:ext>
            </a:extLst>
          </p:cNvPr>
          <p:cNvSpPr/>
          <p:nvPr/>
        </p:nvSpPr>
        <p:spPr>
          <a:xfrm>
            <a:off x="3851189" y="1989273"/>
            <a:ext cx="1494469" cy="372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16DE18-F535-413C-5D9F-C2481368BC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658" y="3273176"/>
            <a:ext cx="582254" cy="59081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86E01A-D8AF-CD4B-A69B-E121B562DC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5426" y="3270978"/>
            <a:ext cx="582254" cy="671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78EFD-A83D-D537-1F3D-F8DAD4AC0E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7250" y="1547309"/>
            <a:ext cx="903143" cy="4419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F2FB74-8B33-1928-D475-F04E882DA220}"/>
              </a:ext>
            </a:extLst>
          </p:cNvPr>
          <p:cNvCxnSpPr>
            <a:cxnSpLocks/>
          </p:cNvCxnSpPr>
          <p:nvPr/>
        </p:nvCxnSpPr>
        <p:spPr>
          <a:xfrm flipV="1">
            <a:off x="1679193" y="1851956"/>
            <a:ext cx="218397" cy="1037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7D390-D1DC-35E4-F3D3-5FE6B554AE41}"/>
              </a:ext>
            </a:extLst>
          </p:cNvPr>
          <p:cNvCxnSpPr>
            <a:cxnSpLocks/>
          </p:cNvCxnSpPr>
          <p:nvPr/>
        </p:nvCxnSpPr>
        <p:spPr>
          <a:xfrm flipV="1">
            <a:off x="2500132" y="3086215"/>
            <a:ext cx="503917" cy="1847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05B6C40D-77B2-3D1E-A143-94272616190A}"/>
              </a:ext>
            </a:extLst>
          </p:cNvPr>
          <p:cNvSpPr/>
          <p:nvPr/>
        </p:nvSpPr>
        <p:spPr>
          <a:xfrm rot="16200000">
            <a:off x="2873225" y="2450989"/>
            <a:ext cx="261649" cy="1064805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9B305FD1-B19D-B77C-3DA1-8DAD9298E832}"/>
              </a:ext>
            </a:extLst>
          </p:cNvPr>
          <p:cNvSpPr/>
          <p:nvPr/>
        </p:nvSpPr>
        <p:spPr>
          <a:xfrm rot="16200000">
            <a:off x="4444274" y="2424154"/>
            <a:ext cx="211096" cy="11431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3FD61C-37F2-20F9-D468-085A37AAA0F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39117" y="3178596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3F696B-0FF3-5818-EAB2-371E7E094211}"/>
              </a:ext>
            </a:extLst>
          </p:cNvPr>
          <p:cNvCxnSpPr>
            <a:cxnSpLocks/>
          </p:cNvCxnSpPr>
          <p:nvPr/>
        </p:nvCxnSpPr>
        <p:spPr>
          <a:xfrm flipH="1" flipV="1">
            <a:off x="6487803" y="3208987"/>
            <a:ext cx="706541" cy="3899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3F56F0F0-6D70-393D-0B4B-E6C1A6D0DD5C}"/>
              </a:ext>
            </a:extLst>
          </p:cNvPr>
          <p:cNvSpPr/>
          <p:nvPr/>
        </p:nvSpPr>
        <p:spPr>
          <a:xfrm rot="16200000">
            <a:off x="6211232" y="2309551"/>
            <a:ext cx="168799" cy="1431080"/>
          </a:xfrm>
          <a:prstGeom prst="leftBrace">
            <a:avLst>
              <a:gd name="adj1" fmla="val 8333"/>
              <a:gd name="adj2" fmla="val 5681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/>
              <p:nvPr/>
            </p:nvSpPr>
            <p:spPr>
              <a:xfrm>
                <a:off x="268213" y="4227144"/>
                <a:ext cx="8251652" cy="732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6. For odd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dirty="0"/>
                  <a:t>, the harmonics exist only for even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. For even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000" dirty="0"/>
                  <a:t>, the harmonics exist only for odd values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CC358-104C-8F44-4661-6C55EC81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3" y="4227144"/>
                <a:ext cx="8251652" cy="732508"/>
              </a:xfrm>
              <a:prstGeom prst="rect">
                <a:avLst/>
              </a:prstGeom>
              <a:blipFill>
                <a:blip r:embed="rId11"/>
                <a:stretch>
                  <a:fillRect l="-812" t="-4132" b="-10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74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36708"/>
            <a:ext cx="7886700" cy="721053"/>
          </a:xfrm>
        </p:spPr>
        <p:txBody>
          <a:bodyPr/>
          <a:lstStyle/>
          <a:p>
            <a:r>
              <a:rPr lang="en-US" dirty="0"/>
              <a:t>Practical Half Bridge Inverter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576034"/>
            <a:ext cx="8851933" cy="752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Made through real components</a:t>
            </a:r>
          </a:p>
          <a:p>
            <a:pPr marL="914400" lvl="1" indent="-457200">
              <a:buFontTx/>
              <a:buChar char="-"/>
            </a:pPr>
            <a:r>
              <a:rPr lang="en-US" dirty="0"/>
              <a:t>Square Wave Switching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A6AD4-FC0E-D9DB-354E-E51CBF9F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14" y="1571769"/>
            <a:ext cx="2145896" cy="2536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D8140D-F5B4-D15F-2E9F-874409FB6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208" y="1315491"/>
            <a:ext cx="3210817" cy="2781201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A131CF93-C612-E234-71ED-08D2D1A2B7CA}"/>
              </a:ext>
            </a:extLst>
          </p:cNvPr>
          <p:cNvSpPr/>
          <p:nvPr/>
        </p:nvSpPr>
        <p:spPr>
          <a:xfrm>
            <a:off x="4029998" y="2471658"/>
            <a:ext cx="660400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E7A6C23-0A89-9ECA-12C5-4026B0B12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79" y="4320495"/>
            <a:ext cx="3110515" cy="2411897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F20EF817-4AE9-B67A-6DA8-30BDD986E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888" y="4219175"/>
            <a:ext cx="3110514" cy="2711304"/>
          </a:xfrm>
          <a:prstGeom prst="rect">
            <a:avLst/>
          </a:prstGeom>
        </p:spPr>
      </p:pic>
      <p:sp>
        <p:nvSpPr>
          <p:cNvPr id="84" name="Right Arrow 83">
            <a:extLst>
              <a:ext uri="{FF2B5EF4-FFF2-40B4-BE49-F238E27FC236}">
                <a16:creationId xmlns:a16="http://schemas.microsoft.com/office/drawing/2014/main" id="{8CFBA112-3A63-39DF-6158-51D3180359AB}"/>
              </a:ext>
            </a:extLst>
          </p:cNvPr>
          <p:cNvSpPr/>
          <p:nvPr/>
        </p:nvSpPr>
        <p:spPr>
          <a:xfrm>
            <a:off x="3717908" y="5132336"/>
            <a:ext cx="660400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228B1B-4F81-485E-CCB5-28F09F8B021A}"/>
              </a:ext>
            </a:extLst>
          </p:cNvPr>
          <p:cNvSpPr txBox="1"/>
          <p:nvPr/>
        </p:nvSpPr>
        <p:spPr>
          <a:xfrm>
            <a:off x="3361348" y="5792851"/>
            <a:ext cx="1535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Avoiding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Shoot through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615A4CB-863D-FA7A-5C97-AC58375C4445}"/>
              </a:ext>
            </a:extLst>
          </p:cNvPr>
          <p:cNvCxnSpPr>
            <a:cxnSpLocks/>
          </p:cNvCxnSpPr>
          <p:nvPr/>
        </p:nvCxnSpPr>
        <p:spPr>
          <a:xfrm flipV="1">
            <a:off x="1567994" y="2106097"/>
            <a:ext cx="6204406" cy="241189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095302C-AC87-E65E-6BA6-5698CAE9FDE9}"/>
              </a:ext>
            </a:extLst>
          </p:cNvPr>
          <p:cNvCxnSpPr>
            <a:cxnSpLocks/>
          </p:cNvCxnSpPr>
          <p:nvPr/>
        </p:nvCxnSpPr>
        <p:spPr>
          <a:xfrm flipV="1">
            <a:off x="1600200" y="3542607"/>
            <a:ext cx="6172200" cy="212553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761B5C6-E1F4-ECD1-FACB-4CC0D65D3A5D}"/>
              </a:ext>
            </a:extLst>
          </p:cNvPr>
          <p:cNvSpPr txBox="1"/>
          <p:nvPr/>
        </p:nvSpPr>
        <p:spPr>
          <a:xfrm>
            <a:off x="7413243" y="2269990"/>
            <a:ext cx="1785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Both switches on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Shoot Through</a:t>
            </a:r>
          </a:p>
        </p:txBody>
      </p:sp>
    </p:spTree>
    <p:extLst>
      <p:ext uri="{BB962C8B-B14F-4D97-AF65-F5344CB8AC3E}">
        <p14:creationId xmlns:p14="http://schemas.microsoft.com/office/powerpoint/2010/main" val="20295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4" grpId="0" animBg="1"/>
      <p:bldP spid="85" grpId="0"/>
      <p:bldP spid="9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D775DA-3B87-E094-2310-B060BFF5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437" y="4388894"/>
            <a:ext cx="2041599" cy="150775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570786C-8CFA-293C-A85B-A9E55971A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595" y="1297087"/>
            <a:ext cx="3210817" cy="27812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8A6AD4-FC0E-D9DB-354E-E51CBF9F8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37" y="1468900"/>
            <a:ext cx="2145896" cy="253637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F66C7BD-A4F3-EBF3-F647-D132E0BC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36708"/>
            <a:ext cx="7886700" cy="721053"/>
          </a:xfrm>
        </p:spPr>
        <p:txBody>
          <a:bodyPr/>
          <a:lstStyle/>
          <a:p>
            <a:r>
              <a:rPr lang="en-US" dirty="0"/>
              <a:t>Practical Half Bridge Inverter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E8E0CD-CB28-BAA0-B4E0-5091750F937D}"/>
              </a:ext>
            </a:extLst>
          </p:cNvPr>
          <p:cNvSpPr txBox="1">
            <a:spLocks/>
          </p:cNvSpPr>
          <p:nvPr/>
        </p:nvSpPr>
        <p:spPr>
          <a:xfrm>
            <a:off x="185741" y="576034"/>
            <a:ext cx="8851933" cy="752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Made through real components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PWM Switching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8CB60A7-76DF-50FE-BE89-339B389B3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2" y="4203654"/>
            <a:ext cx="3383030" cy="139861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7948796-BBDC-1207-D7FC-AE0BF82D5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994" y="4447260"/>
            <a:ext cx="3337613" cy="1179001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2CB4475-1FDD-8BB2-B0B5-8057495CA36B}"/>
              </a:ext>
            </a:extLst>
          </p:cNvPr>
          <p:cNvCxnSpPr>
            <a:cxnSpLocks/>
          </p:cNvCxnSpPr>
          <p:nvPr/>
        </p:nvCxnSpPr>
        <p:spPr>
          <a:xfrm flipV="1">
            <a:off x="3318260" y="4678326"/>
            <a:ext cx="680919" cy="1260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F2173E0-E132-1CD8-EA3C-E6EE164A8D24}"/>
              </a:ext>
            </a:extLst>
          </p:cNvPr>
          <p:cNvCxnSpPr>
            <a:cxnSpLocks/>
          </p:cNvCxnSpPr>
          <p:nvPr/>
        </p:nvCxnSpPr>
        <p:spPr>
          <a:xfrm flipV="1">
            <a:off x="3338779" y="5067713"/>
            <a:ext cx="772816" cy="28475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ight Arrow 65">
            <a:extLst>
              <a:ext uri="{FF2B5EF4-FFF2-40B4-BE49-F238E27FC236}">
                <a16:creationId xmlns:a16="http://schemas.microsoft.com/office/drawing/2014/main" id="{C6D7A63C-574C-30E2-C41D-021B80D55BDB}"/>
              </a:ext>
            </a:extLst>
          </p:cNvPr>
          <p:cNvSpPr/>
          <p:nvPr/>
        </p:nvSpPr>
        <p:spPr>
          <a:xfrm>
            <a:off x="3338779" y="2438730"/>
            <a:ext cx="660400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1EA3AA18-1BAD-670D-87B0-853CADF48706}"/>
              </a:ext>
            </a:extLst>
          </p:cNvPr>
          <p:cNvSpPr/>
          <p:nvPr/>
        </p:nvSpPr>
        <p:spPr>
          <a:xfrm rot="20935081">
            <a:off x="7423609" y="1964095"/>
            <a:ext cx="1222273" cy="2619627"/>
          </a:xfrm>
          <a:custGeom>
            <a:avLst/>
            <a:gdLst>
              <a:gd name="connsiteX0" fmla="*/ 0 w 565723"/>
              <a:gd name="connsiteY0" fmla="*/ 3083442 h 3083442"/>
              <a:gd name="connsiteX1" fmla="*/ 542260 w 565723"/>
              <a:gd name="connsiteY1" fmla="*/ 1541721 h 3083442"/>
              <a:gd name="connsiteX2" fmla="*/ 425302 w 565723"/>
              <a:gd name="connsiteY2" fmla="*/ 531628 h 3083442"/>
              <a:gd name="connsiteX3" fmla="*/ 42530 w 565723"/>
              <a:gd name="connsiteY3" fmla="*/ 0 h 3083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5723" h="3083442">
                <a:moveTo>
                  <a:pt x="0" y="3083442"/>
                </a:moveTo>
                <a:cubicBezTo>
                  <a:pt x="235688" y="2525232"/>
                  <a:pt x="471376" y="1967023"/>
                  <a:pt x="542260" y="1541721"/>
                </a:cubicBezTo>
                <a:cubicBezTo>
                  <a:pt x="613144" y="1116419"/>
                  <a:pt x="508590" y="788581"/>
                  <a:pt x="425302" y="531628"/>
                </a:cubicBezTo>
                <a:cubicBezTo>
                  <a:pt x="342014" y="274675"/>
                  <a:pt x="106325" y="83288"/>
                  <a:pt x="42530" y="0"/>
                </a:cubicBezTo>
              </a:path>
            </a:pathLst>
          </a:cu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CD621B7F-3DB7-C9A6-B892-6A8C4C19B1C7}"/>
              </a:ext>
            </a:extLst>
          </p:cNvPr>
          <p:cNvSpPr/>
          <p:nvPr/>
        </p:nvSpPr>
        <p:spPr>
          <a:xfrm rot="20625293">
            <a:off x="7486905" y="3344945"/>
            <a:ext cx="746664" cy="1877176"/>
          </a:xfrm>
          <a:custGeom>
            <a:avLst/>
            <a:gdLst>
              <a:gd name="connsiteX0" fmla="*/ 0 w 565723"/>
              <a:gd name="connsiteY0" fmla="*/ 3083442 h 3083442"/>
              <a:gd name="connsiteX1" fmla="*/ 542260 w 565723"/>
              <a:gd name="connsiteY1" fmla="*/ 1541721 h 3083442"/>
              <a:gd name="connsiteX2" fmla="*/ 425302 w 565723"/>
              <a:gd name="connsiteY2" fmla="*/ 531628 h 3083442"/>
              <a:gd name="connsiteX3" fmla="*/ 42530 w 565723"/>
              <a:gd name="connsiteY3" fmla="*/ 0 h 3083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5723" h="3083442">
                <a:moveTo>
                  <a:pt x="0" y="3083442"/>
                </a:moveTo>
                <a:cubicBezTo>
                  <a:pt x="235688" y="2525232"/>
                  <a:pt x="471376" y="1967023"/>
                  <a:pt x="542260" y="1541721"/>
                </a:cubicBezTo>
                <a:cubicBezTo>
                  <a:pt x="613144" y="1116419"/>
                  <a:pt x="508590" y="788581"/>
                  <a:pt x="425302" y="531628"/>
                </a:cubicBezTo>
                <a:cubicBezTo>
                  <a:pt x="342014" y="274675"/>
                  <a:pt x="106325" y="83288"/>
                  <a:pt x="42530" y="0"/>
                </a:cubicBezTo>
              </a:path>
            </a:pathLst>
          </a:cu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4777A6-95B4-6A16-1C1B-D7886715A1D6}"/>
              </a:ext>
            </a:extLst>
          </p:cNvPr>
          <p:cNvSpPr txBox="1"/>
          <p:nvPr/>
        </p:nvSpPr>
        <p:spPr>
          <a:xfrm>
            <a:off x="6555387" y="2535386"/>
            <a:ext cx="1785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Both switches on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Shoot Through</a:t>
            </a:r>
          </a:p>
        </p:txBody>
      </p:sp>
    </p:spTree>
    <p:extLst>
      <p:ext uri="{BB962C8B-B14F-4D97-AF65-F5344CB8AC3E}">
        <p14:creationId xmlns:p14="http://schemas.microsoft.com/office/powerpoint/2010/main" val="234443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9" grpId="0" animBg="1"/>
      <p:bldP spid="70" grpId="0" animBg="1"/>
      <p:bldP spid="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165BF45C-3540-7814-98DA-33914B856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59" y="1924493"/>
            <a:ext cx="2220543" cy="14437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DAB49-4E83-D5C9-EF6D-0F2CE1E6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1" y="125608"/>
            <a:ext cx="7886700" cy="721053"/>
          </a:xfrm>
        </p:spPr>
        <p:txBody>
          <a:bodyPr/>
          <a:lstStyle/>
          <a:p>
            <a:r>
              <a:rPr lang="en-US" dirty="0"/>
              <a:t>Practical Half Bridge Inverter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0A584-C9BA-C39F-A4D3-ABF895CCF570}"/>
              </a:ext>
            </a:extLst>
          </p:cNvPr>
          <p:cNvSpPr txBox="1">
            <a:spLocks/>
          </p:cNvSpPr>
          <p:nvPr/>
        </p:nvSpPr>
        <p:spPr>
          <a:xfrm>
            <a:off x="185741" y="703034"/>
            <a:ext cx="8851933" cy="987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b="1" dirty="0"/>
              <a:t>Made through real components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Avoiding shoot through in PWM Switching</a:t>
            </a:r>
            <a:endParaRPr lang="en-US" sz="2400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131CF93-C612-E234-71ED-08D2D1A2B7CA}"/>
              </a:ext>
            </a:extLst>
          </p:cNvPr>
          <p:cNvSpPr/>
          <p:nvPr/>
        </p:nvSpPr>
        <p:spPr>
          <a:xfrm>
            <a:off x="3033606" y="2318815"/>
            <a:ext cx="660400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9924CE-8B0C-2BE8-CED3-0EA945FB0A72}"/>
              </a:ext>
            </a:extLst>
          </p:cNvPr>
          <p:cNvCxnSpPr>
            <a:cxnSpLocks/>
          </p:cNvCxnSpPr>
          <p:nvPr/>
        </p:nvCxnSpPr>
        <p:spPr>
          <a:xfrm>
            <a:off x="1254644" y="1935126"/>
            <a:ext cx="0" cy="144374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E6066-1D7A-BCCC-C923-92B1581D43EC}"/>
                  </a:ext>
                </a:extLst>
              </p:cNvPr>
              <p:cNvSpPr txBox="1"/>
              <p:nvPr/>
            </p:nvSpPr>
            <p:spPr>
              <a:xfrm>
                <a:off x="225896" y="1980261"/>
                <a:ext cx="35346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8E6066-1D7A-BCCC-C923-92B1581D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96" y="1980261"/>
                <a:ext cx="353465" cy="338554"/>
              </a:xfrm>
              <a:prstGeom prst="rect">
                <a:avLst/>
              </a:prstGeom>
              <a:blipFill>
                <a:blip r:embed="rId4"/>
                <a:stretch>
                  <a:fillRect r="-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55C65C-30BE-EB9D-A5A7-FA235F42D38D}"/>
                  </a:ext>
                </a:extLst>
              </p:cNvPr>
              <p:cNvSpPr txBox="1"/>
              <p:nvPr/>
            </p:nvSpPr>
            <p:spPr>
              <a:xfrm>
                <a:off x="197540" y="2887574"/>
                <a:ext cx="35346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55C65C-30BE-EB9D-A5A7-FA235F42D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40" y="2887574"/>
                <a:ext cx="35346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2514E63-4BF9-9F20-0951-CA1CEECD7BD0}"/>
              </a:ext>
            </a:extLst>
          </p:cNvPr>
          <p:cNvCxnSpPr>
            <a:cxnSpLocks/>
          </p:cNvCxnSpPr>
          <p:nvPr/>
        </p:nvCxnSpPr>
        <p:spPr>
          <a:xfrm>
            <a:off x="1906775" y="1937729"/>
            <a:ext cx="0" cy="138797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CC67BA00-7A96-D555-E61D-3D32025EE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15" y="1935126"/>
            <a:ext cx="2371556" cy="321794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4BB2081-5ABD-A6DF-27A4-A33F6319C02E}"/>
              </a:ext>
            </a:extLst>
          </p:cNvPr>
          <p:cNvSpPr txBox="1"/>
          <p:nvPr/>
        </p:nvSpPr>
        <p:spPr>
          <a:xfrm>
            <a:off x="3937751" y="2394499"/>
            <a:ext cx="2353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Causing Shoot Through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0B5E7A-8B69-1A03-294A-72833D2AEB99}"/>
              </a:ext>
            </a:extLst>
          </p:cNvPr>
          <p:cNvCxnSpPr/>
          <p:nvPr/>
        </p:nvCxnSpPr>
        <p:spPr>
          <a:xfrm>
            <a:off x="1244011" y="1818167"/>
            <a:ext cx="0" cy="33349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96537AC-2B50-D3BE-F4D1-69ED00D6EDC3}"/>
              </a:ext>
            </a:extLst>
          </p:cNvPr>
          <p:cNvCxnSpPr/>
          <p:nvPr/>
        </p:nvCxnSpPr>
        <p:spPr>
          <a:xfrm>
            <a:off x="2087527" y="1818167"/>
            <a:ext cx="0" cy="33349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F471A2-BAF8-7172-415D-01C20FDF56B0}"/>
              </a:ext>
            </a:extLst>
          </p:cNvPr>
          <p:cNvCxnSpPr/>
          <p:nvPr/>
        </p:nvCxnSpPr>
        <p:spPr>
          <a:xfrm>
            <a:off x="1410588" y="1818167"/>
            <a:ext cx="0" cy="33349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708C97-1670-0C98-D4E7-0938DC508909}"/>
              </a:ext>
            </a:extLst>
          </p:cNvPr>
          <p:cNvCxnSpPr/>
          <p:nvPr/>
        </p:nvCxnSpPr>
        <p:spPr>
          <a:xfrm>
            <a:off x="1949307" y="1825166"/>
            <a:ext cx="0" cy="3334901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ight Arrow 50">
            <a:extLst>
              <a:ext uri="{FF2B5EF4-FFF2-40B4-BE49-F238E27FC236}">
                <a16:creationId xmlns:a16="http://schemas.microsoft.com/office/drawing/2014/main" id="{3DA4C22D-E2DD-2009-8C6A-F92BEC967BFE}"/>
              </a:ext>
            </a:extLst>
          </p:cNvPr>
          <p:cNvSpPr/>
          <p:nvPr/>
        </p:nvSpPr>
        <p:spPr>
          <a:xfrm>
            <a:off x="3033606" y="4057791"/>
            <a:ext cx="660400" cy="520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64C037-9399-67C5-5535-8A07A5E9646B}"/>
              </a:ext>
            </a:extLst>
          </p:cNvPr>
          <p:cNvSpPr txBox="1"/>
          <p:nvPr/>
        </p:nvSpPr>
        <p:spPr>
          <a:xfrm>
            <a:off x="3937751" y="4133475"/>
            <a:ext cx="492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of blanking time to avoid shoot through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5AD717-5EED-9676-21A5-4919DE6A5963}"/>
                  </a:ext>
                </a:extLst>
              </p:cNvPr>
              <p:cNvSpPr txBox="1"/>
              <p:nvPr/>
            </p:nvSpPr>
            <p:spPr>
              <a:xfrm>
                <a:off x="207818" y="3595494"/>
                <a:ext cx="35346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5AD717-5EED-9676-21A5-4919DE6A5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18" y="3595494"/>
                <a:ext cx="353465" cy="338554"/>
              </a:xfrm>
              <a:prstGeom prst="rect">
                <a:avLst/>
              </a:prstGeom>
              <a:blipFill>
                <a:blip r:embed="rId7"/>
                <a:stretch>
                  <a:fillRect r="-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69AA8D1-C3FA-20C7-7FAF-DE27D7FA9BE6}"/>
                  </a:ext>
                </a:extLst>
              </p:cNvPr>
              <p:cNvSpPr txBox="1"/>
              <p:nvPr/>
            </p:nvSpPr>
            <p:spPr>
              <a:xfrm>
                <a:off x="179462" y="4502807"/>
                <a:ext cx="35346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69AA8D1-C3FA-20C7-7FAF-DE27D7FA9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2" y="4502807"/>
                <a:ext cx="35346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42D2D40-7AE1-38F3-9B89-28295617FEBA}"/>
              </a:ext>
            </a:extLst>
          </p:cNvPr>
          <p:cNvCxnSpPr/>
          <p:nvPr/>
        </p:nvCxnSpPr>
        <p:spPr>
          <a:xfrm>
            <a:off x="1254644" y="5160067"/>
            <a:ext cx="329607" cy="3901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584364-10D8-1A58-22B5-7DB7D60D06F6}"/>
              </a:ext>
            </a:extLst>
          </p:cNvPr>
          <p:cNvCxnSpPr>
            <a:cxnSpLocks/>
          </p:cNvCxnSpPr>
          <p:nvPr/>
        </p:nvCxnSpPr>
        <p:spPr>
          <a:xfrm flipH="1">
            <a:off x="1733109" y="5160067"/>
            <a:ext cx="269363" cy="3901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1E9D63A-2EC8-4225-494C-CD0E78DCF74D}"/>
              </a:ext>
            </a:extLst>
          </p:cNvPr>
          <p:cNvSpPr txBox="1"/>
          <p:nvPr/>
        </p:nvSpPr>
        <p:spPr>
          <a:xfrm>
            <a:off x="1092836" y="5557194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Blanking Time</a:t>
            </a:r>
          </a:p>
        </p:txBody>
      </p:sp>
    </p:spTree>
    <p:extLst>
      <p:ext uri="{BB962C8B-B14F-4D97-AF65-F5344CB8AC3E}">
        <p14:creationId xmlns:p14="http://schemas.microsoft.com/office/powerpoint/2010/main" val="348106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9" grpId="0" animBg="1"/>
      <p:bldP spid="40" grpId="0" animBg="1"/>
      <p:bldP spid="45" grpId="0"/>
      <p:bldP spid="51" grpId="0" animBg="1"/>
      <p:bldP spid="52" grpId="0"/>
      <p:bldP spid="53" grpId="0" animBg="1"/>
      <p:bldP spid="54" grpId="0" animBg="1"/>
      <p:bldP spid="6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EC39-A15E-D4E0-05CF-5C8DE3E2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8" y="109133"/>
            <a:ext cx="7886700" cy="676274"/>
          </a:xfrm>
        </p:spPr>
        <p:txBody>
          <a:bodyPr>
            <a:normAutofit fontScale="90000"/>
          </a:bodyPr>
          <a:lstStyle/>
          <a:p>
            <a:r>
              <a:rPr lang="en-US" dirty="0"/>
              <a:t>Avoiding Shoot through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AE342C8-4CB1-B8C9-2C64-3E1705744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46" y="1436958"/>
            <a:ext cx="3210817" cy="2781201"/>
          </a:xfrm>
          <a:prstGeom prst="rect">
            <a:avLst/>
          </a:prstGeom>
        </p:spPr>
      </p:pic>
      <p:sp>
        <p:nvSpPr>
          <p:cNvPr id="96" name="Freeform 95">
            <a:extLst>
              <a:ext uri="{FF2B5EF4-FFF2-40B4-BE49-F238E27FC236}">
                <a16:creationId xmlns:a16="http://schemas.microsoft.com/office/drawing/2014/main" id="{EB6DE853-2F1E-C63B-2949-FF0D02CD76E5}"/>
              </a:ext>
            </a:extLst>
          </p:cNvPr>
          <p:cNvSpPr/>
          <p:nvPr/>
        </p:nvSpPr>
        <p:spPr>
          <a:xfrm rot="1364276">
            <a:off x="8049908" y="2344368"/>
            <a:ext cx="876956" cy="2613288"/>
          </a:xfrm>
          <a:custGeom>
            <a:avLst/>
            <a:gdLst>
              <a:gd name="connsiteX0" fmla="*/ 0 w 565723"/>
              <a:gd name="connsiteY0" fmla="*/ 3083442 h 3083442"/>
              <a:gd name="connsiteX1" fmla="*/ 542260 w 565723"/>
              <a:gd name="connsiteY1" fmla="*/ 1541721 h 3083442"/>
              <a:gd name="connsiteX2" fmla="*/ 425302 w 565723"/>
              <a:gd name="connsiteY2" fmla="*/ 531628 h 3083442"/>
              <a:gd name="connsiteX3" fmla="*/ 42530 w 565723"/>
              <a:gd name="connsiteY3" fmla="*/ 0 h 3083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5723" h="3083442">
                <a:moveTo>
                  <a:pt x="0" y="3083442"/>
                </a:moveTo>
                <a:cubicBezTo>
                  <a:pt x="235688" y="2525232"/>
                  <a:pt x="471376" y="1967023"/>
                  <a:pt x="542260" y="1541721"/>
                </a:cubicBezTo>
                <a:cubicBezTo>
                  <a:pt x="613144" y="1116419"/>
                  <a:pt x="508590" y="788581"/>
                  <a:pt x="425302" y="531628"/>
                </a:cubicBezTo>
                <a:cubicBezTo>
                  <a:pt x="342014" y="274675"/>
                  <a:pt x="106325" y="83288"/>
                  <a:pt x="42530" y="0"/>
                </a:cubicBezTo>
              </a:path>
            </a:pathLst>
          </a:cu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F0BF4509-1FFC-2531-12CC-FA48123F3D2C}"/>
              </a:ext>
            </a:extLst>
          </p:cNvPr>
          <p:cNvSpPr/>
          <p:nvPr/>
        </p:nvSpPr>
        <p:spPr>
          <a:xfrm rot="1021163">
            <a:off x="8169559" y="3769882"/>
            <a:ext cx="886329" cy="2504940"/>
          </a:xfrm>
          <a:custGeom>
            <a:avLst/>
            <a:gdLst>
              <a:gd name="connsiteX0" fmla="*/ 0 w 565723"/>
              <a:gd name="connsiteY0" fmla="*/ 3083442 h 3083442"/>
              <a:gd name="connsiteX1" fmla="*/ 542260 w 565723"/>
              <a:gd name="connsiteY1" fmla="*/ 1541721 h 3083442"/>
              <a:gd name="connsiteX2" fmla="*/ 425302 w 565723"/>
              <a:gd name="connsiteY2" fmla="*/ 531628 h 3083442"/>
              <a:gd name="connsiteX3" fmla="*/ 42530 w 565723"/>
              <a:gd name="connsiteY3" fmla="*/ 0 h 3083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5723" h="3083442">
                <a:moveTo>
                  <a:pt x="0" y="3083442"/>
                </a:moveTo>
                <a:cubicBezTo>
                  <a:pt x="235688" y="2525232"/>
                  <a:pt x="471376" y="1967023"/>
                  <a:pt x="542260" y="1541721"/>
                </a:cubicBezTo>
                <a:cubicBezTo>
                  <a:pt x="613144" y="1116419"/>
                  <a:pt x="508590" y="788581"/>
                  <a:pt x="425302" y="531628"/>
                </a:cubicBezTo>
                <a:cubicBezTo>
                  <a:pt x="342014" y="274675"/>
                  <a:pt x="106325" y="83288"/>
                  <a:pt x="42530" y="0"/>
                </a:cubicBezTo>
              </a:path>
            </a:pathLst>
          </a:cu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6D9A76BE-0AA1-71CA-4D48-357C4C2D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855" y="989024"/>
            <a:ext cx="5140842" cy="1800479"/>
          </a:xfrm>
          <a:prstGeom prst="rect">
            <a:avLst/>
          </a:prstGeom>
        </p:spPr>
      </p:pic>
      <p:sp>
        <p:nvSpPr>
          <p:cNvPr id="99" name="Rectangle 98">
            <a:extLst>
              <a:ext uri="{FF2B5EF4-FFF2-40B4-BE49-F238E27FC236}">
                <a16:creationId xmlns:a16="http://schemas.microsoft.com/office/drawing/2014/main" id="{367C2F22-D8CE-44FA-CD97-AFDA76C88ED3}"/>
              </a:ext>
            </a:extLst>
          </p:cNvPr>
          <p:cNvSpPr/>
          <p:nvPr/>
        </p:nvSpPr>
        <p:spPr>
          <a:xfrm>
            <a:off x="956922" y="1904628"/>
            <a:ext cx="53163" cy="637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75C168D-0117-9DEF-86C5-D2B7B351F52A}"/>
              </a:ext>
            </a:extLst>
          </p:cNvPr>
          <p:cNvSpPr/>
          <p:nvPr/>
        </p:nvSpPr>
        <p:spPr>
          <a:xfrm>
            <a:off x="1651583" y="1889263"/>
            <a:ext cx="53163" cy="6379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A5A0CED-2A1C-36A0-28CD-3828CCC90E13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1406997" y="1250615"/>
            <a:ext cx="32589" cy="2620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648925-B759-AFB3-1495-39C0D1A66E00}"/>
                  </a:ext>
                </a:extLst>
              </p:cNvPr>
              <p:cNvSpPr txBox="1"/>
              <p:nvPr/>
            </p:nvSpPr>
            <p:spPr>
              <a:xfrm>
                <a:off x="5331500" y="1043062"/>
                <a:ext cx="4231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n-GB" sz="16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5648925-B759-AFB3-1495-39C0D1A66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500" y="1043062"/>
                <a:ext cx="423124" cy="338554"/>
              </a:xfrm>
              <a:prstGeom prst="rect">
                <a:avLst/>
              </a:prstGeom>
              <a:blipFill>
                <a:blip r:embed="rId4"/>
                <a:stretch>
                  <a:fillRect r="-3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C975F8C-0359-8A8D-47F9-740B6D1946DA}"/>
              </a:ext>
            </a:extLst>
          </p:cNvPr>
          <p:cNvCxnSpPr>
            <a:cxnSpLocks/>
          </p:cNvCxnSpPr>
          <p:nvPr/>
        </p:nvCxnSpPr>
        <p:spPr>
          <a:xfrm flipH="1">
            <a:off x="5092987" y="1250615"/>
            <a:ext cx="288881" cy="0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0498198-68DB-4E5F-E4CE-AEB2B3AD0BF3}"/>
              </a:ext>
            </a:extLst>
          </p:cNvPr>
          <p:cNvCxnSpPr>
            <a:cxnSpLocks/>
          </p:cNvCxnSpPr>
          <p:nvPr/>
        </p:nvCxnSpPr>
        <p:spPr>
          <a:xfrm flipH="1" flipV="1">
            <a:off x="4766654" y="2438948"/>
            <a:ext cx="161692" cy="17653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B439F68-5787-AB57-27F5-2099397F4492}"/>
                  </a:ext>
                </a:extLst>
              </p:cNvPr>
              <p:cNvSpPr txBox="1"/>
              <p:nvPr/>
            </p:nvSpPr>
            <p:spPr>
              <a:xfrm>
                <a:off x="4880563" y="2516449"/>
                <a:ext cx="4231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n-GB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B439F68-5787-AB57-27F5-2099397F4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563" y="2516449"/>
                <a:ext cx="423124" cy="338554"/>
              </a:xfrm>
              <a:prstGeom prst="rect">
                <a:avLst/>
              </a:prstGeom>
              <a:blipFill>
                <a:blip r:embed="rId5"/>
                <a:stretch>
                  <a:fillRect r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709ACDA-E42F-0DDF-942F-7F40162C9455}"/>
                  </a:ext>
                </a:extLst>
              </p:cNvPr>
              <p:cNvSpPr txBox="1"/>
              <p:nvPr/>
            </p:nvSpPr>
            <p:spPr>
              <a:xfrm>
                <a:off x="3968189" y="2406214"/>
                <a:ext cx="42312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𝒕𝒓𝒊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709ACDA-E42F-0DDF-942F-7F40162C9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189" y="2406214"/>
                <a:ext cx="423124" cy="338554"/>
              </a:xfrm>
              <a:prstGeom prst="rect">
                <a:avLst/>
              </a:prstGeom>
              <a:blipFill>
                <a:blip r:embed="rId6"/>
                <a:stretch>
                  <a:fillRect r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A9FCC74-E6CF-570F-3313-E7C46D01B763}"/>
                  </a:ext>
                </a:extLst>
              </p:cNvPr>
              <p:cNvSpPr txBox="1"/>
              <p:nvPr/>
            </p:nvSpPr>
            <p:spPr>
              <a:xfrm>
                <a:off x="956922" y="912061"/>
                <a:ext cx="90014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𝒄𝒐𝒏𝒕𝒓𝒐𝒍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A9FCC74-E6CF-570F-3313-E7C46D01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22" y="912061"/>
                <a:ext cx="90014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ADFE998-781A-5CFE-15B7-BF5B533B482F}"/>
              </a:ext>
            </a:extLst>
          </p:cNvPr>
          <p:cNvCxnSpPr>
            <a:cxnSpLocks/>
          </p:cNvCxnSpPr>
          <p:nvPr/>
        </p:nvCxnSpPr>
        <p:spPr>
          <a:xfrm>
            <a:off x="85450" y="1250615"/>
            <a:ext cx="9970" cy="353574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CFFF1D6-CA8E-CAF0-99C9-4D3738B40D58}"/>
              </a:ext>
            </a:extLst>
          </p:cNvPr>
          <p:cNvCxnSpPr/>
          <p:nvPr/>
        </p:nvCxnSpPr>
        <p:spPr>
          <a:xfrm flipV="1">
            <a:off x="-47855" y="3314087"/>
            <a:ext cx="5944445" cy="7691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368F87E-7A45-1E1E-A355-74B233A54CEC}"/>
              </a:ext>
            </a:extLst>
          </p:cNvPr>
          <p:cNvCxnSpPr/>
          <p:nvPr/>
        </p:nvCxnSpPr>
        <p:spPr>
          <a:xfrm flipV="1">
            <a:off x="-47856" y="4218159"/>
            <a:ext cx="5944445" cy="76912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9390F3E-39D8-ECD0-E619-413F7AB03285}"/>
              </a:ext>
            </a:extLst>
          </p:cNvPr>
          <p:cNvCxnSpPr>
            <a:cxnSpLocks/>
          </p:cNvCxnSpPr>
          <p:nvPr/>
        </p:nvCxnSpPr>
        <p:spPr>
          <a:xfrm>
            <a:off x="340400" y="1250615"/>
            <a:ext cx="50304" cy="3526597"/>
          </a:xfrm>
          <a:prstGeom prst="line">
            <a:avLst/>
          </a:prstGeom>
          <a:ln w="2222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8F79963-EDD9-FB57-42C3-A1B5FF9843A3}"/>
              </a:ext>
            </a:extLst>
          </p:cNvPr>
          <p:cNvCxnSpPr>
            <a:cxnSpLocks/>
          </p:cNvCxnSpPr>
          <p:nvPr/>
        </p:nvCxnSpPr>
        <p:spPr>
          <a:xfrm>
            <a:off x="693141" y="1250615"/>
            <a:ext cx="49199" cy="3526597"/>
          </a:xfrm>
          <a:prstGeom prst="line">
            <a:avLst/>
          </a:prstGeom>
          <a:ln w="2222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829ECC8-0AAD-76F8-296A-B35BC08E6A2B}"/>
              </a:ext>
            </a:extLst>
          </p:cNvPr>
          <p:cNvCxnSpPr>
            <a:cxnSpLocks/>
          </p:cNvCxnSpPr>
          <p:nvPr/>
        </p:nvCxnSpPr>
        <p:spPr>
          <a:xfrm>
            <a:off x="810852" y="1226762"/>
            <a:ext cx="3317" cy="3541306"/>
          </a:xfrm>
          <a:prstGeom prst="line">
            <a:avLst/>
          </a:prstGeom>
          <a:ln w="2222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A02B23-2159-6393-564A-99C32148B01E}"/>
              </a:ext>
            </a:extLst>
          </p:cNvPr>
          <p:cNvCxnSpPr>
            <a:cxnSpLocks/>
          </p:cNvCxnSpPr>
          <p:nvPr/>
        </p:nvCxnSpPr>
        <p:spPr>
          <a:xfrm>
            <a:off x="956922" y="1226762"/>
            <a:ext cx="0" cy="3550450"/>
          </a:xfrm>
          <a:prstGeom prst="line">
            <a:avLst/>
          </a:prstGeom>
          <a:ln w="2222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E5B3183-6731-47EE-82F9-0C4C774F8B2E}"/>
              </a:ext>
            </a:extLst>
          </p:cNvPr>
          <p:cNvCxnSpPr>
            <a:cxnSpLocks/>
          </p:cNvCxnSpPr>
          <p:nvPr/>
        </p:nvCxnSpPr>
        <p:spPr>
          <a:xfrm>
            <a:off x="1049396" y="1243988"/>
            <a:ext cx="0" cy="3524080"/>
          </a:xfrm>
          <a:prstGeom prst="line">
            <a:avLst/>
          </a:prstGeom>
          <a:ln w="2222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C2463EF-A631-2580-BE33-DCE67098F796}"/>
              </a:ext>
            </a:extLst>
          </p:cNvPr>
          <p:cNvCxnSpPr>
            <a:cxnSpLocks/>
          </p:cNvCxnSpPr>
          <p:nvPr/>
        </p:nvCxnSpPr>
        <p:spPr>
          <a:xfrm>
            <a:off x="1640674" y="1251939"/>
            <a:ext cx="0" cy="3461265"/>
          </a:xfrm>
          <a:prstGeom prst="line">
            <a:avLst/>
          </a:prstGeom>
          <a:ln w="22225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453D084-F22D-1951-AA64-E7AEB9F133D6}"/>
              </a:ext>
            </a:extLst>
          </p:cNvPr>
          <p:cNvCxnSpPr/>
          <p:nvPr/>
        </p:nvCxnSpPr>
        <p:spPr>
          <a:xfrm>
            <a:off x="335003" y="2782084"/>
            <a:ext cx="367767" cy="0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5F9388-FA00-FC03-23B1-4D9C0BDDA67B}"/>
              </a:ext>
            </a:extLst>
          </p:cNvPr>
          <p:cNvCxnSpPr/>
          <p:nvPr/>
        </p:nvCxnSpPr>
        <p:spPr>
          <a:xfrm>
            <a:off x="800953" y="3671871"/>
            <a:ext cx="15596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A00669A0-BB85-6245-8447-42C6AC911A0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75943" y="2961766"/>
            <a:ext cx="608915" cy="249553"/>
          </a:xfrm>
          <a:prstGeom prst="bentConnector3">
            <a:avLst>
              <a:gd name="adj1" fmla="val -56"/>
            </a:avLst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7279AE63-8A1F-5674-B007-7AD7876C320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2568" y="2917685"/>
            <a:ext cx="608914" cy="337714"/>
          </a:xfrm>
          <a:prstGeom prst="bentConnector3">
            <a:avLst>
              <a:gd name="adj1" fmla="val 3436"/>
            </a:avLst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C38FCFDD-44B3-2C1B-7BCF-B679DC252DF6}"/>
              </a:ext>
            </a:extLst>
          </p:cNvPr>
          <p:cNvCxnSpPr>
            <a:cxnSpLocks/>
          </p:cNvCxnSpPr>
          <p:nvPr/>
        </p:nvCxnSpPr>
        <p:spPr>
          <a:xfrm flipV="1">
            <a:off x="68873" y="3671871"/>
            <a:ext cx="745296" cy="616112"/>
          </a:xfrm>
          <a:prstGeom prst="bentConnector3">
            <a:avLst>
              <a:gd name="adj1" fmla="val 99456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>
            <a:extLst>
              <a:ext uri="{FF2B5EF4-FFF2-40B4-BE49-F238E27FC236}">
                <a16:creationId xmlns:a16="http://schemas.microsoft.com/office/drawing/2014/main" id="{361DB890-8FE3-D870-0F7F-81DFCC434119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8006" y="3811070"/>
            <a:ext cx="608914" cy="337714"/>
          </a:xfrm>
          <a:prstGeom prst="bentConnector3">
            <a:avLst>
              <a:gd name="adj1" fmla="val 1108"/>
            </a:avLst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Elbow Connector 122">
            <a:extLst>
              <a:ext uri="{FF2B5EF4-FFF2-40B4-BE49-F238E27FC236}">
                <a16:creationId xmlns:a16="http://schemas.microsoft.com/office/drawing/2014/main" id="{424FF34C-23FC-A796-88DC-3DCEDCD8F08C}"/>
              </a:ext>
            </a:extLst>
          </p:cNvPr>
          <p:cNvCxnSpPr>
            <a:cxnSpLocks/>
          </p:cNvCxnSpPr>
          <p:nvPr/>
        </p:nvCxnSpPr>
        <p:spPr>
          <a:xfrm flipV="1">
            <a:off x="1047618" y="2793883"/>
            <a:ext cx="602684" cy="581315"/>
          </a:xfrm>
          <a:prstGeom prst="bentConnector3">
            <a:avLst>
              <a:gd name="adj1" fmla="val 603"/>
            </a:avLst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8B2CD08-409D-9C42-6B0E-7C127B8FECE6}"/>
              </a:ext>
            </a:extLst>
          </p:cNvPr>
          <p:cNvSpPr/>
          <p:nvPr/>
        </p:nvSpPr>
        <p:spPr>
          <a:xfrm>
            <a:off x="712714" y="2782080"/>
            <a:ext cx="91189" cy="15129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413437A-1B54-8B01-DF44-D90603726F0C}"/>
              </a:ext>
            </a:extLst>
          </p:cNvPr>
          <p:cNvSpPr/>
          <p:nvPr/>
        </p:nvSpPr>
        <p:spPr>
          <a:xfrm>
            <a:off x="967952" y="2782080"/>
            <a:ext cx="91189" cy="15129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5D670AEE-1693-BDFE-D89F-98AE8747226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1069" y="2928665"/>
            <a:ext cx="608914" cy="337714"/>
          </a:xfrm>
          <a:prstGeom prst="bentConnector3">
            <a:avLst>
              <a:gd name="adj1" fmla="val 3436"/>
            </a:avLst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77DF9D8-1480-91DB-59BD-825CB55BC603}"/>
              </a:ext>
            </a:extLst>
          </p:cNvPr>
          <p:cNvCxnSpPr>
            <a:cxnSpLocks/>
            <a:stCxn id="124" idx="2"/>
          </p:cNvCxnSpPr>
          <p:nvPr/>
        </p:nvCxnSpPr>
        <p:spPr>
          <a:xfrm>
            <a:off x="758309" y="4295067"/>
            <a:ext cx="107469" cy="8622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1EEF8A9E-ADD3-A203-96DC-4C2BC5D28DC0}"/>
              </a:ext>
            </a:extLst>
          </p:cNvPr>
          <p:cNvCxnSpPr>
            <a:cxnSpLocks/>
            <a:stCxn id="125" idx="2"/>
          </p:cNvCxnSpPr>
          <p:nvPr/>
        </p:nvCxnSpPr>
        <p:spPr>
          <a:xfrm>
            <a:off x="1013547" y="4295067"/>
            <a:ext cx="1089" cy="8622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542A1440-05ED-68DD-FC08-C6F2B402D53D}"/>
              </a:ext>
            </a:extLst>
          </p:cNvPr>
          <p:cNvSpPr txBox="1"/>
          <p:nvPr/>
        </p:nvSpPr>
        <p:spPr>
          <a:xfrm>
            <a:off x="374363" y="5164334"/>
            <a:ext cx="1210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Blanking Time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9AE43525-7246-4106-C43C-5FCF6E508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1717" y="4852974"/>
            <a:ext cx="1848015" cy="126934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21792134-DB26-3E94-7B89-D79B999A3F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0223" y="4364024"/>
            <a:ext cx="3563533" cy="223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7" grpId="0" animBg="1"/>
      <p:bldP spid="102" grpId="0"/>
      <p:bldP spid="105" grpId="0"/>
      <p:bldP spid="124" grpId="0" animBg="1"/>
      <p:bldP spid="125" grpId="0" animBg="1"/>
      <p:bldP spid="12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16930</TotalTime>
  <Words>949</Words>
  <Application>Microsoft Office PowerPoint</Application>
  <PresentationFormat>On-screen Show (4:3)</PresentationFormat>
  <Paragraphs>244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宋体</vt:lpstr>
      <vt:lpstr>Arial</vt:lpstr>
      <vt:lpstr>Calibri</vt:lpstr>
      <vt:lpstr>Calibri Light</vt:lpstr>
      <vt:lpstr>Cambria Math</vt:lpstr>
      <vt:lpstr>Office Theme</vt:lpstr>
      <vt:lpstr>Power Electronics</vt:lpstr>
      <vt:lpstr>Scheme of Study</vt:lpstr>
      <vt:lpstr>Fundamentals</vt:lpstr>
      <vt:lpstr>Inverter Types</vt:lpstr>
      <vt:lpstr>Inverter Types</vt:lpstr>
      <vt:lpstr>Schemes of Inverters to study</vt:lpstr>
      <vt:lpstr>Schemes of Inverters to study</vt:lpstr>
      <vt:lpstr>Operation</vt:lpstr>
      <vt:lpstr>Operation</vt:lpstr>
      <vt:lpstr>Operation</vt:lpstr>
      <vt:lpstr>Operation</vt:lpstr>
      <vt:lpstr>Harmonics</vt:lpstr>
      <vt:lpstr>Harmonics</vt:lpstr>
      <vt:lpstr>Harmonics</vt:lpstr>
      <vt:lpstr>Harmonics</vt:lpstr>
      <vt:lpstr>Harmonics</vt:lpstr>
      <vt:lpstr>Harmonics</vt:lpstr>
      <vt:lpstr>Harmonics</vt:lpstr>
      <vt:lpstr>Harmonics</vt:lpstr>
      <vt:lpstr>Harmonics</vt:lpstr>
      <vt:lpstr>Practical Half Bridge Inverter</vt:lpstr>
      <vt:lpstr>Practical Half Bridge Inverter</vt:lpstr>
      <vt:lpstr>Practical Half Bridge Inverter</vt:lpstr>
      <vt:lpstr>Avoiding Shoot 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have studied so far</dc:title>
  <dc:creator>Shuja Ansari</dc:creator>
  <cp:lastModifiedBy>Atif Jafri</cp:lastModifiedBy>
  <cp:revision>19</cp:revision>
  <dcterms:created xsi:type="dcterms:W3CDTF">2022-04-24T21:36:35Z</dcterms:created>
  <dcterms:modified xsi:type="dcterms:W3CDTF">2025-05-12T11:06:36Z</dcterms:modified>
</cp:coreProperties>
</file>