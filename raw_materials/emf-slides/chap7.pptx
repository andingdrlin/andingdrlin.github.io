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257" r:id="rId2"/>
    <p:sldId id="258" r:id="rId3"/>
    <p:sldId id="259" r:id="rId4"/>
    <p:sldId id="302" r:id="rId5"/>
    <p:sldId id="30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304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12192000" cy="6858000"/>
  <p:notesSz cx="6858000" cy="9144000"/>
  <p:custDataLst>
    <p:tags r:id="rId5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3FBB4-796C-4659-8125-458416CADB0C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84933-2FEF-4A86-991B-3E8C6A4BB5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4BD0965-B2F2-4571-A830-C9D01BE25857}" type="slidenum">
              <a:rPr lang="en-US" altLang="zh-CN"/>
              <a:t>2</a:t>
            </a:fld>
            <a:endParaRPr lang="en-US" altLang="zh-CN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197601" y="1905000"/>
            <a:ext cx="5592233" cy="20208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197601" y="4078289"/>
            <a:ext cx="5592233" cy="202088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24D1B-91EF-4ED2-9F14-E14EB47EF3A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402168" y="1905000"/>
            <a:ext cx="5592233" cy="20208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197601" y="1905000"/>
            <a:ext cx="5592233" cy="20208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402168" y="4078289"/>
            <a:ext cx="5592233" cy="202088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97601" y="4078289"/>
            <a:ext cx="5592233" cy="202088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6BF57-98B3-4D69-BA8E-D6F0BB450FD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F7E5B-533A-44AC-BF8E-891370FBA039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cienceworld.wolfram.com/biography/photo-credits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emf"/><Relationship Id="rId11" Type="http://schemas.openxmlformats.org/officeDocument/2006/relationships/image" Target="../media/image2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9.emf"/><Relationship Id="rId5" Type="http://schemas.openxmlformats.org/officeDocument/2006/relationships/image" Target="../media/image16.e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8.emf"/><Relationship Id="rId1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wmf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8.emf"/><Relationship Id="rId18" Type="http://schemas.openxmlformats.org/officeDocument/2006/relationships/oleObject" Target="../embeddings/oleObject23.bin"/><Relationship Id="rId3" Type="http://schemas.openxmlformats.org/officeDocument/2006/relationships/image" Target="../media/image23.emf"/><Relationship Id="rId21" Type="http://schemas.openxmlformats.org/officeDocument/2006/relationships/image" Target="../media/image32.emf"/><Relationship Id="rId7" Type="http://schemas.openxmlformats.org/officeDocument/2006/relationships/image" Target="../media/image25.e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30.emf"/><Relationship Id="rId2" Type="http://schemas.openxmlformats.org/officeDocument/2006/relationships/oleObject" Target="../embeddings/oleObject15.bin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7.emf"/><Relationship Id="rId5" Type="http://schemas.openxmlformats.org/officeDocument/2006/relationships/image" Target="../media/image24.emf"/><Relationship Id="rId15" Type="http://schemas.openxmlformats.org/officeDocument/2006/relationships/image" Target="../media/image29.emf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31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6.emf"/><Relationship Id="rId14" Type="http://schemas.openxmlformats.org/officeDocument/2006/relationships/oleObject" Target="../embeddings/oleObject2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33.emf"/><Relationship Id="rId7" Type="http://schemas.openxmlformats.org/officeDocument/2006/relationships/image" Target="../media/image35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7.emf"/><Relationship Id="rId5" Type="http://schemas.openxmlformats.org/officeDocument/2006/relationships/image" Target="../media/image34.e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6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43.emf"/><Relationship Id="rId18" Type="http://schemas.openxmlformats.org/officeDocument/2006/relationships/oleObject" Target="../embeddings/oleObject38.bin"/><Relationship Id="rId3" Type="http://schemas.openxmlformats.org/officeDocument/2006/relationships/image" Target="../media/image38.emf"/><Relationship Id="rId21" Type="http://schemas.openxmlformats.org/officeDocument/2006/relationships/image" Target="../media/image47.emf"/><Relationship Id="rId7" Type="http://schemas.openxmlformats.org/officeDocument/2006/relationships/image" Target="../media/image40.e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45.emf"/><Relationship Id="rId2" Type="http://schemas.openxmlformats.org/officeDocument/2006/relationships/oleObject" Target="../embeddings/oleObject30.bin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42.emf"/><Relationship Id="rId5" Type="http://schemas.openxmlformats.org/officeDocument/2006/relationships/image" Target="../media/image39.emf"/><Relationship Id="rId15" Type="http://schemas.openxmlformats.org/officeDocument/2006/relationships/image" Target="../media/image44.emf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46.e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41.emf"/><Relationship Id="rId14" Type="http://schemas.openxmlformats.org/officeDocument/2006/relationships/oleObject" Target="../embeddings/oleObject36.bin"/><Relationship Id="rId22" Type="http://schemas.openxmlformats.org/officeDocument/2006/relationships/image" Target="../media/image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45.bin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5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13" Type="http://schemas.openxmlformats.org/officeDocument/2006/relationships/oleObject" Target="../embeddings/oleObject51.bin"/><Relationship Id="rId3" Type="http://schemas.openxmlformats.org/officeDocument/2006/relationships/image" Target="../media/image54.emf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58.emf"/><Relationship Id="rId17" Type="http://schemas.openxmlformats.org/officeDocument/2006/relationships/image" Target="../media/image61.emf"/><Relationship Id="rId2" Type="http://schemas.openxmlformats.org/officeDocument/2006/relationships/oleObject" Target="../embeddings/oleObject46.bin"/><Relationship Id="rId16" Type="http://schemas.openxmlformats.org/officeDocument/2006/relationships/oleObject" Target="../embeddings/oleObject5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oleObject" Target="../embeddings/oleObject50.bin"/><Relationship Id="rId5" Type="http://schemas.openxmlformats.org/officeDocument/2006/relationships/image" Target="../media/image55.emf"/><Relationship Id="rId15" Type="http://schemas.openxmlformats.org/officeDocument/2006/relationships/image" Target="../media/image60.emf"/><Relationship Id="rId10" Type="http://schemas.openxmlformats.org/officeDocument/2006/relationships/image" Target="../media/image57.emf"/><Relationship Id="rId4" Type="http://schemas.openxmlformats.org/officeDocument/2006/relationships/oleObject" Target="../embeddings/oleObject47.bin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5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wmf"/><Relationship Id="rId5" Type="http://schemas.openxmlformats.org/officeDocument/2006/relationships/image" Target="../media/image63.emf"/><Relationship Id="rId4" Type="http://schemas.openxmlformats.org/officeDocument/2006/relationships/oleObject" Target="../embeddings/oleObject5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3" Type="http://schemas.openxmlformats.org/officeDocument/2006/relationships/image" Target="../media/image67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71.wmf"/><Relationship Id="rId5" Type="http://schemas.openxmlformats.org/officeDocument/2006/relationships/image" Target="../media/image68.wmf"/><Relationship Id="rId10" Type="http://schemas.openxmlformats.org/officeDocument/2006/relationships/oleObject" Target="../embeddings/oleObject61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7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3" Type="http://schemas.openxmlformats.org/officeDocument/2006/relationships/image" Target="../media/image72.emf"/><Relationship Id="rId7" Type="http://schemas.openxmlformats.org/officeDocument/2006/relationships/image" Target="../media/image74.e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76.emf"/><Relationship Id="rId5" Type="http://schemas.openxmlformats.org/officeDocument/2006/relationships/image" Target="../media/image73.e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7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8.e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7" Type="http://schemas.openxmlformats.org/officeDocument/2006/relationships/image" Target="../media/image81.w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80.wmf"/><Relationship Id="rId4" Type="http://schemas.openxmlformats.org/officeDocument/2006/relationships/oleObject" Target="../embeddings/oleObject7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87.wmf"/><Relationship Id="rId18" Type="http://schemas.openxmlformats.org/officeDocument/2006/relationships/image" Target="../media/image90.emf"/><Relationship Id="rId3" Type="http://schemas.openxmlformats.org/officeDocument/2006/relationships/image" Target="../media/image82.wmf"/><Relationship Id="rId7" Type="http://schemas.openxmlformats.org/officeDocument/2006/relationships/image" Target="../media/image84.emf"/><Relationship Id="rId12" Type="http://schemas.openxmlformats.org/officeDocument/2006/relationships/oleObject" Target="../embeddings/oleObject77.bin"/><Relationship Id="rId17" Type="http://schemas.openxmlformats.org/officeDocument/2006/relationships/oleObject" Target="../embeddings/oleObject79.bin"/><Relationship Id="rId2" Type="http://schemas.openxmlformats.org/officeDocument/2006/relationships/oleObject" Target="../embeddings/oleObject72.bin"/><Relationship Id="rId16" Type="http://schemas.openxmlformats.org/officeDocument/2006/relationships/image" Target="../media/image89.emf"/><Relationship Id="rId20" Type="http://schemas.openxmlformats.org/officeDocument/2006/relationships/image" Target="../media/image9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86.emf"/><Relationship Id="rId5" Type="http://schemas.openxmlformats.org/officeDocument/2006/relationships/image" Target="../media/image83.emf"/><Relationship Id="rId15" Type="http://schemas.openxmlformats.org/officeDocument/2006/relationships/oleObject" Target="../embeddings/oleObject78.bin"/><Relationship Id="rId10" Type="http://schemas.openxmlformats.org/officeDocument/2006/relationships/oleObject" Target="../embeddings/oleObject76.bin"/><Relationship Id="rId19" Type="http://schemas.openxmlformats.org/officeDocument/2006/relationships/oleObject" Target="../embeddings/oleObject80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85.emf"/><Relationship Id="rId14" Type="http://schemas.openxmlformats.org/officeDocument/2006/relationships/image" Target="../media/image88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3" Type="http://schemas.openxmlformats.org/officeDocument/2006/relationships/image" Target="../media/image92.emf"/><Relationship Id="rId7" Type="http://schemas.openxmlformats.org/officeDocument/2006/relationships/image" Target="../media/image94.emf"/><Relationship Id="rId2" Type="http://schemas.openxmlformats.org/officeDocument/2006/relationships/oleObject" Target="../embeddings/oleObject8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96.wmf"/><Relationship Id="rId5" Type="http://schemas.openxmlformats.org/officeDocument/2006/relationships/image" Target="../media/image93.emf"/><Relationship Id="rId10" Type="http://schemas.openxmlformats.org/officeDocument/2006/relationships/oleObject" Target="../embeddings/oleObject84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95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3" Type="http://schemas.openxmlformats.org/officeDocument/2006/relationships/image" Target="../media/image97.emf"/><Relationship Id="rId7" Type="http://schemas.openxmlformats.org/officeDocument/2006/relationships/image" Target="../media/image99.wmf"/><Relationship Id="rId12" Type="http://schemas.openxmlformats.org/officeDocument/2006/relationships/image" Target="../media/image1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101.emf"/><Relationship Id="rId5" Type="http://schemas.openxmlformats.org/officeDocument/2006/relationships/image" Target="../media/image98.emf"/><Relationship Id="rId10" Type="http://schemas.openxmlformats.org/officeDocument/2006/relationships/oleObject" Target="../embeddings/oleObject89.bin"/><Relationship Id="rId4" Type="http://schemas.openxmlformats.org/officeDocument/2006/relationships/oleObject" Target="../embeddings/oleObject86.bin"/><Relationship Id="rId9" Type="http://schemas.openxmlformats.org/officeDocument/2006/relationships/image" Target="../media/image100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3" Type="http://schemas.openxmlformats.org/officeDocument/2006/relationships/image" Target="../media/image102.png"/><Relationship Id="rId7" Type="http://schemas.openxmlformats.org/officeDocument/2006/relationships/image" Target="../media/image10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106.emf"/><Relationship Id="rId5" Type="http://schemas.openxmlformats.org/officeDocument/2006/relationships/image" Target="../media/image103.emf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10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oleObject" Target="../embeddings/oleObject94.bin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100.bin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12.wmf"/><Relationship Id="rId2" Type="http://schemas.openxmlformats.org/officeDocument/2006/relationships/image" Target="../media/image2.png"/><Relationship Id="rId16" Type="http://schemas.openxmlformats.org/officeDocument/2006/relationships/image" Target="../media/image11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e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13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7" Type="http://schemas.openxmlformats.org/officeDocument/2006/relationships/image" Target="../media/image1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115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oleObject" Target="../embeddings/oleObject109.bin"/><Relationship Id="rId3" Type="http://schemas.openxmlformats.org/officeDocument/2006/relationships/image" Target="../media/image117.wmf"/><Relationship Id="rId7" Type="http://schemas.openxmlformats.org/officeDocument/2006/relationships/image" Target="../media/image119.wmf"/><Relationship Id="rId12" Type="http://schemas.openxmlformats.org/officeDocument/2006/relationships/image" Target="../media/image121.wmf"/><Relationship Id="rId2" Type="http://schemas.openxmlformats.org/officeDocument/2006/relationships/oleObject" Target="../embeddings/oleObject104.bin"/><Relationship Id="rId16" Type="http://schemas.openxmlformats.org/officeDocument/2006/relationships/image" Target="../media/image123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6.bin"/><Relationship Id="rId11" Type="http://schemas.openxmlformats.org/officeDocument/2006/relationships/oleObject" Target="../embeddings/oleObject108.bin"/><Relationship Id="rId5" Type="http://schemas.openxmlformats.org/officeDocument/2006/relationships/image" Target="../media/image118.wmf"/><Relationship Id="rId15" Type="http://schemas.openxmlformats.org/officeDocument/2006/relationships/oleObject" Target="../embeddings/oleObject110.bin"/><Relationship Id="rId10" Type="http://schemas.openxmlformats.org/officeDocument/2006/relationships/image" Target="../media/image2.png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20.wmf"/><Relationship Id="rId14" Type="http://schemas.openxmlformats.org/officeDocument/2006/relationships/image" Target="../media/image12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3" Type="http://schemas.openxmlformats.org/officeDocument/2006/relationships/image" Target="../media/image124.wmf"/><Relationship Id="rId7" Type="http://schemas.openxmlformats.org/officeDocument/2006/relationships/image" Target="../media/image126.wmf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3.bin"/><Relationship Id="rId5" Type="http://schemas.openxmlformats.org/officeDocument/2006/relationships/image" Target="../media/image125.wmf"/><Relationship Id="rId10" Type="http://schemas.openxmlformats.org/officeDocument/2006/relationships/image" Target="../media/image1.wmf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27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28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30.emf"/><Relationship Id="rId9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emf"/><Relationship Id="rId5" Type="http://schemas.openxmlformats.org/officeDocument/2006/relationships/oleObject" Target="../embeddings/oleObject121.bin"/><Relationship Id="rId4" Type="http://schemas.openxmlformats.org/officeDocument/2006/relationships/image" Target="../media/image133.wmf"/><Relationship Id="rId9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41.emf"/><Relationship Id="rId3" Type="http://schemas.openxmlformats.org/officeDocument/2006/relationships/image" Target="../media/image136.wmf"/><Relationship Id="rId7" Type="http://schemas.openxmlformats.org/officeDocument/2006/relationships/image" Target="../media/image138.emf"/><Relationship Id="rId12" Type="http://schemas.openxmlformats.org/officeDocument/2006/relationships/oleObject" Target="../embeddings/oleObject128.bin"/><Relationship Id="rId2" Type="http://schemas.openxmlformats.org/officeDocument/2006/relationships/oleObject" Target="../embeddings/oleObject1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40.emf"/><Relationship Id="rId5" Type="http://schemas.openxmlformats.org/officeDocument/2006/relationships/image" Target="../media/image137.wmf"/><Relationship Id="rId10" Type="http://schemas.openxmlformats.org/officeDocument/2006/relationships/oleObject" Target="../embeddings/oleObject127.bin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39.emf"/><Relationship Id="rId14" Type="http://schemas.openxmlformats.org/officeDocument/2006/relationships/image" Target="../media/image14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7" Type="http://schemas.openxmlformats.org/officeDocument/2006/relationships/image" Target="../media/image1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43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wmf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48.wmf"/><Relationship Id="rId4" Type="http://schemas.openxmlformats.org/officeDocument/2006/relationships/image" Target="../media/image145.emf"/><Relationship Id="rId9" Type="http://schemas.openxmlformats.org/officeDocument/2006/relationships/oleObject" Target="../embeddings/oleObject134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13" Type="http://schemas.openxmlformats.org/officeDocument/2006/relationships/image" Target="../media/image154.wmf"/><Relationship Id="rId18" Type="http://schemas.openxmlformats.org/officeDocument/2006/relationships/oleObject" Target="../embeddings/oleObject143.bin"/><Relationship Id="rId3" Type="http://schemas.openxmlformats.org/officeDocument/2006/relationships/image" Target="../media/image149.wmf"/><Relationship Id="rId21" Type="http://schemas.openxmlformats.org/officeDocument/2006/relationships/image" Target="../media/image158.emf"/><Relationship Id="rId7" Type="http://schemas.openxmlformats.org/officeDocument/2006/relationships/image" Target="../media/image151.wmf"/><Relationship Id="rId12" Type="http://schemas.openxmlformats.org/officeDocument/2006/relationships/oleObject" Target="../embeddings/oleObject140.bin"/><Relationship Id="rId17" Type="http://schemas.openxmlformats.org/officeDocument/2006/relationships/image" Target="../media/image156.emf"/><Relationship Id="rId2" Type="http://schemas.openxmlformats.org/officeDocument/2006/relationships/oleObject" Target="../embeddings/oleObject135.bin"/><Relationship Id="rId16" Type="http://schemas.openxmlformats.org/officeDocument/2006/relationships/oleObject" Target="../embeddings/oleObject142.bin"/><Relationship Id="rId20" Type="http://schemas.openxmlformats.org/officeDocument/2006/relationships/oleObject" Target="../embeddings/oleObject1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53.wmf"/><Relationship Id="rId5" Type="http://schemas.openxmlformats.org/officeDocument/2006/relationships/image" Target="../media/image150.wmf"/><Relationship Id="rId15" Type="http://schemas.openxmlformats.org/officeDocument/2006/relationships/image" Target="../media/image155.wmf"/><Relationship Id="rId23" Type="http://schemas.openxmlformats.org/officeDocument/2006/relationships/image" Target="../media/image159.emf"/><Relationship Id="rId10" Type="http://schemas.openxmlformats.org/officeDocument/2006/relationships/oleObject" Target="../embeddings/oleObject139.bin"/><Relationship Id="rId19" Type="http://schemas.openxmlformats.org/officeDocument/2006/relationships/image" Target="../media/image157.emf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52.wmf"/><Relationship Id="rId14" Type="http://schemas.openxmlformats.org/officeDocument/2006/relationships/oleObject" Target="../embeddings/oleObject141.bin"/><Relationship Id="rId22" Type="http://schemas.openxmlformats.org/officeDocument/2006/relationships/oleObject" Target="../embeddings/oleObject145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e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1.emf"/><Relationship Id="rId11" Type="http://schemas.openxmlformats.org/officeDocument/2006/relationships/image" Target="../media/image1.wmf"/><Relationship Id="rId5" Type="http://schemas.openxmlformats.org/officeDocument/2006/relationships/oleObject" Target="../embeddings/oleObject147.bin"/><Relationship Id="rId10" Type="http://schemas.openxmlformats.org/officeDocument/2006/relationships/image" Target="../media/image163.emf"/><Relationship Id="rId4" Type="http://schemas.openxmlformats.org/officeDocument/2006/relationships/image" Target="../media/image160.emf"/><Relationship Id="rId9" Type="http://schemas.openxmlformats.org/officeDocument/2006/relationships/oleObject" Target="../embeddings/oleObject149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13" Type="http://schemas.openxmlformats.org/officeDocument/2006/relationships/image" Target="../media/image11.png"/><Relationship Id="rId3" Type="http://schemas.openxmlformats.org/officeDocument/2006/relationships/image" Target="../media/image164.wmf"/><Relationship Id="rId7" Type="http://schemas.openxmlformats.org/officeDocument/2006/relationships/image" Target="../media/image166.wmf"/><Relationship Id="rId12" Type="http://schemas.openxmlformats.org/officeDocument/2006/relationships/image" Target="../media/image2.png"/><Relationship Id="rId2" Type="http://schemas.openxmlformats.org/officeDocument/2006/relationships/oleObject" Target="../embeddings/oleObject1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168.wmf"/><Relationship Id="rId5" Type="http://schemas.openxmlformats.org/officeDocument/2006/relationships/image" Target="../media/image165.wmf"/><Relationship Id="rId10" Type="http://schemas.openxmlformats.org/officeDocument/2006/relationships/oleObject" Target="../embeddings/oleObject154.bin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167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13" Type="http://schemas.openxmlformats.org/officeDocument/2006/relationships/oleObject" Target="../embeddings/oleObject160.bin"/><Relationship Id="rId18" Type="http://schemas.openxmlformats.org/officeDocument/2006/relationships/image" Target="../media/image176.wmf"/><Relationship Id="rId3" Type="http://schemas.openxmlformats.org/officeDocument/2006/relationships/image" Target="../media/image169.wmf"/><Relationship Id="rId7" Type="http://schemas.openxmlformats.org/officeDocument/2006/relationships/image" Target="../media/image171.wmf"/><Relationship Id="rId12" Type="http://schemas.openxmlformats.org/officeDocument/2006/relationships/image" Target="../media/image173.wmf"/><Relationship Id="rId17" Type="http://schemas.openxmlformats.org/officeDocument/2006/relationships/oleObject" Target="../embeddings/oleObject162.bin"/><Relationship Id="rId2" Type="http://schemas.openxmlformats.org/officeDocument/2006/relationships/oleObject" Target="../embeddings/oleObject155.bin"/><Relationship Id="rId16" Type="http://schemas.openxmlformats.org/officeDocument/2006/relationships/image" Target="../media/image175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7.bin"/><Relationship Id="rId11" Type="http://schemas.openxmlformats.org/officeDocument/2006/relationships/oleObject" Target="../embeddings/oleObject159.bin"/><Relationship Id="rId5" Type="http://schemas.openxmlformats.org/officeDocument/2006/relationships/image" Target="../media/image170.wmf"/><Relationship Id="rId15" Type="http://schemas.openxmlformats.org/officeDocument/2006/relationships/oleObject" Target="../embeddings/oleObject161.bin"/><Relationship Id="rId10" Type="http://schemas.openxmlformats.org/officeDocument/2006/relationships/image" Target="../media/image2.png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72.wmf"/><Relationship Id="rId14" Type="http://schemas.openxmlformats.org/officeDocument/2006/relationships/image" Target="../media/image174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image" Target="../media/image182.wmf"/><Relationship Id="rId3" Type="http://schemas.openxmlformats.org/officeDocument/2006/relationships/image" Target="../media/image177.wmf"/><Relationship Id="rId7" Type="http://schemas.openxmlformats.org/officeDocument/2006/relationships/image" Target="../media/image179.emf"/><Relationship Id="rId12" Type="http://schemas.openxmlformats.org/officeDocument/2006/relationships/oleObject" Target="../embeddings/oleObject168.bin"/><Relationship Id="rId2" Type="http://schemas.openxmlformats.org/officeDocument/2006/relationships/oleObject" Target="../embeddings/oleObject163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65.bin"/><Relationship Id="rId11" Type="http://schemas.openxmlformats.org/officeDocument/2006/relationships/image" Target="../media/image181.wmf"/><Relationship Id="rId5" Type="http://schemas.openxmlformats.org/officeDocument/2006/relationships/image" Target="../media/image178.wmf"/><Relationship Id="rId15" Type="http://schemas.openxmlformats.org/officeDocument/2006/relationships/image" Target="../media/image1.wmf"/><Relationship Id="rId10" Type="http://schemas.openxmlformats.org/officeDocument/2006/relationships/oleObject" Target="../embeddings/oleObject167.bin"/><Relationship Id="rId4" Type="http://schemas.openxmlformats.org/officeDocument/2006/relationships/oleObject" Target="../embeddings/oleObject164.bin"/><Relationship Id="rId9" Type="http://schemas.openxmlformats.org/officeDocument/2006/relationships/image" Target="../media/image180.emf"/><Relationship Id="rId1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oleObject" Target="../embeddings/oleObject174.bin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87.wmf"/><Relationship Id="rId2" Type="http://schemas.openxmlformats.org/officeDocument/2006/relationships/image" Target="../media/image2.png"/><Relationship Id="rId16" Type="http://schemas.openxmlformats.org/officeDocument/2006/relationships/image" Target="../media/image18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10" Type="http://schemas.openxmlformats.org/officeDocument/2006/relationships/image" Target="../media/image186.wmf"/><Relationship Id="rId4" Type="http://schemas.openxmlformats.org/officeDocument/2006/relationships/image" Target="../media/image183.e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88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oleObject" Target="../embeddings/oleObject181.bin"/><Relationship Id="rId18" Type="http://schemas.openxmlformats.org/officeDocument/2006/relationships/image" Target="../media/image197.wmf"/><Relationship Id="rId3" Type="http://schemas.openxmlformats.org/officeDocument/2006/relationships/image" Target="../media/image190.wmf"/><Relationship Id="rId7" Type="http://schemas.openxmlformats.org/officeDocument/2006/relationships/oleObject" Target="../embeddings/oleObject178.bin"/><Relationship Id="rId12" Type="http://schemas.openxmlformats.org/officeDocument/2006/relationships/image" Target="../media/image194.wmf"/><Relationship Id="rId17" Type="http://schemas.openxmlformats.org/officeDocument/2006/relationships/oleObject" Target="../embeddings/oleObject183.bin"/><Relationship Id="rId2" Type="http://schemas.openxmlformats.org/officeDocument/2006/relationships/oleObject" Target="../embeddings/oleObject176.bin"/><Relationship Id="rId16" Type="http://schemas.openxmlformats.org/officeDocument/2006/relationships/image" Target="../media/image19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oleObject" Target="../embeddings/oleObject180.bin"/><Relationship Id="rId5" Type="http://schemas.openxmlformats.org/officeDocument/2006/relationships/image" Target="../media/image191.wmf"/><Relationship Id="rId15" Type="http://schemas.openxmlformats.org/officeDocument/2006/relationships/oleObject" Target="../embeddings/oleObject182.bin"/><Relationship Id="rId10" Type="http://schemas.openxmlformats.org/officeDocument/2006/relationships/image" Target="../media/image193.wmf"/><Relationship Id="rId4" Type="http://schemas.openxmlformats.org/officeDocument/2006/relationships/oleObject" Target="../embeddings/oleObject177.bin"/><Relationship Id="rId9" Type="http://schemas.openxmlformats.org/officeDocument/2006/relationships/oleObject" Target="../embeddings/oleObject179.bin"/><Relationship Id="rId14" Type="http://schemas.openxmlformats.org/officeDocument/2006/relationships/image" Target="../media/image195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3" Type="http://schemas.openxmlformats.org/officeDocument/2006/relationships/image" Target="../media/image198.wmf"/><Relationship Id="rId7" Type="http://schemas.openxmlformats.org/officeDocument/2006/relationships/image" Target="../media/image200.wmf"/><Relationship Id="rId12" Type="http://schemas.openxmlformats.org/officeDocument/2006/relationships/image" Target="../media/image1.wmf"/><Relationship Id="rId2" Type="http://schemas.openxmlformats.org/officeDocument/2006/relationships/oleObject" Target="../embeddings/oleObject18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6.bin"/><Relationship Id="rId11" Type="http://schemas.openxmlformats.org/officeDocument/2006/relationships/image" Target="../media/image202.wmf"/><Relationship Id="rId5" Type="http://schemas.openxmlformats.org/officeDocument/2006/relationships/image" Target="../media/image199.wmf"/><Relationship Id="rId10" Type="http://schemas.openxmlformats.org/officeDocument/2006/relationships/oleObject" Target="../embeddings/oleObject188.bin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201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2.bin"/><Relationship Id="rId3" Type="http://schemas.openxmlformats.org/officeDocument/2006/relationships/image" Target="../media/image203.wmf"/><Relationship Id="rId7" Type="http://schemas.openxmlformats.org/officeDocument/2006/relationships/image" Target="../media/image205.wmf"/><Relationship Id="rId2" Type="http://schemas.openxmlformats.org/officeDocument/2006/relationships/oleObject" Target="../embeddings/oleObject1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1.bin"/><Relationship Id="rId5" Type="http://schemas.openxmlformats.org/officeDocument/2006/relationships/image" Target="../media/image204.wmf"/><Relationship Id="rId10" Type="http://schemas.openxmlformats.org/officeDocument/2006/relationships/image" Target="../media/image11.png"/><Relationship Id="rId4" Type="http://schemas.openxmlformats.org/officeDocument/2006/relationships/oleObject" Target="../embeddings/oleObject190.bin"/><Relationship Id="rId9" Type="http://schemas.openxmlformats.org/officeDocument/2006/relationships/image" Target="../media/image206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5.bin"/><Relationship Id="rId13" Type="http://schemas.openxmlformats.org/officeDocument/2006/relationships/image" Target="../media/image211.wmf"/><Relationship Id="rId18" Type="http://schemas.openxmlformats.org/officeDocument/2006/relationships/oleObject" Target="../embeddings/oleObject200.bin"/><Relationship Id="rId3" Type="http://schemas.openxmlformats.org/officeDocument/2006/relationships/image" Target="../media/image11.png"/><Relationship Id="rId21" Type="http://schemas.openxmlformats.org/officeDocument/2006/relationships/image" Target="../media/image215.wmf"/><Relationship Id="rId7" Type="http://schemas.openxmlformats.org/officeDocument/2006/relationships/image" Target="../media/image208.emf"/><Relationship Id="rId12" Type="http://schemas.openxmlformats.org/officeDocument/2006/relationships/oleObject" Target="../embeddings/oleObject197.bin"/><Relationship Id="rId17" Type="http://schemas.openxmlformats.org/officeDocument/2006/relationships/image" Target="../media/image213.emf"/><Relationship Id="rId2" Type="http://schemas.openxmlformats.org/officeDocument/2006/relationships/image" Target="../media/image2.png"/><Relationship Id="rId16" Type="http://schemas.openxmlformats.org/officeDocument/2006/relationships/oleObject" Target="../embeddings/oleObject199.bin"/><Relationship Id="rId20" Type="http://schemas.openxmlformats.org/officeDocument/2006/relationships/oleObject" Target="../embeddings/oleObject201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94.bin"/><Relationship Id="rId11" Type="http://schemas.openxmlformats.org/officeDocument/2006/relationships/image" Target="../media/image210.wmf"/><Relationship Id="rId5" Type="http://schemas.openxmlformats.org/officeDocument/2006/relationships/image" Target="../media/image207.emf"/><Relationship Id="rId15" Type="http://schemas.openxmlformats.org/officeDocument/2006/relationships/image" Target="../media/image212.emf"/><Relationship Id="rId10" Type="http://schemas.openxmlformats.org/officeDocument/2006/relationships/oleObject" Target="../embeddings/oleObject196.bin"/><Relationship Id="rId19" Type="http://schemas.openxmlformats.org/officeDocument/2006/relationships/image" Target="../media/image214.emf"/><Relationship Id="rId4" Type="http://schemas.openxmlformats.org/officeDocument/2006/relationships/oleObject" Target="../embeddings/oleObject193.bin"/><Relationship Id="rId9" Type="http://schemas.openxmlformats.org/officeDocument/2006/relationships/image" Target="../media/image209.emf"/><Relationship Id="rId14" Type="http://schemas.openxmlformats.org/officeDocument/2006/relationships/oleObject" Target="../embeddings/oleObject198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2927350" y="4797425"/>
            <a:ext cx="6400800" cy="914400"/>
          </a:xfrm>
        </p:spPr>
        <p:txBody>
          <a:bodyPr/>
          <a:lstStyle/>
          <a:p>
            <a:pPr eaLnBrk="1" hangingPunct="1"/>
            <a:r>
              <a:rPr lang="en-US" altLang="zh-CN" sz="3600" b="1" dirty="0" err="1">
                <a:solidFill>
                  <a:srgbClr val="000000"/>
                </a:solidFill>
              </a:rPr>
              <a:t>Wuqiong</a:t>
            </a:r>
            <a:r>
              <a:rPr lang="en-US" altLang="zh-CN" sz="3600" b="1" dirty="0">
                <a:solidFill>
                  <a:srgbClr val="000000"/>
                </a:solidFill>
              </a:rPr>
              <a:t> Luo</a:t>
            </a:r>
          </a:p>
        </p:txBody>
      </p:sp>
      <p:sp>
        <p:nvSpPr>
          <p:cNvPr id="2052" name="Rectangle 4"/>
          <p:cNvSpPr>
            <a:spLocks noRot="1" noChangeArrowheads="1"/>
          </p:cNvSpPr>
          <p:nvPr/>
        </p:nvSpPr>
        <p:spPr bwMode="auto">
          <a:xfrm>
            <a:off x="1774826" y="1268414"/>
            <a:ext cx="8569325" cy="237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60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Chapter 7</a:t>
            </a:r>
            <a:br>
              <a:rPr lang="en-US" altLang="zh-CN" sz="60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</a:br>
            <a:r>
              <a:rPr lang="en-US" altLang="zh-CN" sz="60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Time-Varying Fields and Maxwell’s Equations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3648075" y="765175"/>
            <a:ext cx="4724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1" lang="en-US" altLang="zh-CN" sz="4400" b="1" i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Contents</a:t>
            </a:r>
          </a:p>
        </p:txBody>
      </p:sp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2135189" y="1989139"/>
            <a:ext cx="8207375" cy="3494087"/>
          </a:xfrm>
          <a:prstGeom prst="rect">
            <a:avLst/>
          </a:prstGeom>
          <a:solidFill>
            <a:srgbClr val="FFFFFF"/>
          </a:solidFill>
          <a:ln w="25400">
            <a:solidFill>
              <a:srgbClr val="99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7.1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Faraday’s Law of Electromagnetic Induction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7.2   Maxwell’s Equations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7.3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Electromagnetic Boundary Conditions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7.4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Wave Equations and Their Solutions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7.5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Potential Functions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7.6   Time-Harmonic Fields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1" name="Text Box 38"/>
          <p:cNvSpPr txBox="1">
            <a:spLocks noChangeArrowheads="1"/>
          </p:cNvSpPr>
          <p:nvPr/>
        </p:nvSpPr>
        <p:spPr bwMode="auto">
          <a:xfrm>
            <a:off x="1847850" y="1700214"/>
            <a:ext cx="8567738" cy="116339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 1820,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Oersted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: discovered magnetic effect on current.</a:t>
            </a:r>
          </a:p>
          <a:p>
            <a:pPr algn="just"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 1831, Faraday: discovered law of electromagnetic induction.</a:t>
            </a:r>
          </a:p>
        </p:txBody>
      </p:sp>
      <p:sp>
        <p:nvSpPr>
          <p:cNvPr id="75785" name="Rectangle 9"/>
          <p:cNvSpPr>
            <a:spLocks noChangeArrowheads="1"/>
          </p:cNvSpPr>
          <p:nvPr/>
        </p:nvSpPr>
        <p:spPr bwMode="auto">
          <a:xfrm>
            <a:off x="1847850" y="404813"/>
            <a:ext cx="8351838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6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</a:rPr>
              <a:t>7.1 </a:t>
            </a:r>
            <a:r>
              <a:rPr lang="en-US" altLang="zh-CN" sz="36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Faraday’s Law of </a:t>
            </a:r>
            <a:br>
              <a:rPr lang="en-US" altLang="zh-CN" sz="36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zh-CN" sz="36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Electromagnetic Induction</a:t>
            </a:r>
          </a:p>
        </p:txBody>
      </p:sp>
      <p:pic>
        <p:nvPicPr>
          <p:cNvPr id="7172" name="Picture 10" descr="BD05546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5588" y="5273675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7" name="Text Box 20"/>
          <p:cNvSpPr txBox="1">
            <a:spLocks noChangeArrowheads="1"/>
          </p:cNvSpPr>
          <p:nvPr/>
        </p:nvSpPr>
        <p:spPr bwMode="auto">
          <a:xfrm>
            <a:off x="1745090" y="2997200"/>
            <a:ext cx="9241559" cy="1680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Blip>
                <a:blip r:embed="rId3"/>
              </a:buBlip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</a:rPr>
              <a:t>Faraday’s Law of electromagnetic induction </a:t>
            </a:r>
          </a:p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- Reveal the time varying magnetic field generate the electric field;</a:t>
            </a:r>
            <a:r>
              <a:rPr kumimoji="1"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</a:p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- It is an experimental law and can be considered as a postulate;</a:t>
            </a:r>
          </a:p>
        </p:txBody>
      </p:sp>
      <p:sp>
        <p:nvSpPr>
          <p:cNvPr id="75788" name="Text Box 20"/>
          <p:cNvSpPr txBox="1">
            <a:spLocks noChangeArrowheads="1"/>
          </p:cNvSpPr>
          <p:nvPr/>
        </p:nvSpPr>
        <p:spPr bwMode="auto">
          <a:xfrm>
            <a:off x="1745091" y="4660905"/>
            <a:ext cx="8351838" cy="1902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Blip>
                <a:blip r:embed="rId3"/>
              </a:buBlip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</a:rPr>
              <a:t>Important conclusions </a:t>
            </a:r>
            <a:r>
              <a:rPr lang="zh-CN" altLang="en-US" sz="2400" b="1" dirty="0">
                <a:solidFill>
                  <a:srgbClr val="000000"/>
                </a:solidFill>
              </a:rPr>
              <a:t>： </a:t>
            </a:r>
          </a:p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- Under time-varying conditions, Electric field and magnetic field will be induced mutually by each other, forming a unified electromagnetic field .</a:t>
            </a:r>
            <a:r>
              <a:rPr kumimoji="1" lang="en-US" altLang="zh-CN" sz="2400" dirty="0">
                <a:latin typeface="Times New Roman" panose="02020603050405020304" pitchFamily="18" charset="0"/>
              </a:rPr>
              <a:t> </a:t>
            </a: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5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57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7" grpId="0"/>
      <p:bldP spid="7578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52" name="Picture 8" descr="farady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745" y="793750"/>
            <a:ext cx="6247765" cy="44221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2" name="Picture 4" descr="Faraday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610" y="1254125"/>
            <a:ext cx="3064510" cy="40906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090930" y="5588635"/>
            <a:ext cx="455104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800"/>
              <a:t>Michael Faraday</a:t>
            </a:r>
          </a:p>
          <a:p>
            <a:r>
              <a:rPr lang="en-US" altLang="zh-CN" sz="1800"/>
              <a:t>22nd, Spt,</a:t>
            </a:r>
            <a:r>
              <a:rPr lang="zh-CN" altLang="en-US">
                <a:sym typeface="+mn-ea"/>
              </a:rPr>
              <a:t>1791</a:t>
            </a:r>
            <a:r>
              <a:rPr lang="zh-CN" altLang="en-US" sz="1800"/>
              <a:t>—</a:t>
            </a:r>
            <a:r>
              <a:rPr lang="en-US" altLang="zh-CN" sz="1800"/>
              <a:t>25th, Aug, </a:t>
            </a:r>
            <a:r>
              <a:rPr lang="zh-CN" altLang="en-US" sz="1800"/>
              <a:t>1867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" y="942340"/>
            <a:ext cx="11786235" cy="59156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00660" y="314325"/>
            <a:ext cx="1956435" cy="3683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/>
              <a:t>Extend reading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"/>
          <p:cNvGrpSpPr/>
          <p:nvPr/>
        </p:nvGrpSpPr>
        <p:grpSpPr bwMode="auto">
          <a:xfrm>
            <a:off x="9344184" y="787453"/>
            <a:ext cx="2428875" cy="2590800"/>
            <a:chOff x="4105" y="437"/>
            <a:chExt cx="1530" cy="1632"/>
          </a:xfrm>
        </p:grpSpPr>
        <p:sp>
          <p:nvSpPr>
            <p:cNvPr id="8206" name="Rectangle 2"/>
            <p:cNvSpPr>
              <a:spLocks noChangeArrowheads="1"/>
            </p:cNvSpPr>
            <p:nvPr/>
          </p:nvSpPr>
          <p:spPr bwMode="auto">
            <a:xfrm>
              <a:off x="4105" y="437"/>
              <a:ext cx="1530" cy="1632"/>
            </a:xfrm>
            <a:prstGeom prst="rect">
              <a:avLst/>
            </a:prstGeom>
            <a:solidFill>
              <a:srgbClr val="58A876"/>
            </a:solidFill>
            <a:ln w="9525">
              <a:solidFill>
                <a:srgbClr val="FF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  <p:pic>
          <p:nvPicPr>
            <p:cNvPr id="8207" name="Picture 6" descr="4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1" y="564"/>
              <a:ext cx="1306" cy="14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76806" name="Object 7"/>
          <p:cNvGraphicFramePr>
            <a:graphicFrameLocks noChangeAspect="1"/>
          </p:cNvGraphicFramePr>
          <p:nvPr/>
        </p:nvGraphicFramePr>
        <p:xfrm>
          <a:off x="4275067" y="1127921"/>
          <a:ext cx="17081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52500" imgH="508000" progId="Equation.DSMT4">
                  <p:embed/>
                </p:oleObj>
              </mc:Choice>
              <mc:Fallback>
                <p:oleObj name="Equation" r:id="rId3" imgW="952500" imgH="5080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067" y="1127921"/>
                        <a:ext cx="170815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9049" name="Text Box 9"/>
          <p:cNvSpPr txBox="1">
            <a:spLocks noChangeArrowheads="1"/>
          </p:cNvSpPr>
          <p:nvPr/>
        </p:nvSpPr>
        <p:spPr bwMode="auto">
          <a:xfrm>
            <a:off x="1643380" y="279400"/>
            <a:ext cx="7823200" cy="1050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buFontTx/>
              <a:buAutoNum type="arabicPeriod"/>
            </a:pPr>
            <a:r>
              <a:rPr kumimoji="1" lang="en-US" altLang="zh-CN" sz="2400" b="1" dirty="0">
                <a:solidFill>
                  <a:srgbClr val="0000CC"/>
                </a:solidFill>
              </a:rPr>
              <a:t>Expression of Faraday's law of electromagnetic induction</a:t>
            </a:r>
          </a:p>
        </p:txBody>
      </p:sp>
      <p:graphicFrame>
        <p:nvGraphicFramePr>
          <p:cNvPr id="76808" name="Object 17"/>
          <p:cNvGraphicFramePr>
            <a:graphicFrameLocks noChangeAspect="1"/>
          </p:cNvGraphicFramePr>
          <p:nvPr/>
        </p:nvGraphicFramePr>
        <p:xfrm>
          <a:off x="5016499" y="5510279"/>
          <a:ext cx="18669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03300" imgH="381000" progId="Equation.DSMT4">
                  <p:embed/>
                </p:oleObj>
              </mc:Choice>
              <mc:Fallback>
                <p:oleObj name="Equation" r:id="rId5" imgW="1003300" imgH="3810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499" y="5510279"/>
                        <a:ext cx="18669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0" name="Object 23"/>
          <p:cNvGraphicFramePr>
            <a:graphicFrameLocks noGrp="1" noChangeAspect="1"/>
          </p:cNvGraphicFramePr>
          <p:nvPr>
            <p:ph idx="4294967295"/>
          </p:nvPr>
        </p:nvGraphicFramePr>
        <p:xfrm>
          <a:off x="2011363" y="4338638"/>
          <a:ext cx="2135187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7" imgW="7620000" imgH="5657850" progId="Word.Picture.8">
                  <p:embed/>
                </p:oleObj>
              </mc:Choice>
              <mc:Fallback>
                <p:oleObj name="Picture" r:id="rId7" imgW="7620000" imgH="5657850" progId="Word.Picture.8">
                  <p:embed/>
                  <p:pic>
                    <p:nvPicPr>
                      <p:cNvPr id="0" name="图片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363" y="4338638"/>
                        <a:ext cx="2135187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6"/>
          <p:cNvGrpSpPr/>
          <p:nvPr/>
        </p:nvGrpSpPr>
        <p:grpSpPr bwMode="auto">
          <a:xfrm>
            <a:off x="7145337" y="5202766"/>
            <a:ext cx="3379788" cy="939799"/>
            <a:chOff x="3470" y="3339"/>
            <a:chExt cx="2129" cy="592"/>
          </a:xfrm>
        </p:grpSpPr>
        <p:graphicFrame>
          <p:nvGraphicFramePr>
            <p:cNvPr id="8204" name="Object 20"/>
            <p:cNvGraphicFramePr>
              <a:graphicFrameLocks noChangeAspect="1"/>
            </p:cNvGraphicFramePr>
            <p:nvPr/>
          </p:nvGraphicFramePr>
          <p:xfrm>
            <a:off x="3894" y="3339"/>
            <a:ext cx="1705" cy="5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460500" imgH="508000" progId="Equation.DSMT4">
                    <p:embed/>
                  </p:oleObj>
                </mc:Choice>
                <mc:Fallback>
                  <p:oleObj name="Equation" r:id="rId9" imgW="1460500" imgH="508000" progId="Equation.DSMT4">
                    <p:embed/>
                    <p:pic>
                      <p:nvPicPr>
                        <p:cNvPr id="0" name="图片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4" y="3339"/>
                          <a:ext cx="1705" cy="5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5" name="AutoShape 25"/>
            <p:cNvSpPr>
              <a:spLocks noChangeArrowheads="1"/>
            </p:cNvSpPr>
            <p:nvPr/>
          </p:nvSpPr>
          <p:spPr bwMode="auto">
            <a:xfrm>
              <a:off x="3470" y="3430"/>
              <a:ext cx="408" cy="501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</p:grpSp>
      <p:sp>
        <p:nvSpPr>
          <p:cNvPr id="76814" name="Text Box 20"/>
          <p:cNvSpPr txBox="1">
            <a:spLocks noChangeArrowheads="1"/>
          </p:cNvSpPr>
          <p:nvPr/>
        </p:nvSpPr>
        <p:spPr bwMode="auto">
          <a:xfrm>
            <a:off x="1919289" y="2183490"/>
            <a:ext cx="6767512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Blip>
                <a:blip r:embed="rId11"/>
              </a:buBlip>
            </a:pPr>
            <a:r>
              <a:rPr kumimoji="1"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The electromotive force (EMF) induced in a stationary closed circuit is equal to the negative rate of increase of the magnetic flux linking the circuit.</a:t>
            </a:r>
            <a:endParaRPr kumimoji="1"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6815" name="Text Box 20"/>
          <p:cNvSpPr txBox="1">
            <a:spLocks noChangeArrowheads="1"/>
          </p:cNvSpPr>
          <p:nvPr/>
        </p:nvSpPr>
        <p:spPr bwMode="auto">
          <a:xfrm>
            <a:off x="4943476" y="3933826"/>
            <a:ext cx="6098597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Blip>
                <a:blip r:embed="rId11"/>
              </a:buBlip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The negative sign</a:t>
            </a:r>
          </a:p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   - oppose the change--- </a:t>
            </a:r>
            <a:r>
              <a:rPr kumimoji="1" lang="en-US" altLang="zh-CN" sz="2400" b="1" dirty="0" err="1">
                <a:solidFill>
                  <a:srgbClr val="800000"/>
                </a:solidFill>
                <a:ea typeface="楷体_GB2312" pitchFamily="49" charset="-122"/>
              </a:rPr>
              <a:t>lenz’s</a:t>
            </a:r>
            <a:r>
              <a:rPr kumimoji="1" lang="en-US" altLang="zh-CN" sz="2400" b="1" dirty="0">
                <a:solidFill>
                  <a:srgbClr val="800000"/>
                </a:solidFill>
                <a:ea typeface="楷体_GB2312" pitchFamily="49" charset="-122"/>
              </a:rPr>
              <a:t> Law</a:t>
            </a:r>
            <a:endParaRPr kumimoji="1" lang="en-US" altLang="zh-CN" sz="2800" b="1" dirty="0">
              <a:solidFill>
                <a:srgbClr val="8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973753" y="5628162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99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6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9049" grpId="0"/>
      <p:bldP spid="76814" grpId="0"/>
      <p:bldP spid="768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7" name="Object 6"/>
          <p:cNvGraphicFramePr>
            <a:graphicFrameLocks noChangeAspect="1"/>
          </p:cNvGraphicFramePr>
          <p:nvPr/>
        </p:nvGraphicFramePr>
        <p:xfrm>
          <a:off x="4800600" y="981075"/>
          <a:ext cx="1803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381000" progId="Equation.DSMT4">
                  <p:embed/>
                </p:oleObj>
              </mc:Choice>
              <mc:Fallback>
                <p:oleObj name="Equation" r:id="rId2" imgW="1193800" imgH="3810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981075"/>
                        <a:ext cx="1803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Text Box 11"/>
          <p:cNvSpPr txBox="1">
            <a:spLocks noChangeArrowheads="1"/>
          </p:cNvSpPr>
          <p:nvPr/>
        </p:nvSpPr>
        <p:spPr bwMode="auto">
          <a:xfrm>
            <a:off x="2279651" y="4005264"/>
            <a:ext cx="8235949" cy="105259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The changing magnetic field is the source of the electric field.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The induced electric field is a rotational field.</a:t>
            </a:r>
          </a:p>
        </p:txBody>
      </p:sp>
      <p:sp>
        <p:nvSpPr>
          <p:cNvPr id="77829" name="Text Box 12"/>
          <p:cNvSpPr txBox="1">
            <a:spLocks noChangeArrowheads="1"/>
          </p:cNvSpPr>
          <p:nvPr/>
        </p:nvSpPr>
        <p:spPr bwMode="auto">
          <a:xfrm>
            <a:off x="2566988" y="1917700"/>
            <a:ext cx="1871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thus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77830" name="Object 13"/>
          <p:cNvGraphicFramePr>
            <a:graphicFrameLocks noChangeAspect="1"/>
          </p:cNvGraphicFramePr>
          <p:nvPr/>
        </p:nvGraphicFramePr>
        <p:xfrm>
          <a:off x="4656138" y="1916113"/>
          <a:ext cx="2946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800" imgH="508000" progId="Equation.DSMT4">
                  <p:embed/>
                </p:oleObj>
              </mc:Choice>
              <mc:Fallback>
                <p:oleObj name="Equation" r:id="rId4" imgW="1955800" imgH="5080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1916113"/>
                        <a:ext cx="2946400" cy="7874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7140" name="Text Box 20"/>
          <p:cNvSpPr txBox="1">
            <a:spLocks noChangeArrowheads="1"/>
          </p:cNvSpPr>
          <p:nvPr/>
        </p:nvSpPr>
        <p:spPr bwMode="auto">
          <a:xfrm>
            <a:off x="2135188" y="3141663"/>
            <a:ext cx="6457950" cy="56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Blip>
                <a:blip r:embed="rId6"/>
              </a:buBlip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Understanding of induced electric field 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sp>
        <p:nvSpPr>
          <p:cNvPr id="77832" name="Text Box 23"/>
          <p:cNvSpPr txBox="1">
            <a:spLocks noChangeArrowheads="1"/>
          </p:cNvSpPr>
          <p:nvPr/>
        </p:nvSpPr>
        <p:spPr bwMode="auto">
          <a:xfrm>
            <a:off x="2566988" y="1052513"/>
            <a:ext cx="1871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As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：</a:t>
            </a:r>
          </a:p>
        </p:txBody>
      </p:sp>
      <p:pic>
        <p:nvPicPr>
          <p:cNvPr id="9224" name="Picture 9" descr="BD06518_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723" y="5187950"/>
            <a:ext cx="2160587" cy="167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51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778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9" grpId="0"/>
      <p:bldP spid="517140" grpId="0"/>
      <p:bldP spid="778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Text Box 2"/>
          <p:cNvSpPr txBox="1">
            <a:spLocks noChangeArrowheads="1"/>
          </p:cNvSpPr>
          <p:nvPr/>
        </p:nvSpPr>
        <p:spPr bwMode="auto">
          <a:xfrm>
            <a:off x="1992312" y="5373689"/>
            <a:ext cx="35385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The corresponding differential form is</a:t>
            </a:r>
          </a:p>
        </p:txBody>
      </p:sp>
      <p:sp>
        <p:nvSpPr>
          <p:cNvPr id="78852" name="Text Box 6"/>
          <p:cNvSpPr txBox="1">
            <a:spLocks noChangeArrowheads="1"/>
          </p:cNvSpPr>
          <p:nvPr/>
        </p:nvSpPr>
        <p:spPr bwMode="auto">
          <a:xfrm>
            <a:off x="1919289" y="3583569"/>
            <a:ext cx="83981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solidFill>
                  <a:srgbClr val="800000"/>
                </a:solidFill>
                <a:ea typeface="楷体_GB2312" pitchFamily="49" charset="-122"/>
              </a:rPr>
              <a:t>(1) Magnetic field changes with time while </a:t>
            </a:r>
            <a:r>
              <a:rPr kumimoji="1" lang="en-US" altLang="zh-CN" sz="2000" b="1" dirty="0">
                <a:solidFill>
                  <a:srgbClr val="800000"/>
                </a:solidFill>
              </a:rPr>
              <a:t>Loop is invariant</a:t>
            </a:r>
            <a:r>
              <a:rPr kumimoji="1" lang="en-US" altLang="zh-CN" sz="1800" b="1" dirty="0">
                <a:solidFill>
                  <a:srgbClr val="800000"/>
                </a:solidFill>
              </a:rPr>
              <a:t>.</a:t>
            </a:r>
          </a:p>
        </p:txBody>
      </p:sp>
      <p:graphicFrame>
        <p:nvGraphicFramePr>
          <p:cNvPr id="78853" name="Object 8"/>
          <p:cNvGraphicFramePr>
            <a:graphicFrameLocks noChangeAspect="1"/>
          </p:cNvGraphicFramePr>
          <p:nvPr/>
        </p:nvGraphicFramePr>
        <p:xfrm>
          <a:off x="2495550" y="4159830"/>
          <a:ext cx="3035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66900" imgH="546100" progId="Equation.DSMT4">
                  <p:embed/>
                </p:oleObj>
              </mc:Choice>
              <mc:Fallback>
                <p:oleObj name="Equation" r:id="rId2" imgW="1866900" imgH="5461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4159830"/>
                        <a:ext cx="30353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4"/>
          <p:cNvGraphicFramePr>
            <a:graphicFrameLocks noChangeAspect="1"/>
          </p:cNvGraphicFramePr>
          <p:nvPr/>
        </p:nvGraphicFramePr>
        <p:xfrm>
          <a:off x="6311901" y="1504852"/>
          <a:ext cx="15748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400" imgH="381000" progId="Equation.DSMT4">
                  <p:embed/>
                </p:oleObj>
              </mc:Choice>
              <mc:Fallback>
                <p:oleObj name="Equation" r:id="rId4" imgW="1041400" imgH="3810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1" y="1504852"/>
                        <a:ext cx="15748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Text Box 12"/>
          <p:cNvSpPr txBox="1">
            <a:spLocks noChangeArrowheads="1"/>
          </p:cNvSpPr>
          <p:nvPr/>
        </p:nvSpPr>
        <p:spPr bwMode="auto">
          <a:xfrm>
            <a:off x="1703388" y="392396"/>
            <a:ext cx="9718529" cy="100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The sources of the electric field have two kinds: </a:t>
            </a:r>
            <a:r>
              <a:rPr kumimoji="1"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仿宋_GB2312" pitchFamily="49" charset="-122"/>
              </a:rPr>
              <a:t>Charge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,  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仿宋_GB2312" pitchFamily="49" charset="-122"/>
              </a:rPr>
              <a:t>Magnetic field (change with time)</a:t>
            </a:r>
          </a:p>
        </p:txBody>
      </p:sp>
      <p:graphicFrame>
        <p:nvGraphicFramePr>
          <p:cNvPr id="10247" name="Object 17"/>
          <p:cNvGraphicFramePr>
            <a:graphicFrameLocks noChangeAspect="1"/>
          </p:cNvGraphicFramePr>
          <p:nvPr/>
        </p:nvGraphicFramePr>
        <p:xfrm>
          <a:off x="3808414" y="1631321"/>
          <a:ext cx="14620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03300" imgH="330200" progId="Equation.DSMT4">
                  <p:embed/>
                </p:oleObj>
              </mc:Choice>
              <mc:Fallback>
                <p:oleObj name="Equation" r:id="rId6" imgW="1003300" imgH="330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414" y="1631321"/>
                        <a:ext cx="146208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7" name="Text Box 19"/>
          <p:cNvSpPr txBox="1">
            <a:spLocks noChangeArrowheads="1"/>
          </p:cNvSpPr>
          <p:nvPr/>
        </p:nvSpPr>
        <p:spPr bwMode="auto">
          <a:xfrm>
            <a:off x="1703387" y="2997201"/>
            <a:ext cx="98513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solidFill>
                  <a:srgbClr val="0000CC"/>
                </a:solidFill>
              </a:rPr>
              <a:t>2</a:t>
            </a:r>
            <a:r>
              <a:rPr kumimoji="1" lang="en-US" altLang="zh-CN" sz="2000" b="1" dirty="0">
                <a:solidFill>
                  <a:srgbClr val="0000CC"/>
                </a:solidFill>
              </a:rPr>
              <a:t>. </a:t>
            </a:r>
            <a:r>
              <a:rPr kumimoji="1" lang="en-US" altLang="zh-CN" sz="2400" b="1" dirty="0">
                <a:solidFill>
                  <a:srgbClr val="0000CC"/>
                </a:solidFill>
              </a:rPr>
              <a:t>Several conditions made magnetic flux change in the loop</a:t>
            </a:r>
          </a:p>
        </p:txBody>
      </p:sp>
      <p:graphicFrame>
        <p:nvGraphicFramePr>
          <p:cNvPr id="620565" name="Object 21"/>
          <p:cNvGraphicFramePr>
            <a:graphicFrameLocks noChangeAspect="1"/>
          </p:cNvGraphicFramePr>
          <p:nvPr/>
        </p:nvGraphicFramePr>
        <p:xfrm>
          <a:off x="4295775" y="2224662"/>
          <a:ext cx="309562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54200" imgH="508000" progId="Equation.DSMT4">
                  <p:embed/>
                </p:oleObj>
              </mc:Choice>
              <mc:Fallback>
                <p:oleObj name="Equation" r:id="rId8" imgW="1854200" imgH="5080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2224662"/>
                        <a:ext cx="3095625" cy="8731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0566" name="Object 22"/>
          <p:cNvGraphicFramePr>
            <a:graphicFrameLocks noChangeAspect="1"/>
          </p:cNvGraphicFramePr>
          <p:nvPr/>
        </p:nvGraphicFramePr>
        <p:xfrm>
          <a:off x="5591175" y="5371396"/>
          <a:ext cx="18002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2200" imgH="546100" progId="Equation.DSMT4">
                  <p:embed/>
                </p:oleObj>
              </mc:Choice>
              <mc:Fallback>
                <p:oleObj name="Equation" r:id="rId10" imgW="1092200" imgH="5461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5371396"/>
                        <a:ext cx="1800225" cy="9144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5"/>
          <p:cNvGrpSpPr/>
          <p:nvPr/>
        </p:nvGrpSpPr>
        <p:grpSpPr bwMode="auto">
          <a:xfrm>
            <a:off x="5735639" y="4159833"/>
            <a:ext cx="3455987" cy="946151"/>
            <a:chOff x="2835" y="2926"/>
            <a:chExt cx="2177" cy="596"/>
          </a:xfrm>
        </p:grpSpPr>
        <p:graphicFrame>
          <p:nvGraphicFramePr>
            <p:cNvPr id="10253" name="Object 11"/>
            <p:cNvGraphicFramePr>
              <a:graphicFrameLocks noChangeAspect="1"/>
            </p:cNvGraphicFramePr>
            <p:nvPr/>
          </p:nvGraphicFramePr>
          <p:xfrm>
            <a:off x="3198" y="2926"/>
            <a:ext cx="1814" cy="5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27200" imgH="546100" progId="Equation.DSMT4">
                    <p:embed/>
                  </p:oleObj>
                </mc:Choice>
                <mc:Fallback>
                  <p:oleObj name="Equation" r:id="rId12" imgW="1727200" imgH="5461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" y="2926"/>
                          <a:ext cx="1814" cy="5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4" name="AutoShape 23"/>
            <p:cNvSpPr>
              <a:spLocks noChangeArrowheads="1"/>
            </p:cNvSpPr>
            <p:nvPr/>
          </p:nvSpPr>
          <p:spPr bwMode="auto">
            <a:xfrm>
              <a:off x="2835" y="3021"/>
              <a:ext cx="363" cy="501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9525">
              <a:solidFill>
                <a:srgbClr val="FF00FF"/>
              </a:solidFill>
              <a:miter lim="800000"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pic>
        <p:nvPicPr>
          <p:cNvPr id="10252" name="Picture 15" descr="BD05546_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451" y="5273675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20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62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62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0546" grpId="0"/>
      <p:bldP spid="78852" grpId="0"/>
      <p:bldP spid="788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Text Box 2"/>
          <p:cNvSpPr txBox="1">
            <a:spLocks noChangeArrowheads="1"/>
          </p:cNvSpPr>
          <p:nvPr/>
        </p:nvSpPr>
        <p:spPr bwMode="auto">
          <a:xfrm>
            <a:off x="2351088" y="2420939"/>
            <a:ext cx="7345362" cy="1004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Which is called motional </a:t>
            </a:r>
            <a:r>
              <a:rPr kumimoji="1" lang="en-US" altLang="zh-CN" sz="24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electromotive force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, this is the working principle of the generator.</a:t>
            </a:r>
          </a:p>
        </p:txBody>
      </p:sp>
      <p:sp>
        <p:nvSpPr>
          <p:cNvPr id="518147" name="Text Box 3"/>
          <p:cNvSpPr txBox="1">
            <a:spLocks noChangeArrowheads="1"/>
          </p:cNvSpPr>
          <p:nvPr/>
        </p:nvSpPr>
        <p:spPr bwMode="auto">
          <a:xfrm>
            <a:off x="1919289" y="620714"/>
            <a:ext cx="90950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solidFill>
                  <a:srgbClr val="800000"/>
                </a:solidFill>
              </a:rPr>
              <a:t>( 2 ) The motion of a conductor loop in a constant magnetic field</a:t>
            </a:r>
            <a:endParaRPr kumimoji="1" lang="en-US" altLang="zh-CN" sz="2400" b="1" dirty="0">
              <a:solidFill>
                <a:srgbClr val="800000"/>
              </a:solidFill>
              <a:ea typeface="楷体_GB2312" pitchFamily="49" charset="-122"/>
            </a:endParaRPr>
          </a:p>
        </p:txBody>
      </p:sp>
      <p:graphicFrame>
        <p:nvGraphicFramePr>
          <p:cNvPr id="79877" name="Object 5"/>
          <p:cNvGraphicFramePr>
            <a:graphicFrameLocks noChangeAspect="1"/>
          </p:cNvGraphicFramePr>
          <p:nvPr/>
        </p:nvGraphicFramePr>
        <p:xfrm>
          <a:off x="3648075" y="1531939"/>
          <a:ext cx="3960813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3000" imgH="381000" progId="Equation.DSMT4">
                  <p:embed/>
                </p:oleObj>
              </mc:Choice>
              <mc:Fallback>
                <p:oleObj name="Equation" r:id="rId2" imgW="2413000" imgH="3810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1531939"/>
                        <a:ext cx="3960813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8150" name="Text Box 6"/>
          <p:cNvSpPr txBox="1">
            <a:spLocks noChangeArrowheads="1"/>
          </p:cNvSpPr>
          <p:nvPr/>
        </p:nvSpPr>
        <p:spPr bwMode="auto">
          <a:xfrm>
            <a:off x="1880871" y="4073385"/>
            <a:ext cx="82518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400" b="1" dirty="0">
                <a:solidFill>
                  <a:srgbClr val="800000"/>
                </a:solidFill>
                <a:ea typeface="楷体_GB2312" pitchFamily="49" charset="-122"/>
              </a:rPr>
              <a:t>( 3 ) The loop moves in a time varying magnetic field</a:t>
            </a:r>
          </a:p>
        </p:txBody>
      </p:sp>
      <p:graphicFrame>
        <p:nvGraphicFramePr>
          <p:cNvPr id="79879" name="Object 7"/>
          <p:cNvGraphicFramePr>
            <a:graphicFrameLocks noChangeAspect="1"/>
          </p:cNvGraphicFramePr>
          <p:nvPr/>
        </p:nvGraphicFramePr>
        <p:xfrm>
          <a:off x="2939734" y="4804587"/>
          <a:ext cx="5545137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52800" imgH="546100" progId="Equation.DSMT4">
                  <p:embed/>
                </p:oleObj>
              </mc:Choice>
              <mc:Fallback>
                <p:oleObj name="Equation" r:id="rId4" imgW="3352800" imgH="5461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9734" y="4804587"/>
                        <a:ext cx="5545137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71" name="Picture 8" descr="BD05546_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2508" y="5344293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1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51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/>
      <p:bldP spid="518147" grpId="0"/>
      <p:bldP spid="5181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8"/>
          <p:cNvGrpSpPr/>
          <p:nvPr/>
        </p:nvGrpSpPr>
        <p:grpSpPr bwMode="auto">
          <a:xfrm>
            <a:off x="1587500" y="1277939"/>
            <a:ext cx="7029450" cy="574675"/>
            <a:chOff x="40" y="805"/>
            <a:chExt cx="4428" cy="362"/>
          </a:xfrm>
        </p:grpSpPr>
        <p:sp>
          <p:nvSpPr>
            <p:cNvPr id="12463" name="Rectangle 18"/>
            <p:cNvSpPr>
              <a:spLocks noChangeArrowheads="1"/>
            </p:cNvSpPr>
            <p:nvPr/>
          </p:nvSpPr>
          <p:spPr bwMode="auto">
            <a:xfrm>
              <a:off x="40" y="805"/>
              <a:ext cx="4428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）                              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, 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Rectangular loop is static </a:t>
              </a: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；</a:t>
              </a:r>
            </a:p>
          </p:txBody>
        </p:sp>
        <p:graphicFrame>
          <p:nvGraphicFramePr>
            <p:cNvPr id="12464" name="Object 99"/>
            <p:cNvGraphicFramePr/>
            <p:nvPr/>
          </p:nvGraphicFramePr>
          <p:xfrm>
            <a:off x="839" y="850"/>
            <a:ext cx="1321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71600" imgH="330200" progId="Equation.DSMT4">
                    <p:embed/>
                  </p:oleObj>
                </mc:Choice>
                <mc:Fallback>
                  <p:oleObj name="Equation" r:id="rId2" imgW="1371600" imgH="330200" progId="Equation.DSMT4">
                    <p:embed/>
                    <p:pic>
                      <p:nvPicPr>
                        <p:cNvPr id="0" name="图片 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850"/>
                          <a:ext cx="1321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41"/>
          <p:cNvGrpSpPr/>
          <p:nvPr/>
        </p:nvGrpSpPr>
        <p:grpSpPr bwMode="auto">
          <a:xfrm>
            <a:off x="7104063" y="2997200"/>
            <a:ext cx="3384550" cy="2255838"/>
            <a:chOff x="3507" y="1706"/>
            <a:chExt cx="2132" cy="1421"/>
          </a:xfrm>
        </p:grpSpPr>
        <p:sp>
          <p:nvSpPr>
            <p:cNvPr id="12308" name="Rectangle 60"/>
            <p:cNvSpPr>
              <a:spLocks noChangeArrowheads="1"/>
            </p:cNvSpPr>
            <p:nvPr/>
          </p:nvSpPr>
          <p:spPr bwMode="auto">
            <a:xfrm>
              <a:off x="3507" y="2349"/>
              <a:ext cx="2132" cy="256"/>
            </a:xfrm>
            <a:prstGeom prst="rect">
              <a:avLst/>
            </a:prstGeom>
            <a:solidFill>
              <a:srgbClr val="E9FFFF"/>
            </a:solidFill>
            <a:ln w="9525">
              <a:solidFill>
                <a:srgbClr val="FF0000"/>
              </a:solidFill>
              <a:miter lim="800000"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2309" name="Line 67"/>
            <p:cNvSpPr>
              <a:spLocks noChangeShapeType="1"/>
            </p:cNvSpPr>
            <p:nvPr/>
          </p:nvSpPr>
          <p:spPr bwMode="auto">
            <a:xfrm>
              <a:off x="3776" y="2635"/>
              <a:ext cx="0" cy="2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0" name="Line 68"/>
            <p:cNvSpPr>
              <a:spLocks noChangeShapeType="1"/>
            </p:cNvSpPr>
            <p:nvPr/>
          </p:nvSpPr>
          <p:spPr bwMode="auto">
            <a:xfrm>
              <a:off x="4468" y="2704"/>
              <a:ext cx="0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1" name="Line 69"/>
            <p:cNvSpPr>
              <a:spLocks noChangeShapeType="1"/>
            </p:cNvSpPr>
            <p:nvPr/>
          </p:nvSpPr>
          <p:spPr bwMode="auto">
            <a:xfrm>
              <a:off x="4487" y="2341"/>
              <a:ext cx="18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Line 70"/>
            <p:cNvSpPr>
              <a:spLocks noChangeShapeType="1"/>
            </p:cNvSpPr>
            <p:nvPr/>
          </p:nvSpPr>
          <p:spPr bwMode="auto">
            <a:xfrm flipV="1">
              <a:off x="3776" y="1826"/>
              <a:ext cx="0" cy="34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3" name="Line 71"/>
            <p:cNvSpPr>
              <a:spLocks noChangeShapeType="1"/>
            </p:cNvSpPr>
            <p:nvPr/>
          </p:nvSpPr>
          <p:spPr bwMode="auto">
            <a:xfrm>
              <a:off x="4759" y="2574"/>
              <a:ext cx="730" cy="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4" name="Line 72"/>
            <p:cNvSpPr>
              <a:spLocks noChangeShapeType="1"/>
            </p:cNvSpPr>
            <p:nvPr/>
          </p:nvSpPr>
          <p:spPr bwMode="auto">
            <a:xfrm>
              <a:off x="5204" y="2098"/>
              <a:ext cx="1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5" name="Line 73"/>
            <p:cNvSpPr>
              <a:spLocks noChangeShapeType="1"/>
            </p:cNvSpPr>
            <p:nvPr/>
          </p:nvSpPr>
          <p:spPr bwMode="auto">
            <a:xfrm flipV="1">
              <a:off x="5154" y="1920"/>
              <a:ext cx="0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6" name="Line 74"/>
            <p:cNvSpPr>
              <a:spLocks noChangeShapeType="1"/>
            </p:cNvSpPr>
            <p:nvPr/>
          </p:nvSpPr>
          <p:spPr bwMode="auto">
            <a:xfrm>
              <a:off x="3776" y="1979"/>
              <a:ext cx="137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7" name="Line 75"/>
            <p:cNvSpPr>
              <a:spLocks noChangeShapeType="1"/>
            </p:cNvSpPr>
            <p:nvPr/>
          </p:nvSpPr>
          <p:spPr bwMode="auto">
            <a:xfrm>
              <a:off x="5375" y="2098"/>
              <a:ext cx="0" cy="4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8" name="Line 76"/>
            <p:cNvSpPr>
              <a:spLocks noChangeShapeType="1"/>
            </p:cNvSpPr>
            <p:nvPr/>
          </p:nvSpPr>
          <p:spPr bwMode="auto">
            <a:xfrm flipV="1">
              <a:off x="3776" y="2779"/>
              <a:ext cx="6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9" name="Rectangle 82"/>
            <p:cNvSpPr>
              <a:spLocks noChangeArrowheads="1"/>
            </p:cNvSpPr>
            <p:nvPr/>
          </p:nvSpPr>
          <p:spPr bwMode="auto">
            <a:xfrm>
              <a:off x="4019" y="2711"/>
              <a:ext cx="8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2320" name="Text Box 83"/>
            <p:cNvSpPr txBox="1">
              <a:spLocks noChangeArrowheads="1"/>
            </p:cNvSpPr>
            <p:nvPr/>
          </p:nvSpPr>
          <p:spPr bwMode="auto">
            <a:xfrm>
              <a:off x="3998" y="2682"/>
              <a:ext cx="24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000" b="1">
                <a:solidFill>
                  <a:srgbClr val="000000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2321" name="Rectangle 84"/>
            <p:cNvSpPr>
              <a:spLocks noChangeArrowheads="1"/>
            </p:cNvSpPr>
            <p:nvPr/>
          </p:nvSpPr>
          <p:spPr bwMode="auto">
            <a:xfrm>
              <a:off x="5272" y="2302"/>
              <a:ext cx="108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2322" name="Text Box 85"/>
            <p:cNvSpPr txBox="1">
              <a:spLocks noChangeArrowheads="1"/>
            </p:cNvSpPr>
            <p:nvPr/>
          </p:nvSpPr>
          <p:spPr bwMode="auto">
            <a:xfrm>
              <a:off x="5335" y="2205"/>
              <a:ext cx="24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000" b="1">
                <a:solidFill>
                  <a:srgbClr val="000000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2323" name="Rectangle 86"/>
            <p:cNvSpPr>
              <a:spLocks noChangeArrowheads="1"/>
            </p:cNvSpPr>
            <p:nvPr/>
          </p:nvSpPr>
          <p:spPr bwMode="auto">
            <a:xfrm>
              <a:off x="4343" y="1866"/>
              <a:ext cx="162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2324" name="Text Box 87"/>
            <p:cNvSpPr txBox="1">
              <a:spLocks noChangeArrowheads="1"/>
            </p:cNvSpPr>
            <p:nvPr/>
          </p:nvSpPr>
          <p:spPr bwMode="auto">
            <a:xfrm>
              <a:off x="4361" y="1752"/>
              <a:ext cx="24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000" b="1">
                <a:solidFill>
                  <a:srgbClr val="000000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2325" name="Text Box 88"/>
            <p:cNvSpPr txBox="1">
              <a:spLocks noChangeArrowheads="1"/>
            </p:cNvSpPr>
            <p:nvPr/>
          </p:nvSpPr>
          <p:spPr bwMode="auto">
            <a:xfrm>
              <a:off x="3622" y="2432"/>
              <a:ext cx="24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  <a:endParaRPr lang="en-US" altLang="zh-CN" sz="2000" b="1">
                <a:solidFill>
                  <a:srgbClr val="000000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2326" name="Text Box 89"/>
            <p:cNvSpPr txBox="1">
              <a:spLocks noChangeArrowheads="1"/>
            </p:cNvSpPr>
            <p:nvPr/>
          </p:nvSpPr>
          <p:spPr bwMode="auto">
            <a:xfrm>
              <a:off x="3606" y="1706"/>
              <a:ext cx="24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2000" b="1">
                <a:solidFill>
                  <a:srgbClr val="000000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2327" name="Text Box 90"/>
            <p:cNvSpPr txBox="1">
              <a:spLocks noChangeArrowheads="1"/>
            </p:cNvSpPr>
            <p:nvPr/>
          </p:nvSpPr>
          <p:spPr bwMode="auto">
            <a:xfrm>
              <a:off x="5375" y="2499"/>
              <a:ext cx="243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2000" b="1">
                <a:solidFill>
                  <a:srgbClr val="000000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2328" name="Text Box 92"/>
            <p:cNvSpPr txBox="1">
              <a:spLocks noChangeArrowheads="1"/>
            </p:cNvSpPr>
            <p:nvPr/>
          </p:nvSpPr>
          <p:spPr bwMode="auto">
            <a:xfrm>
              <a:off x="3682" y="2923"/>
              <a:ext cx="186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</a:rPr>
                <a:t>Rectangular ring in uniform magnetic field</a:t>
              </a:r>
              <a:endParaRPr lang="en-US" altLang="zh-CN" sz="1400" b="1">
                <a:solidFill>
                  <a:srgbClr val="000000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2329" name="Rectangle 65"/>
            <p:cNvSpPr>
              <a:spLocks noChangeArrowheads="1"/>
            </p:cNvSpPr>
            <p:nvPr/>
          </p:nvSpPr>
          <p:spPr bwMode="auto">
            <a:xfrm>
              <a:off x="3695" y="2288"/>
              <a:ext cx="16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grpSp>
          <p:nvGrpSpPr>
            <p:cNvPr id="12330" name="Group 121"/>
            <p:cNvGrpSpPr/>
            <p:nvPr/>
          </p:nvGrpSpPr>
          <p:grpSpPr bwMode="auto">
            <a:xfrm>
              <a:off x="3606" y="1933"/>
              <a:ext cx="363" cy="363"/>
              <a:chOff x="3606" y="1933"/>
              <a:chExt cx="363" cy="363"/>
            </a:xfrm>
          </p:grpSpPr>
          <p:grpSp>
            <p:nvGrpSpPr>
              <p:cNvPr id="12448" name="Group 112"/>
              <p:cNvGrpSpPr/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2457" name="Group 77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61" name="Oval 78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62" name="Oval 79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458" name="Group 100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59" name="Oval 101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60" name="Oval 102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  <p:sp>
            <p:nvSpPr>
              <p:cNvPr id="12449" name="Rectangle 103"/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  <a:buClrTx/>
                  <a:buSzTx/>
                  <a:buFontTx/>
                  <a:buNone/>
                </a:pPr>
                <a:endParaRPr lang="zh-CN" altLang="zh-CN" sz="2000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grpSp>
            <p:nvGrpSpPr>
              <p:cNvPr id="12450" name="Group 113"/>
              <p:cNvGrpSpPr/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2451" name="Group 114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55" name="Oval 115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56" name="Oval 116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452" name="Group 117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53" name="Oval 118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54" name="Oval 119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</p:grpSp>
        <p:grpSp>
          <p:nvGrpSpPr>
            <p:cNvPr id="12331" name="Group 122"/>
            <p:cNvGrpSpPr/>
            <p:nvPr/>
          </p:nvGrpSpPr>
          <p:grpSpPr bwMode="auto">
            <a:xfrm>
              <a:off x="4059" y="1933"/>
              <a:ext cx="363" cy="363"/>
              <a:chOff x="3606" y="1933"/>
              <a:chExt cx="363" cy="363"/>
            </a:xfrm>
          </p:grpSpPr>
          <p:grpSp>
            <p:nvGrpSpPr>
              <p:cNvPr id="12433" name="Group 123"/>
              <p:cNvGrpSpPr/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2442" name="Group 124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46" name="Oval 125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47" name="Oval 126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443" name="Group 127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44" name="Oval 128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45" name="Oval 129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  <p:sp>
            <p:nvSpPr>
              <p:cNvPr id="12434" name="Rectangle 130"/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  <a:buClrTx/>
                  <a:buSzTx/>
                  <a:buFontTx/>
                  <a:buNone/>
                </a:pPr>
                <a:endParaRPr lang="zh-CN" altLang="zh-CN" sz="2000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grpSp>
            <p:nvGrpSpPr>
              <p:cNvPr id="12435" name="Group 131"/>
              <p:cNvGrpSpPr/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2436" name="Group 132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40" name="Oval 133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41" name="Oval 134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437" name="Group 135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38" name="Oval 136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39" name="Oval 137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</p:grpSp>
        <p:grpSp>
          <p:nvGrpSpPr>
            <p:cNvPr id="12332" name="Group 138"/>
            <p:cNvGrpSpPr/>
            <p:nvPr/>
          </p:nvGrpSpPr>
          <p:grpSpPr bwMode="auto">
            <a:xfrm>
              <a:off x="4513" y="1933"/>
              <a:ext cx="363" cy="363"/>
              <a:chOff x="3606" y="1933"/>
              <a:chExt cx="363" cy="363"/>
            </a:xfrm>
          </p:grpSpPr>
          <p:grpSp>
            <p:nvGrpSpPr>
              <p:cNvPr id="12418" name="Group 139"/>
              <p:cNvGrpSpPr/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2427" name="Group 140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31" name="Oval 141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32" name="Oval 142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428" name="Group 143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29" name="Oval 144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30" name="Oval 145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  <p:sp>
            <p:nvSpPr>
              <p:cNvPr id="12419" name="Rectangle 146"/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  <a:buClrTx/>
                  <a:buSzTx/>
                  <a:buFontTx/>
                  <a:buNone/>
                </a:pPr>
                <a:endParaRPr lang="zh-CN" altLang="zh-CN" sz="2000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grpSp>
            <p:nvGrpSpPr>
              <p:cNvPr id="12420" name="Group 147"/>
              <p:cNvGrpSpPr/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2421" name="Group 148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25" name="Oval 149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26" name="Oval 150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422" name="Group 151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23" name="Oval 152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24" name="Oval 153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</p:grpSp>
        <p:grpSp>
          <p:nvGrpSpPr>
            <p:cNvPr id="12333" name="Group 154"/>
            <p:cNvGrpSpPr/>
            <p:nvPr/>
          </p:nvGrpSpPr>
          <p:grpSpPr bwMode="auto">
            <a:xfrm>
              <a:off x="4966" y="1933"/>
              <a:ext cx="363" cy="363"/>
              <a:chOff x="3606" y="1933"/>
              <a:chExt cx="363" cy="363"/>
            </a:xfrm>
          </p:grpSpPr>
          <p:grpSp>
            <p:nvGrpSpPr>
              <p:cNvPr id="12403" name="Group 155"/>
              <p:cNvGrpSpPr/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2412" name="Group 156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16" name="Oval 157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17" name="Oval 158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413" name="Group 159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14" name="Oval 160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15" name="Oval 161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  <p:sp>
            <p:nvSpPr>
              <p:cNvPr id="12404" name="Rectangle 162"/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  <a:buClrTx/>
                  <a:buSzTx/>
                  <a:buFontTx/>
                  <a:buNone/>
                </a:pPr>
                <a:endParaRPr lang="zh-CN" altLang="zh-CN" sz="2000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grpSp>
            <p:nvGrpSpPr>
              <p:cNvPr id="12405" name="Group 163"/>
              <p:cNvGrpSpPr/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2406" name="Group 164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10" name="Oval 165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11" name="Oval 166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407" name="Group 167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08" name="Oval 168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09" name="Oval 169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</p:grpSp>
        <p:grpSp>
          <p:nvGrpSpPr>
            <p:cNvPr id="12334" name="Group 172"/>
            <p:cNvGrpSpPr/>
            <p:nvPr/>
          </p:nvGrpSpPr>
          <p:grpSpPr bwMode="auto">
            <a:xfrm>
              <a:off x="3606" y="2387"/>
              <a:ext cx="363" cy="363"/>
              <a:chOff x="3606" y="1933"/>
              <a:chExt cx="363" cy="363"/>
            </a:xfrm>
          </p:grpSpPr>
          <p:grpSp>
            <p:nvGrpSpPr>
              <p:cNvPr id="12388" name="Group 173"/>
              <p:cNvGrpSpPr/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2397" name="Group 174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401" name="Oval 175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02" name="Oval 176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398" name="Group 177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99" name="Oval 178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400" name="Oval 179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  <p:sp>
            <p:nvSpPr>
              <p:cNvPr id="12389" name="Rectangle 180"/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  <a:buClrTx/>
                  <a:buSzTx/>
                  <a:buFontTx/>
                  <a:buNone/>
                </a:pPr>
                <a:endParaRPr lang="zh-CN" altLang="zh-CN" sz="2000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grpSp>
            <p:nvGrpSpPr>
              <p:cNvPr id="12390" name="Group 181"/>
              <p:cNvGrpSpPr/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2391" name="Group 182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95" name="Oval 183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396" name="Oval 184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392" name="Group 185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93" name="Oval 186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394" name="Oval 187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</p:grpSp>
        <p:grpSp>
          <p:nvGrpSpPr>
            <p:cNvPr id="12335" name="Group 188"/>
            <p:cNvGrpSpPr/>
            <p:nvPr/>
          </p:nvGrpSpPr>
          <p:grpSpPr bwMode="auto">
            <a:xfrm>
              <a:off x="4059" y="2387"/>
              <a:ext cx="363" cy="363"/>
              <a:chOff x="3606" y="1933"/>
              <a:chExt cx="363" cy="363"/>
            </a:xfrm>
          </p:grpSpPr>
          <p:grpSp>
            <p:nvGrpSpPr>
              <p:cNvPr id="12373" name="Group 189"/>
              <p:cNvGrpSpPr/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2382" name="Group 190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86" name="Oval 191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387" name="Oval 192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383" name="Group 193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84" name="Oval 194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385" name="Oval 195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  <p:sp>
            <p:nvSpPr>
              <p:cNvPr id="12374" name="Rectangle 196"/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  <a:buClrTx/>
                  <a:buSzTx/>
                  <a:buFontTx/>
                  <a:buNone/>
                </a:pPr>
                <a:endParaRPr lang="zh-CN" altLang="zh-CN" sz="2000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grpSp>
            <p:nvGrpSpPr>
              <p:cNvPr id="12375" name="Group 197"/>
              <p:cNvGrpSpPr/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2376" name="Group 198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80" name="Oval 199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381" name="Oval 200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377" name="Group 201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78" name="Oval 202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379" name="Oval 203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</p:grpSp>
        <p:grpSp>
          <p:nvGrpSpPr>
            <p:cNvPr id="12336" name="Group 204"/>
            <p:cNvGrpSpPr/>
            <p:nvPr/>
          </p:nvGrpSpPr>
          <p:grpSpPr bwMode="auto">
            <a:xfrm>
              <a:off x="4513" y="2387"/>
              <a:ext cx="363" cy="363"/>
              <a:chOff x="3606" y="1933"/>
              <a:chExt cx="363" cy="363"/>
            </a:xfrm>
          </p:grpSpPr>
          <p:grpSp>
            <p:nvGrpSpPr>
              <p:cNvPr id="12358" name="Group 205"/>
              <p:cNvGrpSpPr/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2367" name="Group 206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71" name="Oval 207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372" name="Oval 208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368" name="Group 209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69" name="Oval 210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370" name="Oval 211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  <p:sp>
            <p:nvSpPr>
              <p:cNvPr id="12359" name="Rectangle 212"/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  <a:buClrTx/>
                  <a:buSzTx/>
                  <a:buFontTx/>
                  <a:buNone/>
                </a:pPr>
                <a:endParaRPr lang="zh-CN" altLang="zh-CN" sz="2000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grpSp>
            <p:nvGrpSpPr>
              <p:cNvPr id="12360" name="Group 213"/>
              <p:cNvGrpSpPr/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2361" name="Group 214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65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366" name="Oval 216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362" name="Group 217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63" name="Oval 218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364" name="Oval 219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</p:grpSp>
        <p:grpSp>
          <p:nvGrpSpPr>
            <p:cNvPr id="12337" name="Group 220"/>
            <p:cNvGrpSpPr/>
            <p:nvPr/>
          </p:nvGrpSpPr>
          <p:grpSpPr bwMode="auto">
            <a:xfrm>
              <a:off x="4966" y="2387"/>
              <a:ext cx="363" cy="363"/>
              <a:chOff x="3606" y="1933"/>
              <a:chExt cx="363" cy="363"/>
            </a:xfrm>
          </p:grpSpPr>
          <p:grpSp>
            <p:nvGrpSpPr>
              <p:cNvPr id="12343" name="Group 221"/>
              <p:cNvGrpSpPr/>
              <p:nvPr/>
            </p:nvGrpSpPr>
            <p:grpSpPr bwMode="auto">
              <a:xfrm>
                <a:off x="3606" y="2160"/>
                <a:ext cx="363" cy="136"/>
                <a:chOff x="3606" y="2160"/>
                <a:chExt cx="363" cy="136"/>
              </a:xfrm>
            </p:grpSpPr>
            <p:grpSp>
              <p:nvGrpSpPr>
                <p:cNvPr id="12352" name="Group 222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56" name="Oval 223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357" name="Oval 224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353" name="Group 225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54" name="Oval 226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355" name="Oval 227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  <p:sp>
            <p:nvSpPr>
              <p:cNvPr id="12344" name="Rectangle 228"/>
              <p:cNvSpPr>
                <a:spLocks noChangeArrowheads="1"/>
              </p:cNvSpPr>
              <p:nvPr/>
            </p:nvSpPr>
            <p:spPr bwMode="auto">
              <a:xfrm>
                <a:off x="3695" y="2041"/>
                <a:ext cx="16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  <a:buClrTx/>
                  <a:buSzTx/>
                  <a:buFontTx/>
                  <a:buNone/>
                </a:pPr>
                <a:endParaRPr lang="zh-CN" altLang="zh-CN" sz="2000">
                  <a:solidFill>
                    <a:srgbClr val="000000"/>
                  </a:solidFill>
                  <a:ea typeface="楷体_GB2312" pitchFamily="49" charset="-122"/>
                </a:endParaRPr>
              </a:p>
            </p:txBody>
          </p:sp>
          <p:grpSp>
            <p:nvGrpSpPr>
              <p:cNvPr id="12345" name="Group 229"/>
              <p:cNvGrpSpPr/>
              <p:nvPr/>
            </p:nvGrpSpPr>
            <p:grpSpPr bwMode="auto">
              <a:xfrm>
                <a:off x="3606" y="1933"/>
                <a:ext cx="363" cy="136"/>
                <a:chOff x="3606" y="2160"/>
                <a:chExt cx="363" cy="136"/>
              </a:xfrm>
            </p:grpSpPr>
            <p:grpSp>
              <p:nvGrpSpPr>
                <p:cNvPr id="12346" name="Group 230"/>
                <p:cNvGrpSpPr/>
                <p:nvPr/>
              </p:nvGrpSpPr>
              <p:grpSpPr bwMode="auto">
                <a:xfrm>
                  <a:off x="3831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50" name="Oval 231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351" name="Oval 232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12347" name="Group 233"/>
                <p:cNvGrpSpPr/>
                <p:nvPr/>
              </p:nvGrpSpPr>
              <p:grpSpPr bwMode="auto">
                <a:xfrm>
                  <a:off x="3606" y="2160"/>
                  <a:ext cx="138" cy="136"/>
                  <a:chOff x="2700" y="14076"/>
                  <a:chExt cx="306" cy="312"/>
                </a:xfrm>
              </p:grpSpPr>
              <p:sp>
                <p:nvSpPr>
                  <p:cNvPr id="12348" name="Oval 234"/>
                  <p:cNvSpPr>
                    <a:spLocks noChangeArrowheads="1"/>
                  </p:cNvSpPr>
                  <p:nvPr/>
                </p:nvSpPr>
                <p:spPr bwMode="auto">
                  <a:xfrm>
                    <a:off x="2700" y="14076"/>
                    <a:ext cx="306" cy="312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2349" name="Oval 235"/>
                  <p:cNvSpPr>
                    <a:spLocks noChangeArrowheads="1"/>
                  </p:cNvSpPr>
                  <p:nvPr/>
                </p:nvSpPr>
                <p:spPr bwMode="auto">
                  <a:xfrm>
                    <a:off x="2811" y="14184"/>
                    <a:ext cx="85" cy="85"/>
                  </a:xfrm>
                  <a:prstGeom prst="ellipse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0000"/>
                    </a:solidFill>
                    <a:rou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75000"/>
                      <a:buFont typeface="Wingdings" panose="05000000000000000000" pitchFamily="2" charset="2"/>
                      <a:buChar char="v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Wingdings" panose="05000000000000000000" pitchFamily="2" charset="2"/>
                      <a:buChar char="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90000"/>
                      <a:buFont typeface="Wingdings" panose="05000000000000000000" pitchFamily="2" charset="2"/>
                      <a:buChar char="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SzPct val="85000"/>
                      <a:buFont typeface="Wingdings" panose="05000000000000000000" pitchFamily="2" charset="2"/>
                      <a:buChar char="v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15000"/>
                      </a:spcBef>
                      <a:buClrTx/>
                      <a:buSzTx/>
                      <a:buFontTx/>
                      <a:buNone/>
                    </a:pPr>
                    <a:endParaRPr lang="zh-CN" altLang="zh-CN" sz="2000">
                      <a:solidFill>
                        <a:srgbClr val="000000"/>
                      </a:solidFill>
                      <a:ea typeface="楷体_GB2312" pitchFamily="49" charset="-122"/>
                    </a:endParaRPr>
                  </a:p>
                </p:txBody>
              </p:sp>
            </p:grpSp>
          </p:grpSp>
        </p:grpSp>
        <p:sp>
          <p:nvSpPr>
            <p:cNvPr id="12338" name="Rectangle 236"/>
            <p:cNvSpPr>
              <a:spLocks noChangeArrowheads="1"/>
            </p:cNvSpPr>
            <p:nvPr/>
          </p:nvSpPr>
          <p:spPr bwMode="auto">
            <a:xfrm>
              <a:off x="3776" y="2098"/>
              <a:ext cx="1378" cy="476"/>
            </a:xfrm>
            <a:prstGeom prst="rect">
              <a:avLst/>
            </a:prstGeom>
            <a:noFill/>
            <a:ln w="44450">
              <a:solidFill>
                <a:srgbClr val="8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2339" name="Line 237"/>
            <p:cNvSpPr>
              <a:spLocks noChangeShapeType="1"/>
            </p:cNvSpPr>
            <p:nvPr/>
          </p:nvSpPr>
          <p:spPr bwMode="auto">
            <a:xfrm>
              <a:off x="4468" y="2002"/>
              <a:ext cx="0" cy="681"/>
            </a:xfrm>
            <a:prstGeom prst="line">
              <a:avLst/>
            </a:prstGeom>
            <a:noFill/>
            <a:ln w="50800">
              <a:solidFill>
                <a:srgbClr val="3366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0" name="Text Box 238"/>
            <p:cNvSpPr txBox="1">
              <a:spLocks noChangeArrowheads="1"/>
            </p:cNvSpPr>
            <p:nvPr/>
          </p:nvSpPr>
          <p:spPr bwMode="auto">
            <a:xfrm>
              <a:off x="4286" y="2069"/>
              <a:ext cx="243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endParaRPr lang="en-US" altLang="zh-CN" sz="2000" b="1">
                <a:solidFill>
                  <a:srgbClr val="000000"/>
                </a:solidFill>
                <a:ea typeface="幼圆" panose="02010509060101010101" pitchFamily="49" charset="-122"/>
              </a:endParaRPr>
            </a:p>
          </p:txBody>
        </p:sp>
        <p:graphicFrame>
          <p:nvGraphicFramePr>
            <p:cNvPr id="12341" name="Object 239"/>
            <p:cNvGraphicFramePr>
              <a:graphicFrameLocks noChangeAspect="1"/>
            </p:cNvGraphicFramePr>
            <p:nvPr/>
          </p:nvGraphicFramePr>
          <p:xfrm>
            <a:off x="4658" y="2220"/>
            <a:ext cx="172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400" imgH="228600" progId="Equation.3">
                    <p:embed/>
                  </p:oleObj>
                </mc:Choice>
                <mc:Fallback>
                  <p:oleObj name="公式" r:id="rId4" imgW="152400" imgH="228600" progId="Equation.3">
                    <p:embed/>
                    <p:pic>
                      <p:nvPicPr>
                        <p:cNvPr id="0" name="图片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8" y="2220"/>
                          <a:ext cx="172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42" name="Object 240"/>
            <p:cNvGraphicFramePr>
              <a:graphicFrameLocks noChangeAspect="1"/>
            </p:cNvGraphicFramePr>
            <p:nvPr/>
          </p:nvGraphicFramePr>
          <p:xfrm>
            <a:off x="3906" y="2251"/>
            <a:ext cx="206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90500" imgH="254000" progId="Equation.3">
                    <p:embed/>
                  </p:oleObj>
                </mc:Choice>
                <mc:Fallback>
                  <p:oleObj name="公式" r:id="rId6" imgW="190500" imgH="254000" progId="Equation.3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6" y="2251"/>
                          <a:ext cx="206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058" name="Object 243"/>
          <p:cNvGraphicFramePr>
            <a:graphicFrameLocks noChangeAspect="1"/>
          </p:cNvGraphicFramePr>
          <p:nvPr/>
        </p:nvGraphicFramePr>
        <p:xfrm>
          <a:off x="2208213" y="5516564"/>
          <a:ext cx="822325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65700" imgH="546100" progId="Equation.DSMT4">
                  <p:embed/>
                </p:oleObj>
              </mc:Choice>
              <mc:Fallback>
                <p:oleObj name="Equation" r:id="rId8" imgW="4965700" imgH="5461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5516564"/>
                        <a:ext cx="822325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9" name="Group 249"/>
          <p:cNvGrpSpPr/>
          <p:nvPr/>
        </p:nvGrpSpPr>
        <p:grpSpPr bwMode="auto">
          <a:xfrm>
            <a:off x="1558925" y="2857501"/>
            <a:ext cx="5473700" cy="1096963"/>
            <a:chOff x="22" y="1779"/>
            <a:chExt cx="3448" cy="691"/>
          </a:xfrm>
        </p:grpSpPr>
        <p:sp>
          <p:nvSpPr>
            <p:cNvPr id="12305" name="Rectangle 22"/>
            <p:cNvSpPr>
              <a:spLocks noChangeArrowheads="1"/>
            </p:cNvSpPr>
            <p:nvPr/>
          </p:nvSpPr>
          <p:spPr bwMode="auto">
            <a:xfrm>
              <a:off x="22" y="1779"/>
              <a:ext cx="3448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  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3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）                             ，</a:t>
              </a:r>
              <a:r>
                <a:rPr lang="en-US" altLang="zh-CN" sz="1800" b="1">
                  <a:solidFill>
                    <a:srgbClr val="000000"/>
                  </a:solidFill>
                  <a:ea typeface="楷体_GB2312" pitchFamily="49" charset="-122"/>
                  <a:cs typeface="Times New Roman" panose="02020603050405020304" pitchFamily="18" charset="0"/>
                </a:rPr>
                <a:t>and sliding conductor L in rectangular loop moves with velocity                  .</a:t>
              </a:r>
            </a:p>
          </p:txBody>
        </p:sp>
        <p:graphicFrame>
          <p:nvGraphicFramePr>
            <p:cNvPr id="12306" name="Object 97"/>
            <p:cNvGraphicFramePr>
              <a:graphicFrameLocks noChangeAspect="1"/>
            </p:cNvGraphicFramePr>
            <p:nvPr/>
          </p:nvGraphicFramePr>
          <p:xfrm>
            <a:off x="630" y="2139"/>
            <a:ext cx="635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09600" imgH="292100" progId="Equation.DSMT4">
                    <p:embed/>
                  </p:oleObj>
                </mc:Choice>
                <mc:Fallback>
                  <p:oleObj name="Equation" r:id="rId10" imgW="609600" imgH="2921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" y="2139"/>
                          <a:ext cx="635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7" name="Object 244"/>
            <p:cNvGraphicFramePr/>
            <p:nvPr/>
          </p:nvGraphicFramePr>
          <p:xfrm>
            <a:off x="810" y="1821"/>
            <a:ext cx="1350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371600" imgH="330200" progId="Equation.3">
                    <p:embed/>
                  </p:oleObj>
                </mc:Choice>
                <mc:Fallback>
                  <p:oleObj name="公式" r:id="rId12" imgW="1371600" imgH="330200" progId="Equation.3">
                    <p:embed/>
                    <p:pic>
                      <p:nvPicPr>
                        <p:cNvPr id="0" name="图片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0" y="1821"/>
                          <a:ext cx="1350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0" name="Group 250"/>
          <p:cNvGrpSpPr/>
          <p:nvPr/>
        </p:nvGrpSpPr>
        <p:grpSpPr bwMode="auto">
          <a:xfrm>
            <a:off x="1558926" y="3967164"/>
            <a:ext cx="5400675" cy="1616075"/>
            <a:chOff x="22" y="2499"/>
            <a:chExt cx="3402" cy="1018"/>
          </a:xfrm>
        </p:grpSpPr>
        <p:sp>
          <p:nvSpPr>
            <p:cNvPr id="12303" name="Rectangle 93"/>
            <p:cNvSpPr>
              <a:spLocks noChangeArrowheads="1"/>
            </p:cNvSpPr>
            <p:nvPr/>
          </p:nvSpPr>
          <p:spPr bwMode="auto">
            <a:xfrm>
              <a:off x="22" y="2499"/>
              <a:ext cx="3402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 </a:t>
              </a:r>
              <a:r>
                <a:rPr lang="en-US" altLang="zh-CN" sz="2000" b="1">
                  <a:solidFill>
                    <a:srgbClr val="8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Solution</a:t>
              </a:r>
              <a:r>
                <a:rPr lang="zh-CN" altLang="en-US" sz="20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0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(1) Uniform magnetic field      do simple harmonic change with time, and loop is static , thus induction electromotive force in the loop is generated by the change of magnetic field, so:</a:t>
              </a:r>
              <a:endParaRPr lang="en-US" altLang="zh-CN" sz="20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12304" name="Object 245"/>
            <p:cNvGraphicFramePr>
              <a:graphicFrameLocks noChangeAspect="1"/>
            </p:cNvGraphicFramePr>
            <p:nvPr/>
          </p:nvGraphicFramePr>
          <p:xfrm>
            <a:off x="2700" y="2520"/>
            <a:ext cx="15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90500" imgH="254000" progId="Equation.3">
                    <p:embed/>
                  </p:oleObj>
                </mc:Choice>
                <mc:Fallback>
                  <p:oleObj name="公式" r:id="rId14" imgW="190500" imgH="254000" progId="Equation.3">
                    <p:embed/>
                    <p:pic>
                      <p:nvPicPr>
                        <p:cNvPr id="0" name="图片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0" y="2520"/>
                          <a:ext cx="15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1" name="Group 247"/>
          <p:cNvGrpSpPr/>
          <p:nvPr/>
        </p:nvGrpSpPr>
        <p:grpSpPr bwMode="auto">
          <a:xfrm>
            <a:off x="1524001" y="200026"/>
            <a:ext cx="9001125" cy="1006475"/>
            <a:chOff x="22" y="232"/>
            <a:chExt cx="5670" cy="634"/>
          </a:xfrm>
        </p:grpSpPr>
        <p:sp>
          <p:nvSpPr>
            <p:cNvPr id="12301" name="Rectangle 17"/>
            <p:cNvSpPr>
              <a:spLocks noChangeArrowheads="1"/>
            </p:cNvSpPr>
            <p:nvPr/>
          </p:nvSpPr>
          <p:spPr bwMode="auto">
            <a:xfrm>
              <a:off x="22" y="232"/>
              <a:ext cx="5670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indent="26670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rgbClr val="FF0000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Ex.</a:t>
              </a:r>
              <a:r>
                <a:rPr lang="en-US" altLang="zh-CN" sz="2000" b="1" dirty="0">
                  <a:solidFill>
                    <a:srgbClr val="000000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solidFill>
                    <a:srgbClr val="0000CC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A uniform magnetic field B vertical through a rectangular ring with a length of </a:t>
              </a:r>
              <a:r>
                <a:rPr lang="en-US" altLang="zh-CN" sz="2000" b="1" i="1" dirty="0">
                  <a:solidFill>
                    <a:srgbClr val="0000CC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000" b="1" dirty="0">
                  <a:solidFill>
                    <a:srgbClr val="0000CC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 and a width of </a:t>
              </a:r>
              <a:r>
                <a:rPr lang="en-US" altLang="zh-CN" sz="2000" b="1" i="1" dirty="0">
                  <a:solidFill>
                    <a:srgbClr val="0000CC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000" b="1" dirty="0">
                  <a:solidFill>
                    <a:srgbClr val="0000CC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 , as shown in figure. In the following three cases, solve the induction electromotive force .</a:t>
              </a:r>
            </a:p>
          </p:txBody>
        </p:sp>
        <p:graphicFrame>
          <p:nvGraphicFramePr>
            <p:cNvPr id="12302" name="Object 246"/>
            <p:cNvGraphicFramePr>
              <a:graphicFrameLocks noChangeAspect="1"/>
            </p:cNvGraphicFramePr>
            <p:nvPr/>
          </p:nvGraphicFramePr>
          <p:xfrm>
            <a:off x="3440" y="239"/>
            <a:ext cx="117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700" imgH="228600" progId="Equation.DSMT4">
                    <p:embed/>
                  </p:oleObj>
                </mc:Choice>
                <mc:Fallback>
                  <p:oleObj name="Equation" r:id="rId16" imgW="139700" imgH="228600" progId="Equation.DSMT4">
                    <p:embed/>
                    <p:pic>
                      <p:nvPicPr>
                        <p:cNvPr id="0" name="图片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0" y="239"/>
                          <a:ext cx="117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2896" name="Group 255"/>
          <p:cNvGrpSpPr/>
          <p:nvPr/>
        </p:nvGrpSpPr>
        <p:grpSpPr bwMode="auto">
          <a:xfrm>
            <a:off x="1558926" y="1827213"/>
            <a:ext cx="8918575" cy="1143000"/>
            <a:chOff x="22" y="1151"/>
            <a:chExt cx="5618" cy="720"/>
          </a:xfrm>
        </p:grpSpPr>
        <p:grpSp>
          <p:nvGrpSpPr>
            <p:cNvPr id="12297" name="Group 251"/>
            <p:cNvGrpSpPr/>
            <p:nvPr/>
          </p:nvGrpSpPr>
          <p:grpSpPr bwMode="auto">
            <a:xfrm>
              <a:off x="22" y="1151"/>
              <a:ext cx="5618" cy="672"/>
              <a:chOff x="22" y="1151"/>
              <a:chExt cx="5618" cy="672"/>
            </a:xfrm>
          </p:grpSpPr>
          <p:sp>
            <p:nvSpPr>
              <p:cNvPr id="12299" name="Rectangle 20"/>
              <p:cNvSpPr>
                <a:spLocks noChangeArrowheads="1"/>
              </p:cNvSpPr>
              <p:nvPr/>
            </p:nvSpPr>
            <p:spPr bwMode="auto">
              <a:xfrm>
                <a:off x="22" y="1151"/>
                <a:ext cx="5618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ctr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）               </a:t>
                </a: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, the width </a:t>
                </a:r>
                <a:r>
                  <a:rPr lang="en-US" altLang="zh-CN" sz="2000" b="1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 of rectangular loop equals a constant, but the long side increases with time because sliding conductor L moves with velocity                 ;</a:t>
                </a:r>
                <a:endParaRPr lang="en-US" altLang="zh-CN" sz="2000" b="1">
                  <a:solidFill>
                    <a:srgbClr val="000000"/>
                  </a:solidFill>
                  <a:ea typeface="楷体_GB2312" pitchFamily="49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2300" name="Object 98"/>
              <p:cNvGraphicFramePr>
                <a:graphicFrameLocks noChangeAspect="1"/>
              </p:cNvGraphicFramePr>
              <p:nvPr/>
            </p:nvGraphicFramePr>
            <p:xfrm>
              <a:off x="840" y="1185"/>
              <a:ext cx="600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736600" imgH="330200" progId="Equation.3">
                      <p:embed/>
                    </p:oleObj>
                  </mc:Choice>
                  <mc:Fallback>
                    <p:oleObj name="公式" r:id="rId18" imgW="736600" imgH="330200" progId="Equation.3">
                      <p:embed/>
                      <p:pic>
                        <p:nvPicPr>
                          <p:cNvPr id="0" name="图片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40" y="1185"/>
                            <a:ext cx="600" cy="2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2298" name="Object 253"/>
            <p:cNvGraphicFramePr>
              <a:graphicFrameLocks noChangeAspect="1"/>
            </p:cNvGraphicFramePr>
            <p:nvPr/>
          </p:nvGraphicFramePr>
          <p:xfrm>
            <a:off x="630" y="1575"/>
            <a:ext cx="58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596900" imgH="292100" progId="Equation.DSMT4">
                    <p:embed/>
                  </p:oleObj>
                </mc:Choice>
                <mc:Fallback>
                  <p:oleObj name="Equation" r:id="rId20" imgW="596900" imgH="292100" progId="Equation.DSMT4">
                    <p:embed/>
                    <p:pic>
                      <p:nvPicPr>
                        <p:cNvPr id="0" name="图片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" y="1575"/>
                          <a:ext cx="585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592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8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81" name="Rectangle 13"/>
          <p:cNvSpPr>
            <a:spLocks noChangeArrowheads="1"/>
          </p:cNvSpPr>
          <p:nvPr/>
        </p:nvSpPr>
        <p:spPr bwMode="auto">
          <a:xfrm>
            <a:off x="1558926" y="3141663"/>
            <a:ext cx="91090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       ( 3 ) </a:t>
            </a:r>
            <a:r>
              <a:rPr lang="en-US" altLang="zh-CN" sz="2000" b="1">
                <a:solidFill>
                  <a:srgbClr val="0000CC"/>
                </a:solidFill>
                <a:ea typeface="楷体_GB2312" pitchFamily="49" charset="-122"/>
              </a:rPr>
              <a:t>The induced electromotive force in the rectangular circuit is produced by the magnetic field variation and the movement of the sliding conductor L in the magnetic field, so</a:t>
            </a:r>
          </a:p>
        </p:txBody>
      </p:sp>
      <p:graphicFrame>
        <p:nvGraphicFramePr>
          <p:cNvPr id="81924" name="Object 19"/>
          <p:cNvGraphicFramePr>
            <a:graphicFrameLocks noChangeAspect="1"/>
          </p:cNvGraphicFramePr>
          <p:nvPr/>
        </p:nvGraphicFramePr>
        <p:xfrm>
          <a:off x="3287714" y="1811338"/>
          <a:ext cx="597693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87800" imgH="381000" progId="Equation.DSMT4">
                  <p:embed/>
                </p:oleObj>
              </mc:Choice>
              <mc:Fallback>
                <p:oleObj name="Equation" r:id="rId2" imgW="3987800" imgH="3810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1811338"/>
                        <a:ext cx="597693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5" name="Object 20"/>
          <p:cNvGraphicFramePr>
            <a:graphicFrameLocks noChangeAspect="1"/>
          </p:cNvGraphicFramePr>
          <p:nvPr/>
        </p:nvGraphicFramePr>
        <p:xfrm>
          <a:off x="3000375" y="6000750"/>
          <a:ext cx="431323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90800" imgH="292100" progId="Equation.DSMT4">
                  <p:embed/>
                </p:oleObj>
              </mc:Choice>
              <mc:Fallback>
                <p:oleObj name="Equation" r:id="rId4" imgW="2590800" imgH="2921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6000750"/>
                        <a:ext cx="4313238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3"/>
          <p:cNvGrpSpPr/>
          <p:nvPr/>
        </p:nvGrpSpPr>
        <p:grpSpPr bwMode="auto">
          <a:xfrm>
            <a:off x="1558925" y="357188"/>
            <a:ext cx="8929688" cy="1414462"/>
            <a:chOff x="22" y="180"/>
            <a:chExt cx="5625" cy="891"/>
          </a:xfrm>
        </p:grpSpPr>
        <p:sp>
          <p:nvSpPr>
            <p:cNvPr id="13322" name="Rectangle 14"/>
            <p:cNvSpPr>
              <a:spLocks noChangeArrowheads="1"/>
            </p:cNvSpPr>
            <p:nvPr/>
          </p:nvSpPr>
          <p:spPr bwMode="auto">
            <a:xfrm>
              <a:off x="22" y="207"/>
              <a:ext cx="5625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( 2 ) </a:t>
              </a:r>
              <a:r>
                <a:rPr lang="en-US" altLang="zh-CN" sz="2000" b="1">
                  <a:solidFill>
                    <a:srgbClr val="800000"/>
                  </a:solidFill>
                  <a:ea typeface="楷体_GB2312" pitchFamily="49" charset="-122"/>
                </a:rPr>
                <a:t>Uniform magnetic field     is constant magnetic field, the sliding conductor on the loop  do uniform motion at speed of , thus the induction electromotive force in the loop is generated by the movement of conductor L in the magnetic field, so</a:t>
              </a:r>
            </a:p>
          </p:txBody>
        </p:sp>
        <p:graphicFrame>
          <p:nvGraphicFramePr>
            <p:cNvPr id="13323" name="Object 22"/>
            <p:cNvGraphicFramePr>
              <a:graphicFrameLocks noChangeAspect="1"/>
            </p:cNvGraphicFramePr>
            <p:nvPr/>
          </p:nvGraphicFramePr>
          <p:xfrm>
            <a:off x="2610" y="180"/>
            <a:ext cx="19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90500" imgH="254000" progId="Equation.DSMT4">
                    <p:embed/>
                  </p:oleObj>
                </mc:Choice>
                <mc:Fallback>
                  <p:oleObj name="Equation" r:id="rId6" imgW="190500" imgH="254000" progId="Equation.DSMT4">
                    <p:embed/>
                    <p:pic>
                      <p:nvPicPr>
                        <p:cNvPr id="0" name="图片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0" y="180"/>
                          <a:ext cx="19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6"/>
          <p:cNvGrpSpPr/>
          <p:nvPr/>
        </p:nvGrpSpPr>
        <p:grpSpPr bwMode="auto">
          <a:xfrm>
            <a:off x="1630363" y="2420938"/>
            <a:ext cx="6483350" cy="773112"/>
            <a:chOff x="67" y="1525"/>
            <a:chExt cx="4084" cy="487"/>
          </a:xfrm>
        </p:grpSpPr>
        <p:sp>
          <p:nvSpPr>
            <p:cNvPr id="13320" name="Rectangle 12"/>
            <p:cNvSpPr>
              <a:spLocks noChangeArrowheads="1"/>
            </p:cNvSpPr>
            <p:nvPr/>
          </p:nvSpPr>
          <p:spPr bwMode="auto">
            <a:xfrm>
              <a:off x="67" y="1570"/>
              <a:ext cx="726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or</a:t>
              </a:r>
            </a:p>
          </p:txBody>
        </p:sp>
        <p:graphicFrame>
          <p:nvGraphicFramePr>
            <p:cNvPr id="13321" name="Object 24"/>
            <p:cNvGraphicFramePr>
              <a:graphicFrameLocks noChangeAspect="1"/>
            </p:cNvGraphicFramePr>
            <p:nvPr/>
          </p:nvGraphicFramePr>
          <p:xfrm>
            <a:off x="1066" y="1525"/>
            <a:ext cx="3085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302000" imgH="508000" progId="Equation.DSMT4">
                    <p:embed/>
                  </p:oleObj>
                </mc:Choice>
                <mc:Fallback>
                  <p:oleObj name="Equation" r:id="rId8" imgW="3302000" imgH="508000" progId="Equation.DSMT4">
                    <p:embed/>
                    <p:pic>
                      <p:nvPicPr>
                        <p:cNvPr id="0" name="图片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1525"/>
                          <a:ext cx="3085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1932" name="Object 27"/>
          <p:cNvGraphicFramePr>
            <a:graphicFrameLocks noChangeAspect="1"/>
          </p:cNvGraphicFramePr>
          <p:nvPr/>
        </p:nvGraphicFramePr>
        <p:xfrm>
          <a:off x="2617789" y="4217989"/>
          <a:ext cx="7870825" cy="165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749800" imgH="1104900" progId="Equation.DSMT4">
                  <p:embed/>
                </p:oleObj>
              </mc:Choice>
              <mc:Fallback>
                <p:oleObj name="Equation" r:id="rId10" imgW="4749800" imgH="11049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9" y="4217989"/>
                        <a:ext cx="7870825" cy="165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95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8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4" name="Object 4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711451" y="4005263"/>
          <a:ext cx="127317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200" imgH="279400" progId="Equation.DSMT4">
                  <p:embed/>
                </p:oleObj>
              </mc:Choice>
              <mc:Fallback>
                <p:oleObj name="Equation" r:id="rId2" imgW="711200" imgH="279400" progId="Equation.DSMT4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4005263"/>
                        <a:ext cx="127317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5" name="Object 46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951538" y="3860801"/>
          <a:ext cx="1604962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6000" imgH="508000" progId="Equation.DSMT4">
                  <p:embed/>
                </p:oleObj>
              </mc:Choice>
              <mc:Fallback>
                <p:oleObj name="Equation" r:id="rId4" imgW="1016000" imgH="508000" progId="Equation.DSMT4">
                  <p:embed/>
                  <p:pic>
                    <p:nvPicPr>
                      <p:cNvPr id="0" name="图片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3860801"/>
                        <a:ext cx="1604962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63" name="Text Box 23"/>
          <p:cNvSpPr txBox="1">
            <a:spLocks noChangeArrowheads="1"/>
          </p:cNvSpPr>
          <p:nvPr/>
        </p:nvSpPr>
        <p:spPr bwMode="auto">
          <a:xfrm>
            <a:off x="2495551" y="1628775"/>
            <a:ext cx="1871663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Static state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87047" name="Object 27"/>
          <p:cNvGraphicFramePr>
            <a:graphicFrameLocks noChangeAspect="1"/>
          </p:cNvGraphicFramePr>
          <p:nvPr/>
        </p:nvGraphicFramePr>
        <p:xfrm>
          <a:off x="2640013" y="2924176"/>
          <a:ext cx="130651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50900" imgH="304800" progId="Equation.3">
                  <p:embed/>
                </p:oleObj>
              </mc:Choice>
              <mc:Fallback>
                <p:oleObj name="公式" r:id="rId6" imgW="850900" imgH="304800" progId="Equation.3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2924176"/>
                        <a:ext cx="1306512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5"/>
          <p:cNvGrpSpPr/>
          <p:nvPr/>
        </p:nvGrpSpPr>
        <p:grpSpPr bwMode="auto">
          <a:xfrm>
            <a:off x="4727575" y="2781301"/>
            <a:ext cx="2770188" cy="862013"/>
            <a:chOff x="2381" y="845"/>
            <a:chExt cx="1745" cy="543"/>
          </a:xfrm>
        </p:grpSpPr>
        <p:sp>
          <p:nvSpPr>
            <p:cNvPr id="14354" name="Text Box 25"/>
            <p:cNvSpPr txBox="1">
              <a:spLocks noChangeArrowheads="1"/>
            </p:cNvSpPr>
            <p:nvPr/>
          </p:nvSpPr>
          <p:spPr bwMode="auto">
            <a:xfrm>
              <a:off x="2381" y="908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4400" b="1" i="1">
                  <a:solidFill>
                    <a:srgbClr val="00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</a:t>
              </a:r>
              <a:endPara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4355" name="Object 28"/>
            <p:cNvGraphicFramePr>
              <a:graphicFrameLocks noChangeAspect="1"/>
            </p:cNvGraphicFramePr>
            <p:nvPr/>
          </p:nvGraphicFramePr>
          <p:xfrm>
            <a:off x="3061" y="845"/>
            <a:ext cx="1065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104900" imgH="546100" progId="Equation.3">
                    <p:embed/>
                  </p:oleObj>
                </mc:Choice>
                <mc:Fallback>
                  <p:oleObj name="公式" r:id="rId8" imgW="1104900" imgH="546100" progId="Equation.3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845"/>
                          <a:ext cx="1065" cy="5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7051" name="Object 21"/>
          <p:cNvGraphicFramePr>
            <a:graphicFrameLocks noChangeAspect="1"/>
          </p:cNvGraphicFramePr>
          <p:nvPr/>
        </p:nvGraphicFramePr>
        <p:xfrm>
          <a:off x="2640013" y="5084763"/>
          <a:ext cx="13319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63600" imgH="279400" progId="Equation.3">
                  <p:embed/>
                </p:oleObj>
              </mc:Choice>
              <mc:Fallback>
                <p:oleObj name="公式" r:id="rId10" imgW="863600" imgH="279400" progId="Equation.3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5084763"/>
                        <a:ext cx="1331912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2" name="Object 30"/>
          <p:cNvGraphicFramePr>
            <a:graphicFrameLocks noChangeAspect="1"/>
          </p:cNvGraphicFramePr>
          <p:nvPr/>
        </p:nvGraphicFramePr>
        <p:xfrm>
          <a:off x="5951538" y="5084763"/>
          <a:ext cx="12557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12800" imgH="279400" progId="Equation.DSMT4">
                  <p:embed/>
                </p:oleObj>
              </mc:Choice>
              <mc:Fallback>
                <p:oleObj name="Equation" r:id="rId12" imgW="812800" imgH="2794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5084763"/>
                        <a:ext cx="1255712" cy="43021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3" name="Text Box 31"/>
          <p:cNvSpPr txBox="1">
            <a:spLocks noChangeArrowheads="1"/>
          </p:cNvSpPr>
          <p:nvPr/>
        </p:nvSpPr>
        <p:spPr bwMode="auto">
          <a:xfrm>
            <a:off x="4656138" y="494188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4400" b="1" i="1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endParaRPr kumimoji="1" lang="en-US" altLang="zh-CN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7054" name="Object 41"/>
          <p:cNvGraphicFramePr>
            <a:graphicFrameLocks noChangeAspect="1"/>
          </p:cNvGraphicFramePr>
          <p:nvPr/>
        </p:nvGraphicFramePr>
        <p:xfrm>
          <a:off x="4800600" y="1484314"/>
          <a:ext cx="84455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46100" imgH="508000" progId="Equation.DSMT4">
                  <p:embed/>
                </p:oleObj>
              </mc:Choice>
              <mc:Fallback>
                <p:oleObj name="Equation" r:id="rId14" imgW="546100" imgH="5080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484314"/>
                        <a:ext cx="84455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82" name="Text Box 42"/>
          <p:cNvSpPr txBox="1">
            <a:spLocks noChangeArrowheads="1"/>
          </p:cNvSpPr>
          <p:nvPr/>
        </p:nvSpPr>
        <p:spPr bwMode="auto">
          <a:xfrm>
            <a:off x="6489065" y="1189990"/>
            <a:ext cx="1731645" cy="1308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Time varying state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87056" name="Object 43"/>
          <p:cNvGraphicFramePr>
            <a:graphicFrameLocks noChangeAspect="1"/>
          </p:cNvGraphicFramePr>
          <p:nvPr/>
        </p:nvGraphicFramePr>
        <p:xfrm>
          <a:off x="8040688" y="1484314"/>
          <a:ext cx="84296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46100" imgH="508000" progId="Equation.DSMT4">
                  <p:embed/>
                </p:oleObj>
              </mc:Choice>
              <mc:Fallback>
                <p:oleObj name="Equation" r:id="rId16" imgW="546100" imgH="5080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688" y="1484314"/>
                        <a:ext cx="842962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7" name="Text Box 48"/>
          <p:cNvSpPr txBox="1">
            <a:spLocks noChangeArrowheads="1"/>
          </p:cNvSpPr>
          <p:nvPr/>
        </p:nvSpPr>
        <p:spPr bwMode="auto">
          <a:xfrm>
            <a:off x="4656138" y="386080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4400" b="1" i="1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</a:t>
            </a:r>
            <a:endParaRPr kumimoji="1" lang="en-US" altLang="zh-CN" b="1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7058" name="Object 51"/>
          <p:cNvGraphicFramePr>
            <a:graphicFrameLocks noChangeAspect="1"/>
          </p:cNvGraphicFramePr>
          <p:nvPr/>
        </p:nvGraphicFramePr>
        <p:xfrm>
          <a:off x="8328026" y="2852739"/>
          <a:ext cx="112712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36600" imgH="546100" progId="Equation.DSMT4">
                  <p:embed/>
                </p:oleObj>
              </mc:Choice>
              <mc:Fallback>
                <p:oleObj name="Equation" r:id="rId18" imgW="736600" imgH="54610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026" y="2852739"/>
                        <a:ext cx="1127125" cy="8350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9" name="Object 52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896224" y="4852725"/>
          <a:ext cx="1430655" cy="801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01700" imgH="558800" progId="Equation.DSMT4">
                  <p:embed/>
                </p:oleObj>
              </mc:Choice>
              <mc:Fallback>
                <p:oleObj name="Equation" r:id="rId20" imgW="901700" imgH="558800" progId="Equation.DSMT4">
                  <p:embed/>
                  <p:pic>
                    <p:nvPicPr>
                      <p:cNvPr id="0" name="图片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4" y="4852725"/>
                        <a:ext cx="1430655" cy="801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2" name="Rectangle 21"/>
          <p:cNvSpPr>
            <a:spLocks noChangeArrowheads="1"/>
          </p:cNvSpPr>
          <p:nvPr/>
        </p:nvSpPr>
        <p:spPr bwMode="auto">
          <a:xfrm>
            <a:off x="1919288" y="260350"/>
            <a:ext cx="838835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800" b="1">
                <a:solidFill>
                  <a:srgbClr val="800000"/>
                </a:solidFill>
              </a:rPr>
              <a:t>7.2 Maxwell’s Equations</a:t>
            </a:r>
          </a:p>
        </p:txBody>
      </p:sp>
      <p:pic>
        <p:nvPicPr>
          <p:cNvPr id="14353" name="Picture 22" descr="BD05546_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288" y="5273676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2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8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8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3" grpId="0"/>
      <p:bldP spid="87053" grpId="0"/>
      <p:bldP spid="522282" grpId="0"/>
      <p:bldP spid="8705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37" name="对象 120852"/>
          <p:cNvGraphicFramePr/>
          <p:nvPr/>
        </p:nvGraphicFramePr>
        <p:xfrm>
          <a:off x="7601585" y="867093"/>
          <a:ext cx="1614170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14450" imgH="1295400" progId="Paint.Picture">
                  <p:embed/>
                </p:oleObj>
              </mc:Choice>
              <mc:Fallback>
                <p:oleObj r:id="rId2" imgW="1314450" imgH="1295400" progId="Paint.Picture">
                  <p:embed/>
                  <p:pic>
                    <p:nvPicPr>
                      <p:cNvPr id="0" name="图片 3461"/>
                      <p:cNvPicPr/>
                      <p:nvPr/>
                    </p:nvPicPr>
                    <p:blipFill>
                      <a:blip r:embed="rId3"/>
                      <a:srcRect l="9087" t="7410" r="9087" b="9262"/>
                      <a:stretch>
                        <a:fillRect/>
                      </a:stretch>
                    </p:blipFill>
                    <p:spPr>
                      <a:xfrm>
                        <a:off x="7601585" y="867093"/>
                        <a:ext cx="1614170" cy="161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8" name="对象 120843"/>
          <p:cNvGraphicFramePr/>
          <p:nvPr/>
        </p:nvGraphicFramePr>
        <p:xfrm>
          <a:off x="2402523" y="1630363"/>
          <a:ext cx="26908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45565" imgH="292100" progId="Equation.DSMT4">
                  <p:embed/>
                </p:oleObj>
              </mc:Choice>
              <mc:Fallback>
                <p:oleObj r:id="rId4" imgW="1345565" imgH="292100" progId="Equation.DSMT4">
                  <p:embed/>
                  <p:pic>
                    <p:nvPicPr>
                      <p:cNvPr id="0" name="图片 343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02523" y="1630363"/>
                        <a:ext cx="2690812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817370" y="462280"/>
            <a:ext cx="4427220" cy="3683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/>
              <a:t>Discussion on Ampere’s circuiltal Law</a:t>
            </a:r>
          </a:p>
        </p:txBody>
      </p:sp>
      <p:graphicFrame>
        <p:nvGraphicFramePr>
          <p:cNvPr id="77831" name="对象 120846"/>
          <p:cNvGraphicFramePr/>
          <p:nvPr/>
        </p:nvGraphicFramePr>
        <p:xfrm>
          <a:off x="5114608" y="3051810"/>
          <a:ext cx="496887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90500" imgH="457200" progId="Equation.DSMT4">
                  <p:embed/>
                </p:oleObj>
              </mc:Choice>
              <mc:Fallback>
                <p:oleObj r:id="rId6" imgW="190500" imgH="457200" progId="Equation.DSMT4">
                  <p:embed/>
                  <p:pic>
                    <p:nvPicPr>
                      <p:cNvPr id="0" name="图片 343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14608" y="3051810"/>
                        <a:ext cx="496887" cy="1189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3" name="对象 120848"/>
          <p:cNvGraphicFramePr/>
          <p:nvPr/>
        </p:nvGraphicFramePr>
        <p:xfrm>
          <a:off x="2579370" y="3012123"/>
          <a:ext cx="2690813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44930" imgH="317500" progId="Equation.DSMT4">
                  <p:embed/>
                </p:oleObj>
              </mc:Choice>
              <mc:Fallback>
                <p:oleObj r:id="rId8" imgW="1344930" imgH="317500" progId="Equation.DSMT4">
                  <p:embed/>
                  <p:pic>
                    <p:nvPicPr>
                      <p:cNvPr id="0" name="图片 346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79370" y="3012123"/>
                        <a:ext cx="2690813" cy="633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5" name="对象 120850"/>
          <p:cNvGraphicFramePr/>
          <p:nvPr/>
        </p:nvGraphicFramePr>
        <p:xfrm>
          <a:off x="2538095" y="3685223"/>
          <a:ext cx="2741613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370330" imgH="317500" progId="Equation.DSMT4">
                  <p:embed/>
                </p:oleObj>
              </mc:Choice>
              <mc:Fallback>
                <p:oleObj r:id="rId10" imgW="1370330" imgH="317500" progId="Equation.DSMT4">
                  <p:embed/>
                  <p:pic>
                    <p:nvPicPr>
                      <p:cNvPr id="0" name="图片 345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38095" y="3685223"/>
                        <a:ext cx="2741613" cy="633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8" name="对象 120853"/>
          <p:cNvGraphicFramePr/>
          <p:nvPr/>
        </p:nvGraphicFramePr>
        <p:xfrm>
          <a:off x="5663883" y="3504248"/>
          <a:ext cx="76200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881380" imgH="704215" progId="MS_ClipArt_Gallery.2">
                  <p:embed/>
                </p:oleObj>
              </mc:Choice>
              <mc:Fallback>
                <p:oleObj r:id="rId12" imgW="881380" imgH="704215" progId="MS_ClipArt_Gallery.2">
                  <p:embed/>
                  <p:pic>
                    <p:nvPicPr>
                      <p:cNvPr id="0" name="图片 345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63883" y="3504248"/>
                        <a:ext cx="762000" cy="319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396365" y="3136265"/>
            <a:ext cx="925195" cy="3683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/>
              <a:t>For S1: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96365" y="3823335"/>
            <a:ext cx="925195" cy="3683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b="1"/>
              <a:t>For S2: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603365" y="3375025"/>
            <a:ext cx="2419350" cy="4603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/>
              <a:t>Disagreement!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080260" y="4994910"/>
            <a:ext cx="7436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Conclusion</a:t>
            </a:r>
            <a:r>
              <a:rPr lang="en-US" altLang="zh-CN" sz="2400"/>
              <a:t>: midification should be made to Ampere’s circuital Law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28" name="Text Box 12"/>
          <p:cNvSpPr txBox="1">
            <a:spLocks noChangeArrowheads="1"/>
          </p:cNvSpPr>
          <p:nvPr/>
        </p:nvSpPr>
        <p:spPr bwMode="auto">
          <a:xfrm>
            <a:off x="1774825" y="476250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1. Total current law</a:t>
            </a:r>
          </a:p>
        </p:txBody>
      </p:sp>
      <p:grpSp>
        <p:nvGrpSpPr>
          <p:cNvPr id="2" name="Group 46"/>
          <p:cNvGrpSpPr/>
          <p:nvPr/>
        </p:nvGrpSpPr>
        <p:grpSpPr bwMode="auto">
          <a:xfrm>
            <a:off x="1590676" y="2420938"/>
            <a:ext cx="2201863" cy="457200"/>
            <a:chOff x="42" y="1525"/>
            <a:chExt cx="1387" cy="288"/>
          </a:xfrm>
        </p:grpSpPr>
        <p:sp>
          <p:nvSpPr>
            <p:cNvPr id="15396" name="Text Box 11"/>
            <p:cNvSpPr txBox="1">
              <a:spLocks noChangeArrowheads="1"/>
            </p:cNvSpPr>
            <p:nvPr/>
          </p:nvSpPr>
          <p:spPr bwMode="auto">
            <a:xfrm>
              <a:off x="42" y="1525"/>
              <a:ext cx="1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As</a:t>
              </a:r>
            </a:p>
          </p:txBody>
        </p:sp>
        <p:graphicFrame>
          <p:nvGraphicFramePr>
            <p:cNvPr id="15397" name="Object 17"/>
            <p:cNvGraphicFramePr>
              <a:graphicFrameLocks noChangeAspect="1"/>
            </p:cNvGraphicFramePr>
            <p:nvPr/>
          </p:nvGraphicFramePr>
          <p:xfrm>
            <a:off x="589" y="1526"/>
            <a:ext cx="84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863600" imgH="279400" progId="Equation.3">
                    <p:embed/>
                  </p:oleObj>
                </mc:Choice>
                <mc:Fallback>
                  <p:oleObj name="公式" r:id="rId2" imgW="863600" imgH="279400" progId="Equation.3">
                    <p:embed/>
                    <p:pic>
                      <p:nvPicPr>
                        <p:cNvPr id="0" name="图片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" y="1526"/>
                          <a:ext cx="84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3634" name="Text Box 18"/>
          <p:cNvSpPr txBox="1">
            <a:spLocks noChangeArrowheads="1"/>
          </p:cNvSpPr>
          <p:nvPr/>
        </p:nvSpPr>
        <p:spPr bwMode="auto">
          <a:xfrm>
            <a:off x="1631949" y="908050"/>
            <a:ext cx="941012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　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Under the condition of time-varying situation, the charge distribution changes with time, according to current continuity equation, we got</a:t>
            </a:r>
            <a:endParaRPr kumimoji="1" lang="en-US" altLang="zh-CN" sz="2000" b="1" dirty="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49"/>
          <p:cNvGrpSpPr/>
          <p:nvPr/>
        </p:nvGrpSpPr>
        <p:grpSpPr bwMode="auto">
          <a:xfrm>
            <a:off x="4079876" y="4271967"/>
            <a:ext cx="3311525" cy="798513"/>
            <a:chOff x="1610" y="2691"/>
            <a:chExt cx="2086" cy="503"/>
          </a:xfrm>
        </p:grpSpPr>
        <p:graphicFrame>
          <p:nvGraphicFramePr>
            <p:cNvPr id="15394" name="Object 3"/>
            <p:cNvGraphicFramePr>
              <a:graphicFrameLocks noChangeAspect="1"/>
            </p:cNvGraphicFramePr>
            <p:nvPr/>
          </p:nvGraphicFramePr>
          <p:xfrm>
            <a:off x="2154" y="2691"/>
            <a:ext cx="1542" cy="5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4000" imgH="508000" progId="Equation.3">
                    <p:embed/>
                  </p:oleObj>
                </mc:Choice>
                <mc:Fallback>
                  <p:oleObj name="公式" r:id="rId4" imgW="1524000" imgH="508000" progId="Equation.3">
                    <p:embed/>
                    <p:pic>
                      <p:nvPicPr>
                        <p:cNvPr id="0" name="图片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4" y="2691"/>
                          <a:ext cx="1542" cy="5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5" name="AutoShape 20"/>
            <p:cNvSpPr>
              <a:spLocks noChangeArrowheads="1"/>
            </p:cNvSpPr>
            <p:nvPr/>
          </p:nvSpPr>
          <p:spPr bwMode="auto">
            <a:xfrm>
              <a:off x="1610" y="2693"/>
              <a:ext cx="408" cy="501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" name="Group 55"/>
          <p:cNvGrpSpPr/>
          <p:nvPr/>
        </p:nvGrpSpPr>
        <p:grpSpPr bwMode="auto">
          <a:xfrm>
            <a:off x="6816725" y="1916113"/>
            <a:ext cx="3024188" cy="754062"/>
            <a:chOff x="3334" y="1207"/>
            <a:chExt cx="1905" cy="475"/>
          </a:xfrm>
        </p:grpSpPr>
        <p:sp>
          <p:nvSpPr>
            <p:cNvPr id="15391" name="Text Box 22"/>
            <p:cNvSpPr txBox="1">
              <a:spLocks noChangeArrowheads="1"/>
            </p:cNvSpPr>
            <p:nvPr/>
          </p:nvSpPr>
          <p:spPr bwMode="auto">
            <a:xfrm>
              <a:off x="4286" y="1207"/>
              <a:ext cx="953" cy="380"/>
            </a:xfrm>
            <a:prstGeom prst="rect">
              <a:avLst/>
            </a:prstGeom>
            <a:noFill/>
            <a:ln w="22225">
              <a:solidFill>
                <a:schemeClr val="hlink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Appear contradictory</a:t>
              </a:r>
            </a:p>
          </p:txBody>
        </p:sp>
        <p:sp>
          <p:nvSpPr>
            <p:cNvPr id="15392" name="Line 23"/>
            <p:cNvSpPr>
              <a:spLocks noChangeShapeType="1"/>
            </p:cNvSpPr>
            <p:nvPr/>
          </p:nvSpPr>
          <p:spPr bwMode="auto">
            <a:xfrm flipH="1" flipV="1">
              <a:off x="3334" y="1207"/>
              <a:ext cx="907" cy="91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393" name="Line 24"/>
            <p:cNvSpPr>
              <a:spLocks noChangeShapeType="1"/>
            </p:cNvSpPr>
            <p:nvPr/>
          </p:nvSpPr>
          <p:spPr bwMode="auto">
            <a:xfrm flipH="1">
              <a:off x="3878" y="1501"/>
              <a:ext cx="408" cy="181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Group 54"/>
          <p:cNvGrpSpPr/>
          <p:nvPr/>
        </p:nvGrpSpPr>
        <p:grpSpPr bwMode="auto">
          <a:xfrm>
            <a:off x="1847850" y="2781301"/>
            <a:ext cx="3455988" cy="1058863"/>
            <a:chOff x="204" y="1752"/>
            <a:chExt cx="2177" cy="667"/>
          </a:xfrm>
        </p:grpSpPr>
        <p:sp>
          <p:nvSpPr>
            <p:cNvPr id="15389" name="Text Box 9"/>
            <p:cNvSpPr txBox="1">
              <a:spLocks noChangeArrowheads="1"/>
            </p:cNvSpPr>
            <p:nvPr/>
          </p:nvSpPr>
          <p:spPr bwMode="auto">
            <a:xfrm>
              <a:off x="204" y="1963"/>
              <a:ext cx="2177" cy="456"/>
            </a:xfrm>
            <a:prstGeom prst="rect">
              <a:avLst/>
            </a:prstGeom>
            <a:noFill/>
            <a:ln w="22225">
              <a:solidFill>
                <a:srgbClr val="FF6600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Not applied in the case of time-varying</a:t>
              </a:r>
            </a:p>
          </p:txBody>
        </p:sp>
        <p:sp>
          <p:nvSpPr>
            <p:cNvPr id="15390" name="Line 25"/>
            <p:cNvSpPr>
              <a:spLocks noChangeShapeType="1"/>
            </p:cNvSpPr>
            <p:nvPr/>
          </p:nvSpPr>
          <p:spPr bwMode="auto">
            <a:xfrm flipV="1">
              <a:off x="340" y="1752"/>
              <a:ext cx="317" cy="181"/>
            </a:xfrm>
            <a:prstGeom prst="line">
              <a:avLst/>
            </a:prstGeom>
            <a:noFill/>
            <a:ln w="22225">
              <a:solidFill>
                <a:srgbClr val="FF66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23642" name="Text Box 26"/>
          <p:cNvSpPr txBox="1">
            <a:spLocks noChangeArrowheads="1"/>
          </p:cNvSpPr>
          <p:nvPr/>
        </p:nvSpPr>
        <p:spPr bwMode="auto">
          <a:xfrm>
            <a:off x="1631950" y="3716339"/>
            <a:ext cx="83820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Blip>
                <a:blip r:embed="rId6"/>
              </a:buBlip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Is there other curl source of magnetic field?</a:t>
            </a:r>
          </a:p>
        </p:txBody>
      </p:sp>
      <p:grpSp>
        <p:nvGrpSpPr>
          <p:cNvPr id="8" name="Group 48"/>
          <p:cNvGrpSpPr/>
          <p:nvPr/>
        </p:nvGrpSpPr>
        <p:grpSpPr bwMode="auto">
          <a:xfrm>
            <a:off x="1992313" y="4348164"/>
            <a:ext cx="2057400" cy="504825"/>
            <a:chOff x="295" y="2739"/>
            <a:chExt cx="1296" cy="318"/>
          </a:xfrm>
        </p:grpSpPr>
        <p:sp>
          <p:nvSpPr>
            <p:cNvPr id="15387" name="Text Box 28"/>
            <p:cNvSpPr txBox="1">
              <a:spLocks noChangeArrowheads="1"/>
            </p:cNvSpPr>
            <p:nvPr/>
          </p:nvSpPr>
          <p:spPr bwMode="auto">
            <a:xfrm>
              <a:off x="295" y="2739"/>
              <a:ext cx="1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15388" name="Object 30"/>
            <p:cNvGraphicFramePr>
              <a:graphicFrameLocks noChangeAspect="1"/>
            </p:cNvGraphicFramePr>
            <p:nvPr/>
          </p:nvGraphicFramePr>
          <p:xfrm>
            <a:off x="657" y="2749"/>
            <a:ext cx="89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787400" imgH="304800" progId="Equation.3">
                    <p:embed/>
                  </p:oleObj>
                </mc:Choice>
                <mc:Fallback>
                  <p:oleObj name="公式" r:id="rId7" imgW="787400" imgH="304800" progId="Equation.3">
                    <p:embed/>
                    <p:pic>
                      <p:nvPicPr>
                        <p:cNvPr id="0" name="图片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749"/>
                          <a:ext cx="891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7"/>
          <p:cNvGrpSpPr/>
          <p:nvPr/>
        </p:nvGrpSpPr>
        <p:grpSpPr bwMode="auto">
          <a:xfrm>
            <a:off x="4079875" y="2276476"/>
            <a:ext cx="3600450" cy="795338"/>
            <a:chOff x="1610" y="1434"/>
            <a:chExt cx="2268" cy="501"/>
          </a:xfrm>
        </p:grpSpPr>
        <p:graphicFrame>
          <p:nvGraphicFramePr>
            <p:cNvPr id="15385" name="Object 21"/>
            <p:cNvGraphicFramePr>
              <a:graphicFrameLocks noChangeAspect="1"/>
            </p:cNvGraphicFramePr>
            <p:nvPr/>
          </p:nvGraphicFramePr>
          <p:xfrm>
            <a:off x="2166" y="1525"/>
            <a:ext cx="1712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778000" imgH="304800" progId="Equation.3">
                    <p:embed/>
                  </p:oleObj>
                </mc:Choice>
                <mc:Fallback>
                  <p:oleObj name="公式" r:id="rId9" imgW="1778000" imgH="304800" progId="Equation.3">
                    <p:embed/>
                    <p:pic>
                      <p:nvPicPr>
                        <p:cNvPr id="0" name="图片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6" y="1525"/>
                          <a:ext cx="1712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6" name="AutoShape 31"/>
            <p:cNvSpPr>
              <a:spLocks noChangeArrowheads="1"/>
            </p:cNvSpPr>
            <p:nvPr/>
          </p:nvSpPr>
          <p:spPr bwMode="auto">
            <a:xfrm>
              <a:off x="1610" y="1434"/>
              <a:ext cx="408" cy="501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2" name="Group 50"/>
          <p:cNvGrpSpPr/>
          <p:nvPr/>
        </p:nvGrpSpPr>
        <p:grpSpPr bwMode="auto">
          <a:xfrm>
            <a:off x="7464426" y="4221166"/>
            <a:ext cx="2843213" cy="849313"/>
            <a:chOff x="3742" y="2659"/>
            <a:chExt cx="1791" cy="535"/>
          </a:xfrm>
        </p:grpSpPr>
        <p:sp>
          <p:nvSpPr>
            <p:cNvPr id="15383" name="AutoShape 32"/>
            <p:cNvSpPr>
              <a:spLocks noChangeArrowheads="1"/>
            </p:cNvSpPr>
            <p:nvPr/>
          </p:nvSpPr>
          <p:spPr bwMode="auto">
            <a:xfrm>
              <a:off x="3742" y="2693"/>
              <a:ext cx="408" cy="501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15384" name="Object 33"/>
            <p:cNvGraphicFramePr>
              <a:graphicFrameLocks noChangeAspect="1"/>
            </p:cNvGraphicFramePr>
            <p:nvPr/>
          </p:nvGraphicFramePr>
          <p:xfrm>
            <a:off x="4195" y="2659"/>
            <a:ext cx="1338" cy="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320800" imgH="546100" progId="Equation.3">
                    <p:embed/>
                  </p:oleObj>
                </mc:Choice>
                <mc:Fallback>
                  <p:oleObj name="公式" r:id="rId11" imgW="1320800" imgH="546100" progId="Equation.3">
                    <p:embed/>
                    <p:pic>
                      <p:nvPicPr>
                        <p:cNvPr id="0" name="图片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2659"/>
                          <a:ext cx="1338" cy="5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8092" name="Object 35"/>
          <p:cNvGraphicFramePr>
            <a:graphicFrameLocks noChangeAspect="1"/>
          </p:cNvGraphicFramePr>
          <p:nvPr/>
        </p:nvGraphicFramePr>
        <p:xfrm>
          <a:off x="4546601" y="1557339"/>
          <a:ext cx="2125663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320800" imgH="508000" progId="Equation.3">
                  <p:embed/>
                </p:oleObj>
              </mc:Choice>
              <mc:Fallback>
                <p:oleObj name="公式" r:id="rId13" imgW="1320800" imgH="508000" progId="Equation.3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6601" y="1557339"/>
                        <a:ext cx="2125663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53"/>
          <p:cNvGrpSpPr/>
          <p:nvPr/>
        </p:nvGrpSpPr>
        <p:grpSpPr bwMode="auto">
          <a:xfrm>
            <a:off x="1992313" y="5276850"/>
            <a:ext cx="4679950" cy="457200"/>
            <a:chOff x="295" y="3324"/>
            <a:chExt cx="2948" cy="288"/>
          </a:xfrm>
        </p:grpSpPr>
        <p:sp>
          <p:nvSpPr>
            <p:cNvPr id="15381" name="Text Box 37"/>
            <p:cNvSpPr txBox="1">
              <a:spLocks noChangeArrowheads="1"/>
            </p:cNvSpPr>
            <p:nvPr/>
          </p:nvSpPr>
          <p:spPr bwMode="auto">
            <a:xfrm>
              <a:off x="295" y="3324"/>
              <a:ext cx="29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Modify                     to </a:t>
              </a:r>
            </a:p>
          </p:txBody>
        </p:sp>
        <p:graphicFrame>
          <p:nvGraphicFramePr>
            <p:cNvPr id="15382" name="Object 38"/>
            <p:cNvGraphicFramePr>
              <a:graphicFrameLocks noChangeAspect="1"/>
            </p:cNvGraphicFramePr>
            <p:nvPr/>
          </p:nvGraphicFramePr>
          <p:xfrm>
            <a:off x="1035" y="3330"/>
            <a:ext cx="84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863600" imgH="279400" progId="Equation.3">
                    <p:embed/>
                  </p:oleObj>
                </mc:Choice>
                <mc:Fallback>
                  <p:oleObj name="公式" r:id="rId2" imgW="863600" imgH="279400" progId="Equation.3">
                    <p:embed/>
                    <p:pic>
                      <p:nvPicPr>
                        <p:cNvPr id="0" name="图片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5" y="3330"/>
                          <a:ext cx="84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8096" name="Object 39"/>
          <p:cNvGraphicFramePr>
            <a:graphicFrameLocks noChangeAspect="1"/>
          </p:cNvGraphicFramePr>
          <p:nvPr/>
        </p:nvGraphicFramePr>
        <p:xfrm>
          <a:off x="5078413" y="5114926"/>
          <a:ext cx="20256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20800" imgH="546100" progId="Equation.3">
                  <p:embed/>
                </p:oleObj>
              </mc:Choice>
              <mc:Fallback>
                <p:oleObj name="公式" r:id="rId16" imgW="1320800" imgH="546100" progId="Equation.3">
                  <p:embed/>
                  <p:pic>
                    <p:nvPicPr>
                      <p:cNvPr id="0" name="图片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8413" y="5114926"/>
                        <a:ext cx="20256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51"/>
          <p:cNvGrpSpPr/>
          <p:nvPr/>
        </p:nvGrpSpPr>
        <p:grpSpPr bwMode="auto">
          <a:xfrm>
            <a:off x="7248526" y="5229225"/>
            <a:ext cx="2735263" cy="762000"/>
            <a:chOff x="3606" y="3294"/>
            <a:chExt cx="1723" cy="480"/>
          </a:xfrm>
        </p:grpSpPr>
        <p:sp>
          <p:nvSpPr>
            <p:cNvPr id="15379" name="Text Box 40"/>
            <p:cNvSpPr txBox="1">
              <a:spLocks noChangeArrowheads="1"/>
            </p:cNvSpPr>
            <p:nvPr/>
          </p:nvSpPr>
          <p:spPr bwMode="auto">
            <a:xfrm>
              <a:off x="4105" y="3355"/>
              <a:ext cx="1224" cy="418"/>
            </a:xfrm>
            <a:prstGeom prst="rect">
              <a:avLst/>
            </a:prstGeom>
            <a:noFill/>
            <a:ln w="22225">
              <a:solidFill>
                <a:schemeClr val="hlink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Conflict resolution</a:t>
              </a:r>
            </a:p>
          </p:txBody>
        </p:sp>
        <p:sp>
          <p:nvSpPr>
            <p:cNvPr id="15380" name="Text Box 43"/>
            <p:cNvSpPr txBox="1">
              <a:spLocks noChangeArrowheads="1"/>
            </p:cNvSpPr>
            <p:nvPr/>
          </p:nvSpPr>
          <p:spPr bwMode="auto">
            <a:xfrm>
              <a:off x="3606" y="3294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4400" b="1">
                  <a:solidFill>
                    <a:srgbClr val="00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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" name="Group 52"/>
          <p:cNvGrpSpPr/>
          <p:nvPr/>
        </p:nvGrpSpPr>
        <p:grpSpPr bwMode="auto">
          <a:xfrm>
            <a:off x="2309813" y="5546726"/>
            <a:ext cx="4362450" cy="931863"/>
            <a:chOff x="495" y="3566"/>
            <a:chExt cx="2748" cy="587"/>
          </a:xfrm>
        </p:grpSpPr>
        <p:sp>
          <p:nvSpPr>
            <p:cNvPr id="15377" name="Rectangle 44"/>
            <p:cNvSpPr>
              <a:spLocks noChangeArrowheads="1"/>
            </p:cNvSpPr>
            <p:nvPr/>
          </p:nvSpPr>
          <p:spPr bwMode="auto">
            <a:xfrm>
              <a:off x="495" y="3735"/>
              <a:ext cx="2717" cy="418"/>
            </a:xfrm>
            <a:prstGeom prst="rect">
              <a:avLst/>
            </a:prstGeom>
            <a:noFill/>
            <a:ln w="22225">
              <a:solidFill>
                <a:schemeClr val="hlink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kumimoji="1"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The time varying electric field will give rise to a magnetic field</a:t>
              </a:r>
            </a:p>
          </p:txBody>
        </p:sp>
        <p:sp>
          <p:nvSpPr>
            <p:cNvPr id="15378" name="Line 45"/>
            <p:cNvSpPr>
              <a:spLocks noChangeShapeType="1"/>
            </p:cNvSpPr>
            <p:nvPr/>
          </p:nvSpPr>
          <p:spPr bwMode="auto">
            <a:xfrm flipV="1">
              <a:off x="2699" y="3566"/>
              <a:ext cx="544" cy="227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23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2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623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88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28" grpId="0"/>
      <p:bldP spid="623634" grpId="0"/>
      <p:bldP spid="6236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1" name="Text Box 3"/>
          <p:cNvSpPr txBox="1">
            <a:spLocks noChangeArrowheads="1"/>
          </p:cNvSpPr>
          <p:nvPr/>
        </p:nvSpPr>
        <p:spPr bwMode="auto">
          <a:xfrm>
            <a:off x="1774508" y="534035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Total current law </a:t>
            </a:r>
            <a:r>
              <a:rPr kumimoji="1" lang="zh-CN" altLang="en-US" sz="24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89092" name="Object 4"/>
          <p:cNvGraphicFramePr>
            <a:graphicFrameLocks noChangeAspect="1"/>
          </p:cNvGraphicFramePr>
          <p:nvPr/>
        </p:nvGraphicFramePr>
        <p:xfrm>
          <a:off x="3000376" y="1412876"/>
          <a:ext cx="2663825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20800" imgH="546100" progId="Equation.3">
                  <p:embed/>
                </p:oleObj>
              </mc:Choice>
              <mc:Fallback>
                <p:oleObj name="公式" r:id="rId2" imgW="1320800" imgH="54610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1412876"/>
                        <a:ext cx="2663825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4293" name="Rectangle 5"/>
          <p:cNvSpPr>
            <a:spLocks noChangeArrowheads="1"/>
          </p:cNvSpPr>
          <p:nvPr/>
        </p:nvSpPr>
        <p:spPr bwMode="auto">
          <a:xfrm>
            <a:off x="6383339" y="1700214"/>
            <a:ext cx="3430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kumimoji="1"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Differential Form</a:t>
            </a:r>
          </a:p>
        </p:txBody>
      </p:sp>
      <p:graphicFrame>
        <p:nvGraphicFramePr>
          <p:cNvPr id="89094" name="Object 6"/>
          <p:cNvGraphicFramePr>
            <a:graphicFrameLocks noChangeAspect="1"/>
          </p:cNvGraphicFramePr>
          <p:nvPr/>
        </p:nvGraphicFramePr>
        <p:xfrm>
          <a:off x="2927351" y="2565401"/>
          <a:ext cx="32289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59000" imgH="546100" progId="Equation.3">
                  <p:embed/>
                </p:oleObj>
              </mc:Choice>
              <mc:Fallback>
                <p:oleObj name="公式" r:id="rId4" imgW="2159000" imgH="546100" progId="Equation.3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2565401"/>
                        <a:ext cx="32289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4295" name="Text Box 7"/>
          <p:cNvSpPr txBox="1">
            <a:spLocks noChangeArrowheads="1"/>
          </p:cNvSpPr>
          <p:nvPr/>
        </p:nvSpPr>
        <p:spPr bwMode="auto">
          <a:xfrm>
            <a:off x="6408739" y="2781301"/>
            <a:ext cx="2782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kumimoji="1"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Integral Form</a:t>
            </a:r>
          </a:p>
        </p:txBody>
      </p:sp>
      <p:sp>
        <p:nvSpPr>
          <p:cNvPr id="524296" name="Text Box 8"/>
          <p:cNvSpPr txBox="1">
            <a:spLocks noChangeArrowheads="1"/>
          </p:cNvSpPr>
          <p:nvPr/>
        </p:nvSpPr>
        <p:spPr bwMode="auto">
          <a:xfrm>
            <a:off x="1774826" y="3644901"/>
            <a:ext cx="8531225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800000"/>
                </a:solidFill>
                <a:ea typeface="幼圆" panose="02010509060101010101" pitchFamily="49" charset="-122"/>
              </a:rPr>
              <a:t>  Total current law reveals that not only the </a:t>
            </a:r>
            <a:r>
              <a:rPr kumimoji="1" lang="en-US" altLang="zh-CN" sz="2400" b="1" u="sng" dirty="0">
                <a:solidFill>
                  <a:srgbClr val="800000"/>
                </a:solidFill>
                <a:ea typeface="幼圆" panose="02010509060101010101" pitchFamily="49" charset="-122"/>
              </a:rPr>
              <a:t>conduction current </a:t>
            </a:r>
            <a:r>
              <a:rPr kumimoji="1" lang="en-US" altLang="zh-CN" sz="2000" b="1" dirty="0">
                <a:solidFill>
                  <a:srgbClr val="800000"/>
                </a:solidFill>
                <a:ea typeface="幼圆" panose="02010509060101010101" pitchFamily="49" charset="-122"/>
              </a:rPr>
              <a:t>can induce magnetic field, but also the </a:t>
            </a:r>
            <a:r>
              <a:rPr kumimoji="1" lang="en-US" altLang="zh-CN" sz="2400" b="1" u="sng" dirty="0">
                <a:solidFill>
                  <a:srgbClr val="800000"/>
                </a:solidFill>
                <a:ea typeface="幼圆" panose="02010509060101010101" pitchFamily="49" charset="-122"/>
              </a:rPr>
              <a:t>time-varying electric field</a:t>
            </a:r>
            <a:r>
              <a:rPr kumimoji="1" lang="en-US" altLang="zh-CN" sz="2000" b="1" dirty="0">
                <a:solidFill>
                  <a:srgbClr val="800000"/>
                </a:solidFill>
                <a:ea typeface="幼圆" panose="02010509060101010101" pitchFamily="49" charset="-122"/>
              </a:rPr>
              <a:t> can give rise to a magnetic field. It forms an exchange in the nature between the time-varying magnetic field and the time-varying electric field.</a:t>
            </a:r>
            <a:endParaRPr kumimoji="1" lang="en-US" altLang="zh-CN" sz="2400" b="1" dirty="0">
              <a:solidFill>
                <a:srgbClr val="800000"/>
              </a:solidFill>
              <a:ea typeface="楷体_GB2312" pitchFamily="49" charset="-122"/>
            </a:endParaRPr>
          </a:p>
        </p:txBody>
      </p:sp>
      <p:pic>
        <p:nvPicPr>
          <p:cNvPr id="16392" name="Picture 9" descr="BD05546_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288" y="5273676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2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2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52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52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291" grpId="0"/>
      <p:bldP spid="524293" grpId="0"/>
      <p:bldP spid="524295" grpId="0"/>
      <p:bldP spid="52429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841930"/>
              </p:ext>
            </p:extLst>
          </p:nvPr>
        </p:nvGraphicFramePr>
        <p:xfrm>
          <a:off x="4367213" y="765175"/>
          <a:ext cx="1268412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546100" progId="Equation.DSMT4">
                  <p:embed/>
                </p:oleObj>
              </mc:Choice>
              <mc:Fallback>
                <p:oleObj name="Equation" r:id="rId2" imgW="736600" imgH="5461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765175"/>
                        <a:ext cx="1268412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6339" name="Text Box 3"/>
          <p:cNvSpPr txBox="1">
            <a:spLocks noChangeArrowheads="1"/>
          </p:cNvSpPr>
          <p:nvPr/>
        </p:nvSpPr>
        <p:spPr bwMode="auto">
          <a:xfrm>
            <a:off x="1631951" y="333375"/>
            <a:ext cx="4964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2. Displacement current density</a:t>
            </a:r>
          </a:p>
        </p:txBody>
      </p:sp>
      <p:sp>
        <p:nvSpPr>
          <p:cNvPr id="90117" name="Rectangle 4"/>
          <p:cNvSpPr>
            <a:spLocks noChangeArrowheads="1"/>
          </p:cNvSpPr>
          <p:nvPr/>
        </p:nvSpPr>
        <p:spPr bwMode="auto">
          <a:xfrm>
            <a:off x="1524000" y="1557655"/>
            <a:ext cx="758063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ClrTx/>
              <a:buSzTx/>
              <a:buFont typeface="Wingdings" panose="05000000000000000000" pitchFamily="2" charset="2"/>
              <a:buChar char="q"/>
            </a:pP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</a:rPr>
              <a:t>The rate of change over time of electric displacement vector can produce magnetic field, just like current, so it is called "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displacement current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</a:rPr>
              <a:t>”.</a:t>
            </a:r>
          </a:p>
        </p:txBody>
      </p:sp>
      <p:sp>
        <p:nvSpPr>
          <p:cNvPr id="526341" name="Rectangle 5"/>
          <p:cNvSpPr>
            <a:spLocks noChangeArrowheads="1"/>
          </p:cNvSpPr>
          <p:nvPr/>
        </p:nvSpPr>
        <p:spPr bwMode="auto">
          <a:xfrm>
            <a:off x="1631950" y="4321810"/>
            <a:ext cx="1056005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800000"/>
                </a:solidFill>
              </a:rPr>
              <a:t>Attention</a:t>
            </a:r>
            <a:r>
              <a:rPr lang="zh-CN" altLang="en-US" sz="2400" b="1" dirty="0">
                <a:solidFill>
                  <a:srgbClr val="800000"/>
                </a:solidFill>
                <a:ea typeface="幼圆" panose="02010509060101010101" pitchFamily="49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en-US" sz="18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In an insulating medium, there is no conduction current, but there is a displacement current.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 In an ideal conductor, there is no displacement current, but there is a conduction current.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In the general medium, there are both the conduction current and the displacement current.</a:t>
            </a:r>
          </a:p>
        </p:txBody>
      </p:sp>
      <p:sp>
        <p:nvSpPr>
          <p:cNvPr id="90119" name="Rectangle 6"/>
          <p:cNvSpPr>
            <a:spLocks noChangeArrowheads="1"/>
          </p:cNvSpPr>
          <p:nvPr/>
        </p:nvSpPr>
        <p:spPr bwMode="auto">
          <a:xfrm>
            <a:off x="1524000" y="2492375"/>
            <a:ext cx="10119995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</a:rPr>
              <a:t>The displacement current only indicates the rate of change of the electric field, which is different from the conduction current, and it has 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no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</a:rPr>
              <a:t> heat effect.</a:t>
            </a:r>
            <a:endParaRPr lang="en-US" altLang="zh-CN" sz="1800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526343" name="Rectangle 7"/>
          <p:cNvSpPr>
            <a:spLocks noChangeArrowheads="1"/>
          </p:cNvSpPr>
          <p:nvPr/>
        </p:nvSpPr>
        <p:spPr bwMode="auto">
          <a:xfrm>
            <a:off x="1524000" y="3277870"/>
            <a:ext cx="10119360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</a:rPr>
              <a:t>The introduction of the displacement current </a:t>
            </a:r>
            <a:r>
              <a:rPr lang="en-US" altLang="zh-CN" sz="1800" b="1">
                <a:solidFill>
                  <a:srgbClr val="000000"/>
                </a:solidFill>
                <a:ea typeface="楷体_GB2312" pitchFamily="49" charset="-122"/>
              </a:rPr>
              <a:t>is a </a:t>
            </a:r>
            <a:r>
              <a:rPr lang="en-US" altLang="zh-CN" sz="1800" b="1" dirty="0">
                <a:solidFill>
                  <a:srgbClr val="000000"/>
                </a:solidFill>
                <a:ea typeface="楷体_GB2312" pitchFamily="49" charset="-122"/>
              </a:rPr>
              <a:t>vital step in the establishment of Maxwell equations. It reveals the important physical concept of the time varying electric field generate magnetic field.</a:t>
            </a:r>
            <a:endParaRPr lang="en-US" altLang="zh-CN" sz="1800" dirty="0">
              <a:solidFill>
                <a:srgbClr val="000000"/>
              </a:solidFill>
              <a:ea typeface="楷体_GB2312" pitchFamily="49" charset="-122"/>
            </a:endParaRPr>
          </a:p>
        </p:txBody>
      </p:sp>
      <p:grpSp>
        <p:nvGrpSpPr>
          <p:cNvPr id="3" name="Group 18"/>
          <p:cNvGrpSpPr/>
          <p:nvPr/>
        </p:nvGrpSpPr>
        <p:grpSpPr bwMode="auto">
          <a:xfrm>
            <a:off x="9192001" y="-25876"/>
            <a:ext cx="2952750" cy="2592388"/>
            <a:chOff x="3787" y="2205"/>
            <a:chExt cx="1860" cy="1633"/>
          </a:xfrm>
        </p:grpSpPr>
        <p:pic>
          <p:nvPicPr>
            <p:cNvPr id="17417" name="Picture 8" descr="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7" y="2205"/>
              <a:ext cx="1860" cy="1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8" name="Line 9"/>
            <p:cNvSpPr>
              <a:spLocks noChangeShapeType="1"/>
            </p:cNvSpPr>
            <p:nvPr/>
          </p:nvSpPr>
          <p:spPr bwMode="auto">
            <a:xfrm flipH="1">
              <a:off x="4604" y="2432"/>
              <a:ext cx="31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419" name="Line 13"/>
            <p:cNvSpPr>
              <a:spLocks noChangeShapeType="1"/>
            </p:cNvSpPr>
            <p:nvPr/>
          </p:nvSpPr>
          <p:spPr bwMode="auto">
            <a:xfrm flipH="1">
              <a:off x="4604" y="2568"/>
              <a:ext cx="31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0" name="Line 14"/>
            <p:cNvSpPr>
              <a:spLocks noChangeShapeType="1"/>
            </p:cNvSpPr>
            <p:nvPr/>
          </p:nvSpPr>
          <p:spPr bwMode="auto">
            <a:xfrm flipH="1">
              <a:off x="4604" y="2704"/>
              <a:ext cx="31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1" name="Line 15"/>
            <p:cNvSpPr>
              <a:spLocks noChangeShapeType="1"/>
            </p:cNvSpPr>
            <p:nvPr/>
          </p:nvSpPr>
          <p:spPr bwMode="auto">
            <a:xfrm flipH="1">
              <a:off x="4604" y="2840"/>
              <a:ext cx="31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2" name="Line 16"/>
            <p:cNvSpPr>
              <a:spLocks noChangeShapeType="1"/>
            </p:cNvSpPr>
            <p:nvPr/>
          </p:nvSpPr>
          <p:spPr bwMode="auto">
            <a:xfrm flipH="1">
              <a:off x="4604" y="2976"/>
              <a:ext cx="317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7423" name="Object 17"/>
            <p:cNvGraphicFramePr>
              <a:graphicFrameLocks noChangeAspect="1"/>
            </p:cNvGraphicFramePr>
            <p:nvPr/>
          </p:nvGraphicFramePr>
          <p:xfrm>
            <a:off x="4604" y="2523"/>
            <a:ext cx="272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41300" imgH="330200" progId="Equation.3">
                    <p:embed/>
                  </p:oleObj>
                </mc:Choice>
                <mc:Fallback>
                  <p:oleObj name="公式" r:id="rId5" imgW="241300" imgH="330200" progId="Equation.3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2523"/>
                          <a:ext cx="272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2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52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52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339" grpId="0"/>
      <p:bldP spid="90117" grpId="0"/>
      <p:bldP spid="526341" grpId="0"/>
      <p:bldP spid="90119" grpId="0"/>
      <p:bldP spid="5263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39"/>
          <p:cNvSpPr txBox="1">
            <a:spLocks noChangeArrowheads="1"/>
          </p:cNvSpPr>
          <p:nvPr/>
        </p:nvSpPr>
        <p:spPr bwMode="auto">
          <a:xfrm>
            <a:off x="2711450" y="1268414"/>
            <a:ext cx="2286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Differential form</a:t>
            </a:r>
          </a:p>
        </p:txBody>
      </p:sp>
      <p:graphicFrame>
        <p:nvGraphicFramePr>
          <p:cNvPr id="18435" name="Object 40"/>
          <p:cNvGraphicFramePr>
            <a:graphicFrameLocks noChangeAspect="1"/>
          </p:cNvGraphicFramePr>
          <p:nvPr/>
        </p:nvGraphicFramePr>
        <p:xfrm>
          <a:off x="2279650" y="1773239"/>
          <a:ext cx="2789238" cy="310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0300" imgH="1397000" progId="Equation.DSMT4">
                  <p:embed/>
                </p:oleObj>
              </mc:Choice>
              <mc:Fallback>
                <p:oleObj name="Equation" r:id="rId2" imgW="1130300" imgH="13970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773239"/>
                        <a:ext cx="2789238" cy="310197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99FF"/>
                          </a:gs>
                          <a:gs pos="50000">
                            <a:schemeClr val="bg1"/>
                          </a:gs>
                          <a:gs pos="100000">
                            <a:srgbClr val="FF99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1"/>
          <p:cNvGraphicFramePr>
            <a:graphicFrameLocks noChangeAspect="1"/>
          </p:cNvGraphicFramePr>
          <p:nvPr/>
        </p:nvGraphicFramePr>
        <p:xfrm>
          <a:off x="6446838" y="4041776"/>
          <a:ext cx="112712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4300" imgH="215900" progId="Equation.3">
                  <p:embed/>
                </p:oleObj>
              </mc:Choice>
              <mc:Fallback>
                <p:oleObj name="公式" r:id="rId4" imgW="114300" imgH="215900" progId="Equation.3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6838" y="4041776"/>
                        <a:ext cx="112712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Text Box 42"/>
          <p:cNvSpPr txBox="1">
            <a:spLocks noChangeArrowheads="1"/>
          </p:cNvSpPr>
          <p:nvPr/>
        </p:nvSpPr>
        <p:spPr bwMode="auto">
          <a:xfrm>
            <a:off x="1774825" y="620713"/>
            <a:ext cx="867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800000"/>
                </a:solidFill>
                <a:ea typeface="幼圆" panose="02010509060101010101" pitchFamily="49" charset="-122"/>
              </a:rPr>
              <a:t>3.Maxwell</a:t>
            </a:r>
            <a:r>
              <a:rPr lang="en-US" altLang="zh-CN" sz="2400" b="1">
                <a:solidFill>
                  <a:srgbClr val="800000"/>
                </a:solidFill>
                <a:ea typeface="幼圆" panose="02010509060101010101" pitchFamily="49" charset="-122"/>
              </a:rPr>
              <a:t> equations</a:t>
            </a:r>
            <a:r>
              <a:rPr kumimoji="1" lang="en-US" altLang="zh-CN" sz="2000" b="1">
                <a:solidFill>
                  <a:srgbClr val="000000"/>
                </a:solidFill>
                <a:ea typeface="幼圆" panose="02010509060101010101" pitchFamily="49" charset="-122"/>
              </a:rPr>
              <a:t> —— Basic equations of electromagnetic field</a:t>
            </a:r>
            <a:endParaRPr kumimoji="1" lang="en-US" altLang="zh-CN" sz="2000" b="1">
              <a:solidFill>
                <a:srgbClr val="000000"/>
              </a:solidFill>
            </a:endParaRPr>
          </a:p>
        </p:txBody>
      </p:sp>
      <p:graphicFrame>
        <p:nvGraphicFramePr>
          <p:cNvPr id="18438" name="Object 43"/>
          <p:cNvGraphicFramePr>
            <a:graphicFrameLocks noChangeAspect="1"/>
          </p:cNvGraphicFramePr>
          <p:nvPr/>
        </p:nvGraphicFramePr>
        <p:xfrm>
          <a:off x="6096000" y="1773238"/>
          <a:ext cx="4076700" cy="307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03400" imgH="1524000" progId="Equation.DSMT4">
                  <p:embed/>
                </p:oleObj>
              </mc:Choice>
              <mc:Fallback>
                <p:oleObj name="Equation" r:id="rId6" imgW="1803400" imgH="15240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773238"/>
                        <a:ext cx="4076700" cy="307816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99FF"/>
                          </a:gs>
                          <a:gs pos="50000">
                            <a:schemeClr val="bg1"/>
                          </a:gs>
                          <a:gs pos="100000">
                            <a:srgbClr val="FF99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44"/>
          <p:cNvGraphicFramePr>
            <a:graphicFrameLocks noChangeAspect="1"/>
          </p:cNvGraphicFramePr>
          <p:nvPr/>
        </p:nvGraphicFramePr>
        <p:xfrm>
          <a:off x="2711451" y="5229225"/>
          <a:ext cx="198596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74065" imgH="393700" progId="Equation.3">
                  <p:embed/>
                </p:oleObj>
              </mc:Choice>
              <mc:Fallback>
                <p:oleObj name="公式" r:id="rId8" imgW="774065" imgH="393700" progId="Equation.3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5229225"/>
                        <a:ext cx="1985963" cy="7874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99FF"/>
                          </a:gs>
                          <a:gs pos="50000">
                            <a:schemeClr val="bg1"/>
                          </a:gs>
                          <a:gs pos="100000">
                            <a:srgbClr val="FF99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45"/>
          <p:cNvGraphicFramePr>
            <a:graphicFrameLocks noChangeAspect="1"/>
          </p:cNvGraphicFramePr>
          <p:nvPr/>
        </p:nvGraphicFramePr>
        <p:xfrm>
          <a:off x="6743700" y="5229226"/>
          <a:ext cx="2376488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40765" imgH="393700" progId="Equation.DSMT4">
                  <p:embed/>
                </p:oleObj>
              </mc:Choice>
              <mc:Fallback>
                <p:oleObj name="Equation" r:id="rId10" imgW="1040765" imgH="3937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5229226"/>
                        <a:ext cx="2376488" cy="7334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99FF"/>
                          </a:gs>
                          <a:gs pos="50000">
                            <a:schemeClr val="bg1"/>
                          </a:gs>
                          <a:gs pos="100000">
                            <a:srgbClr val="FF99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Text Box 46"/>
          <p:cNvSpPr txBox="1">
            <a:spLocks noChangeArrowheads="1"/>
          </p:cNvSpPr>
          <p:nvPr/>
        </p:nvSpPr>
        <p:spPr bwMode="auto">
          <a:xfrm>
            <a:off x="6888164" y="1268414"/>
            <a:ext cx="1728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Integral 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1812925" y="476250"/>
            <a:ext cx="5435600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800000"/>
                </a:solidFill>
                <a:ea typeface="幼圆" panose="02010509060101010101" pitchFamily="49" charset="-122"/>
              </a:rPr>
              <a:t>4. Constitutive relation of medium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</a:t>
            </a:r>
          </a:p>
        </p:txBody>
      </p:sp>
      <p:grpSp>
        <p:nvGrpSpPr>
          <p:cNvPr id="2" name="Group 3"/>
          <p:cNvGrpSpPr/>
          <p:nvPr/>
        </p:nvGrpSpPr>
        <p:grpSpPr bwMode="auto">
          <a:xfrm>
            <a:off x="2351089" y="1722438"/>
            <a:ext cx="3559175" cy="482600"/>
            <a:chOff x="521" y="1085"/>
            <a:chExt cx="2242" cy="304"/>
          </a:xfrm>
        </p:grpSpPr>
        <p:graphicFrame>
          <p:nvGraphicFramePr>
            <p:cNvPr id="19470" name="Object 4"/>
            <p:cNvGraphicFramePr>
              <a:graphicFrameLocks noChangeAspect="1"/>
            </p:cNvGraphicFramePr>
            <p:nvPr/>
          </p:nvGraphicFramePr>
          <p:xfrm>
            <a:off x="521" y="1100"/>
            <a:ext cx="681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635000" imgH="279400" progId="Equation.3">
                    <p:embed/>
                  </p:oleObj>
                </mc:Choice>
                <mc:Fallback>
                  <p:oleObj name="公式" r:id="rId2" imgW="635000" imgH="279400" progId="Equation.3">
                    <p:embed/>
                    <p:pic>
                      <p:nvPicPr>
                        <p:cNvPr id="0" name="图片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1100"/>
                          <a:ext cx="681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1" name="Object 5"/>
            <p:cNvGraphicFramePr>
              <a:graphicFrameLocks noChangeAspect="1"/>
            </p:cNvGraphicFramePr>
            <p:nvPr/>
          </p:nvGraphicFramePr>
          <p:xfrm>
            <a:off x="1292" y="1085"/>
            <a:ext cx="65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685800" imgH="304800" progId="Equation.3">
                    <p:embed/>
                  </p:oleObj>
                </mc:Choice>
                <mc:Fallback>
                  <p:oleObj name="公式" r:id="rId4" imgW="685800" imgH="304800" progId="Equation.3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1085"/>
                          <a:ext cx="657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2" name="Object 6"/>
            <p:cNvGraphicFramePr>
              <a:graphicFrameLocks noChangeAspect="1"/>
            </p:cNvGraphicFramePr>
            <p:nvPr/>
          </p:nvGraphicFramePr>
          <p:xfrm>
            <a:off x="2153" y="1091"/>
            <a:ext cx="61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635000" imgH="279400" progId="Equation.3">
                    <p:embed/>
                  </p:oleObj>
                </mc:Choice>
                <mc:Fallback>
                  <p:oleObj name="公式" r:id="rId6" imgW="635000" imgH="279400" progId="Equation.3">
                    <p:embed/>
                    <p:pic>
                      <p:nvPicPr>
                        <p:cNvPr id="0" name="图片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3" y="1091"/>
                          <a:ext cx="61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60487" name="Object 7"/>
          <p:cNvGraphicFramePr>
            <a:graphicFrameLocks noChangeAspect="1"/>
          </p:cNvGraphicFramePr>
          <p:nvPr/>
        </p:nvGraphicFramePr>
        <p:xfrm>
          <a:off x="2135189" y="3357563"/>
          <a:ext cx="3381375" cy="256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28800" imgH="1778000" progId="Equation.DSMT4">
                  <p:embed/>
                </p:oleObj>
              </mc:Choice>
              <mc:Fallback>
                <p:oleObj name="Equation" r:id="rId8" imgW="1828800" imgH="17780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3357563"/>
                        <a:ext cx="3381375" cy="2563812"/>
                      </a:xfrm>
                      <a:prstGeom prst="rect">
                        <a:avLst/>
                      </a:prstGeom>
                      <a:solidFill>
                        <a:srgbClr val="0000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0488" name="Text Box 8"/>
          <p:cNvSpPr txBox="1">
            <a:spLocks noChangeArrowheads="1"/>
          </p:cNvSpPr>
          <p:nvPr/>
        </p:nvSpPr>
        <p:spPr bwMode="auto">
          <a:xfrm>
            <a:off x="1776413" y="2276475"/>
            <a:ext cx="4824412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Substitute into the Maxwell equations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we got</a:t>
            </a:r>
          </a:p>
        </p:txBody>
      </p:sp>
      <p:graphicFrame>
        <p:nvGraphicFramePr>
          <p:cNvPr id="660489" name="Object 9"/>
          <p:cNvGraphicFramePr>
            <a:graphicFrameLocks noChangeAspect="1"/>
          </p:cNvGraphicFramePr>
          <p:nvPr/>
        </p:nvGraphicFramePr>
        <p:xfrm>
          <a:off x="7391401" y="3263901"/>
          <a:ext cx="3097213" cy="261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01800" imgH="1816100" progId="Equation.DSMT4">
                  <p:embed/>
                </p:oleObj>
              </mc:Choice>
              <mc:Fallback>
                <p:oleObj name="Equation" r:id="rId10" imgW="1701800" imgH="18161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3263901"/>
                        <a:ext cx="3097213" cy="2613025"/>
                      </a:xfrm>
                      <a:prstGeom prst="rect">
                        <a:avLst/>
                      </a:prstGeom>
                      <a:solidFill>
                        <a:srgbClr val="0000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0"/>
          <p:cNvGrpSpPr/>
          <p:nvPr/>
        </p:nvGrpSpPr>
        <p:grpSpPr bwMode="auto">
          <a:xfrm>
            <a:off x="5519739" y="2276475"/>
            <a:ext cx="4968875" cy="1081088"/>
            <a:chOff x="2517" y="1434"/>
            <a:chExt cx="3130" cy="681"/>
          </a:xfrm>
        </p:grpSpPr>
        <p:sp>
          <p:nvSpPr>
            <p:cNvPr id="19468" name="Rectangle 11"/>
            <p:cNvSpPr>
              <a:spLocks noChangeArrowheads="1"/>
            </p:cNvSpPr>
            <p:nvPr/>
          </p:nvSpPr>
          <p:spPr bwMode="auto">
            <a:xfrm>
              <a:off x="3288" y="1434"/>
              <a:ext cx="2359" cy="532"/>
            </a:xfrm>
            <a:prstGeom prst="rect">
              <a:avLst/>
            </a:prstGeom>
            <a:noFill/>
            <a:ln w="22225">
              <a:solidFill>
                <a:srgbClr val="FF0000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Restricted form of Maxwell equation</a:t>
              </a:r>
            </a:p>
          </p:txBody>
        </p:sp>
        <p:sp>
          <p:nvSpPr>
            <p:cNvPr id="19469" name="Line 12"/>
            <p:cNvSpPr>
              <a:spLocks noChangeShapeType="1"/>
            </p:cNvSpPr>
            <p:nvPr/>
          </p:nvSpPr>
          <p:spPr bwMode="auto">
            <a:xfrm flipH="1">
              <a:off x="2517" y="1616"/>
              <a:ext cx="771" cy="499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" name="Group 13"/>
          <p:cNvGrpSpPr/>
          <p:nvPr/>
        </p:nvGrpSpPr>
        <p:grpSpPr bwMode="auto">
          <a:xfrm>
            <a:off x="5375275" y="4114800"/>
            <a:ext cx="2160588" cy="1498600"/>
            <a:chOff x="2426" y="2592"/>
            <a:chExt cx="1361" cy="944"/>
          </a:xfrm>
        </p:grpSpPr>
        <p:sp>
          <p:nvSpPr>
            <p:cNvPr id="19466" name="AutoShape 14"/>
            <p:cNvSpPr>
              <a:spLocks noChangeArrowheads="1"/>
            </p:cNvSpPr>
            <p:nvPr/>
          </p:nvSpPr>
          <p:spPr bwMode="auto">
            <a:xfrm>
              <a:off x="2699" y="2592"/>
              <a:ext cx="132" cy="501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19467" name="Text Box 15"/>
            <p:cNvSpPr txBox="1">
              <a:spLocks noChangeArrowheads="1"/>
            </p:cNvSpPr>
            <p:nvPr/>
          </p:nvSpPr>
          <p:spPr bwMode="auto">
            <a:xfrm>
              <a:off x="2426" y="3028"/>
              <a:ext cx="1361" cy="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solidFill>
                    <a:srgbClr val="000000"/>
                  </a:solidFill>
                  <a:ea typeface="楷体_GB2312" pitchFamily="49" charset="-122"/>
                </a:rPr>
                <a:t>（ </a:t>
              </a:r>
              <a:r>
                <a:rPr lang="en-US" altLang="zh-CN" sz="1800" b="1">
                  <a:solidFill>
                    <a:srgbClr val="000000"/>
                  </a:solidFill>
                  <a:ea typeface="楷体_GB2312" pitchFamily="49" charset="-122"/>
                </a:rPr>
                <a:t>Homogeneous medium </a:t>
              </a:r>
              <a:r>
                <a:rPr lang="zh-CN" altLang="en-US" sz="1800" b="1">
                  <a:solidFill>
                    <a:srgbClr val="000000"/>
                  </a:solidFill>
                  <a:ea typeface="楷体_GB2312" pitchFamily="49" charset="-122"/>
                </a:rPr>
                <a:t>）</a:t>
              </a:r>
            </a:p>
          </p:txBody>
        </p:sp>
      </p:grpSp>
      <p:sp>
        <p:nvSpPr>
          <p:cNvPr id="660496" name="Rectangle 16"/>
          <p:cNvSpPr>
            <a:spLocks noChangeArrowheads="1"/>
          </p:cNvSpPr>
          <p:nvPr/>
        </p:nvSpPr>
        <p:spPr bwMode="auto">
          <a:xfrm>
            <a:off x="1774824" y="1171576"/>
            <a:ext cx="93088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ea typeface="楷体_GB2312" pitchFamily="49" charset="-122"/>
              </a:rPr>
              <a:t>The constitutive relation of an isotropic linear medium 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66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0"/>
                                        <p:tgtEl>
                                          <p:spTgt spid="66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3000"/>
                                        <p:tgtEl>
                                          <p:spTgt spid="66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3000"/>
                                        <p:tgtEl>
                                          <p:spTgt spid="66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8" grpId="0"/>
      <p:bldP spid="66049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3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1774825" y="476250"/>
            <a:ext cx="10417175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7.3   Electromagnetic Boundary Conditions</a:t>
            </a:r>
          </a:p>
        </p:txBody>
      </p:sp>
      <p:sp>
        <p:nvSpPr>
          <p:cNvPr id="20483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2063750" y="1916114"/>
            <a:ext cx="7704138" cy="3673475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When letting the height of the flat closed path approach zero, the area bounded by the path approaches zero, causing the surface integrals of           and           to vanish;</a:t>
            </a:r>
          </a:p>
          <a:p>
            <a:pPr eaLnBrk="1" hangingPunct="1"/>
            <a:endParaRPr lang="en-US" altLang="zh-CN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So the boundary conditions for time-varying case are exactly the same as for static electric fields and for static magnetic fields;</a:t>
            </a:r>
          </a:p>
        </p:txBody>
      </p:sp>
      <p:graphicFrame>
        <p:nvGraphicFramePr>
          <p:cNvPr id="73735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000376" y="2996249"/>
          <a:ext cx="49847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800" imgH="546100" progId="Equation.DSMT4">
                  <p:embed/>
                </p:oleObj>
              </mc:Choice>
              <mc:Fallback>
                <p:oleObj name="Equation" r:id="rId2" imgW="304800" imgH="5461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2996249"/>
                        <a:ext cx="498475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545638" y="5589588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  <p:graphicFrame>
        <p:nvGraphicFramePr>
          <p:cNvPr id="73737" name="Object 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583114" y="3068956"/>
          <a:ext cx="47942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0200" imgH="546100" progId="Equation.DSMT4">
                  <p:embed/>
                </p:oleObj>
              </mc:Choice>
              <mc:Fallback>
                <p:oleObj name="Equation" r:id="rId5" imgW="330200" imgH="5461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4" y="3068956"/>
                        <a:ext cx="47942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87" name="Object 2"/>
          <p:cNvGraphicFramePr>
            <a:graphicFrameLocks noChangeAspect="1"/>
          </p:cNvGraphicFramePr>
          <p:nvPr/>
        </p:nvGraphicFramePr>
        <p:xfrm>
          <a:off x="1992313" y="981075"/>
          <a:ext cx="4176712" cy="304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35200" imgH="2019300" progId="Equation.DSMT4">
                  <p:embed/>
                </p:oleObj>
              </mc:Choice>
              <mc:Fallback>
                <p:oleObj name="Equation" r:id="rId2" imgW="2235200" imgH="20193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981075"/>
                        <a:ext cx="4176712" cy="304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99FF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rgbClr val="FF99FF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774825" y="476250"/>
            <a:ext cx="817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ea typeface="楷体_GB2312" pitchFamily="49" charset="-122"/>
              </a:rPr>
              <a:t>1. The general expressions of boundary conditions</a:t>
            </a:r>
            <a:endParaRPr lang="en-US" altLang="zh-CN" sz="2400" b="1">
              <a:solidFill>
                <a:srgbClr val="0000CC"/>
              </a:solidFill>
              <a:ea typeface="幼圆" panose="02010509060101010101" pitchFamily="49" charset="-122"/>
            </a:endParaRPr>
          </a:p>
        </p:txBody>
      </p:sp>
      <p:grpSp>
        <p:nvGrpSpPr>
          <p:cNvPr id="3" name="Group 4"/>
          <p:cNvGrpSpPr/>
          <p:nvPr/>
        </p:nvGrpSpPr>
        <p:grpSpPr bwMode="auto">
          <a:xfrm>
            <a:off x="5735639" y="1196976"/>
            <a:ext cx="4105275" cy="2493963"/>
            <a:chOff x="2653" y="754"/>
            <a:chExt cx="2586" cy="1571"/>
          </a:xfrm>
        </p:grpSpPr>
        <p:graphicFrame>
          <p:nvGraphicFramePr>
            <p:cNvPr id="21524" name="Object 5"/>
            <p:cNvGraphicFramePr>
              <a:graphicFrameLocks noChangeAspect="1"/>
            </p:cNvGraphicFramePr>
            <p:nvPr/>
          </p:nvGraphicFramePr>
          <p:xfrm>
            <a:off x="3288" y="754"/>
            <a:ext cx="1951" cy="1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82700" imgH="1041400" progId="Equation.DSMT4">
                    <p:embed/>
                  </p:oleObj>
                </mc:Choice>
                <mc:Fallback>
                  <p:oleObj name="Equation" r:id="rId4" imgW="1282700" imgH="1041400" progId="Equation.DSMT4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754"/>
                          <a:ext cx="1951" cy="1571"/>
                        </a:xfrm>
                        <a:prstGeom prst="rect">
                          <a:avLst/>
                        </a:prstGeom>
                        <a:solidFill>
                          <a:srgbClr val="E9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5" name="AutoShape 6"/>
            <p:cNvSpPr>
              <a:spLocks noChangeArrowheads="1"/>
            </p:cNvSpPr>
            <p:nvPr/>
          </p:nvSpPr>
          <p:spPr bwMode="auto">
            <a:xfrm>
              <a:off x="2653" y="1320"/>
              <a:ext cx="499" cy="501"/>
            </a:xfrm>
            <a:prstGeom prst="rightArrow">
              <a:avLst>
                <a:gd name="adj1" fmla="val 50000"/>
                <a:gd name="adj2" fmla="val 68923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21509" name="Group 7"/>
          <p:cNvGrpSpPr/>
          <p:nvPr/>
        </p:nvGrpSpPr>
        <p:grpSpPr bwMode="auto">
          <a:xfrm>
            <a:off x="2208214" y="4221164"/>
            <a:ext cx="3311525" cy="2160587"/>
            <a:chOff x="3470" y="346"/>
            <a:chExt cx="2132" cy="1496"/>
          </a:xfrm>
        </p:grpSpPr>
        <p:grpSp>
          <p:nvGrpSpPr>
            <p:cNvPr id="21516" name="Group 8"/>
            <p:cNvGrpSpPr/>
            <p:nvPr/>
          </p:nvGrpSpPr>
          <p:grpSpPr bwMode="auto">
            <a:xfrm>
              <a:off x="3470" y="346"/>
              <a:ext cx="2132" cy="1496"/>
              <a:chOff x="3470" y="346"/>
              <a:chExt cx="2132" cy="1496"/>
            </a:xfrm>
          </p:grpSpPr>
          <p:sp>
            <p:nvSpPr>
              <p:cNvPr id="21518" name="Rectangle 9"/>
              <p:cNvSpPr>
                <a:spLocks noChangeArrowheads="1"/>
              </p:cNvSpPr>
              <p:nvPr/>
            </p:nvSpPr>
            <p:spPr bwMode="auto">
              <a:xfrm>
                <a:off x="3470" y="346"/>
                <a:ext cx="2132" cy="912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  <a:buClrTx/>
                  <a:buSzTx/>
                  <a:buFontTx/>
                  <a:buNone/>
                </a:pPr>
                <a:endParaRPr lang="zh-CN" altLang="zh-CN" sz="2000">
                  <a:solidFill>
                    <a:schemeClr val="bg1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21519" name="Rectangle 10"/>
              <p:cNvSpPr>
                <a:spLocks noChangeArrowheads="1"/>
              </p:cNvSpPr>
              <p:nvPr/>
            </p:nvSpPr>
            <p:spPr bwMode="auto">
              <a:xfrm>
                <a:off x="3470" y="1071"/>
                <a:ext cx="2132" cy="771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15000"/>
                  </a:spcBef>
                  <a:buClrTx/>
                  <a:buSzTx/>
                  <a:buFontTx/>
                  <a:buNone/>
                </a:pPr>
                <a:endParaRPr lang="zh-CN" altLang="zh-CN" sz="2000">
                  <a:solidFill>
                    <a:schemeClr val="bg1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21520" name="Line 11"/>
              <p:cNvSpPr>
                <a:spLocks noChangeShapeType="1"/>
              </p:cNvSpPr>
              <p:nvPr/>
            </p:nvSpPr>
            <p:spPr bwMode="auto">
              <a:xfrm flipV="1">
                <a:off x="4558" y="505"/>
                <a:ext cx="17" cy="1292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521" name="Object 12"/>
              <p:cNvGraphicFramePr>
                <a:graphicFrameLocks noChangeAspect="1"/>
              </p:cNvGraphicFramePr>
              <p:nvPr/>
            </p:nvGraphicFramePr>
            <p:xfrm>
              <a:off x="4286" y="354"/>
              <a:ext cx="272" cy="3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165100" imgH="228600" progId="Equation.3">
                      <p:embed/>
                    </p:oleObj>
                  </mc:Choice>
                  <mc:Fallback>
                    <p:oleObj name="公式" r:id="rId6" imgW="165100" imgH="228600" progId="Equation.3">
                      <p:embed/>
                      <p:pic>
                        <p:nvPicPr>
                          <p:cNvPr id="0" name="图片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86" y="354"/>
                            <a:ext cx="272" cy="3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17837" name="Text Box 13"/>
              <p:cNvSpPr txBox="1">
                <a:spLocks noChangeArrowheads="1"/>
              </p:cNvSpPr>
              <p:nvPr/>
            </p:nvSpPr>
            <p:spPr bwMode="auto">
              <a:xfrm>
                <a:off x="3560" y="709"/>
                <a:ext cx="1033" cy="2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en-US" altLang="zh-CN" sz="2000" b="1" dirty="0">
                    <a:ea typeface="楷体_GB2312" pitchFamily="49" charset="-122"/>
                  </a:rPr>
                  <a:t>Medium </a:t>
                </a:r>
                <a:r>
                  <a:rPr kumimoji="1" lang="en-US" altLang="zh-CN" sz="2000" b="1" dirty="0">
                    <a:latin typeface="楷体_GB2312" pitchFamily="49" charset="-122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717838" name="Text Box 14"/>
              <p:cNvSpPr txBox="1">
                <a:spLocks noChangeArrowheads="1"/>
              </p:cNvSpPr>
              <p:nvPr/>
            </p:nvSpPr>
            <p:spPr bwMode="auto">
              <a:xfrm>
                <a:off x="3560" y="1253"/>
                <a:ext cx="941" cy="2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en-US" altLang="zh-CN" sz="2000" b="1" dirty="0">
                    <a:ea typeface="楷体_GB2312" pitchFamily="49" charset="-122"/>
                  </a:rPr>
                  <a:t>Medium 2</a:t>
                </a:r>
              </a:p>
            </p:txBody>
          </p:sp>
        </p:grpSp>
        <p:sp>
          <p:nvSpPr>
            <p:cNvPr id="21517" name="Rectangle 15"/>
            <p:cNvSpPr>
              <a:spLocks noChangeArrowheads="1"/>
            </p:cNvSpPr>
            <p:nvPr/>
          </p:nvSpPr>
          <p:spPr bwMode="auto">
            <a:xfrm>
              <a:off x="3470" y="955"/>
              <a:ext cx="2131" cy="27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6" name="Group 16"/>
          <p:cNvGrpSpPr/>
          <p:nvPr/>
        </p:nvGrpSpPr>
        <p:grpSpPr bwMode="auto">
          <a:xfrm>
            <a:off x="5881689" y="3500439"/>
            <a:ext cx="3355975" cy="1584325"/>
            <a:chOff x="3016" y="2251"/>
            <a:chExt cx="1860" cy="998"/>
          </a:xfrm>
        </p:grpSpPr>
        <p:sp>
          <p:nvSpPr>
            <p:cNvPr id="21514" name="Rectangle 17"/>
            <p:cNvSpPr>
              <a:spLocks noChangeArrowheads="1"/>
            </p:cNvSpPr>
            <p:nvPr/>
          </p:nvSpPr>
          <p:spPr bwMode="auto">
            <a:xfrm>
              <a:off x="3016" y="2791"/>
              <a:ext cx="1860" cy="458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FF0000"/>
              </a:solidFill>
              <a:miter lim="800000"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993300"/>
                  </a:solidFill>
                </a:rPr>
                <a:t>The free surface charge density on the interface</a:t>
              </a:r>
            </a:p>
          </p:txBody>
        </p:sp>
        <p:sp>
          <p:nvSpPr>
            <p:cNvPr id="21515" name="Line 18"/>
            <p:cNvSpPr>
              <a:spLocks noChangeShapeType="1"/>
            </p:cNvSpPr>
            <p:nvPr/>
          </p:nvSpPr>
          <p:spPr bwMode="auto">
            <a:xfrm flipV="1">
              <a:off x="4422" y="2251"/>
              <a:ext cx="454" cy="45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Group 19"/>
          <p:cNvGrpSpPr/>
          <p:nvPr/>
        </p:nvGrpSpPr>
        <p:grpSpPr bwMode="auto">
          <a:xfrm>
            <a:off x="7024689" y="1700213"/>
            <a:ext cx="3463925" cy="4316412"/>
            <a:chOff x="3465" y="1071"/>
            <a:chExt cx="2182" cy="2719"/>
          </a:xfrm>
        </p:grpSpPr>
        <p:sp>
          <p:nvSpPr>
            <p:cNvPr id="21512" name="Rectangle 20"/>
            <p:cNvSpPr>
              <a:spLocks noChangeArrowheads="1"/>
            </p:cNvSpPr>
            <p:nvPr/>
          </p:nvSpPr>
          <p:spPr bwMode="auto">
            <a:xfrm>
              <a:off x="3465" y="3332"/>
              <a:ext cx="2182" cy="458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FF0000"/>
              </a:solidFill>
              <a:miter lim="800000"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993300"/>
                  </a:solidFill>
                </a:rPr>
                <a:t>The free surface current density on the interface</a:t>
              </a:r>
            </a:p>
          </p:txBody>
        </p:sp>
        <p:sp>
          <p:nvSpPr>
            <p:cNvPr id="21513" name="Line 21"/>
            <p:cNvSpPr>
              <a:spLocks noChangeShapeType="1"/>
            </p:cNvSpPr>
            <p:nvPr/>
          </p:nvSpPr>
          <p:spPr bwMode="auto">
            <a:xfrm flipH="1" flipV="1">
              <a:off x="5012" y="1071"/>
              <a:ext cx="317" cy="22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Text Box 2"/>
          <p:cNvSpPr txBox="1">
            <a:spLocks noChangeArrowheads="1"/>
          </p:cNvSpPr>
          <p:nvPr/>
        </p:nvSpPr>
        <p:spPr bwMode="auto">
          <a:xfrm>
            <a:off x="1631950" y="404814"/>
            <a:ext cx="7056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CC"/>
                </a:solidFill>
              </a:rPr>
              <a:t>2. The boundary conditions of ideal dielectric interface</a:t>
            </a:r>
          </a:p>
        </p:txBody>
      </p:sp>
      <p:graphicFrame>
        <p:nvGraphicFramePr>
          <p:cNvPr id="720899" name="Object 3"/>
          <p:cNvGraphicFramePr>
            <a:graphicFrameLocks noChangeAspect="1"/>
          </p:cNvGraphicFramePr>
          <p:nvPr/>
        </p:nvGraphicFramePr>
        <p:xfrm>
          <a:off x="1992314" y="1196975"/>
          <a:ext cx="244792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565" imgH="1040765" progId="Equation.DSMT4">
                  <p:embed/>
                </p:oleObj>
              </mc:Choice>
              <mc:Fallback>
                <p:oleObj name="Equation" r:id="rId2" imgW="1218565" imgH="1040765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1196975"/>
                        <a:ext cx="2447925" cy="21336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901" name="Text Box 5"/>
          <p:cNvSpPr txBox="1">
            <a:spLocks noChangeArrowheads="1"/>
          </p:cNvSpPr>
          <p:nvPr/>
        </p:nvSpPr>
        <p:spPr bwMode="auto">
          <a:xfrm>
            <a:off x="1919288" y="692150"/>
            <a:ext cx="3384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that is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l-GR" altLang="zh-CN" sz="20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ρ</a:t>
            </a:r>
            <a:r>
              <a:rPr lang="en-US" altLang="zh-CN" sz="20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so</a:t>
            </a:r>
            <a:endParaRPr lang="zh-CN" altLang="el-GR" sz="20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" name="Group 6"/>
          <p:cNvGrpSpPr/>
          <p:nvPr/>
        </p:nvGrpSpPr>
        <p:grpSpPr bwMode="auto">
          <a:xfrm>
            <a:off x="4583114" y="1052513"/>
            <a:ext cx="4105275" cy="774700"/>
            <a:chOff x="2607" y="2568"/>
            <a:chExt cx="2813" cy="488"/>
          </a:xfrm>
        </p:grpSpPr>
        <p:grpSp>
          <p:nvGrpSpPr>
            <p:cNvPr id="22565" name="Group 7"/>
            <p:cNvGrpSpPr/>
            <p:nvPr/>
          </p:nvGrpSpPr>
          <p:grpSpPr bwMode="auto">
            <a:xfrm>
              <a:off x="2880" y="2610"/>
              <a:ext cx="2540" cy="446"/>
              <a:chOff x="2880" y="2610"/>
              <a:chExt cx="2540" cy="446"/>
            </a:xfrm>
          </p:grpSpPr>
          <p:sp>
            <p:nvSpPr>
              <p:cNvPr id="22567" name="Text Box 8"/>
              <p:cNvSpPr txBox="1">
                <a:spLocks noChangeArrowheads="1"/>
              </p:cNvSpPr>
              <p:nvPr/>
            </p:nvSpPr>
            <p:spPr bwMode="auto">
              <a:xfrm>
                <a:off x="2880" y="2614"/>
                <a:ext cx="2540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solidFill>
                      <a:srgbClr val="8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The tangential component of       is continuous</a:t>
                </a:r>
              </a:p>
            </p:txBody>
          </p:sp>
          <p:graphicFrame>
            <p:nvGraphicFramePr>
              <p:cNvPr id="22568" name="Object 9"/>
              <p:cNvGraphicFramePr>
                <a:graphicFrameLocks noChangeAspect="1"/>
              </p:cNvGraphicFramePr>
              <p:nvPr/>
            </p:nvGraphicFramePr>
            <p:xfrm>
              <a:off x="4995" y="2610"/>
              <a:ext cx="271" cy="2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03200" imgH="254000" progId="Equation.DSMT4">
                      <p:embed/>
                    </p:oleObj>
                  </mc:Choice>
                  <mc:Fallback>
                    <p:oleObj name="Equation" r:id="rId4" imgW="203200" imgH="254000" progId="Equation.DSMT4">
                      <p:embed/>
                      <p:pic>
                        <p:nvPicPr>
                          <p:cNvPr id="0" name="图片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5" y="2610"/>
                            <a:ext cx="271" cy="2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2566" name="Text Box 10"/>
            <p:cNvSpPr txBox="1">
              <a:spLocks noChangeArrowheads="1"/>
            </p:cNvSpPr>
            <p:nvPr/>
          </p:nvSpPr>
          <p:spPr bwMode="auto">
            <a:xfrm>
              <a:off x="2607" y="2568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4400" b="1">
                  <a:solidFill>
                    <a:srgbClr val="0000CC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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1"/>
          <p:cNvGrpSpPr/>
          <p:nvPr/>
        </p:nvGrpSpPr>
        <p:grpSpPr bwMode="auto">
          <a:xfrm>
            <a:off x="4583113" y="1628776"/>
            <a:ext cx="4176712" cy="790575"/>
            <a:chOff x="2607" y="2905"/>
            <a:chExt cx="2813" cy="498"/>
          </a:xfrm>
        </p:grpSpPr>
        <p:sp>
          <p:nvSpPr>
            <p:cNvPr id="22562" name="Text Box 12"/>
            <p:cNvSpPr txBox="1">
              <a:spLocks noChangeArrowheads="1"/>
            </p:cNvSpPr>
            <p:nvPr/>
          </p:nvSpPr>
          <p:spPr bwMode="auto">
            <a:xfrm>
              <a:off x="2880" y="2961"/>
              <a:ext cx="2540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The tangential component of       is continuous</a:t>
              </a:r>
            </a:p>
          </p:txBody>
        </p:sp>
        <p:graphicFrame>
          <p:nvGraphicFramePr>
            <p:cNvPr id="22563" name="Object 13"/>
            <p:cNvGraphicFramePr>
              <a:graphicFrameLocks noChangeAspect="1"/>
            </p:cNvGraphicFramePr>
            <p:nvPr/>
          </p:nvGraphicFramePr>
          <p:xfrm>
            <a:off x="4995" y="2970"/>
            <a:ext cx="251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90500" imgH="254000" progId="Equation.DSMT4">
                    <p:embed/>
                  </p:oleObj>
                </mc:Choice>
                <mc:Fallback>
                  <p:oleObj name="Equation" r:id="rId6" imgW="190500" imgH="254000" progId="Equation.DSMT4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5" y="2970"/>
                          <a:ext cx="251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4" name="Text Box 14"/>
            <p:cNvSpPr txBox="1">
              <a:spLocks noChangeArrowheads="1"/>
            </p:cNvSpPr>
            <p:nvPr/>
          </p:nvSpPr>
          <p:spPr bwMode="auto">
            <a:xfrm>
              <a:off x="2607" y="2905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4400" b="1">
                  <a:solidFill>
                    <a:srgbClr val="0000CC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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15"/>
          <p:cNvGrpSpPr/>
          <p:nvPr/>
        </p:nvGrpSpPr>
        <p:grpSpPr bwMode="auto">
          <a:xfrm>
            <a:off x="4584700" y="2205038"/>
            <a:ext cx="4319588" cy="800100"/>
            <a:chOff x="2607" y="3268"/>
            <a:chExt cx="2948" cy="504"/>
          </a:xfrm>
        </p:grpSpPr>
        <p:sp>
          <p:nvSpPr>
            <p:cNvPr id="22559" name="Text Box 16"/>
            <p:cNvSpPr txBox="1">
              <a:spLocks noChangeArrowheads="1"/>
            </p:cNvSpPr>
            <p:nvPr/>
          </p:nvSpPr>
          <p:spPr bwMode="auto">
            <a:xfrm>
              <a:off x="3015" y="3330"/>
              <a:ext cx="2540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The tangential component of       is continuous</a:t>
              </a:r>
            </a:p>
          </p:txBody>
        </p:sp>
        <p:graphicFrame>
          <p:nvGraphicFramePr>
            <p:cNvPr id="22560" name="Object 17"/>
            <p:cNvGraphicFramePr>
              <a:graphicFrameLocks noChangeAspect="1"/>
            </p:cNvGraphicFramePr>
            <p:nvPr/>
          </p:nvGraphicFramePr>
          <p:xfrm>
            <a:off x="5130" y="3330"/>
            <a:ext cx="251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0500" imgH="254000" progId="Equation.DSMT4">
                    <p:embed/>
                  </p:oleObj>
                </mc:Choice>
                <mc:Fallback>
                  <p:oleObj name="Equation" r:id="rId8" imgW="190500" imgH="2540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0" y="3330"/>
                          <a:ext cx="251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1" name="Text Box 18"/>
            <p:cNvSpPr txBox="1">
              <a:spLocks noChangeArrowheads="1"/>
            </p:cNvSpPr>
            <p:nvPr/>
          </p:nvSpPr>
          <p:spPr bwMode="auto">
            <a:xfrm>
              <a:off x="2607" y="3268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4400" b="1">
                  <a:solidFill>
                    <a:srgbClr val="0000CC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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19"/>
          <p:cNvGrpSpPr/>
          <p:nvPr/>
        </p:nvGrpSpPr>
        <p:grpSpPr bwMode="auto">
          <a:xfrm>
            <a:off x="4583113" y="2781301"/>
            <a:ext cx="4032250" cy="815975"/>
            <a:chOff x="2607" y="3630"/>
            <a:chExt cx="2813" cy="514"/>
          </a:xfrm>
        </p:grpSpPr>
        <p:sp>
          <p:nvSpPr>
            <p:cNvPr id="22556" name="Text Box 20"/>
            <p:cNvSpPr txBox="1">
              <a:spLocks noChangeArrowheads="1"/>
            </p:cNvSpPr>
            <p:nvPr/>
          </p:nvSpPr>
          <p:spPr bwMode="auto">
            <a:xfrm>
              <a:off x="2880" y="3702"/>
              <a:ext cx="2540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The tangential component of       is continuous</a:t>
              </a:r>
            </a:p>
          </p:txBody>
        </p:sp>
        <p:graphicFrame>
          <p:nvGraphicFramePr>
            <p:cNvPr id="22557" name="Object 21"/>
            <p:cNvGraphicFramePr>
              <a:graphicFrameLocks noChangeAspect="1"/>
            </p:cNvGraphicFramePr>
            <p:nvPr/>
          </p:nvGraphicFramePr>
          <p:xfrm>
            <a:off x="5040" y="3690"/>
            <a:ext cx="293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28600" imgH="254000" progId="Equation.DSMT4">
                    <p:embed/>
                  </p:oleObj>
                </mc:Choice>
                <mc:Fallback>
                  <p:oleObj name="Equation" r:id="rId10" imgW="228600" imgH="254000" progId="Equation.DSMT4">
                    <p:embed/>
                    <p:pic>
                      <p:nvPicPr>
                        <p:cNvPr id="0" name="图片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3690"/>
                          <a:ext cx="293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8" name="Text Box 22"/>
            <p:cNvSpPr txBox="1">
              <a:spLocks noChangeArrowheads="1"/>
            </p:cNvSpPr>
            <p:nvPr/>
          </p:nvSpPr>
          <p:spPr bwMode="auto">
            <a:xfrm>
              <a:off x="2607" y="3630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4400" b="1">
                  <a:solidFill>
                    <a:srgbClr val="0000CC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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8366" name="Text Box 2"/>
          <p:cNvSpPr txBox="1">
            <a:spLocks noChangeArrowheads="1"/>
          </p:cNvSpPr>
          <p:nvPr/>
        </p:nvSpPr>
        <p:spPr bwMode="auto">
          <a:xfrm>
            <a:off x="1703389" y="3573464"/>
            <a:ext cx="8569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CC"/>
                </a:solidFill>
                <a:ea typeface="楷体_GB2312" pitchFamily="49" charset="-122"/>
              </a:rPr>
              <a:t>3. The boundary conditions on the surface of the ideal conductor</a:t>
            </a:r>
            <a:endParaRPr lang="en-US" altLang="zh-CN" sz="2000" b="1">
              <a:solidFill>
                <a:srgbClr val="0000CC"/>
              </a:solidFill>
            </a:endParaRPr>
          </a:p>
        </p:txBody>
      </p:sp>
      <p:graphicFrame>
        <p:nvGraphicFramePr>
          <p:cNvPr id="721923" name="Object 3"/>
          <p:cNvGraphicFramePr>
            <a:graphicFrameLocks noChangeAspect="1"/>
          </p:cNvGraphicFramePr>
          <p:nvPr/>
        </p:nvGraphicFramePr>
        <p:xfrm>
          <a:off x="1919288" y="4076700"/>
          <a:ext cx="1943100" cy="223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12165" imgH="1040765" progId="Equation.DSMT4">
                  <p:embed/>
                </p:oleObj>
              </mc:Choice>
              <mc:Fallback>
                <p:oleObj name="Equation" r:id="rId12" imgW="812165" imgH="1040765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4076700"/>
                        <a:ext cx="1943100" cy="223043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68" name="Rectangle 64"/>
          <p:cNvSpPr>
            <a:spLocks noChangeArrowheads="1"/>
          </p:cNvSpPr>
          <p:nvPr/>
        </p:nvSpPr>
        <p:spPr bwMode="auto">
          <a:xfrm>
            <a:off x="2855913" y="6381751"/>
            <a:ext cx="38211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0000CC"/>
                </a:solidFill>
              </a:rPr>
              <a:t>E</a:t>
            </a:r>
            <a:r>
              <a:rPr lang="en-US" altLang="zh-CN" b="1">
                <a:solidFill>
                  <a:srgbClr val="0000CC"/>
                </a:solidFill>
              </a:rPr>
              <a:t>2</a:t>
            </a:r>
            <a:r>
              <a:rPr lang="zh-CN" altLang="en-US" b="1">
                <a:solidFill>
                  <a:srgbClr val="0000CC"/>
                </a:solidFill>
              </a:rPr>
              <a:t>、</a:t>
            </a:r>
            <a:r>
              <a:rPr lang="en-US" altLang="zh-CN" b="1" i="1">
                <a:solidFill>
                  <a:srgbClr val="0000CC"/>
                </a:solidFill>
              </a:rPr>
              <a:t>D</a:t>
            </a:r>
            <a:r>
              <a:rPr lang="en-US" altLang="zh-CN" b="1">
                <a:solidFill>
                  <a:srgbClr val="0000CC"/>
                </a:solidFill>
              </a:rPr>
              <a:t>2</a:t>
            </a:r>
            <a:r>
              <a:rPr lang="zh-CN" altLang="en-US" b="1">
                <a:solidFill>
                  <a:srgbClr val="0000CC"/>
                </a:solidFill>
              </a:rPr>
              <a:t>、</a:t>
            </a:r>
            <a:r>
              <a:rPr lang="en-US" altLang="zh-CN" b="1" i="1">
                <a:solidFill>
                  <a:srgbClr val="0000CC"/>
                </a:solidFill>
              </a:rPr>
              <a:t>H</a:t>
            </a:r>
            <a:r>
              <a:rPr lang="en-US" altLang="zh-CN" b="1">
                <a:solidFill>
                  <a:srgbClr val="0000CC"/>
                </a:solidFill>
              </a:rPr>
              <a:t>2</a:t>
            </a:r>
            <a:r>
              <a:rPr lang="zh-CN" altLang="en-US" b="1">
                <a:solidFill>
                  <a:srgbClr val="0000CC"/>
                </a:solidFill>
              </a:rPr>
              <a:t>、</a:t>
            </a:r>
            <a:r>
              <a:rPr lang="en-US" altLang="zh-CN" b="1" i="1">
                <a:solidFill>
                  <a:srgbClr val="0000CC"/>
                </a:solidFill>
              </a:rPr>
              <a:t>B</a:t>
            </a:r>
            <a:r>
              <a:rPr lang="en-US" altLang="zh-CN" b="1">
                <a:solidFill>
                  <a:srgbClr val="0000CC"/>
                </a:solidFill>
              </a:rPr>
              <a:t>2 all equal to zero</a:t>
            </a:r>
          </a:p>
        </p:txBody>
      </p:sp>
      <p:grpSp>
        <p:nvGrpSpPr>
          <p:cNvPr id="12" name="Group 16"/>
          <p:cNvGrpSpPr/>
          <p:nvPr/>
        </p:nvGrpSpPr>
        <p:grpSpPr bwMode="auto">
          <a:xfrm>
            <a:off x="3732213" y="3860800"/>
            <a:ext cx="5892800" cy="762000"/>
            <a:chOff x="1391" y="2432"/>
            <a:chExt cx="4369" cy="480"/>
          </a:xfrm>
        </p:grpSpPr>
        <p:sp>
          <p:nvSpPr>
            <p:cNvPr id="22553" name="Text Box 17"/>
            <p:cNvSpPr txBox="1">
              <a:spLocks noChangeArrowheads="1"/>
            </p:cNvSpPr>
            <p:nvPr/>
          </p:nvSpPr>
          <p:spPr bwMode="auto">
            <a:xfrm>
              <a:off x="1746" y="2478"/>
              <a:ext cx="401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The charge density of ideal conductor on the surface is equal to the normal component of</a:t>
              </a:r>
            </a:p>
          </p:txBody>
        </p:sp>
        <p:graphicFrame>
          <p:nvGraphicFramePr>
            <p:cNvPr id="22554" name="Object 18"/>
            <p:cNvGraphicFramePr>
              <a:graphicFrameLocks noChangeAspect="1"/>
            </p:cNvGraphicFramePr>
            <p:nvPr/>
          </p:nvGraphicFramePr>
          <p:xfrm>
            <a:off x="4410" y="2655"/>
            <a:ext cx="227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3200" imgH="254000" progId="Equation.DSMT4">
                    <p:embed/>
                  </p:oleObj>
                </mc:Choice>
                <mc:Fallback>
                  <p:oleObj name="Equation" r:id="rId4" imgW="203200" imgH="254000" progId="Equation.DSMT4">
                    <p:embed/>
                    <p:pic>
                      <p:nvPicPr>
                        <p:cNvPr id="0" name="图片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0" y="2655"/>
                          <a:ext cx="227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5" name="Text Box 19"/>
            <p:cNvSpPr txBox="1">
              <a:spLocks noChangeArrowheads="1"/>
            </p:cNvSpPr>
            <p:nvPr/>
          </p:nvSpPr>
          <p:spPr bwMode="auto">
            <a:xfrm>
              <a:off x="1391" y="2432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4400" b="1">
                  <a:solidFill>
                    <a:srgbClr val="0000CC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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" name="Group 20"/>
          <p:cNvGrpSpPr/>
          <p:nvPr/>
        </p:nvGrpSpPr>
        <p:grpSpPr bwMode="auto">
          <a:xfrm>
            <a:off x="3732213" y="4395788"/>
            <a:ext cx="5243512" cy="762000"/>
            <a:chOff x="1391" y="2769"/>
            <a:chExt cx="3552" cy="480"/>
          </a:xfrm>
        </p:grpSpPr>
        <p:sp>
          <p:nvSpPr>
            <p:cNvPr id="22550" name="Text Box 21"/>
            <p:cNvSpPr txBox="1">
              <a:spLocks noChangeArrowheads="1"/>
            </p:cNvSpPr>
            <p:nvPr/>
          </p:nvSpPr>
          <p:spPr bwMode="auto">
            <a:xfrm>
              <a:off x="1746" y="2840"/>
              <a:ext cx="3197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The normal component of    on the surface of ideal conductor equals zero</a:t>
              </a:r>
            </a:p>
          </p:txBody>
        </p:sp>
        <p:graphicFrame>
          <p:nvGraphicFramePr>
            <p:cNvPr id="22551" name="Object 22"/>
            <p:cNvGraphicFramePr>
              <a:graphicFrameLocks noChangeAspect="1"/>
            </p:cNvGraphicFramePr>
            <p:nvPr/>
          </p:nvGraphicFramePr>
          <p:xfrm>
            <a:off x="3510" y="2880"/>
            <a:ext cx="208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90500" imgH="254000" progId="Equation.DSMT4">
                    <p:embed/>
                  </p:oleObj>
                </mc:Choice>
                <mc:Fallback>
                  <p:oleObj name="Equation" r:id="rId15" imgW="190500" imgH="254000" progId="Equation.DSMT4">
                    <p:embed/>
                    <p:pic>
                      <p:nvPicPr>
                        <p:cNvPr id="0" name="图片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0" y="2880"/>
                          <a:ext cx="208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2" name="Text Box 23"/>
            <p:cNvSpPr txBox="1">
              <a:spLocks noChangeArrowheads="1"/>
            </p:cNvSpPr>
            <p:nvPr/>
          </p:nvSpPr>
          <p:spPr bwMode="auto">
            <a:xfrm>
              <a:off x="1391" y="2769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4400" b="1">
                  <a:solidFill>
                    <a:srgbClr val="0000CC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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" name="Group 24"/>
          <p:cNvGrpSpPr/>
          <p:nvPr/>
        </p:nvGrpSpPr>
        <p:grpSpPr bwMode="auto">
          <a:xfrm>
            <a:off x="3732214" y="4972050"/>
            <a:ext cx="4884737" cy="762000"/>
            <a:chOff x="1391" y="3132"/>
            <a:chExt cx="3552" cy="480"/>
          </a:xfrm>
        </p:grpSpPr>
        <p:sp>
          <p:nvSpPr>
            <p:cNvPr id="22547" name="Text Box 25"/>
            <p:cNvSpPr txBox="1">
              <a:spLocks noChangeArrowheads="1"/>
            </p:cNvSpPr>
            <p:nvPr/>
          </p:nvSpPr>
          <p:spPr bwMode="auto">
            <a:xfrm>
              <a:off x="1746" y="3203"/>
              <a:ext cx="3197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The tangential component of    on the surface of ideal conductor equals zero</a:t>
              </a:r>
            </a:p>
          </p:txBody>
        </p:sp>
        <p:graphicFrame>
          <p:nvGraphicFramePr>
            <p:cNvPr id="22548" name="Object 26"/>
            <p:cNvGraphicFramePr>
              <a:graphicFrameLocks noChangeAspect="1"/>
            </p:cNvGraphicFramePr>
            <p:nvPr/>
          </p:nvGraphicFramePr>
          <p:xfrm>
            <a:off x="3825" y="3195"/>
            <a:ext cx="225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90500" imgH="254000" progId="Equation.DSMT4">
                    <p:embed/>
                  </p:oleObj>
                </mc:Choice>
                <mc:Fallback>
                  <p:oleObj name="Equation" r:id="rId17" imgW="190500" imgH="254000" progId="Equation.DSMT4">
                    <p:embed/>
                    <p:pic>
                      <p:nvPicPr>
                        <p:cNvPr id="0" name="图片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5" y="3195"/>
                          <a:ext cx="225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9" name="Text Box 27"/>
            <p:cNvSpPr txBox="1">
              <a:spLocks noChangeArrowheads="1"/>
            </p:cNvSpPr>
            <p:nvPr/>
          </p:nvSpPr>
          <p:spPr bwMode="auto">
            <a:xfrm>
              <a:off x="1391" y="3132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4400" b="1">
                  <a:solidFill>
                    <a:srgbClr val="0000CC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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" name="Group 28"/>
          <p:cNvGrpSpPr/>
          <p:nvPr/>
        </p:nvGrpSpPr>
        <p:grpSpPr bwMode="auto">
          <a:xfrm>
            <a:off x="3732214" y="5546725"/>
            <a:ext cx="5964237" cy="762000"/>
            <a:chOff x="1391" y="3494"/>
            <a:chExt cx="4369" cy="480"/>
          </a:xfrm>
        </p:grpSpPr>
        <p:sp>
          <p:nvSpPr>
            <p:cNvPr id="22544" name="Text Box 29"/>
            <p:cNvSpPr txBox="1">
              <a:spLocks noChangeArrowheads="1"/>
            </p:cNvSpPr>
            <p:nvPr/>
          </p:nvSpPr>
          <p:spPr bwMode="auto">
            <a:xfrm>
              <a:off x="1746" y="3566"/>
              <a:ext cx="401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The current density of ideal conductor on the surface is equal to the tangential component of</a:t>
              </a:r>
            </a:p>
          </p:txBody>
        </p:sp>
        <p:graphicFrame>
          <p:nvGraphicFramePr>
            <p:cNvPr id="22545" name="Object 30"/>
            <p:cNvGraphicFramePr>
              <a:graphicFrameLocks noChangeAspect="1"/>
            </p:cNvGraphicFramePr>
            <p:nvPr/>
          </p:nvGraphicFramePr>
          <p:xfrm>
            <a:off x="4635" y="3735"/>
            <a:ext cx="24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28600" imgH="254000" progId="Equation.DSMT4">
                    <p:embed/>
                  </p:oleObj>
                </mc:Choice>
                <mc:Fallback>
                  <p:oleObj name="Equation" r:id="rId19" imgW="228600" imgH="254000" progId="Equation.DSMT4">
                    <p:embed/>
                    <p:pic>
                      <p:nvPicPr>
                        <p:cNvPr id="0" name="图片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5" y="3735"/>
                          <a:ext cx="248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6" name="Text Box 31"/>
            <p:cNvSpPr txBox="1">
              <a:spLocks noChangeArrowheads="1"/>
            </p:cNvSpPr>
            <p:nvPr/>
          </p:nvSpPr>
          <p:spPr bwMode="auto">
            <a:xfrm>
              <a:off x="1391" y="3494"/>
              <a:ext cx="48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4400" b="1">
                  <a:solidFill>
                    <a:srgbClr val="0000CC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</a:t>
              </a:r>
              <a:endPara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2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2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2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9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/>
      <p:bldP spid="720901" grpId="0"/>
      <p:bldP spid="98366" grpId="0"/>
      <p:bldP spid="9836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19289" y="260351"/>
            <a:ext cx="8518525" cy="5619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chemeClr val="bg1"/>
                </a:solidFill>
              </a:rPr>
              <a:t>Electromagnetic Field</a:t>
            </a:r>
            <a:endParaRPr lang="zh-CN" altLang="zh-CN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1992313" y="2776538"/>
          <a:ext cx="2520950" cy="281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700" imgH="1841500" progId="Equation.DSMT4">
                  <p:embed/>
                </p:oleObj>
              </mc:Choice>
              <mc:Fallback>
                <p:oleObj name="Equation" r:id="rId2" imgW="1409700" imgH="18415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2776538"/>
                        <a:ext cx="2520950" cy="281305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99FF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2351089" y="5624513"/>
          <a:ext cx="180022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03300" imgH="495300" progId="Equation.3">
                  <p:embed/>
                </p:oleObj>
              </mc:Choice>
              <mc:Fallback>
                <p:oleObj name="公式" r:id="rId4" imgW="1003300" imgH="495300" progId="Equation.3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5624513"/>
                        <a:ext cx="1800225" cy="684212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99FF"/>
                          </a:gs>
                          <a:gs pos="50000">
                            <a:schemeClr val="bg1"/>
                          </a:gs>
                          <a:gs pos="100000">
                            <a:srgbClr val="FF99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1919289" y="1143000"/>
            <a:ext cx="2592387" cy="457200"/>
          </a:xfrm>
          <a:prstGeom prst="rect">
            <a:avLst/>
          </a:prstGeom>
          <a:gradFill rotWithShape="1">
            <a:gsLst>
              <a:gs pos="0">
                <a:srgbClr val="737373"/>
              </a:gs>
              <a:gs pos="50000">
                <a:srgbClr val="F8F8F8"/>
              </a:gs>
              <a:gs pos="100000">
                <a:srgbClr val="73737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Starting point</a:t>
            </a:r>
          </a:p>
        </p:txBody>
      </p:sp>
      <p:sp>
        <p:nvSpPr>
          <p:cNvPr id="23558" name="AutoShape 6"/>
          <p:cNvSpPr>
            <a:spLocks noChangeArrowheads="1"/>
          </p:cNvSpPr>
          <p:nvPr/>
        </p:nvSpPr>
        <p:spPr bwMode="auto">
          <a:xfrm>
            <a:off x="3070226" y="1630364"/>
            <a:ext cx="288925" cy="301625"/>
          </a:xfrm>
          <a:prstGeom prst="downArrow">
            <a:avLst>
              <a:gd name="adj1" fmla="val 50000"/>
              <a:gd name="adj2" fmla="val 26099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1933575" y="1947863"/>
            <a:ext cx="2592388" cy="400050"/>
          </a:xfrm>
          <a:prstGeom prst="rect">
            <a:avLst/>
          </a:prstGeom>
          <a:gradFill rotWithShape="1">
            <a:gsLst>
              <a:gs pos="0">
                <a:srgbClr val="737373"/>
              </a:gs>
              <a:gs pos="50000">
                <a:srgbClr val="F8F8F8"/>
              </a:gs>
              <a:gs pos="100000">
                <a:srgbClr val="73737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Maxwell’s equations</a:t>
            </a:r>
          </a:p>
        </p:txBody>
      </p:sp>
      <p:sp>
        <p:nvSpPr>
          <p:cNvPr id="23560" name="AutoShape 8"/>
          <p:cNvSpPr>
            <a:spLocks noChangeArrowheads="1"/>
          </p:cNvSpPr>
          <p:nvPr/>
        </p:nvSpPr>
        <p:spPr bwMode="auto">
          <a:xfrm>
            <a:off x="3070226" y="2406651"/>
            <a:ext cx="288925" cy="301625"/>
          </a:xfrm>
          <a:prstGeom prst="downArrow">
            <a:avLst>
              <a:gd name="adj1" fmla="val 50000"/>
              <a:gd name="adj2" fmla="val 26099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6442075" y="1096963"/>
            <a:ext cx="2592388" cy="457200"/>
          </a:xfrm>
          <a:prstGeom prst="rect">
            <a:avLst/>
          </a:prstGeom>
          <a:gradFill rotWithShape="1">
            <a:gsLst>
              <a:gs pos="0">
                <a:srgbClr val="737373"/>
              </a:gs>
              <a:gs pos="50000">
                <a:srgbClr val="F8F8F8"/>
              </a:gs>
              <a:gs pos="100000">
                <a:srgbClr val="73737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Conditions</a:t>
            </a:r>
          </a:p>
        </p:txBody>
      </p:sp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5160963" y="1976439"/>
            <a:ext cx="2087562" cy="338137"/>
          </a:xfrm>
          <a:prstGeom prst="rect">
            <a:avLst/>
          </a:prstGeom>
          <a:gradFill rotWithShape="1">
            <a:gsLst>
              <a:gs pos="0">
                <a:srgbClr val="737373"/>
              </a:gs>
              <a:gs pos="50000">
                <a:srgbClr val="F8F8F8"/>
              </a:gs>
              <a:gs pos="100000">
                <a:srgbClr val="73737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Constitutive relations</a:t>
            </a:r>
          </a:p>
        </p:txBody>
      </p:sp>
      <p:sp>
        <p:nvSpPr>
          <p:cNvPr id="23563" name="AutoShape 11"/>
          <p:cNvSpPr>
            <a:spLocks noChangeArrowheads="1"/>
          </p:cNvSpPr>
          <p:nvPr/>
        </p:nvSpPr>
        <p:spPr bwMode="auto">
          <a:xfrm>
            <a:off x="6124576" y="2435226"/>
            <a:ext cx="288925" cy="417513"/>
          </a:xfrm>
          <a:prstGeom prst="downArrow">
            <a:avLst>
              <a:gd name="adj1" fmla="val 50000"/>
              <a:gd name="adj2" fmla="val 36126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7932738" y="1989139"/>
            <a:ext cx="2195512" cy="338137"/>
          </a:xfrm>
          <a:prstGeom prst="rect">
            <a:avLst/>
          </a:prstGeom>
          <a:gradFill rotWithShape="1">
            <a:gsLst>
              <a:gs pos="0">
                <a:srgbClr val="737373"/>
              </a:gs>
              <a:gs pos="50000">
                <a:srgbClr val="F8F8F8"/>
              </a:gs>
              <a:gs pos="100000">
                <a:srgbClr val="73737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Boundary conditions</a:t>
            </a:r>
          </a:p>
        </p:txBody>
      </p:sp>
      <p:sp>
        <p:nvSpPr>
          <p:cNvPr id="23565" name="AutoShape 13"/>
          <p:cNvSpPr>
            <a:spLocks noChangeArrowheads="1"/>
          </p:cNvSpPr>
          <p:nvPr/>
        </p:nvSpPr>
        <p:spPr bwMode="auto">
          <a:xfrm>
            <a:off x="8975726" y="2447926"/>
            <a:ext cx="288925" cy="301625"/>
          </a:xfrm>
          <a:prstGeom prst="downArrow">
            <a:avLst>
              <a:gd name="adj1" fmla="val 50000"/>
              <a:gd name="adj2" fmla="val 26099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3566" name="Line 14"/>
          <p:cNvSpPr>
            <a:spLocks noChangeShapeType="1"/>
          </p:cNvSpPr>
          <p:nvPr/>
        </p:nvSpPr>
        <p:spPr bwMode="auto">
          <a:xfrm>
            <a:off x="7737475" y="1528763"/>
            <a:ext cx="0" cy="215900"/>
          </a:xfrm>
          <a:prstGeom prst="line">
            <a:avLst/>
          </a:prstGeom>
          <a:noFill/>
          <a:ln w="85725">
            <a:solidFill>
              <a:srgbClr val="99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7" name="Line 15"/>
          <p:cNvSpPr>
            <a:spLocks noChangeShapeType="1"/>
          </p:cNvSpPr>
          <p:nvPr/>
        </p:nvSpPr>
        <p:spPr bwMode="auto">
          <a:xfrm>
            <a:off x="6240464" y="1700213"/>
            <a:ext cx="2879725" cy="0"/>
          </a:xfrm>
          <a:prstGeom prst="line">
            <a:avLst/>
          </a:prstGeom>
          <a:noFill/>
          <a:ln w="76200">
            <a:solidFill>
              <a:srgbClr val="99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8" name="AutoShape 16"/>
          <p:cNvSpPr>
            <a:spLocks noChangeArrowheads="1"/>
          </p:cNvSpPr>
          <p:nvPr/>
        </p:nvSpPr>
        <p:spPr bwMode="auto">
          <a:xfrm>
            <a:off x="6124576" y="1673226"/>
            <a:ext cx="288925" cy="301625"/>
          </a:xfrm>
          <a:prstGeom prst="downArrow">
            <a:avLst>
              <a:gd name="adj1" fmla="val 50546"/>
              <a:gd name="adj2" fmla="val 25823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3569" name="AutoShape 17"/>
          <p:cNvSpPr>
            <a:spLocks noChangeArrowheads="1"/>
          </p:cNvSpPr>
          <p:nvPr/>
        </p:nvSpPr>
        <p:spPr bwMode="auto">
          <a:xfrm>
            <a:off x="8975726" y="1671639"/>
            <a:ext cx="288925" cy="301625"/>
          </a:xfrm>
          <a:prstGeom prst="downArrow">
            <a:avLst>
              <a:gd name="adj1" fmla="val 50546"/>
              <a:gd name="adj2" fmla="val 25823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>
              <a:solidFill>
                <a:srgbClr val="FF0000"/>
              </a:solidFill>
              <a:ea typeface="楷体_GB2312" pitchFamily="49" charset="-122"/>
            </a:endParaRPr>
          </a:p>
        </p:txBody>
      </p:sp>
      <p:graphicFrame>
        <p:nvGraphicFramePr>
          <p:cNvPr id="23570" name="Object 18"/>
          <p:cNvGraphicFramePr>
            <a:graphicFrameLocks noGrp="1" noChangeAspect="1"/>
          </p:cNvGraphicFramePr>
          <p:nvPr>
            <p:ph idx="4294967295"/>
          </p:nvPr>
        </p:nvGraphicFramePr>
        <p:xfrm>
          <a:off x="5375275" y="2924175"/>
          <a:ext cx="1728788" cy="186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3100" imgH="1041400" progId="Equation.DSMT4">
                  <p:embed/>
                </p:oleObj>
              </mc:Choice>
              <mc:Fallback>
                <p:oleObj name="Equation" r:id="rId6" imgW="673100" imgH="1041400" progId="Equation.DSMT4">
                  <p:embed/>
                  <p:pic>
                    <p:nvPicPr>
                      <p:cNvPr id="0" name="图片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2924175"/>
                        <a:ext cx="1728788" cy="186848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99FF"/>
                          </a:gs>
                          <a:gs pos="50000">
                            <a:schemeClr val="bg1"/>
                          </a:gs>
                          <a:gs pos="100000">
                            <a:srgbClr val="FF99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1" name="Object 19"/>
          <p:cNvGraphicFramePr>
            <a:graphicFrameLocks noChangeAspect="1"/>
          </p:cNvGraphicFramePr>
          <p:nvPr/>
        </p:nvGraphicFramePr>
        <p:xfrm>
          <a:off x="7837488" y="2781300"/>
          <a:ext cx="2463800" cy="280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3300" imgH="965200" progId="Equation.DSMT4">
                  <p:embed/>
                </p:oleObj>
              </mc:Choice>
              <mc:Fallback>
                <p:oleObj name="Equation" r:id="rId8" imgW="1003300" imgH="965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7488" y="2781300"/>
                        <a:ext cx="2463800" cy="280828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99FF"/>
                          </a:gs>
                          <a:gs pos="50000">
                            <a:srgbClr val="FFFFFF"/>
                          </a:gs>
                          <a:gs pos="100000">
                            <a:srgbClr val="FF99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2" name="Object 20"/>
          <p:cNvGraphicFramePr>
            <a:graphicFrameLocks noChangeAspect="1"/>
          </p:cNvGraphicFramePr>
          <p:nvPr/>
        </p:nvGraphicFramePr>
        <p:xfrm>
          <a:off x="7853363" y="5661025"/>
          <a:ext cx="2449512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95400" imgH="393700" progId="Equation.DSMT4">
                  <p:embed/>
                </p:oleObj>
              </mc:Choice>
              <mc:Fallback>
                <p:oleObj name="Equation" r:id="rId10" imgW="1295400" imgH="3937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3363" y="5661025"/>
                        <a:ext cx="2449512" cy="738188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99FF"/>
                          </a:gs>
                          <a:gs pos="50000">
                            <a:srgbClr val="FFFFFF"/>
                          </a:gs>
                          <a:gs pos="100000">
                            <a:srgbClr val="FF99FF"/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427" name="Object 9"/>
          <p:cNvGraphicFramePr>
            <a:graphicFrameLocks noChangeAspect="1"/>
          </p:cNvGraphicFramePr>
          <p:nvPr/>
        </p:nvGraphicFramePr>
        <p:xfrm>
          <a:off x="6692858" y="4030376"/>
          <a:ext cx="3902117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500" imgH="533400" progId="Equation.DSMT4">
                  <p:embed/>
                </p:oleObj>
              </mc:Choice>
              <mc:Fallback>
                <p:oleObj name="Equation" r:id="rId2" imgW="1968500" imgH="5334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858" y="4030376"/>
                        <a:ext cx="3902117" cy="10922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solidFill>
                          <a:schemeClr val="accent1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8" name="Object 10"/>
          <p:cNvGraphicFramePr>
            <a:graphicFrameLocks noChangeAspect="1"/>
          </p:cNvGraphicFramePr>
          <p:nvPr/>
        </p:nvGraphicFramePr>
        <p:xfrm>
          <a:off x="2855913" y="5373689"/>
          <a:ext cx="389255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00300" imgH="533400" progId="Equation.DSMT4">
                  <p:embed/>
                </p:oleObj>
              </mc:Choice>
              <mc:Fallback>
                <p:oleObj name="Equation" r:id="rId4" imgW="2400300" imgH="5334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5373689"/>
                        <a:ext cx="3892550" cy="89693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29" name="Object 11"/>
          <p:cNvGraphicFramePr>
            <a:graphicFrameLocks noChangeAspect="1"/>
          </p:cNvGraphicFramePr>
          <p:nvPr/>
        </p:nvGraphicFramePr>
        <p:xfrm>
          <a:off x="5716588" y="2528888"/>
          <a:ext cx="4878387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778400" imgH="10363200" progId="Equation.DSMT4">
                  <p:embed/>
                </p:oleObj>
              </mc:Choice>
              <mc:Fallback>
                <p:oleObj name="Equation" r:id="rId6" imgW="55778400" imgH="10363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6588" y="2528888"/>
                        <a:ext cx="4878387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0" name="Object 19"/>
          <p:cNvGraphicFramePr>
            <a:graphicFrameLocks noChangeAspect="1"/>
          </p:cNvGraphicFramePr>
          <p:nvPr/>
        </p:nvGraphicFramePr>
        <p:xfrm>
          <a:off x="6167438" y="1196975"/>
          <a:ext cx="4381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74900" imgH="533400" progId="Equation.DSMT4">
                  <p:embed/>
                </p:oleObj>
              </mc:Choice>
              <mc:Fallback>
                <p:oleObj name="Equation" r:id="rId8" imgW="2374900" imgH="533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8" y="1196975"/>
                        <a:ext cx="4381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31" name="Object 32"/>
          <p:cNvGraphicFramePr>
            <a:graphicFrameLocks noChangeAspect="1"/>
          </p:cNvGraphicFramePr>
          <p:nvPr/>
        </p:nvGraphicFramePr>
        <p:xfrm>
          <a:off x="2279651" y="1196976"/>
          <a:ext cx="2593975" cy="343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98600" imgH="2044700" progId="Equation.DSMT4">
                  <p:embed/>
                </p:oleObj>
              </mc:Choice>
              <mc:Fallback>
                <p:oleObj name="Equation" r:id="rId10" imgW="1498600" imgH="20447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1196976"/>
                        <a:ext cx="2593975" cy="343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1538" name="Text Box 34"/>
          <p:cNvSpPr txBox="1">
            <a:spLocks noChangeArrowheads="1"/>
          </p:cNvSpPr>
          <p:nvPr/>
        </p:nvSpPr>
        <p:spPr bwMode="auto">
          <a:xfrm>
            <a:off x="1992314" y="4797425"/>
            <a:ext cx="4860925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ea typeface="楷体_GB2312" pitchFamily="49" charset="-122"/>
              </a:rPr>
              <a:t>Similarly , we can get that</a:t>
            </a:r>
          </a:p>
        </p:txBody>
      </p:sp>
      <p:sp>
        <p:nvSpPr>
          <p:cNvPr id="661541" name="AutoShape 37"/>
          <p:cNvSpPr>
            <a:spLocks noChangeArrowheads="1"/>
          </p:cNvSpPr>
          <p:nvPr/>
        </p:nvSpPr>
        <p:spPr bwMode="auto">
          <a:xfrm>
            <a:off x="5087939" y="1557338"/>
            <a:ext cx="841375" cy="215900"/>
          </a:xfrm>
          <a:prstGeom prst="rightArrow">
            <a:avLst>
              <a:gd name="adj1" fmla="val 50000"/>
              <a:gd name="adj2" fmla="val 97426"/>
            </a:avLst>
          </a:prstGeom>
          <a:noFill/>
          <a:ln w="22225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03435" name="AutoShape 38"/>
          <p:cNvSpPr>
            <a:spLocks noChangeArrowheads="1"/>
          </p:cNvSpPr>
          <p:nvPr/>
        </p:nvSpPr>
        <p:spPr bwMode="auto">
          <a:xfrm rot="5400000">
            <a:off x="7823201" y="2133601"/>
            <a:ext cx="539750" cy="250825"/>
          </a:xfrm>
          <a:prstGeom prst="rightArrow">
            <a:avLst>
              <a:gd name="adj1" fmla="val 50000"/>
              <a:gd name="adj2" fmla="val 53797"/>
            </a:avLst>
          </a:prstGeom>
          <a:noFill/>
          <a:ln w="22225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03436" name="AutoShape 39"/>
          <p:cNvSpPr>
            <a:spLocks noChangeArrowheads="1"/>
          </p:cNvSpPr>
          <p:nvPr/>
        </p:nvSpPr>
        <p:spPr bwMode="auto">
          <a:xfrm rot="5400000">
            <a:off x="7896226" y="3644901"/>
            <a:ext cx="539750" cy="250825"/>
          </a:xfrm>
          <a:prstGeom prst="rightArrow">
            <a:avLst>
              <a:gd name="adj1" fmla="val 50000"/>
              <a:gd name="adj2" fmla="val 53797"/>
            </a:avLst>
          </a:prstGeom>
          <a:noFill/>
          <a:ln w="22225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03437" name="Rectangle 13"/>
          <p:cNvSpPr>
            <a:spLocks noRot="1" noChangeArrowheads="1"/>
          </p:cNvSpPr>
          <p:nvPr/>
        </p:nvSpPr>
        <p:spPr bwMode="auto">
          <a:xfrm>
            <a:off x="2063750" y="260351"/>
            <a:ext cx="8066088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7.4   Wave Equations</a:t>
            </a:r>
          </a:p>
        </p:txBody>
      </p:sp>
      <p:pic>
        <p:nvPicPr>
          <p:cNvPr id="24588" name="Picture 14" descr="BD05546_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288" y="5273676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6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38" grpId="0"/>
      <p:bldP spid="661541" grpId="0" animBg="1"/>
      <p:bldP spid="103435" grpId="0" animBg="1"/>
      <p:bldP spid="1034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0" name="Text Box 41"/>
          <p:cNvSpPr txBox="1">
            <a:spLocks noChangeArrowheads="1"/>
          </p:cNvSpPr>
          <p:nvPr/>
        </p:nvSpPr>
        <p:spPr bwMode="auto">
          <a:xfrm>
            <a:off x="1703388" y="4652963"/>
            <a:ext cx="6591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sz="24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0000CC"/>
                </a:solidFill>
                <a:ea typeface="楷体_GB2312" pitchFamily="49" charset="-122"/>
              </a:rPr>
              <a:t>Wave equation of source-free region</a:t>
            </a:r>
            <a:endParaRPr kumimoji="1" lang="en-US" altLang="zh-CN" sz="2400" b="1">
              <a:solidFill>
                <a:srgbClr val="0000CC"/>
              </a:solidFill>
              <a:ea typeface="楷体_GB2312" pitchFamily="49" charset="-122"/>
            </a:endParaRPr>
          </a:p>
        </p:txBody>
      </p:sp>
      <p:grpSp>
        <p:nvGrpSpPr>
          <p:cNvPr id="566320" name="Group 48"/>
          <p:cNvGrpSpPr/>
          <p:nvPr/>
        </p:nvGrpSpPr>
        <p:grpSpPr bwMode="auto">
          <a:xfrm>
            <a:off x="2068513" y="1333501"/>
            <a:ext cx="8640763" cy="469900"/>
            <a:chOff x="298" y="1792"/>
            <a:chExt cx="5443" cy="296"/>
          </a:xfrm>
        </p:grpSpPr>
        <p:sp>
          <p:nvSpPr>
            <p:cNvPr id="25610" name="AutoShape 36"/>
            <p:cNvSpPr>
              <a:spLocks noChangeArrowheads="1"/>
            </p:cNvSpPr>
            <p:nvPr/>
          </p:nvSpPr>
          <p:spPr bwMode="auto">
            <a:xfrm>
              <a:off x="2278" y="1881"/>
              <a:ext cx="544" cy="136"/>
            </a:xfrm>
            <a:prstGeom prst="rightArrow">
              <a:avLst>
                <a:gd name="adj1" fmla="val 50000"/>
                <a:gd name="adj2" fmla="val 100000"/>
              </a:avLst>
            </a:prstGeom>
            <a:noFill/>
            <a:ln w="22225">
              <a:solidFill>
                <a:srgbClr val="FF66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endParaRPr lang="zh-CN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25611" name="Text Box 44"/>
            <p:cNvSpPr txBox="1">
              <a:spLocks noChangeArrowheads="1"/>
            </p:cNvSpPr>
            <p:nvPr/>
          </p:nvSpPr>
          <p:spPr bwMode="auto">
            <a:xfrm>
              <a:off x="298" y="1792"/>
              <a:ext cx="5443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buClrTx/>
                <a:buSzTx/>
                <a:buFontTx/>
                <a:buBlip>
                  <a:blip r:embed="rId3"/>
                </a:buBlip>
              </a:pPr>
              <a:r>
                <a:rPr lang="en-US" altLang="zh-CN" sz="2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Maxwell’s equations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    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Wave equations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:</a:t>
              </a:r>
            </a:p>
          </p:txBody>
        </p:sp>
      </p:grpSp>
      <p:sp>
        <p:nvSpPr>
          <p:cNvPr id="101384" name="Text Box 45"/>
          <p:cNvSpPr txBox="1">
            <a:spLocks noChangeArrowheads="1"/>
          </p:cNvSpPr>
          <p:nvPr/>
        </p:nvSpPr>
        <p:spPr bwMode="auto">
          <a:xfrm>
            <a:off x="1703388" y="620713"/>
            <a:ext cx="90061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sz="2400" b="1" dirty="0">
                <a:solidFill>
                  <a:srgbClr val="0000CC"/>
                </a:solidFill>
                <a:ea typeface="幼圆" panose="02010509060101010101" pitchFamily="49" charset="-122"/>
              </a:rPr>
              <a:t> </a:t>
            </a:r>
            <a:r>
              <a:rPr lang="en-US" altLang="zh-CN" sz="2800" b="1" dirty="0">
                <a:solidFill>
                  <a:srgbClr val="0000CC"/>
                </a:solidFill>
                <a:ea typeface="幼圆" panose="02010509060101010101" pitchFamily="49" charset="-122"/>
              </a:rPr>
              <a:t>Equations of electric field and magnetic field</a:t>
            </a:r>
            <a:endParaRPr kumimoji="1" lang="en-US" altLang="zh-CN" sz="2800" b="1" dirty="0">
              <a:solidFill>
                <a:srgbClr val="0000CC"/>
              </a:solidFill>
              <a:ea typeface="楷体_GB2312" pitchFamily="49" charset="-122"/>
            </a:endParaRPr>
          </a:p>
        </p:txBody>
      </p:sp>
      <p:graphicFrame>
        <p:nvGraphicFramePr>
          <p:cNvPr id="101385" name="Object 46"/>
          <p:cNvGraphicFramePr>
            <a:graphicFrameLocks noChangeAspect="1"/>
          </p:cNvGraphicFramePr>
          <p:nvPr/>
        </p:nvGraphicFramePr>
        <p:xfrm>
          <a:off x="3071813" y="2924175"/>
          <a:ext cx="30861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500" imgH="533400" progId="Equation.DSMT4">
                  <p:embed/>
                </p:oleObj>
              </mc:Choice>
              <mc:Fallback>
                <p:oleObj name="Equation" r:id="rId4" imgW="1968500" imgH="5334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924175"/>
                        <a:ext cx="3086100" cy="8636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6" name="Object 47"/>
          <p:cNvGraphicFramePr>
            <a:graphicFrameLocks noChangeAspect="1"/>
          </p:cNvGraphicFramePr>
          <p:nvPr/>
        </p:nvGraphicFramePr>
        <p:xfrm>
          <a:off x="3071813" y="1844675"/>
          <a:ext cx="37401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00300" imgH="533400" progId="Equation.DSMT4">
                  <p:embed/>
                </p:oleObj>
              </mc:Choice>
              <mc:Fallback>
                <p:oleObj name="Equation" r:id="rId6" imgW="2400300" imgH="5334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1844675"/>
                        <a:ext cx="3740150" cy="8636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7" name="Object 5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855913" y="5157788"/>
          <a:ext cx="273526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85900" imgH="533400" progId="Equation.DSMT4">
                  <p:embed/>
                </p:oleObj>
              </mc:Choice>
              <mc:Fallback>
                <p:oleObj name="Equation" r:id="rId8" imgW="1485900" imgH="533400" progId="Equation.DSMT4">
                  <p:embed/>
                  <p:pic>
                    <p:nvPicPr>
                      <p:cNvPr id="0" name="图片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5157788"/>
                        <a:ext cx="2735262" cy="101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8" name="Object 5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672264" y="5157789"/>
          <a:ext cx="2859087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62100" imgH="533400" progId="Equation.DSMT4">
                  <p:embed/>
                </p:oleObj>
              </mc:Choice>
              <mc:Fallback>
                <p:oleObj name="Equation" r:id="rId10" imgW="1562100" imgH="533400" progId="Equation.DSMT4">
                  <p:embed/>
                  <p:pic>
                    <p:nvPicPr>
                      <p:cNvPr id="0" name="图片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5157789"/>
                        <a:ext cx="2859087" cy="10048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9" name="Text Box 59"/>
          <p:cNvSpPr txBox="1">
            <a:spLocks noChangeArrowheads="1"/>
          </p:cNvSpPr>
          <p:nvPr/>
        </p:nvSpPr>
        <p:spPr bwMode="auto">
          <a:xfrm>
            <a:off x="1919288" y="3860800"/>
            <a:ext cx="8789988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ClrTx/>
              <a:buSzTx/>
              <a:buFontTx/>
              <a:buBlip>
                <a:blip r:embed="rId3"/>
              </a:buBlip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Time-varying electric field and magnetic field exist in the form of waves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6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/>
      <p:bldP spid="101384" grpId="0"/>
      <p:bldP spid="10138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AutoShape 2"/>
          <p:cNvSpPr>
            <a:spLocks noChangeArrowheads="1"/>
          </p:cNvSpPr>
          <p:nvPr/>
        </p:nvSpPr>
        <p:spPr bwMode="auto">
          <a:xfrm>
            <a:off x="4295776" y="333375"/>
            <a:ext cx="6372225" cy="4967288"/>
          </a:xfrm>
          <a:prstGeom prst="cloudCallout">
            <a:avLst>
              <a:gd name="adj1" fmla="val -62657"/>
              <a:gd name="adj2" fmla="val 17787"/>
            </a:avLst>
          </a:prstGeom>
          <a:solidFill>
            <a:schemeClr val="bg1"/>
          </a:solidFill>
          <a:ln w="57150">
            <a:solidFill>
              <a:srgbClr val="FFFF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ea typeface="黑体" panose="02010609060101010101" pitchFamily="49" charset="-122"/>
              </a:rPr>
              <a:t>Face the problems :</a:t>
            </a:r>
            <a:endParaRPr lang="en-US" altLang="zh-CN" sz="2400" b="1">
              <a:solidFill>
                <a:srgbClr val="000000"/>
              </a:solidFill>
              <a:ea typeface="楷体_GB2312" pitchFamily="49" charset="-122"/>
            </a:endParaRPr>
          </a:p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Single medium environment!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Solution of wave equations!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ea typeface="黑体" panose="02010609060101010101" pitchFamily="49" charset="-122"/>
              </a:rPr>
              <a:t>Analysis methods</a:t>
            </a:r>
            <a:r>
              <a:rPr lang="zh-CN" altLang="en-US" sz="2400" b="1">
                <a:solidFill>
                  <a:srgbClr val="000000"/>
                </a:solidFill>
                <a:ea typeface="黑体" panose="02010609060101010101" pitchFamily="49" charset="-122"/>
              </a:rPr>
              <a:t>：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Make full use the characteristics of time varying electromagnetic field.</a:t>
            </a: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26627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1524000" y="3825876"/>
          <a:ext cx="3132138" cy="259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剪辑" r:id="rId2" imgW="4046855" imgH="3352800" progId="MS_ClipArt_Gallery.2">
                  <p:embed/>
                </p:oleObj>
              </mc:Choice>
              <mc:Fallback>
                <p:oleObj name="剪辑" r:id="rId2" imgW="4046855" imgH="3352800" progId="MS_ClipArt_Gallery.2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825876"/>
                        <a:ext cx="3132138" cy="259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5"/>
          <p:cNvSpPr>
            <a:spLocks noChangeArrowheads="1"/>
          </p:cNvSpPr>
          <p:nvPr/>
        </p:nvSpPr>
        <p:spPr bwMode="auto">
          <a:xfrm>
            <a:off x="443345" y="981076"/>
            <a:ext cx="11748655" cy="4176713"/>
          </a:xfrm>
          <a:prstGeom prst="ribbon2">
            <a:avLst>
              <a:gd name="adj1" fmla="val 12500"/>
              <a:gd name="adj2" fmla="val 50000"/>
            </a:avLst>
          </a:prstGeom>
          <a:solidFill>
            <a:srgbClr val="CCCCFF"/>
          </a:solidFill>
          <a:ln w="9525">
            <a:solidFill>
              <a:srgbClr val="8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Questions</a:t>
            </a:r>
            <a:r>
              <a:rPr lang="zh-CN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：</a:t>
            </a:r>
          </a:p>
          <a:p>
            <a:pPr eaLnBrk="1" hangingPunct="1">
              <a:buClrTx/>
              <a:buSzTx/>
              <a:buFontTx/>
              <a:buNone/>
            </a:pPr>
            <a:endParaRPr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pPr eaLnBrk="1" hangingPunct="1"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In the electrostatic field analysis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how to find its characteristics?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How about in the static magnetic field?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In the time-varying electromagnetic field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    analysis, will it play the same role?</a:t>
            </a:r>
            <a:endParaRPr lang="zh-CN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ChangeArrowheads="1"/>
          </p:cNvSpPr>
          <p:nvPr/>
        </p:nvSpPr>
        <p:spPr bwMode="auto">
          <a:xfrm>
            <a:off x="6003925" y="-2286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6003925" y="-2286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28676" name="Rectangle 5"/>
          <p:cNvSpPr>
            <a:spLocks noChangeArrowheads="1"/>
          </p:cNvSpPr>
          <p:nvPr/>
        </p:nvSpPr>
        <p:spPr bwMode="auto">
          <a:xfrm>
            <a:off x="6003925" y="-2286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28677" name="Text Box 23"/>
          <p:cNvSpPr txBox="1">
            <a:spLocks noChangeArrowheads="1"/>
          </p:cNvSpPr>
          <p:nvPr/>
        </p:nvSpPr>
        <p:spPr bwMode="auto">
          <a:xfrm>
            <a:off x="1919289" y="1557339"/>
            <a:ext cx="46815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sz="2400" b="1">
                <a:solidFill>
                  <a:srgbClr val="0000CC"/>
                </a:solidFill>
                <a:ea typeface="楷体_GB2312" pitchFamily="49" charset="-122"/>
              </a:rPr>
              <a:t>The introduction of potential functions</a:t>
            </a:r>
            <a:endParaRPr lang="en-US" altLang="zh-CN" sz="24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grpSp>
        <p:nvGrpSpPr>
          <p:cNvPr id="714776" name="Group 24"/>
          <p:cNvGrpSpPr/>
          <p:nvPr/>
        </p:nvGrpSpPr>
        <p:grpSpPr bwMode="auto">
          <a:xfrm>
            <a:off x="4084638" y="3052762"/>
            <a:ext cx="3194049" cy="989013"/>
            <a:chOff x="1568" y="2603"/>
            <a:chExt cx="2012" cy="623"/>
          </a:xfrm>
        </p:grpSpPr>
        <p:sp>
          <p:nvSpPr>
            <p:cNvPr id="28692" name="AutoShape 25"/>
            <p:cNvSpPr>
              <a:spLocks noChangeArrowheads="1"/>
            </p:cNvSpPr>
            <p:nvPr/>
          </p:nvSpPr>
          <p:spPr bwMode="auto">
            <a:xfrm flipH="1">
              <a:off x="1568" y="2853"/>
              <a:ext cx="544" cy="182"/>
            </a:xfrm>
            <a:prstGeom prst="leftArrow">
              <a:avLst>
                <a:gd name="adj1" fmla="val 50000"/>
                <a:gd name="adj2" fmla="val 74725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endParaRPr lang="zh-CN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graphicFrame>
          <p:nvGraphicFramePr>
            <p:cNvPr id="28693" name="Object 26"/>
            <p:cNvGraphicFramePr>
              <a:graphicFrameLocks noChangeAspect="1"/>
            </p:cNvGraphicFramePr>
            <p:nvPr/>
          </p:nvGraphicFramePr>
          <p:xfrm>
            <a:off x="2151" y="2603"/>
            <a:ext cx="1429" cy="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4688800" imgH="10363200" progId="Equation.DSMT4">
                    <p:embed/>
                  </p:oleObj>
                </mc:Choice>
                <mc:Fallback>
                  <p:oleObj name="Equation" r:id="rId3" imgW="24688800" imgH="10363200" progId="Equation.DSMT4">
                    <p:embed/>
                    <p:pic>
                      <p:nvPicPr>
                        <p:cNvPr id="0" name="图片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1" y="2603"/>
                          <a:ext cx="1429" cy="6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33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6507" name="Object 27"/>
          <p:cNvGraphicFramePr>
            <a:graphicFrameLocks noChangeAspect="1"/>
          </p:cNvGraphicFramePr>
          <p:nvPr/>
        </p:nvGraphicFramePr>
        <p:xfrm>
          <a:off x="2206625" y="2276476"/>
          <a:ext cx="12969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723900" imgH="266700" progId="Equation.3">
                  <p:embed/>
                </p:oleObj>
              </mc:Choice>
              <mc:Fallback>
                <p:oleObj name="公式" r:id="rId5" imgW="723900" imgH="266700" progId="Equation.3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2276476"/>
                        <a:ext cx="12969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4780" name="Group 28"/>
          <p:cNvGrpSpPr/>
          <p:nvPr/>
        </p:nvGrpSpPr>
        <p:grpSpPr bwMode="auto">
          <a:xfrm>
            <a:off x="3935413" y="2241554"/>
            <a:ext cx="2652712" cy="576263"/>
            <a:chOff x="1474" y="2092"/>
            <a:chExt cx="1671" cy="363"/>
          </a:xfrm>
        </p:grpSpPr>
        <p:graphicFrame>
          <p:nvGraphicFramePr>
            <p:cNvPr id="28690" name="Object 29"/>
            <p:cNvGraphicFramePr>
              <a:graphicFrameLocks noChangeAspect="1"/>
            </p:cNvGraphicFramePr>
            <p:nvPr/>
          </p:nvGraphicFramePr>
          <p:xfrm>
            <a:off x="2187" y="2092"/>
            <a:ext cx="958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240000" imgH="5486400" progId="Equation.DSMT4">
                    <p:embed/>
                  </p:oleObj>
                </mc:Choice>
                <mc:Fallback>
                  <p:oleObj name="Equation" r:id="rId7" imgW="15240000" imgH="5486400" progId="Equation.DSMT4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7" y="2092"/>
                          <a:ext cx="958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1" name="AutoShape 30"/>
            <p:cNvSpPr>
              <a:spLocks noChangeArrowheads="1"/>
            </p:cNvSpPr>
            <p:nvPr/>
          </p:nvSpPr>
          <p:spPr bwMode="auto">
            <a:xfrm flipH="1">
              <a:off x="1474" y="2205"/>
              <a:ext cx="544" cy="182"/>
            </a:xfrm>
            <a:prstGeom prst="leftArrow">
              <a:avLst>
                <a:gd name="adj1" fmla="val 50000"/>
                <a:gd name="adj2" fmla="val 74725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endParaRPr lang="zh-CN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graphicFrame>
        <p:nvGraphicFramePr>
          <p:cNvPr id="106511" name="Object 31"/>
          <p:cNvGraphicFramePr>
            <a:graphicFrameLocks noChangeAspect="1"/>
          </p:cNvGraphicFramePr>
          <p:nvPr/>
        </p:nvGraphicFramePr>
        <p:xfrm>
          <a:off x="2206625" y="3052763"/>
          <a:ext cx="1828800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812000" imgH="10363200" progId="Equation.DSMT4">
                  <p:embed/>
                </p:oleObj>
              </mc:Choice>
              <mc:Fallback>
                <p:oleObj name="Equation" r:id="rId9" imgW="19812000" imgH="10363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3052763"/>
                        <a:ext cx="1828800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33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2" name="Object 33"/>
          <p:cNvGraphicFramePr>
            <a:graphicFrameLocks noChangeAspect="1"/>
          </p:cNvGraphicFramePr>
          <p:nvPr/>
        </p:nvGraphicFramePr>
        <p:xfrm>
          <a:off x="8394700" y="3127375"/>
          <a:ext cx="196056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250400" imgH="10363200" progId="Equation.DSMT4">
                  <p:embed/>
                </p:oleObj>
              </mc:Choice>
              <mc:Fallback>
                <p:oleObj name="Equation" r:id="rId11" imgW="22250400" imgH="103632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700" y="3127375"/>
                        <a:ext cx="196056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0C0C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4786" name="AutoShape 34"/>
          <p:cNvSpPr>
            <a:spLocks noChangeArrowheads="1"/>
          </p:cNvSpPr>
          <p:nvPr/>
        </p:nvSpPr>
        <p:spPr bwMode="auto">
          <a:xfrm flipH="1">
            <a:off x="7396163" y="3448051"/>
            <a:ext cx="792162" cy="288925"/>
          </a:xfrm>
          <a:prstGeom prst="leftArrow">
            <a:avLst>
              <a:gd name="adj1" fmla="val 50000"/>
              <a:gd name="adj2" fmla="val 68544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714787" name="Text Box 35"/>
          <p:cNvSpPr txBox="1">
            <a:spLocks noChangeArrowheads="1"/>
          </p:cNvSpPr>
          <p:nvPr/>
        </p:nvSpPr>
        <p:spPr bwMode="auto">
          <a:xfrm>
            <a:off x="2063750" y="4005264"/>
            <a:ext cx="61928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sz="2000" b="1">
                <a:solidFill>
                  <a:srgbClr val="0000CC"/>
                </a:solidFill>
                <a:ea typeface="楷体_GB2312" pitchFamily="49" charset="-122"/>
              </a:rPr>
              <a:t>Calculation of electromagnetic field by means of potential function</a:t>
            </a:r>
            <a:endParaRPr lang="en-US" altLang="zh-CN" sz="20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  <a:cs typeface="Arial" panose="020B0604020202020204" pitchFamily="34" charset="0"/>
            </a:endParaRPr>
          </a:p>
        </p:txBody>
      </p:sp>
      <p:graphicFrame>
        <p:nvGraphicFramePr>
          <p:cNvPr id="106515" name="Object 36"/>
          <p:cNvGraphicFramePr>
            <a:graphicFrameLocks noGrp="1" noChangeAspect="1"/>
          </p:cNvGraphicFramePr>
          <p:nvPr>
            <p:ph idx="4294967295"/>
          </p:nvPr>
        </p:nvGraphicFramePr>
        <p:xfrm>
          <a:off x="2522538" y="5368872"/>
          <a:ext cx="1994044" cy="916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2555200" imgH="10363200" progId="Equation.DSMT4">
                  <p:embed/>
                </p:oleObj>
              </mc:Choice>
              <mc:Fallback>
                <p:oleObj name="Equation" r:id="rId13" imgW="22555200" imgH="10363200" progId="Equation.DSMT4">
                  <p:embed/>
                  <p:pic>
                    <p:nvPicPr>
                      <p:cNvPr id="0" name="图片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2538" y="5368872"/>
                        <a:ext cx="1994044" cy="916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6" name="Object 39"/>
          <p:cNvGraphicFramePr>
            <a:graphicFrameLocks noChangeAspect="1"/>
          </p:cNvGraphicFramePr>
          <p:nvPr/>
        </p:nvGraphicFramePr>
        <p:xfrm>
          <a:off x="2476500" y="4762500"/>
          <a:ext cx="15208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240000" imgH="5486400" progId="Equation.DSMT4">
                  <p:embed/>
                </p:oleObj>
              </mc:Choice>
              <mc:Fallback>
                <p:oleObj name="Equation" r:id="rId15" imgW="15240000" imgH="54864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4762500"/>
                        <a:ext cx="15208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4795" name="AutoShape 43"/>
          <p:cNvSpPr>
            <a:spLocks noChangeArrowheads="1"/>
          </p:cNvSpPr>
          <p:nvPr/>
        </p:nvSpPr>
        <p:spPr bwMode="auto">
          <a:xfrm>
            <a:off x="5067300" y="4202115"/>
            <a:ext cx="5545137" cy="1728787"/>
          </a:xfrm>
          <a:prstGeom prst="cloudCallout">
            <a:avLst>
              <a:gd name="adj1" fmla="val -32162"/>
              <a:gd name="adj2" fmla="val 870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仿宋_GB2312" pitchFamily="49" charset="-122"/>
                <a:cs typeface="Arial" panose="020B0604020202020204" pitchFamily="34" charset="0"/>
              </a:rPr>
              <a:t>Questions</a:t>
            </a:r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仿宋_GB2312" pitchFamily="49" charset="-122"/>
                <a:cs typeface="Arial" panose="020B0604020202020204" pitchFamily="34" charset="0"/>
              </a:rPr>
              <a:t>：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仿宋_GB2312" pitchFamily="49" charset="-122"/>
                <a:cs typeface="Arial" panose="020B0604020202020204" pitchFamily="34" charset="0"/>
              </a:rPr>
              <a:t>How to calculation a potential functions </a:t>
            </a:r>
            <a:r>
              <a:rPr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ea typeface="仿宋_GB2312" pitchFamily="49" charset="-122"/>
                <a:cs typeface="Arial" panose="020B0604020202020204" pitchFamily="34" charset="0"/>
              </a:rPr>
              <a:t>？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cs typeface="Arial" panose="020B0604020202020204" pitchFamily="34" charset="0"/>
              </a:rPr>
              <a:t>Is it beneficial to calculate the electromagnetic field by means of potential functions?</a:t>
            </a:r>
          </a:p>
        </p:txBody>
      </p:sp>
      <p:sp>
        <p:nvSpPr>
          <p:cNvPr id="714796" name="AutoShape 44"/>
          <p:cNvSpPr>
            <a:spLocks noChangeArrowheads="1"/>
          </p:cNvSpPr>
          <p:nvPr/>
        </p:nvSpPr>
        <p:spPr bwMode="auto">
          <a:xfrm>
            <a:off x="7278687" y="1437028"/>
            <a:ext cx="4543473" cy="1008063"/>
          </a:xfrm>
          <a:prstGeom prst="wedgeRoundRectCallout">
            <a:avLst>
              <a:gd name="adj1" fmla="val -47593"/>
              <a:gd name="adj2" fmla="val 86537"/>
              <a:gd name="adj3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Characteristic</a:t>
            </a:r>
          </a:p>
          <a:p>
            <a:pPr algn="ctr" eaLnBrk="1" hangingPunct="1"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The divergence of the magnetic vector potential can be </a:t>
            </a: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arbitrary</a:t>
            </a: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!</a:t>
            </a:r>
          </a:p>
        </p:txBody>
      </p:sp>
      <p:sp>
        <p:nvSpPr>
          <p:cNvPr id="106519" name="Rectangle 23"/>
          <p:cNvSpPr>
            <a:spLocks noRot="1" noChangeArrowheads="1"/>
          </p:cNvSpPr>
          <p:nvPr/>
        </p:nvSpPr>
        <p:spPr bwMode="auto">
          <a:xfrm>
            <a:off x="2063750" y="260351"/>
            <a:ext cx="8066088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7.5   Potential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4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6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14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1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14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786" grpId="0" animBg="1"/>
      <p:bldP spid="714787" grpId="0"/>
      <p:bldP spid="714795" grpId="0" animBg="1"/>
      <p:bldP spid="71479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8"/>
          <p:cNvSpPr txBox="1">
            <a:spLocks noChangeArrowheads="1"/>
          </p:cNvSpPr>
          <p:nvPr/>
        </p:nvSpPr>
        <p:spPr bwMode="auto">
          <a:xfrm>
            <a:off x="1919289" y="981075"/>
            <a:ext cx="792003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sz="2800" b="1" dirty="0">
                <a:solidFill>
                  <a:srgbClr val="0000CC"/>
                </a:solidFill>
                <a:ea typeface="楷体_GB2312" pitchFamily="49" charset="-122"/>
              </a:rPr>
              <a:t>   Potential function equations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00CC"/>
                </a:solidFill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0000CC"/>
                </a:solidFill>
                <a:ea typeface="楷体_GB2312" pitchFamily="49" charset="-122"/>
              </a:rPr>
              <a:t>（ </a:t>
            </a:r>
            <a:r>
              <a:rPr lang="en-US" altLang="zh-CN" sz="2800" b="1" dirty="0" err="1">
                <a:solidFill>
                  <a:srgbClr val="0000CC"/>
                </a:solidFill>
                <a:ea typeface="楷体_GB2312" pitchFamily="49" charset="-122"/>
              </a:rPr>
              <a:t>D'Alembert</a:t>
            </a:r>
            <a:r>
              <a:rPr lang="en-US" altLang="zh-CN" sz="2800" b="1" dirty="0">
                <a:solidFill>
                  <a:srgbClr val="0000CC"/>
                </a:solidFill>
                <a:ea typeface="楷体_GB2312" pitchFamily="49" charset="-122"/>
              </a:rPr>
              <a:t> Equations </a:t>
            </a:r>
            <a:r>
              <a:rPr lang="zh-CN" altLang="en-US" sz="2800" b="1" dirty="0">
                <a:solidFill>
                  <a:srgbClr val="0000CC"/>
                </a:solidFill>
                <a:ea typeface="楷体_GB2312" pitchFamily="49" charset="-122"/>
              </a:rPr>
              <a:t>）</a:t>
            </a:r>
          </a:p>
        </p:txBody>
      </p:sp>
      <p:graphicFrame>
        <p:nvGraphicFramePr>
          <p:cNvPr id="29699" name="Object 2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667000" y="2290763"/>
          <a:ext cx="6856413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436000" imgH="10363200" progId="Equation.DSMT4">
                  <p:embed/>
                </p:oleObj>
              </mc:Choice>
              <mc:Fallback>
                <p:oleObj name="Equation" r:id="rId3" imgW="59436000" imgH="10363200" progId="Equation.DSMT4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290763"/>
                        <a:ext cx="6856413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2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806700" y="3860800"/>
          <a:ext cx="3992563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918400" imgH="9448800" progId="Equation.DSMT4">
                  <p:embed/>
                </p:oleObj>
              </mc:Choice>
              <mc:Fallback>
                <p:oleObj name="Equation" r:id="rId5" imgW="32918400" imgH="9448800" progId="Equation.DSMT4">
                  <p:embed/>
                  <p:pic>
                    <p:nvPicPr>
                      <p:cNvPr id="0" name="图片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3860800"/>
                        <a:ext cx="3992563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01" name="Picture 6" descr="BD05546_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8069" y="5273675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547" name="Object 2"/>
          <p:cNvGraphicFramePr>
            <a:graphicFrameLocks noChangeAspect="1"/>
          </p:cNvGraphicFramePr>
          <p:nvPr/>
        </p:nvGraphicFramePr>
        <p:xfrm>
          <a:off x="2978150" y="1336675"/>
          <a:ext cx="20002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079200" imgH="10363200" progId="Equation.DSMT4">
                  <p:embed/>
                </p:oleObj>
              </mc:Choice>
              <mc:Fallback>
                <p:oleObj name="Equation" r:id="rId2" imgW="24079200" imgH="10363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1336675"/>
                        <a:ext cx="20002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8" name="Object 3"/>
          <p:cNvGraphicFramePr>
            <a:graphicFrameLocks noChangeAspect="1"/>
          </p:cNvGraphicFramePr>
          <p:nvPr/>
        </p:nvGraphicFramePr>
        <p:xfrm>
          <a:off x="4926013" y="3352800"/>
          <a:ext cx="48291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1816000" imgH="10363200" progId="Equation.DSMT4">
                  <p:embed/>
                </p:oleObj>
              </mc:Choice>
              <mc:Fallback>
                <p:oleObj name="Equation" r:id="rId4" imgW="51816000" imgH="10363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6013" y="3352800"/>
                        <a:ext cx="482917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49" name="Object 4"/>
          <p:cNvGraphicFramePr>
            <a:graphicFrameLocks noChangeAspect="1"/>
          </p:cNvGraphicFramePr>
          <p:nvPr/>
        </p:nvGraphicFramePr>
        <p:xfrm>
          <a:off x="4491038" y="4979988"/>
          <a:ext cx="55467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436000" imgH="10363200" progId="Equation.DSMT4">
                  <p:embed/>
                </p:oleObj>
              </mc:Choice>
              <mc:Fallback>
                <p:oleObj name="Equation" r:id="rId6" imgW="59436000" imgH="10363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1038" y="4979988"/>
                        <a:ext cx="554672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0" name="Object 5"/>
          <p:cNvGraphicFramePr>
            <a:graphicFrameLocks noChangeAspect="1"/>
          </p:cNvGraphicFramePr>
          <p:nvPr/>
        </p:nvGraphicFramePr>
        <p:xfrm>
          <a:off x="6338888" y="1409700"/>
          <a:ext cx="255428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870400" imgH="10363200" progId="Equation.DSMT4">
                  <p:embed/>
                </p:oleObj>
              </mc:Choice>
              <mc:Fallback>
                <p:oleObj name="Equation" r:id="rId8" imgW="29870400" imgH="10363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8888" y="1409700"/>
                        <a:ext cx="255428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31" name="AutoShape 7"/>
          <p:cNvSpPr>
            <a:spLocks noChangeArrowheads="1"/>
          </p:cNvSpPr>
          <p:nvPr/>
        </p:nvSpPr>
        <p:spPr bwMode="auto">
          <a:xfrm flipH="1">
            <a:off x="5232401" y="1698625"/>
            <a:ext cx="936625" cy="217488"/>
          </a:xfrm>
          <a:prstGeom prst="leftArrow">
            <a:avLst>
              <a:gd name="adj1" fmla="val 50000"/>
              <a:gd name="adj2" fmla="val 107664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30727" name="Text Box 8"/>
          <p:cNvSpPr txBox="1">
            <a:spLocks noChangeArrowheads="1"/>
          </p:cNvSpPr>
          <p:nvPr/>
        </p:nvSpPr>
        <p:spPr bwMode="auto">
          <a:xfrm>
            <a:off x="1631951" y="595313"/>
            <a:ext cx="1800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10"/>
              </a:buBlip>
            </a:pPr>
            <a:r>
              <a:rPr lang="en-US" altLang="zh-CN" sz="2400" b="1">
                <a:solidFill>
                  <a:srgbClr val="0000CC"/>
                </a:solidFill>
                <a:ea typeface="楷体_GB2312" pitchFamily="49" charset="-122"/>
              </a:rPr>
              <a:t> Proof</a:t>
            </a:r>
          </a:p>
        </p:txBody>
      </p:sp>
      <p:sp>
        <p:nvSpPr>
          <p:cNvPr id="108553" name="AutoShape 9"/>
          <p:cNvSpPr>
            <a:spLocks noChangeArrowheads="1"/>
          </p:cNvSpPr>
          <p:nvPr/>
        </p:nvSpPr>
        <p:spPr bwMode="auto">
          <a:xfrm rot="-5400000">
            <a:off x="6786563" y="2651125"/>
            <a:ext cx="850900" cy="273050"/>
          </a:xfrm>
          <a:prstGeom prst="leftArrow">
            <a:avLst>
              <a:gd name="adj1" fmla="val 50000"/>
              <a:gd name="adj2" fmla="val 77907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08554" name="AutoShape 10"/>
          <p:cNvSpPr>
            <a:spLocks noChangeArrowheads="1"/>
          </p:cNvSpPr>
          <p:nvPr/>
        </p:nvSpPr>
        <p:spPr bwMode="auto">
          <a:xfrm rot="-5400000">
            <a:off x="6858795" y="4480720"/>
            <a:ext cx="777875" cy="287337"/>
          </a:xfrm>
          <a:prstGeom prst="leftArrow">
            <a:avLst>
              <a:gd name="adj1" fmla="val 50000"/>
              <a:gd name="adj2" fmla="val 67680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pSp>
        <p:nvGrpSpPr>
          <p:cNvPr id="820236" name="Group 12"/>
          <p:cNvGrpSpPr/>
          <p:nvPr/>
        </p:nvGrpSpPr>
        <p:grpSpPr bwMode="auto">
          <a:xfrm>
            <a:off x="5461000" y="376238"/>
            <a:ext cx="2122488" cy="1252537"/>
            <a:chOff x="2480" y="237"/>
            <a:chExt cx="1337" cy="789"/>
          </a:xfrm>
        </p:grpSpPr>
        <p:graphicFrame>
          <p:nvGraphicFramePr>
            <p:cNvPr id="30737" name="Object 13"/>
            <p:cNvGraphicFramePr>
              <a:graphicFrameLocks noChangeAspect="1"/>
            </p:cNvGraphicFramePr>
            <p:nvPr/>
          </p:nvGraphicFramePr>
          <p:xfrm>
            <a:off x="2480" y="237"/>
            <a:ext cx="1337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5603200" imgH="10972800" progId="Equation.DSMT4">
                    <p:embed/>
                  </p:oleObj>
                </mc:Choice>
                <mc:Fallback>
                  <p:oleObj name="Equation" r:id="rId11" imgW="25603200" imgH="10972800" progId="Equation.DSMT4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0" y="237"/>
                          <a:ext cx="1337" cy="595"/>
                        </a:xfrm>
                        <a:prstGeom prst="rect">
                          <a:avLst/>
                        </a:prstGeom>
                        <a:noFill/>
                        <a:ln w="2222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8" name="Line 14"/>
            <p:cNvSpPr>
              <a:spLocks noChangeShapeType="1"/>
            </p:cNvSpPr>
            <p:nvPr/>
          </p:nvSpPr>
          <p:spPr bwMode="auto">
            <a:xfrm flipH="1">
              <a:off x="2626" y="845"/>
              <a:ext cx="182" cy="181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20239" name="Group 15"/>
          <p:cNvGrpSpPr/>
          <p:nvPr/>
        </p:nvGrpSpPr>
        <p:grpSpPr bwMode="auto">
          <a:xfrm>
            <a:off x="2276476" y="2416177"/>
            <a:ext cx="4611688" cy="901700"/>
            <a:chOff x="565" y="1386"/>
            <a:chExt cx="2905" cy="568"/>
          </a:xfrm>
        </p:grpSpPr>
        <p:graphicFrame>
          <p:nvGraphicFramePr>
            <p:cNvPr id="30735" name="Object 16"/>
            <p:cNvGraphicFramePr>
              <a:graphicFrameLocks noChangeAspect="1"/>
            </p:cNvGraphicFramePr>
            <p:nvPr/>
          </p:nvGraphicFramePr>
          <p:xfrm>
            <a:off x="565" y="1386"/>
            <a:ext cx="2094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9624000" imgH="10363200" progId="Equation.DSMT4">
                    <p:embed/>
                  </p:oleObj>
                </mc:Choice>
                <mc:Fallback>
                  <p:oleObj name="Equation" r:id="rId13" imgW="39624000" imgH="10363200" progId="Equation.DSMT4">
                    <p:embed/>
                    <p:pic>
                      <p:nvPicPr>
                        <p:cNvPr id="0" name="图片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" y="1386"/>
                          <a:ext cx="2094" cy="568"/>
                        </a:xfrm>
                        <a:prstGeom prst="rect">
                          <a:avLst/>
                        </a:prstGeom>
                        <a:noFill/>
                        <a:ln w="2222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6" name="Line 17"/>
            <p:cNvSpPr>
              <a:spLocks noChangeShapeType="1"/>
            </p:cNvSpPr>
            <p:nvPr/>
          </p:nvSpPr>
          <p:spPr bwMode="auto">
            <a:xfrm>
              <a:off x="2699" y="1661"/>
              <a:ext cx="77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20242" name="Group 18"/>
          <p:cNvGrpSpPr/>
          <p:nvPr/>
        </p:nvGrpSpPr>
        <p:grpSpPr bwMode="auto">
          <a:xfrm>
            <a:off x="2109789" y="4349750"/>
            <a:ext cx="4922837" cy="557213"/>
            <a:chOff x="369" y="2363"/>
            <a:chExt cx="3101" cy="351"/>
          </a:xfrm>
        </p:grpSpPr>
        <p:graphicFrame>
          <p:nvGraphicFramePr>
            <p:cNvPr id="30733" name="Object 19"/>
            <p:cNvGraphicFramePr>
              <a:graphicFrameLocks noChangeAspect="1"/>
            </p:cNvGraphicFramePr>
            <p:nvPr/>
          </p:nvGraphicFramePr>
          <p:xfrm>
            <a:off x="369" y="2363"/>
            <a:ext cx="2337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9624000" imgH="6096000" progId="Equation.DSMT4">
                    <p:embed/>
                  </p:oleObj>
                </mc:Choice>
                <mc:Fallback>
                  <p:oleObj name="Equation" r:id="rId15" imgW="39624000" imgH="60960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" y="2363"/>
                          <a:ext cx="2337" cy="351"/>
                        </a:xfrm>
                        <a:prstGeom prst="rect">
                          <a:avLst/>
                        </a:prstGeom>
                        <a:noFill/>
                        <a:ln w="2222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4" name="Line 20"/>
            <p:cNvSpPr>
              <a:spLocks noChangeShapeType="1"/>
            </p:cNvSpPr>
            <p:nvPr/>
          </p:nvSpPr>
          <p:spPr bwMode="auto">
            <a:xfrm>
              <a:off x="2699" y="2523"/>
              <a:ext cx="771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2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2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2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2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31" grpId="0" animBg="1"/>
      <p:bldP spid="108553" grpId="0" animBg="1"/>
      <p:bldP spid="10855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571" name="Object 2"/>
          <p:cNvGraphicFramePr>
            <a:graphicFrameLocks noChangeAspect="1"/>
          </p:cNvGraphicFramePr>
          <p:nvPr/>
        </p:nvGraphicFramePr>
        <p:xfrm>
          <a:off x="4268788" y="1503785"/>
          <a:ext cx="1195387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25600" imgH="5791200" progId="Equation.DSMT4">
                  <p:embed/>
                </p:oleObj>
              </mc:Choice>
              <mc:Fallback>
                <p:oleObj name="Equation" r:id="rId2" imgW="14325600" imgH="5791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8788" y="1503785"/>
                        <a:ext cx="1195387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2" name="Object 3"/>
          <p:cNvGraphicFramePr>
            <a:graphicFrameLocks noChangeAspect="1"/>
          </p:cNvGraphicFramePr>
          <p:nvPr/>
        </p:nvGraphicFramePr>
        <p:xfrm>
          <a:off x="3427413" y="2911898"/>
          <a:ext cx="296068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80000" imgH="10363200" progId="Equation.DSMT4">
                  <p:embed/>
                </p:oleObj>
              </mc:Choice>
              <mc:Fallback>
                <p:oleObj name="Equation" r:id="rId4" imgW="30480000" imgH="10363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7413" y="2911898"/>
                        <a:ext cx="296068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1847851" y="692150"/>
            <a:ext cx="3743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ea typeface="楷体_GB2312" pitchFamily="49" charset="-122"/>
              </a:rPr>
              <a:t>Similarly</a:t>
            </a:r>
          </a:p>
        </p:txBody>
      </p:sp>
      <p:sp>
        <p:nvSpPr>
          <p:cNvPr id="109574" name="AutoShape 6"/>
          <p:cNvSpPr>
            <a:spLocks noChangeArrowheads="1"/>
          </p:cNvSpPr>
          <p:nvPr/>
        </p:nvSpPr>
        <p:spPr bwMode="auto">
          <a:xfrm rot="16200000">
            <a:off x="4591051" y="4031086"/>
            <a:ext cx="561975" cy="288925"/>
          </a:xfrm>
          <a:prstGeom prst="leftArrow">
            <a:avLst>
              <a:gd name="adj1" fmla="val 50000"/>
              <a:gd name="adj2" fmla="val 48626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09575" name="AutoShape 7"/>
          <p:cNvSpPr>
            <a:spLocks noChangeArrowheads="1"/>
          </p:cNvSpPr>
          <p:nvPr/>
        </p:nvSpPr>
        <p:spPr bwMode="auto">
          <a:xfrm rot="16200000">
            <a:off x="4591051" y="2375324"/>
            <a:ext cx="561975" cy="288925"/>
          </a:xfrm>
          <a:prstGeom prst="leftArrow">
            <a:avLst>
              <a:gd name="adj1" fmla="val 50000"/>
              <a:gd name="adj2" fmla="val 48626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pSp>
        <p:nvGrpSpPr>
          <p:cNvPr id="821256" name="Group 8"/>
          <p:cNvGrpSpPr/>
          <p:nvPr/>
        </p:nvGrpSpPr>
        <p:grpSpPr bwMode="auto">
          <a:xfrm>
            <a:off x="5459414" y="1762549"/>
            <a:ext cx="4541838" cy="847726"/>
            <a:chOff x="1746" y="644"/>
            <a:chExt cx="2861" cy="534"/>
          </a:xfrm>
        </p:grpSpPr>
        <p:graphicFrame>
          <p:nvGraphicFramePr>
            <p:cNvPr id="31754" name="Object 9"/>
            <p:cNvGraphicFramePr>
              <a:graphicFrameLocks noChangeAspect="1"/>
            </p:cNvGraphicFramePr>
            <p:nvPr/>
          </p:nvGraphicFramePr>
          <p:xfrm>
            <a:off x="2597" y="644"/>
            <a:ext cx="2010" cy="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6271200" imgH="10363200" progId="Equation.DSMT4">
                    <p:embed/>
                  </p:oleObj>
                </mc:Choice>
                <mc:Fallback>
                  <p:oleObj name="Equation" r:id="rId6" imgW="36271200" imgH="10363200" progId="Equation.DSMT4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7" y="644"/>
                          <a:ext cx="2010" cy="534"/>
                        </a:xfrm>
                        <a:prstGeom prst="rect">
                          <a:avLst/>
                        </a:prstGeom>
                        <a:noFill/>
                        <a:ln w="2222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5" name="Line 10"/>
            <p:cNvSpPr>
              <a:spLocks noChangeShapeType="1"/>
            </p:cNvSpPr>
            <p:nvPr/>
          </p:nvSpPr>
          <p:spPr bwMode="auto">
            <a:xfrm flipH="1">
              <a:off x="1746" y="935"/>
              <a:ext cx="816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09579" name="Object 14"/>
          <p:cNvGraphicFramePr>
            <a:graphicFrameLocks noGrp="1" noChangeAspect="1"/>
          </p:cNvGraphicFramePr>
          <p:nvPr>
            <p:ph idx="4294967295"/>
          </p:nvPr>
        </p:nvGraphicFramePr>
        <p:xfrm>
          <a:off x="3633788" y="4583535"/>
          <a:ext cx="3070225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918400" imgH="9448800" progId="Equation.DSMT4">
                  <p:embed/>
                </p:oleObj>
              </mc:Choice>
              <mc:Fallback>
                <p:oleObj name="Equation" r:id="rId8" imgW="32918400" imgH="9448800" progId="Equation.DSMT4">
                  <p:embed/>
                  <p:pic>
                    <p:nvPicPr>
                      <p:cNvPr id="0" name="图片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8" y="4583535"/>
                        <a:ext cx="3070225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53" name="Picture 12" descr="BD05546_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2" y="5273675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2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4" grpId="0" animBg="1"/>
      <p:bldP spid="10957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1631950" y="595313"/>
            <a:ext cx="532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sz="1800" b="1">
                <a:solidFill>
                  <a:srgbClr val="0000CC"/>
                </a:solidFill>
                <a:ea typeface="楷体_GB2312" pitchFamily="49" charset="-122"/>
              </a:rPr>
              <a:t>   </a:t>
            </a:r>
            <a:r>
              <a:rPr lang="en-US" altLang="zh-CN" sz="2400" b="1">
                <a:solidFill>
                  <a:srgbClr val="0000CC"/>
                </a:solidFill>
                <a:ea typeface="楷体_GB2312" pitchFamily="49" charset="-122"/>
              </a:rPr>
              <a:t>Potential function equations</a:t>
            </a:r>
          </a:p>
        </p:txBody>
      </p:sp>
      <p:graphicFrame>
        <p:nvGraphicFramePr>
          <p:cNvPr id="32771" name="Object 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667000" y="1509713"/>
          <a:ext cx="6856413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436000" imgH="10363200" progId="Equation.DSMT4">
                  <p:embed/>
                </p:oleObj>
              </mc:Choice>
              <mc:Fallback>
                <p:oleObj name="Equation" r:id="rId3" imgW="59436000" imgH="10363200" progId="Equation.DSMT4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509713"/>
                        <a:ext cx="6856413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806700" y="2924175"/>
          <a:ext cx="3992563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918400" imgH="9448800" progId="Equation.DSMT4">
                  <p:embed/>
                </p:oleObj>
              </mc:Choice>
              <mc:Fallback>
                <p:oleObj name="Equation" r:id="rId5" imgW="32918400" imgH="9448800" progId="Equation.DSMT4">
                  <p:embed/>
                  <p:pic>
                    <p:nvPicPr>
                      <p:cNvPr id="0" name="图片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2924175"/>
                        <a:ext cx="3992563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277" name="AutoShape 5"/>
          <p:cNvSpPr>
            <a:spLocks noChangeArrowheads="1"/>
          </p:cNvSpPr>
          <p:nvPr/>
        </p:nvSpPr>
        <p:spPr bwMode="auto">
          <a:xfrm>
            <a:off x="2566988" y="4292600"/>
            <a:ext cx="6769100" cy="1512888"/>
          </a:xfrm>
          <a:prstGeom prst="wedgeRoundRectCallout">
            <a:avLst>
              <a:gd name="adj1" fmla="val 681"/>
              <a:gd name="adj2" fmla="val -21458"/>
              <a:gd name="adj3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Disadvantages </a:t>
            </a:r>
            <a:r>
              <a:rPr lang="zh-CN" altLang="en-US" sz="2400" b="1" dirty="0">
                <a:solidFill>
                  <a:srgbClr val="0000CC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：</a:t>
            </a:r>
          </a:p>
          <a:p>
            <a:pPr algn="ctr" eaLnBrk="1" hangingPunct="1"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The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scalar potential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function and the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vector potential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functions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can not be separated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950431" y="5463886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27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/>
          <p:cNvSpPr>
            <a:spLocks noChangeArrowheads="1"/>
          </p:cNvSpPr>
          <p:nvPr/>
        </p:nvSpPr>
        <p:spPr bwMode="auto">
          <a:xfrm>
            <a:off x="2135188" y="1557338"/>
            <a:ext cx="338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ea typeface="楷体_GB2312" pitchFamily="49" charset="-122"/>
              </a:rPr>
              <a:t>Coulomb's gauge </a:t>
            </a:r>
            <a:r>
              <a:rPr lang="zh-CN" altLang="en-US" sz="2400" b="1">
                <a:solidFill>
                  <a:srgbClr val="800000"/>
                </a:solidFill>
                <a:ea typeface="楷体_GB2312" pitchFamily="49" charset="-122"/>
              </a:rPr>
              <a:t>：</a:t>
            </a:r>
          </a:p>
        </p:txBody>
      </p:sp>
      <p:sp>
        <p:nvSpPr>
          <p:cNvPr id="33795" name="Text Box 12"/>
          <p:cNvSpPr txBox="1">
            <a:spLocks noChangeArrowheads="1"/>
          </p:cNvSpPr>
          <p:nvPr/>
        </p:nvSpPr>
        <p:spPr bwMode="auto">
          <a:xfrm>
            <a:off x="1631951" y="620713"/>
            <a:ext cx="6767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sz="2400" b="1">
                <a:solidFill>
                  <a:srgbClr val="0000CC"/>
                </a:solidFill>
                <a:ea typeface="楷体_GB2312" pitchFamily="49" charset="-122"/>
              </a:rPr>
              <a:t> Normal conditions of potential functions</a:t>
            </a:r>
            <a:endParaRPr lang="en-US" altLang="zh-CN" b="1">
              <a:solidFill>
                <a:srgbClr val="0000CC"/>
              </a:solidFill>
              <a:ea typeface="楷体_GB2312" pitchFamily="49" charset="-122"/>
            </a:endParaRPr>
          </a:p>
        </p:txBody>
      </p:sp>
      <p:graphicFrame>
        <p:nvGraphicFramePr>
          <p:cNvPr id="111621" name="Object 16"/>
          <p:cNvGraphicFramePr>
            <a:graphicFrameLocks noChangeAspect="1"/>
          </p:cNvGraphicFramePr>
          <p:nvPr/>
        </p:nvGraphicFramePr>
        <p:xfrm>
          <a:off x="5159376" y="1484313"/>
          <a:ext cx="165576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23900" imgH="266700" progId="Equation.DSMT4">
                  <p:embed/>
                </p:oleObj>
              </mc:Choice>
              <mc:Fallback>
                <p:oleObj name="Equation" r:id="rId3" imgW="723900" imgH="2667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6" y="1484313"/>
                        <a:ext cx="1655763" cy="6413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2" name="Object 21"/>
          <p:cNvGraphicFramePr>
            <a:graphicFrameLocks noChangeAspect="1"/>
          </p:cNvGraphicFramePr>
          <p:nvPr/>
        </p:nvGraphicFramePr>
        <p:xfrm>
          <a:off x="3108325" y="2152650"/>
          <a:ext cx="6480175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768000" imgH="10363200" progId="Equation.DSMT4">
                  <p:embed/>
                </p:oleObj>
              </mc:Choice>
              <mc:Fallback>
                <p:oleObj name="Equation" r:id="rId5" imgW="48768000" imgH="10363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2152650"/>
                        <a:ext cx="6480175" cy="1427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3" name="Object 22"/>
          <p:cNvGraphicFramePr>
            <a:graphicFrameLocks noChangeAspect="1"/>
          </p:cNvGraphicFramePr>
          <p:nvPr/>
        </p:nvGraphicFramePr>
        <p:xfrm>
          <a:off x="3184525" y="3390900"/>
          <a:ext cx="2295525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59200" imgH="9448800" progId="Equation.DSMT4">
                  <p:embed/>
                </p:oleObj>
              </mc:Choice>
              <mc:Fallback>
                <p:oleObj name="Equation" r:id="rId7" imgW="16459200" imgH="94488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525" y="3390900"/>
                        <a:ext cx="2295525" cy="136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709420" y="5428168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  <p:sp>
        <p:nvSpPr>
          <p:cNvPr id="822277" name="AutoShape 5"/>
          <p:cNvSpPr>
            <a:spLocks noChangeArrowheads="1"/>
          </p:cNvSpPr>
          <p:nvPr/>
        </p:nvSpPr>
        <p:spPr bwMode="auto">
          <a:xfrm>
            <a:off x="2566988" y="4724400"/>
            <a:ext cx="6769100" cy="1512888"/>
          </a:xfrm>
          <a:prstGeom prst="wedgeRoundRectCallout">
            <a:avLst>
              <a:gd name="adj1" fmla="val 681"/>
              <a:gd name="adj2" fmla="val -45278"/>
              <a:gd name="adj3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Disadvantages </a:t>
            </a:r>
            <a:r>
              <a:rPr lang="zh-CN" altLang="en-US" sz="2400" b="1" dirty="0">
                <a:solidFill>
                  <a:srgbClr val="0000CC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：</a:t>
            </a:r>
          </a:p>
          <a:p>
            <a:pPr algn="ctr" eaLnBrk="1" hangingPunct="1"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The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scalar potential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function and the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vector potential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functions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can not be separated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2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27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2279651" y="1628775"/>
            <a:ext cx="2879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ea typeface="楷体_GB2312" pitchFamily="49" charset="-122"/>
                <a:cs typeface="Arial" panose="020B0604020202020204" pitchFamily="34" charset="0"/>
              </a:rPr>
              <a:t>Lorentz’s gauge</a:t>
            </a:r>
            <a:r>
              <a:rPr lang="en-US" altLang="zh-CN" sz="2000" b="1">
                <a:solidFill>
                  <a:srgbClr val="0000CC"/>
                </a:solidFill>
                <a:ea typeface="楷体_GB2312" pitchFamily="49" charset="-122"/>
                <a:cs typeface="Arial" panose="020B0604020202020204" pitchFamily="34" charset="0"/>
              </a:rPr>
              <a:t> </a:t>
            </a:r>
            <a:r>
              <a:rPr lang="zh-CN" altLang="en-US" sz="2000" b="1">
                <a:solidFill>
                  <a:srgbClr val="0000CC"/>
                </a:solidFill>
                <a:ea typeface="楷体_GB2312" pitchFamily="49" charset="-122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1631951" y="620714"/>
            <a:ext cx="75596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b="1">
                <a:solidFill>
                  <a:srgbClr val="0000CC"/>
                </a:solidFill>
                <a:ea typeface="楷体_GB2312" pitchFamily="49" charset="-122"/>
              </a:rPr>
              <a:t> </a:t>
            </a:r>
            <a:r>
              <a:rPr lang="en-US" altLang="zh-CN" sz="2800" b="1">
                <a:solidFill>
                  <a:srgbClr val="0000CC"/>
                </a:solidFill>
                <a:ea typeface="楷体_GB2312" pitchFamily="49" charset="-122"/>
              </a:rPr>
              <a:t>Normal conditions of potential functions</a:t>
            </a:r>
          </a:p>
        </p:txBody>
      </p:sp>
      <p:graphicFrame>
        <p:nvGraphicFramePr>
          <p:cNvPr id="112645" name="Object 7"/>
          <p:cNvGraphicFramePr>
            <a:graphicFrameLocks noChangeAspect="1"/>
          </p:cNvGraphicFramePr>
          <p:nvPr/>
        </p:nvGraphicFramePr>
        <p:xfrm>
          <a:off x="2330450" y="2449513"/>
          <a:ext cx="3560763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699200" imgH="10363200" progId="Equation.DSMT4">
                  <p:embed/>
                </p:oleObj>
              </mc:Choice>
              <mc:Fallback>
                <p:oleObj name="Equation" r:id="rId3" imgW="31699200" imgH="10363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2449513"/>
                        <a:ext cx="3560763" cy="120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6" name="Object 11"/>
          <p:cNvGraphicFramePr>
            <a:graphicFrameLocks noChangeAspect="1"/>
          </p:cNvGraphicFramePr>
          <p:nvPr/>
        </p:nvGraphicFramePr>
        <p:xfrm>
          <a:off x="5016500" y="1484314"/>
          <a:ext cx="273685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5100" imgH="495300" progId="Equation.DSMT4">
                  <p:embed/>
                </p:oleObj>
              </mc:Choice>
              <mc:Fallback>
                <p:oleObj name="Equation" r:id="rId5" imgW="1435100" imgH="4953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1484314"/>
                        <a:ext cx="2736850" cy="9874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2225">
                            <a:solidFill>
                              <a:srgbClr val="FF0000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7" name="Object 13"/>
          <p:cNvGraphicFramePr>
            <a:graphicFrameLocks noGrp="1" noChangeAspect="1"/>
          </p:cNvGraphicFramePr>
          <p:nvPr>
            <p:ph idx="4294967295"/>
          </p:nvPr>
        </p:nvGraphicFramePr>
        <p:xfrm>
          <a:off x="6678613" y="2492375"/>
          <a:ext cx="2844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260800" imgH="10058400" progId="Equation.DSMT4">
                  <p:embed/>
                </p:oleObj>
              </mc:Choice>
              <mc:Fallback>
                <p:oleObj name="Equation" r:id="rId7" imgW="29260800" imgH="10058400" progId="Equation.DSMT4">
                  <p:embed/>
                  <p:pic>
                    <p:nvPicPr>
                      <p:cNvPr id="0" name="图片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8613" y="2492375"/>
                        <a:ext cx="28448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8191" name="AutoShape 15"/>
          <p:cNvSpPr>
            <a:spLocks noChangeArrowheads="1"/>
          </p:cNvSpPr>
          <p:nvPr/>
        </p:nvSpPr>
        <p:spPr bwMode="auto">
          <a:xfrm>
            <a:off x="1357745" y="3644900"/>
            <a:ext cx="9448799" cy="2736850"/>
          </a:xfrm>
          <a:prstGeom prst="wedgeRoundRectCallout">
            <a:avLst>
              <a:gd name="adj1" fmla="val -1255"/>
              <a:gd name="adj2" fmla="val -3421"/>
              <a:gd name="adj3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80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Features </a:t>
            </a:r>
            <a:r>
              <a:rPr lang="zh-CN" altLang="en-US" sz="2400" b="1" dirty="0">
                <a:solidFill>
                  <a:srgbClr val="800000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：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The electric potential function</a:t>
            </a:r>
            <a:r>
              <a:rPr lang="en-US" altLang="zh-CN" sz="2400" dirty="0"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and the magnetic vector potential function 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can be separated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!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  <a:ea typeface="仿宋_GB2312" pitchFamily="49" charset="-122"/>
              <a:cs typeface="Arial" panose="020B0604020202020204" pitchFamily="34" charset="0"/>
            </a:endParaRPr>
          </a:p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cs typeface="Arial" panose="020B0604020202020204" pitchFamily="34" charset="0"/>
              </a:rPr>
              <a:t>The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magnetic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vector potential 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仿宋_GB2312" pitchFamily="49" charset="-122"/>
              </a:rPr>
              <a:t>only depends on the current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, and the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electric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potential function 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仿宋_GB2312" pitchFamily="49" charset="-122"/>
              </a:rPr>
              <a:t>only depends on the charge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!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仿宋_GB2312" pitchFamily="49" charset="-122"/>
              </a:rPr>
              <a:t>The potential functions can be found directly by the Lorentz’s gauge (no need to solve the differential equations)!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917238" y="5657850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18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819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/>
          <p:cNvSpPr>
            <a:spLocks noChangeArrowheads="1"/>
          </p:cNvSpPr>
          <p:nvPr/>
        </p:nvSpPr>
        <p:spPr bwMode="auto">
          <a:xfrm>
            <a:off x="1524000" y="1484313"/>
            <a:ext cx="9144000" cy="3168650"/>
          </a:xfrm>
          <a:prstGeom prst="ribbon2">
            <a:avLst>
              <a:gd name="adj1" fmla="val 12500"/>
              <a:gd name="adj2" fmla="val 50000"/>
            </a:avLst>
          </a:prstGeom>
          <a:solidFill>
            <a:srgbClr val="CCCCFF"/>
          </a:solidFill>
          <a:ln w="9525">
            <a:solidFill>
              <a:srgbClr val="8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4400" b="1" dirty="0">
                <a:solidFill>
                  <a:srgbClr val="D60093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Question</a:t>
            </a:r>
            <a:r>
              <a:rPr lang="zh-CN" altLang="en-US" sz="4400" b="1" dirty="0">
                <a:solidFill>
                  <a:srgbClr val="D60093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：</a:t>
            </a:r>
          </a:p>
          <a:p>
            <a:pPr eaLnBrk="1" hangingPunct="1">
              <a:buClrTx/>
              <a:buSzTx/>
              <a:buFontTx/>
              <a:buNone/>
            </a:pPr>
            <a:endParaRPr lang="zh-CN" altLang="en-US" sz="800" b="1" dirty="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  <a:cs typeface="Arial" panose="020B0604020202020204" pitchFamily="34" charset="0"/>
            </a:endParaRPr>
          </a:p>
          <a:p>
            <a:pPr eaLnBrk="1" hangingPunct="1">
              <a:buClrTx/>
              <a:buSzTx/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What is the role of the potential 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   functions in the time-varying 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   electromagnetic field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1774826" y="836613"/>
            <a:ext cx="40671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Wave equations of electromagnetic field</a:t>
            </a:r>
          </a:p>
        </p:txBody>
      </p:sp>
      <p:graphicFrame>
        <p:nvGraphicFramePr>
          <p:cNvPr id="115716" name="Object 8"/>
          <p:cNvGraphicFramePr>
            <a:graphicFrameLocks noChangeAspect="1"/>
          </p:cNvGraphicFramePr>
          <p:nvPr/>
        </p:nvGraphicFramePr>
        <p:xfrm>
          <a:off x="2111375" y="3108325"/>
          <a:ext cx="313372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966400" imgH="10363200" progId="Equation.DSMT4">
                  <p:embed/>
                </p:oleObj>
              </mc:Choice>
              <mc:Fallback>
                <p:oleObj name="Equation" r:id="rId2" imgW="35966400" imgH="10363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5" y="3108325"/>
                        <a:ext cx="3133725" cy="9318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7" name="Object 9"/>
          <p:cNvGraphicFramePr>
            <a:graphicFrameLocks noChangeAspect="1"/>
          </p:cNvGraphicFramePr>
          <p:nvPr/>
        </p:nvGraphicFramePr>
        <p:xfrm>
          <a:off x="2119313" y="1954213"/>
          <a:ext cx="377348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586400" imgH="10363200" progId="Equation.DSMT4">
                  <p:embed/>
                </p:oleObj>
              </mc:Choice>
              <mc:Fallback>
                <p:oleObj name="Equation" r:id="rId4" imgW="43586400" imgH="10363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13" y="1954213"/>
                        <a:ext cx="3773487" cy="9334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8" name="Object 1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743700" y="1916114"/>
          <a:ext cx="3100388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39900" imgH="533400" progId="Equation.DSMT4">
                  <p:embed/>
                </p:oleObj>
              </mc:Choice>
              <mc:Fallback>
                <p:oleObj name="Equation" r:id="rId6" imgW="1739900" imgH="533400" progId="Equation.DSMT4">
                  <p:embed/>
                  <p:pic>
                    <p:nvPicPr>
                      <p:cNvPr id="0" name="图片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1916114"/>
                        <a:ext cx="3100388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9" name="Object 17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816725" y="3213100"/>
          <a:ext cx="2268538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08100" imgH="533400" progId="Equation.DSMT4">
                  <p:embed/>
                </p:oleObj>
              </mc:Choice>
              <mc:Fallback>
                <p:oleObj name="Equation" r:id="rId8" imgW="1308100" imgH="533400" progId="Equation.DSMT4">
                  <p:embed/>
                  <p:pic>
                    <p:nvPicPr>
                      <p:cNvPr id="0" name="图片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5" y="3213100"/>
                        <a:ext cx="2268538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0" name="Rectangle 20"/>
          <p:cNvSpPr>
            <a:spLocks noChangeArrowheads="1"/>
          </p:cNvSpPr>
          <p:nvPr/>
        </p:nvSpPr>
        <p:spPr bwMode="auto">
          <a:xfrm>
            <a:off x="6383338" y="1052513"/>
            <a:ext cx="34909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Potential functions</a:t>
            </a:r>
          </a:p>
        </p:txBody>
      </p:sp>
      <p:graphicFrame>
        <p:nvGraphicFramePr>
          <p:cNvPr id="115721" name="Object 21"/>
          <p:cNvGraphicFramePr>
            <a:graphicFrameLocks noChangeAspect="1"/>
          </p:cNvGraphicFramePr>
          <p:nvPr/>
        </p:nvGraphicFramePr>
        <p:xfrm>
          <a:off x="7391401" y="5084764"/>
          <a:ext cx="1871663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31900" imgH="533400" progId="Equation.DSMT4">
                  <p:embed/>
                </p:oleObj>
              </mc:Choice>
              <mc:Fallback>
                <p:oleObj name="Equation" r:id="rId10" imgW="1231900" imgH="5334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5084764"/>
                        <a:ext cx="1871663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2" name="Object 22"/>
          <p:cNvGraphicFramePr>
            <a:graphicFrameLocks noChangeAspect="1"/>
          </p:cNvGraphicFramePr>
          <p:nvPr/>
        </p:nvGraphicFramePr>
        <p:xfrm>
          <a:off x="8327232" y="4478337"/>
          <a:ext cx="14827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25500" imgH="266700" progId="Equation.3">
                  <p:embed/>
                </p:oleObj>
              </mc:Choice>
              <mc:Fallback>
                <p:oleObj name="公式" r:id="rId12" imgW="825500" imgH="266700" progId="Equation.3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7232" y="4478337"/>
                        <a:ext cx="14827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3" name="Rectangle 23" descr="羊皮纸"/>
          <p:cNvSpPr>
            <a:spLocks noChangeArrowheads="1"/>
          </p:cNvSpPr>
          <p:nvPr/>
        </p:nvSpPr>
        <p:spPr bwMode="auto">
          <a:xfrm>
            <a:off x="1847851" y="4365625"/>
            <a:ext cx="4824413" cy="1868488"/>
          </a:xfrm>
          <a:prstGeom prst="rect">
            <a:avLst/>
          </a:prstGeom>
          <a:blipFill dpi="0" rotWithShape="1">
            <a:blip r:embed="rId14"/>
            <a:srcRect/>
            <a:tile tx="0" ty="0" sx="100000" sy="100000" flip="none" algn="tl"/>
          </a:blipFill>
          <a:ln w="9525">
            <a:solidFill>
              <a:srgbClr val="FF00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en-US" altLang="zh-CN" sz="2800" b="1" u="sng" dirty="0">
                <a:solidFill>
                  <a:srgbClr val="0000CC"/>
                </a:solidFill>
                <a:ea typeface="幼圆" panose="02010509060101010101" pitchFamily="49" charset="-122"/>
              </a:rPr>
              <a:t>Conclusion </a:t>
            </a:r>
            <a:r>
              <a:rPr lang="zh-CN" altLang="en-US" sz="2800" b="1" u="sng" dirty="0">
                <a:solidFill>
                  <a:srgbClr val="0000CC"/>
                </a:solidFill>
                <a:ea typeface="幼圆" panose="02010509060101010101" pitchFamily="49" charset="-122"/>
              </a:rPr>
              <a:t>：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The two methods is just as simple in the source-free region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The potential equations are much simpler in the source region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20" grpId="0"/>
      <p:bldP spid="1157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3" name="Text Box 6"/>
          <p:cNvSpPr txBox="1">
            <a:spLocks noChangeArrowheads="1"/>
          </p:cNvSpPr>
          <p:nvPr/>
        </p:nvSpPr>
        <p:spPr bwMode="auto">
          <a:xfrm>
            <a:off x="2063751" y="1700213"/>
            <a:ext cx="7129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Concept of time-harmonic electromagnetic fields</a:t>
            </a:r>
          </a:p>
        </p:txBody>
      </p:sp>
      <p:graphicFrame>
        <p:nvGraphicFramePr>
          <p:cNvPr id="117764" name="Object 1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890963" y="4076700"/>
          <a:ext cx="3998912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709600" imgH="5486400" progId="Equation.DSMT4">
                  <p:embed/>
                </p:oleObj>
              </mc:Choice>
              <mc:Fallback>
                <p:oleObj name="Equation" r:id="rId3" imgW="38709600" imgH="5486400" progId="Equation.DSMT4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4076700"/>
                        <a:ext cx="3998912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5" name="Object 1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822700" y="5013325"/>
          <a:ext cx="4068763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100000" imgH="5486400" progId="Equation.DSMT4">
                  <p:embed/>
                </p:oleObj>
              </mc:Choice>
              <mc:Fallback>
                <p:oleObj name="Equation" r:id="rId5" imgW="38100000" imgH="5486400" progId="Equation.DSMT4">
                  <p:embed/>
                  <p:pic>
                    <p:nvPicPr>
                      <p:cNvPr id="0" name="图片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5013325"/>
                        <a:ext cx="4068763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6" name="Text Box 21"/>
          <p:cNvSpPr txBox="1">
            <a:spLocks noChangeArrowheads="1"/>
          </p:cNvSpPr>
          <p:nvPr/>
        </p:nvSpPr>
        <p:spPr bwMode="auto">
          <a:xfrm>
            <a:off x="2566988" y="2565401"/>
            <a:ext cx="6769100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The physical quantity changes with the time in accordance with the sine law,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so it is also called the sine electromagnetic field problem.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pic>
        <p:nvPicPr>
          <p:cNvPr id="37894" name="Picture 7" descr="BD05546_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276" y="5135130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7768" name="Rectangle 8"/>
          <p:cNvSpPr>
            <a:spLocks noRot="1" noChangeArrowheads="1"/>
          </p:cNvSpPr>
          <p:nvPr/>
        </p:nvSpPr>
        <p:spPr bwMode="auto">
          <a:xfrm>
            <a:off x="2063750" y="404814"/>
            <a:ext cx="8066088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7.6  Time-Harmonic Fields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799359" y="283599"/>
            <a:ext cx="8091632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The favorable factors for solving the problems of time-harmonic electromagnetic fields</a:t>
            </a:r>
          </a:p>
        </p:txBody>
      </p:sp>
      <p:graphicFrame>
        <p:nvGraphicFramePr>
          <p:cNvPr id="118788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295775" y="2997201"/>
          <a:ext cx="29146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9400" imgH="279400" progId="Equation.DSMT4">
                  <p:embed/>
                </p:oleObj>
              </mc:Choice>
              <mc:Fallback>
                <p:oleObj name="Equation" r:id="rId3" imgW="1549400" imgH="279400" progId="Equation.DSMT4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2997201"/>
                        <a:ext cx="29146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89" name="Object 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612063" y="5300663"/>
          <a:ext cx="12668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106400" imgH="5486400" progId="Equation.DSMT4">
                  <p:embed/>
                </p:oleObj>
              </mc:Choice>
              <mc:Fallback>
                <p:oleObj name="Equation" r:id="rId5" imgW="13106400" imgH="5486400" progId="Equation.DSMT4">
                  <p:embed/>
                  <p:pic>
                    <p:nvPicPr>
                      <p:cNvPr id="0" name="图片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2063" y="5300663"/>
                        <a:ext cx="12668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0" name="Object 20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962650" y="5373688"/>
          <a:ext cx="8794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668000" imgH="5181600" progId="Equation.DSMT4">
                  <p:embed/>
                </p:oleObj>
              </mc:Choice>
              <mc:Fallback>
                <p:oleObj name="Equation" r:id="rId7" imgW="10668000" imgH="5181600" progId="Equation.DSMT4">
                  <p:embed/>
                  <p:pic>
                    <p:nvPicPr>
                      <p:cNvPr id="0" name="图片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650" y="5373688"/>
                        <a:ext cx="87947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949" name="Text Box 5"/>
          <p:cNvSpPr txBox="1">
            <a:spLocks noChangeArrowheads="1"/>
          </p:cNvSpPr>
          <p:nvPr/>
        </p:nvSpPr>
        <p:spPr bwMode="auto">
          <a:xfrm>
            <a:off x="2618942" y="1379758"/>
            <a:ext cx="7528791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Time and space can be Separated to solution</a:t>
            </a:r>
            <a:r>
              <a:rPr lang="zh-CN" altLang="en-US" sz="24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！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That is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It can be independent of each other to analyze the physical quantity of spatial variation and temporal variation.</a:t>
            </a:r>
          </a:p>
        </p:txBody>
      </p:sp>
      <p:sp>
        <p:nvSpPr>
          <p:cNvPr id="850951" name="Text Box 7"/>
          <p:cNvSpPr txBox="1">
            <a:spLocks noChangeArrowheads="1"/>
          </p:cNvSpPr>
          <p:nvPr/>
        </p:nvSpPr>
        <p:spPr bwMode="auto">
          <a:xfrm>
            <a:off x="2688792" y="3399247"/>
            <a:ext cx="5639233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00CC"/>
                </a:solidFill>
                <a:ea typeface="黑体" panose="02010609060101010101" pitchFamily="49" charset="-122"/>
              </a:rPr>
              <a:t>Method</a:t>
            </a:r>
            <a:r>
              <a:rPr lang="zh-CN" altLang="en-US" sz="2800" b="1" dirty="0">
                <a:solidFill>
                  <a:srgbClr val="0000CC"/>
                </a:solidFill>
                <a:ea typeface="黑体" panose="02010609060101010101" pitchFamily="49" charset="-122"/>
              </a:rPr>
              <a:t>：</a:t>
            </a:r>
          </a:p>
          <a:p>
            <a:pPr algn="ctr" eaLnBrk="1" hangingPunct="1"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The time-space relation of physical quantity can be expressed by the complex number</a:t>
            </a:r>
            <a:endParaRPr lang="zh-CN" altLang="zh-CN" sz="2000" b="1" dirty="0">
              <a:solidFill>
                <a:srgbClr val="8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18793" name="Text Box 15"/>
          <p:cNvSpPr txBox="1">
            <a:spLocks noChangeArrowheads="1"/>
          </p:cNvSpPr>
          <p:nvPr/>
        </p:nvSpPr>
        <p:spPr bwMode="auto">
          <a:xfrm>
            <a:off x="8423275" y="4294278"/>
            <a:ext cx="3212811" cy="923330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Methods of Real number representation or instantaneous representation</a:t>
            </a:r>
          </a:p>
        </p:txBody>
      </p:sp>
      <p:sp>
        <p:nvSpPr>
          <p:cNvPr id="850960" name="Line 16"/>
          <p:cNvSpPr>
            <a:spLocks noChangeShapeType="1"/>
          </p:cNvSpPr>
          <p:nvPr/>
        </p:nvSpPr>
        <p:spPr bwMode="auto">
          <a:xfrm flipH="1">
            <a:off x="6383338" y="5013325"/>
            <a:ext cx="1858962" cy="357188"/>
          </a:xfrm>
          <a:prstGeom prst="line">
            <a:avLst/>
          </a:prstGeom>
          <a:noFill/>
          <a:ln w="28575">
            <a:solidFill>
              <a:srgbClr val="FF6600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962" name="Text Box 18"/>
          <p:cNvSpPr txBox="1">
            <a:spLocks noChangeArrowheads="1"/>
          </p:cNvSpPr>
          <p:nvPr/>
        </p:nvSpPr>
        <p:spPr bwMode="auto">
          <a:xfrm>
            <a:off x="8656062" y="5843011"/>
            <a:ext cx="2888238" cy="646331"/>
          </a:xfrm>
          <a:prstGeom prst="rect">
            <a:avLst/>
          </a:prstGeom>
          <a:noFill/>
          <a:ln w="25400">
            <a:solidFill>
              <a:srgbClr val="FF66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Method of complex representation</a:t>
            </a:r>
          </a:p>
        </p:txBody>
      </p:sp>
      <p:sp>
        <p:nvSpPr>
          <p:cNvPr id="850963" name="Line 19"/>
          <p:cNvSpPr>
            <a:spLocks noChangeShapeType="1"/>
          </p:cNvSpPr>
          <p:nvPr/>
        </p:nvSpPr>
        <p:spPr bwMode="auto">
          <a:xfrm flipH="1" flipV="1">
            <a:off x="7978775" y="5843011"/>
            <a:ext cx="527050" cy="147638"/>
          </a:xfrm>
          <a:prstGeom prst="line">
            <a:avLst/>
          </a:prstGeom>
          <a:noFill/>
          <a:ln w="28575">
            <a:solidFill>
              <a:srgbClr val="FF6600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8797" name="Object 2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271713" y="4813083"/>
          <a:ext cx="3828474" cy="1424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9987200" imgH="18592800" progId="Equation.DSMT4">
                  <p:embed/>
                </p:oleObj>
              </mc:Choice>
              <mc:Fallback>
                <p:oleObj name="Equation" r:id="rId9" imgW="49987200" imgH="18592800" progId="Equation.DSMT4">
                  <p:embed/>
                  <p:pic>
                    <p:nvPicPr>
                      <p:cNvPr id="0" name="图片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1713" y="4813083"/>
                        <a:ext cx="3828474" cy="1424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8" name="AutoShape 26"/>
          <p:cNvSpPr>
            <a:spLocks noChangeArrowheads="1"/>
          </p:cNvSpPr>
          <p:nvPr/>
        </p:nvSpPr>
        <p:spPr bwMode="auto">
          <a:xfrm>
            <a:off x="6888164" y="5516563"/>
            <a:ext cx="649287" cy="144462"/>
          </a:xfrm>
          <a:prstGeom prst="leftRightArrow">
            <a:avLst>
              <a:gd name="adj1" fmla="val 50000"/>
              <a:gd name="adj2" fmla="val 89890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5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5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50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5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5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949" grpId="0" animBg="1"/>
      <p:bldP spid="850951" grpId="0" animBg="1"/>
      <p:bldP spid="118793" grpId="0" animBg="1"/>
      <p:bldP spid="850960" grpId="0" animBg="1"/>
      <p:bldP spid="850962" grpId="0" animBg="1"/>
      <p:bldP spid="850963" grpId="0" animBg="1"/>
      <p:bldP spid="11879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2" descr="新闻纸"/>
          <p:cNvSpPr txBox="1">
            <a:spLocks noChangeArrowheads="1"/>
          </p:cNvSpPr>
          <p:nvPr/>
        </p:nvSpPr>
        <p:spPr bwMode="auto">
          <a:xfrm>
            <a:off x="1524000" y="333376"/>
            <a:ext cx="9144000" cy="8309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When calculate the time-harmonic quantity about time derivative and integral , the complex representation is more advantageous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19812" name="Object 23"/>
          <p:cNvGraphicFramePr>
            <a:graphicFrameLocks noGrp="1" noChangeAspect="1"/>
          </p:cNvGraphicFramePr>
          <p:nvPr>
            <p:ph idx="4294967295"/>
          </p:nvPr>
        </p:nvGraphicFramePr>
        <p:xfrm>
          <a:off x="2259013" y="2771776"/>
          <a:ext cx="3746320" cy="860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148000" imgH="9448800" progId="Equation.DSMT4">
                  <p:embed/>
                </p:oleObj>
              </mc:Choice>
              <mc:Fallback>
                <p:oleObj name="Equation" r:id="rId2" imgW="41148000" imgH="9448800" progId="Equation.DSMT4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9013" y="2771776"/>
                        <a:ext cx="3746320" cy="8604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3" name="Object 25"/>
          <p:cNvGraphicFramePr>
            <a:graphicFrameLocks noChangeAspect="1"/>
          </p:cNvGraphicFramePr>
          <p:nvPr/>
        </p:nvGraphicFramePr>
        <p:xfrm>
          <a:off x="4637088" y="3889375"/>
          <a:ext cx="12414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96800" imgH="5181600" progId="Equation.DSMT4">
                  <p:embed/>
                </p:oleObj>
              </mc:Choice>
              <mc:Fallback>
                <p:oleObj name="Equation" r:id="rId4" imgW="12496800" imgH="51816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3889375"/>
                        <a:ext cx="12414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4" name="Object 26"/>
          <p:cNvGraphicFramePr>
            <a:graphicFrameLocks noChangeAspect="1"/>
          </p:cNvGraphicFramePr>
          <p:nvPr/>
        </p:nvGraphicFramePr>
        <p:xfrm>
          <a:off x="2112963" y="3690938"/>
          <a:ext cx="141287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630400" imgH="9448800" progId="Equation.DSMT4">
                  <p:embed/>
                </p:oleObj>
              </mc:Choice>
              <mc:Fallback>
                <p:oleObj name="Equation" r:id="rId6" imgW="14630400" imgH="94488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3690938"/>
                        <a:ext cx="141287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5" name="AutoShape 27"/>
          <p:cNvSpPr>
            <a:spLocks noChangeArrowheads="1"/>
          </p:cNvSpPr>
          <p:nvPr/>
        </p:nvSpPr>
        <p:spPr bwMode="auto">
          <a:xfrm>
            <a:off x="3575051" y="4076700"/>
            <a:ext cx="792163" cy="236538"/>
          </a:xfrm>
          <a:prstGeom prst="leftRightArrow">
            <a:avLst>
              <a:gd name="adj1" fmla="val 50000"/>
              <a:gd name="adj2" fmla="val 66980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119816" name="Object 33"/>
          <p:cNvGraphicFramePr>
            <a:graphicFrameLocks noChangeAspect="1"/>
          </p:cNvGraphicFramePr>
          <p:nvPr/>
        </p:nvGraphicFramePr>
        <p:xfrm>
          <a:off x="4532313" y="5118100"/>
          <a:ext cx="95567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486400" imgH="4572000" progId="Equation.DSMT4">
                  <p:embed/>
                </p:oleObj>
              </mc:Choice>
              <mc:Fallback>
                <p:oleObj name="Equation" r:id="rId8" imgW="5486400" imgH="45720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313" y="5118100"/>
                        <a:ext cx="95567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7" name="Object 34"/>
          <p:cNvGraphicFramePr>
            <a:graphicFrameLocks noChangeAspect="1"/>
          </p:cNvGraphicFramePr>
          <p:nvPr/>
        </p:nvGraphicFramePr>
        <p:xfrm>
          <a:off x="2376488" y="4830763"/>
          <a:ext cx="700087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2000" imgH="9448800" progId="Equation.DSMT4">
                  <p:embed/>
                </p:oleObj>
              </mc:Choice>
              <mc:Fallback>
                <p:oleObj name="Equation" r:id="rId10" imgW="4572000" imgH="9448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4830763"/>
                        <a:ext cx="700087" cy="137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8" name="AutoShape 35"/>
          <p:cNvSpPr>
            <a:spLocks noChangeArrowheads="1"/>
          </p:cNvSpPr>
          <p:nvPr/>
        </p:nvSpPr>
        <p:spPr bwMode="auto">
          <a:xfrm>
            <a:off x="3348039" y="5373688"/>
            <a:ext cx="1152525" cy="309562"/>
          </a:xfrm>
          <a:prstGeom prst="leftRightArrow">
            <a:avLst>
              <a:gd name="adj1" fmla="val 50000"/>
              <a:gd name="adj2" fmla="val 74462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39946" name="Object 44"/>
          <p:cNvGraphicFramePr>
            <a:graphicFrameLocks noChangeAspect="1"/>
          </p:cNvGraphicFramePr>
          <p:nvPr/>
        </p:nvGraphicFramePr>
        <p:xfrm>
          <a:off x="4134338" y="1147763"/>
          <a:ext cx="3925888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918400" imgH="5486400" progId="Equation.DSMT4">
                  <p:embed/>
                </p:oleObj>
              </mc:Choice>
              <mc:Fallback>
                <p:oleObj name="Equation" r:id="rId12" imgW="32918400" imgH="54864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4338" y="1147763"/>
                        <a:ext cx="3925888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0" name="Object 49"/>
          <p:cNvGraphicFramePr>
            <a:graphicFrameLocks noChangeAspect="1"/>
          </p:cNvGraphicFramePr>
          <p:nvPr/>
        </p:nvGraphicFramePr>
        <p:xfrm>
          <a:off x="6711950" y="2689225"/>
          <a:ext cx="3621088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3281600" imgH="10058400" progId="Equation.DSMT4">
                  <p:embed/>
                </p:oleObj>
              </mc:Choice>
              <mc:Fallback>
                <p:oleObj name="Equation" r:id="rId14" imgW="43281600" imgH="100584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1950" y="2689225"/>
                        <a:ext cx="3621088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1" name="Object 50"/>
          <p:cNvGraphicFramePr>
            <a:graphicFrameLocks noChangeAspect="1"/>
          </p:cNvGraphicFramePr>
          <p:nvPr/>
        </p:nvGraphicFramePr>
        <p:xfrm>
          <a:off x="8850314" y="3638551"/>
          <a:ext cx="1366837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36600" imgH="546100" progId="Equation.DSMT4">
                  <p:embed/>
                </p:oleObj>
              </mc:Choice>
              <mc:Fallback>
                <p:oleObj name="Equation" r:id="rId16" imgW="736600" imgH="5461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0314" y="3638551"/>
                        <a:ext cx="1366837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2" name="Object 51"/>
          <p:cNvGraphicFramePr>
            <a:graphicFrameLocks noChangeAspect="1"/>
          </p:cNvGraphicFramePr>
          <p:nvPr/>
        </p:nvGraphicFramePr>
        <p:xfrm>
          <a:off x="6677025" y="3922713"/>
          <a:ext cx="1214438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98500" imgH="355600" progId="Equation.DSMT4">
                  <p:embed/>
                </p:oleObj>
              </mc:Choice>
              <mc:Fallback>
                <p:oleObj name="Equation" r:id="rId18" imgW="698500" imgH="3556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025" y="3922713"/>
                        <a:ext cx="1214438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23" name="AutoShape 52"/>
          <p:cNvSpPr>
            <a:spLocks noChangeArrowheads="1"/>
          </p:cNvSpPr>
          <p:nvPr/>
        </p:nvSpPr>
        <p:spPr bwMode="auto">
          <a:xfrm>
            <a:off x="7967663" y="4076700"/>
            <a:ext cx="792162" cy="236538"/>
          </a:xfrm>
          <a:prstGeom prst="leftRightArrow">
            <a:avLst>
              <a:gd name="adj1" fmla="val 50000"/>
              <a:gd name="adj2" fmla="val 66980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119824" name="Object 53"/>
          <p:cNvGraphicFramePr>
            <a:graphicFrameLocks noChangeAspect="1"/>
          </p:cNvGraphicFramePr>
          <p:nvPr/>
        </p:nvGraphicFramePr>
        <p:xfrm>
          <a:off x="9120189" y="4941888"/>
          <a:ext cx="795337" cy="131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17500" imgH="533400" progId="Equation.DSMT4">
                  <p:embed/>
                </p:oleObj>
              </mc:Choice>
              <mc:Fallback>
                <p:oleObj name="Equation" r:id="rId20" imgW="317500" imgH="53340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0189" y="4941888"/>
                        <a:ext cx="795337" cy="1312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5" name="Object 54"/>
          <p:cNvGraphicFramePr>
            <a:graphicFrameLocks noChangeAspect="1"/>
          </p:cNvGraphicFramePr>
          <p:nvPr/>
        </p:nvGraphicFramePr>
        <p:xfrm>
          <a:off x="6762751" y="5057775"/>
          <a:ext cx="881063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30200" imgH="342900" progId="Equation.DSMT4">
                  <p:embed/>
                </p:oleObj>
              </mc:Choice>
              <mc:Fallback>
                <p:oleObj name="Equation" r:id="rId22" imgW="330200" imgH="342900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2751" y="5057775"/>
                        <a:ext cx="881063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26" name="AutoShape 55"/>
          <p:cNvSpPr>
            <a:spLocks noChangeArrowheads="1"/>
          </p:cNvSpPr>
          <p:nvPr/>
        </p:nvSpPr>
        <p:spPr bwMode="auto">
          <a:xfrm>
            <a:off x="7824789" y="5373688"/>
            <a:ext cx="1152525" cy="309562"/>
          </a:xfrm>
          <a:prstGeom prst="leftRightArrow">
            <a:avLst>
              <a:gd name="adj1" fmla="val 50000"/>
              <a:gd name="adj2" fmla="val 74462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39954" name="Rectangle 56"/>
          <p:cNvSpPr>
            <a:spLocks noChangeArrowheads="1"/>
          </p:cNvSpPr>
          <p:nvPr/>
        </p:nvSpPr>
        <p:spPr bwMode="auto">
          <a:xfrm>
            <a:off x="1631951" y="1844675"/>
            <a:ext cx="8893175" cy="4464050"/>
          </a:xfrm>
          <a:prstGeom prst="rect">
            <a:avLst/>
          </a:prstGeom>
          <a:noFill/>
          <a:ln w="12700" algn="ctr">
            <a:solidFill>
              <a:srgbClr val="FFFF66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39955" name="Line 57"/>
          <p:cNvSpPr>
            <a:spLocks noChangeShapeType="1"/>
          </p:cNvSpPr>
          <p:nvPr/>
        </p:nvSpPr>
        <p:spPr bwMode="auto">
          <a:xfrm>
            <a:off x="1633539" y="2565400"/>
            <a:ext cx="8893175" cy="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6" name="Line 58"/>
          <p:cNvSpPr>
            <a:spLocks noChangeShapeType="1"/>
          </p:cNvSpPr>
          <p:nvPr/>
        </p:nvSpPr>
        <p:spPr bwMode="auto">
          <a:xfrm>
            <a:off x="6167438" y="1844675"/>
            <a:ext cx="0" cy="4464050"/>
          </a:xfrm>
          <a:prstGeom prst="line">
            <a:avLst/>
          </a:prstGeom>
          <a:noFill/>
          <a:ln w="9525">
            <a:solidFill>
              <a:srgbClr val="FFFF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57" name="Text Box 59"/>
          <p:cNvSpPr txBox="1">
            <a:spLocks noChangeArrowheads="1"/>
          </p:cNvSpPr>
          <p:nvPr/>
        </p:nvSpPr>
        <p:spPr bwMode="auto">
          <a:xfrm>
            <a:off x="2351089" y="1989138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Derivative</a:t>
            </a:r>
          </a:p>
        </p:txBody>
      </p:sp>
      <p:sp>
        <p:nvSpPr>
          <p:cNvPr id="39958" name="Text Box 60"/>
          <p:cNvSpPr txBox="1">
            <a:spLocks noChangeArrowheads="1"/>
          </p:cNvSpPr>
          <p:nvPr/>
        </p:nvSpPr>
        <p:spPr bwMode="auto">
          <a:xfrm>
            <a:off x="7032625" y="1989138"/>
            <a:ext cx="280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Integral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9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9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9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9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9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9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5" grpId="0" animBg="1"/>
      <p:bldP spid="119818" grpId="0" animBg="1"/>
      <p:bldP spid="119823" grpId="0" animBg="1"/>
      <p:bldP spid="11982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4"/>
          <p:cNvSpPr txBox="1">
            <a:spLocks noChangeArrowheads="1"/>
          </p:cNvSpPr>
          <p:nvPr/>
        </p:nvSpPr>
        <p:spPr bwMode="auto">
          <a:xfrm>
            <a:off x="1919288" y="549276"/>
            <a:ext cx="80645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sz="2400" b="1">
                <a:solidFill>
                  <a:srgbClr val="0000CC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 The complex representation of Maxwell’s equations ──Complex vector Maxwell’s equations</a:t>
            </a:r>
          </a:p>
        </p:txBody>
      </p:sp>
      <p:graphicFrame>
        <p:nvGraphicFramePr>
          <p:cNvPr id="120836" name="Object 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847850" y="1724025"/>
          <a:ext cx="3816350" cy="271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52700" imgH="1803400" progId="Equation.DSMT4">
                  <p:embed/>
                </p:oleObj>
              </mc:Choice>
              <mc:Fallback>
                <p:oleObj name="Equation" r:id="rId3" imgW="2552700" imgH="1803400" progId="Equation.DSMT4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1724025"/>
                        <a:ext cx="3816350" cy="271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7" name="Object 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888164" y="1844675"/>
          <a:ext cx="3240087" cy="259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60600" imgH="1803400" progId="Equation.DSMT4">
                  <p:embed/>
                </p:oleObj>
              </mc:Choice>
              <mc:Fallback>
                <p:oleObj name="Equation" r:id="rId5" imgW="2260600" imgH="1803400" progId="Equation.DSMT4">
                  <p:embed/>
                  <p:pic>
                    <p:nvPicPr>
                      <p:cNvPr id="0" name="图片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4" y="1844675"/>
                        <a:ext cx="3240087" cy="259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8" name="Object 11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063750" y="4652963"/>
          <a:ext cx="27368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52600" imgH="533400" progId="Equation.DSMT4">
                  <p:embed/>
                </p:oleObj>
              </mc:Choice>
              <mc:Fallback>
                <p:oleObj name="Equation" r:id="rId7" imgW="1752600" imgH="533400" progId="Equation.DSMT4">
                  <p:embed/>
                  <p:pic>
                    <p:nvPicPr>
                      <p:cNvPr id="0" name="图片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4652963"/>
                        <a:ext cx="273685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9" name="AutoShape 7"/>
          <p:cNvSpPr>
            <a:spLocks noChangeArrowheads="1"/>
          </p:cNvSpPr>
          <p:nvPr/>
        </p:nvSpPr>
        <p:spPr bwMode="auto">
          <a:xfrm>
            <a:off x="5664201" y="2832101"/>
            <a:ext cx="1152525" cy="309563"/>
          </a:xfrm>
          <a:prstGeom prst="leftRightArrow">
            <a:avLst>
              <a:gd name="adj1" fmla="val 50000"/>
              <a:gd name="adj2" fmla="val 74461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120840" name="Object 1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959601" y="4581525"/>
          <a:ext cx="266382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00200" imgH="419100" progId="Equation.DSMT4">
                  <p:embed/>
                </p:oleObj>
              </mc:Choice>
              <mc:Fallback>
                <p:oleObj name="Equation" r:id="rId9" imgW="1600200" imgH="419100" progId="Equation.DSMT4">
                  <p:embed/>
                  <p:pic>
                    <p:nvPicPr>
                      <p:cNvPr id="0" name="图片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1" y="4581525"/>
                        <a:ext cx="266382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68" name="Picture 9" descr="BD05546_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288" y="5273676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859" name="Object 2"/>
          <p:cNvGraphicFramePr>
            <a:graphicFrameLocks noChangeAspect="1"/>
          </p:cNvGraphicFramePr>
          <p:nvPr/>
        </p:nvGraphicFramePr>
        <p:xfrm>
          <a:off x="5637213" y="1535113"/>
          <a:ext cx="1827212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78400" imgH="10058400" progId="Equation.DSMT4">
                  <p:embed/>
                </p:oleObj>
              </mc:Choice>
              <mc:Fallback>
                <p:oleObj name="Equation" r:id="rId2" imgW="17678400" imgH="100584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213" y="1535113"/>
                        <a:ext cx="1827212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0" name="Object 3"/>
          <p:cNvGraphicFramePr>
            <a:graphicFrameLocks noChangeAspect="1"/>
          </p:cNvGraphicFramePr>
          <p:nvPr/>
        </p:nvGraphicFramePr>
        <p:xfrm>
          <a:off x="3773488" y="1539875"/>
          <a:ext cx="1474787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25600" imgH="9753600" progId="Equation.DSMT4">
                  <p:embed/>
                </p:oleObj>
              </mc:Choice>
              <mc:Fallback>
                <p:oleObj name="Equation" r:id="rId4" imgW="14325600" imgH="97536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3488" y="1539875"/>
                        <a:ext cx="1474787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1" name="Text Box 4"/>
          <p:cNvSpPr txBox="1">
            <a:spLocks noChangeArrowheads="1"/>
          </p:cNvSpPr>
          <p:nvPr/>
        </p:nvSpPr>
        <p:spPr bwMode="auto">
          <a:xfrm>
            <a:off x="2640013" y="2565400"/>
            <a:ext cx="316865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sym typeface="Wingdings" panose="05000000000000000000" pitchFamily="2" charset="2"/>
              </a:rPr>
              <a:t>Instantaneous vector</a:t>
            </a:r>
          </a:p>
        </p:txBody>
      </p:sp>
      <p:sp>
        <p:nvSpPr>
          <p:cNvPr id="121862" name="Text Box 5"/>
          <p:cNvSpPr txBox="1">
            <a:spLocks noChangeArrowheads="1"/>
          </p:cNvSpPr>
          <p:nvPr/>
        </p:nvSpPr>
        <p:spPr bwMode="auto">
          <a:xfrm>
            <a:off x="7104063" y="2636839"/>
            <a:ext cx="20891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sym typeface="Wingdings" panose="05000000000000000000" pitchFamily="2" charset="2"/>
              </a:rPr>
              <a:t>Complex vector</a:t>
            </a:r>
          </a:p>
        </p:txBody>
      </p:sp>
      <p:graphicFrame>
        <p:nvGraphicFramePr>
          <p:cNvPr id="121863" name="Object 7"/>
          <p:cNvGraphicFramePr>
            <a:graphicFrameLocks noChangeAspect="1"/>
          </p:cNvGraphicFramePr>
          <p:nvPr/>
        </p:nvGraphicFramePr>
        <p:xfrm>
          <a:off x="6999288" y="3402013"/>
          <a:ext cx="2360612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08000" imgH="12801600" progId="Equation.DSMT4">
                  <p:embed/>
                </p:oleObj>
              </mc:Choice>
              <mc:Fallback>
                <p:oleObj name="Equation" r:id="rId6" imgW="25908000" imgH="128016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9288" y="3402013"/>
                        <a:ext cx="2360612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4" name="Object 8"/>
          <p:cNvGraphicFramePr>
            <a:graphicFrameLocks noChangeAspect="1"/>
          </p:cNvGraphicFramePr>
          <p:nvPr/>
        </p:nvGraphicFramePr>
        <p:xfrm>
          <a:off x="7154863" y="4591050"/>
          <a:ext cx="177958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202400" imgH="6096000" progId="Equation.DSMT4">
                  <p:embed/>
                </p:oleObj>
              </mc:Choice>
              <mc:Fallback>
                <p:oleObj name="Equation" r:id="rId8" imgW="19202400" imgH="60960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4863" y="4591050"/>
                        <a:ext cx="1779587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5" name="Object 9"/>
          <p:cNvGraphicFramePr>
            <a:graphicFrameLocks noChangeAspect="1"/>
          </p:cNvGraphicFramePr>
          <p:nvPr/>
        </p:nvGraphicFramePr>
        <p:xfrm>
          <a:off x="2620963" y="3262313"/>
          <a:ext cx="2640012" cy="188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089600" imgH="21945600" progId="Equation.DSMT4">
                  <p:embed/>
                </p:oleObj>
              </mc:Choice>
              <mc:Fallback>
                <p:oleObj name="Equation" r:id="rId10" imgW="31089600" imgH="219456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3262313"/>
                        <a:ext cx="2640012" cy="188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6" name="AutoShape 10"/>
          <p:cNvSpPr>
            <a:spLocks noChangeArrowheads="1"/>
          </p:cNvSpPr>
          <p:nvPr/>
        </p:nvSpPr>
        <p:spPr bwMode="auto">
          <a:xfrm flipH="1">
            <a:off x="5735638" y="4103688"/>
            <a:ext cx="792162" cy="215900"/>
          </a:xfrm>
          <a:prstGeom prst="leftArrow">
            <a:avLst>
              <a:gd name="adj1" fmla="val 50000"/>
              <a:gd name="adj2" fmla="val 91728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41994" name="Text Box 11"/>
          <p:cNvSpPr txBox="1">
            <a:spLocks noChangeArrowheads="1"/>
          </p:cNvSpPr>
          <p:nvPr/>
        </p:nvSpPr>
        <p:spPr bwMode="auto">
          <a:xfrm>
            <a:off x="1992314" y="620714"/>
            <a:ext cx="75596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12"/>
              </a:buBlip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400" b="1">
                <a:solidFill>
                  <a:srgbClr val="0000CC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Complex representation of wave equations in the passive region ──Helmholtz’s equations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404619" y="5367915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2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1" grpId="0"/>
      <p:bldP spid="121862" grpId="0"/>
      <p:bldP spid="12186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Text Box 2"/>
          <p:cNvSpPr txBox="1">
            <a:spLocks noChangeArrowheads="1"/>
          </p:cNvSpPr>
          <p:nvPr/>
        </p:nvSpPr>
        <p:spPr bwMode="auto">
          <a:xfrm>
            <a:off x="2135188" y="3429000"/>
            <a:ext cx="4248150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Lorentz’s condition</a:t>
            </a:r>
          </a:p>
        </p:txBody>
      </p:sp>
      <p:sp>
        <p:nvSpPr>
          <p:cNvPr id="122884" name="Text Box 3"/>
          <p:cNvSpPr txBox="1">
            <a:spLocks noChangeArrowheads="1"/>
          </p:cNvSpPr>
          <p:nvPr/>
        </p:nvSpPr>
        <p:spPr bwMode="auto">
          <a:xfrm>
            <a:off x="3000376" y="1268413"/>
            <a:ext cx="2665413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rgbClr val="000000"/>
                </a:solidFill>
                <a:sym typeface="Wingdings" panose="05000000000000000000" pitchFamily="2" charset="2"/>
              </a:rPr>
              <a:t>Instantaneous vector</a:t>
            </a:r>
          </a:p>
        </p:txBody>
      </p:sp>
      <p:sp>
        <p:nvSpPr>
          <p:cNvPr id="122885" name="Text Box 4"/>
          <p:cNvSpPr txBox="1">
            <a:spLocks noChangeArrowheads="1"/>
          </p:cNvSpPr>
          <p:nvPr/>
        </p:nvSpPr>
        <p:spPr bwMode="auto">
          <a:xfrm>
            <a:off x="7297738" y="1196975"/>
            <a:ext cx="26654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sym typeface="Wingdings" panose="05000000000000000000" pitchFamily="2" charset="2"/>
              </a:rPr>
              <a:t>Complex vector</a:t>
            </a:r>
          </a:p>
        </p:txBody>
      </p:sp>
      <p:graphicFrame>
        <p:nvGraphicFramePr>
          <p:cNvPr id="122886" name="Object 5"/>
          <p:cNvGraphicFramePr>
            <a:graphicFrameLocks noChangeAspect="1"/>
          </p:cNvGraphicFramePr>
          <p:nvPr/>
        </p:nvGraphicFramePr>
        <p:xfrm>
          <a:off x="2984500" y="3910013"/>
          <a:ext cx="199231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469600" imgH="9448800" progId="Equation.DSMT4">
                  <p:embed/>
                </p:oleObj>
              </mc:Choice>
              <mc:Fallback>
                <p:oleObj name="Equation" r:id="rId2" imgW="23469600" imgH="9448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3910013"/>
                        <a:ext cx="199231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7" name="Object 6"/>
          <p:cNvGraphicFramePr>
            <a:graphicFrameLocks noChangeAspect="1"/>
          </p:cNvGraphicFramePr>
          <p:nvPr/>
        </p:nvGraphicFramePr>
        <p:xfrm>
          <a:off x="7226300" y="3967163"/>
          <a:ext cx="20558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079200" imgH="6096000" progId="Equation.DSMT4">
                  <p:embed/>
                </p:oleObj>
              </mc:Choice>
              <mc:Fallback>
                <p:oleObj name="Equation" r:id="rId4" imgW="24079200" imgH="60960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6300" y="3967163"/>
                        <a:ext cx="205581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8" name="AutoShape 7"/>
          <p:cNvSpPr>
            <a:spLocks noChangeArrowheads="1"/>
          </p:cNvSpPr>
          <p:nvPr/>
        </p:nvSpPr>
        <p:spPr bwMode="auto">
          <a:xfrm flipH="1">
            <a:off x="5664201" y="4221163"/>
            <a:ext cx="792163" cy="215900"/>
          </a:xfrm>
          <a:prstGeom prst="leftArrow">
            <a:avLst>
              <a:gd name="adj1" fmla="val 50000"/>
              <a:gd name="adj2" fmla="val 91728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122889" name="Object 8"/>
          <p:cNvGraphicFramePr>
            <a:graphicFrameLocks noChangeAspect="1"/>
          </p:cNvGraphicFramePr>
          <p:nvPr/>
        </p:nvGraphicFramePr>
        <p:xfrm>
          <a:off x="2767013" y="1677988"/>
          <a:ext cx="2906712" cy="181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442400" imgH="21336000" progId="Equation.DSMT4">
                  <p:embed/>
                </p:oleObj>
              </mc:Choice>
              <mc:Fallback>
                <p:oleObj name="Equation" r:id="rId6" imgW="34442400" imgH="213360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3" y="1677988"/>
                        <a:ext cx="2906712" cy="181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890" name="Group 9"/>
          <p:cNvGrpSpPr/>
          <p:nvPr/>
        </p:nvGrpSpPr>
        <p:grpSpPr bwMode="auto">
          <a:xfrm>
            <a:off x="6167439" y="1897061"/>
            <a:ext cx="3405188" cy="1403349"/>
            <a:chOff x="3152" y="3146"/>
            <a:chExt cx="2145" cy="884"/>
          </a:xfrm>
        </p:grpSpPr>
        <p:graphicFrame>
          <p:nvGraphicFramePr>
            <p:cNvPr id="43025" name="Object 10"/>
            <p:cNvGraphicFramePr>
              <a:graphicFrameLocks noChangeAspect="1"/>
            </p:cNvGraphicFramePr>
            <p:nvPr/>
          </p:nvGraphicFramePr>
          <p:xfrm>
            <a:off x="3734" y="3146"/>
            <a:ext cx="1563" cy="8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9260800" imgH="16459200" progId="Equation.DSMT4">
                    <p:embed/>
                  </p:oleObj>
                </mc:Choice>
                <mc:Fallback>
                  <p:oleObj name="Equation" r:id="rId8" imgW="29260800" imgH="16459200" progId="Equation.DSMT4">
                    <p:embed/>
                    <p:pic>
                      <p:nvPicPr>
                        <p:cNvPr id="0" name="图片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4" y="3146"/>
                          <a:ext cx="1563" cy="8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6" name="AutoShape 11"/>
            <p:cNvSpPr>
              <a:spLocks noChangeArrowheads="1"/>
            </p:cNvSpPr>
            <p:nvPr/>
          </p:nvSpPr>
          <p:spPr bwMode="auto">
            <a:xfrm flipH="1">
              <a:off x="3152" y="3521"/>
              <a:ext cx="499" cy="136"/>
            </a:xfrm>
            <a:prstGeom prst="leftArrow">
              <a:avLst>
                <a:gd name="adj1" fmla="val 50000"/>
                <a:gd name="adj2" fmla="val 91728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endParaRPr lang="zh-CN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sp>
        <p:nvSpPr>
          <p:cNvPr id="43018" name="Text Box 12"/>
          <p:cNvSpPr txBox="1">
            <a:spLocks noChangeArrowheads="1"/>
          </p:cNvSpPr>
          <p:nvPr/>
        </p:nvSpPr>
        <p:spPr bwMode="auto">
          <a:xfrm>
            <a:off x="1919289" y="333376"/>
            <a:ext cx="75596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10"/>
              </a:buBlip>
            </a:pP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  </a:t>
            </a:r>
            <a:r>
              <a:rPr lang="en-US" altLang="zh-CN" sz="2400" b="1">
                <a:solidFill>
                  <a:srgbClr val="0000CC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The complex representation of the potential function equations in the active region</a:t>
            </a:r>
          </a:p>
        </p:txBody>
      </p:sp>
      <p:graphicFrame>
        <p:nvGraphicFramePr>
          <p:cNvPr id="122894" name="Object 13"/>
          <p:cNvGraphicFramePr>
            <a:graphicFrameLocks noChangeAspect="1"/>
          </p:cNvGraphicFramePr>
          <p:nvPr/>
        </p:nvGraphicFramePr>
        <p:xfrm>
          <a:off x="2911475" y="5627688"/>
          <a:ext cx="19034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555200" imgH="10363200" progId="Equation.DSMT4">
                  <p:embed/>
                </p:oleObj>
              </mc:Choice>
              <mc:Fallback>
                <p:oleObj name="Equation" r:id="rId11" imgW="22555200" imgH="103632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475" y="5627688"/>
                        <a:ext cx="1903413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5" name="Object 14"/>
          <p:cNvGraphicFramePr>
            <a:graphicFrameLocks noChangeAspect="1"/>
          </p:cNvGraphicFramePr>
          <p:nvPr/>
        </p:nvGraphicFramePr>
        <p:xfrm>
          <a:off x="2981325" y="5121275"/>
          <a:ext cx="15208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40000" imgH="5486400" progId="Equation.DSMT4">
                  <p:embed/>
                </p:oleObj>
              </mc:Choice>
              <mc:Fallback>
                <p:oleObj name="Equation" r:id="rId13" imgW="15240000" imgH="54864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325" y="5121275"/>
                        <a:ext cx="152082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6" name="Text Box 15"/>
          <p:cNvSpPr txBox="1">
            <a:spLocks noChangeArrowheads="1"/>
          </p:cNvSpPr>
          <p:nvPr/>
        </p:nvSpPr>
        <p:spPr bwMode="auto">
          <a:xfrm>
            <a:off x="1992313" y="4724400"/>
            <a:ext cx="63357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Field</a:t>
            </a:r>
            <a:r>
              <a:rPr kumimoji="1" lang="en-US" altLang="zh-CN" sz="20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based on potential functions</a:t>
            </a:r>
          </a:p>
        </p:txBody>
      </p:sp>
      <p:graphicFrame>
        <p:nvGraphicFramePr>
          <p:cNvPr id="122897" name="Object 16"/>
          <p:cNvGraphicFramePr>
            <a:graphicFrameLocks noChangeAspect="1"/>
          </p:cNvGraphicFramePr>
          <p:nvPr/>
        </p:nvGraphicFramePr>
        <p:xfrm>
          <a:off x="6797675" y="5607050"/>
          <a:ext cx="2643188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1394400" imgH="10972800" progId="Equation.DSMT4">
                  <p:embed/>
                </p:oleObj>
              </mc:Choice>
              <mc:Fallback>
                <p:oleObj name="Equation" r:id="rId15" imgW="31394400" imgH="109728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675" y="5607050"/>
                        <a:ext cx="2643188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98" name="Object 17"/>
          <p:cNvGraphicFramePr>
            <a:graphicFrameLocks noChangeAspect="1"/>
          </p:cNvGraphicFramePr>
          <p:nvPr/>
        </p:nvGraphicFramePr>
        <p:xfrm>
          <a:off x="6869113" y="5191125"/>
          <a:ext cx="15208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240000" imgH="5486400" progId="Equation.DSMT4">
                  <p:embed/>
                </p:oleObj>
              </mc:Choice>
              <mc:Fallback>
                <p:oleObj name="Equation" r:id="rId17" imgW="15240000" imgH="54864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9113" y="5191125"/>
                        <a:ext cx="152082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9" name="AutoShape 18"/>
          <p:cNvSpPr>
            <a:spLocks noChangeArrowheads="1"/>
          </p:cNvSpPr>
          <p:nvPr/>
        </p:nvSpPr>
        <p:spPr bwMode="auto">
          <a:xfrm flipH="1">
            <a:off x="5591176" y="5661025"/>
            <a:ext cx="792163" cy="215900"/>
          </a:xfrm>
          <a:prstGeom prst="leftArrow">
            <a:avLst>
              <a:gd name="adj1" fmla="val 50000"/>
              <a:gd name="adj2" fmla="val 91728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2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2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22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2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/>
      <p:bldP spid="122884" grpId="0"/>
      <p:bldP spid="122885" grpId="0"/>
      <p:bldP spid="122888" grpId="0" animBg="1"/>
      <p:bldP spid="122896" grpId="0"/>
      <p:bldP spid="12289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051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86000" y="2965450"/>
          <a:ext cx="53800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398400" imgH="8229600" progId="Equation.DSMT4">
                  <p:embed/>
                </p:oleObj>
              </mc:Choice>
              <mc:Fallback>
                <p:oleObj name="Equation" r:id="rId2" imgW="63398400" imgH="8229600" progId="Equation.DSMT4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965450"/>
                        <a:ext cx="538003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566988" y="1343025"/>
          <a:ext cx="45370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350400" imgH="8229600" progId="Equation.DSMT4">
                  <p:embed/>
                </p:oleObj>
              </mc:Choice>
              <mc:Fallback>
                <p:oleObj name="Equation" r:id="rId4" imgW="60350400" imgH="8229600" progId="Equation.DSMT4">
                  <p:embed/>
                  <p:pic>
                    <p:nvPicPr>
                      <p:cNvPr id="0" name="图片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1343025"/>
                        <a:ext cx="453707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3" name="Object 5"/>
          <p:cNvGraphicFramePr>
            <a:graphicFrameLocks noChangeAspect="1"/>
          </p:cNvGraphicFramePr>
          <p:nvPr/>
        </p:nvGraphicFramePr>
        <p:xfrm>
          <a:off x="3975100" y="2205038"/>
          <a:ext cx="12573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431800" progId="Equation.DSMT4">
                  <p:embed/>
                </p:oleObj>
              </mc:Choice>
              <mc:Fallback>
                <p:oleObj name="Equation" r:id="rId6" imgW="1143000" imgH="4318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2205038"/>
                        <a:ext cx="12573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4" name="Object 6"/>
          <p:cNvGraphicFramePr>
            <a:graphicFrameLocks noChangeAspect="1"/>
          </p:cNvGraphicFramePr>
          <p:nvPr/>
        </p:nvGraphicFramePr>
        <p:xfrm>
          <a:off x="6783388" y="2276476"/>
          <a:ext cx="12573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431800" progId="Equation.DSMT4">
                  <p:embed/>
                </p:oleObj>
              </mc:Choice>
              <mc:Fallback>
                <p:oleObj name="Equation" r:id="rId8" imgW="1143000" imgH="4318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3388" y="2276476"/>
                        <a:ext cx="12573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5" name="AutoShape 7"/>
          <p:cNvSpPr>
            <a:spLocks noChangeArrowheads="1"/>
          </p:cNvSpPr>
          <p:nvPr/>
        </p:nvSpPr>
        <p:spPr bwMode="auto">
          <a:xfrm>
            <a:off x="5272088" y="2133601"/>
            <a:ext cx="176212" cy="790575"/>
          </a:xfrm>
          <a:prstGeom prst="downArrow">
            <a:avLst>
              <a:gd name="adj1" fmla="val 50000"/>
              <a:gd name="adj2" fmla="val 112162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0056" name="AutoShape 8"/>
          <p:cNvSpPr>
            <a:spLocks noChangeArrowheads="1"/>
          </p:cNvSpPr>
          <p:nvPr/>
        </p:nvSpPr>
        <p:spPr bwMode="auto">
          <a:xfrm>
            <a:off x="6527801" y="2133601"/>
            <a:ext cx="144463" cy="790575"/>
          </a:xfrm>
          <a:prstGeom prst="downArrow">
            <a:avLst>
              <a:gd name="adj1" fmla="val 50000"/>
              <a:gd name="adj2" fmla="val 136813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30057" name="Object 9"/>
          <p:cNvGraphicFramePr>
            <a:graphicFrameLocks noChangeAspect="1"/>
          </p:cNvGraphicFramePr>
          <p:nvPr/>
        </p:nvGraphicFramePr>
        <p:xfrm>
          <a:off x="1981200" y="3852863"/>
          <a:ext cx="6302375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1264800" imgH="11582400" progId="Equation.DSMT4">
                  <p:embed/>
                </p:oleObj>
              </mc:Choice>
              <mc:Fallback>
                <p:oleObj name="Equation" r:id="rId10" imgW="61264800" imgH="115824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852863"/>
                        <a:ext cx="6302375" cy="120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8" name="Object 10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3000375" y="5510213"/>
          <a:ext cx="381635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1816000" imgH="8229600" progId="Equation.DSMT4">
                  <p:embed/>
                </p:oleObj>
              </mc:Choice>
              <mc:Fallback>
                <p:oleObj name="Equation" r:id="rId12" imgW="51816000" imgH="8229600" progId="Equation.DSMT4">
                  <p:embed/>
                  <p:pic>
                    <p:nvPicPr>
                      <p:cNvPr id="0" name="图片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5510213"/>
                        <a:ext cx="381635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9" name="AutoShape 11"/>
          <p:cNvSpPr>
            <a:spLocks noChangeArrowheads="1"/>
          </p:cNvSpPr>
          <p:nvPr/>
        </p:nvSpPr>
        <p:spPr bwMode="auto">
          <a:xfrm>
            <a:off x="6024564" y="3573464"/>
            <a:ext cx="142875" cy="790575"/>
          </a:xfrm>
          <a:prstGeom prst="downArrow">
            <a:avLst>
              <a:gd name="adj1" fmla="val 50000"/>
              <a:gd name="adj2" fmla="val 138333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0060" name="AutoShape 12"/>
          <p:cNvSpPr>
            <a:spLocks noChangeArrowheads="1"/>
          </p:cNvSpPr>
          <p:nvPr/>
        </p:nvSpPr>
        <p:spPr bwMode="auto">
          <a:xfrm>
            <a:off x="6024564" y="4725989"/>
            <a:ext cx="142875" cy="790575"/>
          </a:xfrm>
          <a:prstGeom prst="downArrow">
            <a:avLst>
              <a:gd name="adj1" fmla="val 50000"/>
              <a:gd name="adj2" fmla="val 138333"/>
            </a:avLst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044" name="Text Box 2"/>
          <p:cNvSpPr txBox="1">
            <a:spLocks noChangeArrowheads="1"/>
          </p:cNvSpPr>
          <p:nvPr/>
        </p:nvSpPr>
        <p:spPr bwMode="auto">
          <a:xfrm>
            <a:off x="1992314" y="620714"/>
            <a:ext cx="66246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14"/>
              </a:buBlip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The simple representation of conductive medium──</a:t>
            </a: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Complex dielectric constant</a:t>
            </a:r>
          </a:p>
        </p:txBody>
      </p:sp>
      <p:pic>
        <p:nvPicPr>
          <p:cNvPr id="44045" name="Picture 14" descr="BD05546_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5052" y="5389562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3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1919289" y="404813"/>
            <a:ext cx="6624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Medium loss tangent</a:t>
            </a:r>
            <a:endParaRPr kumimoji="1" lang="en-US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graphicFrame>
        <p:nvGraphicFramePr>
          <p:cNvPr id="124932" name="Object 6"/>
          <p:cNvGraphicFramePr>
            <a:graphicFrameLocks noChangeAspect="1"/>
          </p:cNvGraphicFramePr>
          <p:nvPr/>
        </p:nvGraphicFramePr>
        <p:xfrm>
          <a:off x="5448300" y="2268541"/>
          <a:ext cx="171132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90600" imgH="292100" progId="Equation.DSMT4">
                  <p:embed/>
                </p:oleObj>
              </mc:Choice>
              <mc:Fallback>
                <p:oleObj name="Equation" r:id="rId3" imgW="990600" imgH="2921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2268541"/>
                        <a:ext cx="1711325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3" name="Text Box 14"/>
          <p:cNvSpPr txBox="1">
            <a:spLocks noChangeArrowheads="1"/>
          </p:cNvSpPr>
          <p:nvPr/>
        </p:nvSpPr>
        <p:spPr bwMode="auto">
          <a:xfrm>
            <a:off x="2208214" y="908051"/>
            <a:ext cx="9637422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For electromagnetic wave, the imaginary part of the complex permittivity of the medium will make the attenuation of the electromagnetic wave</a:t>
            </a:r>
            <a:r>
              <a:rPr lang="zh-CN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。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Therefore, in terms of electromagnetic wave propagation</a:t>
            </a:r>
            <a:r>
              <a:rPr lang="zh-CN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dielectric constant / magnetic permeability with imaginary part of the medium is also called loss medium,</a:t>
            </a:r>
            <a:endParaRPr lang="zh-CN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pSp>
        <p:nvGrpSpPr>
          <p:cNvPr id="869394" name="Group 18"/>
          <p:cNvGrpSpPr/>
          <p:nvPr/>
        </p:nvGrpSpPr>
        <p:grpSpPr bwMode="auto">
          <a:xfrm>
            <a:off x="1747838" y="3372577"/>
            <a:ext cx="8616949" cy="900113"/>
            <a:chOff x="105" y="1302"/>
            <a:chExt cx="5428" cy="567"/>
          </a:xfrm>
        </p:grpSpPr>
        <p:graphicFrame>
          <p:nvGraphicFramePr>
            <p:cNvPr id="45074" name="Object 19"/>
            <p:cNvGraphicFramePr>
              <a:graphicFrameLocks noChangeAspect="1"/>
            </p:cNvGraphicFramePr>
            <p:nvPr/>
          </p:nvGraphicFramePr>
          <p:xfrm>
            <a:off x="4546" y="1302"/>
            <a:ext cx="987" cy="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8288000" imgH="9448800" progId="Equation.DSMT4">
                    <p:embed/>
                  </p:oleObj>
                </mc:Choice>
                <mc:Fallback>
                  <p:oleObj name="Equation" r:id="rId5" imgW="18288000" imgH="9448800" progId="Equation.DSMT4">
                    <p:embed/>
                    <p:pic>
                      <p:nvPicPr>
                        <p:cNvPr id="0" name="图片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6" y="1302"/>
                          <a:ext cx="987" cy="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75" name="Object 20"/>
            <p:cNvGraphicFramePr>
              <a:graphicFrameLocks noChangeAspect="1"/>
            </p:cNvGraphicFramePr>
            <p:nvPr/>
          </p:nvGraphicFramePr>
          <p:xfrm>
            <a:off x="957" y="1319"/>
            <a:ext cx="987" cy="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8288000" imgH="9448800" progId="Equation.DSMT4">
                    <p:embed/>
                  </p:oleObj>
                </mc:Choice>
                <mc:Fallback>
                  <p:oleObj name="Equation" r:id="rId7" imgW="18288000" imgH="9448800" progId="Equation.DSMT4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7" y="1319"/>
                          <a:ext cx="987" cy="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6" name="Text Box 21"/>
            <p:cNvSpPr txBox="1">
              <a:spLocks noChangeArrowheads="1"/>
            </p:cNvSpPr>
            <p:nvPr/>
          </p:nvSpPr>
          <p:spPr bwMode="auto">
            <a:xfrm>
              <a:off x="105" y="1389"/>
              <a:ext cx="113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Dielectric</a:t>
              </a:r>
            </a:p>
          </p:txBody>
        </p:sp>
        <p:graphicFrame>
          <p:nvGraphicFramePr>
            <p:cNvPr id="45077" name="Object 22"/>
            <p:cNvGraphicFramePr>
              <a:graphicFrameLocks noChangeAspect="1"/>
            </p:cNvGraphicFramePr>
            <p:nvPr/>
          </p:nvGraphicFramePr>
          <p:xfrm>
            <a:off x="2674" y="1303"/>
            <a:ext cx="1034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202400" imgH="10058400" progId="Equation.DSMT4">
                    <p:embed/>
                  </p:oleObj>
                </mc:Choice>
                <mc:Fallback>
                  <p:oleObj name="Equation" r:id="rId9" imgW="19202400" imgH="10058400" progId="Equation.DSMT4">
                    <p:embed/>
                    <p:pic>
                      <p:nvPicPr>
                        <p:cNvPr id="0" name="图片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4" y="1303"/>
                          <a:ext cx="1034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8" name="Text Box 23"/>
            <p:cNvSpPr txBox="1">
              <a:spLocks noChangeArrowheads="1"/>
            </p:cNvSpPr>
            <p:nvPr/>
          </p:nvSpPr>
          <p:spPr bwMode="auto">
            <a:xfrm>
              <a:off x="3651" y="1389"/>
              <a:ext cx="1134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Conductive medium</a:t>
              </a:r>
            </a:p>
          </p:txBody>
        </p:sp>
        <p:sp>
          <p:nvSpPr>
            <p:cNvPr id="45079" name="Text Box 24"/>
            <p:cNvSpPr txBox="1">
              <a:spLocks noChangeArrowheads="1"/>
            </p:cNvSpPr>
            <p:nvPr/>
          </p:nvSpPr>
          <p:spPr bwMode="auto">
            <a:xfrm>
              <a:off x="1960" y="1389"/>
              <a:ext cx="113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Magnetic</a:t>
              </a:r>
            </a:p>
          </p:txBody>
        </p:sp>
      </p:grpSp>
      <p:grpSp>
        <p:nvGrpSpPr>
          <p:cNvPr id="869401" name="Group 25"/>
          <p:cNvGrpSpPr/>
          <p:nvPr/>
        </p:nvGrpSpPr>
        <p:grpSpPr bwMode="auto">
          <a:xfrm>
            <a:off x="4418013" y="4233005"/>
            <a:ext cx="6176962" cy="1054102"/>
            <a:chOff x="1076" y="2604"/>
            <a:chExt cx="3891" cy="664"/>
          </a:xfrm>
        </p:grpSpPr>
        <p:graphicFrame>
          <p:nvGraphicFramePr>
            <p:cNvPr id="45072" name="Object 26"/>
            <p:cNvGraphicFramePr>
              <a:graphicFrameLocks noChangeAspect="1"/>
            </p:cNvGraphicFramePr>
            <p:nvPr/>
          </p:nvGraphicFramePr>
          <p:xfrm>
            <a:off x="1076" y="2604"/>
            <a:ext cx="697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2801600" imgH="9448800" progId="Equation.DSMT4">
                    <p:embed/>
                  </p:oleObj>
                </mc:Choice>
                <mc:Fallback>
                  <p:oleObj name="Equation" r:id="rId11" imgW="12801600" imgH="9448800" progId="Equation.DSMT4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6" y="2604"/>
                          <a:ext cx="697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3" name="Text Box 27"/>
            <p:cNvSpPr txBox="1">
              <a:spLocks noChangeArrowheads="1"/>
            </p:cNvSpPr>
            <p:nvPr/>
          </p:nvSpPr>
          <p:spPr bwMode="auto">
            <a:xfrm>
              <a:off x="1701" y="2710"/>
              <a:ext cx="3266" cy="5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——</a:t>
              </a:r>
              <a:r>
                <a:rPr kumimoji="1"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1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Weakly conducting medium</a:t>
              </a:r>
            </a:p>
            <a:p>
              <a:pPr algn="just" eaLnBrk="1" hangingPunct="1">
                <a:lnSpc>
                  <a:spcPct val="11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1" lang="en-US" altLang="zh-CN" sz="1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            and good insulator</a:t>
              </a:r>
            </a:p>
          </p:txBody>
        </p:sp>
      </p:grpSp>
      <p:grpSp>
        <p:nvGrpSpPr>
          <p:cNvPr id="869404" name="Group 28"/>
          <p:cNvGrpSpPr/>
          <p:nvPr/>
        </p:nvGrpSpPr>
        <p:grpSpPr bwMode="auto">
          <a:xfrm>
            <a:off x="4454526" y="5157224"/>
            <a:ext cx="6067425" cy="830263"/>
            <a:chOff x="1099" y="3099"/>
            <a:chExt cx="3822" cy="523"/>
          </a:xfrm>
        </p:grpSpPr>
        <p:graphicFrame>
          <p:nvGraphicFramePr>
            <p:cNvPr id="45070" name="Object 29"/>
            <p:cNvGraphicFramePr>
              <a:graphicFrameLocks noChangeAspect="1"/>
            </p:cNvGraphicFramePr>
            <p:nvPr/>
          </p:nvGraphicFramePr>
          <p:xfrm>
            <a:off x="1099" y="3099"/>
            <a:ext cx="602" cy="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0972800" imgH="9448800" progId="Equation.DSMT4">
                    <p:embed/>
                  </p:oleObj>
                </mc:Choice>
                <mc:Fallback>
                  <p:oleObj name="Equation" r:id="rId13" imgW="10972800" imgH="9448800" progId="Equation.DSMT4">
                    <p:embed/>
                    <p:pic>
                      <p:nvPicPr>
                        <p:cNvPr id="0" name="图片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9" y="3099"/>
                          <a:ext cx="602" cy="5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1" name="Text Box 30"/>
            <p:cNvSpPr txBox="1">
              <a:spLocks noChangeArrowheads="1"/>
            </p:cNvSpPr>
            <p:nvPr/>
          </p:nvSpPr>
          <p:spPr bwMode="auto">
            <a:xfrm>
              <a:off x="1655" y="3164"/>
              <a:ext cx="3266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CC"/>
                  </a:solidFill>
                  <a:latin typeface="宋体" panose="02010600030101010101" pitchFamily="2" charset="-122"/>
                </a:rPr>
                <a:t>——</a:t>
              </a: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1800" b="1">
                  <a:solidFill>
                    <a:srgbClr val="0000CC"/>
                  </a:solidFill>
                  <a:latin typeface="Times New Roman" panose="02020603050405020304" pitchFamily="18" charset="0"/>
                </a:rPr>
                <a:t>Normal conducting medium</a:t>
              </a:r>
            </a:p>
          </p:txBody>
        </p:sp>
      </p:grpSp>
      <p:grpSp>
        <p:nvGrpSpPr>
          <p:cNvPr id="869407" name="Group 31"/>
          <p:cNvGrpSpPr/>
          <p:nvPr/>
        </p:nvGrpSpPr>
        <p:grpSpPr bwMode="auto">
          <a:xfrm>
            <a:off x="4454525" y="5870011"/>
            <a:ext cx="6178550" cy="830263"/>
            <a:chOff x="1075" y="3602"/>
            <a:chExt cx="3892" cy="523"/>
          </a:xfrm>
        </p:grpSpPr>
        <p:graphicFrame>
          <p:nvGraphicFramePr>
            <p:cNvPr id="45068" name="Object 32"/>
            <p:cNvGraphicFramePr>
              <a:graphicFrameLocks noChangeAspect="1"/>
            </p:cNvGraphicFramePr>
            <p:nvPr/>
          </p:nvGraphicFramePr>
          <p:xfrm>
            <a:off x="1075" y="3602"/>
            <a:ext cx="699" cy="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2801600" imgH="9448800" progId="Equation.DSMT4">
                    <p:embed/>
                  </p:oleObj>
                </mc:Choice>
                <mc:Fallback>
                  <p:oleObj name="Equation" r:id="rId15" imgW="12801600" imgH="94488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5" y="3602"/>
                          <a:ext cx="699" cy="5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69" name="Text Box 33"/>
            <p:cNvSpPr txBox="1">
              <a:spLocks noChangeArrowheads="1"/>
            </p:cNvSpPr>
            <p:nvPr/>
          </p:nvSpPr>
          <p:spPr bwMode="auto">
            <a:xfrm>
              <a:off x="1701" y="3738"/>
              <a:ext cx="3266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solidFill>
                    <a:srgbClr val="0000CC"/>
                  </a:solidFill>
                  <a:latin typeface="宋体" panose="02010600030101010101" pitchFamily="2" charset="-122"/>
                </a:rPr>
                <a:t>——</a:t>
              </a:r>
              <a:r>
                <a:rPr kumimoji="1"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0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Good conductor</a:t>
              </a:r>
            </a:p>
          </p:txBody>
        </p:sp>
      </p:grpSp>
      <p:sp>
        <p:nvSpPr>
          <p:cNvPr id="124950" name="Text Box 34"/>
          <p:cNvSpPr txBox="1">
            <a:spLocks noChangeArrowheads="1"/>
          </p:cNvSpPr>
          <p:nvPr/>
        </p:nvSpPr>
        <p:spPr bwMode="auto">
          <a:xfrm>
            <a:off x="2063751" y="4833076"/>
            <a:ext cx="1800225" cy="1006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800000"/>
                </a:solidFill>
                <a:ea typeface="仿宋_GB2312" pitchFamily="49" charset="-122"/>
                <a:cs typeface="Arial" panose="020B0604020202020204" pitchFamily="34" charset="0"/>
              </a:rPr>
              <a:t>Classification of conductive medium</a:t>
            </a:r>
            <a:endParaRPr kumimoji="1" lang="en-US" altLang="zh-CN" sz="2000" dirty="0">
              <a:solidFill>
                <a:srgbClr val="800000"/>
              </a:solidFill>
              <a:ea typeface="仿宋_GB2312" pitchFamily="49" charset="-122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69411" name="AutoShape 35"/>
          <p:cNvSpPr>
            <a:spLocks noChangeArrowheads="1"/>
          </p:cNvSpPr>
          <p:nvPr/>
        </p:nvSpPr>
        <p:spPr bwMode="auto">
          <a:xfrm>
            <a:off x="9031288" y="4844193"/>
            <a:ext cx="3127374" cy="1728788"/>
          </a:xfrm>
          <a:prstGeom prst="wedgeRectCallout">
            <a:avLst>
              <a:gd name="adj1" fmla="val -52157"/>
              <a:gd name="adj2" fmla="val -78648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  The Ratio of conduction current and displacement current</a:t>
            </a:r>
          </a:p>
        </p:txBody>
      </p:sp>
      <p:sp>
        <p:nvSpPr>
          <p:cNvPr id="869412" name="Text Box 36"/>
          <p:cNvSpPr txBox="1">
            <a:spLocks noChangeArrowheads="1"/>
          </p:cNvSpPr>
          <p:nvPr/>
        </p:nvSpPr>
        <p:spPr bwMode="auto">
          <a:xfrm>
            <a:off x="2495550" y="2816951"/>
            <a:ext cx="9350086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仿宋_GB2312" pitchFamily="49" charset="-122"/>
                <a:cs typeface="Arial" panose="020B0604020202020204" pitchFamily="34" charset="0"/>
              </a:rPr>
              <a:t>The ratio of the real and imaginary parts, called loss tangent </a:t>
            </a:r>
            <a:r>
              <a:rPr kumimoji="1"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仿宋_GB2312" pitchFamily="49" charset="-122"/>
                <a:cs typeface="Arial" panose="020B0604020202020204" pitchFamily="34" charset="0"/>
                <a:sym typeface="Wingdings" panose="05000000000000000000" pitchFamily="2" charset="2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6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6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6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6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6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6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3" grpId="0" animBg="1"/>
      <p:bldP spid="124950" grpId="0" animBg="1"/>
      <p:bldP spid="869411" grpId="0" animBg="1"/>
      <p:bldP spid="8694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955" name="Object 9"/>
          <p:cNvGraphicFramePr>
            <a:graphicFrameLocks noChangeAspect="1"/>
          </p:cNvGraphicFramePr>
          <p:nvPr/>
        </p:nvGraphicFramePr>
        <p:xfrm>
          <a:off x="3133725" y="1508125"/>
          <a:ext cx="2406650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517600" imgH="13411200" progId="Equation.DSMT4">
                  <p:embed/>
                </p:oleObj>
              </mc:Choice>
              <mc:Fallback>
                <p:oleObj name="Equation" r:id="rId2" imgW="26517600" imgH="13411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725" y="1508125"/>
                        <a:ext cx="2406650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6" name="Object 12"/>
          <p:cNvGraphicFramePr>
            <a:graphicFrameLocks noChangeAspect="1"/>
          </p:cNvGraphicFramePr>
          <p:nvPr/>
        </p:nvGraphicFramePr>
        <p:xfrm>
          <a:off x="6438900" y="1751013"/>
          <a:ext cx="1992313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640800" imgH="6400800" progId="Equation.DSMT4">
                  <p:embed/>
                </p:oleObj>
              </mc:Choice>
              <mc:Fallback>
                <p:oleObj name="Equation" r:id="rId4" imgW="21640800" imgH="64008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0" y="1751013"/>
                        <a:ext cx="1992313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4" name="Text Box 35"/>
          <p:cNvSpPr txBox="1">
            <a:spLocks noChangeArrowheads="1"/>
          </p:cNvSpPr>
          <p:nvPr/>
        </p:nvSpPr>
        <p:spPr bwMode="auto">
          <a:xfrm>
            <a:off x="1953204" y="677128"/>
            <a:ext cx="75596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Blip>
                <a:blip r:embed="rId6"/>
              </a:buBlip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   </a:t>
            </a:r>
            <a:r>
              <a:rPr lang="en-US" altLang="zh-CN" sz="2400" b="1">
                <a:solidFill>
                  <a:srgbClr val="0000CC"/>
                </a:solidFill>
                <a:ea typeface="幼圆" panose="02010509060101010101" pitchFamily="49" charset="-122"/>
                <a:cs typeface="Arial" panose="020B0604020202020204" pitchFamily="34" charset="0"/>
              </a:rPr>
              <a:t>Complex representation of wave equation in lossy medium</a:t>
            </a:r>
          </a:p>
        </p:txBody>
      </p:sp>
      <p:graphicFrame>
        <p:nvGraphicFramePr>
          <p:cNvPr id="125958" name="Object 37"/>
          <p:cNvGraphicFramePr>
            <a:graphicFrameLocks noChangeAspect="1"/>
          </p:cNvGraphicFramePr>
          <p:nvPr/>
        </p:nvGraphicFramePr>
        <p:xfrm>
          <a:off x="2835275" y="3119438"/>
          <a:ext cx="3370263" cy="150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9928800" imgH="17678400" progId="Equation.DSMT4">
                  <p:embed/>
                </p:oleObj>
              </mc:Choice>
              <mc:Fallback>
                <p:oleObj name="Equation" r:id="rId7" imgW="39928800" imgH="176784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3119438"/>
                        <a:ext cx="3370263" cy="150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59" name="Text Box 38"/>
          <p:cNvSpPr txBox="1">
            <a:spLocks noChangeArrowheads="1"/>
          </p:cNvSpPr>
          <p:nvPr/>
        </p:nvSpPr>
        <p:spPr bwMode="auto">
          <a:xfrm>
            <a:off x="6672264" y="3357563"/>
            <a:ext cx="3527425" cy="49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Lorentz’s condition</a:t>
            </a:r>
          </a:p>
        </p:txBody>
      </p:sp>
      <p:graphicFrame>
        <p:nvGraphicFramePr>
          <p:cNvPr id="125960" name="Object 40"/>
          <p:cNvGraphicFramePr>
            <a:graphicFrameLocks noChangeAspect="1"/>
          </p:cNvGraphicFramePr>
          <p:nvPr/>
        </p:nvGraphicFramePr>
        <p:xfrm>
          <a:off x="6800850" y="3975100"/>
          <a:ext cx="21431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298400" imgH="6400800" progId="Equation.DSMT4">
                  <p:embed/>
                </p:oleObj>
              </mc:Choice>
              <mc:Fallback>
                <p:oleObj name="Equation" r:id="rId9" imgW="25298400" imgH="64008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0" y="3975100"/>
                        <a:ext cx="214312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1" name="Object 42"/>
          <p:cNvGraphicFramePr>
            <a:graphicFrameLocks noChangeAspect="1"/>
          </p:cNvGraphicFramePr>
          <p:nvPr/>
        </p:nvGraphicFramePr>
        <p:xfrm>
          <a:off x="2819400" y="5811043"/>
          <a:ext cx="1903412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555200" imgH="10363200" progId="Equation.DSMT4">
                  <p:embed/>
                </p:oleObj>
              </mc:Choice>
              <mc:Fallback>
                <p:oleObj name="Equation" r:id="rId11" imgW="22555200" imgH="103632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811043"/>
                        <a:ext cx="1903412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2" name="Object 43"/>
          <p:cNvGraphicFramePr>
            <a:graphicFrameLocks noChangeAspect="1"/>
          </p:cNvGraphicFramePr>
          <p:nvPr/>
        </p:nvGraphicFramePr>
        <p:xfrm>
          <a:off x="2836863" y="5121275"/>
          <a:ext cx="15208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40000" imgH="5486400" progId="Equation.DSMT4">
                  <p:embed/>
                </p:oleObj>
              </mc:Choice>
              <mc:Fallback>
                <p:oleObj name="Equation" r:id="rId13" imgW="15240000" imgH="54864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863" y="5121275"/>
                        <a:ext cx="152082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4" name="Object 45"/>
          <p:cNvGraphicFramePr>
            <a:graphicFrameLocks noChangeAspect="1"/>
          </p:cNvGraphicFramePr>
          <p:nvPr/>
        </p:nvGraphicFramePr>
        <p:xfrm>
          <a:off x="6869691" y="5720679"/>
          <a:ext cx="2643188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1394400" imgH="11277600" progId="Equation.DSMT4">
                  <p:embed/>
                </p:oleObj>
              </mc:Choice>
              <mc:Fallback>
                <p:oleObj name="Equation" r:id="rId15" imgW="31394400" imgH="112776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9691" y="5720679"/>
                        <a:ext cx="2643188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5" name="Object 46"/>
          <p:cNvGraphicFramePr>
            <a:graphicFrameLocks noChangeAspect="1"/>
          </p:cNvGraphicFramePr>
          <p:nvPr/>
        </p:nvGraphicFramePr>
        <p:xfrm>
          <a:off x="6869113" y="5191125"/>
          <a:ext cx="15208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240000" imgH="5486400" progId="Equation.DSMT4">
                  <p:embed/>
                </p:oleObj>
              </mc:Choice>
              <mc:Fallback>
                <p:oleObj name="Equation" r:id="rId17" imgW="15240000" imgH="54864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9113" y="5191125"/>
                        <a:ext cx="152082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6" name="AutoShape 47"/>
          <p:cNvSpPr>
            <a:spLocks noChangeArrowheads="1"/>
          </p:cNvSpPr>
          <p:nvPr/>
        </p:nvSpPr>
        <p:spPr bwMode="auto">
          <a:xfrm flipH="1">
            <a:off x="5591176" y="5661025"/>
            <a:ext cx="792163" cy="215900"/>
          </a:xfrm>
          <a:prstGeom prst="leftArrow">
            <a:avLst>
              <a:gd name="adj1" fmla="val 50000"/>
              <a:gd name="adj2" fmla="val 91728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zh-CN" altLang="zh-CN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25967" name="Text Box 48"/>
          <p:cNvSpPr txBox="1">
            <a:spLocks noChangeArrowheads="1"/>
          </p:cNvSpPr>
          <p:nvPr/>
        </p:nvSpPr>
        <p:spPr bwMode="auto">
          <a:xfrm>
            <a:off x="1595438" y="1844676"/>
            <a:ext cx="1331912" cy="581025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Source-free region</a:t>
            </a:r>
          </a:p>
        </p:txBody>
      </p:sp>
      <p:sp>
        <p:nvSpPr>
          <p:cNvPr id="125968" name="Text Box 49"/>
          <p:cNvSpPr txBox="1">
            <a:spLocks noChangeArrowheads="1"/>
          </p:cNvSpPr>
          <p:nvPr/>
        </p:nvSpPr>
        <p:spPr bwMode="auto">
          <a:xfrm>
            <a:off x="1631950" y="3644900"/>
            <a:ext cx="1187450" cy="641350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 panose="020B0604020202020204" pitchFamily="34" charset="0"/>
              </a:rPr>
              <a:t>source region</a:t>
            </a:r>
          </a:p>
        </p:txBody>
      </p:sp>
      <p:sp>
        <p:nvSpPr>
          <p:cNvPr id="125969" name="Text Box 15"/>
          <p:cNvSpPr txBox="1">
            <a:spLocks noChangeArrowheads="1"/>
          </p:cNvSpPr>
          <p:nvPr/>
        </p:nvSpPr>
        <p:spPr bwMode="auto">
          <a:xfrm>
            <a:off x="1919288" y="4724400"/>
            <a:ext cx="6335712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Field</a:t>
            </a:r>
            <a:r>
              <a:rPr kumimoji="1" lang="en-US" altLang="zh-CN" sz="200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based on potential functions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25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5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2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2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9" grpId="0"/>
      <p:bldP spid="125966" grpId="0" animBg="1"/>
      <p:bldP spid="125967" grpId="0" animBg="1"/>
      <p:bldP spid="125968" grpId="0" animBg="1"/>
      <p:bldP spid="12596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Rectangle 2"/>
          <p:cNvSpPr>
            <a:spLocks noChangeArrowheads="1"/>
          </p:cNvSpPr>
          <p:nvPr/>
        </p:nvSpPr>
        <p:spPr bwMode="auto">
          <a:xfrm>
            <a:off x="1774825" y="400478"/>
            <a:ext cx="81089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ea typeface="幼圆" panose="02010509060101010101" pitchFamily="49" charset="-122"/>
                <a:cs typeface="Times New Roman" panose="02020603050405020304" pitchFamily="18" charset="0"/>
              </a:rPr>
              <a:t>Ex.  Find the instantaneous value of the following field in the form of a complex vector</a:t>
            </a:r>
          </a:p>
        </p:txBody>
      </p:sp>
      <p:graphicFrame>
        <p:nvGraphicFramePr>
          <p:cNvPr id="128004" name="Object 3"/>
          <p:cNvGraphicFramePr>
            <a:graphicFrameLocks noChangeAspect="1"/>
          </p:cNvGraphicFramePr>
          <p:nvPr/>
        </p:nvGraphicFramePr>
        <p:xfrm>
          <a:off x="2253457" y="1316837"/>
          <a:ext cx="739616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296000" imgH="6400800" progId="Equation.DSMT4">
                  <p:embed/>
                </p:oleObj>
              </mc:Choice>
              <mc:Fallback>
                <p:oleObj name="Equation" r:id="rId2" imgW="82296000" imgH="6400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3457" y="1316837"/>
                        <a:ext cx="7396162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5" name="Rectangle 6"/>
          <p:cNvSpPr>
            <a:spLocks noChangeArrowheads="1"/>
          </p:cNvSpPr>
          <p:nvPr/>
        </p:nvSpPr>
        <p:spPr bwMode="auto">
          <a:xfrm>
            <a:off x="1847850" y="1983225"/>
            <a:ext cx="4103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Solution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since</a:t>
            </a:r>
          </a:p>
        </p:txBody>
      </p:sp>
      <p:graphicFrame>
        <p:nvGraphicFramePr>
          <p:cNvPr id="128006" name="Object 7"/>
          <p:cNvGraphicFramePr>
            <a:graphicFrameLocks noChangeAspect="1"/>
          </p:cNvGraphicFramePr>
          <p:nvPr/>
        </p:nvGraphicFramePr>
        <p:xfrm>
          <a:off x="2333625" y="2389625"/>
          <a:ext cx="82089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392000" imgH="9448800" progId="Equation.DSMT4">
                  <p:embed/>
                </p:oleObj>
              </mc:Choice>
              <mc:Fallback>
                <p:oleObj name="Equation" r:id="rId4" imgW="88392000" imgH="94488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2389625"/>
                        <a:ext cx="820896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7" name="Object 8"/>
          <p:cNvGraphicFramePr>
            <a:graphicFrameLocks noChangeAspect="1"/>
          </p:cNvGraphicFramePr>
          <p:nvPr/>
        </p:nvGraphicFramePr>
        <p:xfrm>
          <a:off x="3338513" y="3329425"/>
          <a:ext cx="5665787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1264800" imgH="6400800" progId="Equation.DSMT4">
                  <p:embed/>
                </p:oleObj>
              </mc:Choice>
              <mc:Fallback>
                <p:oleObj name="Equation" r:id="rId6" imgW="61264800" imgH="64008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513" y="3329425"/>
                        <a:ext cx="5665787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8" name="Object 9"/>
          <p:cNvGraphicFramePr>
            <a:graphicFrameLocks noChangeAspect="1"/>
          </p:cNvGraphicFramePr>
          <p:nvPr/>
        </p:nvGraphicFramePr>
        <p:xfrm>
          <a:off x="2757488" y="4397813"/>
          <a:ext cx="5686425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740800" imgH="7315200" progId="Equation.DSMT4">
                  <p:embed/>
                </p:oleObj>
              </mc:Choice>
              <mc:Fallback>
                <p:oleObj name="Equation" r:id="rId8" imgW="59740800" imgH="7315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488" y="4397813"/>
                        <a:ext cx="5686425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9" name="Object 10"/>
          <p:cNvGraphicFramePr>
            <a:graphicFrameLocks noChangeAspect="1"/>
          </p:cNvGraphicFramePr>
          <p:nvPr/>
        </p:nvGraphicFramePr>
        <p:xfrm>
          <a:off x="3627438" y="5272525"/>
          <a:ext cx="3973512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2976800" imgH="6400800" progId="Equation.DSMT4">
                  <p:embed/>
                </p:oleObj>
              </mc:Choice>
              <mc:Fallback>
                <p:oleObj name="Equation" r:id="rId10" imgW="42976800" imgH="6400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5272525"/>
                        <a:ext cx="3973512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10" name="Rectangle 12"/>
          <p:cNvSpPr>
            <a:spLocks noChangeArrowheads="1"/>
          </p:cNvSpPr>
          <p:nvPr/>
        </p:nvSpPr>
        <p:spPr bwMode="auto">
          <a:xfrm>
            <a:off x="2063750" y="3999350"/>
            <a:ext cx="827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So</a:t>
            </a:r>
          </a:p>
        </p:txBody>
      </p:sp>
      <p:pic>
        <p:nvPicPr>
          <p:cNvPr id="47114" name="Picture 11" descr="BD05546_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8906" y="5133975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9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3954" grpId="0"/>
      <p:bldP spid="128005" grpId="0"/>
      <p:bldP spid="1280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2"/>
          <p:cNvSpPr>
            <a:spLocks noChangeArrowheads="1"/>
          </p:cNvSpPr>
          <p:nvPr/>
        </p:nvSpPr>
        <p:spPr bwMode="auto">
          <a:xfrm>
            <a:off x="1847850" y="404813"/>
            <a:ext cx="7740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cs typeface="Times New Roman" panose="02020603050405020304" pitchFamily="18" charset="0"/>
              </a:rPr>
              <a:t>Ex. The </a:t>
            </a:r>
            <a:r>
              <a:rPr lang="en-US" altLang="zh-CN" sz="2400" b="1">
                <a:solidFill>
                  <a:srgbClr val="000000"/>
                </a:solidFill>
              </a:rPr>
              <a:t>Complex vector of electric field intensity is</a:t>
            </a:r>
          </a:p>
        </p:txBody>
      </p:sp>
      <p:graphicFrame>
        <p:nvGraphicFramePr>
          <p:cNvPr id="129028" name="Object 3"/>
          <p:cNvGraphicFramePr>
            <a:graphicFrameLocks noChangeAspect="1"/>
          </p:cNvGraphicFramePr>
          <p:nvPr/>
        </p:nvGraphicFramePr>
        <p:xfrm>
          <a:off x="3771900" y="798513"/>
          <a:ext cx="3182938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661600" imgH="7010400" progId="Equation.DSMT4">
                  <p:embed/>
                </p:oleObj>
              </mc:Choice>
              <mc:Fallback>
                <p:oleObj name="Equation" r:id="rId2" imgW="35661600" imgH="70104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798513"/>
                        <a:ext cx="3182938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29" name="Rectangle 4"/>
          <p:cNvSpPr>
            <a:spLocks noChangeArrowheads="1"/>
          </p:cNvSpPr>
          <p:nvPr/>
        </p:nvSpPr>
        <p:spPr bwMode="auto">
          <a:xfrm>
            <a:off x="1774826" y="2565400"/>
            <a:ext cx="1439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Times New Roman" panose="02020603050405020304" pitchFamily="18" charset="0"/>
              </a:rPr>
              <a:t>Solution:</a:t>
            </a:r>
            <a:endParaRPr lang="en-US" altLang="zh-CN" sz="2400" b="1">
              <a:solidFill>
                <a:srgbClr val="0000CC"/>
              </a:solidFill>
              <a:ea typeface="幼圆" panose="020105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9030" name="Object 5"/>
          <p:cNvGraphicFramePr>
            <a:graphicFrameLocks noChangeAspect="1"/>
          </p:cNvGraphicFramePr>
          <p:nvPr/>
        </p:nvGraphicFramePr>
        <p:xfrm>
          <a:off x="3341688" y="2687638"/>
          <a:ext cx="48037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901600" imgH="14630400" progId="Equation.DSMT4">
                  <p:embed/>
                </p:oleObj>
              </mc:Choice>
              <mc:Fallback>
                <p:oleObj name="Equation" r:id="rId4" imgW="50901600" imgH="146304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688" y="2687638"/>
                        <a:ext cx="480377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31" name="Object 6"/>
          <p:cNvGraphicFramePr>
            <a:graphicFrameLocks noChangeAspect="1"/>
          </p:cNvGraphicFramePr>
          <p:nvPr/>
        </p:nvGraphicFramePr>
        <p:xfrm>
          <a:off x="4275138" y="4051300"/>
          <a:ext cx="3990975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2062400" imgH="9448800" progId="Equation.DSMT4">
                  <p:embed/>
                </p:oleObj>
              </mc:Choice>
              <mc:Fallback>
                <p:oleObj name="Equation" r:id="rId6" imgW="42062400" imgH="94488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138" y="4051300"/>
                        <a:ext cx="3990975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2" name="Rectangle 7"/>
          <p:cNvSpPr>
            <a:spLocks noChangeArrowheads="1"/>
          </p:cNvSpPr>
          <p:nvPr/>
        </p:nvSpPr>
        <p:spPr bwMode="auto">
          <a:xfrm>
            <a:off x="1847850" y="1484314"/>
            <a:ext cx="84963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0000"/>
                </a:solidFill>
                <a:ea typeface="楷体_GB2312" pitchFamily="49" charset="-122"/>
              </a:rPr>
              <a:t>    k</a:t>
            </a:r>
            <a:r>
              <a:rPr lang="en-US" altLang="zh-CN" sz="2400" i="1" baseline="-25000">
                <a:solidFill>
                  <a:srgbClr val="000000"/>
                </a:solidFill>
                <a:ea typeface="楷体_GB2312" pitchFamily="49" charset="-122"/>
              </a:rPr>
              <a:t>z</a:t>
            </a:r>
            <a:r>
              <a:rPr lang="en-US" altLang="zh-CN" sz="2400" b="1">
                <a:solidFill>
                  <a:srgbClr val="000000"/>
                </a:solidFill>
                <a:ea typeface="楷体_GB2312" pitchFamily="49" charset="-122"/>
              </a:rPr>
              <a:t> and </a:t>
            </a:r>
            <a:r>
              <a:rPr lang="en-US" altLang="zh-CN" sz="2400" i="1">
                <a:solidFill>
                  <a:srgbClr val="000000"/>
                </a:solidFill>
                <a:ea typeface="楷体_GB2312" pitchFamily="49" charset="-122"/>
              </a:rPr>
              <a:t>E</a:t>
            </a:r>
            <a:r>
              <a:rPr lang="en-US" altLang="zh-CN" sz="2400" i="1" baseline="-25000">
                <a:solidFill>
                  <a:srgbClr val="000000"/>
                </a:solidFill>
                <a:ea typeface="楷体_GB2312" pitchFamily="49" charset="-122"/>
              </a:rPr>
              <a:t>x</a:t>
            </a:r>
            <a:r>
              <a:rPr lang="en-US" altLang="zh-CN" sz="2400" baseline="-25000">
                <a:solidFill>
                  <a:srgbClr val="000000"/>
                </a:solidFill>
                <a:ea typeface="楷体_GB2312" pitchFamily="49" charset="-122"/>
              </a:rPr>
              <a:t>m </a:t>
            </a:r>
            <a:r>
              <a:rPr lang="en-US" altLang="zh-CN" sz="2400" b="1">
                <a:solidFill>
                  <a:srgbClr val="000000"/>
                </a:solidFill>
                <a:ea typeface="楷体_GB2312" pitchFamily="49" charset="-122"/>
              </a:rPr>
              <a:t>are constant value. Find the </a:t>
            </a:r>
            <a:r>
              <a:rPr lang="en-US" altLang="zh-CN" sz="2400" b="1">
                <a:solidFill>
                  <a:srgbClr val="000000"/>
                </a:solidFill>
              </a:rPr>
              <a:t>instantaneous value of the electric field</a:t>
            </a:r>
            <a:r>
              <a:rPr lang="en-US" altLang="zh-CN" sz="2400">
                <a:solidFill>
                  <a:srgbClr val="000000"/>
                </a:solidFill>
              </a:rPr>
              <a:t> </a:t>
            </a:r>
            <a:r>
              <a:rPr lang="en-US" altLang="zh-CN" sz="2400" b="1">
                <a:solidFill>
                  <a:srgbClr val="000000"/>
                </a:solidFill>
              </a:rPr>
              <a:t>intensity</a:t>
            </a:r>
          </a:p>
        </p:txBody>
      </p:sp>
      <p:graphicFrame>
        <p:nvGraphicFramePr>
          <p:cNvPr id="129033" name="Object 8"/>
          <p:cNvGraphicFramePr>
            <a:graphicFrameLocks noChangeAspect="1"/>
          </p:cNvGraphicFramePr>
          <p:nvPr/>
        </p:nvGraphicFramePr>
        <p:xfrm>
          <a:off x="4340225" y="4991100"/>
          <a:ext cx="372903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795200" imgH="5486400" progId="Equation.DSMT4">
                  <p:embed/>
                </p:oleObj>
              </mc:Choice>
              <mc:Fallback>
                <p:oleObj name="Equation" r:id="rId8" imgW="37795200" imgH="548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0225" y="4991100"/>
                        <a:ext cx="3729038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654002" y="5409479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2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2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12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2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12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/>
      <p:bldP spid="129029" grpId="0"/>
      <p:bldP spid="12903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4" name="Text Box 20"/>
          <p:cNvSpPr txBox="1">
            <a:spLocks noChangeArrowheads="1"/>
          </p:cNvSpPr>
          <p:nvPr/>
        </p:nvSpPr>
        <p:spPr bwMode="auto">
          <a:xfrm>
            <a:off x="1847850" y="692150"/>
            <a:ext cx="5327650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Blip>
                <a:blip r:embed="rId2"/>
              </a:buBlip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1800" b="1">
                <a:solidFill>
                  <a:srgbClr val="000000"/>
                </a:solidFill>
              </a:rPr>
              <a:t>Faraday’s Law of electromagnetic induction </a:t>
            </a:r>
          </a:p>
        </p:txBody>
      </p:sp>
      <p:sp>
        <p:nvSpPr>
          <p:cNvPr id="138245" name="Text Box 20"/>
          <p:cNvSpPr txBox="1">
            <a:spLocks noChangeArrowheads="1"/>
          </p:cNvSpPr>
          <p:nvPr/>
        </p:nvSpPr>
        <p:spPr bwMode="auto">
          <a:xfrm>
            <a:off x="1847850" y="1700213"/>
            <a:ext cx="2808288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Blip>
                <a:blip r:embed="rId2"/>
              </a:buBlip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1800" b="1">
                <a:solidFill>
                  <a:srgbClr val="000000"/>
                </a:solidFill>
              </a:rPr>
              <a:t>Maxwell’s Equations</a:t>
            </a:r>
          </a:p>
        </p:txBody>
      </p:sp>
      <p:sp>
        <p:nvSpPr>
          <p:cNvPr id="138247" name="Text Box 20"/>
          <p:cNvSpPr txBox="1">
            <a:spLocks noChangeArrowheads="1"/>
          </p:cNvSpPr>
          <p:nvPr/>
        </p:nvSpPr>
        <p:spPr bwMode="auto">
          <a:xfrm>
            <a:off x="5735639" y="1700213"/>
            <a:ext cx="4681537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Blip>
                <a:blip r:embed="rId2"/>
              </a:buBlip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1800" b="1">
                <a:solidFill>
                  <a:srgbClr val="000000"/>
                </a:solidFill>
              </a:rPr>
              <a:t>Electromagnetic Boundary Conditions</a:t>
            </a:r>
          </a:p>
        </p:txBody>
      </p:sp>
      <p:sp>
        <p:nvSpPr>
          <p:cNvPr id="138248" name="Text Box 20"/>
          <p:cNvSpPr txBox="1">
            <a:spLocks noChangeArrowheads="1"/>
          </p:cNvSpPr>
          <p:nvPr/>
        </p:nvSpPr>
        <p:spPr bwMode="auto">
          <a:xfrm>
            <a:off x="1847851" y="3933825"/>
            <a:ext cx="2303463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Blip>
                <a:blip r:embed="rId2"/>
              </a:buBlip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1800" b="1">
                <a:solidFill>
                  <a:srgbClr val="000000"/>
                </a:solidFill>
              </a:rPr>
              <a:t>Wave Equations</a:t>
            </a:r>
          </a:p>
        </p:txBody>
      </p:sp>
      <p:sp>
        <p:nvSpPr>
          <p:cNvPr id="138249" name="Text Box 20"/>
          <p:cNvSpPr txBox="1">
            <a:spLocks noChangeArrowheads="1"/>
          </p:cNvSpPr>
          <p:nvPr/>
        </p:nvSpPr>
        <p:spPr bwMode="auto">
          <a:xfrm>
            <a:off x="6240463" y="3860800"/>
            <a:ext cx="2952750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ctr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Blip>
                <a:blip r:embed="rId2"/>
              </a:buBlip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1800" b="1">
                <a:solidFill>
                  <a:srgbClr val="000000"/>
                </a:solidFill>
              </a:rPr>
              <a:t>Time-Harmonic Fields</a:t>
            </a:r>
          </a:p>
        </p:txBody>
      </p:sp>
      <p:sp>
        <p:nvSpPr>
          <p:cNvPr id="49159" name="Rectangle 10"/>
          <p:cNvSpPr>
            <a:spLocks noRot="1" noChangeArrowheads="1"/>
          </p:cNvSpPr>
          <p:nvPr/>
        </p:nvSpPr>
        <p:spPr bwMode="auto">
          <a:xfrm>
            <a:off x="3143250" y="0"/>
            <a:ext cx="5976938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800" b="1">
                <a:solidFill>
                  <a:srgbClr val="800000"/>
                </a:solidFill>
              </a:rPr>
              <a:t>Summary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545638" y="5589588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  <p:graphicFrame>
        <p:nvGraphicFramePr>
          <p:cNvPr id="138252" name="Object 7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566988" y="1052513"/>
          <a:ext cx="2881312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9000" imgH="508000" progId="Equation.DSMT4">
                  <p:embed/>
                </p:oleObj>
              </mc:Choice>
              <mc:Fallback>
                <p:oleObj name="Equation" r:id="rId4" imgW="2159000" imgH="5080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1052513"/>
                        <a:ext cx="2881312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74" name="Object 3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527801" y="1052514"/>
          <a:ext cx="1439863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2200" imgH="546100" progId="Equation.DSMT4">
                  <p:embed/>
                </p:oleObj>
              </mc:Choice>
              <mc:Fallback>
                <p:oleObj name="Equation" r:id="rId6" imgW="1092200" imgH="5461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1" y="1052514"/>
                        <a:ext cx="1439863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88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79875" y="4437064"/>
          <a:ext cx="2089150" cy="1328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54200" imgH="1168400" progId="Equation.DSMT4">
                  <p:embed/>
                </p:oleObj>
              </mc:Choice>
              <mc:Fallback>
                <p:oleObj name="Equation" r:id="rId8" imgW="1854200" imgH="11684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4437064"/>
                        <a:ext cx="2089150" cy="1328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7" name="Object 27"/>
          <p:cNvGraphicFramePr>
            <a:graphicFrameLocks noChangeAspect="1"/>
          </p:cNvGraphicFramePr>
          <p:nvPr/>
        </p:nvGraphicFramePr>
        <p:xfrm>
          <a:off x="6383338" y="2205038"/>
          <a:ext cx="1871662" cy="153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9365" imgH="1040765" progId="Equation.DSMT4">
                  <p:embed/>
                </p:oleObj>
              </mc:Choice>
              <mc:Fallback>
                <p:oleObj name="Equation" r:id="rId10" imgW="1269365" imgH="1040765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2205038"/>
                        <a:ext cx="1871662" cy="153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8" name="Object 28"/>
          <p:cNvGraphicFramePr>
            <a:graphicFrameLocks noChangeAspect="1"/>
          </p:cNvGraphicFramePr>
          <p:nvPr/>
        </p:nvGraphicFramePr>
        <p:xfrm>
          <a:off x="2279651" y="2133600"/>
          <a:ext cx="2016125" cy="187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47800" imgH="1346200" progId="Equation.DSMT4">
                  <p:embed/>
                </p:oleObj>
              </mc:Choice>
              <mc:Fallback>
                <p:oleObj name="Equation" r:id="rId12" imgW="1447800" imgH="13462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2133600"/>
                        <a:ext cx="2016125" cy="187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83" name="Rectangle 2"/>
          <p:cNvSpPr>
            <a:spLocks noChangeArrowheads="1"/>
          </p:cNvSpPr>
          <p:nvPr/>
        </p:nvSpPr>
        <p:spPr bwMode="auto">
          <a:xfrm>
            <a:off x="2063751" y="5876926"/>
            <a:ext cx="20177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Lorentz’s gauge </a:t>
            </a:r>
            <a:r>
              <a:rPr lang="zh-CN" alt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Arial" panose="020B0604020202020204" pitchFamily="34" charset="0"/>
              </a:rPr>
              <a:t>：</a:t>
            </a:r>
          </a:p>
        </p:txBody>
      </p:sp>
      <p:graphicFrame>
        <p:nvGraphicFramePr>
          <p:cNvPr id="138284" name="Object 44"/>
          <p:cNvGraphicFramePr>
            <a:graphicFrameLocks noChangeAspect="1"/>
          </p:cNvGraphicFramePr>
          <p:nvPr/>
        </p:nvGraphicFramePr>
        <p:xfrm>
          <a:off x="4151314" y="5805488"/>
          <a:ext cx="2160587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47800" imgH="508000" progId="Equation.DSMT4">
                  <p:embed/>
                </p:oleObj>
              </mc:Choice>
              <mc:Fallback>
                <p:oleObj name="Equation" r:id="rId14" imgW="1447800" imgH="5080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5805488"/>
                        <a:ext cx="2160587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85" name="Object 9"/>
          <p:cNvGraphicFramePr>
            <a:graphicFrameLocks noChangeAspect="1"/>
          </p:cNvGraphicFramePr>
          <p:nvPr/>
        </p:nvGraphicFramePr>
        <p:xfrm>
          <a:off x="1847850" y="4365625"/>
          <a:ext cx="2025650" cy="139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01800" imgH="1155700" progId="Equation.DSMT4">
                  <p:embed/>
                </p:oleObj>
              </mc:Choice>
              <mc:Fallback>
                <p:oleObj name="Equation" r:id="rId16" imgW="1701800" imgH="11557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4365625"/>
                        <a:ext cx="2025650" cy="1392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91" name="Object 7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6888164" y="4292601"/>
          <a:ext cx="180022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09700" imgH="647700" progId="Equation.DSMT4">
                  <p:embed/>
                </p:oleObj>
              </mc:Choice>
              <mc:Fallback>
                <p:oleObj name="Equation" r:id="rId18" imgW="1409700" imgH="6477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4" y="4292601"/>
                        <a:ext cx="1800225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94" name="Object 54"/>
          <p:cNvGraphicFramePr>
            <a:graphicFrameLocks noChangeAspect="1"/>
          </p:cNvGraphicFramePr>
          <p:nvPr/>
        </p:nvGraphicFramePr>
        <p:xfrm>
          <a:off x="6888164" y="5157788"/>
          <a:ext cx="201612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19200" imgH="685800" progId="Equation.DSMT4">
                  <p:embed/>
                </p:oleObj>
              </mc:Choice>
              <mc:Fallback>
                <p:oleObj name="Equation" r:id="rId20" imgW="1219200" imgH="6858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4" y="5157788"/>
                        <a:ext cx="2016125" cy="113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8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38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3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3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/>
      <p:bldP spid="138245" grpId="0"/>
      <p:bldP spid="138247" grpId="0"/>
      <p:bldP spid="138248" grpId="0"/>
      <p:bldP spid="138249" grpId="0"/>
      <p:bldP spid="13828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74825" y="1125538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6000" b="1">
                <a:effectLst>
                  <a:outerShdw blurRad="38100" dist="38100" dir="2700000" algn="tl">
                    <a:srgbClr val="C0C0C0"/>
                  </a:outerShdw>
                </a:effectLst>
              </a:rPr>
              <a:t>Homework</a:t>
            </a:r>
          </a:p>
        </p:txBody>
      </p:sp>
      <p:sp>
        <p:nvSpPr>
          <p:cNvPr id="5017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424114" y="3068639"/>
            <a:ext cx="7488237" cy="1152525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US" altLang="zh-CN" sz="4800" b="1">
                <a:solidFill>
                  <a:srgbClr val="000000"/>
                </a:solidFill>
              </a:rPr>
              <a:t>7-2, 7-4, 7-7, 7-10, 7-13, 7-17, 7-18, 7-25</a:t>
            </a:r>
          </a:p>
          <a:p>
            <a:pPr algn="ctr">
              <a:buNone/>
            </a:pPr>
            <a:endParaRPr lang="en-US" altLang="zh-CN" sz="48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U1MDQ4NGJlYWMzNGNlNjc3NmUxZGM1ODU4MTU5NTAifQ=="/>
  <p:tag name="RESOURCE_RECORD_KEY" val="{&quot;13&quot;:[4650186]}"/>
</p:tagLst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</TotalTime>
  <Words>1849</Words>
  <Application>Microsoft Office PowerPoint</Application>
  <PresentationFormat>宽屏</PresentationFormat>
  <Paragraphs>238</Paragraphs>
  <Slides>48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48</vt:i4>
      </vt:variant>
    </vt:vector>
  </HeadingPairs>
  <TitlesOfParts>
    <vt:vector size="68" baseType="lpstr">
      <vt:lpstr>仿宋_GB2312</vt:lpstr>
      <vt:lpstr>黑体</vt:lpstr>
      <vt:lpstr>楷体_GB2312</vt:lpstr>
      <vt:lpstr>隶书</vt:lpstr>
      <vt:lpstr>宋体</vt:lpstr>
      <vt:lpstr>幼圆</vt:lpstr>
      <vt:lpstr>Arial</vt:lpstr>
      <vt:lpstr>Calibri</vt:lpstr>
      <vt:lpstr>Century Gothic</vt:lpstr>
      <vt:lpstr>Times New Roman</vt:lpstr>
      <vt:lpstr>Wingdings</vt:lpstr>
      <vt:lpstr>Wingdings 3</vt:lpstr>
      <vt:lpstr>丝状</vt:lpstr>
      <vt:lpstr>Equation</vt:lpstr>
      <vt:lpstr>Picture</vt:lpstr>
      <vt:lpstr>公式</vt:lpstr>
      <vt:lpstr>Paintbrush Picture</vt:lpstr>
      <vt:lpstr>MathType 6.0 Equation</vt:lpstr>
      <vt:lpstr>MS_ClipArt_Gallery.2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7.3   Electromagnetic Boundary Conditions</vt:lpstr>
      <vt:lpstr>PowerPoint 演示文稿</vt:lpstr>
      <vt:lpstr>PowerPoint 演示文稿</vt:lpstr>
      <vt:lpstr>Electromagnetic Field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Homework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lwq</dc:creator>
  <cp:lastModifiedBy>无穷 骆</cp:lastModifiedBy>
  <cp:revision>28</cp:revision>
  <dcterms:created xsi:type="dcterms:W3CDTF">2019-03-21T03:59:00Z</dcterms:created>
  <dcterms:modified xsi:type="dcterms:W3CDTF">2026-03-18T02:28:12Z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0A5A523BC77848FA8B9622BFCAA766CE_12</vt:lpwstr>
  </property>
  <property fmtid="{D5CDD505-2E9C-101B-9397-08002B2CF9AE}" pid="3" name="KSOProductBuildVer">
    <vt:lpwstr>2052-12.1.0.16729</vt:lpwstr>
  </property>
</Properties>
</file>