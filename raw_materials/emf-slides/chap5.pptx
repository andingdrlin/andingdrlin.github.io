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339" r:id="rId4"/>
    <p:sldId id="259" r:id="rId5"/>
    <p:sldId id="260" r:id="rId7"/>
    <p:sldId id="261" r:id="rId8"/>
    <p:sldId id="381" r:id="rId9"/>
    <p:sldId id="301" r:id="rId10"/>
    <p:sldId id="263" r:id="rId11"/>
    <p:sldId id="264" r:id="rId12"/>
    <p:sldId id="265" r:id="rId13"/>
    <p:sldId id="417" r:id="rId14"/>
    <p:sldId id="266" r:id="rId15"/>
    <p:sldId id="302" r:id="rId16"/>
    <p:sldId id="269" r:id="rId17"/>
    <p:sldId id="267" r:id="rId18"/>
    <p:sldId id="271" r:id="rId19"/>
    <p:sldId id="272" r:id="rId20"/>
    <p:sldId id="274" r:id="rId21"/>
    <p:sldId id="280" r:id="rId22"/>
    <p:sldId id="275" r:id="rId23"/>
    <p:sldId id="276" r:id="rId24"/>
    <p:sldId id="278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449" r:id="rId45"/>
    <p:sldId id="299" r:id="rId46"/>
  </p:sldIdLst>
  <p:sldSz cx="12192000" cy="6858000"/>
  <p:notesSz cx="6858000" cy="914400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0" Type="http://schemas.openxmlformats.org/officeDocument/2006/relationships/tags" Target="tags/tag13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emf"/><Relationship Id="rId8" Type="http://schemas.openxmlformats.org/officeDocument/2006/relationships/image" Target="../media/image8.emf"/><Relationship Id="rId7" Type="http://schemas.openxmlformats.org/officeDocument/2006/relationships/image" Target="../media/image7.e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0" Type="http://schemas.openxmlformats.org/officeDocument/2006/relationships/image" Target="../media/image10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22.emf"/><Relationship Id="rId6" Type="http://schemas.openxmlformats.org/officeDocument/2006/relationships/image" Target="../media/image21.e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4" Type="http://schemas.openxmlformats.org/officeDocument/2006/relationships/image" Target="../media/image29.wmf"/><Relationship Id="rId13" Type="http://schemas.openxmlformats.org/officeDocument/2006/relationships/image" Target="../media/image28.wmf"/><Relationship Id="rId12" Type="http://schemas.openxmlformats.org/officeDocument/2006/relationships/image" Target="../media/image27.emf"/><Relationship Id="rId11" Type="http://schemas.openxmlformats.org/officeDocument/2006/relationships/image" Target="../media/image26.wmf"/><Relationship Id="rId10" Type="http://schemas.openxmlformats.org/officeDocument/2006/relationships/image" Target="../media/image25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0.wmf"/><Relationship Id="rId8" Type="http://schemas.openxmlformats.org/officeDocument/2006/relationships/image" Target="../media/image39.wmf"/><Relationship Id="rId7" Type="http://schemas.openxmlformats.org/officeDocument/2006/relationships/image" Target="../media/image38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2" Type="http://schemas.openxmlformats.org/officeDocument/2006/relationships/image" Target="../media/image43.wmf"/><Relationship Id="rId11" Type="http://schemas.openxmlformats.org/officeDocument/2006/relationships/image" Target="../media/image42.wmf"/><Relationship Id="rId10" Type="http://schemas.openxmlformats.org/officeDocument/2006/relationships/image" Target="../media/image41.wmf"/><Relationship Id="rId1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54.wmf"/><Relationship Id="rId3" Type="http://schemas.openxmlformats.org/officeDocument/2006/relationships/image" Target="../media/image53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59.wmf"/><Relationship Id="rId4" Type="http://schemas.openxmlformats.org/officeDocument/2006/relationships/image" Target="../media/image58.wmf"/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60.w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79.emf"/><Relationship Id="rId8" Type="http://schemas.openxmlformats.org/officeDocument/2006/relationships/image" Target="../media/image78.emf"/><Relationship Id="rId7" Type="http://schemas.openxmlformats.org/officeDocument/2006/relationships/image" Target="../media/image77.emf"/><Relationship Id="rId6" Type="http://schemas.openxmlformats.org/officeDocument/2006/relationships/image" Target="../media/image76.emf"/><Relationship Id="rId5" Type="http://schemas.openxmlformats.org/officeDocument/2006/relationships/image" Target="../media/image75.emf"/><Relationship Id="rId4" Type="http://schemas.openxmlformats.org/officeDocument/2006/relationships/image" Target="../media/image74.emf"/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2" Type="http://schemas.openxmlformats.org/officeDocument/2006/relationships/image" Target="../media/image82.emf"/><Relationship Id="rId11" Type="http://schemas.openxmlformats.org/officeDocument/2006/relationships/image" Target="../media/image81.emf"/><Relationship Id="rId10" Type="http://schemas.openxmlformats.org/officeDocument/2006/relationships/image" Target="../media/image80.emf"/><Relationship Id="rId1" Type="http://schemas.openxmlformats.org/officeDocument/2006/relationships/image" Target="../media/image71.emf"/></Relationships>
</file>

<file path=ppt/drawings/_rels/vmlDrawing13.vml.rels><?xml version="1.0" encoding="UTF-8" standalone="yes"?>
<Relationships xmlns="http://schemas.openxmlformats.org/package/2006/relationships"><Relationship Id="rId7" Type="http://schemas.openxmlformats.org/officeDocument/2006/relationships/image" Target="../media/image90.wmf"/><Relationship Id="rId6" Type="http://schemas.openxmlformats.org/officeDocument/2006/relationships/image" Target="../media/image89.wmf"/><Relationship Id="rId5" Type="http://schemas.openxmlformats.org/officeDocument/2006/relationships/image" Target="../media/image88.emf"/><Relationship Id="rId4" Type="http://schemas.openxmlformats.org/officeDocument/2006/relationships/image" Target="../media/image87.emf"/><Relationship Id="rId3" Type="http://schemas.openxmlformats.org/officeDocument/2006/relationships/image" Target="../media/image86.emf"/><Relationship Id="rId2" Type="http://schemas.openxmlformats.org/officeDocument/2006/relationships/image" Target="../media/image85.wmf"/><Relationship Id="rId1" Type="http://schemas.openxmlformats.org/officeDocument/2006/relationships/image" Target="../media/image83.e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99.wmf"/><Relationship Id="rId8" Type="http://schemas.openxmlformats.org/officeDocument/2006/relationships/image" Target="../media/image98.wmf"/><Relationship Id="rId7" Type="http://schemas.openxmlformats.org/officeDocument/2006/relationships/image" Target="../media/image97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7" Type="http://schemas.openxmlformats.org/officeDocument/2006/relationships/image" Target="../media/image107.wmf"/><Relationship Id="rId16" Type="http://schemas.openxmlformats.org/officeDocument/2006/relationships/image" Target="../media/image106.emf"/><Relationship Id="rId15" Type="http://schemas.openxmlformats.org/officeDocument/2006/relationships/image" Target="../media/image105.wmf"/><Relationship Id="rId14" Type="http://schemas.openxmlformats.org/officeDocument/2006/relationships/image" Target="../media/image104.wmf"/><Relationship Id="rId13" Type="http://schemas.openxmlformats.org/officeDocument/2006/relationships/image" Target="../media/image103.wmf"/><Relationship Id="rId12" Type="http://schemas.openxmlformats.org/officeDocument/2006/relationships/image" Target="../media/image102.wmf"/><Relationship Id="rId11" Type="http://schemas.openxmlformats.org/officeDocument/2006/relationships/image" Target="../media/image101.wmf"/><Relationship Id="rId10" Type="http://schemas.openxmlformats.org/officeDocument/2006/relationships/image" Target="../media/image100.wmf"/><Relationship Id="rId1" Type="http://schemas.openxmlformats.org/officeDocument/2006/relationships/image" Target="../media/image91.e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image" Target="../media/image113.emf"/></Relationships>
</file>

<file path=ppt/drawings/_rels/vmlDrawing18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wmf"/><Relationship Id="rId8" Type="http://schemas.openxmlformats.org/officeDocument/2006/relationships/image" Target="../media/image128.wmf"/><Relationship Id="rId7" Type="http://schemas.openxmlformats.org/officeDocument/2006/relationships/image" Target="../media/image127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2" Type="http://schemas.openxmlformats.org/officeDocument/2006/relationships/image" Target="../media/image132.wmf"/><Relationship Id="rId11" Type="http://schemas.openxmlformats.org/officeDocument/2006/relationships/image" Target="../media/image131.wmf"/><Relationship Id="rId10" Type="http://schemas.openxmlformats.org/officeDocument/2006/relationships/image" Target="../media/image130.wmf"/><Relationship Id="rId1" Type="http://schemas.openxmlformats.org/officeDocument/2006/relationships/image" Target="../media/image121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wmf"/><Relationship Id="rId8" Type="http://schemas.openxmlformats.org/officeDocument/2006/relationships/image" Target="../media/image109.wmf"/><Relationship Id="rId7" Type="http://schemas.openxmlformats.org/officeDocument/2006/relationships/image" Target="../media/image139.wmf"/><Relationship Id="rId6" Type="http://schemas.openxmlformats.org/officeDocument/2006/relationships/image" Target="../media/image138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2" Type="http://schemas.openxmlformats.org/officeDocument/2006/relationships/image" Target="../media/image142.wmf"/><Relationship Id="rId11" Type="http://schemas.openxmlformats.org/officeDocument/2006/relationships/image" Target="../media/image141.wmf"/><Relationship Id="rId10" Type="http://schemas.openxmlformats.org/officeDocument/2006/relationships/image" Target="../media/image110.wmf"/><Relationship Id="rId1" Type="http://schemas.openxmlformats.org/officeDocument/2006/relationships/image" Target="../media/image133.w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47.emf"/><Relationship Id="rId4" Type="http://schemas.openxmlformats.org/officeDocument/2006/relationships/image" Target="../media/image146.emf"/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4.wmf"/><Relationship Id="rId5" Type="http://schemas.openxmlformats.org/officeDocument/2006/relationships/image" Target="../media/image153.emf"/><Relationship Id="rId4" Type="http://schemas.openxmlformats.org/officeDocument/2006/relationships/image" Target="../media/image152.emf"/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image" Target="../media/image149.e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wmf"/><Relationship Id="rId8" Type="http://schemas.openxmlformats.org/officeDocument/2006/relationships/image" Target="../media/image137.wmf"/><Relationship Id="rId7" Type="http://schemas.openxmlformats.org/officeDocument/2006/relationships/image" Target="../media/image136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33.wmf"/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image" Target="../media/image155.e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3.emf"/><Relationship Id="rId3" Type="http://schemas.openxmlformats.org/officeDocument/2006/relationships/image" Target="../media/image162.emf"/><Relationship Id="rId2" Type="http://schemas.openxmlformats.org/officeDocument/2006/relationships/image" Target="../media/image161.emf"/><Relationship Id="rId1" Type="http://schemas.openxmlformats.org/officeDocument/2006/relationships/image" Target="../media/image160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emf"/><Relationship Id="rId2" Type="http://schemas.openxmlformats.org/officeDocument/2006/relationships/image" Target="../media/image166.emf"/><Relationship Id="rId1" Type="http://schemas.openxmlformats.org/officeDocument/2006/relationships/image" Target="../media/image165.e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emf"/><Relationship Id="rId8" Type="http://schemas.openxmlformats.org/officeDocument/2006/relationships/image" Target="../media/image176.emf"/><Relationship Id="rId7" Type="http://schemas.openxmlformats.org/officeDocument/2006/relationships/image" Target="../media/image175.emf"/><Relationship Id="rId6" Type="http://schemas.openxmlformats.org/officeDocument/2006/relationships/image" Target="../media/image174.emf"/><Relationship Id="rId5" Type="http://schemas.openxmlformats.org/officeDocument/2006/relationships/image" Target="../media/image173.emf"/><Relationship Id="rId4" Type="http://schemas.openxmlformats.org/officeDocument/2006/relationships/image" Target="../media/image172.emf"/><Relationship Id="rId3" Type="http://schemas.openxmlformats.org/officeDocument/2006/relationships/image" Target="../media/image171.emf"/><Relationship Id="rId27" Type="http://schemas.openxmlformats.org/officeDocument/2006/relationships/image" Target="../media/image195.emf"/><Relationship Id="rId26" Type="http://schemas.openxmlformats.org/officeDocument/2006/relationships/image" Target="../media/image194.emf"/><Relationship Id="rId25" Type="http://schemas.openxmlformats.org/officeDocument/2006/relationships/image" Target="../media/image193.emf"/><Relationship Id="rId24" Type="http://schemas.openxmlformats.org/officeDocument/2006/relationships/image" Target="../media/image192.emf"/><Relationship Id="rId23" Type="http://schemas.openxmlformats.org/officeDocument/2006/relationships/image" Target="../media/image191.emf"/><Relationship Id="rId22" Type="http://schemas.openxmlformats.org/officeDocument/2006/relationships/image" Target="../media/image190.emf"/><Relationship Id="rId21" Type="http://schemas.openxmlformats.org/officeDocument/2006/relationships/image" Target="../media/image189.emf"/><Relationship Id="rId20" Type="http://schemas.openxmlformats.org/officeDocument/2006/relationships/image" Target="../media/image188.emf"/><Relationship Id="rId2" Type="http://schemas.openxmlformats.org/officeDocument/2006/relationships/image" Target="../media/image170.emf"/><Relationship Id="rId19" Type="http://schemas.openxmlformats.org/officeDocument/2006/relationships/image" Target="../media/image187.emf"/><Relationship Id="rId18" Type="http://schemas.openxmlformats.org/officeDocument/2006/relationships/image" Target="../media/image186.emf"/><Relationship Id="rId17" Type="http://schemas.openxmlformats.org/officeDocument/2006/relationships/image" Target="../media/image185.emf"/><Relationship Id="rId16" Type="http://schemas.openxmlformats.org/officeDocument/2006/relationships/image" Target="../media/image184.emf"/><Relationship Id="rId15" Type="http://schemas.openxmlformats.org/officeDocument/2006/relationships/image" Target="../media/image183.emf"/><Relationship Id="rId14" Type="http://schemas.openxmlformats.org/officeDocument/2006/relationships/image" Target="../media/image182.emf"/><Relationship Id="rId13" Type="http://schemas.openxmlformats.org/officeDocument/2006/relationships/image" Target="../media/image181.emf"/><Relationship Id="rId12" Type="http://schemas.openxmlformats.org/officeDocument/2006/relationships/image" Target="../media/image180.emf"/><Relationship Id="rId11" Type="http://schemas.openxmlformats.org/officeDocument/2006/relationships/image" Target="../media/image179.emf"/><Relationship Id="rId10" Type="http://schemas.openxmlformats.org/officeDocument/2006/relationships/image" Target="../media/image178.emf"/><Relationship Id="rId1" Type="http://schemas.openxmlformats.org/officeDocument/2006/relationships/image" Target="../media/image169.e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4.emf"/><Relationship Id="rId8" Type="http://schemas.openxmlformats.org/officeDocument/2006/relationships/image" Target="../media/image203.emf"/><Relationship Id="rId7" Type="http://schemas.openxmlformats.org/officeDocument/2006/relationships/image" Target="../media/image202.emf"/><Relationship Id="rId6" Type="http://schemas.openxmlformats.org/officeDocument/2006/relationships/image" Target="../media/image201.emf"/><Relationship Id="rId5" Type="http://schemas.openxmlformats.org/officeDocument/2006/relationships/image" Target="../media/image200.emf"/><Relationship Id="rId4" Type="http://schemas.openxmlformats.org/officeDocument/2006/relationships/image" Target="../media/image199.emf"/><Relationship Id="rId3" Type="http://schemas.openxmlformats.org/officeDocument/2006/relationships/image" Target="../media/image198.emf"/><Relationship Id="rId2" Type="http://schemas.openxmlformats.org/officeDocument/2006/relationships/image" Target="../media/image197.emf"/><Relationship Id="rId11" Type="http://schemas.openxmlformats.org/officeDocument/2006/relationships/image" Target="../media/image206.emf"/><Relationship Id="rId10" Type="http://schemas.openxmlformats.org/officeDocument/2006/relationships/image" Target="../media/image205.emf"/><Relationship Id="rId1" Type="http://schemas.openxmlformats.org/officeDocument/2006/relationships/image" Target="../media/image196.emf"/></Relationships>
</file>

<file path=ppt/drawings/_rels/vmlDrawing28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2.wmf"/><Relationship Id="rId5" Type="http://schemas.openxmlformats.org/officeDocument/2006/relationships/image" Target="../media/image211.wmf"/><Relationship Id="rId4" Type="http://schemas.openxmlformats.org/officeDocument/2006/relationships/image" Target="../media/image210.wmf"/><Relationship Id="rId3" Type="http://schemas.openxmlformats.org/officeDocument/2006/relationships/image" Target="../media/image209.wmf"/><Relationship Id="rId2" Type="http://schemas.openxmlformats.org/officeDocument/2006/relationships/image" Target="../media/image208.wmf"/><Relationship Id="rId1" Type="http://schemas.openxmlformats.org/officeDocument/2006/relationships/image" Target="../media/image207.wmf"/></Relationships>
</file>

<file path=ppt/drawings/_rels/vmlDrawing29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/Relationships>
</file>

<file path=ppt/drawings/_rels/vmlDrawing30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6.emf"/><Relationship Id="rId4" Type="http://schemas.openxmlformats.org/officeDocument/2006/relationships/image" Target="../media/image225.emf"/><Relationship Id="rId3" Type="http://schemas.openxmlformats.org/officeDocument/2006/relationships/image" Target="../media/image224.emf"/><Relationship Id="rId2" Type="http://schemas.openxmlformats.org/officeDocument/2006/relationships/image" Target="../media/image223.emf"/><Relationship Id="rId1" Type="http://schemas.openxmlformats.org/officeDocument/2006/relationships/image" Target="../media/image222.emf"/></Relationships>
</file>

<file path=ppt/drawings/_rels/vmlDrawing31.vml.rels><?xml version="1.0" encoding="UTF-8" standalone="yes"?>
<Relationships xmlns="http://schemas.openxmlformats.org/package/2006/relationships"><Relationship Id="rId5" Type="http://schemas.openxmlformats.org/officeDocument/2006/relationships/image" Target="../media/image231.emf"/><Relationship Id="rId4" Type="http://schemas.openxmlformats.org/officeDocument/2006/relationships/image" Target="../media/image230.emf"/><Relationship Id="rId3" Type="http://schemas.openxmlformats.org/officeDocument/2006/relationships/image" Target="../media/image229.emf"/><Relationship Id="rId2" Type="http://schemas.openxmlformats.org/officeDocument/2006/relationships/image" Target="../media/image228.emf"/><Relationship Id="rId1" Type="http://schemas.openxmlformats.org/officeDocument/2006/relationships/image" Target="../media/image227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wmf"/><Relationship Id="rId1" Type="http://schemas.openxmlformats.org/officeDocument/2006/relationships/image" Target="../media/image232.wmf"/></Relationships>
</file>

<file path=ppt/drawings/_rels/vmlDrawing3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6.wmf"/><Relationship Id="rId3" Type="http://schemas.openxmlformats.org/officeDocument/2006/relationships/image" Target="../media/image235.wmf"/><Relationship Id="rId2" Type="http://schemas.openxmlformats.org/officeDocument/2006/relationships/image" Target="../media/image234.wmf"/><Relationship Id="rId1" Type="http://schemas.openxmlformats.org/officeDocument/2006/relationships/image" Target="../media/image232.wmf"/></Relationships>
</file>

<file path=ppt/drawings/_rels/vmlDrawing3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40.wmf"/><Relationship Id="rId4" Type="http://schemas.openxmlformats.org/officeDocument/2006/relationships/image" Target="../media/image239.wmf"/><Relationship Id="rId3" Type="http://schemas.openxmlformats.org/officeDocument/2006/relationships/image" Target="../media/image238.wmf"/><Relationship Id="rId2" Type="http://schemas.openxmlformats.org/officeDocument/2006/relationships/image" Target="../media/image237.wmf"/><Relationship Id="rId1" Type="http://schemas.openxmlformats.org/officeDocument/2006/relationships/image" Target="../media/image232.wmf"/></Relationships>
</file>

<file path=ppt/drawings/_rels/vmlDrawing35.vml.rels><?xml version="1.0" encoding="UTF-8" standalone="yes"?>
<Relationships xmlns="http://schemas.openxmlformats.org/package/2006/relationships"><Relationship Id="rId7" Type="http://schemas.openxmlformats.org/officeDocument/2006/relationships/image" Target="../media/image247.emf"/><Relationship Id="rId6" Type="http://schemas.openxmlformats.org/officeDocument/2006/relationships/image" Target="../media/image246.emf"/><Relationship Id="rId5" Type="http://schemas.openxmlformats.org/officeDocument/2006/relationships/image" Target="../media/image245.emf"/><Relationship Id="rId4" Type="http://schemas.openxmlformats.org/officeDocument/2006/relationships/image" Target="../media/image244.emf"/><Relationship Id="rId3" Type="http://schemas.openxmlformats.org/officeDocument/2006/relationships/image" Target="../media/image243.emf"/><Relationship Id="rId2" Type="http://schemas.openxmlformats.org/officeDocument/2006/relationships/image" Target="../media/image242.emf"/><Relationship Id="rId1" Type="http://schemas.openxmlformats.org/officeDocument/2006/relationships/image" Target="../media/image24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3FBB4-796C-4659-8125-458416CADB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84933-2FEF-4A86-991B-3E8C6A4BB5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D583329-30D5-4E76-B3B4-AECD84473DFE}" type="slidenum">
              <a:rPr lang="en-US" altLang="zh-CN"/>
            </a:fld>
            <a:endParaRPr lang="en-US" altLang="zh-CN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1" y="1905000"/>
            <a:ext cx="5592233" cy="20208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1" y="4078289"/>
            <a:ext cx="5592233" cy="20208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36C982CD-EAE6-4206-8D8E-4904D92958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1" y="1905000"/>
            <a:ext cx="5592233" cy="20208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1" y="4078289"/>
            <a:ext cx="5592233" cy="20208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94D1E0EF-9FF9-42A1-AFBD-D2124A95E21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30" y="1429385"/>
            <a:ext cx="10968355" cy="3816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F7E5B-533A-44AC-BF8E-891370FBA0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C401CA0-05D5-46BF-8685-4EC5C810882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e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2" Type="http://schemas.openxmlformats.org/officeDocument/2006/relationships/vmlDrawing" Target="../drawings/vmlDrawing1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0.emf"/><Relationship Id="rId2" Type="http://schemas.openxmlformats.org/officeDocument/2006/relationships/image" Target="../media/image1.e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e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e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e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7.wmf"/><Relationship Id="rId30" Type="http://schemas.openxmlformats.org/officeDocument/2006/relationships/vmlDrawing" Target="../drawings/vmlDrawing2.vml"/><Relationship Id="rId3" Type="http://schemas.openxmlformats.org/officeDocument/2006/relationships/oleObject" Target="../embeddings/oleObject12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29.wmf"/><Relationship Id="rId27" Type="http://schemas.openxmlformats.org/officeDocument/2006/relationships/oleObject" Target="../embeddings/oleObject24.bin"/><Relationship Id="rId26" Type="http://schemas.openxmlformats.org/officeDocument/2006/relationships/image" Target="../media/image28.wmf"/><Relationship Id="rId25" Type="http://schemas.openxmlformats.org/officeDocument/2006/relationships/oleObject" Target="../embeddings/oleObject23.bin"/><Relationship Id="rId24" Type="http://schemas.openxmlformats.org/officeDocument/2006/relationships/image" Target="../media/image27.emf"/><Relationship Id="rId23" Type="http://schemas.openxmlformats.org/officeDocument/2006/relationships/oleObject" Target="../embeddings/oleObject22.bin"/><Relationship Id="rId22" Type="http://schemas.openxmlformats.org/officeDocument/2006/relationships/image" Target="../media/image26.wmf"/><Relationship Id="rId21" Type="http://schemas.openxmlformats.org/officeDocument/2006/relationships/oleObject" Target="../embeddings/oleObject21.bin"/><Relationship Id="rId20" Type="http://schemas.openxmlformats.org/officeDocument/2006/relationships/image" Target="../media/image25.wmf"/><Relationship Id="rId2" Type="http://schemas.openxmlformats.org/officeDocument/2006/relationships/image" Target="../media/image16.wmf"/><Relationship Id="rId19" Type="http://schemas.openxmlformats.org/officeDocument/2006/relationships/oleObject" Target="../embeddings/oleObject20.bin"/><Relationship Id="rId18" Type="http://schemas.openxmlformats.org/officeDocument/2006/relationships/image" Target="../media/image24.wmf"/><Relationship Id="rId17" Type="http://schemas.openxmlformats.org/officeDocument/2006/relationships/oleObject" Target="../embeddings/oleObject19.bin"/><Relationship Id="rId16" Type="http://schemas.openxmlformats.org/officeDocument/2006/relationships/image" Target="../media/image23.wmf"/><Relationship Id="rId15" Type="http://schemas.openxmlformats.org/officeDocument/2006/relationships/oleObject" Target="../embeddings/oleObject18.bin"/><Relationship Id="rId14" Type="http://schemas.openxmlformats.org/officeDocument/2006/relationships/image" Target="../media/image22.emf"/><Relationship Id="rId13" Type="http://schemas.openxmlformats.org/officeDocument/2006/relationships/oleObject" Target="../embeddings/oleObject17.bin"/><Relationship Id="rId12" Type="http://schemas.openxmlformats.org/officeDocument/2006/relationships/image" Target="../media/image21.e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1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28.bin"/><Relationship Id="rId26" Type="http://schemas.openxmlformats.org/officeDocument/2006/relationships/vmlDrawing" Target="../drawings/vmlDrawing4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43.wmf"/><Relationship Id="rId23" Type="http://schemas.openxmlformats.org/officeDocument/2006/relationships/oleObject" Target="../embeddings/oleObject38.bin"/><Relationship Id="rId22" Type="http://schemas.openxmlformats.org/officeDocument/2006/relationships/image" Target="../media/image42.wmf"/><Relationship Id="rId21" Type="http://schemas.openxmlformats.org/officeDocument/2006/relationships/oleObject" Target="../embeddings/oleObject37.bin"/><Relationship Id="rId20" Type="http://schemas.openxmlformats.org/officeDocument/2006/relationships/image" Target="../media/image41.wmf"/><Relationship Id="rId2" Type="http://schemas.openxmlformats.org/officeDocument/2006/relationships/image" Target="../media/image32.wmf"/><Relationship Id="rId19" Type="http://schemas.openxmlformats.org/officeDocument/2006/relationships/oleObject" Target="../embeddings/oleObject36.bin"/><Relationship Id="rId18" Type="http://schemas.openxmlformats.org/officeDocument/2006/relationships/image" Target="../media/image40.wmf"/><Relationship Id="rId17" Type="http://schemas.openxmlformats.org/officeDocument/2006/relationships/oleObject" Target="../embeddings/oleObject35.bin"/><Relationship Id="rId16" Type="http://schemas.openxmlformats.org/officeDocument/2006/relationships/image" Target="../media/image39.wmf"/><Relationship Id="rId15" Type="http://schemas.openxmlformats.org/officeDocument/2006/relationships/oleObject" Target="../embeddings/oleObject34.bin"/><Relationship Id="rId14" Type="http://schemas.openxmlformats.org/officeDocument/2006/relationships/image" Target="../media/image38.wmf"/><Relationship Id="rId13" Type="http://schemas.openxmlformats.org/officeDocument/2006/relationships/oleObject" Target="../embeddings/oleObject33.bin"/><Relationship Id="rId12" Type="http://schemas.openxmlformats.org/officeDocument/2006/relationships/image" Target="../media/image37.wmf"/><Relationship Id="rId11" Type="http://schemas.openxmlformats.org/officeDocument/2006/relationships/oleObject" Target="../embeddings/oleObject32.bin"/><Relationship Id="rId10" Type="http://schemas.openxmlformats.org/officeDocument/2006/relationships/image" Target="../media/image36.wmf"/><Relationship Id="rId1" Type="http://schemas.openxmlformats.org/officeDocument/2006/relationships/oleObject" Target="../embeddings/oleObject27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wmf"/><Relationship Id="rId1" Type="http://schemas.openxmlformats.org/officeDocument/2006/relationships/oleObject" Target="../embeddings/oleObject39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45.wmf"/><Relationship Id="rId1" Type="http://schemas.openxmlformats.org/officeDocument/2006/relationships/oleObject" Target="../embeddings/oleObject4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42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wmf"/><Relationship Id="rId8" Type="http://schemas.openxmlformats.org/officeDocument/2006/relationships/oleObject" Target="../embeddings/oleObject48.bin"/><Relationship Id="rId7" Type="http://schemas.openxmlformats.org/officeDocument/2006/relationships/image" Target="../media/image53.wmf"/><Relationship Id="rId6" Type="http://schemas.openxmlformats.org/officeDocument/2006/relationships/oleObject" Target="../embeddings/oleObject47.bin"/><Relationship Id="rId5" Type="http://schemas.openxmlformats.org/officeDocument/2006/relationships/image" Target="../media/image52.png"/><Relationship Id="rId4" Type="http://schemas.openxmlformats.org/officeDocument/2006/relationships/image" Target="../media/image51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50.wmf"/><Relationship Id="rId11" Type="http://schemas.openxmlformats.org/officeDocument/2006/relationships/vmlDrawing" Target="../drawings/vmlDrawing8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45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58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6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55.w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9.wmf"/><Relationship Id="rId1" Type="http://schemas.openxmlformats.org/officeDocument/2006/relationships/oleObject" Target="../embeddings/oleObject4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image" Target="../media/image65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64.wmf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w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5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66.wmf"/><Relationship Id="rId13" Type="http://schemas.openxmlformats.org/officeDocument/2006/relationships/vmlDrawing" Target="../drawings/vmlDrawing11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1.png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5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74.e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73.e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72.emf"/><Relationship Id="rId3" Type="http://schemas.openxmlformats.org/officeDocument/2006/relationships/oleObject" Target="../embeddings/oleObject62.bin"/><Relationship Id="rId26" Type="http://schemas.openxmlformats.org/officeDocument/2006/relationships/vmlDrawing" Target="../drawings/vmlDrawing12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82.emf"/><Relationship Id="rId23" Type="http://schemas.openxmlformats.org/officeDocument/2006/relationships/oleObject" Target="../embeddings/oleObject72.bin"/><Relationship Id="rId22" Type="http://schemas.openxmlformats.org/officeDocument/2006/relationships/image" Target="../media/image81.emf"/><Relationship Id="rId21" Type="http://schemas.openxmlformats.org/officeDocument/2006/relationships/oleObject" Target="../embeddings/oleObject71.bin"/><Relationship Id="rId20" Type="http://schemas.openxmlformats.org/officeDocument/2006/relationships/image" Target="../media/image80.emf"/><Relationship Id="rId2" Type="http://schemas.openxmlformats.org/officeDocument/2006/relationships/image" Target="../media/image71.emf"/><Relationship Id="rId19" Type="http://schemas.openxmlformats.org/officeDocument/2006/relationships/oleObject" Target="../embeddings/oleObject70.bin"/><Relationship Id="rId18" Type="http://schemas.openxmlformats.org/officeDocument/2006/relationships/image" Target="../media/image79.emf"/><Relationship Id="rId17" Type="http://schemas.openxmlformats.org/officeDocument/2006/relationships/oleObject" Target="../embeddings/oleObject69.bin"/><Relationship Id="rId16" Type="http://schemas.openxmlformats.org/officeDocument/2006/relationships/image" Target="../media/image78.emf"/><Relationship Id="rId15" Type="http://schemas.openxmlformats.org/officeDocument/2006/relationships/oleObject" Target="../embeddings/oleObject68.bin"/><Relationship Id="rId14" Type="http://schemas.openxmlformats.org/officeDocument/2006/relationships/image" Target="../media/image77.emf"/><Relationship Id="rId13" Type="http://schemas.openxmlformats.org/officeDocument/2006/relationships/oleObject" Target="../embeddings/oleObject67.bin"/><Relationship Id="rId12" Type="http://schemas.openxmlformats.org/officeDocument/2006/relationships/image" Target="../media/image76.emf"/><Relationship Id="rId11" Type="http://schemas.openxmlformats.org/officeDocument/2006/relationships/oleObject" Target="../embeddings/oleObject66.bin"/><Relationship Id="rId10" Type="http://schemas.openxmlformats.org/officeDocument/2006/relationships/image" Target="../media/image75.emf"/><Relationship Id="rId1" Type="http://schemas.openxmlformats.org/officeDocument/2006/relationships/oleObject" Target="../embeddings/oleObject61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emf"/><Relationship Id="rId8" Type="http://schemas.openxmlformats.org/officeDocument/2006/relationships/oleObject" Target="../embeddings/oleObject76.bin"/><Relationship Id="rId7" Type="http://schemas.openxmlformats.org/officeDocument/2006/relationships/image" Target="../media/image86.emf"/><Relationship Id="rId6" Type="http://schemas.openxmlformats.org/officeDocument/2006/relationships/oleObject" Target="../embeddings/oleObject75.bin"/><Relationship Id="rId5" Type="http://schemas.openxmlformats.org/officeDocument/2006/relationships/image" Target="../media/image85.wmf"/><Relationship Id="rId4" Type="http://schemas.openxmlformats.org/officeDocument/2006/relationships/oleObject" Target="../embeddings/oleObject74.bin"/><Relationship Id="rId3" Type="http://schemas.openxmlformats.org/officeDocument/2006/relationships/image" Target="../media/image84.png"/><Relationship Id="rId2" Type="http://schemas.openxmlformats.org/officeDocument/2006/relationships/image" Target="../media/image83.emf"/><Relationship Id="rId18" Type="http://schemas.openxmlformats.org/officeDocument/2006/relationships/vmlDrawing" Target="../drawings/vmlDrawing13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90.wmf"/><Relationship Id="rId15" Type="http://schemas.openxmlformats.org/officeDocument/2006/relationships/oleObject" Target="../embeddings/oleObject79.bin"/><Relationship Id="rId14" Type="http://schemas.openxmlformats.org/officeDocument/2006/relationships/image" Target="../media/image11.png"/><Relationship Id="rId13" Type="http://schemas.openxmlformats.org/officeDocument/2006/relationships/image" Target="../media/image89.wmf"/><Relationship Id="rId12" Type="http://schemas.openxmlformats.org/officeDocument/2006/relationships/oleObject" Target="../embeddings/oleObject78.bin"/><Relationship Id="rId11" Type="http://schemas.openxmlformats.org/officeDocument/2006/relationships/image" Target="../media/image88.emf"/><Relationship Id="rId10" Type="http://schemas.openxmlformats.org/officeDocument/2006/relationships/oleObject" Target="../embeddings/oleObject77.bin"/><Relationship Id="rId1" Type="http://schemas.openxmlformats.org/officeDocument/2006/relationships/oleObject" Target="../embeddings/oleObject73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wmf"/><Relationship Id="rId8" Type="http://schemas.openxmlformats.org/officeDocument/2006/relationships/oleObject" Target="../embeddings/oleObject83.bin"/><Relationship Id="rId7" Type="http://schemas.openxmlformats.org/officeDocument/2006/relationships/image" Target="../media/image93.emf"/><Relationship Id="rId6" Type="http://schemas.openxmlformats.org/officeDocument/2006/relationships/oleObject" Target="../embeddings/oleObject82.bin"/><Relationship Id="rId5" Type="http://schemas.openxmlformats.org/officeDocument/2006/relationships/image" Target="../media/image84.png"/><Relationship Id="rId4" Type="http://schemas.openxmlformats.org/officeDocument/2006/relationships/image" Target="../media/image92.emf"/><Relationship Id="rId37" Type="http://schemas.openxmlformats.org/officeDocument/2006/relationships/vmlDrawing" Target="../drawings/vmlDrawing14.vml"/><Relationship Id="rId36" Type="http://schemas.openxmlformats.org/officeDocument/2006/relationships/slideLayout" Target="../slideLayouts/slideLayout7.xml"/><Relationship Id="rId35" Type="http://schemas.openxmlformats.org/officeDocument/2006/relationships/image" Target="../media/image107.wmf"/><Relationship Id="rId34" Type="http://schemas.openxmlformats.org/officeDocument/2006/relationships/oleObject" Target="../embeddings/oleObject96.bin"/><Relationship Id="rId33" Type="http://schemas.openxmlformats.org/officeDocument/2006/relationships/image" Target="../media/image106.emf"/><Relationship Id="rId32" Type="http://schemas.openxmlformats.org/officeDocument/2006/relationships/oleObject" Target="../embeddings/oleObject95.bin"/><Relationship Id="rId31" Type="http://schemas.openxmlformats.org/officeDocument/2006/relationships/image" Target="../media/image105.wmf"/><Relationship Id="rId30" Type="http://schemas.openxmlformats.org/officeDocument/2006/relationships/oleObject" Target="../embeddings/oleObject94.bin"/><Relationship Id="rId3" Type="http://schemas.openxmlformats.org/officeDocument/2006/relationships/oleObject" Target="../embeddings/oleObject81.bin"/><Relationship Id="rId29" Type="http://schemas.openxmlformats.org/officeDocument/2006/relationships/image" Target="../media/image104.wmf"/><Relationship Id="rId28" Type="http://schemas.openxmlformats.org/officeDocument/2006/relationships/oleObject" Target="../embeddings/oleObject93.bin"/><Relationship Id="rId27" Type="http://schemas.openxmlformats.org/officeDocument/2006/relationships/image" Target="../media/image103.wmf"/><Relationship Id="rId26" Type="http://schemas.openxmlformats.org/officeDocument/2006/relationships/oleObject" Target="../embeddings/oleObject92.bin"/><Relationship Id="rId25" Type="http://schemas.openxmlformats.org/officeDocument/2006/relationships/image" Target="../media/image102.wmf"/><Relationship Id="rId24" Type="http://schemas.openxmlformats.org/officeDocument/2006/relationships/oleObject" Target="../embeddings/oleObject91.bin"/><Relationship Id="rId23" Type="http://schemas.openxmlformats.org/officeDocument/2006/relationships/image" Target="../media/image101.wmf"/><Relationship Id="rId22" Type="http://schemas.openxmlformats.org/officeDocument/2006/relationships/oleObject" Target="../embeddings/oleObject90.bin"/><Relationship Id="rId21" Type="http://schemas.openxmlformats.org/officeDocument/2006/relationships/image" Target="../media/image100.wmf"/><Relationship Id="rId20" Type="http://schemas.openxmlformats.org/officeDocument/2006/relationships/oleObject" Target="../embeddings/oleObject89.bin"/><Relationship Id="rId2" Type="http://schemas.openxmlformats.org/officeDocument/2006/relationships/image" Target="../media/image91.emf"/><Relationship Id="rId19" Type="http://schemas.openxmlformats.org/officeDocument/2006/relationships/image" Target="../media/image99.wmf"/><Relationship Id="rId18" Type="http://schemas.openxmlformats.org/officeDocument/2006/relationships/oleObject" Target="../embeddings/oleObject88.bin"/><Relationship Id="rId17" Type="http://schemas.openxmlformats.org/officeDocument/2006/relationships/image" Target="../media/image98.wmf"/><Relationship Id="rId16" Type="http://schemas.openxmlformats.org/officeDocument/2006/relationships/oleObject" Target="../embeddings/oleObject87.bin"/><Relationship Id="rId15" Type="http://schemas.openxmlformats.org/officeDocument/2006/relationships/image" Target="../media/image97.wmf"/><Relationship Id="rId14" Type="http://schemas.openxmlformats.org/officeDocument/2006/relationships/oleObject" Target="../embeddings/oleObject86.bin"/><Relationship Id="rId13" Type="http://schemas.openxmlformats.org/officeDocument/2006/relationships/image" Target="../media/image96.wmf"/><Relationship Id="rId12" Type="http://schemas.openxmlformats.org/officeDocument/2006/relationships/oleObject" Target="../embeddings/oleObject85.bin"/><Relationship Id="rId11" Type="http://schemas.openxmlformats.org/officeDocument/2006/relationships/image" Target="../media/image95.wmf"/><Relationship Id="rId10" Type="http://schemas.openxmlformats.org/officeDocument/2006/relationships/oleObject" Target="../embeddings/oleObject84.bin"/><Relationship Id="rId1" Type="http://schemas.openxmlformats.org/officeDocument/2006/relationships/oleObject" Target="../embeddings/oleObject80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1.wmf"/><Relationship Id="rId7" Type="http://schemas.openxmlformats.org/officeDocument/2006/relationships/oleObject" Target="../embeddings/oleObject100.bin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109.wmf"/><Relationship Id="rId3" Type="http://schemas.openxmlformats.org/officeDocument/2006/relationships/oleObject" Target="../embeddings/oleObject98.bin"/><Relationship Id="rId2" Type="http://schemas.openxmlformats.org/officeDocument/2006/relationships/image" Target="../media/image108.wmf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97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2.emf"/><Relationship Id="rId1" Type="http://schemas.openxmlformats.org/officeDocument/2006/relationships/oleObject" Target="../embeddings/oleObject10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5.jpeg"/><Relationship Id="rId5" Type="http://schemas.openxmlformats.org/officeDocument/2006/relationships/image" Target="../media/image114.emf"/><Relationship Id="rId4" Type="http://schemas.openxmlformats.org/officeDocument/2006/relationships/oleObject" Target="../embeddings/oleObject103.bin"/><Relationship Id="rId3" Type="http://schemas.openxmlformats.org/officeDocument/2006/relationships/image" Target="../media/image113.emf"/><Relationship Id="rId2" Type="http://schemas.openxmlformats.org/officeDocument/2006/relationships/oleObject" Target="../embeddings/oleObject102.bin"/><Relationship Id="rId1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8.bin"/><Relationship Id="rId8" Type="http://schemas.openxmlformats.org/officeDocument/2006/relationships/image" Target="../media/image119.wmf"/><Relationship Id="rId7" Type="http://schemas.openxmlformats.org/officeDocument/2006/relationships/oleObject" Target="../embeddings/oleObject107.bin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116.wmf"/><Relationship Id="rId12" Type="http://schemas.openxmlformats.org/officeDocument/2006/relationships/vmlDrawing" Target="../drawings/vmlDrawing18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0.wmf"/><Relationship Id="rId1" Type="http://schemas.openxmlformats.org/officeDocument/2006/relationships/oleObject" Target="../embeddings/oleObject10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3.bin"/><Relationship Id="rId8" Type="http://schemas.openxmlformats.org/officeDocument/2006/relationships/image" Target="../media/image124.wmf"/><Relationship Id="rId7" Type="http://schemas.openxmlformats.org/officeDocument/2006/relationships/oleObject" Target="../embeddings/oleObject112.bin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22.wmf"/><Relationship Id="rId3" Type="http://schemas.openxmlformats.org/officeDocument/2006/relationships/oleObject" Target="../embeddings/oleObject110.bin"/><Relationship Id="rId26" Type="http://schemas.openxmlformats.org/officeDocument/2006/relationships/vmlDrawing" Target="../drawings/vmlDrawing19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32.wmf"/><Relationship Id="rId23" Type="http://schemas.openxmlformats.org/officeDocument/2006/relationships/oleObject" Target="../embeddings/oleObject120.bin"/><Relationship Id="rId22" Type="http://schemas.openxmlformats.org/officeDocument/2006/relationships/image" Target="../media/image131.wmf"/><Relationship Id="rId21" Type="http://schemas.openxmlformats.org/officeDocument/2006/relationships/oleObject" Target="../embeddings/oleObject119.bin"/><Relationship Id="rId20" Type="http://schemas.openxmlformats.org/officeDocument/2006/relationships/image" Target="../media/image130.wmf"/><Relationship Id="rId2" Type="http://schemas.openxmlformats.org/officeDocument/2006/relationships/image" Target="../media/image121.wmf"/><Relationship Id="rId19" Type="http://schemas.openxmlformats.org/officeDocument/2006/relationships/oleObject" Target="../embeddings/oleObject118.bin"/><Relationship Id="rId18" Type="http://schemas.openxmlformats.org/officeDocument/2006/relationships/image" Target="../media/image129.wmf"/><Relationship Id="rId17" Type="http://schemas.openxmlformats.org/officeDocument/2006/relationships/oleObject" Target="../embeddings/oleObject117.bin"/><Relationship Id="rId16" Type="http://schemas.openxmlformats.org/officeDocument/2006/relationships/image" Target="../media/image128.wmf"/><Relationship Id="rId15" Type="http://schemas.openxmlformats.org/officeDocument/2006/relationships/oleObject" Target="../embeddings/oleObject116.bin"/><Relationship Id="rId14" Type="http://schemas.openxmlformats.org/officeDocument/2006/relationships/image" Target="../media/image127.wmf"/><Relationship Id="rId13" Type="http://schemas.openxmlformats.org/officeDocument/2006/relationships/oleObject" Target="../embeddings/oleObject115.bin"/><Relationship Id="rId12" Type="http://schemas.openxmlformats.org/officeDocument/2006/relationships/image" Target="../media/image126.wmf"/><Relationship Id="rId11" Type="http://schemas.openxmlformats.org/officeDocument/2006/relationships/oleObject" Target="../embeddings/oleObject114.bin"/><Relationship Id="rId10" Type="http://schemas.openxmlformats.org/officeDocument/2006/relationships/image" Target="../media/image125.wmf"/><Relationship Id="rId1" Type="http://schemas.openxmlformats.org/officeDocument/2006/relationships/oleObject" Target="../embeddings/oleObject109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5.bin"/><Relationship Id="rId8" Type="http://schemas.openxmlformats.org/officeDocument/2006/relationships/image" Target="../media/image136.wmf"/><Relationship Id="rId7" Type="http://schemas.openxmlformats.org/officeDocument/2006/relationships/oleObject" Target="../embeddings/oleObject124.bin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22.bin"/><Relationship Id="rId26" Type="http://schemas.openxmlformats.org/officeDocument/2006/relationships/vmlDrawing" Target="../drawings/vmlDrawing20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42.wmf"/><Relationship Id="rId23" Type="http://schemas.openxmlformats.org/officeDocument/2006/relationships/oleObject" Target="../embeddings/oleObject132.bin"/><Relationship Id="rId22" Type="http://schemas.openxmlformats.org/officeDocument/2006/relationships/image" Target="../media/image141.wmf"/><Relationship Id="rId21" Type="http://schemas.openxmlformats.org/officeDocument/2006/relationships/oleObject" Target="../embeddings/oleObject131.bin"/><Relationship Id="rId20" Type="http://schemas.openxmlformats.org/officeDocument/2006/relationships/image" Target="../media/image110.wmf"/><Relationship Id="rId2" Type="http://schemas.openxmlformats.org/officeDocument/2006/relationships/image" Target="../media/image133.wmf"/><Relationship Id="rId19" Type="http://schemas.openxmlformats.org/officeDocument/2006/relationships/oleObject" Target="../embeddings/oleObject130.bin"/><Relationship Id="rId18" Type="http://schemas.openxmlformats.org/officeDocument/2006/relationships/image" Target="../media/image140.wmf"/><Relationship Id="rId17" Type="http://schemas.openxmlformats.org/officeDocument/2006/relationships/oleObject" Target="../embeddings/oleObject129.bin"/><Relationship Id="rId16" Type="http://schemas.openxmlformats.org/officeDocument/2006/relationships/image" Target="../media/image109.wmf"/><Relationship Id="rId15" Type="http://schemas.openxmlformats.org/officeDocument/2006/relationships/oleObject" Target="../embeddings/oleObject128.bin"/><Relationship Id="rId14" Type="http://schemas.openxmlformats.org/officeDocument/2006/relationships/image" Target="../media/image139.wmf"/><Relationship Id="rId13" Type="http://schemas.openxmlformats.org/officeDocument/2006/relationships/oleObject" Target="../embeddings/oleObject127.bin"/><Relationship Id="rId12" Type="http://schemas.openxmlformats.org/officeDocument/2006/relationships/image" Target="../media/image138.wmf"/><Relationship Id="rId11" Type="http://schemas.openxmlformats.org/officeDocument/2006/relationships/oleObject" Target="../embeddings/oleObject126.bin"/><Relationship Id="rId10" Type="http://schemas.openxmlformats.org/officeDocument/2006/relationships/image" Target="../media/image137.wmf"/><Relationship Id="rId1" Type="http://schemas.openxmlformats.org/officeDocument/2006/relationships/oleObject" Target="../embeddings/oleObject121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46.e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45.e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44.emf"/><Relationship Id="rId3" Type="http://schemas.openxmlformats.org/officeDocument/2006/relationships/oleObject" Target="../embeddings/oleObject134.bin"/><Relationship Id="rId2" Type="http://schemas.openxmlformats.org/officeDocument/2006/relationships/image" Target="../media/image143.emf"/><Relationship Id="rId13" Type="http://schemas.openxmlformats.org/officeDocument/2006/relationships/vmlDrawing" Target="../drawings/vmlDrawing21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48.jpeg"/><Relationship Id="rId10" Type="http://schemas.openxmlformats.org/officeDocument/2006/relationships/image" Target="../media/image147.emf"/><Relationship Id="rId1" Type="http://schemas.openxmlformats.org/officeDocument/2006/relationships/oleObject" Target="../embeddings/oleObject133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2.bin"/><Relationship Id="rId8" Type="http://schemas.openxmlformats.org/officeDocument/2006/relationships/image" Target="../media/image152.emf"/><Relationship Id="rId7" Type="http://schemas.openxmlformats.org/officeDocument/2006/relationships/oleObject" Target="../embeddings/oleObject141.bin"/><Relationship Id="rId6" Type="http://schemas.openxmlformats.org/officeDocument/2006/relationships/image" Target="../media/image151.e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50.emf"/><Relationship Id="rId3" Type="http://schemas.openxmlformats.org/officeDocument/2006/relationships/oleObject" Target="../embeddings/oleObject139.bin"/><Relationship Id="rId2" Type="http://schemas.openxmlformats.org/officeDocument/2006/relationships/image" Target="../media/image149.emf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54.wmf"/><Relationship Id="rId11" Type="http://schemas.openxmlformats.org/officeDocument/2006/relationships/oleObject" Target="../embeddings/oleObject143.bin"/><Relationship Id="rId10" Type="http://schemas.openxmlformats.org/officeDocument/2006/relationships/image" Target="../media/image153.emf"/><Relationship Id="rId1" Type="http://schemas.openxmlformats.org/officeDocument/2006/relationships/oleObject" Target="../embeddings/oleObject138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8.bin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147.bin"/><Relationship Id="rId6" Type="http://schemas.openxmlformats.org/officeDocument/2006/relationships/image" Target="../media/image157.e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56.emf"/><Relationship Id="rId3" Type="http://schemas.openxmlformats.org/officeDocument/2006/relationships/oleObject" Target="../embeddings/oleObject145.bin"/><Relationship Id="rId20" Type="http://schemas.openxmlformats.org/officeDocument/2006/relationships/vmlDrawing" Target="../drawings/vmlDrawing23.vml"/><Relationship Id="rId2" Type="http://schemas.openxmlformats.org/officeDocument/2006/relationships/image" Target="../media/image155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38.wmf"/><Relationship Id="rId17" Type="http://schemas.openxmlformats.org/officeDocument/2006/relationships/oleObject" Target="../embeddings/oleObject152.bin"/><Relationship Id="rId16" Type="http://schemas.openxmlformats.org/officeDocument/2006/relationships/image" Target="../media/image137.wmf"/><Relationship Id="rId15" Type="http://schemas.openxmlformats.org/officeDocument/2006/relationships/oleObject" Target="../embeddings/oleObject151.bin"/><Relationship Id="rId14" Type="http://schemas.openxmlformats.org/officeDocument/2006/relationships/image" Target="../media/image136.wmf"/><Relationship Id="rId13" Type="http://schemas.openxmlformats.org/officeDocument/2006/relationships/oleObject" Target="../embeddings/oleObject150.bin"/><Relationship Id="rId12" Type="http://schemas.openxmlformats.org/officeDocument/2006/relationships/image" Target="../media/image159.wmf"/><Relationship Id="rId11" Type="http://schemas.openxmlformats.org/officeDocument/2006/relationships/oleObject" Target="../embeddings/oleObject149.bin"/><Relationship Id="rId10" Type="http://schemas.openxmlformats.org/officeDocument/2006/relationships/image" Target="../media/image158.wmf"/><Relationship Id="rId1" Type="http://schemas.openxmlformats.org/officeDocument/2006/relationships/oleObject" Target="../embeddings/oleObject144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4.jpeg"/><Relationship Id="rId8" Type="http://schemas.openxmlformats.org/officeDocument/2006/relationships/image" Target="../media/image163.emf"/><Relationship Id="rId7" Type="http://schemas.openxmlformats.org/officeDocument/2006/relationships/oleObject" Target="../embeddings/oleObject156.bin"/><Relationship Id="rId6" Type="http://schemas.openxmlformats.org/officeDocument/2006/relationships/image" Target="../media/image162.e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61.emf"/><Relationship Id="rId3" Type="http://schemas.openxmlformats.org/officeDocument/2006/relationships/oleObject" Target="../embeddings/oleObject154.bin"/><Relationship Id="rId2" Type="http://schemas.openxmlformats.org/officeDocument/2006/relationships/image" Target="../media/image160.emf"/><Relationship Id="rId11" Type="http://schemas.openxmlformats.org/officeDocument/2006/relationships/vmlDrawing" Target="../drawings/vmlDrawing24.vml"/><Relationship Id="rId10" Type="http://schemas.openxmlformats.org/officeDocument/2006/relationships/slideLayout" Target="../slideLayouts/slideLayout17.xml"/><Relationship Id="rId1" Type="http://schemas.openxmlformats.org/officeDocument/2006/relationships/oleObject" Target="../embeddings/oleObject153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5.v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168.jpeg"/><Relationship Id="rId6" Type="http://schemas.openxmlformats.org/officeDocument/2006/relationships/image" Target="../media/image167.e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66.emf"/><Relationship Id="rId3" Type="http://schemas.openxmlformats.org/officeDocument/2006/relationships/oleObject" Target="../embeddings/oleObject158.bin"/><Relationship Id="rId2" Type="http://schemas.openxmlformats.org/officeDocument/2006/relationships/image" Target="../media/image165.emf"/><Relationship Id="rId1" Type="http://schemas.openxmlformats.org/officeDocument/2006/relationships/oleObject" Target="../embeddings/oleObject157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4.bin"/><Relationship Id="rId8" Type="http://schemas.openxmlformats.org/officeDocument/2006/relationships/image" Target="../media/image172.emf"/><Relationship Id="rId7" Type="http://schemas.openxmlformats.org/officeDocument/2006/relationships/oleObject" Target="../embeddings/oleObject163.bin"/><Relationship Id="rId6" Type="http://schemas.openxmlformats.org/officeDocument/2006/relationships/image" Target="../media/image171.emf"/><Relationship Id="rId56" Type="http://schemas.openxmlformats.org/officeDocument/2006/relationships/vmlDrawing" Target="../drawings/vmlDrawing26.vml"/><Relationship Id="rId55" Type="http://schemas.openxmlformats.org/officeDocument/2006/relationships/slideLayout" Target="../slideLayouts/slideLayout7.xml"/><Relationship Id="rId54" Type="http://schemas.openxmlformats.org/officeDocument/2006/relationships/image" Target="../media/image195.emf"/><Relationship Id="rId53" Type="http://schemas.openxmlformats.org/officeDocument/2006/relationships/oleObject" Target="../embeddings/oleObject186.bin"/><Relationship Id="rId52" Type="http://schemas.openxmlformats.org/officeDocument/2006/relationships/image" Target="../media/image194.emf"/><Relationship Id="rId51" Type="http://schemas.openxmlformats.org/officeDocument/2006/relationships/oleObject" Target="../embeddings/oleObject185.bin"/><Relationship Id="rId50" Type="http://schemas.openxmlformats.org/officeDocument/2006/relationships/image" Target="../media/image193.emf"/><Relationship Id="rId5" Type="http://schemas.openxmlformats.org/officeDocument/2006/relationships/oleObject" Target="../embeddings/oleObject162.bin"/><Relationship Id="rId49" Type="http://schemas.openxmlformats.org/officeDocument/2006/relationships/oleObject" Target="../embeddings/oleObject184.bin"/><Relationship Id="rId48" Type="http://schemas.openxmlformats.org/officeDocument/2006/relationships/image" Target="../media/image192.emf"/><Relationship Id="rId47" Type="http://schemas.openxmlformats.org/officeDocument/2006/relationships/oleObject" Target="../embeddings/oleObject183.bin"/><Relationship Id="rId46" Type="http://schemas.openxmlformats.org/officeDocument/2006/relationships/image" Target="../media/image191.emf"/><Relationship Id="rId45" Type="http://schemas.openxmlformats.org/officeDocument/2006/relationships/oleObject" Target="../embeddings/oleObject182.bin"/><Relationship Id="rId44" Type="http://schemas.openxmlformats.org/officeDocument/2006/relationships/image" Target="../media/image190.emf"/><Relationship Id="rId43" Type="http://schemas.openxmlformats.org/officeDocument/2006/relationships/oleObject" Target="../embeddings/oleObject181.bin"/><Relationship Id="rId42" Type="http://schemas.openxmlformats.org/officeDocument/2006/relationships/image" Target="../media/image189.emf"/><Relationship Id="rId41" Type="http://schemas.openxmlformats.org/officeDocument/2006/relationships/oleObject" Target="../embeddings/oleObject180.bin"/><Relationship Id="rId40" Type="http://schemas.openxmlformats.org/officeDocument/2006/relationships/image" Target="../media/image188.emf"/><Relationship Id="rId4" Type="http://schemas.openxmlformats.org/officeDocument/2006/relationships/image" Target="../media/image170.emf"/><Relationship Id="rId39" Type="http://schemas.openxmlformats.org/officeDocument/2006/relationships/oleObject" Target="../embeddings/oleObject179.bin"/><Relationship Id="rId38" Type="http://schemas.openxmlformats.org/officeDocument/2006/relationships/image" Target="../media/image187.emf"/><Relationship Id="rId37" Type="http://schemas.openxmlformats.org/officeDocument/2006/relationships/oleObject" Target="../embeddings/oleObject178.bin"/><Relationship Id="rId36" Type="http://schemas.openxmlformats.org/officeDocument/2006/relationships/image" Target="../media/image186.emf"/><Relationship Id="rId35" Type="http://schemas.openxmlformats.org/officeDocument/2006/relationships/oleObject" Target="../embeddings/oleObject177.bin"/><Relationship Id="rId34" Type="http://schemas.openxmlformats.org/officeDocument/2006/relationships/image" Target="../media/image185.emf"/><Relationship Id="rId33" Type="http://schemas.openxmlformats.org/officeDocument/2006/relationships/oleObject" Target="../embeddings/oleObject176.bin"/><Relationship Id="rId32" Type="http://schemas.openxmlformats.org/officeDocument/2006/relationships/image" Target="../media/image184.emf"/><Relationship Id="rId31" Type="http://schemas.openxmlformats.org/officeDocument/2006/relationships/oleObject" Target="../embeddings/oleObject175.bin"/><Relationship Id="rId30" Type="http://schemas.openxmlformats.org/officeDocument/2006/relationships/image" Target="../media/image183.emf"/><Relationship Id="rId3" Type="http://schemas.openxmlformats.org/officeDocument/2006/relationships/oleObject" Target="../embeddings/oleObject161.bin"/><Relationship Id="rId29" Type="http://schemas.openxmlformats.org/officeDocument/2006/relationships/oleObject" Target="../embeddings/oleObject174.bin"/><Relationship Id="rId28" Type="http://schemas.openxmlformats.org/officeDocument/2006/relationships/image" Target="../media/image182.emf"/><Relationship Id="rId27" Type="http://schemas.openxmlformats.org/officeDocument/2006/relationships/oleObject" Target="../embeddings/oleObject173.bin"/><Relationship Id="rId26" Type="http://schemas.openxmlformats.org/officeDocument/2006/relationships/image" Target="../media/image181.emf"/><Relationship Id="rId25" Type="http://schemas.openxmlformats.org/officeDocument/2006/relationships/oleObject" Target="../embeddings/oleObject172.bin"/><Relationship Id="rId24" Type="http://schemas.openxmlformats.org/officeDocument/2006/relationships/image" Target="../media/image180.emf"/><Relationship Id="rId23" Type="http://schemas.openxmlformats.org/officeDocument/2006/relationships/oleObject" Target="../embeddings/oleObject171.bin"/><Relationship Id="rId22" Type="http://schemas.openxmlformats.org/officeDocument/2006/relationships/image" Target="../media/image179.emf"/><Relationship Id="rId21" Type="http://schemas.openxmlformats.org/officeDocument/2006/relationships/oleObject" Target="../embeddings/oleObject170.bin"/><Relationship Id="rId20" Type="http://schemas.openxmlformats.org/officeDocument/2006/relationships/image" Target="../media/image178.emf"/><Relationship Id="rId2" Type="http://schemas.openxmlformats.org/officeDocument/2006/relationships/image" Target="../media/image169.emf"/><Relationship Id="rId19" Type="http://schemas.openxmlformats.org/officeDocument/2006/relationships/oleObject" Target="../embeddings/oleObject169.bin"/><Relationship Id="rId18" Type="http://schemas.openxmlformats.org/officeDocument/2006/relationships/image" Target="../media/image177.emf"/><Relationship Id="rId17" Type="http://schemas.openxmlformats.org/officeDocument/2006/relationships/oleObject" Target="../embeddings/oleObject168.bin"/><Relationship Id="rId16" Type="http://schemas.openxmlformats.org/officeDocument/2006/relationships/image" Target="../media/image176.emf"/><Relationship Id="rId15" Type="http://schemas.openxmlformats.org/officeDocument/2006/relationships/oleObject" Target="../embeddings/oleObject167.bin"/><Relationship Id="rId14" Type="http://schemas.openxmlformats.org/officeDocument/2006/relationships/image" Target="../media/image175.emf"/><Relationship Id="rId13" Type="http://schemas.openxmlformats.org/officeDocument/2006/relationships/oleObject" Target="../embeddings/oleObject166.bin"/><Relationship Id="rId12" Type="http://schemas.openxmlformats.org/officeDocument/2006/relationships/image" Target="../media/image174.emf"/><Relationship Id="rId11" Type="http://schemas.openxmlformats.org/officeDocument/2006/relationships/oleObject" Target="../embeddings/oleObject165.bin"/><Relationship Id="rId10" Type="http://schemas.openxmlformats.org/officeDocument/2006/relationships/image" Target="../media/image173.emf"/><Relationship Id="rId1" Type="http://schemas.openxmlformats.org/officeDocument/2006/relationships/oleObject" Target="../embeddings/oleObject160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1.bin"/><Relationship Id="rId8" Type="http://schemas.openxmlformats.org/officeDocument/2006/relationships/image" Target="../media/image199.emf"/><Relationship Id="rId7" Type="http://schemas.openxmlformats.org/officeDocument/2006/relationships/oleObject" Target="../embeddings/oleObject190.bin"/><Relationship Id="rId6" Type="http://schemas.openxmlformats.org/officeDocument/2006/relationships/image" Target="../media/image198.emf"/><Relationship Id="rId5" Type="http://schemas.openxmlformats.org/officeDocument/2006/relationships/oleObject" Target="../embeddings/oleObject189.bin"/><Relationship Id="rId4" Type="http://schemas.openxmlformats.org/officeDocument/2006/relationships/image" Target="../media/image197.emf"/><Relationship Id="rId3" Type="http://schemas.openxmlformats.org/officeDocument/2006/relationships/oleObject" Target="../embeddings/oleObject188.bin"/><Relationship Id="rId24" Type="http://schemas.openxmlformats.org/officeDocument/2006/relationships/vmlDrawing" Target="../drawings/vmlDrawing27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206.emf"/><Relationship Id="rId21" Type="http://schemas.openxmlformats.org/officeDocument/2006/relationships/oleObject" Target="../embeddings/oleObject197.bin"/><Relationship Id="rId20" Type="http://schemas.openxmlformats.org/officeDocument/2006/relationships/image" Target="../media/image205.emf"/><Relationship Id="rId2" Type="http://schemas.openxmlformats.org/officeDocument/2006/relationships/image" Target="../media/image196.emf"/><Relationship Id="rId19" Type="http://schemas.openxmlformats.org/officeDocument/2006/relationships/oleObject" Target="../embeddings/oleObject196.bin"/><Relationship Id="rId18" Type="http://schemas.openxmlformats.org/officeDocument/2006/relationships/image" Target="../media/image204.emf"/><Relationship Id="rId17" Type="http://schemas.openxmlformats.org/officeDocument/2006/relationships/oleObject" Target="../embeddings/oleObject195.bin"/><Relationship Id="rId16" Type="http://schemas.openxmlformats.org/officeDocument/2006/relationships/image" Target="../media/image203.emf"/><Relationship Id="rId15" Type="http://schemas.openxmlformats.org/officeDocument/2006/relationships/oleObject" Target="../embeddings/oleObject194.bin"/><Relationship Id="rId14" Type="http://schemas.openxmlformats.org/officeDocument/2006/relationships/image" Target="../media/image202.emf"/><Relationship Id="rId13" Type="http://schemas.openxmlformats.org/officeDocument/2006/relationships/oleObject" Target="../embeddings/oleObject193.bin"/><Relationship Id="rId12" Type="http://schemas.openxmlformats.org/officeDocument/2006/relationships/image" Target="../media/image201.emf"/><Relationship Id="rId11" Type="http://schemas.openxmlformats.org/officeDocument/2006/relationships/oleObject" Target="../embeddings/oleObject192.bin"/><Relationship Id="rId10" Type="http://schemas.openxmlformats.org/officeDocument/2006/relationships/image" Target="../media/image200.emf"/><Relationship Id="rId1" Type="http://schemas.openxmlformats.org/officeDocument/2006/relationships/oleObject" Target="../embeddings/oleObject187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2.bin"/><Relationship Id="rId8" Type="http://schemas.openxmlformats.org/officeDocument/2006/relationships/image" Target="../media/image210.wmf"/><Relationship Id="rId7" Type="http://schemas.openxmlformats.org/officeDocument/2006/relationships/oleObject" Target="../embeddings/oleObject201.bin"/><Relationship Id="rId6" Type="http://schemas.openxmlformats.org/officeDocument/2006/relationships/image" Target="../media/image209.w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208.wmf"/><Relationship Id="rId3" Type="http://schemas.openxmlformats.org/officeDocument/2006/relationships/oleObject" Target="../embeddings/oleObject199.bin"/><Relationship Id="rId2" Type="http://schemas.openxmlformats.org/officeDocument/2006/relationships/image" Target="../media/image207.wmf"/><Relationship Id="rId15" Type="http://schemas.openxmlformats.org/officeDocument/2006/relationships/vmlDrawing" Target="../drawings/vmlDrawing28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13.png"/><Relationship Id="rId12" Type="http://schemas.openxmlformats.org/officeDocument/2006/relationships/image" Target="../media/image212.wmf"/><Relationship Id="rId11" Type="http://schemas.openxmlformats.org/officeDocument/2006/relationships/oleObject" Target="../embeddings/oleObject203.bin"/><Relationship Id="rId10" Type="http://schemas.openxmlformats.org/officeDocument/2006/relationships/image" Target="../media/image211.wmf"/><Relationship Id="rId1" Type="http://schemas.openxmlformats.org/officeDocument/2006/relationships/oleObject" Target="../embeddings/oleObject198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8.bin"/><Relationship Id="rId8" Type="http://schemas.openxmlformats.org/officeDocument/2006/relationships/image" Target="../media/image217.wmf"/><Relationship Id="rId7" Type="http://schemas.openxmlformats.org/officeDocument/2006/relationships/oleObject" Target="../embeddings/oleObject207.bin"/><Relationship Id="rId6" Type="http://schemas.openxmlformats.org/officeDocument/2006/relationships/image" Target="../media/image216.wmf"/><Relationship Id="rId5" Type="http://schemas.openxmlformats.org/officeDocument/2006/relationships/oleObject" Target="../embeddings/oleObject206.bin"/><Relationship Id="rId4" Type="http://schemas.openxmlformats.org/officeDocument/2006/relationships/image" Target="../media/image215.wmf"/><Relationship Id="rId3" Type="http://schemas.openxmlformats.org/officeDocument/2006/relationships/oleObject" Target="../embeddings/oleObject205.bin"/><Relationship Id="rId2" Type="http://schemas.openxmlformats.org/officeDocument/2006/relationships/image" Target="../media/image214.wmf"/><Relationship Id="rId16" Type="http://schemas.openxmlformats.org/officeDocument/2006/relationships/vmlDrawing" Target="../drawings/vmlDrawing29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21.png"/><Relationship Id="rId13" Type="http://schemas.openxmlformats.org/officeDocument/2006/relationships/image" Target="../media/image220.wmf"/><Relationship Id="rId12" Type="http://schemas.openxmlformats.org/officeDocument/2006/relationships/image" Target="../media/image219.wmf"/><Relationship Id="rId11" Type="http://schemas.openxmlformats.org/officeDocument/2006/relationships/oleObject" Target="../embeddings/oleObject209.bin"/><Relationship Id="rId10" Type="http://schemas.openxmlformats.org/officeDocument/2006/relationships/image" Target="../media/image218.wmf"/><Relationship Id="rId1" Type="http://schemas.openxmlformats.org/officeDocument/2006/relationships/oleObject" Target="../embeddings/oleObject204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4.bin"/><Relationship Id="rId8" Type="http://schemas.openxmlformats.org/officeDocument/2006/relationships/image" Target="../media/image225.emf"/><Relationship Id="rId7" Type="http://schemas.openxmlformats.org/officeDocument/2006/relationships/oleObject" Target="../embeddings/oleObject213.bin"/><Relationship Id="rId6" Type="http://schemas.openxmlformats.org/officeDocument/2006/relationships/image" Target="../media/image224.emf"/><Relationship Id="rId5" Type="http://schemas.openxmlformats.org/officeDocument/2006/relationships/oleObject" Target="../embeddings/oleObject212.bin"/><Relationship Id="rId4" Type="http://schemas.openxmlformats.org/officeDocument/2006/relationships/image" Target="../media/image223.emf"/><Relationship Id="rId3" Type="http://schemas.openxmlformats.org/officeDocument/2006/relationships/oleObject" Target="../embeddings/oleObject211.bin"/><Relationship Id="rId2" Type="http://schemas.openxmlformats.org/officeDocument/2006/relationships/image" Target="../media/image222.emf"/><Relationship Id="rId12" Type="http://schemas.openxmlformats.org/officeDocument/2006/relationships/vmlDrawing" Target="../drawings/vmlDrawing3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26.emf"/><Relationship Id="rId1" Type="http://schemas.openxmlformats.org/officeDocument/2006/relationships/oleObject" Target="../embeddings/oleObject210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9.bin"/><Relationship Id="rId8" Type="http://schemas.openxmlformats.org/officeDocument/2006/relationships/image" Target="../media/image230.emf"/><Relationship Id="rId7" Type="http://schemas.openxmlformats.org/officeDocument/2006/relationships/oleObject" Target="../embeddings/oleObject218.bin"/><Relationship Id="rId6" Type="http://schemas.openxmlformats.org/officeDocument/2006/relationships/image" Target="../media/image229.emf"/><Relationship Id="rId5" Type="http://schemas.openxmlformats.org/officeDocument/2006/relationships/oleObject" Target="../embeddings/oleObject217.bin"/><Relationship Id="rId4" Type="http://schemas.openxmlformats.org/officeDocument/2006/relationships/image" Target="../media/image228.emf"/><Relationship Id="rId3" Type="http://schemas.openxmlformats.org/officeDocument/2006/relationships/oleObject" Target="../embeddings/oleObject216.bin"/><Relationship Id="rId2" Type="http://schemas.openxmlformats.org/officeDocument/2006/relationships/image" Target="../media/image227.emf"/><Relationship Id="rId13" Type="http://schemas.openxmlformats.org/officeDocument/2006/relationships/vmlDrawing" Target="../drawings/vmlDrawing31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.png"/><Relationship Id="rId10" Type="http://schemas.openxmlformats.org/officeDocument/2006/relationships/image" Target="../media/image231.emf"/><Relationship Id="rId1" Type="http://schemas.openxmlformats.org/officeDocument/2006/relationships/oleObject" Target="../embeddings/oleObject215.bin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2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3.wmf"/><Relationship Id="rId3" Type="http://schemas.openxmlformats.org/officeDocument/2006/relationships/oleObject" Target="../embeddings/oleObject221.bin"/><Relationship Id="rId2" Type="http://schemas.openxmlformats.org/officeDocument/2006/relationships/image" Target="../media/image232.wmf"/><Relationship Id="rId1" Type="http://schemas.openxmlformats.org/officeDocument/2006/relationships/oleObject" Target="../embeddings/oleObject220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36.wmf"/><Relationship Id="rId7" Type="http://schemas.openxmlformats.org/officeDocument/2006/relationships/oleObject" Target="../embeddings/oleObject225.bin"/><Relationship Id="rId6" Type="http://schemas.openxmlformats.org/officeDocument/2006/relationships/image" Target="../media/image235.wmf"/><Relationship Id="rId5" Type="http://schemas.openxmlformats.org/officeDocument/2006/relationships/oleObject" Target="../embeddings/oleObject224.bin"/><Relationship Id="rId4" Type="http://schemas.openxmlformats.org/officeDocument/2006/relationships/image" Target="../media/image234.wmf"/><Relationship Id="rId3" Type="http://schemas.openxmlformats.org/officeDocument/2006/relationships/oleObject" Target="../embeddings/oleObject223.bin"/><Relationship Id="rId2" Type="http://schemas.openxmlformats.org/officeDocument/2006/relationships/image" Target="../media/image232.wmf"/><Relationship Id="rId10" Type="http://schemas.openxmlformats.org/officeDocument/2006/relationships/vmlDrawing" Target="../drawings/vmlDrawing33.vml"/><Relationship Id="rId1" Type="http://schemas.openxmlformats.org/officeDocument/2006/relationships/oleObject" Target="../embeddings/oleObject222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0.bin"/><Relationship Id="rId8" Type="http://schemas.openxmlformats.org/officeDocument/2006/relationships/image" Target="../media/image239.wmf"/><Relationship Id="rId7" Type="http://schemas.openxmlformats.org/officeDocument/2006/relationships/oleObject" Target="../embeddings/oleObject229.bin"/><Relationship Id="rId6" Type="http://schemas.openxmlformats.org/officeDocument/2006/relationships/image" Target="../media/image238.wmf"/><Relationship Id="rId5" Type="http://schemas.openxmlformats.org/officeDocument/2006/relationships/oleObject" Target="../embeddings/oleObject228.bin"/><Relationship Id="rId4" Type="http://schemas.openxmlformats.org/officeDocument/2006/relationships/image" Target="../media/image237.wmf"/><Relationship Id="rId3" Type="http://schemas.openxmlformats.org/officeDocument/2006/relationships/oleObject" Target="../embeddings/oleObject227.bin"/><Relationship Id="rId2" Type="http://schemas.openxmlformats.org/officeDocument/2006/relationships/image" Target="../media/image232.wmf"/><Relationship Id="rId12" Type="http://schemas.openxmlformats.org/officeDocument/2006/relationships/vmlDrawing" Target="../drawings/vmlDrawing3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40.wmf"/><Relationship Id="rId1" Type="http://schemas.openxmlformats.org/officeDocument/2006/relationships/oleObject" Target="../embeddings/oleObject226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4.emf"/><Relationship Id="rId8" Type="http://schemas.openxmlformats.org/officeDocument/2006/relationships/oleObject" Target="../embeddings/oleObject234.bin"/><Relationship Id="rId7" Type="http://schemas.openxmlformats.org/officeDocument/2006/relationships/image" Target="../media/image243.emf"/><Relationship Id="rId6" Type="http://schemas.openxmlformats.org/officeDocument/2006/relationships/oleObject" Target="../embeddings/oleObject233.bin"/><Relationship Id="rId5" Type="http://schemas.openxmlformats.org/officeDocument/2006/relationships/image" Target="../media/image11.png"/><Relationship Id="rId4" Type="http://schemas.openxmlformats.org/officeDocument/2006/relationships/image" Target="../media/image242.emf"/><Relationship Id="rId3" Type="http://schemas.openxmlformats.org/officeDocument/2006/relationships/oleObject" Target="../embeddings/oleObject232.bin"/><Relationship Id="rId2" Type="http://schemas.openxmlformats.org/officeDocument/2006/relationships/image" Target="../media/image241.emf"/><Relationship Id="rId17" Type="http://schemas.openxmlformats.org/officeDocument/2006/relationships/vmlDrawing" Target="../drawings/vmlDrawing35.vml"/><Relationship Id="rId16" Type="http://schemas.openxmlformats.org/officeDocument/2006/relationships/slideLayout" Target="../slideLayouts/slideLayout18.xml"/><Relationship Id="rId15" Type="http://schemas.openxmlformats.org/officeDocument/2006/relationships/image" Target="../media/image247.emf"/><Relationship Id="rId14" Type="http://schemas.openxmlformats.org/officeDocument/2006/relationships/oleObject" Target="../embeddings/oleObject237.bin"/><Relationship Id="rId13" Type="http://schemas.openxmlformats.org/officeDocument/2006/relationships/image" Target="../media/image246.emf"/><Relationship Id="rId12" Type="http://schemas.openxmlformats.org/officeDocument/2006/relationships/oleObject" Target="../embeddings/oleObject236.bin"/><Relationship Id="rId11" Type="http://schemas.openxmlformats.org/officeDocument/2006/relationships/image" Target="../media/image245.emf"/><Relationship Id="rId10" Type="http://schemas.openxmlformats.org/officeDocument/2006/relationships/oleObject" Target="../embeddings/oleObject235.bin"/><Relationship Id="rId1" Type="http://schemas.openxmlformats.org/officeDocument/2006/relationships/oleObject" Target="../embeddings/oleObject231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image" Target="../media/image248.png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2927350" y="4437063"/>
            <a:ext cx="6400800" cy="914400"/>
          </a:xfrm>
        </p:spPr>
        <p:txBody>
          <a:bodyPr/>
          <a:lstStyle/>
          <a:p>
            <a:r>
              <a:rPr lang="en-US" altLang="zh-CN" sz="3600" b="1" dirty="0" err="1" smtClean="0">
                <a:solidFill>
                  <a:srgbClr val="000000"/>
                </a:solidFill>
              </a:rPr>
              <a:t>Wuqiong</a:t>
            </a:r>
            <a:r>
              <a:rPr lang="en-US" altLang="zh-CN" sz="3600" b="1" dirty="0" smtClean="0">
                <a:solidFill>
                  <a:srgbClr val="000000"/>
                </a:solidFill>
              </a:rPr>
              <a:t> </a:t>
            </a:r>
            <a:r>
              <a:rPr lang="en-US" altLang="zh-CN" sz="3600" b="1" dirty="0" err="1" smtClean="0">
                <a:solidFill>
                  <a:srgbClr val="000000"/>
                </a:solidFill>
              </a:rPr>
              <a:t>Luo</a:t>
            </a:r>
            <a:endParaRPr lang="en-US" altLang="zh-CN" sz="3600" b="1" dirty="0">
              <a:solidFill>
                <a:srgbClr val="000000"/>
              </a:solidFill>
            </a:endParaRPr>
          </a:p>
        </p:txBody>
      </p:sp>
      <p:sp>
        <p:nvSpPr>
          <p:cNvPr id="2052" name="Rectangle 4"/>
          <p:cNvSpPr>
            <a:spLocks noRot="1" noChangeArrowheads="1"/>
          </p:cNvSpPr>
          <p:nvPr/>
        </p:nvSpPr>
        <p:spPr bwMode="auto">
          <a:xfrm>
            <a:off x="1524000" y="1268414"/>
            <a:ext cx="9144000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6600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Chapter 5</a:t>
            </a:r>
            <a:br>
              <a:rPr lang="en-US" altLang="zh-CN" sz="6600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</a:br>
            <a:r>
              <a:rPr lang="en-US" altLang="zh-CN" sz="6000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Steady Electric Currents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39" name="Object 2"/>
          <p:cNvGraphicFramePr>
            <a:graphicFrameLocks noChangeAspect="1"/>
          </p:cNvGraphicFramePr>
          <p:nvPr/>
        </p:nvGraphicFramePr>
        <p:xfrm>
          <a:off x="1992314" y="2708275"/>
          <a:ext cx="2376487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1" imgW="876300" imgH="596900" progId="Equation.DSMT4">
                  <p:embed/>
                </p:oleObj>
              </mc:Choice>
              <mc:Fallback>
                <p:oleObj name="Equation" r:id="rId1" imgW="876300" imgH="5969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2708275"/>
                        <a:ext cx="2376487" cy="1169988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accent6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6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6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6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0" name="Object 3"/>
          <p:cNvGraphicFramePr>
            <a:graphicFrameLocks noChangeAspect="1"/>
          </p:cNvGraphicFramePr>
          <p:nvPr/>
        </p:nvGraphicFramePr>
        <p:xfrm>
          <a:off x="2135189" y="3933825"/>
          <a:ext cx="1728787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774700" imgH="215900" progId="Equation.DSMT4">
                  <p:embed/>
                </p:oleObj>
              </mc:Choice>
              <mc:Fallback>
                <p:oleObj name="Equation" r:id="rId3" imgW="774700" imgH="2159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3933825"/>
                        <a:ext cx="1728787" cy="433388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accent6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6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6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6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1" name="Text Box 4"/>
          <p:cNvSpPr txBox="1">
            <a:spLocks noChangeArrowheads="1"/>
          </p:cNvSpPr>
          <p:nvPr/>
        </p:nvSpPr>
        <p:spPr bwMode="auto">
          <a:xfrm>
            <a:off x="1919289" y="1143000"/>
            <a:ext cx="2592387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Starting from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1142" name="AutoShape 5"/>
          <p:cNvSpPr>
            <a:spLocks noChangeArrowheads="1"/>
          </p:cNvSpPr>
          <p:nvPr/>
        </p:nvSpPr>
        <p:spPr bwMode="auto">
          <a:xfrm>
            <a:off x="3070226" y="1630364"/>
            <a:ext cx="288925" cy="301625"/>
          </a:xfrm>
          <a:prstGeom prst="downArrow">
            <a:avLst>
              <a:gd name="adj1" fmla="val 50000"/>
              <a:gd name="adj2" fmla="val 26099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91143" name="Text Box 6"/>
          <p:cNvSpPr txBox="1">
            <a:spLocks noChangeArrowheads="1"/>
          </p:cNvSpPr>
          <p:nvPr/>
        </p:nvSpPr>
        <p:spPr bwMode="auto">
          <a:xfrm>
            <a:off x="1933575" y="1947864"/>
            <a:ext cx="2592388" cy="39687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Maxwell equations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1144" name="AutoShape 7"/>
          <p:cNvSpPr>
            <a:spLocks noChangeArrowheads="1"/>
          </p:cNvSpPr>
          <p:nvPr/>
        </p:nvSpPr>
        <p:spPr bwMode="auto">
          <a:xfrm>
            <a:off x="3070226" y="2406651"/>
            <a:ext cx="288925" cy="301625"/>
          </a:xfrm>
          <a:prstGeom prst="downArrow">
            <a:avLst>
              <a:gd name="adj1" fmla="val 50000"/>
              <a:gd name="adj2" fmla="val 26099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91145" name="Text Box 8"/>
          <p:cNvSpPr txBox="1">
            <a:spLocks noChangeArrowheads="1"/>
          </p:cNvSpPr>
          <p:nvPr/>
        </p:nvSpPr>
        <p:spPr bwMode="auto">
          <a:xfrm>
            <a:off x="6442075" y="1096963"/>
            <a:ext cx="2592388" cy="4572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Conditions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1146" name="Text Box 9"/>
          <p:cNvSpPr txBox="1">
            <a:spLocks noChangeArrowheads="1"/>
          </p:cNvSpPr>
          <p:nvPr/>
        </p:nvSpPr>
        <p:spPr bwMode="auto">
          <a:xfrm>
            <a:off x="5160963" y="1976438"/>
            <a:ext cx="2519362" cy="36671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Constitutive relations</a:t>
            </a:r>
            <a:endParaRPr lang="en-US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1147" name="AutoShape 10"/>
          <p:cNvSpPr>
            <a:spLocks noChangeArrowheads="1"/>
          </p:cNvSpPr>
          <p:nvPr/>
        </p:nvSpPr>
        <p:spPr bwMode="auto">
          <a:xfrm>
            <a:off x="6124576" y="2435226"/>
            <a:ext cx="288925" cy="301625"/>
          </a:xfrm>
          <a:prstGeom prst="downArrow">
            <a:avLst>
              <a:gd name="adj1" fmla="val 50000"/>
              <a:gd name="adj2" fmla="val 26099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91148" name="Text Box 11"/>
          <p:cNvSpPr txBox="1">
            <a:spLocks noChangeArrowheads="1"/>
          </p:cNvSpPr>
          <p:nvPr/>
        </p:nvSpPr>
        <p:spPr bwMode="auto">
          <a:xfrm>
            <a:off x="7932739" y="1989138"/>
            <a:ext cx="2555875" cy="36671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boundary conditions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1149" name="AutoShape 12"/>
          <p:cNvSpPr>
            <a:spLocks noChangeArrowheads="1"/>
          </p:cNvSpPr>
          <p:nvPr/>
        </p:nvSpPr>
        <p:spPr bwMode="auto">
          <a:xfrm>
            <a:off x="8975726" y="2447926"/>
            <a:ext cx="288925" cy="301625"/>
          </a:xfrm>
          <a:prstGeom prst="downArrow">
            <a:avLst>
              <a:gd name="adj1" fmla="val 50000"/>
              <a:gd name="adj2" fmla="val 26099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91150" name="Line 13"/>
          <p:cNvSpPr>
            <a:spLocks noChangeShapeType="1"/>
          </p:cNvSpPr>
          <p:nvPr/>
        </p:nvSpPr>
        <p:spPr bwMode="auto">
          <a:xfrm>
            <a:off x="7737475" y="1528763"/>
            <a:ext cx="0" cy="215900"/>
          </a:xfrm>
          <a:prstGeom prst="line">
            <a:avLst/>
          </a:prstGeom>
          <a:noFill/>
          <a:ln w="85725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51" name="Line 14"/>
          <p:cNvSpPr>
            <a:spLocks noChangeShapeType="1"/>
          </p:cNvSpPr>
          <p:nvPr/>
        </p:nvSpPr>
        <p:spPr bwMode="auto">
          <a:xfrm>
            <a:off x="6196014" y="1714500"/>
            <a:ext cx="2924175" cy="14288"/>
          </a:xfrm>
          <a:prstGeom prst="line">
            <a:avLst/>
          </a:prstGeom>
          <a:noFill/>
          <a:ln w="85725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52" name="AutoShape 15"/>
          <p:cNvSpPr>
            <a:spLocks noChangeArrowheads="1"/>
          </p:cNvSpPr>
          <p:nvPr/>
        </p:nvSpPr>
        <p:spPr bwMode="auto">
          <a:xfrm>
            <a:off x="6124576" y="1687514"/>
            <a:ext cx="288925" cy="301625"/>
          </a:xfrm>
          <a:prstGeom prst="downArrow">
            <a:avLst>
              <a:gd name="adj1" fmla="val 50546"/>
              <a:gd name="adj2" fmla="val 25823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91153" name="AutoShape 16"/>
          <p:cNvSpPr>
            <a:spLocks noChangeArrowheads="1"/>
          </p:cNvSpPr>
          <p:nvPr/>
        </p:nvSpPr>
        <p:spPr bwMode="auto">
          <a:xfrm>
            <a:off x="8975726" y="1685926"/>
            <a:ext cx="288925" cy="301625"/>
          </a:xfrm>
          <a:prstGeom prst="downArrow">
            <a:avLst>
              <a:gd name="adj1" fmla="val 50546"/>
              <a:gd name="adj2" fmla="val 25823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91154" name="Object 17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675313" y="2781300"/>
          <a:ext cx="1357312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698500" imgH="635000" progId="Equation.DSMT4">
                  <p:embed/>
                </p:oleObj>
              </mc:Choice>
              <mc:Fallback>
                <p:oleObj name="Equation" r:id="rId5" imgW="698500" imgH="635000" progId="Equation.DSMT4">
                  <p:embed/>
                  <p:pic>
                    <p:nvPicPr>
                      <p:cNvPr id="0" name="图片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5313" y="2781300"/>
                        <a:ext cx="1357312" cy="1049338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accent6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6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6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6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5" name="Object 50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540125" y="4821239"/>
          <a:ext cx="158750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127000" imgH="114300" progId="Equation.DSMT4">
                  <p:embed/>
                </p:oleObj>
              </mc:Choice>
              <mc:Fallback>
                <p:oleObj name="Equation" r:id="rId7" imgW="127000" imgH="114300" progId="Equation.DSMT4">
                  <p:embed/>
                  <p:pic>
                    <p:nvPicPr>
                      <p:cNvPr id="0" name="图片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25" y="4821239"/>
                        <a:ext cx="158750" cy="12858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FF">
                              <a:alpha val="0"/>
                            </a:srgbClr>
                          </a:gs>
                          <a:gs pos="50000">
                            <a:schemeClr val="bg1"/>
                          </a:gs>
                          <a:gs pos="100000">
                            <a:srgbClr val="FFCCFF">
                              <a:alpha val="0"/>
                            </a:srgb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6" name="Object 18"/>
          <p:cNvGraphicFramePr>
            <a:graphicFrameLocks noChangeAspect="1"/>
          </p:cNvGraphicFramePr>
          <p:nvPr/>
        </p:nvGraphicFramePr>
        <p:xfrm>
          <a:off x="8040688" y="2781301"/>
          <a:ext cx="20256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1143000" imgH="558800" progId="Equation.DSMT4">
                  <p:embed/>
                </p:oleObj>
              </mc:Choice>
              <mc:Fallback>
                <p:oleObj name="Equation" r:id="rId9" imgW="1143000" imgH="558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8" y="2781301"/>
                        <a:ext cx="2025650" cy="1120775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accent6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6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6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6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7" name="Object 19"/>
          <p:cNvGraphicFramePr>
            <a:graphicFrameLocks noChangeAspect="1"/>
          </p:cNvGraphicFramePr>
          <p:nvPr/>
        </p:nvGraphicFramePr>
        <p:xfrm>
          <a:off x="8040689" y="4005263"/>
          <a:ext cx="18002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1" imgW="951865" imgH="254000" progId="Equation.DSMT4">
                  <p:embed/>
                </p:oleObj>
              </mc:Choice>
              <mc:Fallback>
                <p:oleObj name="Equation" r:id="rId11" imgW="951865" imgH="2540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9" y="4005263"/>
                        <a:ext cx="1800225" cy="476250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accent6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6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6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6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716" name="Rectangle 20"/>
          <p:cNvSpPr>
            <a:spLocks noChangeArrowheads="1"/>
          </p:cNvSpPr>
          <p:nvPr/>
        </p:nvSpPr>
        <p:spPr bwMode="auto">
          <a:xfrm>
            <a:off x="1919289" y="404814"/>
            <a:ext cx="8148637" cy="56197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Static electric field problems</a:t>
            </a:r>
            <a:endParaRPr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25718" name="Rectangle 22"/>
          <p:cNvSpPr>
            <a:spLocks noChangeArrowheads="1"/>
          </p:cNvSpPr>
          <p:nvPr/>
        </p:nvSpPr>
        <p:spPr bwMode="auto">
          <a:xfrm>
            <a:off x="1847850" y="4508501"/>
            <a:ext cx="8280400" cy="56197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Classification according to the charge static or motion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1160" name="AutoShape 28"/>
          <p:cNvSpPr>
            <a:spLocks noChangeArrowheads="1"/>
          </p:cNvSpPr>
          <p:nvPr/>
        </p:nvSpPr>
        <p:spPr bwMode="auto">
          <a:xfrm>
            <a:off x="5199063" y="5603876"/>
            <a:ext cx="1009650" cy="144463"/>
          </a:xfrm>
          <a:prstGeom prst="leftRightArrow">
            <a:avLst>
              <a:gd name="adj1" fmla="val 50000"/>
              <a:gd name="adj2" fmla="val 139780"/>
            </a:avLst>
          </a:prstGeom>
          <a:solidFill>
            <a:schemeClr val="tx2"/>
          </a:solidFill>
          <a:ln w="19050" algn="ctr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3200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1161" name="Line 29"/>
          <p:cNvSpPr>
            <a:spLocks noChangeShapeType="1"/>
          </p:cNvSpPr>
          <p:nvPr/>
        </p:nvSpPr>
        <p:spPr bwMode="auto">
          <a:xfrm>
            <a:off x="5703888" y="5099051"/>
            <a:ext cx="0" cy="576263"/>
          </a:xfrm>
          <a:prstGeom prst="line">
            <a:avLst/>
          </a:prstGeom>
          <a:noFill/>
          <a:ln w="85725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62" name="AutoShape 32"/>
          <p:cNvSpPr>
            <a:spLocks noChangeArrowheads="1"/>
          </p:cNvSpPr>
          <p:nvPr/>
        </p:nvSpPr>
        <p:spPr bwMode="auto">
          <a:xfrm>
            <a:off x="3230563" y="5589589"/>
            <a:ext cx="488950" cy="142875"/>
          </a:xfrm>
          <a:prstGeom prst="leftArrow">
            <a:avLst>
              <a:gd name="adj1" fmla="val 50000"/>
              <a:gd name="adj2" fmla="val 85556"/>
            </a:avLst>
          </a:prstGeom>
          <a:solidFill>
            <a:schemeClr val="tx2"/>
          </a:solidFill>
          <a:ln w="19050" algn="ctr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3200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25733" name="Rectangle 37"/>
          <p:cNvSpPr>
            <a:spLocks noChangeArrowheads="1"/>
          </p:cNvSpPr>
          <p:nvPr/>
        </p:nvSpPr>
        <p:spPr bwMode="auto">
          <a:xfrm>
            <a:off x="1597025" y="5373689"/>
            <a:ext cx="1619250" cy="71913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Electrostatic field</a:t>
            </a:r>
            <a:endParaRPr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25750" name="Rectangle 54"/>
          <p:cNvSpPr>
            <a:spLocks noChangeArrowheads="1"/>
          </p:cNvSpPr>
          <p:nvPr/>
        </p:nvSpPr>
        <p:spPr bwMode="auto">
          <a:xfrm>
            <a:off x="8362950" y="5373689"/>
            <a:ext cx="1981200" cy="71913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Steady current field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1165" name="AutoShape 56"/>
          <p:cNvSpPr>
            <a:spLocks noChangeArrowheads="1"/>
          </p:cNvSpPr>
          <p:nvPr/>
        </p:nvSpPr>
        <p:spPr bwMode="auto">
          <a:xfrm rot="10800000">
            <a:off x="7837488" y="5589589"/>
            <a:ext cx="488950" cy="142875"/>
          </a:xfrm>
          <a:prstGeom prst="leftArrow">
            <a:avLst>
              <a:gd name="adj1" fmla="val 50000"/>
              <a:gd name="adj2" fmla="val 85556"/>
            </a:avLst>
          </a:prstGeom>
          <a:solidFill>
            <a:schemeClr val="tx2"/>
          </a:solidFill>
          <a:ln w="19050" algn="ctr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3200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25763" name="Text Box 67"/>
          <p:cNvSpPr txBox="1">
            <a:spLocks noChangeArrowheads="1"/>
          </p:cNvSpPr>
          <p:nvPr/>
        </p:nvSpPr>
        <p:spPr bwMode="auto">
          <a:xfrm>
            <a:off x="3717926" y="5084764"/>
            <a:ext cx="1439863" cy="136842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Static</a:t>
            </a:r>
            <a:r>
              <a:rPr lang="en-US" altLang="zh-CN" sz="20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    </a:t>
            </a:r>
            <a:endParaRPr lang="en-US" altLang="zh-CN" sz="2000" b="1">
              <a:solidFill>
                <a:srgbClr val="FF0000"/>
              </a:solidFill>
              <a:latin typeface="仿宋_GB2312" pitchFamily="49" charset="-122"/>
              <a:ea typeface="仿宋_GB2312" pitchFamily="49" charset="-122"/>
            </a:endParaRPr>
          </a:p>
          <a:p>
            <a:pPr algn="ctr">
              <a:spcBef>
                <a:spcPct val="50000"/>
              </a:spcBef>
            </a:pPr>
            <a:r>
              <a:rPr lang="en-US" altLang="zh-CN" sz="1100" b="1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</a:rPr>
              <a:t>    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Arbitrarily</a:t>
            </a:r>
            <a:r>
              <a:rPr lang="en-US" altLang="zh-CN" sz="16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  </a:t>
            </a:r>
            <a:endParaRPr lang="en-US" altLang="zh-CN" sz="2000" b="1">
              <a:solidFill>
                <a:srgbClr val="FF0000"/>
              </a:solidFill>
              <a:latin typeface="仿宋_GB2312" pitchFamily="49" charset="-122"/>
              <a:ea typeface="仿宋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   </a:t>
            </a:r>
            <a:endParaRPr lang="en-US" altLang="zh-CN" sz="2000" b="1">
              <a:latin typeface="仿宋_GB2312" pitchFamily="49" charset="-122"/>
              <a:ea typeface="仿宋_GB2312" pitchFamily="49" charset="-122"/>
            </a:endParaRPr>
          </a:p>
        </p:txBody>
      </p:sp>
      <p:graphicFrame>
        <p:nvGraphicFramePr>
          <p:cNvPr id="91167" name="Object 68"/>
          <p:cNvGraphicFramePr>
            <a:graphicFrameLocks noChangeAspect="1"/>
          </p:cNvGraphicFramePr>
          <p:nvPr/>
        </p:nvGraphicFramePr>
        <p:xfrm>
          <a:off x="3863975" y="6021389"/>
          <a:ext cx="522288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419100" imgH="215900" progId="Equation.DSMT4">
                  <p:embed/>
                </p:oleObj>
              </mc:Choice>
              <mc:Fallback>
                <p:oleObj name="Equation" r:id="rId13" imgW="419100" imgH="2159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6021389"/>
                        <a:ext cx="522288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chemeClr val="accent1">
                                    <a:alpha val="0"/>
                                  </a:schemeClr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>
                                    <a:alpha val="0"/>
                                  </a:scheme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68" name="Object 69"/>
          <p:cNvGraphicFramePr>
            <a:graphicFrameLocks noChangeAspect="1"/>
          </p:cNvGraphicFramePr>
          <p:nvPr/>
        </p:nvGraphicFramePr>
        <p:xfrm>
          <a:off x="3792538" y="5727700"/>
          <a:ext cx="2159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127000" imgH="114300" progId="Equation.DSMT4">
                  <p:embed/>
                </p:oleObj>
              </mc:Choice>
              <mc:Fallback>
                <p:oleObj name="Equation" r:id="rId15" imgW="127000" imgH="1143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5727700"/>
                        <a:ext cx="2159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chemeClr val="accent1">
                                    <a:alpha val="0"/>
                                  </a:schemeClr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>
                                    <a:alpha val="0"/>
                                  </a:scheme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769" name="Text Box 73"/>
          <p:cNvSpPr txBox="1">
            <a:spLocks noChangeArrowheads="1"/>
          </p:cNvSpPr>
          <p:nvPr/>
        </p:nvSpPr>
        <p:spPr bwMode="auto">
          <a:xfrm>
            <a:off x="6165851" y="5084764"/>
            <a:ext cx="1655763" cy="1368425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Uniform motion</a:t>
            </a:r>
            <a:r>
              <a:rPr lang="en-US" altLang="zh-CN" sz="1600" b="1">
                <a:solidFill>
                  <a:srgbClr val="FF0000"/>
                </a:solidFill>
                <a:latin typeface="仿宋_GB2312" pitchFamily="49" charset="-122"/>
                <a:ea typeface="仿宋_GB2312" pitchFamily="49" charset="-122"/>
              </a:rPr>
              <a:t>    </a:t>
            </a:r>
            <a:endParaRPr lang="en-US" altLang="zh-CN" sz="1600" b="1">
              <a:solidFill>
                <a:srgbClr val="FF0000"/>
              </a:solidFill>
              <a:latin typeface="仿宋_GB2312" pitchFamily="49" charset="-122"/>
              <a:ea typeface="仿宋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仿宋_GB2312" pitchFamily="49" charset="-122"/>
              </a:rPr>
              <a:t>         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Finite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aphicFrame>
        <p:nvGraphicFramePr>
          <p:cNvPr id="91170" name="Object 74"/>
          <p:cNvGraphicFramePr>
            <a:graphicFrameLocks noChangeAspect="1"/>
          </p:cNvGraphicFramePr>
          <p:nvPr/>
        </p:nvGraphicFramePr>
        <p:xfrm>
          <a:off x="6453189" y="6021389"/>
          <a:ext cx="522287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7" imgW="419100" imgH="215900" progId="Equation.DSMT4">
                  <p:embed/>
                </p:oleObj>
              </mc:Choice>
              <mc:Fallback>
                <p:oleObj name="Equation" r:id="rId17" imgW="419100" imgH="2159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3189" y="6021389"/>
                        <a:ext cx="522287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chemeClr val="accent1">
                                    <a:alpha val="0"/>
                                  </a:schemeClr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>
                                    <a:alpha val="0"/>
                                  </a:scheme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71" name="Object 75"/>
          <p:cNvGraphicFramePr>
            <a:graphicFrameLocks noChangeAspect="1"/>
          </p:cNvGraphicFramePr>
          <p:nvPr/>
        </p:nvGraphicFramePr>
        <p:xfrm>
          <a:off x="6442075" y="5589589"/>
          <a:ext cx="2159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9" imgW="127000" imgH="114300" progId="Equation.DSMT4">
                  <p:embed/>
                </p:oleObj>
              </mc:Choice>
              <mc:Fallback>
                <p:oleObj name="Equation" r:id="rId19" imgW="127000" imgH="1143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75" y="5589589"/>
                        <a:ext cx="2159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chemeClr val="accent1">
                                    <a:alpha val="0"/>
                                  </a:schemeClr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>
                                    <a:alpha val="0"/>
                                  </a:scheme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箭头连接符 11"/>
          <p:cNvCxnSpPr/>
          <p:nvPr/>
        </p:nvCxnSpPr>
        <p:spPr>
          <a:xfrm flipH="1" flipV="1">
            <a:off x="9916795" y="4227195"/>
            <a:ext cx="578485" cy="1682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0570845" y="4227195"/>
            <a:ext cx="1115060" cy="368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Chap 5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3"/>
          <p:cNvSpPr>
            <a:spLocks noChangeShapeType="1"/>
          </p:cNvSpPr>
          <p:nvPr/>
        </p:nvSpPr>
        <p:spPr bwMode="auto">
          <a:xfrm>
            <a:off x="2640014" y="3746500"/>
            <a:ext cx="6911975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648075" y="549275"/>
            <a:ext cx="4724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4400" b="1" i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Contents</a:t>
            </a:r>
            <a:endParaRPr kumimoji="1" lang="en-US" altLang="zh-CN" sz="4400" b="1" i="1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2135189" y="1412876"/>
            <a:ext cx="7921625" cy="4092575"/>
          </a:xfrm>
          <a:prstGeom prst="rect">
            <a:avLst/>
          </a:prstGeom>
          <a:solidFill>
            <a:srgbClr val="FFFFFF"/>
          </a:solidFill>
          <a:ln w="25400">
            <a:solidFill>
              <a:srgbClr val="99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5.1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Introduction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5.2   Current Density and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Ohm’s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Law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5.3   Electromotive Force and KVL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5.4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Equation of Continuity and KCL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5.5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Power Dissipation and Joule’s Law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5.6   Boundary Conditions for Current Density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5.7   Resistance Calculations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8" name="Rectangle 4"/>
          <p:cNvSpPr>
            <a:spLocks noGrp="1" noChangeArrowheads="1"/>
          </p:cNvSpPr>
          <p:nvPr>
            <p:ph type="title"/>
          </p:nvPr>
        </p:nvSpPr>
        <p:spPr>
          <a:xfrm>
            <a:off x="1774825" y="260351"/>
            <a:ext cx="8540750" cy="936625"/>
          </a:xfrm>
          <a:noFill/>
        </p:spPr>
        <p:txBody>
          <a:bodyPr/>
          <a:lstStyle/>
          <a:p>
            <a:r>
              <a:rPr lang="en-US" altLang="zh-CN" b="1">
                <a:solidFill>
                  <a:srgbClr val="800000"/>
                </a:solidFill>
              </a:rPr>
              <a:t>5.1 Introduction</a:t>
            </a:r>
            <a:endParaRPr lang="en-US" altLang="zh-CN" b="1">
              <a:solidFill>
                <a:srgbClr val="800000"/>
              </a:solidFill>
            </a:endParaRPr>
          </a:p>
        </p:txBody>
      </p:sp>
      <p:sp>
        <p:nvSpPr>
          <p:cNvPr id="236549" name="Text Box 5"/>
          <p:cNvSpPr txBox="1">
            <a:spLocks noChangeArrowheads="1"/>
          </p:cNvSpPr>
          <p:nvPr/>
        </p:nvSpPr>
        <p:spPr bwMode="auto">
          <a:xfrm>
            <a:off x="1992313" y="1268413"/>
            <a:ext cx="79930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rgbClr val="000000"/>
                </a:solidFill>
              </a:rPr>
              <a:t> There are several types of electric currents caused by the motion of free charges</a:t>
            </a:r>
            <a:endParaRPr lang="en-US" altLang="zh-CN" sz="2800" b="1">
              <a:solidFill>
                <a:srgbClr val="000000"/>
              </a:solidFill>
            </a:endParaRPr>
          </a:p>
        </p:txBody>
      </p:sp>
      <p:sp>
        <p:nvSpPr>
          <p:cNvPr id="236550" name="Rectangle 6"/>
          <p:cNvSpPr>
            <a:spLocks noGrp="1" noRot="1" noChangeArrowheads="1"/>
          </p:cNvSpPr>
          <p:nvPr>
            <p:ph type="body" idx="1"/>
          </p:nvPr>
        </p:nvSpPr>
        <p:spPr>
          <a:xfrm>
            <a:off x="1847851" y="2420939"/>
            <a:ext cx="8137525" cy="3455987"/>
          </a:xfrm>
          <a:noFill/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ko-KR" sz="2800" b="1" dirty="0">
                <a:solidFill>
                  <a:srgbClr val="0000CC"/>
                </a:solidFill>
              </a:rPr>
              <a:t>Electrolytic currents</a:t>
            </a:r>
            <a:r>
              <a:rPr lang="en-US" altLang="zh-CN" sz="2800" b="1" dirty="0">
                <a:solidFill>
                  <a:srgbClr val="0000CC"/>
                </a:solidFill>
              </a:rPr>
              <a:t> (</a:t>
            </a:r>
            <a:r>
              <a:rPr lang="zh-CN" altLang="en-US" sz="2800" b="1" dirty="0">
                <a:solidFill>
                  <a:srgbClr val="0000CC"/>
                </a:solidFill>
              </a:rPr>
              <a:t>电解电流</a:t>
            </a:r>
            <a:r>
              <a:rPr lang="en-US" altLang="zh-CN" sz="2800" b="1" dirty="0">
                <a:solidFill>
                  <a:srgbClr val="0000CC"/>
                </a:solidFill>
              </a:rPr>
              <a:t>):</a:t>
            </a:r>
            <a:r>
              <a:rPr lang="en-US" altLang="ko-KR" sz="2800" b="1" dirty="0">
                <a:solidFill>
                  <a:srgbClr val="000000"/>
                </a:solidFill>
              </a:rPr>
              <a:t> migration of positive and negative ions.</a:t>
            </a:r>
            <a:endParaRPr lang="en-US" altLang="zh-CN" sz="2800" b="1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endParaRPr lang="en-US" altLang="zh-CN" sz="1000" b="1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ko-KR" sz="2800" b="1" dirty="0">
                <a:solidFill>
                  <a:srgbClr val="0000CC"/>
                </a:solidFill>
              </a:rPr>
              <a:t>Convection </a:t>
            </a:r>
            <a:r>
              <a:rPr lang="en-US" altLang="ko-KR" sz="2800" b="1" dirty="0" smtClean="0">
                <a:solidFill>
                  <a:srgbClr val="0000CC"/>
                </a:solidFill>
              </a:rPr>
              <a:t>currents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> </a:t>
            </a:r>
            <a:r>
              <a:rPr lang="en-US" altLang="zh-CN" sz="2800" b="1" dirty="0">
                <a:solidFill>
                  <a:srgbClr val="0000CC"/>
                </a:solidFill>
              </a:rPr>
              <a:t>(</a:t>
            </a:r>
            <a:r>
              <a:rPr lang="zh-CN" altLang="en-US" sz="2800" b="1" dirty="0">
                <a:solidFill>
                  <a:srgbClr val="0000CC"/>
                </a:solidFill>
              </a:rPr>
              <a:t>运流电流</a:t>
            </a:r>
            <a:r>
              <a:rPr lang="en-US" altLang="zh-CN" sz="2800" b="1" dirty="0">
                <a:solidFill>
                  <a:srgbClr val="0000CC"/>
                </a:solidFill>
              </a:rPr>
              <a:t>):</a:t>
            </a:r>
            <a:r>
              <a:rPr lang="en-US" altLang="ko-KR" sz="2800" b="1" dirty="0">
                <a:solidFill>
                  <a:srgbClr val="000000"/>
                </a:solidFill>
              </a:rPr>
              <a:t> results from motion of </a:t>
            </a:r>
            <a:r>
              <a:rPr lang="en-US" altLang="ko-KR" sz="2800" b="1" dirty="0" smtClean="0">
                <a:solidFill>
                  <a:srgbClr val="000000"/>
                </a:solidFill>
              </a:rPr>
              <a:t>positively or negatively charged particles in </a:t>
            </a:r>
            <a:r>
              <a:rPr lang="en-US" altLang="ko-KR" sz="2800" b="1" dirty="0">
                <a:solidFill>
                  <a:srgbClr val="000000"/>
                </a:solidFill>
              </a:rPr>
              <a:t>a vacuum</a:t>
            </a:r>
            <a:r>
              <a:rPr lang="en-US" altLang="zh-CN" sz="2800" b="1" dirty="0">
                <a:solidFill>
                  <a:srgbClr val="000000"/>
                </a:solidFill>
              </a:rPr>
              <a:t> or rarefied gas</a:t>
            </a:r>
            <a:r>
              <a:rPr lang="en-US" altLang="ko-KR" sz="2800" b="1" dirty="0">
                <a:solidFill>
                  <a:srgbClr val="000000"/>
                </a:solidFill>
              </a:rPr>
              <a:t>. </a:t>
            </a:r>
            <a:endParaRPr lang="en-US" altLang="zh-CN" sz="2800" b="1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endParaRPr lang="en-US" altLang="zh-CN" sz="1000" b="1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ko-KR" sz="2800" b="1" dirty="0">
                <a:solidFill>
                  <a:srgbClr val="0000CC"/>
                </a:solidFill>
              </a:rPr>
              <a:t>Conduction</a:t>
            </a:r>
            <a:r>
              <a:rPr lang="en-US" altLang="zh-CN" sz="2800" b="1" dirty="0">
                <a:solidFill>
                  <a:srgbClr val="0000CC"/>
                </a:solidFill>
              </a:rPr>
              <a:t> </a:t>
            </a:r>
            <a:r>
              <a:rPr lang="en-US" altLang="ko-KR" sz="2800" b="1" dirty="0">
                <a:solidFill>
                  <a:srgbClr val="0000CC"/>
                </a:solidFill>
              </a:rPr>
              <a:t>currents</a:t>
            </a:r>
            <a:r>
              <a:rPr lang="en-US" altLang="zh-CN" sz="2800" b="1" dirty="0">
                <a:solidFill>
                  <a:srgbClr val="0000CC"/>
                </a:solidFill>
              </a:rPr>
              <a:t> (</a:t>
            </a:r>
            <a:r>
              <a:rPr lang="zh-CN" altLang="en-US" sz="2800" b="1" dirty="0">
                <a:solidFill>
                  <a:srgbClr val="0000CC"/>
                </a:solidFill>
              </a:rPr>
              <a:t>传导电流</a:t>
            </a:r>
            <a:r>
              <a:rPr lang="en-US" altLang="zh-CN" sz="2800" b="1" dirty="0">
                <a:solidFill>
                  <a:srgbClr val="0000CC"/>
                </a:solidFill>
              </a:rPr>
              <a:t>)</a:t>
            </a:r>
            <a:r>
              <a:rPr lang="ko-KR" altLang="en-US" sz="2800" b="1" dirty="0">
                <a:solidFill>
                  <a:srgbClr val="0000CC"/>
                </a:solidFill>
              </a:rPr>
              <a:t> </a:t>
            </a:r>
            <a:r>
              <a:rPr lang="en-US" altLang="ko-KR" sz="2800" b="1" dirty="0">
                <a:solidFill>
                  <a:srgbClr val="0000CC"/>
                </a:solidFill>
              </a:rPr>
              <a:t>in conductors and semiconductor:</a:t>
            </a:r>
            <a:r>
              <a:rPr lang="en-US" altLang="ko-KR" sz="2800" b="1" dirty="0">
                <a:solidFill>
                  <a:srgbClr val="000000"/>
                </a:solidFill>
              </a:rPr>
              <a:t> drift motion of conduction electrons and/or holes.</a:t>
            </a:r>
            <a:r>
              <a:rPr lang="en-US" altLang="ko-KR" sz="2800" b="1" dirty="0"/>
              <a:t> </a:t>
            </a:r>
            <a:endParaRPr lang="en-US" altLang="zh-CN" sz="2800" b="1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45638" y="5589588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6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65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65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54978" name="Text Box 2"/>
              <p:cNvSpPr txBox="1">
                <a:spLocks noChangeArrowheads="1"/>
              </p:cNvSpPr>
              <p:nvPr/>
            </p:nvSpPr>
            <p:spPr bwMode="auto">
              <a:xfrm>
                <a:off x="1121983" y="1052514"/>
                <a:ext cx="10145333" cy="19389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5000"/>
                  </a:lnSpc>
                  <a:spcBef>
                    <a:spcPct val="50000"/>
                  </a:spcBef>
                </a:pPr>
                <a:r>
                  <a:rPr kumimoji="1" lang="en-US" altLang="zh-CN" sz="2400" b="1" dirty="0" smtClean="0">
                    <a:solidFill>
                      <a:srgbClr val="3333FF"/>
                    </a:solidFill>
                    <a:ea typeface="楷体_GB2312" pitchFamily="49" charset="-122"/>
                  </a:rPr>
                  <a:t>      The amount of charge flowing across a given area per unit time is called the </a:t>
                </a:r>
                <a:r>
                  <a:rPr kumimoji="1" lang="en-US" altLang="zh-CN" sz="2400" b="1" dirty="0">
                    <a:solidFill>
                      <a:srgbClr val="FF0000"/>
                    </a:solidFill>
                    <a:ea typeface="楷体_GB2312" pitchFamily="49" charset="-122"/>
                  </a:rPr>
                  <a:t>electric current intensity</a:t>
                </a:r>
                <a:r>
                  <a:rPr kumimoji="1" lang="en-US" altLang="zh-CN" sz="2400" b="1" dirty="0">
                    <a:solidFill>
                      <a:srgbClr val="3333FF"/>
                    </a:solidFill>
                    <a:ea typeface="楷体_GB2312" pitchFamily="49" charset="-122"/>
                  </a:rPr>
                  <a:t> or </a:t>
                </a:r>
                <a:r>
                  <a:rPr kumimoji="1" lang="en-US" altLang="zh-CN" sz="2400" b="1" dirty="0">
                    <a:solidFill>
                      <a:srgbClr val="FF0000"/>
                    </a:solidFill>
                    <a:ea typeface="楷体_GB2312" pitchFamily="49" charset="-122"/>
                  </a:rPr>
                  <a:t>electric current</a:t>
                </a:r>
                <a:r>
                  <a:rPr kumimoji="1" lang="en-US" altLang="zh-CN" sz="2400" b="1" dirty="0">
                    <a:solidFill>
                      <a:srgbClr val="3333FF"/>
                    </a:solidFill>
                    <a:ea typeface="楷体_GB2312" pitchFamily="49" charset="-122"/>
                  </a:rPr>
                  <a:t>, and it is denoted by </a:t>
                </a:r>
                <a:r>
                  <a:rPr kumimoji="1" lang="en-US" altLang="zh-CN" sz="2400" i="1" dirty="0">
                    <a:ea typeface="楷体_GB2312" pitchFamily="49" charset="-122"/>
                  </a:rPr>
                  <a:t>I</a:t>
                </a:r>
                <a:r>
                  <a:rPr kumimoji="1" lang="en-US" altLang="zh-CN" sz="2400" b="1" dirty="0">
                    <a:solidFill>
                      <a:srgbClr val="3333FF"/>
                    </a:solidFill>
                    <a:ea typeface="楷体_GB2312" pitchFamily="49" charset="-122"/>
                  </a:rPr>
                  <a:t>. </a:t>
                </a:r>
                <a:r>
                  <a:rPr kumimoji="1" lang="en-US" altLang="zh-CN" sz="2400" b="1" dirty="0">
                    <a:solidFill>
                      <a:srgbClr val="FF0000"/>
                    </a:solidFill>
                    <a:ea typeface="楷体_GB2312" pitchFamily="49" charset="-122"/>
                  </a:rPr>
                  <a:t>The unit</a:t>
                </a:r>
                <a:r>
                  <a:rPr kumimoji="1" lang="en-US" altLang="zh-CN" sz="2400" b="1" dirty="0">
                    <a:solidFill>
                      <a:srgbClr val="3333FF"/>
                    </a:solidFill>
                    <a:ea typeface="楷体_GB2312" pitchFamily="49" charset="-122"/>
                  </a:rPr>
                  <a:t> of electric current is </a:t>
                </a:r>
                <a:r>
                  <a:rPr kumimoji="1" lang="en-US" altLang="zh-CN" sz="2400" b="1" dirty="0">
                    <a:solidFill>
                      <a:srgbClr val="FF0000"/>
                    </a:solidFill>
                    <a:ea typeface="楷体_GB2312" pitchFamily="49" charset="-122"/>
                  </a:rPr>
                  <a:t>ampere </a:t>
                </a:r>
                <a:r>
                  <a:rPr kumimoji="1" lang="en-US" altLang="zh-CN" sz="2000" b="1" dirty="0">
                    <a:solidFill>
                      <a:srgbClr val="3333FF"/>
                    </a:solidFill>
                    <a:ea typeface="楷体_GB2312" pitchFamily="49" charset="-122"/>
                  </a:rPr>
                  <a:t>(</a:t>
                </a:r>
                <a:r>
                  <a:rPr kumimoji="1" lang="en-US" altLang="zh-CN" sz="2000" b="1" dirty="0">
                    <a:ea typeface="楷体_GB2312" pitchFamily="49" charset="-122"/>
                  </a:rPr>
                  <a:t>A</a:t>
                </a:r>
                <a:r>
                  <a:rPr kumimoji="1" lang="en-US" altLang="zh-CN" sz="2000" b="1" dirty="0" smtClean="0">
                    <a:solidFill>
                      <a:srgbClr val="3333FF"/>
                    </a:solidFill>
                    <a:ea typeface="楷体_GB2312" pitchFamily="49" charset="-122"/>
                  </a:rPr>
                  <a:t>), </a:t>
                </a:r>
                <a:r>
                  <a:rPr kumimoji="1" lang="en-US" altLang="zh-CN" sz="2400" b="1" dirty="0">
                    <a:solidFill>
                      <a:srgbClr val="3333FF"/>
                    </a:solidFill>
                    <a:ea typeface="楷体_GB2312" pitchFamily="49" charset="-122"/>
                  </a:rPr>
                  <a:t>and its density is </a:t>
                </a:r>
                <a14:m>
                  <m:oMath xmlns:m="http://schemas.openxmlformats.org/officeDocument/2006/math">
                    <m:r>
                      <a:rPr kumimoji="1" lang="en-US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𝑱</m:t>
                    </m:r>
                    <m:r>
                      <a:rPr kumimoji="1" lang="en-US" altLang="zh-CN" sz="2400" b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 </m:t>
                    </m:r>
                  </m:oMath>
                </a14:m>
                <a:r>
                  <a:rPr kumimoji="1" lang="en-US" altLang="zh-CN" sz="2400" b="1" dirty="0">
                    <a:solidFill>
                      <a:srgbClr val="3333FF"/>
                    </a:solidFill>
                    <a:ea typeface="楷体_GB2312" pitchFamily="49" charset="-122"/>
                  </a:rPr>
                  <a:t> in Amperes per square meter. It </a:t>
                </a:r>
                <a:r>
                  <a:rPr kumimoji="1" lang="en-US" altLang="zh-CN" sz="2400" b="1" dirty="0" smtClean="0">
                    <a:solidFill>
                      <a:srgbClr val="3333FF"/>
                    </a:solidFill>
                    <a:ea typeface="楷体_GB2312" pitchFamily="49" charset="-122"/>
                  </a:rPr>
                  <a:t>is </a:t>
                </a:r>
                <a:r>
                  <a:rPr kumimoji="1" lang="en-US" altLang="zh-CN" sz="2400" b="1" dirty="0">
                    <a:solidFill>
                      <a:srgbClr val="3333FF"/>
                    </a:solidFill>
                    <a:ea typeface="楷体_GB2312" pitchFamily="49" charset="-122"/>
                  </a:rPr>
                  <a:t>defined as,</a:t>
                </a:r>
                <a:endParaRPr kumimoji="1" lang="en-US" altLang="zh-CN" sz="2400" b="1" dirty="0">
                  <a:solidFill>
                    <a:srgbClr val="3333FF"/>
                  </a:solidFill>
                  <a:ea typeface="楷体_GB2312" pitchFamily="49" charset="-122"/>
                </a:endParaRPr>
              </a:p>
            </p:txBody>
          </p:sp>
        </mc:Choice>
        <mc:Fallback>
          <p:sp>
            <p:nvSpPr>
              <p:cNvPr id="254978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1983" y="1052514"/>
                <a:ext cx="10145333" cy="1938992"/>
              </a:xfrm>
              <a:prstGeom prst="rect">
                <a:avLst/>
              </a:prstGeom>
              <a:blipFill rotWithShape="1">
                <a:blip r:embed="rId1"/>
                <a:stretch>
                  <a:fillRect l="-6" t="-16" r="5" b="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4986" name="Rectangle 10"/>
          <p:cNvSpPr>
            <a:spLocks noChangeArrowheads="1"/>
          </p:cNvSpPr>
          <p:nvPr/>
        </p:nvSpPr>
        <p:spPr bwMode="auto">
          <a:xfrm>
            <a:off x="1749426" y="260351"/>
            <a:ext cx="854075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 dirty="0">
                <a:solidFill>
                  <a:srgbClr val="800000"/>
                </a:solidFill>
              </a:rPr>
              <a:t>5.2 Current Density and Ohm’s Law</a:t>
            </a:r>
            <a:endParaRPr lang="en-US" altLang="zh-CN" sz="3600" b="1" dirty="0">
              <a:solidFill>
                <a:srgbClr val="8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240153" y="3220117"/>
                <a:ext cx="308199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𝑁𝑞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CN" sz="2800" dirty="0" smtClean="0"/>
                  <a:t>s</a:t>
                </a:r>
                <a:r>
                  <a:rPr lang="el-GR" altLang="zh-C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CN" sz="2800" dirty="0" smtClean="0"/>
                  <a:t>t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153" y="3220117"/>
                <a:ext cx="3081998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4" t="-7" r="-500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5938341" y="4035635"/>
                <a:ext cx="14066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𝑱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𝑁𝑞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341" y="4035635"/>
                <a:ext cx="1406604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32" t="-49" r="-1045" b="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201917" y="4610001"/>
                <a:ext cx="103632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/>
                  <a:t>Where N is the number of charge per unit volume,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altLang="zh-CN" sz="2400" dirty="0" smtClean="0"/>
                  <a:t> is the velocity of charges,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CN" sz="2400" dirty="0" smtClean="0"/>
                  <a:t>s is where the charges passing through. </a:t>
                </a:r>
                <a:endParaRPr lang="zh-CN" altLang="en-US" sz="24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917" y="4610001"/>
                <a:ext cx="10363200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5" t="-65" r="5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43478" y="656432"/>
            <a:ext cx="1477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1"/>
                </a:solidFill>
              </a:rPr>
              <a:t>density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8409" name="Text Box 9"/>
          <p:cNvSpPr txBox="1">
            <a:spLocks noChangeArrowheads="1"/>
          </p:cNvSpPr>
          <p:nvPr/>
        </p:nvSpPr>
        <p:spPr bwMode="auto">
          <a:xfrm>
            <a:off x="1631950" y="133985"/>
            <a:ext cx="86969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000CC"/>
                </a:solidFill>
                <a:ea typeface="黑体" panose="02010609060101010101" pitchFamily="49" charset="-122"/>
              </a:rPr>
              <a:t>Current models in different distributions</a:t>
            </a:r>
            <a:endParaRPr kumimoji="1" lang="en-US" altLang="zh-CN" sz="2800" b="1" dirty="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392430" y="655320"/>
            <a:ext cx="123952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en-US" altLang="zh-CN" sz="1600" b="1" dirty="0" smtClean="0">
                <a:solidFill>
                  <a:schemeClr val="bg1"/>
                </a:solidFill>
                <a:latin typeface="+mn-lt"/>
                <a:ea typeface="+mn-ea"/>
              </a:rPr>
              <a:t>Current models </a:t>
            </a:r>
            <a:endParaRPr lang="en-US" altLang="zh-CN" sz="1600" b="1" dirty="0" smtClean="0">
              <a:solidFill>
                <a:schemeClr val="bg1"/>
              </a:solidFill>
              <a:latin typeface="+mn-lt"/>
              <a:ea typeface="+mn-ea"/>
            </a:endParaRPr>
          </a:p>
        </p:txBody>
      </p:sp>
      <p:grpSp>
        <p:nvGrpSpPr>
          <p:cNvPr id="3" name="Group 130"/>
          <p:cNvGrpSpPr/>
          <p:nvPr/>
        </p:nvGrpSpPr>
        <p:grpSpPr>
          <a:xfrm>
            <a:off x="8401050" y="765175"/>
            <a:ext cx="3025775" cy="2447925"/>
            <a:chOff x="3651" y="1117"/>
            <a:chExt cx="1906" cy="1542"/>
          </a:xfrm>
        </p:grpSpPr>
        <p:sp>
          <p:nvSpPr>
            <p:cNvPr id="14343" name="Rectangle 38"/>
            <p:cNvSpPr/>
            <p:nvPr/>
          </p:nvSpPr>
          <p:spPr>
            <a:xfrm>
              <a:off x="3651" y="1117"/>
              <a:ext cx="1906" cy="1542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14344" name="Oval 81"/>
            <p:cNvSpPr>
              <a:spLocks noChangeAspect="1"/>
            </p:cNvSpPr>
            <p:nvPr/>
          </p:nvSpPr>
          <p:spPr>
            <a:xfrm rot="-774918">
              <a:off x="3929" y="1797"/>
              <a:ext cx="147" cy="388"/>
            </a:xfrm>
            <a:prstGeom prst="ellipse">
              <a:avLst/>
            </a:prstGeom>
            <a:solidFill>
              <a:srgbClr val="C0C0C0"/>
            </a:solidFill>
            <a:ln w="222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14345" name="Text Box 88"/>
            <p:cNvSpPr txBox="1"/>
            <p:nvPr/>
          </p:nvSpPr>
          <p:spPr>
            <a:xfrm>
              <a:off x="3969" y="2387"/>
              <a:ext cx="1315" cy="1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Volumn current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6" name="Freeform 96"/>
            <p:cNvSpPr/>
            <p:nvPr/>
          </p:nvSpPr>
          <p:spPr>
            <a:xfrm>
              <a:off x="3969" y="1547"/>
              <a:ext cx="1179" cy="704"/>
            </a:xfrm>
            <a:custGeom>
              <a:avLst/>
              <a:gdLst/>
              <a:ahLst/>
              <a:cxnLst>
                <a:cxn ang="0">
                  <a:pos x="98" y="643"/>
                </a:cxn>
                <a:cxn ang="0">
                  <a:pos x="0" y="250"/>
                </a:cxn>
                <a:cxn ang="0">
                  <a:pos x="330" y="72"/>
                </a:cxn>
                <a:cxn ang="0">
                  <a:pos x="570" y="0"/>
                </a:cxn>
                <a:cxn ang="0">
                  <a:pos x="954" y="8"/>
                </a:cxn>
                <a:cxn ang="0">
                  <a:pos x="1179" y="69"/>
                </a:cxn>
                <a:cxn ang="0">
                  <a:pos x="1043" y="704"/>
                </a:cxn>
                <a:cxn ang="0">
                  <a:pos x="842" y="576"/>
                </a:cxn>
                <a:cxn ang="0">
                  <a:pos x="538" y="520"/>
                </a:cxn>
                <a:cxn ang="0">
                  <a:pos x="298" y="552"/>
                </a:cxn>
                <a:cxn ang="0">
                  <a:pos x="106" y="640"/>
                </a:cxn>
              </a:cxnLst>
              <a:pathLst>
                <a:path w="1179" h="704">
                  <a:moveTo>
                    <a:pt x="98" y="643"/>
                  </a:moveTo>
                  <a:lnTo>
                    <a:pt x="0" y="250"/>
                  </a:lnTo>
                  <a:lnTo>
                    <a:pt x="330" y="72"/>
                  </a:lnTo>
                  <a:lnTo>
                    <a:pt x="570" y="0"/>
                  </a:lnTo>
                  <a:lnTo>
                    <a:pt x="954" y="8"/>
                  </a:lnTo>
                  <a:lnTo>
                    <a:pt x="1179" y="69"/>
                  </a:lnTo>
                  <a:lnTo>
                    <a:pt x="1043" y="704"/>
                  </a:lnTo>
                  <a:lnTo>
                    <a:pt x="842" y="576"/>
                  </a:lnTo>
                  <a:lnTo>
                    <a:pt x="538" y="520"/>
                  </a:lnTo>
                  <a:lnTo>
                    <a:pt x="298" y="552"/>
                  </a:lnTo>
                  <a:lnTo>
                    <a:pt x="106" y="640"/>
                  </a:ln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47" name="Freeform 97"/>
            <p:cNvSpPr>
              <a:spLocks noChangeAspect="1"/>
            </p:cNvSpPr>
            <p:nvPr/>
          </p:nvSpPr>
          <p:spPr>
            <a:xfrm>
              <a:off x="3963" y="1535"/>
              <a:ext cx="1187" cy="268"/>
            </a:xfrm>
            <a:custGeom>
              <a:avLst/>
              <a:gdLst/>
              <a:ahLst/>
              <a:cxnLst>
                <a:cxn ang="0">
                  <a:pos x="0" y="268"/>
                </a:cxn>
                <a:cxn ang="0">
                  <a:pos x="193" y="155"/>
                </a:cxn>
                <a:cxn ang="0">
                  <a:pos x="419" y="50"/>
                </a:cxn>
                <a:cxn ang="0">
                  <a:pos x="695" y="5"/>
                </a:cxn>
                <a:cxn ang="0">
                  <a:pos x="1025" y="21"/>
                </a:cxn>
                <a:cxn ang="0">
                  <a:pos x="1187" y="87"/>
                </a:cxn>
              </a:cxnLst>
              <a:pathLst>
                <a:path w="1187" h="268">
                  <a:moveTo>
                    <a:pt x="0" y="268"/>
                  </a:moveTo>
                  <a:cubicBezTo>
                    <a:pt x="32" y="248"/>
                    <a:pt x="123" y="191"/>
                    <a:pt x="193" y="155"/>
                  </a:cubicBezTo>
                  <a:cubicBezTo>
                    <a:pt x="263" y="119"/>
                    <a:pt x="334" y="75"/>
                    <a:pt x="419" y="50"/>
                  </a:cubicBezTo>
                  <a:cubicBezTo>
                    <a:pt x="502" y="25"/>
                    <a:pt x="595" y="9"/>
                    <a:pt x="695" y="5"/>
                  </a:cubicBezTo>
                  <a:cubicBezTo>
                    <a:pt x="797" y="0"/>
                    <a:pt x="943" y="7"/>
                    <a:pt x="1025" y="21"/>
                  </a:cubicBezTo>
                  <a:cubicBezTo>
                    <a:pt x="1107" y="34"/>
                    <a:pt x="1160" y="76"/>
                    <a:pt x="1187" y="87"/>
                  </a:cubicBezTo>
                </a:path>
              </a:pathLst>
            </a:custGeom>
            <a:solidFill>
              <a:srgbClr val="C0C0C0"/>
            </a:solidFill>
            <a:ln w="222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48" name="Freeform 98"/>
            <p:cNvSpPr>
              <a:spLocks noChangeAspect="1"/>
            </p:cNvSpPr>
            <p:nvPr/>
          </p:nvSpPr>
          <p:spPr>
            <a:xfrm>
              <a:off x="4059" y="2087"/>
              <a:ext cx="947" cy="147"/>
            </a:xfrm>
            <a:custGeom>
              <a:avLst/>
              <a:gdLst/>
              <a:ahLst/>
              <a:cxnLst>
                <a:cxn ang="0">
                  <a:pos x="0" y="92"/>
                </a:cxn>
                <a:cxn ang="0">
                  <a:pos x="96" y="50"/>
                </a:cxn>
                <a:cxn ang="0">
                  <a:pos x="299" y="5"/>
                </a:cxn>
                <a:cxn ang="0">
                  <a:pos x="540" y="14"/>
                </a:cxn>
                <a:cxn ang="0">
                  <a:pos x="817" y="75"/>
                </a:cxn>
                <a:cxn ang="0">
                  <a:pos x="947" y="147"/>
                </a:cxn>
              </a:cxnLst>
              <a:pathLst>
                <a:path w="947" h="147">
                  <a:moveTo>
                    <a:pt x="0" y="92"/>
                  </a:moveTo>
                  <a:cubicBezTo>
                    <a:pt x="16" y="84"/>
                    <a:pt x="46" y="64"/>
                    <a:pt x="96" y="50"/>
                  </a:cubicBezTo>
                  <a:cubicBezTo>
                    <a:pt x="146" y="36"/>
                    <a:pt x="225" y="11"/>
                    <a:pt x="299" y="5"/>
                  </a:cubicBezTo>
                  <a:cubicBezTo>
                    <a:pt x="373" y="0"/>
                    <a:pt x="453" y="2"/>
                    <a:pt x="540" y="14"/>
                  </a:cubicBezTo>
                  <a:cubicBezTo>
                    <a:pt x="626" y="26"/>
                    <a:pt x="749" y="53"/>
                    <a:pt x="817" y="75"/>
                  </a:cubicBezTo>
                  <a:cubicBezTo>
                    <a:pt x="885" y="97"/>
                    <a:pt x="925" y="135"/>
                    <a:pt x="947" y="147"/>
                  </a:cubicBezTo>
                </a:path>
              </a:pathLst>
            </a:custGeom>
            <a:noFill/>
            <a:ln w="222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49" name="Freeform 99"/>
            <p:cNvSpPr>
              <a:spLocks noChangeAspect="1"/>
            </p:cNvSpPr>
            <p:nvPr/>
          </p:nvSpPr>
          <p:spPr>
            <a:xfrm>
              <a:off x="4061" y="1752"/>
              <a:ext cx="166" cy="91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615" h="330">
                  <a:moveTo>
                    <a:pt x="540" y="0"/>
                  </a:moveTo>
                  <a:cubicBezTo>
                    <a:pt x="403" y="34"/>
                    <a:pt x="335" y="48"/>
                    <a:pt x="180" y="60"/>
                  </a:cubicBezTo>
                  <a:cubicBezTo>
                    <a:pt x="150" y="70"/>
                    <a:pt x="120" y="80"/>
                    <a:pt x="90" y="90"/>
                  </a:cubicBezTo>
                  <a:cubicBezTo>
                    <a:pt x="56" y="101"/>
                    <a:pt x="0" y="150"/>
                    <a:pt x="0" y="150"/>
                  </a:cubicBezTo>
                  <a:cubicBezTo>
                    <a:pt x="5" y="165"/>
                    <a:pt x="4" y="184"/>
                    <a:pt x="15" y="195"/>
                  </a:cubicBezTo>
                  <a:cubicBezTo>
                    <a:pt x="40" y="220"/>
                    <a:pt x="105" y="255"/>
                    <a:pt x="105" y="255"/>
                  </a:cubicBezTo>
                  <a:cubicBezTo>
                    <a:pt x="114" y="283"/>
                    <a:pt x="120" y="330"/>
                    <a:pt x="165" y="330"/>
                  </a:cubicBezTo>
                  <a:cubicBezTo>
                    <a:pt x="236" y="330"/>
                    <a:pt x="286" y="281"/>
                    <a:pt x="345" y="255"/>
                  </a:cubicBezTo>
                  <a:cubicBezTo>
                    <a:pt x="374" y="242"/>
                    <a:pt x="405" y="235"/>
                    <a:pt x="435" y="225"/>
                  </a:cubicBezTo>
                  <a:cubicBezTo>
                    <a:pt x="450" y="220"/>
                    <a:pt x="465" y="215"/>
                    <a:pt x="480" y="210"/>
                  </a:cubicBezTo>
                  <a:cubicBezTo>
                    <a:pt x="495" y="205"/>
                    <a:pt x="525" y="195"/>
                    <a:pt x="525" y="195"/>
                  </a:cubicBezTo>
                  <a:cubicBezTo>
                    <a:pt x="565" y="134"/>
                    <a:pt x="592" y="143"/>
                    <a:pt x="615" y="75"/>
                  </a:cubicBezTo>
                  <a:cubicBezTo>
                    <a:pt x="610" y="60"/>
                    <a:pt x="611" y="41"/>
                    <a:pt x="600" y="30"/>
                  </a:cubicBezTo>
                  <a:cubicBezTo>
                    <a:pt x="571" y="1"/>
                    <a:pt x="564" y="24"/>
                    <a:pt x="540" y="0"/>
                  </a:cubicBezTo>
                  <a:close/>
                </a:path>
              </a:pathLst>
            </a:custGeom>
            <a:solidFill>
              <a:srgbClr val="C0C0C0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50" name="Freeform 100"/>
            <p:cNvSpPr>
              <a:spLocks noChangeAspect="1"/>
            </p:cNvSpPr>
            <p:nvPr/>
          </p:nvSpPr>
          <p:spPr>
            <a:xfrm>
              <a:off x="5016" y="1864"/>
              <a:ext cx="130" cy="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480" h="225">
                  <a:moveTo>
                    <a:pt x="0" y="0"/>
                  </a:moveTo>
                  <a:cubicBezTo>
                    <a:pt x="45" y="15"/>
                    <a:pt x="90" y="30"/>
                    <a:pt x="135" y="45"/>
                  </a:cubicBezTo>
                  <a:cubicBezTo>
                    <a:pt x="152" y="51"/>
                    <a:pt x="164" y="68"/>
                    <a:pt x="180" y="75"/>
                  </a:cubicBezTo>
                  <a:cubicBezTo>
                    <a:pt x="209" y="88"/>
                    <a:pt x="244" y="87"/>
                    <a:pt x="270" y="105"/>
                  </a:cubicBezTo>
                  <a:cubicBezTo>
                    <a:pt x="285" y="115"/>
                    <a:pt x="299" y="128"/>
                    <a:pt x="315" y="135"/>
                  </a:cubicBezTo>
                  <a:cubicBezTo>
                    <a:pt x="393" y="170"/>
                    <a:pt x="420" y="165"/>
                    <a:pt x="480" y="225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51" name="Freeform 101"/>
            <p:cNvSpPr>
              <a:spLocks noChangeAspect="1"/>
            </p:cNvSpPr>
            <p:nvPr/>
          </p:nvSpPr>
          <p:spPr>
            <a:xfrm>
              <a:off x="5004" y="2079"/>
              <a:ext cx="130" cy="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</a:cxnLst>
              <a:pathLst>
                <a:path w="480" h="240">
                  <a:moveTo>
                    <a:pt x="0" y="0"/>
                  </a:moveTo>
                  <a:cubicBezTo>
                    <a:pt x="71" y="48"/>
                    <a:pt x="28" y="24"/>
                    <a:pt x="135" y="60"/>
                  </a:cubicBezTo>
                  <a:cubicBezTo>
                    <a:pt x="168" y="71"/>
                    <a:pt x="236" y="120"/>
                    <a:pt x="270" y="135"/>
                  </a:cubicBezTo>
                  <a:cubicBezTo>
                    <a:pt x="358" y="174"/>
                    <a:pt x="411" y="171"/>
                    <a:pt x="480" y="24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52" name="Text Box 102"/>
            <p:cNvSpPr txBox="1"/>
            <p:nvPr/>
          </p:nvSpPr>
          <p:spPr>
            <a:xfrm>
              <a:off x="4758" y="1674"/>
              <a:ext cx="201" cy="1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zh-CN" sz="28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14353" name="AutoShape 103"/>
            <p:cNvSpPr/>
            <p:nvPr/>
          </p:nvSpPr>
          <p:spPr>
            <a:xfrm>
              <a:off x="4695" y="1298"/>
              <a:ext cx="453" cy="220"/>
            </a:xfrm>
            <a:prstGeom prst="wedgeRectCallout">
              <a:avLst>
                <a:gd name="adj1" fmla="val -81125"/>
                <a:gd name="adj2" fmla="val 164093"/>
              </a:avLst>
            </a:prstGeom>
            <a:noFill/>
            <a:ln w="9525" cap="flat" cmpd="sng">
              <a:solidFill>
                <a:srgbClr val="FF00FF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zh-CN" sz="28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14354" name="Oval 104"/>
            <p:cNvSpPr>
              <a:spLocks noChangeAspect="1"/>
            </p:cNvSpPr>
            <p:nvPr/>
          </p:nvSpPr>
          <p:spPr>
            <a:xfrm rot="741733">
              <a:off x="5004" y="1625"/>
              <a:ext cx="195" cy="626"/>
            </a:xfrm>
            <a:prstGeom prst="ellipse">
              <a:avLst/>
            </a:prstGeom>
            <a:solidFill>
              <a:srgbClr val="C0C0C0"/>
            </a:solidFill>
            <a:ln w="222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14355" name="Oval 108"/>
            <p:cNvSpPr/>
            <p:nvPr/>
          </p:nvSpPr>
          <p:spPr>
            <a:xfrm rot="4772173">
              <a:off x="4365" y="1706"/>
              <a:ext cx="364" cy="184"/>
            </a:xfrm>
            <a:prstGeom prst="ellipse">
              <a:avLst/>
            </a:prstGeom>
            <a:solidFill>
              <a:srgbClr val="339966"/>
            </a:solidFill>
            <a:ln w="158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14356" name="Line 109"/>
            <p:cNvSpPr>
              <a:spLocks noChangeAspect="1"/>
            </p:cNvSpPr>
            <p:nvPr/>
          </p:nvSpPr>
          <p:spPr>
            <a:xfrm flipV="1">
              <a:off x="4552" y="1747"/>
              <a:ext cx="324" cy="57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sm" len="lg"/>
            </a:ln>
          </p:spPr>
        </p:sp>
        <p:sp>
          <p:nvSpPr>
            <p:cNvPr id="14357" name="Freeform 110"/>
            <p:cNvSpPr>
              <a:spLocks noChangeAspect="1"/>
            </p:cNvSpPr>
            <p:nvPr/>
          </p:nvSpPr>
          <p:spPr>
            <a:xfrm>
              <a:off x="3923" y="1797"/>
              <a:ext cx="1270" cy="195"/>
            </a:xfrm>
            <a:custGeom>
              <a:avLst/>
              <a:gdLst/>
              <a:ahLst/>
              <a:cxnLst>
                <a:cxn ang="0">
                  <a:pos x="0" y="195"/>
                </a:cxn>
                <a:cxn ang="0">
                  <a:pos x="212" y="93"/>
                </a:cxn>
                <a:cxn ang="0">
                  <a:pos x="552" y="24"/>
                </a:cxn>
                <a:cxn ang="0">
                  <a:pos x="934" y="24"/>
                </a:cxn>
                <a:cxn ang="0">
                  <a:pos x="1224" y="171"/>
                </a:cxn>
                <a:cxn ang="0">
                  <a:pos x="1208" y="139"/>
                </a:cxn>
              </a:cxnLst>
              <a:pathLst>
                <a:path w="1270" h="195">
                  <a:moveTo>
                    <a:pt x="0" y="195"/>
                  </a:moveTo>
                  <a:cubicBezTo>
                    <a:pt x="60" y="158"/>
                    <a:pt x="120" y="121"/>
                    <a:pt x="212" y="93"/>
                  </a:cubicBezTo>
                  <a:cubicBezTo>
                    <a:pt x="304" y="64"/>
                    <a:pt x="432" y="36"/>
                    <a:pt x="552" y="24"/>
                  </a:cubicBezTo>
                  <a:cubicBezTo>
                    <a:pt x="672" y="13"/>
                    <a:pt x="822" y="0"/>
                    <a:pt x="934" y="24"/>
                  </a:cubicBezTo>
                  <a:cubicBezTo>
                    <a:pt x="1046" y="48"/>
                    <a:pt x="1178" y="152"/>
                    <a:pt x="1224" y="171"/>
                  </a:cubicBezTo>
                  <a:cubicBezTo>
                    <a:pt x="1270" y="190"/>
                    <a:pt x="1211" y="146"/>
                    <a:pt x="1208" y="139"/>
                  </a:cubicBezTo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58" name="Freeform 112"/>
            <p:cNvSpPr>
              <a:spLocks noChangeAspect="1"/>
            </p:cNvSpPr>
            <p:nvPr/>
          </p:nvSpPr>
          <p:spPr>
            <a:xfrm rot="349580">
              <a:off x="3969" y="1965"/>
              <a:ext cx="1270" cy="195"/>
            </a:xfrm>
            <a:custGeom>
              <a:avLst/>
              <a:gdLst/>
              <a:ahLst/>
              <a:cxnLst>
                <a:cxn ang="0">
                  <a:pos x="0" y="195"/>
                </a:cxn>
                <a:cxn ang="0">
                  <a:pos x="212" y="93"/>
                </a:cxn>
                <a:cxn ang="0">
                  <a:pos x="552" y="24"/>
                </a:cxn>
                <a:cxn ang="0">
                  <a:pos x="934" y="24"/>
                </a:cxn>
                <a:cxn ang="0">
                  <a:pos x="1224" y="171"/>
                </a:cxn>
                <a:cxn ang="0">
                  <a:pos x="1208" y="139"/>
                </a:cxn>
              </a:cxnLst>
              <a:pathLst>
                <a:path w="1270" h="195">
                  <a:moveTo>
                    <a:pt x="0" y="195"/>
                  </a:moveTo>
                  <a:cubicBezTo>
                    <a:pt x="60" y="158"/>
                    <a:pt x="120" y="121"/>
                    <a:pt x="212" y="93"/>
                  </a:cubicBezTo>
                  <a:cubicBezTo>
                    <a:pt x="304" y="64"/>
                    <a:pt x="432" y="36"/>
                    <a:pt x="552" y="24"/>
                  </a:cubicBezTo>
                  <a:cubicBezTo>
                    <a:pt x="672" y="13"/>
                    <a:pt x="822" y="0"/>
                    <a:pt x="934" y="24"/>
                  </a:cubicBezTo>
                  <a:cubicBezTo>
                    <a:pt x="1046" y="48"/>
                    <a:pt x="1178" y="152"/>
                    <a:pt x="1224" y="171"/>
                  </a:cubicBezTo>
                  <a:cubicBezTo>
                    <a:pt x="1270" y="190"/>
                    <a:pt x="1211" y="146"/>
                    <a:pt x="1208" y="139"/>
                  </a:cubicBezTo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59" name="Freeform 118"/>
            <p:cNvSpPr>
              <a:spLocks noChangeAspect="1"/>
            </p:cNvSpPr>
            <p:nvPr/>
          </p:nvSpPr>
          <p:spPr>
            <a:xfrm rot="-490616">
              <a:off x="3894" y="1648"/>
              <a:ext cx="1270" cy="195"/>
            </a:xfrm>
            <a:custGeom>
              <a:avLst/>
              <a:gdLst/>
              <a:ahLst/>
              <a:cxnLst>
                <a:cxn ang="0">
                  <a:pos x="0" y="195"/>
                </a:cxn>
                <a:cxn ang="0">
                  <a:pos x="212" y="93"/>
                </a:cxn>
                <a:cxn ang="0">
                  <a:pos x="552" y="24"/>
                </a:cxn>
                <a:cxn ang="0">
                  <a:pos x="934" y="24"/>
                </a:cxn>
                <a:cxn ang="0">
                  <a:pos x="1224" y="171"/>
                </a:cxn>
                <a:cxn ang="0">
                  <a:pos x="1208" y="139"/>
                </a:cxn>
              </a:cxnLst>
              <a:pathLst>
                <a:path w="1270" h="195">
                  <a:moveTo>
                    <a:pt x="0" y="195"/>
                  </a:moveTo>
                  <a:cubicBezTo>
                    <a:pt x="60" y="158"/>
                    <a:pt x="120" y="121"/>
                    <a:pt x="212" y="93"/>
                  </a:cubicBezTo>
                  <a:cubicBezTo>
                    <a:pt x="304" y="64"/>
                    <a:pt x="432" y="36"/>
                    <a:pt x="552" y="24"/>
                  </a:cubicBezTo>
                  <a:cubicBezTo>
                    <a:pt x="672" y="13"/>
                    <a:pt x="822" y="0"/>
                    <a:pt x="934" y="24"/>
                  </a:cubicBezTo>
                  <a:cubicBezTo>
                    <a:pt x="1046" y="48"/>
                    <a:pt x="1178" y="152"/>
                    <a:pt x="1224" y="171"/>
                  </a:cubicBezTo>
                  <a:cubicBezTo>
                    <a:pt x="1270" y="190"/>
                    <a:pt x="1211" y="146"/>
                    <a:pt x="1208" y="139"/>
                  </a:cubicBezTo>
                </a:path>
              </a:pathLst>
            </a:custGeom>
            <a:noFill/>
            <a:ln w="2540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60" name="Freeform 119"/>
            <p:cNvSpPr/>
            <p:nvPr/>
          </p:nvSpPr>
          <p:spPr>
            <a:xfrm>
              <a:off x="5148" y="1752"/>
              <a:ext cx="227" cy="1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7" y="136"/>
                </a:cxn>
              </a:cxnLst>
              <a:pathLst>
                <a:path w="227" h="136">
                  <a:moveTo>
                    <a:pt x="0" y="0"/>
                  </a:moveTo>
                  <a:cubicBezTo>
                    <a:pt x="94" y="56"/>
                    <a:pt x="189" y="113"/>
                    <a:pt x="227" y="136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61" name="Freeform 120"/>
            <p:cNvSpPr/>
            <p:nvPr/>
          </p:nvSpPr>
          <p:spPr>
            <a:xfrm rot="356310">
              <a:off x="5090" y="1941"/>
              <a:ext cx="227" cy="1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7" y="136"/>
                </a:cxn>
              </a:cxnLst>
              <a:pathLst>
                <a:path w="227" h="136">
                  <a:moveTo>
                    <a:pt x="0" y="0"/>
                  </a:moveTo>
                  <a:cubicBezTo>
                    <a:pt x="94" y="56"/>
                    <a:pt x="189" y="113"/>
                    <a:pt x="227" y="136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62" name="Freeform 123"/>
            <p:cNvSpPr/>
            <p:nvPr/>
          </p:nvSpPr>
          <p:spPr>
            <a:xfrm rot="457413">
              <a:off x="5119" y="2168"/>
              <a:ext cx="227" cy="1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7" y="136"/>
                </a:cxn>
              </a:cxnLst>
              <a:pathLst>
                <a:path w="227" h="136">
                  <a:moveTo>
                    <a:pt x="0" y="0"/>
                  </a:moveTo>
                  <a:cubicBezTo>
                    <a:pt x="94" y="56"/>
                    <a:pt x="189" y="113"/>
                    <a:pt x="227" y="136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63" name="Line 124"/>
            <p:cNvSpPr/>
            <p:nvPr/>
          </p:nvSpPr>
          <p:spPr>
            <a:xfrm flipH="1">
              <a:off x="3857" y="2077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4" name="Line 125"/>
            <p:cNvSpPr/>
            <p:nvPr/>
          </p:nvSpPr>
          <p:spPr>
            <a:xfrm flipH="1">
              <a:off x="3833" y="1963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65" name="Line 126"/>
            <p:cNvSpPr/>
            <p:nvPr/>
          </p:nvSpPr>
          <p:spPr>
            <a:xfrm flipH="1">
              <a:off x="3833" y="1888"/>
              <a:ext cx="136" cy="9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14376" name="对象 13"/>
          <p:cNvGraphicFramePr/>
          <p:nvPr/>
        </p:nvGraphicFramePr>
        <p:xfrm>
          <a:off x="10227945" y="1056640"/>
          <a:ext cx="51943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459740" imgH="408940" progId="Equation.DSMT4">
                  <p:embed/>
                </p:oleObj>
              </mc:Choice>
              <mc:Fallback>
                <p:oleObj name="" r:id="rId1" imgW="459740" imgH="40894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227945" y="1056640"/>
                        <a:ext cx="51943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7" name="对象 15"/>
          <p:cNvGraphicFramePr/>
          <p:nvPr/>
        </p:nvGraphicFramePr>
        <p:xfrm>
          <a:off x="10848975" y="2154555"/>
          <a:ext cx="1038860" cy="588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478155" imgH="485775" progId="Equation.DSMT4">
                  <p:embed/>
                </p:oleObj>
              </mc:Choice>
              <mc:Fallback>
                <p:oleObj name="" r:id="rId3" imgW="478155" imgH="485775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48975" y="2154555"/>
                        <a:ext cx="1038860" cy="5886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8" name="对象 17"/>
          <p:cNvGraphicFramePr/>
          <p:nvPr/>
        </p:nvGraphicFramePr>
        <p:xfrm>
          <a:off x="9975850" y="1809115"/>
          <a:ext cx="537845" cy="423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5" imgW="139700" imgH="228600" progId="Equation.DSMT4">
                  <p:embed/>
                </p:oleObj>
              </mc:Choice>
              <mc:Fallback>
                <p:oleObj name="" r:id="rId5" imgW="139700" imgH="2286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75850" y="1809115"/>
                        <a:ext cx="537845" cy="4235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5257" name="Text Box 9"/>
          <p:cNvSpPr txBox="1"/>
          <p:nvPr/>
        </p:nvSpPr>
        <p:spPr>
          <a:xfrm>
            <a:off x="1891030" y="3001645"/>
            <a:ext cx="3460750" cy="3683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762000" eaLnBrk="0" hangingPunct="0">
              <a:spcBef>
                <a:spcPct val="50000"/>
              </a:spcBef>
              <a:buSzTx/>
            </a:pPr>
            <a:r>
              <a:rPr lang="en-US" altLang="zh-CN" b="1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Unit</a:t>
            </a:r>
            <a:r>
              <a:rPr lang="zh-CN" altLang="en-US" b="1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 b="1" dirty="0">
                <a:solidFill>
                  <a:srgbClr val="000099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A / m</a:t>
            </a:r>
            <a:r>
              <a:rPr lang="zh-CN" altLang="en-US" b="1" baseline="30000" dirty="0">
                <a:solidFill>
                  <a:srgbClr val="000099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zh-CN" altLang="en-US" b="1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（安/米</a:t>
            </a:r>
            <a:r>
              <a:rPr lang="zh-CN" altLang="en-US" b="1" baseline="30000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b="1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） </a:t>
            </a:r>
            <a:endParaRPr lang="zh-CN" altLang="en-US" b="1" dirty="0">
              <a:solidFill>
                <a:srgbClr val="000099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65262" name="Text Box 14"/>
          <p:cNvSpPr txBox="1"/>
          <p:nvPr/>
        </p:nvSpPr>
        <p:spPr>
          <a:xfrm>
            <a:off x="1530668" y="644208"/>
            <a:ext cx="5246687" cy="46037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1. </a:t>
            </a:r>
            <a:r>
              <a:rPr lang="zh-CN" altLang="en-US" sz="2400" b="1" u="sng" dirty="0">
                <a:solidFill>
                  <a:srgbClr val="000099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lang="en-US" altLang="zh-CN" sz="2400" b="1" u="sng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Volumn current</a:t>
            </a:r>
            <a:r>
              <a:rPr lang="zh-CN" altLang="en-US" b="1" u="sng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                             </a:t>
            </a:r>
            <a:endParaRPr lang="zh-CN" altLang="en-US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pSp>
        <p:nvGrpSpPr>
          <p:cNvPr id="6" name="Group 129"/>
          <p:cNvGrpSpPr/>
          <p:nvPr/>
        </p:nvGrpSpPr>
        <p:grpSpPr>
          <a:xfrm>
            <a:off x="2157730" y="1687195"/>
            <a:ext cx="2474912" cy="1298576"/>
            <a:chOff x="2574" y="2705"/>
            <a:chExt cx="1559" cy="818"/>
          </a:xfrm>
        </p:grpSpPr>
        <p:sp>
          <p:nvSpPr>
            <p:cNvPr id="14367" name="Text Box 37"/>
            <p:cNvSpPr txBox="1"/>
            <p:nvPr/>
          </p:nvSpPr>
          <p:spPr>
            <a:xfrm>
              <a:off x="2574" y="3082"/>
              <a:ext cx="1559" cy="441"/>
            </a:xfrm>
            <a:prstGeom prst="rect">
              <a:avLst/>
            </a:prstGeom>
            <a:solidFill>
              <a:srgbClr val="E9FFFF"/>
            </a:solidFill>
            <a:ln w="25400" cap="flat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>
              <a:spAutoFit/>
            </a:bodyPr>
            <a:p>
              <a:pPr algn="ctr" defTabSz="762000" eaLnBrk="0" hangingPunct="0">
                <a:lnSpc>
                  <a:spcPct val="110000"/>
                </a:lnSpc>
              </a:pP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movement direction of positive charge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68" name="Line 128"/>
            <p:cNvSpPr/>
            <p:nvPr/>
          </p:nvSpPr>
          <p:spPr>
            <a:xfrm flipH="1" flipV="1">
              <a:off x="3191" y="2705"/>
              <a:ext cx="720" cy="36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" name="Group 129"/>
          <p:cNvGrpSpPr/>
          <p:nvPr/>
        </p:nvGrpSpPr>
        <p:grpSpPr>
          <a:xfrm>
            <a:off x="4307205" y="1758633"/>
            <a:ext cx="2395538" cy="1055688"/>
            <a:chOff x="2172" y="2840"/>
            <a:chExt cx="1509" cy="665"/>
          </a:xfrm>
        </p:grpSpPr>
        <p:sp>
          <p:nvSpPr>
            <p:cNvPr id="14370" name="Text Box 37"/>
            <p:cNvSpPr txBox="1"/>
            <p:nvPr/>
          </p:nvSpPr>
          <p:spPr>
            <a:xfrm>
              <a:off x="2517" y="3064"/>
              <a:ext cx="1164" cy="441"/>
            </a:xfrm>
            <a:prstGeom prst="rect">
              <a:avLst/>
            </a:prstGeom>
            <a:solidFill>
              <a:srgbClr val="E9FFFF"/>
            </a:solidFill>
            <a:ln w="25400" cap="flat" cmpd="sng">
              <a:solidFill>
                <a:srgbClr val="FF00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square" anchor="t" anchorCtr="0">
              <a:spAutoFit/>
            </a:bodyPr>
            <a:p>
              <a:pPr algn="ctr" defTabSz="762000" eaLnBrk="0" hangingPunct="0">
                <a:lnSpc>
                  <a:spcPct val="110000"/>
                </a:lnSpc>
              </a:pPr>
              <a:r>
                <a:rPr lang="en-US" altLang="zh-CN" b="1" dirty="0">
                  <a:latin typeface="Arial" panose="020B0604020202020204" pitchFamily="34" charset="0"/>
                  <a:ea typeface="宋体" panose="02010600030101010101" pitchFamily="2" charset="-122"/>
                </a:rPr>
                <a:t>unit cross section area</a:t>
              </a:r>
              <a:endParaRPr lang="en-US" altLang="zh-CN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71" name="Line 128"/>
            <p:cNvSpPr/>
            <p:nvPr/>
          </p:nvSpPr>
          <p:spPr>
            <a:xfrm flipH="1" flipV="1">
              <a:off x="2172" y="2840"/>
              <a:ext cx="345" cy="227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14373" name="对象 7"/>
          <p:cNvGraphicFramePr/>
          <p:nvPr/>
        </p:nvGraphicFramePr>
        <p:xfrm>
          <a:off x="2478405" y="964883"/>
          <a:ext cx="3005138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7" imgW="2980690" imgH="948690" progId="Equation.DSMT4">
                  <p:embed/>
                </p:oleObj>
              </mc:Choice>
              <mc:Fallback>
                <p:oleObj name="" r:id="rId7" imgW="2980690" imgH="94869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78405" y="964883"/>
                        <a:ext cx="3005138" cy="884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4"/>
          <p:cNvSpPr txBox="1"/>
          <p:nvPr/>
        </p:nvSpPr>
        <p:spPr>
          <a:xfrm>
            <a:off x="1890713" y="3473133"/>
            <a:ext cx="5246687" cy="3683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en-US" b="1" dirty="0">
                <a:solidFill>
                  <a:srgbClr val="000099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The corresponding total current is: </a:t>
            </a:r>
            <a:r>
              <a:rPr lang="zh-CN" altLang="en-US" b="1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                             </a:t>
            </a:r>
            <a:endParaRPr lang="zh-CN" altLang="en-US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4375" name="对象 11"/>
          <p:cNvGraphicFramePr/>
          <p:nvPr/>
        </p:nvGraphicFramePr>
        <p:xfrm>
          <a:off x="5552440" y="3369945"/>
          <a:ext cx="1464310" cy="613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9" imgW="787400" imgH="316865" progId="Equation.DSMT4">
                  <p:embed/>
                </p:oleObj>
              </mc:Choice>
              <mc:Fallback>
                <p:oleObj name="" r:id="rId9" imgW="787400" imgH="316865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52440" y="3369945"/>
                        <a:ext cx="1464310" cy="6134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8" name="组合 10248"/>
          <p:cNvGrpSpPr/>
          <p:nvPr/>
        </p:nvGrpSpPr>
        <p:grpSpPr>
          <a:xfrm>
            <a:off x="1139825" y="3954780"/>
            <a:ext cx="3311525" cy="2592388"/>
            <a:chOff x="3560" y="436"/>
            <a:chExt cx="2086" cy="1633"/>
          </a:xfrm>
        </p:grpSpPr>
        <p:sp>
          <p:nvSpPr>
            <p:cNvPr id="15369" name="矩形 10249"/>
            <p:cNvSpPr/>
            <p:nvPr/>
          </p:nvSpPr>
          <p:spPr>
            <a:xfrm>
              <a:off x="3560" y="436"/>
              <a:ext cx="2086" cy="16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endParaRPr lang="zh-CN" altLang="en-US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grpSp>
          <p:nvGrpSpPr>
            <p:cNvPr id="15370" name="组合 10250"/>
            <p:cNvGrpSpPr/>
            <p:nvPr/>
          </p:nvGrpSpPr>
          <p:grpSpPr>
            <a:xfrm>
              <a:off x="3698" y="513"/>
              <a:ext cx="1860" cy="1421"/>
              <a:chOff x="793" y="1692"/>
              <a:chExt cx="1860" cy="1421"/>
            </a:xfrm>
          </p:grpSpPr>
          <p:sp>
            <p:nvSpPr>
              <p:cNvPr id="15371" name="平行四边形 10251"/>
              <p:cNvSpPr/>
              <p:nvPr/>
            </p:nvSpPr>
            <p:spPr>
              <a:xfrm rot="712297">
                <a:off x="922" y="2212"/>
                <a:ext cx="935" cy="384"/>
              </a:xfrm>
              <a:prstGeom prst="parallelogram">
                <a:avLst>
                  <a:gd name="adj" fmla="val 60872"/>
                </a:avLst>
              </a:prstGeom>
              <a:solidFill>
                <a:srgbClr val="EAEAEA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15372" name="平行四边形 10252"/>
              <p:cNvSpPr/>
              <p:nvPr/>
            </p:nvSpPr>
            <p:spPr>
              <a:xfrm rot="1733871">
                <a:off x="1221" y="1972"/>
                <a:ext cx="799" cy="384"/>
              </a:xfrm>
              <a:prstGeom prst="parallelogram">
                <a:avLst>
                  <a:gd name="adj" fmla="val 52018"/>
                </a:avLst>
              </a:prstGeom>
              <a:solidFill>
                <a:srgbClr val="EAEAEA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15373" name="平行四边形 10253"/>
              <p:cNvSpPr/>
              <p:nvPr/>
            </p:nvSpPr>
            <p:spPr>
              <a:xfrm rot="3018857">
                <a:off x="1604" y="1883"/>
                <a:ext cx="642" cy="354"/>
              </a:xfrm>
              <a:prstGeom prst="parallelogram">
                <a:avLst>
                  <a:gd name="adj" fmla="val 45338"/>
                </a:avLst>
              </a:prstGeom>
              <a:solidFill>
                <a:srgbClr val="EAEAEA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15374" name="等腰三角形 10254"/>
              <p:cNvSpPr/>
              <p:nvPr/>
            </p:nvSpPr>
            <p:spPr>
              <a:xfrm rot="-9845546">
                <a:off x="1885" y="1929"/>
                <a:ext cx="705" cy="272"/>
              </a:xfrm>
              <a:prstGeom prst="triangle">
                <a:avLst>
                  <a:gd name="adj" fmla="val 50000"/>
                </a:avLst>
              </a:prstGeom>
              <a:solidFill>
                <a:srgbClr val="EAEAEA"/>
              </a:solidFill>
              <a:ln w="9525">
                <a:noFill/>
              </a:ln>
            </p:spPr>
            <p:txBody>
              <a:bodyPr anchor="t" anchorCtr="0"/>
              <a:p>
                <a:endParaRPr lang="zh-CN" altLang="en-US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15375" name="任意多边形 10255"/>
              <p:cNvSpPr/>
              <p:nvPr/>
            </p:nvSpPr>
            <p:spPr>
              <a:xfrm rot="350794">
                <a:off x="1865" y="1886"/>
                <a:ext cx="765" cy="119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44" y="3"/>
                  </a:cxn>
                  <a:cxn ang="0">
                    <a:pos x="104" y="22"/>
                  </a:cxn>
                </a:cxnLst>
                <a:pathLst>
                  <a:path w="1260" h="182">
                    <a:moveTo>
                      <a:pt x="0" y="26"/>
                    </a:moveTo>
                    <a:cubicBezTo>
                      <a:pt x="165" y="13"/>
                      <a:pt x="330" y="0"/>
                      <a:pt x="540" y="26"/>
                    </a:cubicBezTo>
                    <a:cubicBezTo>
                      <a:pt x="750" y="52"/>
                      <a:pt x="1140" y="156"/>
                      <a:pt x="1260" y="182"/>
                    </a:cubicBezTo>
                  </a:path>
                </a:pathLst>
              </a:custGeom>
              <a:noFill/>
              <a:ln w="28575" cap="flat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76" name="任意多边形 10256"/>
              <p:cNvSpPr/>
              <p:nvPr/>
            </p:nvSpPr>
            <p:spPr>
              <a:xfrm rot="-263685">
                <a:off x="814" y="2542"/>
                <a:ext cx="765" cy="119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44" y="3"/>
                  </a:cxn>
                  <a:cxn ang="0">
                    <a:pos x="104" y="22"/>
                  </a:cxn>
                </a:cxnLst>
                <a:pathLst>
                  <a:path w="1260" h="182">
                    <a:moveTo>
                      <a:pt x="0" y="26"/>
                    </a:moveTo>
                    <a:cubicBezTo>
                      <a:pt x="165" y="13"/>
                      <a:pt x="330" y="0"/>
                      <a:pt x="540" y="26"/>
                    </a:cubicBezTo>
                    <a:cubicBezTo>
                      <a:pt x="750" y="52"/>
                      <a:pt x="1140" y="156"/>
                      <a:pt x="1260" y="182"/>
                    </a:cubicBezTo>
                  </a:path>
                </a:pathLst>
              </a:custGeom>
              <a:noFill/>
              <a:ln w="28575" cap="flat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77" name="任意多边形 10257"/>
              <p:cNvSpPr/>
              <p:nvPr/>
            </p:nvSpPr>
            <p:spPr>
              <a:xfrm rot="-263685">
                <a:off x="852" y="2506"/>
                <a:ext cx="763" cy="121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44" y="3"/>
                  </a:cxn>
                  <a:cxn ang="0">
                    <a:pos x="103" y="23"/>
                  </a:cxn>
                </a:cxnLst>
                <a:pathLst>
                  <a:path w="1260" h="182">
                    <a:moveTo>
                      <a:pt x="0" y="26"/>
                    </a:moveTo>
                    <a:cubicBezTo>
                      <a:pt x="165" y="13"/>
                      <a:pt x="330" y="0"/>
                      <a:pt x="540" y="26"/>
                    </a:cubicBezTo>
                    <a:cubicBezTo>
                      <a:pt x="750" y="52"/>
                      <a:pt x="1140" y="156"/>
                      <a:pt x="1260" y="182"/>
                    </a:cubicBezTo>
                  </a:path>
                </a:pathLst>
              </a:custGeom>
              <a:noFill/>
              <a:ln w="44450" cap="flat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78" name="任意多边形 10258"/>
              <p:cNvSpPr/>
              <p:nvPr/>
            </p:nvSpPr>
            <p:spPr>
              <a:xfrm rot="-263685">
                <a:off x="876" y="2472"/>
                <a:ext cx="765" cy="119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44" y="3"/>
                  </a:cxn>
                  <a:cxn ang="0">
                    <a:pos x="104" y="22"/>
                  </a:cxn>
                </a:cxnLst>
                <a:pathLst>
                  <a:path w="1260" h="182">
                    <a:moveTo>
                      <a:pt x="0" y="26"/>
                    </a:moveTo>
                    <a:cubicBezTo>
                      <a:pt x="165" y="13"/>
                      <a:pt x="330" y="0"/>
                      <a:pt x="540" y="26"/>
                    </a:cubicBezTo>
                    <a:cubicBezTo>
                      <a:pt x="750" y="52"/>
                      <a:pt x="1140" y="156"/>
                      <a:pt x="1260" y="182"/>
                    </a:cubicBezTo>
                  </a:path>
                </a:pathLst>
              </a:custGeom>
              <a:noFill/>
              <a:ln w="28575" cap="flat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79" name="文本框 10259"/>
              <p:cNvSpPr txBox="1"/>
              <p:nvPr/>
            </p:nvSpPr>
            <p:spPr>
              <a:xfrm>
                <a:off x="1122" y="2922"/>
                <a:ext cx="1366" cy="1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 algn="ctr">
                  <a:spcBef>
                    <a:spcPct val="15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Surface current</a:t>
                </a:r>
                <a:endPara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80" name="任意多边形 10260"/>
              <p:cNvSpPr/>
              <p:nvPr/>
            </p:nvSpPr>
            <p:spPr>
              <a:xfrm rot="662350">
                <a:off x="922" y="1733"/>
                <a:ext cx="874" cy="923"/>
              </a:xfrm>
              <a:custGeom>
                <a:avLst/>
                <a:gdLst/>
                <a:ahLst/>
                <a:cxnLst>
                  <a:cxn ang="0">
                    <a:pos x="0" y="172"/>
                  </a:cxn>
                  <a:cxn ang="0">
                    <a:pos x="44" y="77"/>
                  </a:cxn>
                  <a:cxn ang="0">
                    <a:pos x="118" y="0"/>
                  </a:cxn>
                </a:cxnLst>
                <a:pathLst>
                  <a:path w="1440" h="1404">
                    <a:moveTo>
                      <a:pt x="0" y="1404"/>
                    </a:moveTo>
                    <a:cubicBezTo>
                      <a:pt x="150" y="1131"/>
                      <a:pt x="300" y="858"/>
                      <a:pt x="540" y="624"/>
                    </a:cubicBezTo>
                    <a:cubicBezTo>
                      <a:pt x="780" y="390"/>
                      <a:pt x="1290" y="104"/>
                      <a:pt x="1440" y="0"/>
                    </a:cubicBezTo>
                  </a:path>
                </a:pathLst>
              </a:custGeom>
              <a:noFill/>
              <a:ln w="34925" cap="flat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81" name="任意多边形 10261"/>
              <p:cNvSpPr/>
              <p:nvPr/>
            </p:nvSpPr>
            <p:spPr>
              <a:xfrm rot="-4591045" flipH="1">
                <a:off x="842" y="1741"/>
                <a:ext cx="947" cy="852"/>
              </a:xfrm>
              <a:custGeom>
                <a:avLst/>
                <a:gdLst/>
                <a:ahLst/>
                <a:cxnLst>
                  <a:cxn ang="0">
                    <a:pos x="0" y="116"/>
                  </a:cxn>
                  <a:cxn ang="0">
                    <a:pos x="66" y="52"/>
                  </a:cxn>
                  <a:cxn ang="0">
                    <a:pos x="178" y="0"/>
                  </a:cxn>
                </a:cxnLst>
                <a:pathLst>
                  <a:path w="1440" h="1404">
                    <a:moveTo>
                      <a:pt x="0" y="1404"/>
                    </a:moveTo>
                    <a:cubicBezTo>
                      <a:pt x="150" y="1131"/>
                      <a:pt x="300" y="858"/>
                      <a:pt x="540" y="624"/>
                    </a:cubicBezTo>
                    <a:cubicBezTo>
                      <a:pt x="780" y="390"/>
                      <a:pt x="1290" y="104"/>
                      <a:pt x="1440" y="0"/>
                    </a:cubicBezTo>
                  </a:path>
                </a:pathLst>
              </a:custGeom>
              <a:solidFill>
                <a:srgbClr val="EAEAEA"/>
              </a:solidFill>
              <a:ln w="41275" cap="flat" cmpd="sng">
                <a:solidFill>
                  <a:srgbClr val="EAEAEA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82" name="任意多边形 10262"/>
              <p:cNvSpPr/>
              <p:nvPr/>
            </p:nvSpPr>
            <p:spPr>
              <a:xfrm rot="-4591045" flipH="1">
                <a:off x="835" y="1739"/>
                <a:ext cx="947" cy="852"/>
              </a:xfrm>
              <a:custGeom>
                <a:avLst/>
                <a:gdLst/>
                <a:ahLst/>
                <a:cxnLst>
                  <a:cxn ang="0">
                    <a:pos x="0" y="116"/>
                  </a:cxn>
                  <a:cxn ang="0">
                    <a:pos x="66" y="52"/>
                  </a:cxn>
                  <a:cxn ang="0">
                    <a:pos x="178" y="0"/>
                  </a:cxn>
                </a:cxnLst>
                <a:pathLst>
                  <a:path w="1440" h="1404">
                    <a:moveTo>
                      <a:pt x="0" y="1404"/>
                    </a:moveTo>
                    <a:cubicBezTo>
                      <a:pt x="150" y="1131"/>
                      <a:pt x="300" y="858"/>
                      <a:pt x="540" y="624"/>
                    </a:cubicBezTo>
                    <a:cubicBezTo>
                      <a:pt x="780" y="390"/>
                      <a:pt x="1290" y="104"/>
                      <a:pt x="1440" y="0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83" name="任意多边形 10263"/>
              <p:cNvSpPr/>
              <p:nvPr/>
            </p:nvSpPr>
            <p:spPr>
              <a:xfrm rot="1043917">
                <a:off x="1669" y="1902"/>
                <a:ext cx="874" cy="921"/>
              </a:xfrm>
              <a:custGeom>
                <a:avLst/>
                <a:gdLst/>
                <a:ahLst/>
                <a:cxnLst>
                  <a:cxn ang="0">
                    <a:pos x="0" y="171"/>
                  </a:cxn>
                  <a:cxn ang="0">
                    <a:pos x="44" y="75"/>
                  </a:cxn>
                  <a:cxn ang="0">
                    <a:pos x="118" y="0"/>
                  </a:cxn>
                </a:cxnLst>
                <a:pathLst>
                  <a:path w="1440" h="1404">
                    <a:moveTo>
                      <a:pt x="0" y="1404"/>
                    </a:moveTo>
                    <a:cubicBezTo>
                      <a:pt x="150" y="1131"/>
                      <a:pt x="300" y="858"/>
                      <a:pt x="540" y="624"/>
                    </a:cubicBezTo>
                    <a:cubicBezTo>
                      <a:pt x="780" y="390"/>
                      <a:pt x="1290" y="104"/>
                      <a:pt x="1440" y="0"/>
                    </a:cubicBezTo>
                  </a:path>
                </a:pathLst>
              </a:custGeom>
              <a:noFill/>
              <a:ln w="31750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84" name="任意多边形 10264"/>
              <p:cNvSpPr/>
              <p:nvPr/>
            </p:nvSpPr>
            <p:spPr>
              <a:xfrm rot="-167156">
                <a:off x="799" y="2560"/>
                <a:ext cx="764" cy="119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44" y="3"/>
                  </a:cxn>
                  <a:cxn ang="0">
                    <a:pos x="103" y="22"/>
                  </a:cxn>
                </a:cxnLst>
                <a:pathLst>
                  <a:path w="1260" h="182">
                    <a:moveTo>
                      <a:pt x="0" y="26"/>
                    </a:moveTo>
                    <a:cubicBezTo>
                      <a:pt x="165" y="13"/>
                      <a:pt x="330" y="0"/>
                      <a:pt x="540" y="26"/>
                    </a:cubicBezTo>
                    <a:cubicBezTo>
                      <a:pt x="750" y="52"/>
                      <a:pt x="1140" y="156"/>
                      <a:pt x="1260" y="182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85" name="直接连接符 10265"/>
              <p:cNvSpPr/>
              <p:nvPr/>
            </p:nvSpPr>
            <p:spPr>
              <a:xfrm rot="-10329977">
                <a:off x="793" y="2562"/>
                <a:ext cx="0" cy="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86" name="直接连接符 10266"/>
              <p:cNvSpPr/>
              <p:nvPr/>
            </p:nvSpPr>
            <p:spPr>
              <a:xfrm rot="-10329977">
                <a:off x="2636" y="2043"/>
                <a:ext cx="2" cy="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87" name="直接连接符 10267"/>
              <p:cNvSpPr/>
              <p:nvPr/>
            </p:nvSpPr>
            <p:spPr>
              <a:xfrm rot="-10530386">
                <a:off x="1554" y="2637"/>
                <a:ext cx="1" cy="3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88" name="任意多边形 10268"/>
              <p:cNvSpPr/>
              <p:nvPr/>
            </p:nvSpPr>
            <p:spPr>
              <a:xfrm rot="-167156">
                <a:off x="806" y="2560"/>
                <a:ext cx="764" cy="119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44" y="3"/>
                  </a:cxn>
                  <a:cxn ang="0">
                    <a:pos x="103" y="22"/>
                  </a:cxn>
                </a:cxnLst>
                <a:pathLst>
                  <a:path w="1260" h="182">
                    <a:moveTo>
                      <a:pt x="0" y="26"/>
                    </a:moveTo>
                    <a:cubicBezTo>
                      <a:pt x="165" y="13"/>
                      <a:pt x="330" y="0"/>
                      <a:pt x="540" y="26"/>
                    </a:cubicBezTo>
                    <a:cubicBezTo>
                      <a:pt x="750" y="52"/>
                      <a:pt x="1140" y="156"/>
                      <a:pt x="1260" y="182"/>
                    </a:cubicBezTo>
                  </a:path>
                </a:pathLst>
              </a:custGeom>
              <a:noFill/>
              <a:ln w="28575" cap="flat" cmpd="sng">
                <a:solidFill>
                  <a:srgbClr val="B2B2B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89" name="任意多边形 10269"/>
              <p:cNvSpPr/>
              <p:nvPr/>
            </p:nvSpPr>
            <p:spPr>
              <a:xfrm rot="-167156">
                <a:off x="806" y="2578"/>
                <a:ext cx="765" cy="119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44" y="3"/>
                  </a:cxn>
                  <a:cxn ang="0">
                    <a:pos x="104" y="22"/>
                  </a:cxn>
                </a:cxnLst>
                <a:pathLst>
                  <a:path w="1260" h="182">
                    <a:moveTo>
                      <a:pt x="0" y="26"/>
                    </a:moveTo>
                    <a:cubicBezTo>
                      <a:pt x="165" y="13"/>
                      <a:pt x="330" y="0"/>
                      <a:pt x="540" y="26"/>
                    </a:cubicBezTo>
                    <a:cubicBezTo>
                      <a:pt x="750" y="52"/>
                      <a:pt x="1140" y="156"/>
                      <a:pt x="1260" y="182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90" name="任意多边形 10270"/>
              <p:cNvSpPr/>
              <p:nvPr/>
            </p:nvSpPr>
            <p:spPr>
              <a:xfrm rot="-167156">
                <a:off x="805" y="2550"/>
                <a:ext cx="765" cy="119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44" y="3"/>
                  </a:cxn>
                  <a:cxn ang="0">
                    <a:pos x="104" y="22"/>
                  </a:cxn>
                </a:cxnLst>
                <a:pathLst>
                  <a:path w="1260" h="182">
                    <a:moveTo>
                      <a:pt x="0" y="26"/>
                    </a:moveTo>
                    <a:cubicBezTo>
                      <a:pt x="165" y="13"/>
                      <a:pt x="330" y="0"/>
                      <a:pt x="540" y="26"/>
                    </a:cubicBezTo>
                    <a:cubicBezTo>
                      <a:pt x="750" y="52"/>
                      <a:pt x="1140" y="156"/>
                      <a:pt x="1260" y="182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91" name="任意多边形 10271"/>
              <p:cNvSpPr/>
              <p:nvPr/>
            </p:nvSpPr>
            <p:spPr>
              <a:xfrm>
                <a:off x="1550" y="2040"/>
                <a:ext cx="1074" cy="609"/>
              </a:xfrm>
              <a:custGeom>
                <a:avLst/>
                <a:gdLst/>
                <a:ahLst/>
                <a:cxnLst>
                  <a:cxn ang="0">
                    <a:pos x="0" y="609"/>
                  </a:cxn>
                  <a:cxn ang="0">
                    <a:pos x="466" y="218"/>
                  </a:cxn>
                  <a:cxn ang="0">
                    <a:pos x="1074" y="0"/>
                  </a:cxn>
                </a:cxnLst>
                <a:pathLst>
                  <a:path w="1074" h="609">
                    <a:moveTo>
                      <a:pt x="0" y="609"/>
                    </a:moveTo>
                    <a:cubicBezTo>
                      <a:pt x="140" y="465"/>
                      <a:pt x="287" y="320"/>
                      <a:pt x="466" y="218"/>
                    </a:cubicBezTo>
                    <a:cubicBezTo>
                      <a:pt x="645" y="116"/>
                      <a:pt x="947" y="45"/>
                      <a:pt x="1074" y="0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92" name="任意多边形 10272"/>
              <p:cNvSpPr/>
              <p:nvPr/>
            </p:nvSpPr>
            <p:spPr>
              <a:xfrm rot="1043917">
                <a:off x="1674" y="1927"/>
                <a:ext cx="839" cy="894"/>
              </a:xfrm>
              <a:custGeom>
                <a:avLst/>
                <a:gdLst/>
                <a:ahLst/>
                <a:cxnLst>
                  <a:cxn ang="0">
                    <a:pos x="0" y="147"/>
                  </a:cxn>
                  <a:cxn ang="0">
                    <a:pos x="36" y="66"/>
                  </a:cxn>
                  <a:cxn ang="0">
                    <a:pos x="97" y="0"/>
                  </a:cxn>
                </a:cxnLst>
                <a:pathLst>
                  <a:path w="1440" h="1404">
                    <a:moveTo>
                      <a:pt x="0" y="1404"/>
                    </a:moveTo>
                    <a:cubicBezTo>
                      <a:pt x="150" y="1131"/>
                      <a:pt x="300" y="858"/>
                      <a:pt x="540" y="624"/>
                    </a:cubicBezTo>
                    <a:cubicBezTo>
                      <a:pt x="780" y="390"/>
                      <a:pt x="1290" y="104"/>
                      <a:pt x="1440" y="0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93" name="任意多边形 10273"/>
              <p:cNvSpPr/>
              <p:nvPr/>
            </p:nvSpPr>
            <p:spPr>
              <a:xfrm rot="-3300000" flipH="1">
                <a:off x="1316" y="2058"/>
                <a:ext cx="999" cy="499"/>
              </a:xfrm>
              <a:custGeom>
                <a:avLst/>
                <a:gdLst/>
                <a:ahLst/>
                <a:cxnLst>
                  <a:cxn ang="0">
                    <a:pos x="0" y="84"/>
                  </a:cxn>
                  <a:cxn ang="0">
                    <a:pos x="87" y="33"/>
                  </a:cxn>
                  <a:cxn ang="0">
                    <a:pos x="232" y="0"/>
                  </a:cxn>
                </a:cxnLst>
                <a:pathLst>
                  <a:path w="1440" h="780">
                    <a:moveTo>
                      <a:pt x="0" y="780"/>
                    </a:moveTo>
                    <a:cubicBezTo>
                      <a:pt x="150" y="611"/>
                      <a:pt x="300" y="442"/>
                      <a:pt x="540" y="312"/>
                    </a:cubicBezTo>
                    <a:cubicBezTo>
                      <a:pt x="780" y="182"/>
                      <a:pt x="1290" y="52"/>
                      <a:pt x="1440" y="0"/>
                    </a:cubicBezTo>
                  </a:path>
                </a:pathLst>
              </a:custGeom>
              <a:noFill/>
              <a:ln w="22225" cap="flat" cmpd="sng">
                <a:solidFill>
                  <a:srgbClr val="000000"/>
                </a:solidFill>
                <a:prstDash val="solid"/>
                <a:round/>
                <a:headEnd type="stealth" w="sm" len="lg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94" name="任意多边形 10274"/>
              <p:cNvSpPr/>
              <p:nvPr/>
            </p:nvSpPr>
            <p:spPr>
              <a:xfrm rot="7204025" flipV="1">
                <a:off x="1102" y="2025"/>
                <a:ext cx="937" cy="482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62" y="28"/>
                  </a:cxn>
                  <a:cxn ang="0">
                    <a:pos x="168" y="0"/>
                  </a:cxn>
                </a:cxnLst>
                <a:pathLst>
                  <a:path w="1440" h="780">
                    <a:moveTo>
                      <a:pt x="0" y="780"/>
                    </a:moveTo>
                    <a:cubicBezTo>
                      <a:pt x="150" y="611"/>
                      <a:pt x="300" y="442"/>
                      <a:pt x="540" y="312"/>
                    </a:cubicBezTo>
                    <a:cubicBezTo>
                      <a:pt x="780" y="182"/>
                      <a:pt x="1290" y="52"/>
                      <a:pt x="1440" y="0"/>
                    </a:cubicBezTo>
                  </a:path>
                </a:pathLst>
              </a:custGeom>
              <a:noFill/>
              <a:ln w="22225" cap="flat" cmpd="sng">
                <a:solidFill>
                  <a:srgbClr val="000000"/>
                </a:solidFill>
                <a:prstDash val="solid"/>
                <a:round/>
                <a:headEnd type="stealth" w="sm" len="lg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95" name="任意多边形 10275"/>
              <p:cNvSpPr/>
              <p:nvPr/>
            </p:nvSpPr>
            <p:spPr>
              <a:xfrm rot="6960000" flipV="1">
                <a:off x="914" y="1999"/>
                <a:ext cx="936" cy="484"/>
              </a:xfrm>
              <a:custGeom>
                <a:avLst/>
                <a:gdLst/>
                <a:ahLst/>
                <a:cxnLst>
                  <a:cxn ang="0">
                    <a:pos x="0" y="71"/>
                  </a:cxn>
                  <a:cxn ang="0">
                    <a:pos x="62" y="29"/>
                  </a:cxn>
                  <a:cxn ang="0">
                    <a:pos x="167" y="0"/>
                  </a:cxn>
                </a:cxnLst>
                <a:pathLst>
                  <a:path w="1440" h="780">
                    <a:moveTo>
                      <a:pt x="0" y="780"/>
                    </a:moveTo>
                    <a:cubicBezTo>
                      <a:pt x="150" y="611"/>
                      <a:pt x="300" y="442"/>
                      <a:pt x="540" y="312"/>
                    </a:cubicBezTo>
                    <a:cubicBezTo>
                      <a:pt x="780" y="182"/>
                      <a:pt x="1290" y="52"/>
                      <a:pt x="1440" y="0"/>
                    </a:cubicBezTo>
                  </a:path>
                </a:pathLst>
              </a:custGeom>
              <a:noFill/>
              <a:ln w="22225" cap="flat" cmpd="sng">
                <a:solidFill>
                  <a:srgbClr val="000000"/>
                </a:solidFill>
                <a:prstDash val="solid"/>
                <a:round/>
                <a:headEnd type="stealth" w="sm" len="lg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396" name="直接连接符 10276"/>
              <p:cNvSpPr/>
              <p:nvPr/>
            </p:nvSpPr>
            <p:spPr>
              <a:xfrm rot="401009">
                <a:off x="1001" y="2681"/>
                <a:ext cx="277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stealth" w="sm" len="sm"/>
                <a:tailEnd type="stealth" w="sm" len="sm"/>
              </a:ln>
            </p:spPr>
          </p:sp>
          <p:sp>
            <p:nvSpPr>
              <p:cNvPr id="15397" name="直接连接符 10277"/>
              <p:cNvSpPr/>
              <p:nvPr/>
            </p:nvSpPr>
            <p:spPr>
              <a:xfrm rot="2206631">
                <a:off x="1239" y="2653"/>
                <a:ext cx="76" cy="11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98" name="直接连接符 10278"/>
              <p:cNvSpPr/>
              <p:nvPr/>
            </p:nvSpPr>
            <p:spPr>
              <a:xfrm>
                <a:off x="1720" y="2356"/>
                <a:ext cx="0" cy="13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stealth" w="sm" len="lg"/>
              </a:ln>
            </p:spPr>
          </p:sp>
          <p:sp>
            <p:nvSpPr>
              <p:cNvPr id="15399" name="直接连接符 10279"/>
              <p:cNvSpPr/>
              <p:nvPr/>
            </p:nvSpPr>
            <p:spPr>
              <a:xfrm>
                <a:off x="1720" y="2531"/>
                <a:ext cx="0" cy="137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dash"/>
                <a:round/>
                <a:headEnd type="stealth" w="sm" len="lg"/>
                <a:tailEnd type="none" w="med" len="med"/>
              </a:ln>
            </p:spPr>
          </p:sp>
          <p:sp>
            <p:nvSpPr>
              <p:cNvPr id="15400" name="任意多边形 10280"/>
              <p:cNvSpPr/>
              <p:nvPr/>
            </p:nvSpPr>
            <p:spPr>
              <a:xfrm>
                <a:off x="1840" y="1799"/>
                <a:ext cx="813" cy="270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43" y="6"/>
                  </a:cxn>
                  <a:cxn ang="0">
                    <a:pos x="84" y="36"/>
                  </a:cxn>
                  <a:cxn ang="0">
                    <a:pos x="154" y="44"/>
                  </a:cxn>
                  <a:cxn ang="0">
                    <a:pos x="202" y="60"/>
                  </a:cxn>
                  <a:cxn ang="0">
                    <a:pos x="244" y="83"/>
                  </a:cxn>
                  <a:cxn ang="0">
                    <a:pos x="348" y="90"/>
                  </a:cxn>
                  <a:cxn ang="0">
                    <a:pos x="521" y="144"/>
                  </a:cxn>
                  <a:cxn ang="0">
                    <a:pos x="563" y="167"/>
                  </a:cxn>
                  <a:cxn ang="0">
                    <a:pos x="653" y="190"/>
                  </a:cxn>
                  <a:cxn ang="0">
                    <a:pos x="715" y="214"/>
                  </a:cxn>
                  <a:cxn ang="0">
                    <a:pos x="777" y="252"/>
                  </a:cxn>
                  <a:cxn ang="0">
                    <a:pos x="792" y="249"/>
                  </a:cxn>
                  <a:cxn ang="0">
                    <a:pos x="812" y="267"/>
                  </a:cxn>
                  <a:cxn ang="0">
                    <a:pos x="805" y="267"/>
                  </a:cxn>
                </a:cxnLst>
                <a:pathLst>
                  <a:path w="813" h="270">
                    <a:moveTo>
                      <a:pt x="0" y="9"/>
                    </a:moveTo>
                    <a:cubicBezTo>
                      <a:pt x="12" y="12"/>
                      <a:pt x="32" y="0"/>
                      <a:pt x="43" y="6"/>
                    </a:cubicBezTo>
                    <a:cubicBezTo>
                      <a:pt x="58" y="13"/>
                      <a:pt x="68" y="34"/>
                      <a:pt x="84" y="36"/>
                    </a:cubicBezTo>
                    <a:cubicBezTo>
                      <a:pt x="107" y="39"/>
                      <a:pt x="130" y="42"/>
                      <a:pt x="154" y="44"/>
                    </a:cubicBezTo>
                    <a:cubicBezTo>
                      <a:pt x="162" y="47"/>
                      <a:pt x="192" y="54"/>
                      <a:pt x="202" y="60"/>
                    </a:cubicBezTo>
                    <a:cubicBezTo>
                      <a:pt x="222" y="70"/>
                      <a:pt x="221" y="80"/>
                      <a:pt x="244" y="83"/>
                    </a:cubicBezTo>
                    <a:cubicBezTo>
                      <a:pt x="278" y="87"/>
                      <a:pt x="313" y="88"/>
                      <a:pt x="348" y="90"/>
                    </a:cubicBezTo>
                    <a:cubicBezTo>
                      <a:pt x="405" y="111"/>
                      <a:pt x="463" y="126"/>
                      <a:pt x="521" y="144"/>
                    </a:cubicBezTo>
                    <a:cubicBezTo>
                      <a:pt x="574" y="161"/>
                      <a:pt x="508" y="140"/>
                      <a:pt x="563" y="167"/>
                    </a:cubicBezTo>
                    <a:cubicBezTo>
                      <a:pt x="599" y="185"/>
                      <a:pt x="613" y="184"/>
                      <a:pt x="653" y="190"/>
                    </a:cubicBezTo>
                    <a:cubicBezTo>
                      <a:pt x="673" y="198"/>
                      <a:pt x="697" y="200"/>
                      <a:pt x="715" y="214"/>
                    </a:cubicBezTo>
                    <a:cubicBezTo>
                      <a:pt x="763" y="249"/>
                      <a:pt x="741" y="239"/>
                      <a:pt x="777" y="252"/>
                    </a:cubicBezTo>
                    <a:cubicBezTo>
                      <a:pt x="784" y="249"/>
                      <a:pt x="785" y="246"/>
                      <a:pt x="792" y="249"/>
                    </a:cubicBezTo>
                    <a:cubicBezTo>
                      <a:pt x="800" y="253"/>
                      <a:pt x="809" y="259"/>
                      <a:pt x="812" y="267"/>
                    </a:cubicBezTo>
                    <a:cubicBezTo>
                      <a:pt x="813" y="270"/>
                      <a:pt x="807" y="267"/>
                      <a:pt x="805" y="267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5401" name="矩形标注 10281"/>
              <p:cNvSpPr/>
              <p:nvPr/>
            </p:nvSpPr>
            <p:spPr>
              <a:xfrm>
                <a:off x="1882" y="2614"/>
                <a:ext cx="535" cy="272"/>
              </a:xfrm>
              <a:prstGeom prst="wedgeRectCallout">
                <a:avLst>
                  <a:gd name="adj1" fmla="val -78972"/>
                  <a:gd name="adj2" fmla="val -85662"/>
                </a:avLst>
              </a:prstGeom>
              <a:noFill/>
              <a:ln w="9525" cap="flat" cmpd="sng">
                <a:solidFill>
                  <a:srgbClr val="FF0000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pPr algn="just">
                  <a:spcBef>
                    <a:spcPct val="15000"/>
                  </a:spcBef>
                </a:pPr>
                <a:r>
                  <a:rPr lang="en-US" altLang="zh-CN" sz="100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r>
                  <a:rPr lang="en-US" altLang="zh-CN" sz="1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 0</a:t>
                </a:r>
                <a:endParaRPr lang="en-US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15402" name="文本框 10282"/>
              <p:cNvSpPr txBox="1"/>
              <p:nvPr/>
            </p:nvSpPr>
            <p:spPr>
              <a:xfrm>
                <a:off x="1826" y="1742"/>
                <a:ext cx="279" cy="30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p>
                <a:pPr>
                  <a:spcBef>
                    <a:spcPct val="15000"/>
                  </a:spcBef>
                </a:pPr>
                <a:endParaRPr lang="zh-CN" altLang="zh-CN" sz="2800" dirty="0">
                  <a:solidFill>
                    <a:schemeClr val="bg1"/>
                  </a:solidFill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15403" name="直接连接符 10283"/>
              <p:cNvSpPr/>
              <p:nvPr/>
            </p:nvSpPr>
            <p:spPr>
              <a:xfrm rot="2206631">
                <a:off x="958" y="2624"/>
                <a:ext cx="77" cy="11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404" name="直接连接符 10284"/>
              <p:cNvSpPr/>
              <p:nvPr/>
            </p:nvSpPr>
            <p:spPr>
              <a:xfrm flipV="1">
                <a:off x="1374" y="2024"/>
                <a:ext cx="327" cy="303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5405" name="直接连接符 10285"/>
              <p:cNvSpPr>
                <a:spLocks noChangeAspect="1"/>
              </p:cNvSpPr>
              <p:nvPr/>
            </p:nvSpPr>
            <p:spPr>
              <a:xfrm flipH="1" flipV="1">
                <a:off x="1244" y="1979"/>
                <a:ext cx="139" cy="340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15406" name="对象 10286"/>
              <p:cNvGraphicFramePr/>
              <p:nvPr/>
            </p:nvGraphicFramePr>
            <p:xfrm>
              <a:off x="1565" y="1753"/>
              <a:ext cx="251" cy="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1" name="" r:id="rId11" imgW="99060" imgH="176530" progId="Equation.DSMT4">
                      <p:embed/>
                    </p:oleObj>
                  </mc:Choice>
                  <mc:Fallback>
                    <p:oleObj name="" r:id="rId11" imgW="99060" imgH="176530" progId="Equation.DSMT4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CC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565" y="1753"/>
                            <a:ext cx="251" cy="36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407" name="对象 10287"/>
              <p:cNvGraphicFramePr/>
              <p:nvPr/>
            </p:nvGraphicFramePr>
            <p:xfrm>
              <a:off x="1156" y="1728"/>
              <a:ext cx="236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9" name="" r:id="rId13" imgW="121285" imgH="176530" progId="Equation.DSMT4">
                      <p:embed/>
                    </p:oleObj>
                  </mc:Choice>
                  <mc:Fallback>
                    <p:oleObj name="" r:id="rId13" imgW="121285" imgH="176530" progId="Equation.DSMT4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FF33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156" y="1728"/>
                            <a:ext cx="236" cy="31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7" name="对象 13"/>
          <p:cNvGraphicFramePr/>
          <p:nvPr/>
        </p:nvGraphicFramePr>
        <p:xfrm>
          <a:off x="3021965" y="5576570"/>
          <a:ext cx="914400" cy="354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5" imgW="508000" imgH="177165" progId="Equation.DSMT4">
                  <p:embed/>
                </p:oleObj>
              </mc:Choice>
              <mc:Fallback>
                <p:oleObj name="" r:id="rId15" imgW="508000" imgH="177165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21965" y="5576570"/>
                        <a:ext cx="914400" cy="3543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5"/>
          <p:cNvGraphicFramePr/>
          <p:nvPr/>
        </p:nvGraphicFramePr>
        <p:xfrm>
          <a:off x="3296920" y="4152900"/>
          <a:ext cx="321945" cy="56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17" imgW="177165" imgH="254000" progId="Equation.DSMT4">
                  <p:embed/>
                </p:oleObj>
              </mc:Choice>
              <mc:Fallback>
                <p:oleObj name="" r:id="rId17" imgW="177165" imgH="2540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96920" y="4152900"/>
                        <a:ext cx="321945" cy="5664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13"/>
          <p:cNvGraphicFramePr/>
          <p:nvPr/>
        </p:nvGraphicFramePr>
        <p:xfrm>
          <a:off x="1631950" y="5761990"/>
          <a:ext cx="374015" cy="330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19" imgW="190500" imgH="177165" progId="Equation.DSMT4">
                  <p:embed/>
                </p:oleObj>
              </mc:Choice>
              <mc:Fallback>
                <p:oleObj name="" r:id="rId19" imgW="190500" imgH="177165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631950" y="5761990"/>
                        <a:ext cx="374015" cy="330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4"/>
          <p:cNvSpPr txBox="1"/>
          <p:nvPr/>
        </p:nvSpPr>
        <p:spPr>
          <a:xfrm>
            <a:off x="4854893" y="4019233"/>
            <a:ext cx="5246687" cy="460375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. </a:t>
            </a:r>
            <a:r>
              <a:rPr lang="zh-CN" altLang="en-US" sz="2400" b="1" u="sng" dirty="0">
                <a:solidFill>
                  <a:srgbClr val="000099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lang="en-US" altLang="zh-CN" sz="2400" b="1" u="sng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Surface current</a:t>
            </a:r>
            <a:r>
              <a:rPr lang="zh-CN" altLang="en-US" b="1" u="sng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                             </a:t>
            </a:r>
            <a:endParaRPr lang="zh-CN" altLang="en-US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5363" name="对象 10243"/>
          <p:cNvGraphicFramePr/>
          <p:nvPr/>
        </p:nvGraphicFramePr>
        <p:xfrm>
          <a:off x="5357495" y="5026978"/>
          <a:ext cx="6121400" cy="490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1" imgW="2527300" imgH="254000" progId="Equation.DSMT4">
                  <p:embed/>
                </p:oleObj>
              </mc:Choice>
              <mc:Fallback>
                <p:oleObj name="" r:id="rId21" imgW="2527300" imgH="2540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57495" y="5026978"/>
                        <a:ext cx="6121400" cy="4902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对象 11266"/>
          <p:cNvGraphicFramePr/>
          <p:nvPr/>
        </p:nvGraphicFramePr>
        <p:xfrm>
          <a:off x="5357178" y="5623243"/>
          <a:ext cx="21145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23" imgW="881380" imgH="330200" progId="Equation.DSMT4">
                  <p:embed/>
                </p:oleObj>
              </mc:Choice>
              <mc:Fallback>
                <p:oleObj name="" r:id="rId23" imgW="881380" imgH="3302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57178" y="5623243"/>
                        <a:ext cx="2114550" cy="822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10243"/>
          <p:cNvGraphicFramePr/>
          <p:nvPr/>
        </p:nvGraphicFramePr>
        <p:xfrm>
          <a:off x="7841298" y="3817303"/>
          <a:ext cx="2707005" cy="783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25" imgW="1117600" imgH="405765" progId="Equation.DSMT4">
                  <p:embed/>
                </p:oleObj>
              </mc:Choice>
              <mc:Fallback>
                <p:oleObj name="" r:id="rId25" imgW="1117600" imgH="405765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841298" y="3817303"/>
                        <a:ext cx="2707005" cy="783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9"/>
          <p:cNvSpPr txBox="1"/>
          <p:nvPr/>
        </p:nvSpPr>
        <p:spPr>
          <a:xfrm>
            <a:off x="10621010" y="4131310"/>
            <a:ext cx="3460750" cy="36830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defTabSz="762000" eaLnBrk="0" hangingPunct="0">
              <a:spcBef>
                <a:spcPct val="50000"/>
              </a:spcBef>
              <a:buSzTx/>
            </a:pPr>
            <a:r>
              <a:rPr lang="en-US" altLang="zh-CN" b="1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Unit</a:t>
            </a:r>
            <a:r>
              <a:rPr lang="zh-CN" altLang="en-US" b="1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 b="1" dirty="0">
                <a:solidFill>
                  <a:srgbClr val="000099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A / m</a:t>
            </a:r>
            <a:r>
              <a:rPr lang="zh-CN" altLang="en-US" b="1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b="1" dirty="0">
              <a:solidFill>
                <a:srgbClr val="000099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337810" y="4601210"/>
            <a:ext cx="16725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discussion:</a:t>
            </a:r>
            <a:endParaRPr lang="en-US" altLang="zh-CN" sz="2000"/>
          </a:p>
        </p:txBody>
      </p:sp>
      <p:sp>
        <p:nvSpPr>
          <p:cNvPr id="31" name="Text Box 14"/>
          <p:cNvSpPr txBox="1"/>
          <p:nvPr/>
        </p:nvSpPr>
        <p:spPr>
          <a:xfrm>
            <a:off x="5082540" y="6397625"/>
            <a:ext cx="2668270" cy="460375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defTabSz="762000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.  </a:t>
            </a:r>
            <a:r>
              <a:rPr lang="en-US" altLang="zh-CN" sz="2400" b="1" u="sng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line current</a:t>
            </a:r>
            <a:r>
              <a:rPr lang="zh-CN" altLang="en-US" b="1" u="sng" dirty="0">
                <a:solidFill>
                  <a:srgbClr val="000099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                             </a:t>
            </a:r>
            <a:endParaRPr lang="zh-CN" altLang="en-US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32" name="对象 7"/>
          <p:cNvGraphicFramePr/>
          <p:nvPr/>
        </p:nvGraphicFramePr>
        <p:xfrm>
          <a:off x="7681595" y="6313805"/>
          <a:ext cx="1945640" cy="544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" r:id="rId27" imgW="965200" imgH="254000" progId="Equation.DSMT4">
                  <p:embed/>
                </p:oleObj>
              </mc:Choice>
              <mc:Fallback>
                <p:oleObj name="" r:id="rId27" imgW="965200" imgH="2540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681595" y="6313805"/>
                        <a:ext cx="1945640" cy="544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56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8409" grpId="0" bldLvl="0" animBg="1"/>
      <p:bldP spid="2" grpId="0" bldLvl="0" animBg="1"/>
      <p:bldP spid="565257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3602990" y="3858895"/>
            <a:ext cx="5585460" cy="1136015"/>
          </a:xfrm>
          <a:prstGeom prst="roundRect">
            <a:avLst/>
          </a:prstGeom>
          <a:solidFill>
            <a:schemeClr val="accent2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884594" y="1238275"/>
            <a:ext cx="9220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      </a:t>
            </a:r>
            <a:r>
              <a:rPr kumimoji="1" lang="en-US" altLang="en-US" sz="2400" b="1" dirty="0">
                <a:solidFill>
                  <a:srgbClr val="000000"/>
                </a:solidFill>
                <a:ea typeface="楷体_GB2312" pitchFamily="49" charset="-122"/>
              </a:rPr>
              <a:t>In</a:t>
            </a:r>
            <a:r>
              <a:rPr kumimoji="1" lang="en-US" altLang="en-US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en-US" sz="2400" b="1" dirty="0">
                <a:solidFill>
                  <a:srgbClr val="FF0000"/>
                </a:solidFill>
                <a:ea typeface="楷体_GB2312" pitchFamily="49" charset="-122"/>
              </a:rPr>
              <a:t>most</a:t>
            </a:r>
            <a:r>
              <a:rPr kumimoji="1" lang="en-US" altLang="en-US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en-US" sz="2400" b="1" dirty="0">
                <a:solidFill>
                  <a:srgbClr val="000000"/>
                </a:solidFill>
                <a:ea typeface="楷体_GB2312" pitchFamily="49" charset="-122"/>
              </a:rPr>
              <a:t>conducting media, the</a:t>
            </a:r>
            <a:r>
              <a:rPr kumimoji="1" lang="en-US" altLang="en-US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en-US" sz="2400" b="1" dirty="0">
                <a:solidFill>
                  <a:srgbClr val="FF0000"/>
                </a:solidFill>
                <a:ea typeface="楷体_GB2312" pitchFamily="49" charset="-122"/>
              </a:rPr>
              <a:t>conduction</a:t>
            </a:r>
            <a:r>
              <a:rPr kumimoji="1" lang="en-US" altLang="en-US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en-US" sz="2400" b="1" dirty="0">
                <a:solidFill>
                  <a:srgbClr val="000000"/>
                </a:solidFill>
                <a:ea typeface="楷体_GB2312" pitchFamily="49" charset="-122"/>
              </a:rPr>
              <a:t>current density </a:t>
            </a:r>
            <a:r>
              <a:rPr kumimoji="1" lang="en-US" altLang="zh-CN" sz="2400" b="1" i="1" dirty="0">
                <a:solidFill>
                  <a:srgbClr val="000000"/>
                </a:solidFill>
                <a:ea typeface="楷体_GB2312" pitchFamily="49" charset="-122"/>
              </a:rPr>
              <a:t>J</a:t>
            </a:r>
            <a:r>
              <a:rPr kumimoji="1" lang="en-US" altLang="en-US" sz="2400" b="1" dirty="0">
                <a:solidFill>
                  <a:srgbClr val="000000"/>
                </a:solidFill>
                <a:ea typeface="楷体_GB2312" pitchFamily="49" charset="-122"/>
              </a:rPr>
              <a:t> at a point is</a:t>
            </a:r>
            <a:r>
              <a:rPr kumimoji="1" lang="en-US" altLang="en-US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en-US" sz="2400" b="1" dirty="0">
                <a:solidFill>
                  <a:srgbClr val="FF0000"/>
                </a:solidFill>
                <a:ea typeface="楷体_GB2312" pitchFamily="49" charset="-122"/>
              </a:rPr>
              <a:t>proportional</a:t>
            </a:r>
            <a:r>
              <a:rPr kumimoji="1" lang="en-US" altLang="en-US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en-US" sz="2400" b="1" dirty="0">
                <a:solidFill>
                  <a:srgbClr val="000000"/>
                </a:solidFill>
                <a:ea typeface="楷体_GB2312" pitchFamily="49" charset="-122"/>
              </a:rPr>
              <a:t>to the electric field intensity </a:t>
            </a:r>
            <a:r>
              <a:rPr kumimoji="1" lang="en-US" altLang="zh-CN" sz="2400" b="1" i="1" dirty="0">
                <a:solidFill>
                  <a:srgbClr val="000000"/>
                </a:solidFill>
                <a:ea typeface="楷体_GB2312" pitchFamily="49" charset="-122"/>
              </a:rPr>
              <a:t>E</a:t>
            </a:r>
            <a:r>
              <a:rPr kumimoji="1" lang="en-US" altLang="en-US" sz="2400" b="1" dirty="0">
                <a:solidFill>
                  <a:srgbClr val="000000"/>
                </a:solidFill>
                <a:ea typeface="楷体_GB2312" pitchFamily="49" charset="-122"/>
              </a:rPr>
              <a:t> at that point so that</a:t>
            </a:r>
            <a:endParaRPr kumimoji="1" lang="en-US" altLang="zh-CN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5848807" y="2864828"/>
          <a:ext cx="1291544" cy="484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70" name="公式" r:id="rId1" imgW="11582400" imgH="4267200" progId="Equation.3">
                  <p:embed/>
                </p:oleObj>
              </mc:Choice>
              <mc:Fallback>
                <p:oleObj name="公式" r:id="rId1" imgW="11582400" imgH="426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807" y="2864828"/>
                        <a:ext cx="1291544" cy="4849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953102" y="446945"/>
            <a:ext cx="8623073" cy="55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      </a:t>
            </a:r>
            <a:r>
              <a:rPr kumimoji="1"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Ohm’s law</a:t>
            </a:r>
            <a:endParaRPr kumimoji="1" lang="en-US" altLang="zh-CN" sz="24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4408991" y="523729"/>
          <a:ext cx="1083968" cy="399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71" name="公式" r:id="rId3" imgW="10972800" imgH="3962400" progId="Equation.3">
                  <p:embed/>
                </p:oleObj>
              </mc:Choice>
              <mc:Fallback>
                <p:oleObj name="公式" r:id="rId3" imgW="10972800" imgH="3962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8991" y="523729"/>
                        <a:ext cx="1083968" cy="3995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0" y="838225"/>
            <a:ext cx="1810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Ohm’s Law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809750" y="5671820"/>
            <a:ext cx="1103947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    </a:t>
            </a:r>
            <a:r>
              <a:rPr kumimoji="1" lang="en-US" altLang="en-US" sz="2400" b="1" dirty="0">
                <a:solidFill>
                  <a:srgbClr val="000000"/>
                </a:solidFill>
                <a:ea typeface="楷体_GB2312" pitchFamily="49" charset="-122"/>
              </a:rPr>
              <a:t>The above equations are valid</a:t>
            </a:r>
            <a:r>
              <a:rPr kumimoji="1" lang="en-US" altLang="en-US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en-US" sz="2400" b="1" dirty="0">
                <a:solidFill>
                  <a:srgbClr val="FF0000"/>
                </a:solidFill>
                <a:ea typeface="楷体_GB2312" pitchFamily="49" charset="-122"/>
              </a:rPr>
              <a:t>only</a:t>
            </a:r>
            <a:r>
              <a:rPr kumimoji="1" lang="en-US" altLang="en-US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en-US" sz="2400" b="1" dirty="0">
                <a:solidFill>
                  <a:srgbClr val="000000"/>
                </a:solidFill>
                <a:ea typeface="楷体_GB2312" pitchFamily="49" charset="-122"/>
              </a:rPr>
              <a:t>for a</a:t>
            </a:r>
            <a:r>
              <a:rPr kumimoji="1" lang="en-US" altLang="en-US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en-US" sz="2400" b="1" dirty="0">
                <a:solidFill>
                  <a:srgbClr val="FF0000"/>
                </a:solidFill>
                <a:ea typeface="楷体_GB2312" pitchFamily="49" charset="-122"/>
              </a:rPr>
              <a:t>linear isotropic</a:t>
            </a:r>
            <a:r>
              <a:rPr kumimoji="1" lang="en-US" altLang="en-US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en-US" sz="2400" b="1" dirty="0">
                <a:solidFill>
                  <a:srgbClr val="000000"/>
                </a:solidFill>
                <a:ea typeface="楷体_GB2312" pitchFamily="49" charset="-122"/>
              </a:rPr>
              <a:t>medium.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endParaRPr kumimoji="1" lang="en-US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7684135" y="3080385"/>
            <a:ext cx="641985" cy="10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468995" y="2479040"/>
            <a:ext cx="2446655" cy="1014730"/>
          </a:xfrm>
          <a:prstGeom prst="rect">
            <a:avLst/>
          </a:prstGeom>
          <a:noFill/>
          <a:ln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</a:ln>
        </p:spPr>
        <p:txBody>
          <a:bodyPr wrap="square" rtlCol="0" anchor="t">
            <a:spAutoFit/>
          </a:bodyPr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Differential form of Ohm’s law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5996940" y="821055"/>
            <a:ext cx="641985" cy="10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781800" y="482600"/>
            <a:ext cx="2446655" cy="553085"/>
          </a:xfrm>
          <a:prstGeom prst="rect">
            <a:avLst/>
          </a:prstGeom>
          <a:noFill/>
          <a:ln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</a:ln>
        </p:spPr>
        <p:txBody>
          <a:bodyPr wrap="square" rtlCol="0" anchor="t">
            <a:spAutoFit/>
          </a:bodyPr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Integral form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03115" y="3837305"/>
            <a:ext cx="25374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400" i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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 : </a:t>
            </a:r>
            <a:r>
              <a:rPr kumimoji="1" lang="en-US" altLang="zh-CN" sz="2400" b="1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conductivity</a:t>
            </a:r>
            <a:endParaRPr kumimoji="1" lang="en-US" altLang="zh-CN" sz="2400" b="1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773805" y="4387215"/>
            <a:ext cx="54546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conducting ability of the medium</a:t>
            </a:r>
            <a:endParaRPr kumimoji="1" lang="en-US" altLang="zh-CN" sz="2400" b="1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5" grpId="0" bldLvl="0" animBg="1" autoUpdateAnimBg="0"/>
      <p:bldP spid="8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1926590" y="736600"/>
            <a:ext cx="10086975" cy="329247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715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7028" name="Text Box 4"/>
          <p:cNvSpPr txBox="1">
            <a:spLocks noChangeArrowheads="1"/>
          </p:cNvSpPr>
          <p:nvPr/>
        </p:nvSpPr>
        <p:spPr bwMode="auto">
          <a:xfrm>
            <a:off x="2135188" y="1484314"/>
            <a:ext cx="76962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endParaRPr kumimoji="1" lang="en-US" sz="2000" b="1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7033" name="Rectangle 9"/>
          <p:cNvSpPr>
            <a:spLocks noRot="1" noChangeArrowheads="1"/>
          </p:cNvSpPr>
          <p:nvPr/>
        </p:nvSpPr>
        <p:spPr bwMode="auto">
          <a:xfrm>
            <a:off x="2135505" y="1390650"/>
            <a:ext cx="9878695" cy="2539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b="1" dirty="0">
                <a:solidFill>
                  <a:srgbClr val="3333FF"/>
                </a:solidFill>
              </a:rPr>
              <a:t>A conductor with infinite  is called a </a:t>
            </a:r>
            <a:endParaRPr kumimoji="1" lang="en-US" altLang="zh-CN" sz="2400" b="1" dirty="0">
              <a:solidFill>
                <a:srgbClr val="3333FF"/>
              </a:solidFill>
            </a:endParaRPr>
          </a:p>
          <a:p>
            <a:r>
              <a:rPr kumimoji="1" lang="en-US" altLang="zh-CN" sz="2400" b="1" dirty="0">
                <a:solidFill>
                  <a:srgbClr val="000000"/>
                </a:solidFill>
              </a:rPr>
              <a:t>In a perfect electric conductor, electric current can be produced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without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the influence of an electric field.</a:t>
            </a:r>
            <a:r>
              <a:rPr kumimoji="1" lang="en-US" altLang="zh-CN" sz="2400" dirty="0">
                <a:solidFill>
                  <a:srgbClr val="000000"/>
                </a:solidFill>
              </a:rPr>
              <a:t> </a:t>
            </a:r>
            <a:endParaRPr kumimoji="1" lang="en-US" altLang="zh-CN" sz="2400" dirty="0">
              <a:solidFill>
                <a:srgbClr val="000000"/>
              </a:solidFill>
            </a:endParaRPr>
          </a:p>
          <a:p>
            <a:r>
              <a:rPr kumimoji="1" lang="en-US" altLang="zh-CN" sz="2400" b="1" dirty="0">
                <a:solidFill>
                  <a:srgbClr val="3333FF"/>
                </a:solidFill>
              </a:rPr>
              <a:t>There is 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no</a:t>
            </a:r>
            <a:r>
              <a:rPr kumimoji="1" lang="en-US" altLang="zh-CN" sz="2400" b="1" dirty="0">
                <a:solidFill>
                  <a:srgbClr val="3333FF"/>
                </a:solidFill>
              </a:rPr>
              <a:t> steady electric field in a perfect electric conductor. Otherwise, an infinite current will be generated, and it results in an infinite energy</a:t>
            </a:r>
            <a:r>
              <a:rPr kumimoji="1" lang="en-US" altLang="zh-CN" sz="2400" b="1" dirty="0" smtClean="0">
                <a:solidFill>
                  <a:srgbClr val="3333FF"/>
                </a:solidFill>
              </a:rPr>
              <a:t>.</a:t>
            </a:r>
            <a:endParaRPr kumimoji="1" lang="en-US" altLang="zh-CN" sz="2400" b="1" dirty="0">
              <a:solidFill>
                <a:srgbClr val="3333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3590" y="678815"/>
            <a:ext cx="9175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i="1" dirty="0">
                <a:solidFill>
                  <a:schemeClr val="bg1"/>
                </a:solidFill>
                <a:ea typeface="楷体_GB2312" pitchFamily="49" charset="-122"/>
                <a:sym typeface="Symbol" panose="05050102010706020507" pitchFamily="18" charset="2"/>
              </a:rPr>
              <a:t>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  <a:sym typeface="+mn-ea"/>
              </a:rPr>
              <a:t> </a:t>
            </a:r>
            <a:endParaRPr kumimoji="1" lang="en-US" altLang="zh-CN" sz="2800" b="1" dirty="0">
              <a:solidFill>
                <a:schemeClr val="bg1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35505" y="94615"/>
            <a:ext cx="1832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About </a:t>
            </a:r>
            <a:r>
              <a:rPr kumimoji="1" lang="en-US" altLang="zh-CN" sz="3200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</a:t>
            </a:r>
            <a:r>
              <a:rPr kumimoji="1" lang="en-US" altLang="zh-CN" sz="3200" b="1" dirty="0">
                <a:solidFill>
                  <a:schemeClr val="tx1"/>
                </a:solidFill>
                <a:ea typeface="楷体_GB2312" pitchFamily="49" charset="-122"/>
                <a:sym typeface="+mn-ea"/>
              </a:rPr>
              <a:t> </a:t>
            </a:r>
            <a:r>
              <a:rPr lang="en-US" altLang="zh-CN" sz="3200" b="1"/>
              <a:t> </a:t>
            </a:r>
            <a:endParaRPr lang="en-US" altLang="zh-CN" sz="3200" b="1"/>
          </a:p>
        </p:txBody>
      </p:sp>
      <p:sp>
        <p:nvSpPr>
          <p:cNvPr id="3" name="文本框 2"/>
          <p:cNvSpPr txBox="1"/>
          <p:nvPr/>
        </p:nvSpPr>
        <p:spPr>
          <a:xfrm>
            <a:off x="4655185" y="83502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400" b="1" dirty="0" err="1">
                <a:solidFill>
                  <a:srgbClr val="3333FF"/>
                </a:solidFill>
                <a:sym typeface="+mn-ea"/>
              </a:rPr>
              <a:t>P.E.C</a:t>
            </a:r>
            <a:r>
              <a:rPr kumimoji="1" lang="en-US" altLang="zh-CN" sz="2400" b="1" dirty="0">
                <a:solidFill>
                  <a:srgbClr val="3333FF"/>
                </a:solidFill>
                <a:sym typeface="+mn-ea"/>
              </a:rPr>
              <a:t>. </a:t>
            </a:r>
            <a:r>
              <a:rPr kumimoji="1" lang="zh-CN" altLang="en-US" sz="2400" b="1" dirty="0">
                <a:solidFill>
                  <a:srgbClr val="FF0000"/>
                </a:solidFill>
                <a:sym typeface="+mn-ea"/>
              </a:rPr>
              <a:t>（</a:t>
            </a:r>
            <a:r>
              <a:rPr kumimoji="1" lang="en-US" altLang="zh-CN" sz="2400" b="1" dirty="0">
                <a:solidFill>
                  <a:srgbClr val="FF0000"/>
                </a:solidFill>
                <a:sym typeface="+mn-ea"/>
              </a:rPr>
              <a:t>perfect electric conductor</a:t>
            </a:r>
            <a:r>
              <a:rPr kumimoji="1" lang="zh-CN" altLang="en-US" sz="2400" b="1" dirty="0">
                <a:solidFill>
                  <a:srgbClr val="FF0000"/>
                </a:solidFill>
                <a:sym typeface="+mn-ea"/>
              </a:rPr>
              <a:t>）</a:t>
            </a:r>
            <a:r>
              <a:rPr kumimoji="1" lang="en-US" altLang="zh-CN" sz="2400" b="1" dirty="0">
                <a:solidFill>
                  <a:srgbClr val="3333FF"/>
                </a:solidFill>
                <a:sym typeface="+mn-ea"/>
              </a:rPr>
              <a:t>  </a:t>
            </a:r>
            <a:endParaRPr kumimoji="1" lang="en-US" altLang="zh-CN" sz="2400" b="1" dirty="0">
              <a:solidFill>
                <a:srgbClr val="3333FF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65805" y="773430"/>
            <a:ext cx="16192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</a:t>
            </a:r>
            <a:r>
              <a:rPr kumimoji="1" lang="en-US" altLang="zh-CN" sz="2800" b="1" dirty="0">
                <a:ea typeface="楷体_GB2312" pitchFamily="49" charset="-122"/>
                <a:sym typeface="+mn-ea"/>
              </a:rPr>
              <a:t> →</a:t>
            </a:r>
            <a:r>
              <a:rPr kumimoji="1" lang="en-US" altLang="zh-CN" sz="2800" b="1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ꝏ</a:t>
            </a:r>
            <a:endParaRPr kumimoji="1" lang="en-US" altLang="zh-CN" sz="2800" b="1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35505" y="5030470"/>
            <a:ext cx="9774555" cy="12731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kumimoji="1" lang="en-US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 medium without any conductivity is called a perfect dielectric or an insulator.</a:t>
            </a:r>
            <a:endParaRPr kumimoji="1" lang="en-US" altLang="zh-CN" sz="2400" b="1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algn="l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kumimoji="1" lang="en-US" altLang="zh-CN" sz="2400" b="1" dirty="0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In nature there exists no any p.e.c. or perfect dielectric.</a:t>
            </a:r>
            <a:endParaRPr kumimoji="1" lang="en-US" altLang="zh-CN" sz="2400" b="1" dirty="0">
              <a:solidFill>
                <a:srgbClr val="3333FF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55185" y="4570095"/>
            <a:ext cx="63004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400" b="1" dirty="0" err="1">
                <a:solidFill>
                  <a:srgbClr val="3333FF"/>
                </a:solidFill>
                <a:sym typeface="+mn-ea"/>
              </a:rPr>
              <a:t>P.E.D</a:t>
            </a:r>
            <a:r>
              <a:rPr kumimoji="1" lang="en-US" altLang="zh-CN" sz="2400" b="1" dirty="0">
                <a:solidFill>
                  <a:srgbClr val="3333FF"/>
                </a:solidFill>
                <a:sym typeface="+mn-ea"/>
              </a:rPr>
              <a:t>. </a:t>
            </a:r>
            <a:r>
              <a:rPr kumimoji="1" lang="zh-CN" altLang="en-US" sz="2400" b="1" dirty="0">
                <a:solidFill>
                  <a:srgbClr val="FF0000"/>
                </a:solidFill>
                <a:sym typeface="+mn-ea"/>
              </a:rPr>
              <a:t>（</a:t>
            </a:r>
            <a:r>
              <a:rPr kumimoji="1" lang="en-US" altLang="zh-CN" sz="2400" b="1" dirty="0">
                <a:solidFill>
                  <a:srgbClr val="FF0000"/>
                </a:solidFill>
                <a:sym typeface="+mn-ea"/>
              </a:rPr>
              <a:t>perfect electric dielectric</a:t>
            </a:r>
            <a:r>
              <a:rPr kumimoji="1" lang="zh-CN" altLang="en-US" sz="2400" b="1" dirty="0">
                <a:solidFill>
                  <a:srgbClr val="FF0000"/>
                </a:solidFill>
                <a:sym typeface="+mn-ea"/>
              </a:rPr>
              <a:t>）</a:t>
            </a:r>
            <a:r>
              <a:rPr kumimoji="1" lang="en-US" altLang="zh-CN" sz="2400" b="1" dirty="0">
                <a:solidFill>
                  <a:srgbClr val="3333FF"/>
                </a:solidFill>
                <a:sym typeface="+mn-ea"/>
              </a:rPr>
              <a:t>  </a:t>
            </a:r>
            <a:endParaRPr kumimoji="1" lang="en-US" altLang="zh-CN" sz="2400" b="1" dirty="0">
              <a:solidFill>
                <a:srgbClr val="3333FF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65805" y="4508500"/>
            <a:ext cx="16732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</a:t>
            </a:r>
            <a:r>
              <a:rPr kumimoji="1" lang="en-US" altLang="zh-CN" sz="2800" b="1" dirty="0">
                <a:ea typeface="楷体_GB2312" pitchFamily="49" charset="-122"/>
                <a:sym typeface="+mn-ea"/>
              </a:rPr>
              <a:t> →</a:t>
            </a:r>
            <a:r>
              <a:rPr kumimoji="1" lang="en-US" altLang="zh-CN" sz="2800" b="1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+mn-ea"/>
              </a:rPr>
              <a:t>0</a:t>
            </a:r>
            <a:endParaRPr kumimoji="1" lang="en-US" altLang="zh-CN" sz="2800" b="1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884045" y="4349115"/>
            <a:ext cx="10086975" cy="2131695"/>
          </a:xfrm>
          <a:prstGeom prst="roundRect">
            <a:avLst/>
          </a:prstGeom>
          <a:solidFill>
            <a:schemeClr val="accent1">
              <a:alpha val="0"/>
            </a:schemeClr>
          </a:solidFill>
          <a:ln w="5715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3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2495551" y="3316565"/>
            <a:ext cx="7345363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58051" name="Rectangle 3"/>
          <p:cNvSpPr>
            <a:spLocks noChangeArrowheads="1"/>
          </p:cNvSpPr>
          <p:nvPr/>
        </p:nvSpPr>
        <p:spPr bwMode="auto">
          <a:xfrm>
            <a:off x="2927351" y="471915"/>
            <a:ext cx="648176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b="1">
                <a:solidFill>
                  <a:srgbClr val="0000CC"/>
                </a:solidFill>
              </a:rPr>
              <a:t>The conductivities of several media</a:t>
            </a:r>
            <a:endParaRPr kumimoji="1" lang="en-US" altLang="zh-CN" sz="2400" b="1">
              <a:solidFill>
                <a:srgbClr val="0000CC"/>
              </a:solidFill>
            </a:endParaRPr>
          </a:p>
          <a:p>
            <a:pPr algn="ctr"/>
            <a:r>
              <a:rPr kumimoji="1" lang="en-US" altLang="zh-CN" sz="2400" b="1">
                <a:solidFill>
                  <a:srgbClr val="0000CC"/>
                </a:solidFill>
              </a:rPr>
              <a:t>unit in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S/m</a:t>
            </a:r>
            <a:endParaRPr kumimoji="1" lang="en-US" altLang="zh-C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8052" name="Rectangle 4"/>
          <p:cNvSpPr>
            <a:spLocks noChangeArrowheads="1"/>
          </p:cNvSpPr>
          <p:nvPr/>
        </p:nvSpPr>
        <p:spPr bwMode="auto">
          <a:xfrm>
            <a:off x="2840039" y="1326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8053" name="Rectangle 5"/>
          <p:cNvSpPr>
            <a:spLocks noChangeArrowheads="1"/>
          </p:cNvSpPr>
          <p:nvPr/>
        </p:nvSpPr>
        <p:spPr bwMode="auto">
          <a:xfrm>
            <a:off x="2840039" y="1326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8054" name="Rectangle 6"/>
          <p:cNvSpPr>
            <a:spLocks noChangeArrowheads="1"/>
          </p:cNvSpPr>
          <p:nvPr/>
        </p:nvSpPr>
        <p:spPr bwMode="auto">
          <a:xfrm>
            <a:off x="2840039" y="1326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8113" name="Group 65"/>
          <p:cNvGraphicFramePr>
            <a:graphicFrameLocks noGrp="1"/>
          </p:cNvGraphicFramePr>
          <p:nvPr/>
        </p:nvGraphicFramePr>
        <p:xfrm>
          <a:off x="2495550" y="1341439"/>
          <a:ext cx="7380288" cy="4325938"/>
        </p:xfrm>
        <a:graphic>
          <a:graphicData uri="http://schemas.openxmlformats.org/drawingml/2006/table">
            <a:tbl>
              <a:tblPr/>
              <a:tblGrid>
                <a:gridCol w="1630363"/>
                <a:gridCol w="1974850"/>
                <a:gridCol w="1800225"/>
                <a:gridCol w="1974850"/>
              </a:tblGrid>
              <a:tr h="542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Media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Conductivities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Media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Conductivities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4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Silver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Sea water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2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Copper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Pure water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5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Gold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Dry soil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1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Aluminum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Transformer oil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5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Brass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Glass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2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Iron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Rubber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58097" name="Group 49"/>
          <p:cNvGrpSpPr/>
          <p:nvPr/>
        </p:nvGrpSpPr>
        <p:grpSpPr bwMode="auto">
          <a:xfrm>
            <a:off x="4572000" y="2081214"/>
            <a:ext cx="4256088" cy="3481387"/>
            <a:chOff x="1824" y="1535"/>
            <a:chExt cx="2681" cy="2193"/>
          </a:xfrm>
        </p:grpSpPr>
        <p:graphicFrame>
          <p:nvGraphicFramePr>
            <p:cNvPr id="258098" name="Object 50"/>
            <p:cNvGraphicFramePr>
              <a:graphicFrameLocks noChangeAspect="1"/>
            </p:cNvGraphicFramePr>
            <p:nvPr/>
          </p:nvGraphicFramePr>
          <p:xfrm>
            <a:off x="1832" y="1535"/>
            <a:ext cx="627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0" name="Equation" r:id="rId1" imgW="596900" imgH="203200" progId="Equation.3">
                    <p:embed/>
                  </p:oleObj>
                </mc:Choice>
                <mc:Fallback>
                  <p:oleObj name="Equation" r:id="rId1" imgW="596900" imgH="203200" progId="Equation.3">
                    <p:embed/>
                    <p:pic>
                      <p:nvPicPr>
                        <p:cNvPr id="0" name="图片 720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2" y="1535"/>
                          <a:ext cx="627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099" name="Object 51"/>
            <p:cNvGraphicFramePr>
              <a:graphicFrameLocks noChangeAspect="1"/>
            </p:cNvGraphicFramePr>
            <p:nvPr/>
          </p:nvGraphicFramePr>
          <p:xfrm>
            <a:off x="1824" y="1887"/>
            <a:ext cx="627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1" name="Equation" r:id="rId3" imgW="596900" imgH="203200" progId="Equation.3">
                    <p:embed/>
                  </p:oleObj>
                </mc:Choice>
                <mc:Fallback>
                  <p:oleObj name="Equation" r:id="rId3" imgW="596900" imgH="203200" progId="Equation.3">
                    <p:embed/>
                    <p:pic>
                      <p:nvPicPr>
                        <p:cNvPr id="0" name="图片 720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887"/>
                          <a:ext cx="627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00" name="Object 52"/>
            <p:cNvGraphicFramePr>
              <a:graphicFrameLocks noChangeAspect="1"/>
            </p:cNvGraphicFramePr>
            <p:nvPr/>
          </p:nvGraphicFramePr>
          <p:xfrm>
            <a:off x="4176" y="1935"/>
            <a:ext cx="288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2" name="Equation" r:id="rId5" imgW="279400" imgH="203200" progId="Equation.3">
                    <p:embed/>
                  </p:oleObj>
                </mc:Choice>
                <mc:Fallback>
                  <p:oleObj name="Equation" r:id="rId5" imgW="279400" imgH="203200" progId="Equation.3">
                    <p:embed/>
                    <p:pic>
                      <p:nvPicPr>
                        <p:cNvPr id="0" name="图片 720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935"/>
                          <a:ext cx="288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01" name="Object 53"/>
            <p:cNvGraphicFramePr>
              <a:graphicFrameLocks noChangeAspect="1"/>
            </p:cNvGraphicFramePr>
            <p:nvPr/>
          </p:nvGraphicFramePr>
          <p:xfrm>
            <a:off x="1824" y="2287"/>
            <a:ext cx="627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3" name="Equation" r:id="rId7" imgW="596900" imgH="203200" progId="Equation.3">
                    <p:embed/>
                  </p:oleObj>
                </mc:Choice>
                <mc:Fallback>
                  <p:oleObj name="Equation" r:id="rId7" imgW="596900" imgH="203200" progId="Equation.3">
                    <p:embed/>
                    <p:pic>
                      <p:nvPicPr>
                        <p:cNvPr id="0" name="图片 720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287"/>
                          <a:ext cx="627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02" name="Object 54"/>
            <p:cNvGraphicFramePr>
              <a:graphicFrameLocks noChangeAspect="1"/>
            </p:cNvGraphicFramePr>
            <p:nvPr/>
          </p:nvGraphicFramePr>
          <p:xfrm>
            <a:off x="4176" y="2319"/>
            <a:ext cx="2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4" name="Equation" r:id="rId9" imgW="279400" imgH="203200" progId="Equation.3">
                    <p:embed/>
                  </p:oleObj>
                </mc:Choice>
                <mc:Fallback>
                  <p:oleObj name="Equation" r:id="rId9" imgW="279400" imgH="203200" progId="Equation.3">
                    <p:embed/>
                    <p:pic>
                      <p:nvPicPr>
                        <p:cNvPr id="0" name="图片 720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319"/>
                          <a:ext cx="289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03" name="Object 55"/>
            <p:cNvGraphicFramePr>
              <a:graphicFrameLocks noChangeAspect="1"/>
            </p:cNvGraphicFramePr>
            <p:nvPr/>
          </p:nvGraphicFramePr>
          <p:xfrm>
            <a:off x="1824" y="2703"/>
            <a:ext cx="627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5" name="Equation" r:id="rId11" imgW="596900" imgH="203200" progId="Equation.3">
                    <p:embed/>
                  </p:oleObj>
                </mc:Choice>
                <mc:Fallback>
                  <p:oleObj name="Equation" r:id="rId11" imgW="596900" imgH="203200" progId="Equation.3">
                    <p:embed/>
                    <p:pic>
                      <p:nvPicPr>
                        <p:cNvPr id="0" name="图片 720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703"/>
                          <a:ext cx="627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04" name="Object 56"/>
            <p:cNvGraphicFramePr>
              <a:graphicFrameLocks noChangeAspect="1"/>
            </p:cNvGraphicFramePr>
            <p:nvPr/>
          </p:nvGraphicFramePr>
          <p:xfrm>
            <a:off x="4176" y="2727"/>
            <a:ext cx="32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6" name="Equation" r:id="rId13" imgW="317500" imgH="203200" progId="Equation.3">
                    <p:embed/>
                  </p:oleObj>
                </mc:Choice>
                <mc:Fallback>
                  <p:oleObj name="Equation" r:id="rId13" imgW="317500" imgH="203200" progId="Equation.3">
                    <p:embed/>
                    <p:pic>
                      <p:nvPicPr>
                        <p:cNvPr id="0" name="图片 720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727"/>
                          <a:ext cx="329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05" name="Object 57"/>
            <p:cNvGraphicFramePr>
              <a:graphicFrameLocks noChangeAspect="1"/>
            </p:cNvGraphicFramePr>
            <p:nvPr/>
          </p:nvGraphicFramePr>
          <p:xfrm>
            <a:off x="1840" y="3095"/>
            <a:ext cx="607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7" name="Equation" r:id="rId15" imgW="584200" imgH="203200" progId="Equation.3">
                    <p:embed/>
                  </p:oleObj>
                </mc:Choice>
                <mc:Fallback>
                  <p:oleObj name="Equation" r:id="rId15" imgW="584200" imgH="203200" progId="Equation.3">
                    <p:embed/>
                    <p:pic>
                      <p:nvPicPr>
                        <p:cNvPr id="0" name="图片 720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0" y="3095"/>
                          <a:ext cx="607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06" name="Object 58"/>
            <p:cNvGraphicFramePr>
              <a:graphicFrameLocks noChangeAspect="1"/>
            </p:cNvGraphicFramePr>
            <p:nvPr/>
          </p:nvGraphicFramePr>
          <p:xfrm>
            <a:off x="4168" y="3151"/>
            <a:ext cx="32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8" name="Equation" r:id="rId17" imgW="317500" imgH="203200" progId="Equation.3">
                    <p:embed/>
                  </p:oleObj>
                </mc:Choice>
                <mc:Fallback>
                  <p:oleObj name="Equation" r:id="rId17" imgW="317500" imgH="203200" progId="Equation.3">
                    <p:embed/>
                    <p:pic>
                      <p:nvPicPr>
                        <p:cNvPr id="0" name="图片 720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8" y="3151"/>
                          <a:ext cx="329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07" name="Object 59"/>
            <p:cNvGraphicFramePr>
              <a:graphicFrameLocks noChangeAspect="1"/>
            </p:cNvGraphicFramePr>
            <p:nvPr/>
          </p:nvGraphicFramePr>
          <p:xfrm>
            <a:off x="2040" y="3495"/>
            <a:ext cx="23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99" name="Equation" r:id="rId19" imgW="228600" imgH="203200" progId="Equation.3">
                    <p:embed/>
                  </p:oleObj>
                </mc:Choice>
                <mc:Fallback>
                  <p:oleObj name="Equation" r:id="rId19" imgW="228600" imgH="203200" progId="Equation.3">
                    <p:embed/>
                    <p:pic>
                      <p:nvPicPr>
                        <p:cNvPr id="0" name="图片 720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3495"/>
                          <a:ext cx="239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08" name="Object 60"/>
            <p:cNvGraphicFramePr>
              <a:graphicFrameLocks noChangeAspect="1"/>
            </p:cNvGraphicFramePr>
            <p:nvPr/>
          </p:nvGraphicFramePr>
          <p:xfrm>
            <a:off x="4168" y="3519"/>
            <a:ext cx="32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00" name="Equation" r:id="rId21" imgW="317500" imgH="203200" progId="Equation.3">
                    <p:embed/>
                  </p:oleObj>
                </mc:Choice>
                <mc:Fallback>
                  <p:oleObj name="Equation" r:id="rId21" imgW="317500" imgH="203200" progId="Equation.3">
                    <p:embed/>
                    <p:pic>
                      <p:nvPicPr>
                        <p:cNvPr id="0" name="图片 720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8" y="3519"/>
                          <a:ext cx="329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8109" name="Object 61"/>
            <p:cNvGraphicFramePr>
              <a:graphicFrameLocks noChangeAspect="1"/>
            </p:cNvGraphicFramePr>
            <p:nvPr/>
          </p:nvGraphicFramePr>
          <p:xfrm>
            <a:off x="4208" y="1560"/>
            <a:ext cx="131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01" name="Equation" r:id="rId23" imgW="127000" imgH="165100" progId="Equation.3">
                    <p:embed/>
                  </p:oleObj>
                </mc:Choice>
                <mc:Fallback>
                  <p:oleObj name="Equation" r:id="rId23" imgW="127000" imgH="165100" progId="Equation.3">
                    <p:embed/>
                    <p:pic>
                      <p:nvPicPr>
                        <p:cNvPr id="0" name="图片 721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8" y="1560"/>
                          <a:ext cx="131" cy="1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20"/>
          <p:cNvSpPr txBox="1"/>
          <p:nvPr/>
        </p:nvSpPr>
        <p:spPr>
          <a:xfrm>
            <a:off x="-110836" y="790428"/>
            <a:ext cx="1814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conductivity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8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8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0" grpId="0" animBg="1"/>
      <p:bldP spid="25805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Text Box 2"/>
          <p:cNvSpPr txBox="1">
            <a:spLocks noChangeArrowheads="1"/>
          </p:cNvSpPr>
          <p:nvPr/>
        </p:nvSpPr>
        <p:spPr bwMode="auto">
          <a:xfrm>
            <a:off x="1807947" y="1748747"/>
            <a:ext cx="9205768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     The magnitude of the current density of the convection current is not proportional to the electric field intensity, and the direction may be different from that of electric field intensity. </a:t>
            </a:r>
            <a:endParaRPr kumimoji="1" lang="en-US" altLang="zh-CN" sz="2400" b="1" dirty="0">
              <a:solidFill>
                <a:srgbClr val="3333FF"/>
              </a:solidFill>
              <a:ea typeface="楷体_GB2312" pitchFamily="49" charset="-122"/>
            </a:endParaRPr>
          </a:p>
        </p:txBody>
      </p:sp>
      <p:graphicFrame>
        <p:nvGraphicFramePr>
          <p:cNvPr id="259075" name="Object 3"/>
          <p:cNvGraphicFramePr>
            <a:graphicFrameLocks noChangeAspect="1"/>
          </p:cNvGraphicFramePr>
          <p:nvPr/>
        </p:nvGraphicFramePr>
        <p:xfrm>
          <a:off x="5490513" y="5542049"/>
          <a:ext cx="1390254" cy="550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2" name="Equation" r:id="rId1" imgW="508000" imgH="203200" progId="Equation.DSMT4">
                  <p:embed/>
                </p:oleObj>
              </mc:Choice>
              <mc:Fallback>
                <p:oleObj name="Equation" r:id="rId1" imgW="508000" imgH="203200" progId="Equation.DSMT4">
                  <p:embed/>
                  <p:pic>
                    <p:nvPicPr>
                      <p:cNvPr id="0" name="图片 727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0513" y="5542049"/>
                        <a:ext cx="1390254" cy="5502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77" name="Text Box 5"/>
          <p:cNvSpPr txBox="1">
            <a:spLocks noChangeArrowheads="1"/>
          </p:cNvSpPr>
          <p:nvPr/>
        </p:nvSpPr>
        <p:spPr bwMode="auto">
          <a:xfrm>
            <a:off x="2015765" y="4103025"/>
            <a:ext cx="9134330" cy="1128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3333FF"/>
                </a:solidFill>
                <a:ea typeface="楷体_GB2312" pitchFamily="49" charset="-122"/>
              </a:rPr>
              <a:t>    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If the charge density is </a:t>
            </a:r>
            <a:r>
              <a:rPr kumimoji="1" lang="en-US" altLang="zh-CN" sz="2400" i="1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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, and the moving velocity is </a:t>
            </a:r>
            <a:r>
              <a:rPr kumimoji="1" lang="en-US" altLang="zh-CN" sz="2400" b="1" i="1" dirty="0">
                <a:solidFill>
                  <a:srgbClr val="000000"/>
                </a:solidFill>
                <a:ea typeface="楷体_GB2312" pitchFamily="49" charset="-122"/>
              </a:rPr>
              <a:t>v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, and then</a:t>
            </a:r>
            <a:endParaRPr kumimoji="1" lang="en-US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7330" y="695900"/>
            <a:ext cx="1477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chemeClr val="bg1"/>
                </a:solidFill>
              </a:rPr>
              <a:t>Convection current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15490" y="695960"/>
            <a:ext cx="766191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2400" b="1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Attention: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 convection current does not obey Ohm’s Law</a:t>
            </a:r>
            <a:endParaRPr kumimoji="1" lang="en-US" altLang="zh-CN" sz="2400" b="1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4" grpId="0" bldLvl="0" animBg="1" autoUpdateAnimBg="0"/>
      <p:bldP spid="259077" grpId="0" bldLvl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85975" y="695960"/>
            <a:ext cx="87598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Characteristics of Steady current field</a:t>
            </a:r>
            <a:endParaRPr lang="en-US" altLang="zh-CN" sz="3600" b="1"/>
          </a:p>
        </p:txBody>
      </p:sp>
      <p:sp>
        <p:nvSpPr>
          <p:cNvPr id="3" name="文本框 2"/>
          <p:cNvSpPr txBox="1"/>
          <p:nvPr/>
        </p:nvSpPr>
        <p:spPr>
          <a:xfrm>
            <a:off x="2151380" y="2516505"/>
            <a:ext cx="74009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Q1: what are the physical quantities?</a:t>
            </a:r>
            <a:endParaRPr lang="en-US" altLang="zh-C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65425" y="4275455"/>
            <a:ext cx="74009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Q2: what characteristics of the quantities?</a:t>
            </a:r>
            <a:endParaRPr lang="en-US" altLang="zh-C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Rot="1" noChangeArrowheads="1"/>
          </p:cNvSpPr>
          <p:nvPr>
            <p:ph type="body" idx="1"/>
          </p:nvPr>
        </p:nvSpPr>
        <p:spPr>
          <a:xfrm>
            <a:off x="1919605" y="1268730"/>
            <a:ext cx="8942705" cy="122364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b="1">
                <a:solidFill>
                  <a:srgbClr val="000000"/>
                </a:solidFill>
                <a:ea typeface="Gulim" panose="020B0600000101010101" pitchFamily="34" charset="-127"/>
              </a:rPr>
              <a:t>The principle of </a:t>
            </a:r>
            <a:r>
              <a:rPr lang="en-US" altLang="zh-CN" sz="2400" b="1">
                <a:solidFill>
                  <a:srgbClr val="FF0000"/>
                </a:solidFill>
                <a:ea typeface="Gulim" panose="020B0600000101010101" pitchFamily="34" charset="-127"/>
              </a:rPr>
              <a:t>conservation of charge</a:t>
            </a:r>
            <a:r>
              <a:rPr lang="en-US" altLang="zh-CN" sz="2400" b="1">
                <a:solidFill>
                  <a:srgbClr val="000000"/>
                </a:solidFill>
                <a:ea typeface="Gulim" panose="020B0600000101010101" pitchFamily="34" charset="-127"/>
              </a:rPr>
              <a:t> is one of the </a:t>
            </a:r>
            <a:r>
              <a:rPr lang="en-US" altLang="zh-CN" sz="2400" b="1">
                <a:solidFill>
                  <a:srgbClr val="FF0000"/>
                </a:solidFill>
                <a:ea typeface="Gulim" panose="020B0600000101010101" pitchFamily="34" charset="-127"/>
              </a:rPr>
              <a:t>fundamental postulates</a:t>
            </a:r>
            <a:r>
              <a:rPr lang="en-US" altLang="zh-CN" sz="2400" b="1">
                <a:solidFill>
                  <a:srgbClr val="000000"/>
                </a:solidFill>
                <a:ea typeface="Gulim" panose="020B0600000101010101" pitchFamily="34" charset="-127"/>
              </a:rPr>
              <a:t> of physics. Electric charges may not be created or destroyed; </a:t>
            </a:r>
            <a:endParaRPr lang="en-US" altLang="zh-CN" sz="2400" b="1">
              <a:solidFill>
                <a:srgbClr val="000000"/>
              </a:solidFill>
            </a:endParaRPr>
          </a:p>
        </p:txBody>
      </p:sp>
      <p:sp>
        <p:nvSpPr>
          <p:cNvPr id="270340" name="Rectangle 4"/>
          <p:cNvSpPr>
            <a:spLocks noChangeArrowheads="1"/>
          </p:cNvSpPr>
          <p:nvPr/>
        </p:nvSpPr>
        <p:spPr bwMode="auto">
          <a:xfrm>
            <a:off x="1847850" y="333376"/>
            <a:ext cx="854075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800000"/>
                </a:solidFill>
              </a:rPr>
              <a:t>5.4 Equation of Continuity and KCL</a:t>
            </a:r>
            <a:endParaRPr lang="en-US" altLang="zh-CN" sz="3600" b="1">
              <a:solidFill>
                <a:srgbClr val="800000"/>
              </a:solidFill>
            </a:endParaRPr>
          </a:p>
        </p:txBody>
      </p:sp>
      <p:sp>
        <p:nvSpPr>
          <p:cNvPr id="270341" name="Rectangle 5"/>
          <p:cNvSpPr>
            <a:spLocks noRot="1" noChangeArrowheads="1"/>
          </p:cNvSpPr>
          <p:nvPr/>
        </p:nvSpPr>
        <p:spPr bwMode="auto">
          <a:xfrm>
            <a:off x="1891030" y="2407285"/>
            <a:ext cx="8971280" cy="1728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>
                <a:solidFill>
                  <a:srgbClr val="0000CC"/>
                </a:solidFill>
                <a:ea typeface="Gulim" panose="020B0600000101010101" pitchFamily="34" charset="-127"/>
              </a:rPr>
              <a:t>Consider an arbitrary volume V bounded by surface S. A net charge Q exists within this region. If a net current I flows across the surface out of this region, the charge in the volume must </a:t>
            </a:r>
            <a:r>
              <a:rPr lang="en-US" altLang="zh-CN" sz="2400" b="1">
                <a:solidFill>
                  <a:srgbClr val="FF0000"/>
                </a:solidFill>
                <a:ea typeface="Gulim" panose="020B0600000101010101" pitchFamily="34" charset="-127"/>
              </a:rPr>
              <a:t>decrease at a rate that equals</a:t>
            </a:r>
            <a:r>
              <a:rPr lang="en-US" altLang="zh-CN" sz="2400" b="1">
                <a:solidFill>
                  <a:srgbClr val="0000CC"/>
                </a:solidFill>
                <a:ea typeface="Gulim" panose="020B0600000101010101" pitchFamily="34" charset="-127"/>
              </a:rPr>
              <a:t> the current; </a:t>
            </a:r>
            <a:endParaRPr lang="en-US" altLang="zh-CN" sz="2400" b="1">
              <a:solidFill>
                <a:srgbClr val="0000CC"/>
              </a:solidFill>
            </a:endParaRPr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4780915" y="3946525"/>
          <a:ext cx="4227830" cy="937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0" name="Equation" r:id="rId1" imgW="1473200" imgH="393700" progId="Equation.DSMT4">
                  <p:embed/>
                </p:oleObj>
              </mc:Choice>
              <mc:Fallback>
                <p:oleObj name="Equation" r:id="rId1" imgW="1473200" imgH="393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0915" y="3946525"/>
                        <a:ext cx="4227830" cy="9372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6"/>
          <p:cNvSpPr>
            <a:spLocks noRot="1" noChangeArrowheads="1"/>
          </p:cNvSpPr>
          <p:nvPr/>
        </p:nvSpPr>
        <p:spPr bwMode="auto">
          <a:xfrm>
            <a:off x="1977390" y="5050155"/>
            <a:ext cx="8956040" cy="1224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000000"/>
                </a:solidFill>
                <a:ea typeface="Gulim" panose="020B0600000101010101" pitchFamily="34" charset="-127"/>
              </a:rPr>
              <a:t>Also, the current leaving the region is the total outward flux of the current density vector through the surface S; </a:t>
            </a:r>
            <a:endParaRPr lang="en-US" altLang="zh-CN" sz="2400" b="1" dirty="0">
              <a:solidFill>
                <a:srgbClr val="000000"/>
              </a:solidFill>
            </a:endParaRP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4964430" y="5856605"/>
          <a:ext cx="1899920" cy="793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18897600" imgH="7010400" progId="Equation.DSMT4">
                  <p:embed/>
                </p:oleObj>
              </mc:Choice>
              <mc:Fallback>
                <p:oleObj name="Equation" r:id="rId3" imgW="18897600" imgH="7010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430" y="5856605"/>
                        <a:ext cx="1899920" cy="7931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70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7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8" grpId="0" build="p"/>
      <p:bldP spid="270341" grpId="0" bldLvl="0" animBg="1"/>
      <p:bldP spid="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1944977" y="394943"/>
            <a:ext cx="94573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     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Assume the density of the sustained charges in the volume </a:t>
            </a:r>
            <a:r>
              <a:rPr kumimoji="1" lang="en-US" altLang="zh-CN" sz="2400" b="1" i="1" dirty="0">
                <a:solidFill>
                  <a:srgbClr val="FF0000"/>
                </a:solidFill>
                <a:ea typeface="楷体_GB2312" pitchFamily="49" charset="-122"/>
              </a:rPr>
              <a:t>V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bound by the closed surface </a:t>
            </a:r>
            <a:r>
              <a:rPr kumimoji="1" lang="en-US" altLang="zh-CN" sz="2400" i="1" dirty="0">
                <a:solidFill>
                  <a:srgbClr val="FF0000"/>
                </a:solidFill>
                <a:ea typeface="楷体_GB2312" pitchFamily="49" charset="-122"/>
              </a:rPr>
              <a:t>S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is </a:t>
            </a:r>
            <a:r>
              <a:rPr kumimoji="1" lang="en-US" altLang="zh-CN" sz="2400" i="1" dirty="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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, then</a:t>
            </a:r>
            <a:endParaRPr kumimoji="1" lang="en-US" altLang="zh-CN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/>
        </p:nvGraphicFramePr>
        <p:xfrm>
          <a:off x="5412105" y="1691648"/>
          <a:ext cx="1948244" cy="866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09" name="" r:id="rId1" imgW="749300" imgH="330200" progId="Equation.3">
                  <p:embed/>
                </p:oleObj>
              </mc:Choice>
              <mc:Fallback>
                <p:oleObj name="" r:id="rId1" imgW="749300" imgH="330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2105" y="1691648"/>
                        <a:ext cx="1948244" cy="8666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9"/>
          <p:cNvGrpSpPr/>
          <p:nvPr/>
        </p:nvGrpSpPr>
        <p:grpSpPr bwMode="auto">
          <a:xfrm>
            <a:off x="2495551" y="2558329"/>
            <a:ext cx="5995165" cy="1082488"/>
            <a:chOff x="432" y="1478"/>
            <a:chExt cx="3459" cy="552"/>
          </a:xfrm>
        </p:grpSpPr>
        <p:graphicFrame>
          <p:nvGraphicFramePr>
            <p:cNvPr id="5" name="Object 10"/>
            <p:cNvGraphicFramePr>
              <a:graphicFrameLocks noChangeAspect="1"/>
            </p:cNvGraphicFramePr>
            <p:nvPr/>
          </p:nvGraphicFramePr>
          <p:xfrm>
            <a:off x="1561" y="1592"/>
            <a:ext cx="2330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610" name="Equation" r:id="rId3" imgW="49987200" imgH="9448800" progId="Equation.DSMT4">
                    <p:embed/>
                  </p:oleObj>
                </mc:Choice>
                <mc:Fallback>
                  <p:oleObj name="Equation" r:id="rId3" imgW="49987200" imgH="94488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1" y="1592"/>
                          <a:ext cx="2330" cy="4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11"/>
            <p:cNvSpPr txBox="1">
              <a:spLocks noChangeArrowheads="1"/>
            </p:cNvSpPr>
            <p:nvPr/>
          </p:nvSpPr>
          <p:spPr bwMode="auto">
            <a:xfrm>
              <a:off x="432" y="1478"/>
              <a:ext cx="62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3333FF"/>
                  </a:solidFill>
                  <a:ea typeface="楷体_GB2312" pitchFamily="49" charset="-122"/>
                </a:rPr>
                <a:t>then</a:t>
              </a:r>
              <a:endParaRPr kumimoji="1" lang="en-US" altLang="zh-CN" sz="2400" b="1">
                <a:solidFill>
                  <a:srgbClr val="3333FF"/>
                </a:solidFill>
                <a:ea typeface="楷体_GB2312" pitchFamily="49" charset="-122"/>
              </a:endParaRPr>
            </a:p>
          </p:txBody>
        </p:sp>
      </p:grp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495552" y="3781133"/>
            <a:ext cx="77041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By using the divergence theorem, we obtain</a:t>
            </a:r>
            <a:endParaRPr kumimoji="1" lang="en-US" altLang="zh-CN" sz="2400" b="1" dirty="0">
              <a:solidFill>
                <a:srgbClr val="3333FF"/>
              </a:solidFill>
              <a:ea typeface="楷体_GB2312" pitchFamily="49" charset="-122"/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5535614" y="4567348"/>
          <a:ext cx="187166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11" name="" r:id="rId5" imgW="786765" imgH="393700" progId="Equation.3">
                  <p:embed/>
                </p:oleObj>
              </mc:Choice>
              <mc:Fallback>
                <p:oleObj name="" r:id="rId5" imgW="786765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4" y="4567348"/>
                        <a:ext cx="1871662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495551" y="5731501"/>
            <a:ext cx="7950776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which is called the </a:t>
            </a:r>
            <a:r>
              <a:rPr kumimoji="1" lang="en-US" altLang="zh-CN" sz="2400" b="1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principle of current continuity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in differential form. </a:t>
            </a:r>
            <a:endParaRPr kumimoji="1" lang="en-US" altLang="zh-CN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9161" y="805543"/>
            <a:ext cx="1524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Chap 5.4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7" grpId="0" autoUpdateAnimBg="0"/>
      <p:bldP spid="9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290" name="Group 2"/>
          <p:cNvGrpSpPr/>
          <p:nvPr/>
        </p:nvGrpSpPr>
        <p:grpSpPr bwMode="auto">
          <a:xfrm>
            <a:off x="1919289" y="620713"/>
            <a:ext cx="9746238" cy="1357313"/>
            <a:chOff x="480" y="240"/>
            <a:chExt cx="4704" cy="855"/>
          </a:xfrm>
        </p:grpSpPr>
        <p:sp>
          <p:nvSpPr>
            <p:cNvPr id="268291" name="Text Box 3"/>
            <p:cNvSpPr txBox="1">
              <a:spLocks noChangeArrowheads="1"/>
            </p:cNvSpPr>
            <p:nvPr/>
          </p:nvSpPr>
          <p:spPr bwMode="auto">
            <a:xfrm>
              <a:off x="480" y="240"/>
              <a:ext cx="470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3333FF"/>
                  </a:solidFill>
                  <a:ea typeface="楷体_GB2312" pitchFamily="49" charset="-122"/>
                </a:rPr>
                <a:t>        Because the distribution of the charges in the steady electric current field is </a:t>
              </a:r>
              <a:r>
                <a:rPr kumimoji="1" lang="en-US" altLang="zh-CN" sz="2400" b="1" dirty="0">
                  <a:solidFill>
                    <a:srgbClr val="FF0000"/>
                  </a:solidFill>
                  <a:ea typeface="楷体_GB2312" pitchFamily="49" charset="-122"/>
                </a:rPr>
                <a:t>independent of time</a:t>
              </a:r>
              <a:r>
                <a:rPr kumimoji="1" lang="en-US" altLang="zh-CN" sz="2400" b="1" dirty="0">
                  <a:solidFill>
                    <a:srgbClr val="3333FF"/>
                  </a:solidFill>
                  <a:ea typeface="楷体_GB2312" pitchFamily="49" charset="-122"/>
                </a:rPr>
                <a:t>, i.e. </a:t>
              </a:r>
              <a:r>
                <a:rPr kumimoji="1" lang="en-US" altLang="zh-CN" sz="2400" b="1" dirty="0" smtClean="0">
                  <a:solidFill>
                    <a:srgbClr val="3333FF"/>
                  </a:solidFill>
                  <a:ea typeface="楷体_GB2312" pitchFamily="49" charset="-122"/>
                </a:rPr>
                <a:t>               </a:t>
              </a:r>
              <a:r>
                <a:rPr kumimoji="1" lang="en-US" altLang="zh-CN" sz="2400" b="1" dirty="0">
                  <a:solidFill>
                    <a:srgbClr val="3333FF"/>
                  </a:solidFill>
                  <a:ea typeface="楷体_GB2312" pitchFamily="49" charset="-122"/>
                </a:rPr>
                <a:t>, we find</a:t>
              </a:r>
              <a:endParaRPr kumimoji="1" lang="en-US" altLang="zh-CN" sz="2400" b="1" dirty="0">
                <a:solidFill>
                  <a:srgbClr val="3333FF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268292" name="Object 4"/>
            <p:cNvGraphicFramePr>
              <a:graphicFrameLocks noChangeAspect="1"/>
            </p:cNvGraphicFramePr>
            <p:nvPr/>
          </p:nvGraphicFramePr>
          <p:xfrm>
            <a:off x="3886" y="571"/>
            <a:ext cx="652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873" name="" r:id="rId1" imgW="482600" imgH="393700" progId="Equation.3">
                    <p:embed/>
                  </p:oleObj>
                </mc:Choice>
                <mc:Fallback>
                  <p:oleObj name="" r:id="rId1" imgW="482600" imgH="393700" progId="Equation.3">
                    <p:embed/>
                    <p:pic>
                      <p:nvPicPr>
                        <p:cNvPr id="0" name="图片 758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6" y="571"/>
                          <a:ext cx="652" cy="52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8293" name="Object 5"/>
          <p:cNvGraphicFramePr>
            <a:graphicFrameLocks noChangeAspect="1"/>
          </p:cNvGraphicFramePr>
          <p:nvPr/>
        </p:nvGraphicFramePr>
        <p:xfrm>
          <a:off x="4461022" y="2058128"/>
          <a:ext cx="18002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4" name="" r:id="rId3" imgW="761365" imgH="292100" progId="Equation.3">
                  <p:embed/>
                </p:oleObj>
              </mc:Choice>
              <mc:Fallback>
                <p:oleObj name="" r:id="rId3" imgW="761365" imgH="292100" progId="Equation.3">
                  <p:embed/>
                  <p:pic>
                    <p:nvPicPr>
                      <p:cNvPr id="0" name="图片 758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1022" y="2058128"/>
                        <a:ext cx="1800225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4" name="Text Box 6"/>
          <p:cNvSpPr txBox="1">
            <a:spLocks noChangeArrowheads="1"/>
          </p:cNvSpPr>
          <p:nvPr/>
        </p:nvSpPr>
        <p:spPr bwMode="auto">
          <a:xfrm>
            <a:off x="1919287" y="2698751"/>
            <a:ext cx="9870931" cy="967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which states that in the steady electric current field the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flux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of the current density through any closed surface will be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zero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. </a:t>
            </a:r>
            <a:endParaRPr kumimoji="1" lang="en-US" altLang="zh-CN" sz="2400" b="1" dirty="0">
              <a:solidFill>
                <a:srgbClr val="3333FF"/>
              </a:solidFill>
              <a:ea typeface="楷体_GB2312" pitchFamily="49" charset="-122"/>
            </a:endParaRPr>
          </a:p>
        </p:txBody>
      </p:sp>
      <p:pic>
        <p:nvPicPr>
          <p:cNvPr id="268299" name="Picture 11" descr="000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4724400"/>
            <a:ext cx="15621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179161" y="805543"/>
            <a:ext cx="1524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Chap 5.4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5445443" y="4425926"/>
          <a:ext cx="14414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5" name="" r:id="rId6" imgW="558800" imgH="177800" progId="Equation.3">
                  <p:embed/>
                </p:oleObj>
              </mc:Choice>
              <mc:Fallback>
                <p:oleObj name="" r:id="rId6" imgW="558800" imgH="177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443" y="4425926"/>
                        <a:ext cx="144145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063751" y="4891058"/>
            <a:ext cx="85661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 dirty="0">
                <a:ea typeface="楷体_GB2312" pitchFamily="49" charset="-122"/>
              </a:rPr>
              <a:t>which states that the steady electric current field is </a:t>
            </a:r>
            <a:r>
              <a:rPr kumimoji="1"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solenoidal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.</a:t>
            </a:r>
            <a:endParaRPr kumimoji="1" lang="en-US" altLang="zh-CN" sz="2400" b="1" dirty="0">
              <a:solidFill>
                <a:srgbClr val="3333FF"/>
              </a:solidFill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9287" y="3964401"/>
            <a:ext cx="4018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With differential form,</a:t>
            </a:r>
            <a:endParaRPr kumimoji="1" lang="zh-CN" altLang="en-US" sz="2400" b="1" dirty="0">
              <a:solidFill>
                <a:srgbClr val="3333FF"/>
              </a:solidFill>
              <a:ea typeface="楷体_GB2312" pitchFamily="49" charset="-122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6692900" y="2101253"/>
            <a:ext cx="144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</a:rPr>
              <a:t>Or  KCL:</a:t>
            </a:r>
            <a:endParaRPr lang="en-US" altLang="zh-CN" sz="2400" b="1" dirty="0">
              <a:solidFill>
                <a:srgbClr val="000000"/>
              </a:solidFill>
            </a:endParaRPr>
          </a:p>
        </p:txBody>
      </p:sp>
      <p:graphicFrame>
        <p:nvGraphicFramePr>
          <p:cNvPr id="14" name="Object 28"/>
          <p:cNvGraphicFramePr>
            <a:graphicFrameLocks noChangeAspect="1"/>
          </p:cNvGraphicFramePr>
          <p:nvPr/>
        </p:nvGraphicFramePr>
        <p:xfrm>
          <a:off x="8348664" y="2064241"/>
          <a:ext cx="135413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76" name="Equation" r:id="rId8" imgW="584200" imgH="355600" progId="Equation.DSMT4">
                  <p:embed/>
                </p:oleObj>
              </mc:Choice>
              <mc:Fallback>
                <p:oleObj name="Equation" r:id="rId8" imgW="584200" imgH="3556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8664" y="2064241"/>
                        <a:ext cx="1354137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4" grpId="0" autoUpdateAnimBg="0"/>
      <p:bldP spid="11" grpId="0" bldLvl="0" animBg="1" autoUpdateAnimBg="0"/>
      <p:bldP spid="2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Text Box 2"/>
          <p:cNvSpPr txBox="1">
            <a:spLocks noChangeArrowheads="1"/>
          </p:cNvSpPr>
          <p:nvPr/>
        </p:nvSpPr>
        <p:spPr bwMode="auto">
          <a:xfrm>
            <a:off x="1855470" y="684530"/>
            <a:ext cx="9994265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     The </a:t>
            </a:r>
            <a:r>
              <a:rPr kumimoji="1"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steady </a:t>
            </a:r>
            <a:r>
              <a:rPr kumimoji="1" lang="en-US" altLang="zh-CN" sz="2400" b="1" dirty="0" smtClean="0">
                <a:solidFill>
                  <a:srgbClr val="FF0000"/>
                </a:solidFill>
                <a:ea typeface="楷体_GB2312" pitchFamily="49" charset="-122"/>
              </a:rPr>
              <a:t>electric </a:t>
            </a:r>
            <a:r>
              <a:rPr kumimoji="1"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field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caused by the sustained charges on the plates is </a:t>
            </a:r>
            <a:r>
              <a:rPr kumimoji="1"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also a conservative field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, and the line integral of it around a closed circuit should be zero, i.e.        </a:t>
            </a:r>
            <a:endParaRPr kumimoji="1" lang="en-US" altLang="zh-CN" sz="2400" b="1" dirty="0">
              <a:solidFill>
                <a:srgbClr val="3333FF"/>
              </a:solidFill>
              <a:ea typeface="楷体_GB2312" pitchFamily="49" charset="-122"/>
            </a:endParaRPr>
          </a:p>
        </p:txBody>
      </p:sp>
      <p:graphicFrame>
        <p:nvGraphicFramePr>
          <p:cNvPr id="266243" name="Object 3"/>
          <p:cNvGraphicFramePr>
            <a:graphicFrameLocks noChangeAspect="1"/>
          </p:cNvGraphicFramePr>
          <p:nvPr/>
        </p:nvGraphicFramePr>
        <p:xfrm>
          <a:off x="5707063" y="2232661"/>
          <a:ext cx="1871662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70" name="" r:id="rId1" imgW="748665" imgH="292100" progId="Equation.3">
                  <p:embed/>
                </p:oleObj>
              </mc:Choice>
              <mc:Fallback>
                <p:oleObj name="" r:id="rId1" imgW="748665" imgH="292100" progId="Equation.3">
                  <p:embed/>
                  <p:pic>
                    <p:nvPicPr>
                      <p:cNvPr id="0" name="图片 738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063" y="2232661"/>
                        <a:ext cx="1871662" cy="735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4" name="Text Box 4"/>
          <p:cNvSpPr txBox="1">
            <a:spLocks noChangeArrowheads="1"/>
          </p:cNvSpPr>
          <p:nvPr/>
        </p:nvSpPr>
        <p:spPr bwMode="auto">
          <a:xfrm>
            <a:off x="1778954" y="3941129"/>
            <a:ext cx="987901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For </a:t>
            </a:r>
            <a:r>
              <a:rPr kumimoji="1"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homogeneous</a:t>
            </a:r>
            <a:r>
              <a:rPr kumimoji="1" lang="en-US" altLang="zh-CN" sz="2400" b="1" dirty="0">
                <a:solidFill>
                  <a:srgbClr val="3333FF"/>
                </a:solidFill>
                <a:ea typeface="楷体_GB2312" pitchFamily="49" charset="-122"/>
              </a:rPr>
              <a:t> media, the above equation becomes</a:t>
            </a:r>
            <a:endParaRPr kumimoji="1" lang="en-US" altLang="zh-CN" sz="2400" b="1" dirty="0">
              <a:solidFill>
                <a:srgbClr val="3333FF"/>
              </a:solidFill>
              <a:ea typeface="楷体_GB2312" pitchFamily="49" charset="-122"/>
            </a:endParaRPr>
          </a:p>
        </p:txBody>
      </p:sp>
      <p:graphicFrame>
        <p:nvGraphicFramePr>
          <p:cNvPr id="266245" name="Object 5"/>
          <p:cNvGraphicFramePr>
            <a:graphicFrameLocks noChangeAspect="1"/>
          </p:cNvGraphicFramePr>
          <p:nvPr/>
        </p:nvGraphicFramePr>
        <p:xfrm>
          <a:off x="3286125" y="4749166"/>
          <a:ext cx="16573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71" name="" r:id="rId3" imgW="723900" imgH="292100" progId="Equation.3">
                  <p:embed/>
                </p:oleObj>
              </mc:Choice>
              <mc:Fallback>
                <p:oleObj name="" r:id="rId3" imgW="723900" imgH="292100" progId="Equation.3">
                  <p:embed/>
                  <p:pic>
                    <p:nvPicPr>
                      <p:cNvPr id="0" name="图片 738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4749166"/>
                        <a:ext cx="1657350" cy="67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246" name="Group 6"/>
          <p:cNvGrpSpPr/>
          <p:nvPr/>
        </p:nvGrpSpPr>
        <p:grpSpPr bwMode="auto">
          <a:xfrm>
            <a:off x="1855153" y="3085148"/>
            <a:ext cx="8964612" cy="644525"/>
            <a:chOff x="576" y="336"/>
            <a:chExt cx="4272" cy="406"/>
          </a:xfrm>
        </p:grpSpPr>
        <p:sp>
          <p:nvSpPr>
            <p:cNvPr id="266247" name="Text Box 7"/>
            <p:cNvSpPr txBox="1">
              <a:spLocks noChangeArrowheads="1"/>
            </p:cNvSpPr>
            <p:nvPr/>
          </p:nvSpPr>
          <p:spPr bwMode="auto">
            <a:xfrm>
              <a:off x="576" y="336"/>
              <a:ext cx="4272" cy="4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00"/>
                  </a:solidFill>
                  <a:ea typeface="楷体_GB2312" pitchFamily="49" charset="-122"/>
                </a:rPr>
                <a:t>In the conducting medium,</a:t>
              </a:r>
              <a:endParaRPr kumimoji="1" lang="en-US" altLang="zh-CN" sz="24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266248" name="Object 8"/>
            <p:cNvGraphicFramePr>
              <a:graphicFrameLocks noChangeAspect="1"/>
            </p:cNvGraphicFramePr>
            <p:nvPr/>
          </p:nvGraphicFramePr>
          <p:xfrm>
            <a:off x="2579" y="452"/>
            <a:ext cx="63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72" name="" r:id="rId5" imgW="494665" imgH="177800" progId="Equation.3">
                    <p:embed/>
                  </p:oleObj>
                </mc:Choice>
                <mc:Fallback>
                  <p:oleObj name="" r:id="rId5" imgW="494665" imgH="177800" progId="Equation.3">
                    <p:embed/>
                    <p:pic>
                      <p:nvPicPr>
                        <p:cNvPr id="0" name="图片 738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9" y="452"/>
                          <a:ext cx="635" cy="23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6249" name="Object 9"/>
          <p:cNvGraphicFramePr>
            <a:graphicFrameLocks noChangeAspect="1"/>
          </p:cNvGraphicFramePr>
          <p:nvPr/>
        </p:nvGraphicFramePr>
        <p:xfrm>
          <a:off x="8498841" y="3075305"/>
          <a:ext cx="15843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73" name="" r:id="rId7" imgW="786765" imgH="393700" progId="Equation.3">
                  <p:embed/>
                </p:oleObj>
              </mc:Choice>
              <mc:Fallback>
                <p:oleObj name="" r:id="rId7" imgW="786765" imgH="393700" progId="Equation.3">
                  <p:embed/>
                  <p:pic>
                    <p:nvPicPr>
                      <p:cNvPr id="0" name="图片 738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8841" y="3075305"/>
                        <a:ext cx="1584325" cy="78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79161" y="805543"/>
            <a:ext cx="1524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Chap 5.4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7566025" y="3401695"/>
            <a:ext cx="746760" cy="1263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67268" name="Object 4"/>
          <p:cNvGraphicFramePr>
            <a:graphicFrameLocks noChangeAspect="1"/>
          </p:cNvGraphicFramePr>
          <p:nvPr/>
        </p:nvGraphicFramePr>
        <p:xfrm>
          <a:off x="7708265" y="4890453"/>
          <a:ext cx="151288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69" name="" r:id="rId9" imgW="609600" imgH="177800" progId="Equation.3">
                  <p:embed/>
                </p:oleObj>
              </mc:Choice>
              <mc:Fallback>
                <p:oleObj name="" r:id="rId9" imgW="609600" imgH="177800" progId="Equation.3">
                  <p:embed/>
                  <p:pic>
                    <p:nvPicPr>
                      <p:cNvPr id="0" name="图片 748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265" y="4890453"/>
                        <a:ext cx="1512888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465445" y="4845050"/>
            <a:ext cx="2355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with differential form:</a:t>
            </a:r>
            <a:endParaRPr lang="en-US" altLang="zh-CN"/>
          </a:p>
        </p:txBody>
      </p:sp>
      <p:sp>
        <p:nvSpPr>
          <p:cNvPr id="267269" name="Text Box 5"/>
          <p:cNvSpPr txBox="1">
            <a:spLocks noChangeArrowheads="1"/>
          </p:cNvSpPr>
          <p:nvPr/>
        </p:nvSpPr>
        <p:spPr bwMode="auto">
          <a:xfrm>
            <a:off x="1659255" y="5643245"/>
            <a:ext cx="9998710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rgbClr val="3333FF"/>
                </a:solidFill>
                <a:ea typeface="楷体_GB2312" pitchFamily="49" charset="-122"/>
              </a:rPr>
              <a:t>      In </a:t>
            </a:r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homogeneous </a:t>
            </a:r>
            <a:r>
              <a:rPr kumimoji="1" lang="en-US" altLang="zh-CN" sz="2400" b="1">
                <a:solidFill>
                  <a:srgbClr val="3333FF"/>
                </a:solidFill>
                <a:ea typeface="楷体_GB2312" pitchFamily="49" charset="-122"/>
              </a:rPr>
              <a:t>conducting media the steady electric current field is </a:t>
            </a:r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irrotational</a:t>
            </a:r>
            <a:r>
              <a:rPr kumimoji="1" lang="en-US" altLang="zh-CN" sz="2400" b="1">
                <a:solidFill>
                  <a:srgbClr val="3333FF"/>
                </a:solidFill>
                <a:ea typeface="楷体_GB2312" pitchFamily="49" charset="-122"/>
              </a:rPr>
              <a:t>.</a:t>
            </a:r>
            <a:endParaRPr kumimoji="1" lang="en-US" altLang="zh-CN" sz="2400" b="1">
              <a:solidFill>
                <a:srgbClr val="3333FF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2" grpId="0" bldLvl="0" animBg="1" autoUpdateAnimBg="0"/>
      <p:bldP spid="266244" grpId="0" bldLvl="0" animBg="1" autoUpdateAnimBg="0"/>
      <p:bldP spid="267269" grpId="0" bldLvl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919288" y="1484313"/>
            <a:ext cx="9663112" cy="1295400"/>
            <a:chOff x="1919288" y="1484313"/>
            <a:chExt cx="9663112" cy="1295400"/>
          </a:xfrm>
        </p:grpSpPr>
        <p:sp>
          <p:nvSpPr>
            <p:cNvPr id="18" name="Rectangle 3"/>
            <p:cNvSpPr txBox="1">
              <a:spLocks noRot="1" noChangeArrowheads="1"/>
            </p:cNvSpPr>
            <p:nvPr/>
          </p:nvSpPr>
          <p:spPr>
            <a:xfrm>
              <a:off x="1919288" y="1484313"/>
              <a:ext cx="9663112" cy="12954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panose="05040102010807070707" charset="2"/>
                <a:buChar char="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panose="05040102010807070707" charset="2"/>
                <a:buChar char="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panose="05040102010807070707" charset="2"/>
                <a:buChar char="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panose="05040102010807070707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panose="05040102010807070707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panose="05040102010807070707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panose="05040102010807070707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panose="05040102010807070707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Font typeface="Wingdings 3" panose="05040102010807070707" charset="2"/>
                <a:buChar char="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90000"/>
                </a:lnSpc>
              </a:pPr>
              <a:r>
                <a:rPr lang="en-US" altLang="zh-CN" sz="2400" b="1" dirty="0" smtClean="0">
                  <a:solidFill>
                    <a:srgbClr val="000000"/>
                  </a:solidFill>
                </a:rPr>
                <a:t> The work </a:t>
              </a:r>
              <a:r>
                <a:rPr lang="en-US" altLang="zh-CN" sz="2400" b="1" i="1" dirty="0" smtClean="0">
                  <a:solidFill>
                    <a:srgbClr val="000000"/>
                  </a:solidFill>
                </a:rPr>
                <a:t>∆w</a:t>
              </a:r>
              <a:r>
                <a:rPr lang="en-US" altLang="zh-CN" sz="2400" b="1" dirty="0" smtClean="0">
                  <a:solidFill>
                    <a:srgbClr val="000000"/>
                  </a:solidFill>
                </a:rPr>
                <a:t> done by an electric field E in moving a charge </a:t>
              </a:r>
              <a:r>
                <a:rPr lang="en-US" altLang="zh-CN" sz="2400" b="1" i="1" dirty="0" smtClean="0">
                  <a:solidFill>
                    <a:srgbClr val="000000"/>
                  </a:solidFill>
                </a:rPr>
                <a:t>q</a:t>
              </a:r>
              <a:r>
                <a:rPr lang="en-US" altLang="zh-CN" sz="2400" b="1" dirty="0" smtClean="0">
                  <a:solidFill>
                    <a:srgbClr val="000000"/>
                  </a:solidFill>
                </a:rPr>
                <a:t> a distance  is </a:t>
              </a:r>
              <a:r>
                <a:rPr lang="en-US" altLang="zh-CN" sz="2400" b="1" i="1" dirty="0" err="1" smtClean="0">
                  <a:solidFill>
                    <a:srgbClr val="000000"/>
                  </a:solidFill>
                </a:rPr>
                <a:t>q</a:t>
              </a:r>
              <a:r>
                <a:rPr lang="en-US" altLang="zh-CN" sz="2400" b="1" dirty="0" err="1" smtClean="0">
                  <a:solidFill>
                    <a:srgbClr val="000000"/>
                  </a:solidFill>
                </a:rPr>
                <a:t>E</a:t>
              </a:r>
              <a:r>
                <a:rPr lang="en-US" altLang="zh-CN" sz="2400" b="1" dirty="0" smtClean="0">
                  <a:solidFill>
                    <a:srgbClr val="000000"/>
                  </a:solidFill>
                </a:rPr>
                <a:t>∙(       ), which corresponds to a power</a:t>
              </a:r>
              <a:endParaRPr lang="en-US" altLang="zh-TW" sz="2400" b="1" dirty="0">
                <a:solidFill>
                  <a:srgbClr val="000000"/>
                </a:solidFill>
                <a:ea typeface="PMingLiU" panose="02020500000000000000" pitchFamily="18" charset="-120"/>
              </a:endParaRPr>
            </a:p>
          </p:txBody>
        </p:sp>
        <p:graphicFrame>
          <p:nvGraphicFramePr>
            <p:cNvPr id="20" name="Object 6"/>
            <p:cNvGraphicFramePr>
              <a:graphicFrameLocks noChangeAspect="1"/>
            </p:cNvGraphicFramePr>
            <p:nvPr/>
          </p:nvGraphicFramePr>
          <p:xfrm>
            <a:off x="4715669" y="1754911"/>
            <a:ext cx="457200" cy="417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901" name="Equation" r:id="rId1" imgW="215900" imgH="203200" progId="Equation.DSMT4">
                    <p:embed/>
                  </p:oleObj>
                </mc:Choice>
                <mc:Fallback>
                  <p:oleObj name="Equation" r:id="rId1" imgW="215900" imgH="203200" progId="Equation.DSMT4">
                    <p:embed/>
                    <p:pic>
                      <p:nvPicPr>
                        <p:cNvPr id="0" name="图片 779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5669" y="1754911"/>
                          <a:ext cx="457200" cy="4175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2782888" y="333375"/>
            <a:ext cx="6697662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800000"/>
                </a:solidFill>
              </a:rPr>
              <a:t>5.5 Power Dissipation and Joule’s Law</a:t>
            </a:r>
            <a:endParaRPr lang="en-US" altLang="zh-CN" sz="3600" b="1">
              <a:solidFill>
                <a:srgbClr val="800000"/>
              </a:solidFill>
            </a:endParaRPr>
          </a:p>
        </p:txBody>
      </p:sp>
      <p:pic>
        <p:nvPicPr>
          <p:cNvPr id="22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6" y="2241925"/>
            <a:ext cx="3241097" cy="96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11"/>
          <p:cNvSpPr>
            <a:spLocks noRot="1" noChangeArrowheads="1"/>
          </p:cNvSpPr>
          <p:nvPr/>
        </p:nvSpPr>
        <p:spPr bwMode="auto">
          <a:xfrm>
            <a:off x="1992313" y="3284538"/>
            <a:ext cx="9590087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</a:rPr>
              <a:t>where u is the </a:t>
            </a:r>
            <a:r>
              <a:rPr lang="en-US" altLang="ko-KR" sz="2400" b="1" dirty="0">
                <a:solidFill>
                  <a:srgbClr val="0000CC"/>
                </a:solidFill>
                <a:ea typeface="Gulim" panose="020B0600000101010101" pitchFamily="34" charset="-127"/>
              </a:rPr>
              <a:t>d</a:t>
            </a:r>
            <a:r>
              <a:rPr lang="en-US" altLang="zh-CN" sz="2400" b="1" dirty="0">
                <a:solidFill>
                  <a:srgbClr val="0000CC"/>
                </a:solidFill>
              </a:rPr>
              <a:t>rift velocity. The total power delivered to all the charge carriers in a 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volume element </a:t>
            </a:r>
            <a:r>
              <a:rPr lang="en-US" altLang="zh-CN" sz="2400" b="1" i="1" dirty="0">
                <a:solidFill>
                  <a:srgbClr val="0000CC"/>
                </a:solidFill>
              </a:rPr>
              <a:t>d</a:t>
            </a:r>
            <a:r>
              <a:rPr lang="en-US" altLang="zh-CN" sz="2400" b="1" i="1" dirty="0">
                <a:solidFill>
                  <a:srgbClr val="0000CC"/>
                </a:solidFill>
                <a:sym typeface="Symbol" panose="05050102010706020507" pitchFamily="18" charset="2"/>
              </a:rPr>
              <a:t></a:t>
            </a:r>
            <a:r>
              <a:rPr lang="en-US" altLang="zh-CN" sz="2400" b="1" dirty="0">
                <a:solidFill>
                  <a:srgbClr val="0000CC"/>
                </a:solidFill>
              </a:rPr>
              <a:t> is</a:t>
            </a:r>
            <a:endParaRPr lang="en-US" altLang="zh-TW" sz="2400" b="1" dirty="0">
              <a:solidFill>
                <a:srgbClr val="0000CC"/>
              </a:solidFill>
              <a:ea typeface="PMingLiU" panose="02020500000000000000" pitchFamily="18" charset="-120"/>
            </a:endParaRPr>
          </a:p>
        </p:txBody>
      </p:sp>
      <p:pic>
        <p:nvPicPr>
          <p:cNvPr id="24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594" y="4410619"/>
            <a:ext cx="4626159" cy="997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753" y="4151314"/>
            <a:ext cx="3704992" cy="1744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17" descr="BD06518_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9308" y="5187949"/>
            <a:ext cx="2160587" cy="167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15510" y="6031230"/>
          <a:ext cx="1974850" cy="672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7" imgW="596900" imgH="203200" progId="Equation.DSMT4">
                  <p:embed/>
                </p:oleObj>
              </mc:Choice>
              <mc:Fallback>
                <p:oleObj name="" r:id="rId7" imgW="596900" imgH="2032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15510" y="6031230"/>
                        <a:ext cx="1974850" cy="672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129790" y="5924550"/>
            <a:ext cx="27984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FF0000"/>
                </a:solidFill>
              </a:rPr>
              <a:t>Power dissipation density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Rot="1" noChangeArrowheads="1"/>
          </p:cNvSpPr>
          <p:nvPr/>
        </p:nvSpPr>
        <p:spPr>
          <a:xfrm>
            <a:off x="1992313" y="2060576"/>
            <a:ext cx="6286500" cy="587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altLang="zh-CN" sz="2400" b="1" dirty="0" smtClean="0">
                <a:solidFill>
                  <a:srgbClr val="000000"/>
                </a:solidFill>
              </a:rPr>
              <a:t> This is known as </a:t>
            </a:r>
            <a:r>
              <a:rPr lang="en-US" altLang="zh-CN" sz="2400" b="1" i="1" dirty="0" smtClean="0">
                <a:solidFill>
                  <a:srgbClr val="FF0000"/>
                </a:solidFill>
              </a:rPr>
              <a:t>Joule’s law</a:t>
            </a:r>
            <a:r>
              <a:rPr lang="en-US" altLang="zh-CN" sz="2400" b="1" dirty="0" smtClean="0">
                <a:solidFill>
                  <a:srgbClr val="000000"/>
                </a:solidFill>
              </a:rPr>
              <a:t>. </a:t>
            </a:r>
            <a:endParaRPr lang="en-US" altLang="zh-TW" sz="2400" b="1" dirty="0">
              <a:solidFill>
                <a:srgbClr val="000000"/>
              </a:solidFill>
              <a:ea typeface="PMingLiU" panose="02020500000000000000" pitchFamily="18" charset="-120"/>
            </a:endParaRPr>
          </a:p>
        </p:txBody>
      </p:sp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4727576" y="3284539"/>
          <a:ext cx="18002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3" name="" r:id="rId1" imgW="634365" imgH="177800" progId="Equation.DSMT4">
                  <p:embed/>
                </p:oleObj>
              </mc:Choice>
              <mc:Fallback>
                <p:oleObj name="" r:id="rId1" imgW="634365" imgH="177800" progId="Equation.DSMT4">
                  <p:embed/>
                  <p:pic>
                    <p:nvPicPr>
                      <p:cNvPr id="0" name="图片 789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6" y="3284539"/>
                        <a:ext cx="180022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788536" y="537061"/>
            <a:ext cx="1027271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2400" b="1" dirty="0">
                <a:solidFill>
                  <a:srgbClr val="000000"/>
                </a:solidFill>
              </a:rPr>
              <a:t> For a given volume </a:t>
            </a:r>
            <a:r>
              <a:rPr lang="en-US" altLang="zh-CN" sz="2400" b="1" i="1" dirty="0" smtClean="0">
                <a:solidFill>
                  <a:srgbClr val="000000"/>
                </a:solidFill>
              </a:rPr>
              <a:t>V,</a:t>
            </a:r>
            <a:r>
              <a:rPr lang="en-US" altLang="zh-CN" sz="2400" b="1" dirty="0" smtClean="0">
                <a:solidFill>
                  <a:srgbClr val="000000"/>
                </a:solidFill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</a:rPr>
              <a:t>the total electric power converted into heat is</a:t>
            </a:r>
            <a:endParaRPr lang="en-US" altLang="ko-KR" sz="2400" b="1" dirty="0">
              <a:solidFill>
                <a:srgbClr val="000000"/>
              </a:solidFill>
            </a:endParaRPr>
          </a:p>
        </p:txBody>
      </p:sp>
      <p:sp>
        <p:nvSpPr>
          <p:cNvPr id="16" name="Rectangle 10"/>
          <p:cNvSpPr>
            <a:spLocks noRot="1" noChangeArrowheads="1"/>
          </p:cNvSpPr>
          <p:nvPr/>
        </p:nvSpPr>
        <p:spPr bwMode="auto">
          <a:xfrm>
            <a:off x="1919288" y="2764690"/>
            <a:ext cx="74168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000000"/>
                </a:solidFill>
              </a:rPr>
              <a:t> In a conductor of a constant cross section,</a:t>
            </a:r>
            <a:r>
              <a:rPr lang="en-US" altLang="ko-KR" sz="2400" b="1" dirty="0">
                <a:solidFill>
                  <a:srgbClr val="000000"/>
                </a:solidFill>
                <a:ea typeface="Gulim" panose="020B0600000101010101" pitchFamily="34" charset="-127"/>
              </a:rPr>
              <a:t> </a:t>
            </a:r>
            <a:endParaRPr lang="en-US" altLang="zh-TW" sz="2400" b="1" dirty="0">
              <a:solidFill>
                <a:srgbClr val="000000"/>
              </a:solidFill>
              <a:ea typeface="PMingLiU" panose="02020500000000000000" pitchFamily="18" charset="-120"/>
            </a:endParaRPr>
          </a:p>
        </p:txBody>
      </p:sp>
      <p:sp>
        <p:nvSpPr>
          <p:cNvPr id="17" name="Rectangle 14"/>
          <p:cNvSpPr>
            <a:spLocks noRot="1" noChangeArrowheads="1"/>
          </p:cNvSpPr>
          <p:nvPr/>
        </p:nvSpPr>
        <p:spPr bwMode="auto">
          <a:xfrm>
            <a:off x="2135188" y="3933825"/>
            <a:ext cx="73533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000000"/>
                </a:solidFill>
              </a:rPr>
              <a:t> with       measured in the direction J.</a:t>
            </a:r>
            <a:endParaRPr lang="en-US" altLang="zh-TW" sz="2400" b="1">
              <a:solidFill>
                <a:srgbClr val="000000"/>
              </a:solidFill>
            </a:endParaRPr>
          </a:p>
        </p:txBody>
      </p:sp>
      <p:graphicFrame>
        <p:nvGraphicFramePr>
          <p:cNvPr id="18" name="Object 15"/>
          <p:cNvGraphicFramePr>
            <a:graphicFrameLocks noChangeAspect="1"/>
          </p:cNvGraphicFramePr>
          <p:nvPr/>
        </p:nvGraphicFramePr>
        <p:xfrm>
          <a:off x="3216275" y="4005263"/>
          <a:ext cx="43338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4" name="" r:id="rId3" imgW="203200" imgH="177800" progId="Equation.DSMT4">
                  <p:embed/>
                </p:oleObj>
              </mc:Choice>
              <mc:Fallback>
                <p:oleObj name="" r:id="rId3" imgW="203200" imgH="177800" progId="Equation.DSMT4">
                  <p:embed/>
                  <p:pic>
                    <p:nvPicPr>
                      <p:cNvPr id="0" name="图片 789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005263"/>
                        <a:ext cx="433388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4008438" y="4508500"/>
          <a:ext cx="39608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5" name="Equation" r:id="rId5" imgW="1371600" imgH="292100" progId="Equation.DSMT4">
                  <p:embed/>
                </p:oleObj>
              </mc:Choice>
              <mc:Fallback>
                <p:oleObj name="Equation" r:id="rId5" imgW="1371600" imgH="292100" progId="Equation.DSMT4">
                  <p:embed/>
                  <p:pic>
                    <p:nvPicPr>
                      <p:cNvPr id="0" name="图片 789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4508500"/>
                        <a:ext cx="3960812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92314" y="5229226"/>
            <a:ext cx="913288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zh-CN" sz="2400" b="1" dirty="0">
                <a:solidFill>
                  <a:srgbClr val="000000"/>
                </a:solidFill>
              </a:rPr>
              <a:t> where </a:t>
            </a:r>
            <a:r>
              <a:rPr lang="en-US" altLang="zh-CN" sz="2400" b="1" i="1" dirty="0">
                <a:solidFill>
                  <a:srgbClr val="000000"/>
                </a:solidFill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</a:rPr>
              <a:t> is the current in the conductor. Since </a:t>
            </a:r>
            <a:r>
              <a:rPr lang="en-US" altLang="zh-CN" sz="2400" b="1" i="1" dirty="0">
                <a:solidFill>
                  <a:srgbClr val="000000"/>
                </a:solidFill>
              </a:rPr>
              <a:t>V = RI</a:t>
            </a:r>
            <a:r>
              <a:rPr lang="en-US" altLang="zh-CN" sz="2400" b="1" dirty="0">
                <a:solidFill>
                  <a:srgbClr val="000000"/>
                </a:solidFill>
              </a:rPr>
              <a:t>, we have</a:t>
            </a:r>
            <a:endParaRPr lang="en-US" altLang="zh-TW" sz="2400" b="1" dirty="0">
              <a:solidFill>
                <a:srgbClr val="000000"/>
              </a:solidFill>
            </a:endParaRP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4515644" y="5950254"/>
          <a:ext cx="25923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6" name="Equation" r:id="rId7" imgW="1002665" imgH="228600" progId="Equation.DSMT4">
                  <p:embed/>
                </p:oleObj>
              </mc:Choice>
              <mc:Fallback>
                <p:oleObj name="Equation" r:id="rId7" imgW="1002665" imgH="228600" progId="Equation.DSMT4">
                  <p:embed/>
                  <p:pic>
                    <p:nvPicPr>
                      <p:cNvPr id="0" name="图片 789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5644" y="5950254"/>
                        <a:ext cx="259238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5381624" y="1286099"/>
          <a:ext cx="33305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7" name="Equation" r:id="rId9" imgW="1409065" imgH="292100" progId="Equation.DSMT4">
                  <p:embed/>
                </p:oleObj>
              </mc:Choice>
              <mc:Fallback>
                <p:oleObj name="Equation" r:id="rId9" imgW="1409065" imgH="292100" progId="Equation.DSMT4">
                  <p:embed/>
                  <p:pic>
                    <p:nvPicPr>
                      <p:cNvPr id="0" name="图片 789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24" y="1286099"/>
                        <a:ext cx="3330575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938884" y="5585258"/>
            <a:ext cx="1122363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  <p:sp>
        <p:nvSpPr>
          <p:cNvPr id="24" name="文本框 23"/>
          <p:cNvSpPr txBox="1"/>
          <p:nvPr/>
        </p:nvSpPr>
        <p:spPr>
          <a:xfrm>
            <a:off x="179161" y="805543"/>
            <a:ext cx="1524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Chap 5.5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5" grpId="0"/>
      <p:bldP spid="16" grpId="0"/>
      <p:bldP spid="17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1" name="Text Box 2"/>
          <p:cNvSpPr txBox="1">
            <a:spLocks noChangeArrowheads="1"/>
          </p:cNvSpPr>
          <p:nvPr/>
        </p:nvSpPr>
        <p:spPr bwMode="auto">
          <a:xfrm>
            <a:off x="1631951" y="3573464"/>
            <a:ext cx="6480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0000CC"/>
                </a:solidFill>
                <a:ea typeface="黑体" panose="02010609060101010101" pitchFamily="49" charset="-122"/>
              </a:rPr>
              <a:t>2. Boundary conditions (general problems)</a:t>
            </a:r>
            <a:endParaRPr kumimoji="1" lang="en-US" altLang="zh-CN" sz="2000" b="1" dirty="0">
              <a:solidFill>
                <a:srgbClr val="0000CC"/>
              </a:solidFill>
              <a:ea typeface="楷体_GB2312" pitchFamily="49" charset="-122"/>
            </a:endParaRPr>
          </a:p>
        </p:txBody>
      </p:sp>
      <p:graphicFrame>
        <p:nvGraphicFramePr>
          <p:cNvPr id="273412" name="Object 4"/>
          <p:cNvGraphicFramePr>
            <a:graphicFrameLocks noChangeAspect="1"/>
          </p:cNvGraphicFramePr>
          <p:nvPr/>
        </p:nvGraphicFramePr>
        <p:xfrm>
          <a:off x="3862388" y="2565400"/>
          <a:ext cx="14414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8" name="Equation" r:id="rId1" imgW="850900" imgH="241300" progId="Equation.DSMT4">
                  <p:embed/>
                </p:oleObj>
              </mc:Choice>
              <mc:Fallback>
                <p:oleObj name="Equation" r:id="rId1" imgW="850900" imgH="241300" progId="Equation.DSMT4">
                  <p:embed/>
                  <p:pic>
                    <p:nvPicPr>
                      <p:cNvPr id="0" name="图片 813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2565400"/>
                        <a:ext cx="144145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8405" name="Text Box 5"/>
          <p:cNvSpPr txBox="1">
            <a:spLocks noChangeArrowheads="1"/>
          </p:cNvSpPr>
          <p:nvPr/>
        </p:nvSpPr>
        <p:spPr bwMode="auto">
          <a:xfrm>
            <a:off x="1720851" y="1819275"/>
            <a:ext cx="2359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>
                <a:solidFill>
                  <a:srgbClr val="000000"/>
                </a:solidFill>
              </a:rPr>
              <a:t>Differential form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：</a:t>
            </a:r>
            <a:endParaRPr kumimoji="1" lang="zh-CN" altLang="en-US" sz="2400" b="1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273414" name="Object 7"/>
          <p:cNvGraphicFramePr>
            <a:graphicFrameLocks noChangeAspect="1"/>
          </p:cNvGraphicFramePr>
          <p:nvPr/>
        </p:nvGraphicFramePr>
        <p:xfrm>
          <a:off x="5519738" y="3141663"/>
          <a:ext cx="11493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9" name="Equation" r:id="rId3" imgW="736600" imgH="241300" progId="Equation.DSMT4">
                  <p:embed/>
                </p:oleObj>
              </mc:Choice>
              <mc:Fallback>
                <p:oleObj name="Equation" r:id="rId3" imgW="736600" imgH="241300" progId="Equation.DSMT4">
                  <p:embed/>
                  <p:pic>
                    <p:nvPicPr>
                      <p:cNvPr id="0" name="图片 813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3141663"/>
                        <a:ext cx="11493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8408" name="Text Box 8"/>
          <p:cNvSpPr txBox="1">
            <a:spLocks noChangeArrowheads="1"/>
          </p:cNvSpPr>
          <p:nvPr/>
        </p:nvSpPr>
        <p:spPr bwMode="auto">
          <a:xfrm>
            <a:off x="1774825" y="3068638"/>
            <a:ext cx="280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1600" b="1">
                <a:solidFill>
                  <a:srgbClr val="000000"/>
                </a:solidFill>
                <a:ea typeface="楷体_GB2312" pitchFamily="49" charset="-122"/>
              </a:rPr>
              <a:t>Constitutive relations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：</a:t>
            </a:r>
            <a:endParaRPr kumimoji="1" lang="zh-CN" altLang="en-US" sz="2400" b="1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998409" name="Text Box 9"/>
          <p:cNvSpPr txBox="1">
            <a:spLocks noChangeArrowheads="1"/>
          </p:cNvSpPr>
          <p:nvPr/>
        </p:nvSpPr>
        <p:spPr bwMode="auto">
          <a:xfrm>
            <a:off x="1631951" y="1171576"/>
            <a:ext cx="5688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0000CC"/>
                </a:solidFill>
                <a:ea typeface="黑体" panose="02010609060101010101" pitchFamily="49" charset="-122"/>
              </a:rPr>
              <a:t>1. Basic equations (general problems)</a:t>
            </a:r>
            <a:endParaRPr kumimoji="1" lang="en-US" altLang="zh-CN" sz="2000" b="1" dirty="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273417" name="Object 10"/>
          <p:cNvGraphicFramePr>
            <a:graphicFrameLocks noChangeAspect="1"/>
          </p:cNvGraphicFramePr>
          <p:nvPr/>
        </p:nvGraphicFramePr>
        <p:xfrm>
          <a:off x="3571875" y="3933826"/>
          <a:ext cx="20193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20" name="Equation" r:id="rId5" imgW="1460500" imgH="635000" progId="Equation.DSMT4">
                  <p:embed/>
                </p:oleObj>
              </mc:Choice>
              <mc:Fallback>
                <p:oleObj name="Equation" r:id="rId5" imgW="1460500" imgH="635000" progId="Equation.DSMT4">
                  <p:embed/>
                  <p:pic>
                    <p:nvPicPr>
                      <p:cNvPr id="0" name="图片 813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3933826"/>
                        <a:ext cx="20193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8" name="Object 12"/>
          <p:cNvGraphicFramePr>
            <a:graphicFrameLocks noChangeAspect="1"/>
          </p:cNvGraphicFramePr>
          <p:nvPr/>
        </p:nvGraphicFramePr>
        <p:xfrm>
          <a:off x="7545388" y="1476375"/>
          <a:ext cx="1863725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21" name="Equation" r:id="rId7" imgW="1054100" imgH="774700" progId="Equation.DSMT4">
                  <p:embed/>
                </p:oleObj>
              </mc:Choice>
              <mc:Fallback>
                <p:oleObj name="Equation" r:id="rId7" imgW="1054100" imgH="774700" progId="Equation.DSMT4">
                  <p:embed/>
                  <p:pic>
                    <p:nvPicPr>
                      <p:cNvPr id="0" name="图片 813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5388" y="1476375"/>
                        <a:ext cx="1863725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19" name="Text Box 13"/>
          <p:cNvSpPr txBox="1">
            <a:spLocks noChangeArrowheads="1"/>
          </p:cNvSpPr>
          <p:nvPr/>
        </p:nvSpPr>
        <p:spPr bwMode="auto">
          <a:xfrm>
            <a:off x="5738813" y="1773238"/>
            <a:ext cx="1797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1600" b="1">
                <a:solidFill>
                  <a:srgbClr val="000000"/>
                </a:solidFill>
                <a:ea typeface="楷体_GB2312" pitchFamily="49" charset="-122"/>
              </a:rPr>
              <a:t>Integral forms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：</a:t>
            </a:r>
            <a:endParaRPr kumimoji="1" lang="zh-CN" altLang="en-US" sz="2400" b="1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273420" name="Object 15"/>
          <p:cNvGraphicFramePr>
            <a:graphicFrameLocks noChangeAspect="1"/>
          </p:cNvGraphicFramePr>
          <p:nvPr/>
        </p:nvGraphicFramePr>
        <p:xfrm>
          <a:off x="7248525" y="3933826"/>
          <a:ext cx="17335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22" name="Equation" r:id="rId9" imgW="1092200" imgH="571500" progId="Equation.DSMT4">
                  <p:embed/>
                </p:oleObj>
              </mc:Choice>
              <mc:Fallback>
                <p:oleObj name="Equation" r:id="rId9" imgW="1092200" imgH="571500" progId="Equation.DSMT4">
                  <p:embed/>
                  <p:pic>
                    <p:nvPicPr>
                      <p:cNvPr id="0" name="图片 813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5" y="3933826"/>
                        <a:ext cx="173355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8416" name="Text Box 16"/>
          <p:cNvSpPr txBox="1">
            <a:spLocks noChangeArrowheads="1"/>
          </p:cNvSpPr>
          <p:nvPr/>
        </p:nvSpPr>
        <p:spPr bwMode="auto">
          <a:xfrm>
            <a:off x="6383339" y="4292601"/>
            <a:ext cx="8270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OR</a:t>
            </a:r>
            <a:endParaRPr kumimoji="1" lang="en-US" altLang="zh-CN" sz="2000" b="1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73422" name="Text Box 18"/>
          <p:cNvSpPr txBox="1">
            <a:spLocks noChangeArrowheads="1"/>
          </p:cNvSpPr>
          <p:nvPr/>
        </p:nvSpPr>
        <p:spPr bwMode="auto">
          <a:xfrm>
            <a:off x="1631950" y="5229226"/>
            <a:ext cx="871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3. </a:t>
            </a:r>
            <a:r>
              <a:rPr kumimoji="1" lang="en-US" altLang="zh-CN" b="1">
                <a:solidFill>
                  <a:srgbClr val="0000CC"/>
                </a:solidFill>
              </a:rPr>
              <a:t>Two types of problems</a:t>
            </a:r>
            <a:r>
              <a:rPr kumimoji="1" lang="en-US" altLang="zh-CN"/>
              <a:t> </a:t>
            </a:r>
            <a:r>
              <a:rPr kumimoji="1"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according to the medium </a:t>
            </a:r>
            <a:r>
              <a:rPr kumimoji="1" lang="en-US" altLang="zh-CN" sz="2000" b="1">
                <a:solidFill>
                  <a:srgbClr val="0000CC"/>
                </a:solidFill>
                <a:ea typeface="楷体_GB2312" pitchFamily="49" charset="-122"/>
              </a:rPr>
              <a:t>(special problems)</a:t>
            </a:r>
            <a:endParaRPr kumimoji="1" lang="en-US" altLang="zh-CN" sz="2000" b="1">
              <a:solidFill>
                <a:srgbClr val="0000CC"/>
              </a:solidFill>
              <a:ea typeface="楷体_GB2312" pitchFamily="49" charset="-122"/>
            </a:endParaRPr>
          </a:p>
        </p:txBody>
      </p:sp>
      <p:grpSp>
        <p:nvGrpSpPr>
          <p:cNvPr id="998419" name="Group 19"/>
          <p:cNvGrpSpPr/>
          <p:nvPr/>
        </p:nvGrpSpPr>
        <p:grpSpPr bwMode="auto">
          <a:xfrm>
            <a:off x="2520950" y="5661026"/>
            <a:ext cx="2927350" cy="701675"/>
            <a:chOff x="340" y="1207"/>
            <a:chExt cx="1844" cy="442"/>
          </a:xfrm>
        </p:grpSpPr>
        <p:graphicFrame>
          <p:nvGraphicFramePr>
            <p:cNvPr id="273424" name="Object 20"/>
            <p:cNvGraphicFramePr>
              <a:graphicFrameLocks noChangeAspect="1"/>
            </p:cNvGraphicFramePr>
            <p:nvPr/>
          </p:nvGraphicFramePr>
          <p:xfrm>
            <a:off x="1580" y="1247"/>
            <a:ext cx="604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323" name="Equation" r:id="rId11" imgW="431800" imgH="165100" progId="Equation.DSMT4">
                    <p:embed/>
                  </p:oleObj>
                </mc:Choice>
                <mc:Fallback>
                  <p:oleObj name="Equation" r:id="rId11" imgW="431800" imgH="165100" progId="Equation.DSMT4">
                    <p:embed/>
                    <p:pic>
                      <p:nvPicPr>
                        <p:cNvPr id="0" name="图片 813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0" y="1247"/>
                          <a:ext cx="604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3425" name="Text Box 21"/>
            <p:cNvSpPr txBox="1">
              <a:spLocks noChangeArrowheads="1"/>
            </p:cNvSpPr>
            <p:nvPr/>
          </p:nvSpPr>
          <p:spPr bwMode="auto">
            <a:xfrm>
              <a:off x="340" y="1207"/>
              <a:ext cx="140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r>
                <a:rPr kumimoji="1" lang="en-US" altLang="zh-CN" sz="1600" b="1" dirty="0">
                  <a:solidFill>
                    <a:srgbClr val="000000"/>
                  </a:solidFill>
                  <a:ea typeface="楷体_GB2312" pitchFamily="49" charset="-122"/>
                </a:rPr>
                <a:t>Conductive medium </a:t>
              </a:r>
              <a:r>
                <a:rPr kumimoji="1" lang="zh-CN" altLang="en-US" sz="2400" b="1" dirty="0">
                  <a:solidFill>
                    <a:srgbClr val="000000"/>
                  </a:solidFill>
                  <a:ea typeface="楷体_GB2312" pitchFamily="49" charset="-122"/>
                </a:rPr>
                <a:t>：</a:t>
              </a:r>
              <a:endParaRPr kumimoji="1" lang="zh-CN" altLang="en-US" sz="2400" b="1" dirty="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998422" name="Group 22"/>
          <p:cNvGrpSpPr/>
          <p:nvPr/>
        </p:nvGrpSpPr>
        <p:grpSpPr bwMode="auto">
          <a:xfrm>
            <a:off x="6481763" y="5661025"/>
            <a:ext cx="3265488" cy="457200"/>
            <a:chOff x="340" y="1207"/>
            <a:chExt cx="2057" cy="288"/>
          </a:xfrm>
        </p:grpSpPr>
        <p:graphicFrame>
          <p:nvGraphicFramePr>
            <p:cNvPr id="273427" name="Object 23"/>
            <p:cNvGraphicFramePr>
              <a:graphicFrameLocks noChangeAspect="1"/>
            </p:cNvGraphicFramePr>
            <p:nvPr/>
          </p:nvGraphicFramePr>
          <p:xfrm>
            <a:off x="1793" y="1255"/>
            <a:ext cx="604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324" name="Equation" r:id="rId13" imgW="431800" imgH="165100" progId="Equation.DSMT4">
                    <p:embed/>
                  </p:oleObj>
                </mc:Choice>
                <mc:Fallback>
                  <p:oleObj name="Equation" r:id="rId13" imgW="431800" imgH="165100" progId="Equation.DSMT4">
                    <p:embed/>
                    <p:pic>
                      <p:nvPicPr>
                        <p:cNvPr id="0" name="图片 813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3" y="1255"/>
                          <a:ext cx="604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3428" name="Text Box 24"/>
            <p:cNvSpPr txBox="1">
              <a:spLocks noChangeArrowheads="1"/>
            </p:cNvSpPr>
            <p:nvPr/>
          </p:nvSpPr>
          <p:spPr bwMode="auto">
            <a:xfrm>
              <a:off x="340" y="1207"/>
              <a:ext cx="14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r>
                <a:rPr kumimoji="1" lang="en-US" altLang="zh-CN" sz="1600" b="1" dirty="0">
                  <a:solidFill>
                    <a:srgbClr val="000000"/>
                  </a:solidFill>
                  <a:ea typeface="楷体_GB2312" pitchFamily="49" charset="-122"/>
                </a:rPr>
                <a:t>Existing medium </a:t>
              </a:r>
              <a:r>
                <a:rPr kumimoji="1" lang="zh-CN" altLang="en-US" sz="2400" b="1" dirty="0">
                  <a:solidFill>
                    <a:srgbClr val="000000"/>
                  </a:solidFill>
                  <a:ea typeface="楷体_GB2312" pitchFamily="49" charset="-122"/>
                </a:rPr>
                <a:t>：</a:t>
              </a:r>
              <a:endParaRPr kumimoji="1" lang="zh-CN" altLang="en-US" sz="2400" b="1" dirty="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graphicFrame>
        <p:nvGraphicFramePr>
          <p:cNvPr id="273430" name="Object 2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808414" y="1700214"/>
          <a:ext cx="14954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25" name="公式" r:id="rId15" imgW="838200" imgH="596900" progId="Equation.3">
                  <p:embed/>
                </p:oleObj>
              </mc:Choice>
              <mc:Fallback>
                <p:oleObj name="公式" r:id="rId15" imgW="838200" imgH="596900" progId="Equation.3">
                  <p:embed/>
                  <p:pic>
                    <p:nvPicPr>
                      <p:cNvPr id="0" name="图片 8132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414" y="1700214"/>
                        <a:ext cx="14954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31" name="Object 3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691438" y="2565401"/>
          <a:ext cx="16446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26" name="Equation" r:id="rId17" imgW="1143000" imgH="317500" progId="Equation.DSMT4">
                  <p:embed/>
                </p:oleObj>
              </mc:Choice>
              <mc:Fallback>
                <p:oleObj name="Equation" r:id="rId17" imgW="1143000" imgH="317500" progId="Equation.DSMT4">
                  <p:embed/>
                  <p:pic>
                    <p:nvPicPr>
                      <p:cNvPr id="0" name="图片 8132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1438" y="2565401"/>
                        <a:ext cx="16446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32" name="Object 3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224339" y="3141664"/>
          <a:ext cx="89693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27" name="Equation" r:id="rId19" imgW="596900" imgH="215900" progId="Equation.DSMT4">
                  <p:embed/>
                </p:oleObj>
              </mc:Choice>
              <mc:Fallback>
                <p:oleObj name="Equation" r:id="rId19" imgW="596900" imgH="215900" progId="Equation.DSMT4">
                  <p:embed/>
                  <p:pic>
                    <p:nvPicPr>
                      <p:cNvPr id="0" name="图片 813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3141664"/>
                        <a:ext cx="896937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33" name="Object 3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719513" y="4868864"/>
          <a:ext cx="1719262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28" name="Equation" r:id="rId21" imgW="1409700" imgH="266700" progId="Equation.DSMT4">
                  <p:embed/>
                </p:oleObj>
              </mc:Choice>
              <mc:Fallback>
                <p:oleObj name="Equation" r:id="rId21" imgW="1409700" imgH="266700" progId="Equation.DSMT4">
                  <p:embed/>
                  <p:pic>
                    <p:nvPicPr>
                      <p:cNvPr id="0" name="图片 8132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4868864"/>
                        <a:ext cx="1719262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34" name="Object 43"/>
          <p:cNvGraphicFramePr>
            <a:graphicFrameLocks noChangeAspect="1"/>
          </p:cNvGraphicFramePr>
          <p:nvPr/>
        </p:nvGraphicFramePr>
        <p:xfrm>
          <a:off x="7464426" y="4797425"/>
          <a:ext cx="1584325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29" name="Equation" r:id="rId23" imgW="1143000" imgH="228600" progId="Equation.DSMT4">
                  <p:embed/>
                </p:oleObj>
              </mc:Choice>
              <mc:Fallback>
                <p:oleObj name="Equation" r:id="rId23" imgW="1143000" imgH="228600" progId="Equation.DSMT4">
                  <p:embed/>
                  <p:pic>
                    <p:nvPicPr>
                      <p:cNvPr id="0" name="图片 813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6" y="4797425"/>
                        <a:ext cx="1584325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36" name="Rectangle 28"/>
          <p:cNvSpPr>
            <a:spLocks noChangeArrowheads="1"/>
          </p:cNvSpPr>
          <p:nvPr/>
        </p:nvSpPr>
        <p:spPr bwMode="auto">
          <a:xfrm>
            <a:off x="2711451" y="188914"/>
            <a:ext cx="6697663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800000"/>
                </a:solidFill>
              </a:rPr>
              <a:t>5.6 Boundary Condition for Current Density</a:t>
            </a:r>
            <a:endParaRPr lang="en-US" altLang="zh-CN" sz="3600" b="1">
              <a:solidFill>
                <a:srgbClr val="8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9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9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3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9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9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9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/>
      <p:bldP spid="998405" grpId="0"/>
      <p:bldP spid="998408" grpId="0"/>
      <p:bldP spid="998409" grpId="0"/>
      <p:bldP spid="273419" grpId="0"/>
      <p:bldP spid="998416" grpId="0"/>
      <p:bldP spid="2734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786" name="Text Box 2"/>
          <p:cNvSpPr txBox="1">
            <a:spLocks noChangeArrowheads="1"/>
          </p:cNvSpPr>
          <p:nvPr/>
        </p:nvSpPr>
        <p:spPr bwMode="auto">
          <a:xfrm>
            <a:off x="2063750" y="1557339"/>
            <a:ext cx="917228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The potential function satisfies the requirement of Laplace’s equations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14787" name="Object 3"/>
          <p:cNvGraphicFramePr>
            <a:graphicFrameLocks noChangeAspect="1"/>
          </p:cNvGraphicFramePr>
          <p:nvPr/>
        </p:nvGraphicFramePr>
        <p:xfrm>
          <a:off x="2495551" y="3830639"/>
          <a:ext cx="2879725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46" name="Equation" r:id="rId1" imgW="1397000" imgH="800100" progId="Equation.DSMT4">
                  <p:embed/>
                </p:oleObj>
              </mc:Choice>
              <mc:Fallback>
                <p:oleObj name="Equation" r:id="rId1" imgW="1397000" imgH="800100" progId="Equation.DSMT4">
                  <p:embed/>
                  <p:pic>
                    <p:nvPicPr>
                      <p:cNvPr id="0" name="图片 872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3830639"/>
                        <a:ext cx="2879725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3829" name="Text Box 4"/>
          <p:cNvSpPr txBox="1">
            <a:spLocks noChangeArrowheads="1"/>
          </p:cNvSpPr>
          <p:nvPr/>
        </p:nvSpPr>
        <p:spPr bwMode="auto">
          <a:xfrm>
            <a:off x="1847849" y="476250"/>
            <a:ext cx="9748405" cy="5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Tx/>
              <a:buBlip>
                <a:blip r:embed="rId3"/>
              </a:buBlip>
            </a:pPr>
            <a:r>
              <a:rPr kumimoji="1" lang="en-US" altLang="zh-CN" sz="2400" b="1" dirty="0">
                <a:solidFill>
                  <a:srgbClr val="0000CC"/>
                </a:solidFill>
                <a:ea typeface="楷体_GB2312" pitchFamily="49" charset="-122"/>
              </a:rPr>
              <a:t>          of steady current field</a:t>
            </a:r>
            <a:endParaRPr kumimoji="1" lang="en-US" altLang="zh-CN" sz="2400" b="1" dirty="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1014789" name="Text Box 5"/>
          <p:cNvSpPr txBox="1">
            <a:spLocks noChangeArrowheads="1"/>
          </p:cNvSpPr>
          <p:nvPr/>
        </p:nvSpPr>
        <p:spPr bwMode="auto">
          <a:xfrm>
            <a:off x="2063750" y="3351214"/>
            <a:ext cx="7488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Boundary conditions of electric potential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14790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755404" y="2512866"/>
          <a:ext cx="147891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47" name="Equation" r:id="rId4" imgW="533400" imgH="228600" progId="Equation.DSMT4">
                  <p:embed/>
                </p:oleObj>
              </mc:Choice>
              <mc:Fallback>
                <p:oleObj name="Equation" r:id="rId4" imgW="533400" imgH="228600" progId="Equation.DSMT4">
                  <p:embed/>
                  <p:pic>
                    <p:nvPicPr>
                      <p:cNvPr id="0" name="图片 8724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5404" y="2512866"/>
                        <a:ext cx="147891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791" name="Object 7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566989" y="5511802"/>
          <a:ext cx="3457575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48" name="Equation" r:id="rId6" imgW="1866900" imgH="444500" progId="Equation.DSMT4">
                  <p:embed/>
                </p:oleObj>
              </mc:Choice>
              <mc:Fallback>
                <p:oleObj name="Equation" r:id="rId6" imgW="1866900" imgH="444500" progId="Equation.DSMT4">
                  <p:embed/>
                  <p:pic>
                    <p:nvPicPr>
                      <p:cNvPr id="0" name="图片 8724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5511802"/>
                        <a:ext cx="3457575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792" name="Object 8"/>
          <p:cNvGraphicFramePr>
            <a:graphicFrameLocks noChangeAspect="1"/>
          </p:cNvGraphicFramePr>
          <p:nvPr/>
        </p:nvGraphicFramePr>
        <p:xfrm>
          <a:off x="6816725" y="4181477"/>
          <a:ext cx="2520950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49" name="Equation" r:id="rId8" imgW="1092200" imgH="571500" progId="Equation.DSMT4">
                  <p:embed/>
                </p:oleObj>
              </mc:Choice>
              <mc:Fallback>
                <p:oleObj name="Equation" r:id="rId8" imgW="1092200" imgH="571500" progId="Equation.DSMT4">
                  <p:embed/>
                  <p:pic>
                    <p:nvPicPr>
                      <p:cNvPr id="0" name="图片 872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4181477"/>
                        <a:ext cx="2520950" cy="118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793" name="Object 9"/>
          <p:cNvGraphicFramePr>
            <a:graphicFrameLocks noChangeAspect="1"/>
          </p:cNvGraphicFramePr>
          <p:nvPr/>
        </p:nvGraphicFramePr>
        <p:xfrm>
          <a:off x="6959600" y="5654678"/>
          <a:ext cx="27368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50" name="Equation" r:id="rId10" imgW="1308100" imgH="228600" progId="Equation.DSMT4">
                  <p:embed/>
                </p:oleObj>
              </mc:Choice>
              <mc:Fallback>
                <p:oleObj name="Equation" r:id="rId10" imgW="1308100" imgH="228600" progId="Equation.DSMT4">
                  <p:embed/>
                  <p:pic>
                    <p:nvPicPr>
                      <p:cNvPr id="0" name="图片 872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5654678"/>
                        <a:ext cx="27368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794" name="AutoShape 10"/>
          <p:cNvSpPr>
            <a:spLocks noChangeArrowheads="1"/>
          </p:cNvSpPr>
          <p:nvPr/>
        </p:nvSpPr>
        <p:spPr bwMode="auto">
          <a:xfrm>
            <a:off x="5591176" y="4502153"/>
            <a:ext cx="1008063" cy="504825"/>
          </a:xfrm>
          <a:prstGeom prst="leftArrow">
            <a:avLst>
              <a:gd name="adj1" fmla="val 50000"/>
              <a:gd name="adj2" fmla="val 49921"/>
            </a:avLst>
          </a:prstGeom>
          <a:solidFill>
            <a:srgbClr val="FFCC99"/>
          </a:solidFill>
          <a:ln w="25400" algn="ctr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3200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014795" name="Object 11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158563" y="2445715"/>
          <a:ext cx="1857375" cy="710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251" name="Equation" r:id="rId12" imgW="711200" imgH="241300" progId="Equation.DSMT4">
                  <p:embed/>
                </p:oleObj>
              </mc:Choice>
              <mc:Fallback>
                <p:oleObj name="Equation" r:id="rId12" imgW="711200" imgH="241300" progId="Equation.DSMT4">
                  <p:embed/>
                  <p:pic>
                    <p:nvPicPr>
                      <p:cNvPr id="0" name="图片 8725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8563" y="2445715"/>
                        <a:ext cx="1857375" cy="710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889673" y="5584826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  <p:graphicFrame>
        <p:nvGraphicFramePr>
          <p:cNvPr id="2" name="Object 6"/>
          <p:cNvGraphicFramePr>
            <a:graphicFrameLocks noGrp="1" noChangeAspect="1"/>
          </p:cNvGraphicFramePr>
          <p:nvPr/>
        </p:nvGraphicFramePr>
        <p:xfrm>
          <a:off x="2495247" y="571989"/>
          <a:ext cx="387350" cy="497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15" imgW="139700" imgH="165100" progId="Equation.DSMT4">
                  <p:embed/>
                </p:oleObj>
              </mc:Choice>
              <mc:Fallback>
                <p:oleObj name="Equation" r:id="rId15" imgW="139700" imgH="165100" progId="Equation.DSMT4">
                  <p:embed/>
                  <p:pic>
                    <p:nvPicPr>
                      <p:cNvPr id="0" name="图片 8724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247" y="571989"/>
                        <a:ext cx="387350" cy="497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1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1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1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1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1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14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1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1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786" grpId="0"/>
      <p:bldP spid="1014789" grpId="0"/>
      <p:bldP spid="101479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4435" name="Object 20"/>
          <p:cNvGraphicFramePr>
            <a:graphicFrameLocks noChangeAspect="1"/>
          </p:cNvGraphicFramePr>
          <p:nvPr/>
        </p:nvGraphicFramePr>
        <p:xfrm>
          <a:off x="2874676" y="3553063"/>
          <a:ext cx="421957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00" name="Equation" r:id="rId1" imgW="2628900" imgH="495300" progId="Equation.DSMT4">
                  <p:embed/>
                </p:oleObj>
              </mc:Choice>
              <mc:Fallback>
                <p:oleObj name="Equation" r:id="rId1" imgW="2628900" imgH="495300" progId="Equation.DSMT4">
                  <p:embed/>
                  <p:pic>
                    <p:nvPicPr>
                      <p:cNvPr id="0" name="图片 824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676" y="3553063"/>
                        <a:ext cx="421957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6" name="Object 24"/>
          <p:cNvGraphicFramePr>
            <a:graphicFrameLocks noChangeAspect="1"/>
          </p:cNvGraphicFramePr>
          <p:nvPr/>
        </p:nvGraphicFramePr>
        <p:xfrm>
          <a:off x="3128684" y="5691474"/>
          <a:ext cx="146208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01" name="Equation" r:id="rId3" imgW="787400" imgH="571500" progId="Equation.DSMT4">
                  <p:embed/>
                </p:oleObj>
              </mc:Choice>
              <mc:Fallback>
                <p:oleObj name="Equation" r:id="rId3" imgW="787400" imgH="571500" progId="Equation.DSMT4">
                  <p:embed/>
                  <p:pic>
                    <p:nvPicPr>
                      <p:cNvPr id="0" name="图片 825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8684" y="5691474"/>
                        <a:ext cx="146208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9450" name="Rectangle 26"/>
          <p:cNvSpPr>
            <a:spLocks noChangeArrowheads="1"/>
          </p:cNvSpPr>
          <p:nvPr/>
        </p:nvSpPr>
        <p:spPr bwMode="auto">
          <a:xfrm>
            <a:off x="1523999" y="333375"/>
            <a:ext cx="5347855" cy="522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3D3D3D"/>
                    </a:gs>
                    <a:gs pos="100000">
                      <a:srgbClr val="909090"/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Tx/>
              <a:buBlip>
                <a:blip r:embed="rId5"/>
              </a:buBlip>
            </a:pPr>
            <a:r>
              <a:rPr kumimoji="1" lang="en-US" altLang="zh-CN" sz="2400" b="1" dirty="0" smtClean="0">
                <a:solidFill>
                  <a:srgbClr val="000000"/>
                </a:solidFill>
                <a:ea typeface="楷体_GB2312" pitchFamily="49" charset="-122"/>
              </a:rPr>
              <a:t>two conductors </a:t>
            </a:r>
            <a:endParaRPr kumimoji="1" lang="en-US" altLang="zh-CN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74438" name="Rectangle 27"/>
          <p:cNvSpPr>
            <a:spLocks noChangeArrowheads="1"/>
          </p:cNvSpPr>
          <p:nvPr/>
        </p:nvSpPr>
        <p:spPr bwMode="auto">
          <a:xfrm>
            <a:off x="1630363" y="4308341"/>
            <a:ext cx="4970462" cy="522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3D3D3D"/>
                    </a:gs>
                    <a:gs pos="100000">
                      <a:srgbClr val="909090"/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Tx/>
              <a:buBlip>
                <a:blip r:embed="rId5"/>
              </a:buBlip>
            </a:pPr>
            <a:r>
              <a:rPr kumimoji="1" lang="en-US" altLang="zh-CN" sz="2400" b="1" dirty="0" smtClean="0">
                <a:solidFill>
                  <a:srgbClr val="000000"/>
                </a:solidFill>
                <a:ea typeface="楷体_GB2312" pitchFamily="49" charset="-122"/>
              </a:rPr>
              <a:t>Medium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and conductor</a:t>
            </a:r>
            <a:endParaRPr kumimoji="1" lang="en-US" altLang="zh-CN" sz="24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999452" name="Rectangle 28"/>
          <p:cNvSpPr>
            <a:spLocks noChangeArrowheads="1"/>
          </p:cNvSpPr>
          <p:nvPr/>
        </p:nvSpPr>
        <p:spPr bwMode="auto">
          <a:xfrm>
            <a:off x="1643062" y="2631834"/>
            <a:ext cx="6764052" cy="850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3D3D3D"/>
                    </a:gs>
                    <a:gs pos="100000">
                      <a:srgbClr val="909090"/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Direction relation of the field vector at the two sides of the interface</a:t>
            </a:r>
            <a:endParaRPr kumimoji="1" lang="en-US" altLang="zh-CN" sz="3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274440" name="Object 29"/>
          <p:cNvGraphicFramePr>
            <a:graphicFrameLocks noChangeAspect="1"/>
          </p:cNvGraphicFramePr>
          <p:nvPr/>
        </p:nvGraphicFramePr>
        <p:xfrm>
          <a:off x="2979454" y="1706564"/>
          <a:ext cx="217328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02" name="Equation" r:id="rId6" imgW="1092200" imgH="571500" progId="Equation.DSMT4">
                  <p:embed/>
                </p:oleObj>
              </mc:Choice>
              <mc:Fallback>
                <p:oleObj name="Equation" r:id="rId6" imgW="1092200" imgH="571500" progId="Equation.DSMT4">
                  <p:embed/>
                  <p:pic>
                    <p:nvPicPr>
                      <p:cNvPr id="0" name="图片 825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454" y="1706564"/>
                        <a:ext cx="2173287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9454" name="Rectangle 30"/>
          <p:cNvSpPr>
            <a:spLocks noChangeArrowheads="1"/>
          </p:cNvSpPr>
          <p:nvPr/>
        </p:nvSpPr>
        <p:spPr bwMode="auto">
          <a:xfrm>
            <a:off x="1583896" y="829381"/>
            <a:ext cx="6170180" cy="850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3D3D3D"/>
                    </a:gs>
                    <a:gs pos="100000">
                      <a:srgbClr val="909090"/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Boundary conditions on both sides of the boundary</a:t>
            </a:r>
            <a:endParaRPr kumimoji="1" lang="en-US" altLang="zh-CN" sz="20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999456" name="Rectangle 32"/>
          <p:cNvSpPr>
            <a:spLocks noChangeArrowheads="1"/>
          </p:cNvSpPr>
          <p:nvPr/>
        </p:nvSpPr>
        <p:spPr bwMode="auto">
          <a:xfrm>
            <a:off x="1616007" y="4775499"/>
            <a:ext cx="681015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3D3D3D"/>
                    </a:gs>
                    <a:gs pos="100000">
                      <a:srgbClr val="909090"/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The particularity of the field </a:t>
            </a:r>
            <a:r>
              <a:rPr kumimoji="1" lang="en-US" altLang="zh-CN" sz="2000" b="1" dirty="0" smtClean="0">
                <a:solidFill>
                  <a:srgbClr val="000000"/>
                </a:solidFill>
                <a:ea typeface="楷体_GB2312" pitchFamily="49" charset="-122"/>
              </a:rPr>
              <a:t>vector </a:t>
            </a:r>
            <a:r>
              <a:rPr kumimoji="1"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on both sides of the interface</a:t>
            </a:r>
            <a:endParaRPr kumimoji="1" lang="en-US" altLang="zh-CN" sz="20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74443" name="Rectangle 33"/>
          <p:cNvSpPr>
            <a:spLocks noChangeArrowheads="1"/>
          </p:cNvSpPr>
          <p:nvPr/>
        </p:nvSpPr>
        <p:spPr bwMode="auto">
          <a:xfrm>
            <a:off x="8426164" y="3789364"/>
            <a:ext cx="3240088" cy="129698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3200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274444" name="Rectangle 34"/>
          <p:cNvSpPr>
            <a:spLocks noChangeArrowheads="1"/>
          </p:cNvSpPr>
          <p:nvPr/>
        </p:nvSpPr>
        <p:spPr bwMode="auto">
          <a:xfrm>
            <a:off x="8426164" y="5086351"/>
            <a:ext cx="3240088" cy="1152525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3200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274445" name="Text Box 35"/>
          <p:cNvSpPr txBox="1">
            <a:spLocks noChangeArrowheads="1"/>
          </p:cNvSpPr>
          <p:nvPr/>
        </p:nvSpPr>
        <p:spPr bwMode="auto">
          <a:xfrm>
            <a:off x="8569040" y="5157789"/>
            <a:ext cx="15271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conductor</a:t>
            </a:r>
            <a:endParaRPr kumimoji="1" lang="en-US" altLang="zh-CN" sz="20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4446" name="Text Box 36"/>
          <p:cNvSpPr txBox="1">
            <a:spLocks noChangeArrowheads="1"/>
          </p:cNvSpPr>
          <p:nvPr/>
        </p:nvSpPr>
        <p:spPr bwMode="auto">
          <a:xfrm>
            <a:off x="8569040" y="4149726"/>
            <a:ext cx="1152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medium</a:t>
            </a:r>
            <a:endParaRPr kumimoji="1" lang="en-US" altLang="zh-CN" sz="20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74447" name="Object 37"/>
          <p:cNvGraphicFramePr>
            <a:graphicFrameLocks noChangeAspect="1"/>
          </p:cNvGraphicFramePr>
          <p:nvPr/>
        </p:nvGraphicFramePr>
        <p:xfrm>
          <a:off x="8686515" y="5516564"/>
          <a:ext cx="10001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03" name="Equation" r:id="rId8" imgW="571500" imgH="228600" progId="Equation.DSMT4">
                  <p:embed/>
                </p:oleObj>
              </mc:Choice>
              <mc:Fallback>
                <p:oleObj name="Equation" r:id="rId8" imgW="571500" imgH="228600" progId="Equation.DSMT4">
                  <p:embed/>
                  <p:pic>
                    <p:nvPicPr>
                      <p:cNvPr id="0" name="图片 825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515" y="5516564"/>
                        <a:ext cx="10001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8" name="Object 38"/>
          <p:cNvGraphicFramePr>
            <a:graphicFrameLocks noChangeAspect="1"/>
          </p:cNvGraphicFramePr>
          <p:nvPr/>
        </p:nvGraphicFramePr>
        <p:xfrm>
          <a:off x="8605552" y="4581526"/>
          <a:ext cx="12192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04" name="Equation" r:id="rId10" imgW="622300" imgH="228600" progId="Equation.DSMT4">
                  <p:embed/>
                </p:oleObj>
              </mc:Choice>
              <mc:Fallback>
                <p:oleObj name="Equation" r:id="rId10" imgW="622300" imgH="228600" progId="Equation.DSMT4">
                  <p:embed/>
                  <p:pic>
                    <p:nvPicPr>
                      <p:cNvPr id="0" name="图片 825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5552" y="4581526"/>
                        <a:ext cx="12192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9" name="Line 39"/>
          <p:cNvSpPr>
            <a:spLocks noChangeShapeType="1"/>
          </p:cNvSpPr>
          <p:nvPr/>
        </p:nvSpPr>
        <p:spPr bwMode="auto">
          <a:xfrm flipH="1">
            <a:off x="10297827" y="4152900"/>
            <a:ext cx="0" cy="17970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4450" name="Line 40"/>
          <p:cNvSpPr>
            <a:spLocks noChangeShapeType="1"/>
          </p:cNvSpPr>
          <p:nvPr/>
        </p:nvSpPr>
        <p:spPr bwMode="auto">
          <a:xfrm flipV="1">
            <a:off x="10297827" y="4221164"/>
            <a:ext cx="863600" cy="877887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4451" name="Object 42"/>
          <p:cNvGraphicFramePr>
            <a:graphicFrameLocks noChangeAspect="1"/>
          </p:cNvGraphicFramePr>
          <p:nvPr/>
        </p:nvGraphicFramePr>
        <p:xfrm>
          <a:off x="11089989" y="3933825"/>
          <a:ext cx="431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05" name="Equation" r:id="rId12" imgW="177800" imgH="253365" progId="Equation.DSMT4">
                  <p:embed/>
                </p:oleObj>
              </mc:Choice>
              <mc:Fallback>
                <p:oleObj name="Equation" r:id="rId12" imgW="177800" imgH="253365" progId="Equation.DSMT4">
                  <p:embed/>
                  <p:pic>
                    <p:nvPicPr>
                      <p:cNvPr id="0" name="图片 825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9989" y="3933825"/>
                        <a:ext cx="431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52" name="Object 43"/>
          <p:cNvGraphicFramePr>
            <a:graphicFrameLocks noChangeAspect="1"/>
          </p:cNvGraphicFramePr>
          <p:nvPr/>
        </p:nvGraphicFramePr>
        <p:xfrm>
          <a:off x="9929527" y="3941763"/>
          <a:ext cx="4302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06" name="公式" r:id="rId14" imgW="165100" imgH="215900" progId="Equation.3">
                  <p:embed/>
                </p:oleObj>
              </mc:Choice>
              <mc:Fallback>
                <p:oleObj name="公式" r:id="rId14" imgW="165100" imgH="215900" progId="Equation.3">
                  <p:embed/>
                  <p:pic>
                    <p:nvPicPr>
                      <p:cNvPr id="0" name="图片 825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9527" y="3941763"/>
                        <a:ext cx="4302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53" name="Rectangle 44"/>
          <p:cNvSpPr>
            <a:spLocks noChangeArrowheads="1"/>
          </p:cNvSpPr>
          <p:nvPr/>
        </p:nvSpPr>
        <p:spPr bwMode="auto">
          <a:xfrm>
            <a:off x="8426164" y="3789363"/>
            <a:ext cx="3240088" cy="244951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3200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pSp>
        <p:nvGrpSpPr>
          <p:cNvPr id="274454" name="Group 70"/>
          <p:cNvGrpSpPr/>
          <p:nvPr/>
        </p:nvGrpSpPr>
        <p:grpSpPr bwMode="auto">
          <a:xfrm>
            <a:off x="8426165" y="692151"/>
            <a:ext cx="3241675" cy="2449513"/>
            <a:chOff x="3560" y="436"/>
            <a:chExt cx="2042" cy="1543"/>
          </a:xfrm>
        </p:grpSpPr>
        <p:sp>
          <p:nvSpPr>
            <p:cNvPr id="274455" name="Rectangle 46"/>
            <p:cNvSpPr>
              <a:spLocks noChangeArrowheads="1"/>
            </p:cNvSpPr>
            <p:nvPr/>
          </p:nvSpPr>
          <p:spPr bwMode="auto">
            <a:xfrm>
              <a:off x="3560" y="436"/>
              <a:ext cx="2041" cy="81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274456" name="Rectangle 47"/>
            <p:cNvSpPr>
              <a:spLocks noChangeArrowheads="1"/>
            </p:cNvSpPr>
            <p:nvPr/>
          </p:nvSpPr>
          <p:spPr bwMode="auto">
            <a:xfrm>
              <a:off x="3561" y="1253"/>
              <a:ext cx="2041" cy="72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274457" name="Text Box 48"/>
            <p:cNvSpPr txBox="1">
              <a:spLocks noChangeArrowheads="1"/>
            </p:cNvSpPr>
            <p:nvPr/>
          </p:nvSpPr>
          <p:spPr bwMode="auto">
            <a:xfrm>
              <a:off x="3560" y="1253"/>
              <a:ext cx="9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2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Conductive medium 2</a:t>
              </a:r>
              <a:endParaRPr kumimoji="1" lang="en-US" altLang="zh-CN" sz="1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74458" name="Text Box 49"/>
            <p:cNvSpPr txBox="1">
              <a:spLocks noChangeArrowheads="1"/>
            </p:cNvSpPr>
            <p:nvPr/>
          </p:nvSpPr>
          <p:spPr bwMode="auto">
            <a:xfrm>
              <a:off x="3560" y="663"/>
              <a:ext cx="102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2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Conductive medium 1</a:t>
              </a:r>
              <a:endParaRPr kumimoji="1" lang="en-US" altLang="zh-CN" sz="12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74459" name="Object 50"/>
            <p:cNvGraphicFramePr>
              <a:graphicFrameLocks noChangeAspect="1"/>
            </p:cNvGraphicFramePr>
            <p:nvPr/>
          </p:nvGraphicFramePr>
          <p:xfrm>
            <a:off x="3651" y="1434"/>
            <a:ext cx="446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07" name="Equation" r:id="rId16" imgW="406400" imgH="228600" progId="Equation.DSMT4">
                    <p:embed/>
                  </p:oleObj>
                </mc:Choice>
                <mc:Fallback>
                  <p:oleObj name="Equation" r:id="rId16" imgW="406400" imgH="228600" progId="Equation.DSMT4">
                    <p:embed/>
                    <p:pic>
                      <p:nvPicPr>
                        <p:cNvPr id="0" name="图片 825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1434"/>
                          <a:ext cx="446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4460" name="Object 51"/>
            <p:cNvGraphicFramePr>
              <a:graphicFrameLocks noChangeAspect="1"/>
            </p:cNvGraphicFramePr>
            <p:nvPr/>
          </p:nvGraphicFramePr>
          <p:xfrm>
            <a:off x="3651" y="935"/>
            <a:ext cx="472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08" name="Equation" r:id="rId18" imgW="381000" imgH="228600" progId="Equation.DSMT4">
                    <p:embed/>
                  </p:oleObj>
                </mc:Choice>
                <mc:Fallback>
                  <p:oleObj name="Equation" r:id="rId18" imgW="381000" imgH="228600" progId="Equation.DSMT4">
                    <p:embed/>
                    <p:pic>
                      <p:nvPicPr>
                        <p:cNvPr id="0" name="图片 825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935"/>
                          <a:ext cx="472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4461" name="Line 52"/>
            <p:cNvSpPr>
              <a:spLocks noChangeShapeType="1"/>
            </p:cNvSpPr>
            <p:nvPr/>
          </p:nvSpPr>
          <p:spPr bwMode="auto">
            <a:xfrm flipV="1">
              <a:off x="4468" y="1253"/>
              <a:ext cx="288" cy="40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62" name="Line 53"/>
            <p:cNvSpPr>
              <a:spLocks noChangeShapeType="1"/>
            </p:cNvSpPr>
            <p:nvPr/>
          </p:nvSpPr>
          <p:spPr bwMode="auto">
            <a:xfrm flipH="1">
              <a:off x="4739" y="665"/>
              <a:ext cx="0" cy="1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63" name="Line 54"/>
            <p:cNvSpPr>
              <a:spLocks noChangeShapeType="1"/>
            </p:cNvSpPr>
            <p:nvPr/>
          </p:nvSpPr>
          <p:spPr bwMode="auto">
            <a:xfrm flipV="1">
              <a:off x="4740" y="981"/>
              <a:ext cx="363" cy="28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64" name="Freeform 55"/>
            <p:cNvSpPr/>
            <p:nvPr/>
          </p:nvSpPr>
          <p:spPr bwMode="auto">
            <a:xfrm>
              <a:off x="4649" y="1389"/>
              <a:ext cx="119" cy="57"/>
            </a:xfrm>
            <a:custGeom>
              <a:avLst/>
              <a:gdLst>
                <a:gd name="T0" fmla="*/ 0 w 192"/>
                <a:gd name="T1" fmla="*/ 0 h 112"/>
                <a:gd name="T2" fmla="*/ 6 w 192"/>
                <a:gd name="T3" fmla="*/ 2 h 112"/>
                <a:gd name="T4" fmla="*/ 11 w 192"/>
                <a:gd name="T5" fmla="*/ 2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112">
                  <a:moveTo>
                    <a:pt x="0" y="0"/>
                  </a:moveTo>
                  <a:cubicBezTo>
                    <a:pt x="32" y="40"/>
                    <a:pt x="64" y="80"/>
                    <a:pt x="96" y="96"/>
                  </a:cubicBezTo>
                  <a:cubicBezTo>
                    <a:pt x="128" y="112"/>
                    <a:pt x="160" y="104"/>
                    <a:pt x="192" y="96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465" name="Freeform 56"/>
            <p:cNvSpPr/>
            <p:nvPr/>
          </p:nvSpPr>
          <p:spPr bwMode="auto">
            <a:xfrm rot="11412101" flipV="1">
              <a:off x="4760" y="1026"/>
              <a:ext cx="207" cy="45"/>
            </a:xfrm>
            <a:custGeom>
              <a:avLst/>
              <a:gdLst>
                <a:gd name="T0" fmla="*/ 0 w 192"/>
                <a:gd name="T1" fmla="*/ 14 h 56"/>
                <a:gd name="T2" fmla="*/ 151 w 192"/>
                <a:gd name="T3" fmla="*/ 2 h 56"/>
                <a:gd name="T4" fmla="*/ 301 w 192"/>
                <a:gd name="T5" fmla="*/ 2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56">
                  <a:moveTo>
                    <a:pt x="0" y="56"/>
                  </a:moveTo>
                  <a:cubicBezTo>
                    <a:pt x="32" y="36"/>
                    <a:pt x="64" y="16"/>
                    <a:pt x="96" y="8"/>
                  </a:cubicBezTo>
                  <a:cubicBezTo>
                    <a:pt x="128" y="0"/>
                    <a:pt x="168" y="8"/>
                    <a:pt x="192" y="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4466" name="Object 57"/>
            <p:cNvGraphicFramePr>
              <a:graphicFrameLocks noChangeAspect="1"/>
            </p:cNvGraphicFramePr>
            <p:nvPr/>
          </p:nvGraphicFramePr>
          <p:xfrm>
            <a:off x="4558" y="1434"/>
            <a:ext cx="228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09" name="Equation" r:id="rId20" imgW="165100" imgH="215900" progId="Equation.3">
                    <p:embed/>
                  </p:oleObj>
                </mc:Choice>
                <mc:Fallback>
                  <p:oleObj name="Equation" r:id="rId20" imgW="165100" imgH="215900" progId="Equation.3">
                    <p:embed/>
                    <p:pic>
                      <p:nvPicPr>
                        <p:cNvPr id="0" name="图片 825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1434"/>
                          <a:ext cx="228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4467" name="Object 58"/>
            <p:cNvGraphicFramePr>
              <a:graphicFrameLocks noChangeAspect="1"/>
            </p:cNvGraphicFramePr>
            <p:nvPr/>
          </p:nvGraphicFramePr>
          <p:xfrm>
            <a:off x="4785" y="799"/>
            <a:ext cx="24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10" name="Equation" r:id="rId22" imgW="152400" imgH="215900" progId="Equation.3">
                    <p:embed/>
                  </p:oleObj>
                </mc:Choice>
                <mc:Fallback>
                  <p:oleObj name="Equation" r:id="rId22" imgW="152400" imgH="215900" progId="Equation.3">
                    <p:embed/>
                    <p:pic>
                      <p:nvPicPr>
                        <p:cNvPr id="0" name="图片 825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799"/>
                          <a:ext cx="241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4468" name="Object 59"/>
            <p:cNvGraphicFramePr>
              <a:graphicFrameLocks noChangeAspect="1"/>
            </p:cNvGraphicFramePr>
            <p:nvPr/>
          </p:nvGraphicFramePr>
          <p:xfrm>
            <a:off x="4286" y="1661"/>
            <a:ext cx="268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11" name="公式" r:id="rId24" imgW="190500" imgH="241300" progId="Equation.3">
                    <p:embed/>
                  </p:oleObj>
                </mc:Choice>
                <mc:Fallback>
                  <p:oleObj name="公式" r:id="rId24" imgW="190500" imgH="241300" progId="Equation.3">
                    <p:embed/>
                    <p:pic>
                      <p:nvPicPr>
                        <p:cNvPr id="0" name="图片 825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6" y="1661"/>
                          <a:ext cx="268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4469" name="Object 60"/>
            <p:cNvGraphicFramePr>
              <a:graphicFrameLocks noChangeAspect="1"/>
            </p:cNvGraphicFramePr>
            <p:nvPr/>
          </p:nvGraphicFramePr>
          <p:xfrm>
            <a:off x="5057" y="709"/>
            <a:ext cx="27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12" name="公式" r:id="rId26" imgW="177800" imgH="241300" progId="Equation.3">
                    <p:embed/>
                  </p:oleObj>
                </mc:Choice>
                <mc:Fallback>
                  <p:oleObj name="公式" r:id="rId26" imgW="177800" imgH="241300" progId="Equation.3">
                    <p:embed/>
                    <p:pic>
                      <p:nvPicPr>
                        <p:cNvPr id="0" name="图片 825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7" y="709"/>
                          <a:ext cx="27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4470" name="Object 61"/>
            <p:cNvGraphicFramePr>
              <a:graphicFrameLocks noChangeAspect="1"/>
            </p:cNvGraphicFramePr>
            <p:nvPr/>
          </p:nvGraphicFramePr>
          <p:xfrm>
            <a:off x="4507" y="533"/>
            <a:ext cx="27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13" name="公式" r:id="rId28" imgW="165100" imgH="215900" progId="Equation.3">
                    <p:embed/>
                  </p:oleObj>
                </mc:Choice>
                <mc:Fallback>
                  <p:oleObj name="公式" r:id="rId28" imgW="165100" imgH="215900" progId="Equation.3">
                    <p:embed/>
                    <p:pic>
                      <p:nvPicPr>
                        <p:cNvPr id="0" name="图片 825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7" y="533"/>
                          <a:ext cx="27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4471" name="Rectangle 62"/>
            <p:cNvSpPr>
              <a:spLocks noChangeArrowheads="1"/>
            </p:cNvSpPr>
            <p:nvPr/>
          </p:nvSpPr>
          <p:spPr bwMode="auto">
            <a:xfrm>
              <a:off x="3560" y="436"/>
              <a:ext cx="2041" cy="1543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sp>
        <p:nvSpPr>
          <p:cNvPr id="274472" name="Line 63"/>
          <p:cNvSpPr>
            <a:spLocks noChangeShapeType="1"/>
          </p:cNvSpPr>
          <p:nvPr/>
        </p:nvSpPr>
        <p:spPr bwMode="auto">
          <a:xfrm flipV="1">
            <a:off x="10297828" y="5113338"/>
            <a:ext cx="936625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4473" name="Object 6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1018553" y="5300664"/>
          <a:ext cx="4032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14" name="Equation" r:id="rId30" imgW="203200" imgH="254000" progId="Equation.DSMT4">
                  <p:embed/>
                </p:oleObj>
              </mc:Choice>
              <mc:Fallback>
                <p:oleObj name="Equation" r:id="rId30" imgW="203200" imgH="254000" progId="Equation.DSMT4">
                  <p:embed/>
                  <p:pic>
                    <p:nvPicPr>
                      <p:cNvPr id="0" name="图片 8251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8553" y="5300664"/>
                        <a:ext cx="4032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9490" name="AutoShape 66"/>
          <p:cNvSpPr>
            <a:spLocks noChangeArrowheads="1"/>
          </p:cNvSpPr>
          <p:nvPr/>
        </p:nvSpPr>
        <p:spPr bwMode="auto">
          <a:xfrm>
            <a:off x="7202204" y="333376"/>
            <a:ext cx="1511298" cy="1223963"/>
          </a:xfrm>
          <a:prstGeom prst="cloudCallout">
            <a:avLst>
              <a:gd name="adj1" fmla="val 30898"/>
              <a:gd name="adj2" fmla="val 79444"/>
            </a:avLst>
          </a:prstGeom>
          <a:solidFill>
            <a:srgbClr val="CCFFFF"/>
          </a:solidFill>
          <a:ln w="2540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</a:rPr>
              <a:t>      Surface charge </a:t>
            </a:r>
            <a:r>
              <a:rPr lang="zh-CN" altLang="en-US" sz="1600" b="1">
                <a:solidFill>
                  <a:srgbClr val="000000"/>
                </a:solidFill>
                <a:latin typeface="Times New Roman" panose="02020603050405020304" pitchFamily="18" charset="0"/>
              </a:rPr>
              <a:t>？</a:t>
            </a:r>
            <a:endParaRPr lang="zh-CN" altLang="en-US" sz="16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4475" name="Object 6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446866" y="2203989"/>
          <a:ext cx="187166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15" name="Equation" r:id="rId32" imgW="1308100" imgH="228600" progId="Equation.DSMT4">
                  <p:embed/>
                </p:oleObj>
              </mc:Choice>
              <mc:Fallback>
                <p:oleObj name="Equation" r:id="rId32" imgW="1308100" imgH="228600" progId="Equation.DSMT4">
                  <p:embed/>
                  <p:pic>
                    <p:nvPicPr>
                      <p:cNvPr id="0" name="图片 825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6866" y="2203989"/>
                        <a:ext cx="1871662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9495" name="AutoShape 71"/>
          <p:cNvSpPr>
            <a:spLocks noChangeArrowheads="1"/>
          </p:cNvSpPr>
          <p:nvPr/>
        </p:nvSpPr>
        <p:spPr bwMode="auto">
          <a:xfrm>
            <a:off x="5885743" y="5414741"/>
            <a:ext cx="2590800" cy="1223962"/>
          </a:xfrm>
          <a:prstGeom prst="cloudCallout">
            <a:avLst>
              <a:gd name="adj1" fmla="val 60782"/>
              <a:gd name="adj2" fmla="val -34046"/>
            </a:avLst>
          </a:prstGeom>
          <a:solidFill>
            <a:srgbClr val="CCFFFF"/>
          </a:solidFill>
          <a:ln w="2540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Is conductor  equivalent electric potential </a:t>
            </a: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？</a:t>
            </a:r>
            <a:endParaRPr lang="zh-CN" altLang="en-US" sz="16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4477" name="Text Box 72"/>
          <p:cNvSpPr txBox="1">
            <a:spLocks noChangeArrowheads="1"/>
          </p:cNvSpPr>
          <p:nvPr/>
        </p:nvSpPr>
        <p:spPr bwMode="auto">
          <a:xfrm>
            <a:off x="9591390" y="5561014"/>
            <a:ext cx="1152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finite</a:t>
            </a:r>
            <a:endParaRPr kumimoji="1" lang="en-US" altLang="zh-CN" sz="20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99497" name="AutoShape 73"/>
          <p:cNvSpPr>
            <a:spLocks noChangeArrowheads="1"/>
          </p:cNvSpPr>
          <p:nvPr/>
        </p:nvSpPr>
        <p:spPr bwMode="auto">
          <a:xfrm>
            <a:off x="8137239" y="3357563"/>
            <a:ext cx="3455988" cy="360362"/>
          </a:xfrm>
          <a:prstGeom prst="cloudCallout">
            <a:avLst>
              <a:gd name="adj1" fmla="val 29833"/>
              <a:gd name="adj2" fmla="val -280838"/>
            </a:avLst>
          </a:prstGeom>
          <a:solidFill>
            <a:srgbClr val="CCFFFF"/>
          </a:solidFill>
          <a:ln w="2540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endParaRPr lang="zh-CN" altLang="zh-CN">
              <a:solidFill>
                <a:srgbClr val="000000"/>
              </a:solidFill>
            </a:endParaRPr>
          </a:p>
        </p:txBody>
      </p:sp>
      <p:graphicFrame>
        <p:nvGraphicFramePr>
          <p:cNvPr id="274479" name="Object 82"/>
          <p:cNvGraphicFramePr>
            <a:graphicFrameLocks noChangeAspect="1"/>
          </p:cNvGraphicFramePr>
          <p:nvPr/>
        </p:nvGraphicFramePr>
        <p:xfrm>
          <a:off x="9065928" y="3284539"/>
          <a:ext cx="115093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16" name="Equation" r:id="rId34" imgW="660400" imgH="228600" progId="Equation.DSMT4">
                  <p:embed/>
                </p:oleObj>
              </mc:Choice>
              <mc:Fallback>
                <p:oleObj name="Equation" r:id="rId34" imgW="660400" imgH="228600" progId="Equation.DSMT4">
                  <p:embed/>
                  <p:pic>
                    <p:nvPicPr>
                      <p:cNvPr id="0" name="图片 825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5928" y="3284539"/>
                        <a:ext cx="115093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9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9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9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9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99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99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9450" grpId="0"/>
      <p:bldP spid="274438" grpId="0"/>
      <p:bldP spid="999452" grpId="0"/>
      <p:bldP spid="999454" grpId="0"/>
      <p:bldP spid="999456" grpId="0"/>
      <p:bldP spid="999490" grpId="0" animBg="1"/>
      <p:bldP spid="999495" grpId="0" animBg="1"/>
      <p:bldP spid="99949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459" name="Group 5"/>
          <p:cNvGrpSpPr/>
          <p:nvPr/>
        </p:nvGrpSpPr>
        <p:grpSpPr bwMode="auto">
          <a:xfrm>
            <a:off x="3287713" y="2133600"/>
            <a:ext cx="5681662" cy="2592388"/>
            <a:chOff x="1292" y="2341"/>
            <a:chExt cx="3579" cy="1633"/>
          </a:xfrm>
        </p:grpSpPr>
        <p:sp>
          <p:nvSpPr>
            <p:cNvPr id="275460" name="Rectangle 6"/>
            <p:cNvSpPr>
              <a:spLocks noChangeArrowheads="1"/>
            </p:cNvSpPr>
            <p:nvPr/>
          </p:nvSpPr>
          <p:spPr bwMode="auto">
            <a:xfrm>
              <a:off x="1564" y="2341"/>
              <a:ext cx="3284" cy="142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275461" name="Rectangle 7"/>
            <p:cNvSpPr>
              <a:spLocks noChangeArrowheads="1"/>
            </p:cNvSpPr>
            <p:nvPr/>
          </p:nvSpPr>
          <p:spPr bwMode="auto">
            <a:xfrm>
              <a:off x="1564" y="2431"/>
              <a:ext cx="3284" cy="1248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grpSp>
          <p:nvGrpSpPr>
            <p:cNvPr id="275462" name="Group 8"/>
            <p:cNvGrpSpPr/>
            <p:nvPr/>
          </p:nvGrpSpPr>
          <p:grpSpPr bwMode="auto">
            <a:xfrm>
              <a:off x="1852" y="3782"/>
              <a:ext cx="288" cy="192"/>
              <a:chOff x="1852" y="3748"/>
              <a:chExt cx="288" cy="192"/>
            </a:xfrm>
          </p:grpSpPr>
          <p:sp>
            <p:nvSpPr>
              <p:cNvPr id="275463" name="Line 9"/>
              <p:cNvSpPr>
                <a:spLocks noChangeShapeType="1"/>
              </p:cNvSpPr>
              <p:nvPr/>
            </p:nvSpPr>
            <p:spPr bwMode="auto">
              <a:xfrm>
                <a:off x="1996" y="3748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5464" name="Line 10"/>
              <p:cNvSpPr>
                <a:spLocks noChangeShapeType="1"/>
              </p:cNvSpPr>
              <p:nvPr/>
            </p:nvSpPr>
            <p:spPr bwMode="auto">
              <a:xfrm>
                <a:off x="1900" y="39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5465" name="Line 11"/>
              <p:cNvSpPr>
                <a:spLocks noChangeShapeType="1"/>
              </p:cNvSpPr>
              <p:nvPr/>
            </p:nvSpPr>
            <p:spPr bwMode="auto">
              <a:xfrm>
                <a:off x="1852" y="3892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5466" name="Group 12"/>
            <p:cNvGrpSpPr/>
            <p:nvPr/>
          </p:nvGrpSpPr>
          <p:grpSpPr bwMode="auto">
            <a:xfrm>
              <a:off x="1609" y="2407"/>
              <a:ext cx="3170" cy="470"/>
              <a:chOff x="1655" y="2317"/>
              <a:chExt cx="3170" cy="470"/>
            </a:xfrm>
          </p:grpSpPr>
          <p:grpSp>
            <p:nvGrpSpPr>
              <p:cNvPr id="275467" name="Group 13"/>
              <p:cNvGrpSpPr/>
              <p:nvPr/>
            </p:nvGrpSpPr>
            <p:grpSpPr bwMode="auto">
              <a:xfrm>
                <a:off x="3288" y="2325"/>
                <a:ext cx="180" cy="462"/>
                <a:chOff x="3288" y="2325"/>
                <a:chExt cx="180" cy="462"/>
              </a:xfrm>
            </p:grpSpPr>
            <p:sp>
              <p:nvSpPr>
                <p:cNvPr id="275468" name="Freeform 14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69" name="Freeform 15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470" name="Group 16"/>
              <p:cNvGrpSpPr/>
              <p:nvPr/>
            </p:nvGrpSpPr>
            <p:grpSpPr bwMode="auto">
              <a:xfrm>
                <a:off x="3016" y="2325"/>
                <a:ext cx="180" cy="462"/>
                <a:chOff x="3288" y="2325"/>
                <a:chExt cx="180" cy="462"/>
              </a:xfrm>
            </p:grpSpPr>
            <p:sp>
              <p:nvSpPr>
                <p:cNvPr id="275471" name="Freeform 17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72" name="Freeform 18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473" name="Group 19"/>
              <p:cNvGrpSpPr/>
              <p:nvPr/>
            </p:nvGrpSpPr>
            <p:grpSpPr bwMode="auto">
              <a:xfrm>
                <a:off x="2744" y="2317"/>
                <a:ext cx="180" cy="462"/>
                <a:chOff x="3288" y="2325"/>
                <a:chExt cx="180" cy="462"/>
              </a:xfrm>
            </p:grpSpPr>
            <p:sp>
              <p:nvSpPr>
                <p:cNvPr id="275474" name="Freeform 20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75" name="Freeform 21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476" name="Group 22"/>
              <p:cNvGrpSpPr/>
              <p:nvPr/>
            </p:nvGrpSpPr>
            <p:grpSpPr bwMode="auto">
              <a:xfrm>
                <a:off x="2472" y="2317"/>
                <a:ext cx="180" cy="462"/>
                <a:chOff x="3288" y="2325"/>
                <a:chExt cx="180" cy="462"/>
              </a:xfrm>
            </p:grpSpPr>
            <p:sp>
              <p:nvSpPr>
                <p:cNvPr id="275477" name="Freeform 23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78" name="Freeform 24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479" name="Group 25"/>
              <p:cNvGrpSpPr/>
              <p:nvPr/>
            </p:nvGrpSpPr>
            <p:grpSpPr bwMode="auto">
              <a:xfrm>
                <a:off x="2201" y="2325"/>
                <a:ext cx="180" cy="462"/>
                <a:chOff x="3288" y="2325"/>
                <a:chExt cx="180" cy="462"/>
              </a:xfrm>
            </p:grpSpPr>
            <p:sp>
              <p:nvSpPr>
                <p:cNvPr id="275480" name="Freeform 26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81" name="Freeform 27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482" name="Group 28"/>
              <p:cNvGrpSpPr/>
              <p:nvPr/>
            </p:nvGrpSpPr>
            <p:grpSpPr bwMode="auto">
              <a:xfrm>
                <a:off x="1929" y="2317"/>
                <a:ext cx="180" cy="462"/>
                <a:chOff x="3288" y="2325"/>
                <a:chExt cx="180" cy="462"/>
              </a:xfrm>
            </p:grpSpPr>
            <p:sp>
              <p:nvSpPr>
                <p:cNvPr id="275483" name="Freeform 29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84" name="Freeform 30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485" name="Group 31"/>
              <p:cNvGrpSpPr/>
              <p:nvPr/>
            </p:nvGrpSpPr>
            <p:grpSpPr bwMode="auto">
              <a:xfrm>
                <a:off x="1655" y="2325"/>
                <a:ext cx="180" cy="462"/>
                <a:chOff x="3288" y="2325"/>
                <a:chExt cx="180" cy="462"/>
              </a:xfrm>
            </p:grpSpPr>
            <p:sp>
              <p:nvSpPr>
                <p:cNvPr id="275486" name="Freeform 32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87" name="Freeform 33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488" name="Group 34"/>
              <p:cNvGrpSpPr/>
              <p:nvPr/>
            </p:nvGrpSpPr>
            <p:grpSpPr bwMode="auto">
              <a:xfrm>
                <a:off x="4645" y="2317"/>
                <a:ext cx="180" cy="462"/>
                <a:chOff x="3288" y="2325"/>
                <a:chExt cx="180" cy="462"/>
              </a:xfrm>
            </p:grpSpPr>
            <p:sp>
              <p:nvSpPr>
                <p:cNvPr id="275489" name="Freeform 35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90" name="Freeform 36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491" name="Group 37"/>
              <p:cNvGrpSpPr/>
              <p:nvPr/>
            </p:nvGrpSpPr>
            <p:grpSpPr bwMode="auto">
              <a:xfrm>
                <a:off x="4373" y="2317"/>
                <a:ext cx="180" cy="462"/>
                <a:chOff x="3288" y="2325"/>
                <a:chExt cx="180" cy="462"/>
              </a:xfrm>
            </p:grpSpPr>
            <p:sp>
              <p:nvSpPr>
                <p:cNvPr id="275492" name="Freeform 38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93" name="Freeform 39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494" name="Group 40"/>
              <p:cNvGrpSpPr/>
              <p:nvPr/>
            </p:nvGrpSpPr>
            <p:grpSpPr bwMode="auto">
              <a:xfrm>
                <a:off x="4102" y="2325"/>
                <a:ext cx="180" cy="462"/>
                <a:chOff x="3288" y="2325"/>
                <a:chExt cx="180" cy="462"/>
              </a:xfrm>
            </p:grpSpPr>
            <p:sp>
              <p:nvSpPr>
                <p:cNvPr id="275495" name="Freeform 41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96" name="Freeform 42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497" name="Group 43"/>
              <p:cNvGrpSpPr/>
              <p:nvPr/>
            </p:nvGrpSpPr>
            <p:grpSpPr bwMode="auto">
              <a:xfrm>
                <a:off x="3830" y="2317"/>
                <a:ext cx="180" cy="462"/>
                <a:chOff x="3288" y="2325"/>
                <a:chExt cx="180" cy="462"/>
              </a:xfrm>
            </p:grpSpPr>
            <p:sp>
              <p:nvSpPr>
                <p:cNvPr id="275498" name="Freeform 44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499" name="Freeform 45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00" name="Group 46"/>
              <p:cNvGrpSpPr/>
              <p:nvPr/>
            </p:nvGrpSpPr>
            <p:grpSpPr bwMode="auto">
              <a:xfrm>
                <a:off x="3556" y="2325"/>
                <a:ext cx="180" cy="462"/>
                <a:chOff x="3288" y="2325"/>
                <a:chExt cx="180" cy="462"/>
              </a:xfrm>
            </p:grpSpPr>
            <p:sp>
              <p:nvSpPr>
                <p:cNvPr id="275501" name="Freeform 47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02" name="Freeform 48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75503" name="Group 49"/>
            <p:cNvGrpSpPr/>
            <p:nvPr/>
          </p:nvGrpSpPr>
          <p:grpSpPr bwMode="auto">
            <a:xfrm flipV="1">
              <a:off x="1604" y="3237"/>
              <a:ext cx="3170" cy="470"/>
              <a:chOff x="1610" y="663"/>
              <a:chExt cx="3170" cy="470"/>
            </a:xfrm>
          </p:grpSpPr>
          <p:grpSp>
            <p:nvGrpSpPr>
              <p:cNvPr id="275504" name="Group 50"/>
              <p:cNvGrpSpPr/>
              <p:nvPr/>
            </p:nvGrpSpPr>
            <p:grpSpPr bwMode="auto">
              <a:xfrm>
                <a:off x="3243" y="671"/>
                <a:ext cx="180" cy="462"/>
                <a:chOff x="3288" y="2325"/>
                <a:chExt cx="180" cy="462"/>
              </a:xfrm>
            </p:grpSpPr>
            <p:sp>
              <p:nvSpPr>
                <p:cNvPr id="275505" name="Freeform 51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06" name="Freeform 52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07" name="Group 53"/>
              <p:cNvGrpSpPr/>
              <p:nvPr/>
            </p:nvGrpSpPr>
            <p:grpSpPr bwMode="auto">
              <a:xfrm>
                <a:off x="2971" y="671"/>
                <a:ext cx="180" cy="462"/>
                <a:chOff x="3288" y="2325"/>
                <a:chExt cx="180" cy="462"/>
              </a:xfrm>
            </p:grpSpPr>
            <p:sp>
              <p:nvSpPr>
                <p:cNvPr id="275508" name="Freeform 54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09" name="Freeform 55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10" name="Group 56"/>
              <p:cNvGrpSpPr/>
              <p:nvPr/>
            </p:nvGrpSpPr>
            <p:grpSpPr bwMode="auto">
              <a:xfrm>
                <a:off x="2699" y="663"/>
                <a:ext cx="180" cy="462"/>
                <a:chOff x="3288" y="2325"/>
                <a:chExt cx="180" cy="462"/>
              </a:xfrm>
            </p:grpSpPr>
            <p:sp>
              <p:nvSpPr>
                <p:cNvPr id="275511" name="Freeform 57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12" name="Freeform 58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13" name="Group 59"/>
              <p:cNvGrpSpPr/>
              <p:nvPr/>
            </p:nvGrpSpPr>
            <p:grpSpPr bwMode="auto">
              <a:xfrm>
                <a:off x="2427" y="663"/>
                <a:ext cx="180" cy="462"/>
                <a:chOff x="3288" y="2325"/>
                <a:chExt cx="180" cy="462"/>
              </a:xfrm>
            </p:grpSpPr>
            <p:sp>
              <p:nvSpPr>
                <p:cNvPr id="275514" name="Freeform 60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15" name="Freeform 61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16" name="Group 62"/>
              <p:cNvGrpSpPr/>
              <p:nvPr/>
            </p:nvGrpSpPr>
            <p:grpSpPr bwMode="auto">
              <a:xfrm>
                <a:off x="2156" y="671"/>
                <a:ext cx="180" cy="462"/>
                <a:chOff x="3288" y="2325"/>
                <a:chExt cx="180" cy="462"/>
              </a:xfrm>
            </p:grpSpPr>
            <p:sp>
              <p:nvSpPr>
                <p:cNvPr id="275517" name="Freeform 63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18" name="Freeform 64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19" name="Group 65"/>
              <p:cNvGrpSpPr/>
              <p:nvPr/>
            </p:nvGrpSpPr>
            <p:grpSpPr bwMode="auto">
              <a:xfrm>
                <a:off x="1884" y="663"/>
                <a:ext cx="180" cy="462"/>
                <a:chOff x="3288" y="2325"/>
                <a:chExt cx="180" cy="462"/>
              </a:xfrm>
            </p:grpSpPr>
            <p:sp>
              <p:nvSpPr>
                <p:cNvPr id="275520" name="Freeform 66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21" name="Freeform 67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22" name="Group 68"/>
              <p:cNvGrpSpPr/>
              <p:nvPr/>
            </p:nvGrpSpPr>
            <p:grpSpPr bwMode="auto">
              <a:xfrm>
                <a:off x="1610" y="671"/>
                <a:ext cx="180" cy="462"/>
                <a:chOff x="3288" y="2325"/>
                <a:chExt cx="180" cy="462"/>
              </a:xfrm>
            </p:grpSpPr>
            <p:sp>
              <p:nvSpPr>
                <p:cNvPr id="275523" name="Freeform 69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24" name="Freeform 70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25" name="Group 71"/>
              <p:cNvGrpSpPr/>
              <p:nvPr/>
            </p:nvGrpSpPr>
            <p:grpSpPr bwMode="auto">
              <a:xfrm>
                <a:off x="4600" y="663"/>
                <a:ext cx="180" cy="462"/>
                <a:chOff x="3288" y="2325"/>
                <a:chExt cx="180" cy="462"/>
              </a:xfrm>
            </p:grpSpPr>
            <p:sp>
              <p:nvSpPr>
                <p:cNvPr id="275526" name="Freeform 72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27" name="Freeform 73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28" name="Group 74"/>
              <p:cNvGrpSpPr/>
              <p:nvPr/>
            </p:nvGrpSpPr>
            <p:grpSpPr bwMode="auto">
              <a:xfrm>
                <a:off x="4328" y="663"/>
                <a:ext cx="180" cy="462"/>
                <a:chOff x="3288" y="2325"/>
                <a:chExt cx="180" cy="462"/>
              </a:xfrm>
            </p:grpSpPr>
            <p:sp>
              <p:nvSpPr>
                <p:cNvPr id="275529" name="Freeform 75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30" name="Freeform 76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31" name="Group 77"/>
              <p:cNvGrpSpPr/>
              <p:nvPr/>
            </p:nvGrpSpPr>
            <p:grpSpPr bwMode="auto">
              <a:xfrm>
                <a:off x="4057" y="671"/>
                <a:ext cx="180" cy="462"/>
                <a:chOff x="3288" y="2325"/>
                <a:chExt cx="180" cy="462"/>
              </a:xfrm>
            </p:grpSpPr>
            <p:sp>
              <p:nvSpPr>
                <p:cNvPr id="275532" name="Freeform 78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33" name="Freeform 79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34" name="Group 80"/>
              <p:cNvGrpSpPr/>
              <p:nvPr/>
            </p:nvGrpSpPr>
            <p:grpSpPr bwMode="auto">
              <a:xfrm>
                <a:off x="3785" y="663"/>
                <a:ext cx="180" cy="462"/>
                <a:chOff x="3288" y="2325"/>
                <a:chExt cx="180" cy="462"/>
              </a:xfrm>
            </p:grpSpPr>
            <p:sp>
              <p:nvSpPr>
                <p:cNvPr id="275535" name="Freeform 81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36" name="Freeform 82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37" name="Group 83"/>
              <p:cNvGrpSpPr/>
              <p:nvPr/>
            </p:nvGrpSpPr>
            <p:grpSpPr bwMode="auto">
              <a:xfrm>
                <a:off x="3511" y="671"/>
                <a:ext cx="180" cy="462"/>
                <a:chOff x="3288" y="2325"/>
                <a:chExt cx="180" cy="462"/>
              </a:xfrm>
            </p:grpSpPr>
            <p:sp>
              <p:nvSpPr>
                <p:cNvPr id="275538" name="Freeform 84"/>
                <p:cNvSpPr/>
                <p:nvPr/>
              </p:nvSpPr>
              <p:spPr bwMode="auto">
                <a:xfrm>
                  <a:off x="3288" y="2325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39" name="Freeform 85"/>
                <p:cNvSpPr/>
                <p:nvPr/>
              </p:nvSpPr>
              <p:spPr bwMode="auto">
                <a:xfrm>
                  <a:off x="3424" y="2333"/>
                  <a:ext cx="44" cy="454"/>
                </a:xfrm>
                <a:custGeom>
                  <a:avLst/>
                  <a:gdLst>
                    <a:gd name="T0" fmla="*/ 0 w 46"/>
                    <a:gd name="T1" fmla="*/ 454 h 454"/>
                    <a:gd name="T2" fmla="*/ 34 w 46"/>
                    <a:gd name="T3" fmla="*/ 227 h 454"/>
                    <a:gd name="T4" fmla="*/ 0 w 46"/>
                    <a:gd name="T5" fmla="*/ 0 h 4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6" h="454">
                      <a:moveTo>
                        <a:pt x="0" y="454"/>
                      </a:moveTo>
                      <a:cubicBezTo>
                        <a:pt x="8" y="416"/>
                        <a:pt x="46" y="303"/>
                        <a:pt x="46" y="227"/>
                      </a:cubicBezTo>
                      <a:cubicBezTo>
                        <a:pt x="46" y="151"/>
                        <a:pt x="10" y="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FF"/>
                  </a:solidFill>
                  <a:prstDash val="solid"/>
                  <a:rou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75540" name="Arc 86"/>
            <p:cNvSpPr/>
            <p:nvPr/>
          </p:nvSpPr>
          <p:spPr bwMode="auto">
            <a:xfrm flipH="1">
              <a:off x="1292" y="2342"/>
              <a:ext cx="272" cy="1428"/>
            </a:xfrm>
            <a:custGeom>
              <a:avLst/>
              <a:gdLst>
                <a:gd name="T0" fmla="*/ 0 w 21600"/>
                <a:gd name="T1" fmla="*/ 0 h 43181"/>
                <a:gd name="T2" fmla="*/ 0 w 21600"/>
                <a:gd name="T3" fmla="*/ 0 h 43181"/>
                <a:gd name="T4" fmla="*/ 0 w 21600"/>
                <a:gd name="T5" fmla="*/ 0 h 431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81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73"/>
                    <a:pt x="12478" y="42690"/>
                    <a:pt x="914" y="43180"/>
                  </a:cubicBezTo>
                </a:path>
                <a:path w="21600" h="43181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73"/>
                    <a:pt x="12478" y="42690"/>
                    <a:pt x="914" y="4318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D3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5541" name="Arc 87"/>
            <p:cNvSpPr/>
            <p:nvPr/>
          </p:nvSpPr>
          <p:spPr bwMode="auto">
            <a:xfrm flipH="1">
              <a:off x="1337" y="2431"/>
              <a:ext cx="226" cy="1247"/>
            </a:xfrm>
            <a:custGeom>
              <a:avLst/>
              <a:gdLst>
                <a:gd name="T0" fmla="*/ 0 w 21600"/>
                <a:gd name="T1" fmla="*/ 0 h 43198"/>
                <a:gd name="T2" fmla="*/ 0 w 21600"/>
                <a:gd name="T3" fmla="*/ 0 h 43198"/>
                <a:gd name="T4" fmla="*/ 0 w 21600"/>
                <a:gd name="T5" fmla="*/ 0 h 4319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98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25"/>
                    <a:pt x="12090" y="43052"/>
                    <a:pt x="266" y="43198"/>
                  </a:cubicBezTo>
                </a:path>
                <a:path w="21600" h="43198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25"/>
                    <a:pt x="12090" y="43052"/>
                    <a:pt x="266" y="43198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1A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5542" name="Arc 88"/>
            <p:cNvSpPr/>
            <p:nvPr/>
          </p:nvSpPr>
          <p:spPr bwMode="auto">
            <a:xfrm flipH="1">
              <a:off x="1474" y="2863"/>
              <a:ext cx="90" cy="385"/>
            </a:xfrm>
            <a:custGeom>
              <a:avLst/>
              <a:gdLst>
                <a:gd name="T0" fmla="*/ 0 w 21600"/>
                <a:gd name="T1" fmla="*/ 0 h 43134"/>
                <a:gd name="T2" fmla="*/ 0 w 21600"/>
                <a:gd name="T3" fmla="*/ 0 h 43134"/>
                <a:gd name="T4" fmla="*/ 0 w 21600"/>
                <a:gd name="T5" fmla="*/ 0 h 43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3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873"/>
                    <a:pt x="12929" y="42251"/>
                    <a:pt x="1690" y="43133"/>
                  </a:cubicBezTo>
                </a:path>
                <a:path w="21600" h="4313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873"/>
                    <a:pt x="12929" y="42251"/>
                    <a:pt x="1690" y="43133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F43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75543" name="Group 89"/>
            <p:cNvGrpSpPr/>
            <p:nvPr/>
          </p:nvGrpSpPr>
          <p:grpSpPr bwMode="auto">
            <a:xfrm>
              <a:off x="1564" y="2869"/>
              <a:ext cx="3284" cy="385"/>
              <a:chOff x="1610" y="2779"/>
              <a:chExt cx="3284" cy="385"/>
            </a:xfrm>
          </p:grpSpPr>
          <p:sp>
            <p:nvSpPr>
              <p:cNvPr id="275544" name="Rectangle 90"/>
              <p:cNvSpPr>
                <a:spLocks noChangeArrowheads="1"/>
              </p:cNvSpPr>
              <p:nvPr/>
            </p:nvSpPr>
            <p:spPr bwMode="auto">
              <a:xfrm>
                <a:off x="1610" y="2780"/>
                <a:ext cx="3284" cy="384"/>
              </a:xfrm>
              <a:prstGeom prst="rect">
                <a:avLst/>
              </a:prstGeom>
              <a:solidFill>
                <a:srgbClr val="FF6600"/>
              </a:solidFill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lang="zh-CN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275545" name="Line 91"/>
              <p:cNvSpPr>
                <a:spLocks noChangeShapeType="1"/>
              </p:cNvSpPr>
              <p:nvPr/>
            </p:nvSpPr>
            <p:spPr bwMode="auto">
              <a:xfrm>
                <a:off x="4532" y="2780"/>
                <a:ext cx="0" cy="192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75546" name="Object 92"/>
              <p:cNvGraphicFramePr>
                <a:graphicFrameLocks noChangeAspect="1"/>
              </p:cNvGraphicFramePr>
              <p:nvPr/>
            </p:nvGraphicFramePr>
            <p:xfrm>
              <a:off x="4532" y="2797"/>
              <a:ext cx="171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078" name="公式" r:id="rId1" imgW="127000" imgH="139700" progId="Equation.3">
                      <p:embed/>
                    </p:oleObj>
                  </mc:Choice>
                  <mc:Fallback>
                    <p:oleObj name="公式" r:id="rId1" imgW="127000" imgH="139700" progId="Equation.3">
                      <p:embed/>
                      <p:pic>
                        <p:nvPicPr>
                          <p:cNvPr id="0" name="图片 830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32" y="2797"/>
                            <a:ext cx="171" cy="1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2225">
                                <a:solidFill>
                                  <a:srgbClr val="3366FF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75547" name="Group 93"/>
              <p:cNvGrpSpPr/>
              <p:nvPr/>
            </p:nvGrpSpPr>
            <p:grpSpPr bwMode="auto">
              <a:xfrm>
                <a:off x="1610" y="2779"/>
                <a:ext cx="3266" cy="120"/>
                <a:chOff x="1610" y="2779"/>
                <a:chExt cx="3266" cy="120"/>
              </a:xfrm>
            </p:grpSpPr>
            <p:sp>
              <p:nvSpPr>
                <p:cNvPr id="275548" name="Line 94"/>
                <p:cNvSpPr>
                  <a:spLocks noChangeShapeType="1"/>
                </p:cNvSpPr>
                <p:nvPr/>
              </p:nvSpPr>
              <p:spPr bwMode="auto">
                <a:xfrm flipV="1">
                  <a:off x="1610" y="2853"/>
                  <a:ext cx="3266" cy="46"/>
                </a:xfrm>
                <a:prstGeom prst="line">
                  <a:avLst/>
                </a:prstGeom>
                <a:noFill/>
                <a:ln w="22225">
                  <a:solidFill>
                    <a:srgbClr val="3366FF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49" name="Line 95"/>
                <p:cNvSpPr>
                  <a:spLocks noChangeShapeType="1"/>
                </p:cNvSpPr>
                <p:nvPr/>
              </p:nvSpPr>
              <p:spPr bwMode="auto">
                <a:xfrm flipV="1">
                  <a:off x="1610" y="2795"/>
                  <a:ext cx="3039" cy="79"/>
                </a:xfrm>
                <a:prstGeom prst="line">
                  <a:avLst/>
                </a:prstGeom>
                <a:noFill/>
                <a:ln w="22225">
                  <a:solidFill>
                    <a:srgbClr val="3366FF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50" name="Line 96"/>
                <p:cNvSpPr>
                  <a:spLocks noChangeShapeType="1"/>
                </p:cNvSpPr>
                <p:nvPr/>
              </p:nvSpPr>
              <p:spPr bwMode="auto">
                <a:xfrm flipV="1">
                  <a:off x="1615" y="2779"/>
                  <a:ext cx="1905" cy="68"/>
                </a:xfrm>
                <a:prstGeom prst="line">
                  <a:avLst/>
                </a:prstGeom>
                <a:noFill/>
                <a:ln w="22225">
                  <a:solidFill>
                    <a:srgbClr val="3366FF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51" name="Line 97"/>
                <p:cNvSpPr>
                  <a:spLocks noChangeShapeType="1"/>
                </p:cNvSpPr>
                <p:nvPr/>
              </p:nvSpPr>
              <p:spPr bwMode="auto">
                <a:xfrm flipV="1">
                  <a:off x="1610" y="2782"/>
                  <a:ext cx="771" cy="34"/>
                </a:xfrm>
                <a:prstGeom prst="line">
                  <a:avLst/>
                </a:prstGeom>
                <a:noFill/>
                <a:ln w="22225">
                  <a:solidFill>
                    <a:srgbClr val="3366FF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5552" name="Group 98"/>
              <p:cNvGrpSpPr/>
              <p:nvPr/>
            </p:nvGrpSpPr>
            <p:grpSpPr bwMode="auto">
              <a:xfrm flipV="1">
                <a:off x="1610" y="3038"/>
                <a:ext cx="3266" cy="120"/>
                <a:chOff x="1610" y="2779"/>
                <a:chExt cx="3266" cy="120"/>
              </a:xfrm>
            </p:grpSpPr>
            <p:sp>
              <p:nvSpPr>
                <p:cNvPr id="275553" name="Line 99"/>
                <p:cNvSpPr>
                  <a:spLocks noChangeShapeType="1"/>
                </p:cNvSpPr>
                <p:nvPr/>
              </p:nvSpPr>
              <p:spPr bwMode="auto">
                <a:xfrm flipV="1">
                  <a:off x="1610" y="2853"/>
                  <a:ext cx="3266" cy="46"/>
                </a:xfrm>
                <a:prstGeom prst="line">
                  <a:avLst/>
                </a:prstGeom>
                <a:noFill/>
                <a:ln w="22225">
                  <a:solidFill>
                    <a:srgbClr val="3366FF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54" name="Line 100"/>
                <p:cNvSpPr>
                  <a:spLocks noChangeShapeType="1"/>
                </p:cNvSpPr>
                <p:nvPr/>
              </p:nvSpPr>
              <p:spPr bwMode="auto">
                <a:xfrm flipV="1">
                  <a:off x="1610" y="2795"/>
                  <a:ext cx="3039" cy="79"/>
                </a:xfrm>
                <a:prstGeom prst="line">
                  <a:avLst/>
                </a:prstGeom>
                <a:noFill/>
                <a:ln w="22225">
                  <a:solidFill>
                    <a:srgbClr val="3366FF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55" name="Line 101"/>
                <p:cNvSpPr>
                  <a:spLocks noChangeShapeType="1"/>
                </p:cNvSpPr>
                <p:nvPr/>
              </p:nvSpPr>
              <p:spPr bwMode="auto">
                <a:xfrm flipV="1">
                  <a:off x="1615" y="2779"/>
                  <a:ext cx="1905" cy="68"/>
                </a:xfrm>
                <a:prstGeom prst="line">
                  <a:avLst/>
                </a:prstGeom>
                <a:noFill/>
                <a:ln w="22225">
                  <a:solidFill>
                    <a:srgbClr val="3366FF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5556" name="Line 102"/>
                <p:cNvSpPr>
                  <a:spLocks noChangeShapeType="1"/>
                </p:cNvSpPr>
                <p:nvPr/>
              </p:nvSpPr>
              <p:spPr bwMode="auto">
                <a:xfrm flipV="1">
                  <a:off x="1610" y="2782"/>
                  <a:ext cx="771" cy="34"/>
                </a:xfrm>
                <a:prstGeom prst="line">
                  <a:avLst/>
                </a:prstGeom>
                <a:noFill/>
                <a:ln w="22225">
                  <a:solidFill>
                    <a:srgbClr val="3366FF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5557" name="Line 103"/>
              <p:cNvSpPr>
                <a:spLocks noChangeShapeType="1"/>
              </p:cNvSpPr>
              <p:nvPr/>
            </p:nvSpPr>
            <p:spPr bwMode="auto">
              <a:xfrm flipV="1">
                <a:off x="1610" y="2897"/>
                <a:ext cx="3266" cy="34"/>
              </a:xfrm>
              <a:prstGeom prst="line">
                <a:avLst/>
              </a:prstGeom>
              <a:noFill/>
              <a:ln w="22225">
                <a:solidFill>
                  <a:srgbClr val="3366FF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5558" name="Line 104"/>
              <p:cNvSpPr>
                <a:spLocks noChangeShapeType="1"/>
              </p:cNvSpPr>
              <p:nvPr/>
            </p:nvSpPr>
            <p:spPr bwMode="auto">
              <a:xfrm>
                <a:off x="1610" y="3001"/>
                <a:ext cx="3266" cy="34"/>
              </a:xfrm>
              <a:prstGeom prst="line">
                <a:avLst/>
              </a:prstGeom>
              <a:noFill/>
              <a:ln w="22225">
                <a:solidFill>
                  <a:srgbClr val="3366FF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75559" name="Object 105"/>
            <p:cNvGraphicFramePr>
              <a:graphicFrameLocks noChangeAspect="1"/>
            </p:cNvGraphicFramePr>
            <p:nvPr/>
          </p:nvGraphicFramePr>
          <p:xfrm>
            <a:off x="4104" y="2527"/>
            <a:ext cx="171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79" name="Equation" r:id="rId3" imgW="127000" imgH="177165" progId="Equation.3">
                    <p:embed/>
                  </p:oleObj>
                </mc:Choice>
                <mc:Fallback>
                  <p:oleObj name="Equation" r:id="rId3" imgW="127000" imgH="177165" progId="Equation.3">
                    <p:embed/>
                    <p:pic>
                      <p:nvPicPr>
                        <p:cNvPr id="0" name="图片 830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4" y="2527"/>
                          <a:ext cx="171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5560" name="Object 106"/>
            <p:cNvGraphicFramePr>
              <a:graphicFrameLocks noChangeAspect="1"/>
            </p:cNvGraphicFramePr>
            <p:nvPr/>
          </p:nvGraphicFramePr>
          <p:xfrm>
            <a:off x="3469" y="2527"/>
            <a:ext cx="442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080" name="Equation" r:id="rId5" imgW="431800" imgH="228600" progId="Equation.DSMT4">
                    <p:embed/>
                  </p:oleObj>
                </mc:Choice>
                <mc:Fallback>
                  <p:oleObj name="Equation" r:id="rId5" imgW="431800" imgH="228600" progId="Equation.DSMT4">
                    <p:embed/>
                    <p:pic>
                      <p:nvPicPr>
                        <p:cNvPr id="0" name="图片 830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9" y="2527"/>
                          <a:ext cx="442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5561" name="Line 107"/>
            <p:cNvSpPr>
              <a:spLocks noChangeShapeType="1"/>
            </p:cNvSpPr>
            <p:nvPr/>
          </p:nvSpPr>
          <p:spPr bwMode="auto">
            <a:xfrm flipH="1">
              <a:off x="4013" y="2431"/>
              <a:ext cx="0" cy="6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562" name="Line 108"/>
            <p:cNvSpPr>
              <a:spLocks noChangeShapeType="1"/>
            </p:cNvSpPr>
            <p:nvPr/>
          </p:nvSpPr>
          <p:spPr bwMode="auto">
            <a:xfrm>
              <a:off x="1418" y="3066"/>
              <a:ext cx="34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563" name="Line 109"/>
            <p:cNvSpPr>
              <a:spLocks noChangeShapeType="1"/>
            </p:cNvSpPr>
            <p:nvPr/>
          </p:nvSpPr>
          <p:spPr bwMode="auto">
            <a:xfrm>
              <a:off x="1437" y="3067"/>
              <a:ext cx="34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75564" name="Object 108">
            <a:hlinkClick r:id="" action="ppaction://ole?verb=0"/>
          </p:cNvPr>
          <p:cNvGraphicFramePr/>
          <p:nvPr/>
        </p:nvGraphicFramePr>
        <p:xfrm>
          <a:off x="9336088" y="4581526"/>
          <a:ext cx="1331912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1" name="Microsoft ClipArt Gallery" r:id="rId7" imgW="3467100" imgH="5632450" progId="MS_ClipArt_Gallery">
                  <p:embed/>
                </p:oleObj>
              </mc:Choice>
              <mc:Fallback>
                <p:oleObj name="Microsoft ClipArt Gallery" r:id="rId7" imgW="3467100" imgH="5632450" progId="MS_ClipArt_Gallery">
                  <p:embed/>
                  <p:pic>
                    <p:nvPicPr>
                      <p:cNvPr id="0" name="图片 83080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088" y="4581526"/>
                        <a:ext cx="1331912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642" name="AutoShape 2"/>
          <p:cNvSpPr>
            <a:spLocks noChangeArrowheads="1"/>
          </p:cNvSpPr>
          <p:nvPr/>
        </p:nvSpPr>
        <p:spPr bwMode="auto">
          <a:xfrm>
            <a:off x="1774825" y="908051"/>
            <a:ext cx="8497888" cy="5616575"/>
          </a:xfrm>
          <a:prstGeom prst="horizontalScroll">
            <a:avLst>
              <a:gd name="adj" fmla="val 12500"/>
            </a:avLst>
          </a:prstGeom>
          <a:solidFill>
            <a:srgbClr val="FFCC99"/>
          </a:solidFill>
          <a:ln w="25400">
            <a:solidFill>
              <a:srgbClr val="FF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>
                <a:solidFill>
                  <a:srgbClr val="0000CC"/>
                </a:solidFill>
                <a:ea typeface="楷体_GB2312" pitchFamily="49" charset="-122"/>
              </a:rPr>
              <a:t>When will the steady current field be generated</a:t>
            </a:r>
            <a:r>
              <a:rPr lang="zh-CN" altLang="en-US" sz="2400" b="1">
                <a:solidFill>
                  <a:srgbClr val="0000CC"/>
                </a:solidFill>
                <a:ea typeface="楷体_GB2312" pitchFamily="49" charset="-122"/>
              </a:rPr>
              <a:t>？</a:t>
            </a:r>
            <a:endParaRPr lang="zh-CN" altLang="en-US" sz="2400" b="1">
              <a:solidFill>
                <a:srgbClr val="0000CC"/>
              </a:solidFill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There is an electric field in a conducing medium</a:t>
            </a:r>
            <a:r>
              <a:rPr lang="zh-CN" altLang="en-US" sz="3600" b="1">
                <a:solidFill>
                  <a:srgbClr val="000000"/>
                </a:solidFill>
                <a:ea typeface="楷体_GB2312" pitchFamily="49" charset="-122"/>
              </a:rPr>
              <a:t>！</a:t>
            </a:r>
            <a:endParaRPr lang="zh-CN" altLang="en-US" sz="3600" b="1">
              <a:solidFill>
                <a:srgbClr val="000000"/>
              </a:solidFill>
              <a:ea typeface="楷体_GB2312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400" b="1">
                <a:solidFill>
                  <a:srgbClr val="000000"/>
                </a:solidFill>
                <a:ea typeface="黑体" panose="02010609060101010101" pitchFamily="49" charset="-122"/>
              </a:rPr>
              <a:t>The key is to find  the electric field intensity</a:t>
            </a:r>
            <a:endParaRPr lang="en-US" altLang="zh-CN" sz="2400" b="1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Based on the known charge</a:t>
            </a:r>
            <a:endParaRPr lang="en-US" altLang="zh-CN" sz="2400" b="1">
              <a:solidFill>
                <a:srgbClr val="0000CC"/>
              </a:solidFill>
              <a:ea typeface="黑体" panose="02010609060101010101" pitchFamily="49" charset="-122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Based on current (Ohm's law)</a:t>
            </a:r>
            <a:r>
              <a:rPr lang="en-US" altLang="zh-CN" sz="2400" b="1">
                <a:solidFill>
                  <a:srgbClr val="00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b="1">
                <a:solidFill>
                  <a:srgbClr val="800000"/>
                </a:solidFill>
              </a:rPr>
              <a:t>√</a:t>
            </a:r>
            <a:endParaRPr lang="en-US" altLang="zh-CN" sz="2400" b="1">
              <a:solidFill>
                <a:srgbClr val="800000"/>
              </a:solidFill>
              <a:ea typeface="黑体" panose="02010609060101010101" pitchFamily="49" charset="-122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Based on electric potential</a:t>
            </a:r>
            <a:r>
              <a:rPr lang="en-US" altLang="zh-CN" sz="2400" b="1">
                <a:solidFill>
                  <a:srgbClr val="00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b="1">
                <a:solidFill>
                  <a:srgbClr val="800000"/>
                </a:solidFill>
                <a:ea typeface="黑体" panose="02010609060101010101" pitchFamily="49" charset="-122"/>
              </a:rPr>
              <a:t>√</a:t>
            </a:r>
            <a:endParaRPr lang="en-US" altLang="zh-CN" sz="2400" b="1">
              <a:solidFill>
                <a:srgbClr val="80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1008644" name="Object 4"/>
          <p:cNvGraphicFramePr>
            <a:graphicFrameLocks noChangeAspect="1"/>
          </p:cNvGraphicFramePr>
          <p:nvPr/>
        </p:nvGraphicFramePr>
        <p:xfrm>
          <a:off x="7464426" y="4724400"/>
          <a:ext cx="12239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7" name="Equation" r:id="rId1" imgW="635000" imgH="228600" progId="Equation.DSMT4">
                  <p:embed/>
                </p:oleObj>
              </mc:Choice>
              <mc:Fallback>
                <p:oleObj name="Equation" r:id="rId1" imgW="635000" imgH="228600" progId="Equation.DSMT4">
                  <p:embed/>
                  <p:pic>
                    <p:nvPicPr>
                      <p:cNvPr id="0" name="图片 85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6" y="4724400"/>
                        <a:ext cx="1223963" cy="520700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8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86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86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0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Text Box 2"/>
          <p:cNvSpPr txBox="1">
            <a:spLocks noChangeArrowheads="1"/>
          </p:cNvSpPr>
          <p:nvPr/>
        </p:nvSpPr>
        <p:spPr bwMode="auto">
          <a:xfrm>
            <a:off x="1847849" y="1700214"/>
            <a:ext cx="947131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electric field intensity is expressed by the Ohm's 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Law (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constitutive relation of the conducing medium).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2804" name="Text Box 109"/>
          <p:cNvSpPr txBox="1">
            <a:spLocks noChangeArrowheads="1"/>
          </p:cNvSpPr>
          <p:nvPr/>
        </p:nvSpPr>
        <p:spPr bwMode="auto">
          <a:xfrm>
            <a:off x="1847849" y="549275"/>
            <a:ext cx="9706841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Tx/>
              <a:buBlip>
                <a:blip r:embed="rId1"/>
              </a:buBlip>
            </a:pPr>
            <a:r>
              <a:rPr kumimoji="1" lang="en-US" altLang="zh-CN" sz="2400" b="1" dirty="0">
                <a:solidFill>
                  <a:srgbClr val="0000CC"/>
                </a:solidFill>
                <a:ea typeface="楷体_GB2312" pitchFamily="49" charset="-122"/>
              </a:rPr>
              <a:t> The method based on current to solve the problems of steady electric field</a:t>
            </a:r>
            <a:endParaRPr kumimoji="1" lang="en-US" altLang="zh-CN" sz="2400" b="1" dirty="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780399" name="Text Box 111"/>
          <p:cNvSpPr txBox="1">
            <a:spLocks noChangeArrowheads="1"/>
          </p:cNvSpPr>
          <p:nvPr/>
        </p:nvSpPr>
        <p:spPr bwMode="auto">
          <a:xfrm>
            <a:off x="1919289" y="3860801"/>
            <a:ext cx="96354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unknown quantity is expressed by a known quantity (usually the excitation voltage)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80413" name="Object 12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800600" y="2636838"/>
          <a:ext cx="12954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86" name="Equation" r:id="rId2" imgW="571500" imgH="482600" progId="Equation.DSMT4">
                  <p:embed/>
                </p:oleObj>
              </mc:Choice>
              <mc:Fallback>
                <p:oleObj name="Equation" r:id="rId2" imgW="571500" imgH="482600" progId="Equation.DSMT4">
                  <p:embed/>
                  <p:pic>
                    <p:nvPicPr>
                      <p:cNvPr id="0" name="图片 8608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636838"/>
                        <a:ext cx="12954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0417" name="Object 12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584700" y="4868864"/>
          <a:ext cx="19431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87" name="Equation" r:id="rId4" imgW="901700" imgH="546100" progId="Equation.DSMT4">
                  <p:embed/>
                </p:oleObj>
              </mc:Choice>
              <mc:Fallback>
                <p:oleObj name="Equation" r:id="rId4" imgW="901700" imgH="546100" progId="Equation.DSMT4">
                  <p:embed/>
                  <p:pic>
                    <p:nvPicPr>
                      <p:cNvPr id="0" name="图片 8608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4868864"/>
                        <a:ext cx="19431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2808" name="Picture 8" descr="感恩 中的图像 04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113" y="4365625"/>
            <a:ext cx="1766887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8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80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8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290" grpId="0"/>
      <p:bldP spid="78039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Text Box 2"/>
          <p:cNvSpPr txBox="1">
            <a:spLocks noChangeArrowheads="1"/>
          </p:cNvSpPr>
          <p:nvPr/>
        </p:nvSpPr>
        <p:spPr bwMode="auto">
          <a:xfrm>
            <a:off x="1919289" y="260351"/>
            <a:ext cx="8569325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FF0000"/>
                </a:solidFill>
                <a:ea typeface="楷体_GB2312" pitchFamily="49" charset="-122"/>
              </a:rPr>
              <a:t>Ex</a:t>
            </a:r>
            <a:r>
              <a:rPr kumimoji="1" lang="en-US" altLang="zh-CN" sz="2000" b="1">
                <a:solidFill>
                  <a:srgbClr val="3333FF"/>
                </a:solidFill>
                <a:ea typeface="楷体_GB2312" pitchFamily="49" charset="-122"/>
              </a:rPr>
              <a:t>. </a:t>
            </a: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A parallel plate capacitor consists of two imperfect dielectrics in series. Their permittivity are </a:t>
            </a:r>
            <a:r>
              <a:rPr kumimoji="1" lang="en-US" altLang="zh-CN" sz="2000" b="1" i="1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kumimoji="1" lang="en-US" altLang="zh-CN" sz="2000" b="1" baseline="-2500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 and </a:t>
            </a:r>
            <a:r>
              <a:rPr kumimoji="1" lang="en-US" altLang="zh-CN" sz="2000" b="1" i="1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kumimoji="1" lang="en-US" altLang="zh-CN" sz="2000" b="1" baseline="-2500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 , the conductivities are </a:t>
            </a:r>
            <a:r>
              <a:rPr kumimoji="1" lang="en-US" altLang="zh-CN" sz="2000" b="1" i="1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</a:t>
            </a:r>
            <a:r>
              <a:rPr kumimoji="1" lang="en-US" altLang="zh-CN" sz="2000" b="1" baseline="-2500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 and </a:t>
            </a:r>
            <a:r>
              <a:rPr kumimoji="1" lang="en-US" altLang="zh-CN" sz="2000" b="1" i="1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</a:t>
            </a:r>
            <a:r>
              <a:rPr kumimoji="1" lang="en-US" altLang="zh-CN" sz="2000" b="1" baseline="-2500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 , and the thickness are  </a:t>
            </a:r>
            <a:r>
              <a:rPr kumimoji="1" lang="en-US" altLang="zh-CN" sz="2000" b="1" i="1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kumimoji="1" lang="en-US" altLang="zh-CN" sz="2000" b="1" baseline="-2500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 and </a:t>
            </a:r>
            <a:r>
              <a:rPr kumimoji="1" lang="en-US" altLang="zh-CN" sz="2000" b="1" i="1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kumimoji="1" lang="en-US" altLang="zh-CN" sz="2000" b="1" baseline="-25000">
                <a:solidFill>
                  <a:srgbClr val="000000"/>
                </a:solidFill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, respectively. If the impressed voltage is </a:t>
            </a:r>
            <a:r>
              <a:rPr kumimoji="1" lang="en-US" altLang="zh-CN" sz="2000" b="1" i="1">
                <a:solidFill>
                  <a:srgbClr val="000000"/>
                </a:solidFill>
                <a:ea typeface="楷体_GB2312" pitchFamily="49" charset="-122"/>
              </a:rPr>
              <a:t>U</a:t>
            </a: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, find the electric field intensities, the electric energies per unit volume, and the power dissipations per unit volume in two dielectrics.</a:t>
            </a:r>
            <a:endParaRPr kumimoji="1" lang="en-US" altLang="zh-CN" sz="2000" b="1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28707" name="Text Box 3"/>
          <p:cNvSpPr txBox="1">
            <a:spLocks noChangeArrowheads="1"/>
          </p:cNvSpPr>
          <p:nvPr/>
        </p:nvSpPr>
        <p:spPr bwMode="auto">
          <a:xfrm>
            <a:off x="5087939" y="2420939"/>
            <a:ext cx="5545137" cy="19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FF0000"/>
                </a:solidFill>
                <a:ea typeface="楷体_GB2312" pitchFamily="49" charset="-122"/>
              </a:rPr>
              <a:t>      Solution</a:t>
            </a:r>
            <a:r>
              <a:rPr kumimoji="1" lang="en-US" altLang="zh-CN" sz="2000" b="1">
                <a:solidFill>
                  <a:srgbClr val="3333FF"/>
                </a:solidFill>
                <a:ea typeface="楷体_GB2312" pitchFamily="49" charset="-122"/>
              </a:rPr>
              <a:t>:  Since </a:t>
            </a:r>
            <a:r>
              <a:rPr kumimoji="1" lang="en-US" altLang="zh-CN" sz="2000" b="1">
                <a:solidFill>
                  <a:srgbClr val="FF0000"/>
                </a:solidFill>
                <a:ea typeface="楷体_GB2312" pitchFamily="49" charset="-122"/>
              </a:rPr>
              <a:t>no current</a:t>
            </a:r>
            <a:r>
              <a:rPr kumimoji="1" lang="en-US" altLang="zh-CN" sz="2000" b="1">
                <a:solidFill>
                  <a:srgbClr val="3333FF"/>
                </a:solidFill>
                <a:ea typeface="楷体_GB2312" pitchFamily="49" charset="-122"/>
              </a:rPr>
              <a:t> exists outside the capacitor, the electric current lines in the capacitor can be considered to be </a:t>
            </a:r>
            <a:r>
              <a:rPr kumimoji="1" lang="en-US" altLang="zh-CN" sz="2000" b="1">
                <a:solidFill>
                  <a:srgbClr val="FF0000"/>
                </a:solidFill>
                <a:ea typeface="楷体_GB2312" pitchFamily="49" charset="-122"/>
              </a:rPr>
              <a:t>perpendicular</a:t>
            </a:r>
            <a:r>
              <a:rPr kumimoji="1" lang="en-US" altLang="zh-CN" sz="2000" b="1">
                <a:solidFill>
                  <a:srgbClr val="3333FF"/>
                </a:solidFill>
                <a:ea typeface="楷体_GB2312" pitchFamily="49" charset="-122"/>
              </a:rPr>
              <a:t> to the boundaries. Then we have</a:t>
            </a:r>
            <a:endParaRPr kumimoji="1" lang="en-US" altLang="zh-CN" sz="2000" b="1">
              <a:solidFill>
                <a:srgbClr val="3333FF"/>
              </a:solidFill>
              <a:ea typeface="楷体_GB2312" pitchFamily="49" charset="-122"/>
            </a:endParaRPr>
          </a:p>
        </p:txBody>
      </p:sp>
      <p:grpSp>
        <p:nvGrpSpPr>
          <p:cNvPr id="328708" name="Group 4"/>
          <p:cNvGrpSpPr/>
          <p:nvPr/>
        </p:nvGrpSpPr>
        <p:grpSpPr bwMode="auto">
          <a:xfrm>
            <a:off x="5729288" y="4508500"/>
            <a:ext cx="4038600" cy="495300"/>
            <a:chOff x="2448" y="2784"/>
            <a:chExt cx="2317" cy="221"/>
          </a:xfrm>
        </p:grpSpPr>
        <p:graphicFrame>
          <p:nvGraphicFramePr>
            <p:cNvPr id="328709" name="Object 5"/>
            <p:cNvGraphicFramePr>
              <a:graphicFrameLocks noChangeAspect="1"/>
            </p:cNvGraphicFramePr>
            <p:nvPr/>
          </p:nvGraphicFramePr>
          <p:xfrm>
            <a:off x="2448" y="2784"/>
            <a:ext cx="768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236" name="" r:id="rId1" imgW="774065" imgH="215900" progId="Equation.3">
                    <p:embed/>
                  </p:oleObj>
                </mc:Choice>
                <mc:Fallback>
                  <p:oleObj name="" r:id="rId1" imgW="774065" imgH="215900" progId="Equation.3">
                    <p:embed/>
                    <p:pic>
                      <p:nvPicPr>
                        <p:cNvPr id="0" name="图片 882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2784"/>
                          <a:ext cx="768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710" name="Object 6"/>
            <p:cNvGraphicFramePr>
              <a:graphicFrameLocks noChangeAspect="1"/>
            </p:cNvGraphicFramePr>
            <p:nvPr/>
          </p:nvGraphicFramePr>
          <p:xfrm>
            <a:off x="3744" y="2784"/>
            <a:ext cx="1021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237" name="Equation" r:id="rId3" imgW="1015365" imgH="215900" progId="Equation.3">
                    <p:embed/>
                  </p:oleObj>
                </mc:Choice>
                <mc:Fallback>
                  <p:oleObj name="Equation" r:id="rId3" imgW="1015365" imgH="215900" progId="Equation.3">
                    <p:embed/>
                    <p:pic>
                      <p:nvPicPr>
                        <p:cNvPr id="0" name="图片 882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784"/>
                          <a:ext cx="1021" cy="2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8711" name="Text Box 7"/>
          <p:cNvSpPr txBox="1">
            <a:spLocks noChangeArrowheads="1"/>
          </p:cNvSpPr>
          <p:nvPr/>
        </p:nvSpPr>
        <p:spPr bwMode="auto">
          <a:xfrm>
            <a:off x="2279650" y="5013326"/>
            <a:ext cx="2819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In view of this we find</a:t>
            </a: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en-US" altLang="zh-CN" sz="2000" b="1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28712" name="Group 8"/>
          <p:cNvGrpSpPr/>
          <p:nvPr/>
        </p:nvGrpSpPr>
        <p:grpSpPr bwMode="auto">
          <a:xfrm>
            <a:off x="1703388" y="5589588"/>
            <a:ext cx="4248150" cy="792162"/>
            <a:chOff x="1423" y="3558"/>
            <a:chExt cx="2960" cy="438"/>
          </a:xfrm>
        </p:grpSpPr>
        <p:graphicFrame>
          <p:nvGraphicFramePr>
            <p:cNvPr id="328713" name="Object 9"/>
            <p:cNvGraphicFramePr>
              <a:graphicFrameLocks noChangeAspect="1"/>
            </p:cNvGraphicFramePr>
            <p:nvPr/>
          </p:nvGraphicFramePr>
          <p:xfrm>
            <a:off x="1423" y="3558"/>
            <a:ext cx="1214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238" name="Equation" r:id="rId5" imgW="1206500" imgH="431800" progId="Equation.3">
                    <p:embed/>
                  </p:oleObj>
                </mc:Choice>
                <mc:Fallback>
                  <p:oleObj name="Equation" r:id="rId5" imgW="1206500" imgH="431800" progId="Equation.3">
                    <p:embed/>
                    <p:pic>
                      <p:nvPicPr>
                        <p:cNvPr id="0" name="图片 882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3" y="3558"/>
                          <a:ext cx="1214" cy="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714" name="Object 10"/>
            <p:cNvGraphicFramePr>
              <a:graphicFrameLocks noChangeAspect="1"/>
            </p:cNvGraphicFramePr>
            <p:nvPr/>
          </p:nvGraphicFramePr>
          <p:xfrm>
            <a:off x="3152" y="3558"/>
            <a:ext cx="1231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239" name="Equation" r:id="rId7" imgW="1218565" imgH="431800" progId="Equation.3">
                    <p:embed/>
                  </p:oleObj>
                </mc:Choice>
                <mc:Fallback>
                  <p:oleObj name="Equation" r:id="rId7" imgW="1218565" imgH="431800" progId="Equation.3">
                    <p:embed/>
                    <p:pic>
                      <p:nvPicPr>
                        <p:cNvPr id="0" name="图片 882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3558"/>
                          <a:ext cx="1231" cy="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8715" name="Group 11"/>
          <p:cNvGrpSpPr/>
          <p:nvPr/>
        </p:nvGrpSpPr>
        <p:grpSpPr bwMode="auto">
          <a:xfrm>
            <a:off x="2057400" y="2971800"/>
            <a:ext cx="3048000" cy="1828800"/>
            <a:chOff x="336" y="1872"/>
            <a:chExt cx="1920" cy="1152"/>
          </a:xfrm>
        </p:grpSpPr>
        <p:grpSp>
          <p:nvGrpSpPr>
            <p:cNvPr id="328716" name="Group 12"/>
            <p:cNvGrpSpPr/>
            <p:nvPr/>
          </p:nvGrpSpPr>
          <p:grpSpPr bwMode="auto">
            <a:xfrm>
              <a:off x="343" y="2142"/>
              <a:ext cx="1471" cy="642"/>
              <a:chOff x="343" y="2142"/>
              <a:chExt cx="1471" cy="642"/>
            </a:xfrm>
          </p:grpSpPr>
          <p:sp>
            <p:nvSpPr>
              <p:cNvPr id="328717" name="Rectangle 13"/>
              <p:cNvSpPr>
                <a:spLocks noChangeArrowheads="1"/>
              </p:cNvSpPr>
              <p:nvPr/>
            </p:nvSpPr>
            <p:spPr bwMode="auto">
              <a:xfrm>
                <a:off x="343" y="2308"/>
                <a:ext cx="116" cy="2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328718" name="Group 14"/>
              <p:cNvGrpSpPr/>
              <p:nvPr/>
            </p:nvGrpSpPr>
            <p:grpSpPr bwMode="auto">
              <a:xfrm>
                <a:off x="1036" y="2142"/>
                <a:ext cx="778" cy="642"/>
                <a:chOff x="1036" y="2142"/>
                <a:chExt cx="778" cy="642"/>
              </a:xfrm>
            </p:grpSpPr>
            <p:sp>
              <p:nvSpPr>
                <p:cNvPr id="328719" name="Rectangle 15"/>
                <p:cNvSpPr>
                  <a:spLocks noChangeArrowheads="1"/>
                </p:cNvSpPr>
                <p:nvPr/>
              </p:nvSpPr>
              <p:spPr bwMode="auto">
                <a:xfrm>
                  <a:off x="1048" y="2448"/>
                  <a:ext cx="766" cy="336"/>
                </a:xfrm>
                <a:prstGeom prst="rect">
                  <a:avLst/>
                </a:prstGeom>
                <a:solidFill>
                  <a:srgbClr val="66FF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720" name="Rectangle 16"/>
                <p:cNvSpPr>
                  <a:spLocks noChangeArrowheads="1"/>
                </p:cNvSpPr>
                <p:nvPr/>
              </p:nvSpPr>
              <p:spPr bwMode="auto">
                <a:xfrm>
                  <a:off x="1036" y="2142"/>
                  <a:ext cx="778" cy="306"/>
                </a:xfrm>
                <a:prstGeom prst="rect">
                  <a:avLst/>
                </a:prstGeom>
                <a:solidFill>
                  <a:srgbClr val="FFFF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28721" name="Group 17"/>
            <p:cNvGrpSpPr/>
            <p:nvPr/>
          </p:nvGrpSpPr>
          <p:grpSpPr bwMode="auto">
            <a:xfrm>
              <a:off x="336" y="1872"/>
              <a:ext cx="1920" cy="1152"/>
              <a:chOff x="336" y="1872"/>
              <a:chExt cx="1920" cy="1152"/>
            </a:xfrm>
          </p:grpSpPr>
          <p:sp>
            <p:nvSpPr>
              <p:cNvPr id="328722" name="Rectangle 18"/>
              <p:cNvSpPr>
                <a:spLocks noChangeArrowheads="1"/>
              </p:cNvSpPr>
              <p:nvPr/>
            </p:nvSpPr>
            <p:spPr bwMode="auto">
              <a:xfrm>
                <a:off x="1037" y="2100"/>
                <a:ext cx="779" cy="4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723" name="Rectangle 19"/>
              <p:cNvSpPr>
                <a:spLocks noChangeArrowheads="1"/>
              </p:cNvSpPr>
              <p:nvPr/>
            </p:nvSpPr>
            <p:spPr bwMode="auto">
              <a:xfrm>
                <a:off x="1037" y="2782"/>
                <a:ext cx="779" cy="43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724" name="Line 20"/>
              <p:cNvSpPr>
                <a:spLocks noChangeShapeType="1"/>
              </p:cNvSpPr>
              <p:nvPr/>
            </p:nvSpPr>
            <p:spPr bwMode="auto">
              <a:xfrm>
                <a:off x="635" y="1872"/>
                <a:ext cx="78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725" name="Line 21"/>
              <p:cNvSpPr>
                <a:spLocks noChangeShapeType="1"/>
              </p:cNvSpPr>
              <p:nvPr/>
            </p:nvSpPr>
            <p:spPr bwMode="auto">
              <a:xfrm>
                <a:off x="635" y="3024"/>
                <a:ext cx="7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726" name="Line 22"/>
              <p:cNvSpPr>
                <a:spLocks noChangeShapeType="1"/>
              </p:cNvSpPr>
              <p:nvPr/>
            </p:nvSpPr>
            <p:spPr bwMode="auto">
              <a:xfrm flipH="1">
                <a:off x="1407" y="1872"/>
                <a:ext cx="7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727" name="Line 23"/>
              <p:cNvSpPr>
                <a:spLocks noChangeShapeType="1"/>
              </p:cNvSpPr>
              <p:nvPr/>
            </p:nvSpPr>
            <p:spPr bwMode="auto">
              <a:xfrm flipH="1">
                <a:off x="1407" y="2825"/>
                <a:ext cx="7" cy="1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728" name="Line 24"/>
              <p:cNvSpPr>
                <a:spLocks noChangeShapeType="1"/>
              </p:cNvSpPr>
              <p:nvPr/>
            </p:nvSpPr>
            <p:spPr bwMode="auto">
              <a:xfrm>
                <a:off x="635" y="1872"/>
                <a:ext cx="0" cy="5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729" name="Line 25"/>
              <p:cNvSpPr>
                <a:spLocks noChangeShapeType="1"/>
              </p:cNvSpPr>
              <p:nvPr/>
            </p:nvSpPr>
            <p:spPr bwMode="auto">
              <a:xfrm flipV="1">
                <a:off x="635" y="2441"/>
                <a:ext cx="0" cy="58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730" name="Line 26"/>
              <p:cNvSpPr>
                <a:spLocks noChangeShapeType="1"/>
              </p:cNvSpPr>
              <p:nvPr/>
            </p:nvSpPr>
            <p:spPr bwMode="auto">
              <a:xfrm>
                <a:off x="544" y="2384"/>
                <a:ext cx="18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731" name="Line 27"/>
              <p:cNvSpPr>
                <a:spLocks noChangeShapeType="1"/>
              </p:cNvSpPr>
              <p:nvPr/>
            </p:nvSpPr>
            <p:spPr bwMode="auto">
              <a:xfrm>
                <a:off x="583" y="2441"/>
                <a:ext cx="10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732" name="Text Box 28"/>
              <p:cNvSpPr txBox="1">
                <a:spLocks noChangeArrowheads="1"/>
              </p:cNvSpPr>
              <p:nvPr/>
            </p:nvSpPr>
            <p:spPr bwMode="auto">
              <a:xfrm>
                <a:off x="1173" y="2169"/>
                <a:ext cx="52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16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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6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733" name="Text Box 29"/>
              <p:cNvSpPr txBox="1">
                <a:spLocks noChangeArrowheads="1"/>
              </p:cNvSpPr>
              <p:nvPr/>
            </p:nvSpPr>
            <p:spPr bwMode="auto">
              <a:xfrm>
                <a:off x="1173" y="2457"/>
                <a:ext cx="52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6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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16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734" name="Text Box 30"/>
              <p:cNvSpPr txBox="1">
                <a:spLocks noChangeArrowheads="1"/>
              </p:cNvSpPr>
              <p:nvPr/>
            </p:nvSpPr>
            <p:spPr bwMode="auto">
              <a:xfrm>
                <a:off x="1841" y="2169"/>
                <a:ext cx="41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6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735" name="Text Box 31"/>
              <p:cNvSpPr txBox="1">
                <a:spLocks noChangeArrowheads="1"/>
              </p:cNvSpPr>
              <p:nvPr/>
            </p:nvSpPr>
            <p:spPr bwMode="auto">
              <a:xfrm>
                <a:off x="1845" y="2456"/>
                <a:ext cx="363" cy="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16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736" name="Text Box 32"/>
              <p:cNvSpPr txBox="1">
                <a:spLocks noChangeArrowheads="1"/>
              </p:cNvSpPr>
              <p:nvPr/>
            </p:nvSpPr>
            <p:spPr bwMode="auto">
              <a:xfrm>
                <a:off x="336" y="2304"/>
                <a:ext cx="28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</a:rPr>
                  <a:t>U</a:t>
                </a:r>
                <a:endParaRPr lang="en-US" altLang="zh-CN" sz="1600" baseline="-25000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328737" name="Object 33"/>
          <p:cNvGraphicFramePr>
            <a:graphicFrameLocks noChangeAspect="1"/>
          </p:cNvGraphicFramePr>
          <p:nvPr/>
        </p:nvGraphicFramePr>
        <p:xfrm>
          <a:off x="6383339" y="5516563"/>
          <a:ext cx="4105275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40" name="Equation" r:id="rId9" imgW="1930400" imgH="431800" progId="Equation.DSMT4">
                  <p:embed/>
                </p:oleObj>
              </mc:Choice>
              <mc:Fallback>
                <p:oleObj name="Equation" r:id="rId9" imgW="1930400" imgH="431800" progId="Equation.DSMT4">
                  <p:embed/>
                  <p:pic>
                    <p:nvPicPr>
                      <p:cNvPr id="0" name="图片 88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5516563"/>
                        <a:ext cx="4105275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08670" y="734292"/>
            <a:ext cx="159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Example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6" grpId="0" autoUpdateAnimBg="0"/>
      <p:bldP spid="328707" grpId="0" autoUpdateAnimBg="0"/>
      <p:bldP spid="32871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730" name="Group 2"/>
          <p:cNvGrpSpPr/>
          <p:nvPr/>
        </p:nvGrpSpPr>
        <p:grpSpPr bwMode="auto">
          <a:xfrm>
            <a:off x="2063750" y="333376"/>
            <a:ext cx="7696200" cy="1260475"/>
            <a:chOff x="528" y="192"/>
            <a:chExt cx="4848" cy="794"/>
          </a:xfrm>
        </p:grpSpPr>
        <p:sp>
          <p:nvSpPr>
            <p:cNvPr id="329731" name="Text Box 3"/>
            <p:cNvSpPr txBox="1">
              <a:spLocks noChangeArrowheads="1"/>
            </p:cNvSpPr>
            <p:nvPr/>
          </p:nvSpPr>
          <p:spPr bwMode="auto">
            <a:xfrm>
              <a:off x="528" y="192"/>
              <a:ext cx="4848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ea typeface="楷体_GB2312" pitchFamily="49" charset="-122"/>
                </a:rPr>
                <a:t>The </a:t>
              </a:r>
              <a:r>
                <a:rPr kumimoji="1"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electric</a:t>
              </a:r>
              <a:r>
                <a:rPr kumimoji="1" lang="en-US" altLang="zh-CN" sz="2000" b="1">
                  <a:solidFill>
                    <a:srgbClr val="3333FF"/>
                  </a:solidFill>
                  <a:ea typeface="楷体_GB2312" pitchFamily="49" charset="-122"/>
                </a:rPr>
                <a:t> </a:t>
              </a:r>
              <a:r>
                <a:rPr kumimoji="1"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energies</a:t>
              </a:r>
              <a:r>
                <a:rPr kumimoji="1" lang="en-US" altLang="zh-CN" sz="2000" b="1">
                  <a:solidFill>
                    <a:srgbClr val="3333FF"/>
                  </a:solidFill>
                  <a:ea typeface="楷体_GB2312" pitchFamily="49" charset="-122"/>
                </a:rPr>
                <a:t> per unit volume in two dielectrics, respectively, are</a:t>
              </a:r>
              <a:r>
                <a:rPr kumimoji="1" lang="en-US" altLang="zh-CN" sz="2000" b="1">
                  <a:solidFill>
                    <a:srgbClr val="3333FF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kumimoji="1" lang="en-US" altLang="zh-CN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329732" name="Object 4"/>
            <p:cNvGraphicFramePr>
              <a:graphicFrameLocks noChangeAspect="1"/>
            </p:cNvGraphicFramePr>
            <p:nvPr/>
          </p:nvGraphicFramePr>
          <p:xfrm>
            <a:off x="1763" y="576"/>
            <a:ext cx="1946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0" name="Equation" r:id="rId1" imgW="1854200" imgH="393700" progId="Equation.3">
                    <p:embed/>
                  </p:oleObj>
                </mc:Choice>
                <mc:Fallback>
                  <p:oleObj name="Equation" r:id="rId1" imgW="1854200" imgH="393700" progId="Equation.3">
                    <p:embed/>
                    <p:pic>
                      <p:nvPicPr>
                        <p:cNvPr id="0" name="图片 895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" y="576"/>
                          <a:ext cx="1946" cy="4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9733" name="Group 5"/>
          <p:cNvGrpSpPr/>
          <p:nvPr/>
        </p:nvGrpSpPr>
        <p:grpSpPr bwMode="auto">
          <a:xfrm>
            <a:off x="2063750" y="1557339"/>
            <a:ext cx="7848600" cy="1000125"/>
            <a:chOff x="480" y="960"/>
            <a:chExt cx="4944" cy="630"/>
          </a:xfrm>
        </p:grpSpPr>
        <p:sp>
          <p:nvSpPr>
            <p:cNvPr id="329734" name="Text Box 6"/>
            <p:cNvSpPr txBox="1">
              <a:spLocks noChangeArrowheads="1"/>
            </p:cNvSpPr>
            <p:nvPr/>
          </p:nvSpPr>
          <p:spPr bwMode="auto">
            <a:xfrm>
              <a:off x="480" y="960"/>
              <a:ext cx="4944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ea typeface="楷体_GB2312" pitchFamily="49" charset="-122"/>
                </a:rPr>
                <a:t>The</a:t>
              </a:r>
              <a:r>
                <a:rPr kumimoji="1" lang="en-US" altLang="zh-CN" sz="2000" b="1">
                  <a:solidFill>
                    <a:srgbClr val="3333FF"/>
                  </a:solidFill>
                  <a:ea typeface="楷体_GB2312" pitchFamily="49" charset="-122"/>
                </a:rPr>
                <a:t> </a:t>
              </a:r>
              <a:r>
                <a:rPr kumimoji="1" lang="en-US" altLang="zh-CN" sz="2000" b="1">
                  <a:solidFill>
                    <a:srgbClr val="FF0000"/>
                  </a:solidFill>
                  <a:ea typeface="楷体_GB2312" pitchFamily="49" charset="-122"/>
                </a:rPr>
                <a:t>power dissipations</a:t>
              </a:r>
              <a:r>
                <a:rPr kumimoji="1" lang="en-US" altLang="zh-CN" sz="2000" b="1">
                  <a:solidFill>
                    <a:srgbClr val="3333FF"/>
                  </a:solidFill>
                  <a:ea typeface="楷体_GB2312" pitchFamily="49" charset="-122"/>
                </a:rPr>
                <a:t> </a:t>
              </a:r>
              <a:r>
                <a:rPr kumimoji="1" lang="en-US" altLang="zh-CN" sz="2000" b="1">
                  <a:solidFill>
                    <a:srgbClr val="000000"/>
                  </a:solidFill>
                  <a:ea typeface="楷体_GB2312" pitchFamily="49" charset="-122"/>
                </a:rPr>
                <a:t>per unit volume in two dielectrics, respectively, are </a:t>
              </a:r>
              <a:endParaRPr kumimoji="1" lang="en-US" altLang="zh-CN" sz="20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329735" name="Object 7"/>
            <p:cNvGraphicFramePr>
              <a:graphicFrameLocks noChangeAspect="1"/>
            </p:cNvGraphicFramePr>
            <p:nvPr/>
          </p:nvGraphicFramePr>
          <p:xfrm>
            <a:off x="1848" y="1344"/>
            <a:ext cx="172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1" name="Equation" r:id="rId3" imgW="1676400" imgH="241300" progId="Equation.3">
                    <p:embed/>
                  </p:oleObj>
                </mc:Choice>
                <mc:Fallback>
                  <p:oleObj name="Equation" r:id="rId3" imgW="1676400" imgH="241300" progId="Equation.3">
                    <p:embed/>
                    <p:pic>
                      <p:nvPicPr>
                        <p:cNvPr id="0" name="图片 895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8" y="1344"/>
                          <a:ext cx="1728" cy="2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9736" name="Text Box 8"/>
          <p:cNvSpPr txBox="1">
            <a:spLocks noChangeArrowheads="1"/>
          </p:cNvSpPr>
          <p:nvPr/>
        </p:nvSpPr>
        <p:spPr bwMode="auto">
          <a:xfrm>
            <a:off x="2135189" y="2420939"/>
            <a:ext cx="47085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3333FF"/>
                </a:solidFill>
                <a:ea typeface="楷体_GB2312" pitchFamily="49" charset="-122"/>
              </a:rPr>
              <a:t>Two special cases are worth noting:</a:t>
            </a:r>
            <a:endParaRPr kumimoji="1" lang="en-US" altLang="zh-CN" sz="2000" b="1">
              <a:solidFill>
                <a:srgbClr val="3333FF"/>
              </a:solidFill>
              <a:ea typeface="楷体_GB2312" pitchFamily="49" charset="-122"/>
            </a:endParaRPr>
          </a:p>
        </p:txBody>
      </p:sp>
      <p:grpSp>
        <p:nvGrpSpPr>
          <p:cNvPr id="329737" name="Group 9"/>
          <p:cNvGrpSpPr/>
          <p:nvPr/>
        </p:nvGrpSpPr>
        <p:grpSpPr bwMode="auto">
          <a:xfrm>
            <a:off x="3568700" y="3657601"/>
            <a:ext cx="6248400" cy="766763"/>
            <a:chOff x="1288" y="2304"/>
            <a:chExt cx="3936" cy="483"/>
          </a:xfrm>
        </p:grpSpPr>
        <p:sp>
          <p:nvSpPr>
            <p:cNvPr id="329738" name="Text Box 10"/>
            <p:cNvSpPr txBox="1">
              <a:spLocks noChangeArrowheads="1"/>
            </p:cNvSpPr>
            <p:nvPr/>
          </p:nvSpPr>
          <p:spPr bwMode="auto">
            <a:xfrm>
              <a:off x="1288" y="2304"/>
              <a:ext cx="393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If            ,  then            ,             ,            ,              .</a:t>
              </a:r>
              <a:endPara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329739" name="Object 11"/>
            <p:cNvGraphicFramePr>
              <a:graphicFrameLocks noChangeAspect="1"/>
            </p:cNvGraphicFramePr>
            <p:nvPr/>
          </p:nvGraphicFramePr>
          <p:xfrm>
            <a:off x="1496" y="2391"/>
            <a:ext cx="4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2" name="" r:id="rId5" imgW="443865" imgH="215900" progId="Equation.3">
                    <p:embed/>
                  </p:oleObj>
                </mc:Choice>
                <mc:Fallback>
                  <p:oleObj name="" r:id="rId5" imgW="443865" imgH="215900" progId="Equation.3">
                    <p:embed/>
                    <p:pic>
                      <p:nvPicPr>
                        <p:cNvPr id="0" name="图片 895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6" y="2391"/>
                          <a:ext cx="432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40" name="Object 12"/>
            <p:cNvGraphicFramePr>
              <a:graphicFrameLocks noChangeAspect="1"/>
            </p:cNvGraphicFramePr>
            <p:nvPr/>
          </p:nvGraphicFramePr>
          <p:xfrm>
            <a:off x="2393" y="2432"/>
            <a:ext cx="432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3" name="" r:id="rId7" imgW="431800" imgH="215900" progId="Equation.3">
                    <p:embed/>
                  </p:oleObj>
                </mc:Choice>
                <mc:Fallback>
                  <p:oleObj name="" r:id="rId7" imgW="431800" imgH="215900" progId="Equation.3">
                    <p:embed/>
                    <p:pic>
                      <p:nvPicPr>
                        <p:cNvPr id="0" name="图片 895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3" y="2432"/>
                          <a:ext cx="432" cy="2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41" name="Object 13"/>
            <p:cNvGraphicFramePr>
              <a:graphicFrameLocks noChangeAspect="1"/>
            </p:cNvGraphicFramePr>
            <p:nvPr/>
          </p:nvGraphicFramePr>
          <p:xfrm>
            <a:off x="2880" y="2432"/>
            <a:ext cx="482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4" name="Equation" r:id="rId9" imgW="469900" imgH="228600" progId="Equation.3">
                    <p:embed/>
                  </p:oleObj>
                </mc:Choice>
                <mc:Fallback>
                  <p:oleObj name="Equation" r:id="rId9" imgW="469900" imgH="228600" progId="Equation.3">
                    <p:embed/>
                    <p:pic>
                      <p:nvPicPr>
                        <p:cNvPr id="0" name="图片 895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2432"/>
                          <a:ext cx="482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42" name="Object 14"/>
            <p:cNvGraphicFramePr>
              <a:graphicFrameLocks noChangeAspect="1"/>
            </p:cNvGraphicFramePr>
            <p:nvPr/>
          </p:nvGraphicFramePr>
          <p:xfrm>
            <a:off x="3449" y="2432"/>
            <a:ext cx="460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5" name="" r:id="rId11" imgW="444500" imgH="228600" progId="Equation.3">
                    <p:embed/>
                  </p:oleObj>
                </mc:Choice>
                <mc:Fallback>
                  <p:oleObj name="" r:id="rId11" imgW="444500" imgH="228600" progId="Equation.3">
                    <p:embed/>
                    <p:pic>
                      <p:nvPicPr>
                        <p:cNvPr id="0" name="图片 895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9" y="2432"/>
                          <a:ext cx="460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43" name="Object 15"/>
            <p:cNvGraphicFramePr>
              <a:graphicFrameLocks noChangeAspect="1"/>
            </p:cNvGraphicFramePr>
            <p:nvPr/>
          </p:nvGraphicFramePr>
          <p:xfrm>
            <a:off x="3954" y="2348"/>
            <a:ext cx="550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6" name="Equation" r:id="rId13" imgW="533400" imgH="431800" progId="Equation.3">
                    <p:embed/>
                  </p:oleObj>
                </mc:Choice>
                <mc:Fallback>
                  <p:oleObj name="Equation" r:id="rId13" imgW="533400" imgH="431800" progId="Equation.3">
                    <p:embed/>
                    <p:pic>
                      <p:nvPicPr>
                        <p:cNvPr id="0" name="图片 895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4" y="2348"/>
                          <a:ext cx="550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9744" name="Group 16"/>
          <p:cNvGrpSpPr/>
          <p:nvPr/>
        </p:nvGrpSpPr>
        <p:grpSpPr bwMode="auto">
          <a:xfrm>
            <a:off x="3575051" y="3068639"/>
            <a:ext cx="5724525" cy="739775"/>
            <a:chOff x="1290" y="1920"/>
            <a:chExt cx="3606" cy="466"/>
          </a:xfrm>
        </p:grpSpPr>
        <p:sp>
          <p:nvSpPr>
            <p:cNvPr id="329745" name="Text Box 17"/>
            <p:cNvSpPr txBox="1">
              <a:spLocks noChangeArrowheads="1"/>
            </p:cNvSpPr>
            <p:nvPr/>
          </p:nvSpPr>
          <p:spPr bwMode="auto">
            <a:xfrm>
              <a:off x="1290" y="1920"/>
              <a:ext cx="360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If             , then               ,            ,             ,            .</a:t>
              </a:r>
              <a:endPara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329746" name="Object 18"/>
            <p:cNvGraphicFramePr>
              <a:graphicFrameLocks noChangeAspect="1"/>
            </p:cNvGraphicFramePr>
            <p:nvPr/>
          </p:nvGraphicFramePr>
          <p:xfrm>
            <a:off x="1502" y="2013"/>
            <a:ext cx="440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7" name="" r:id="rId15" imgW="431800" imgH="215900" progId="Equation.3">
                    <p:embed/>
                  </p:oleObj>
                </mc:Choice>
                <mc:Fallback>
                  <p:oleObj name="" r:id="rId15" imgW="431800" imgH="215900" progId="Equation.3">
                    <p:embed/>
                    <p:pic>
                      <p:nvPicPr>
                        <p:cNvPr id="0" name="图片 895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" y="2013"/>
                          <a:ext cx="440" cy="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47" name="Object 19"/>
            <p:cNvGraphicFramePr>
              <a:graphicFrameLocks noChangeAspect="1"/>
            </p:cNvGraphicFramePr>
            <p:nvPr/>
          </p:nvGraphicFramePr>
          <p:xfrm>
            <a:off x="2395" y="1945"/>
            <a:ext cx="510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8" name="Equation" r:id="rId17" imgW="495300" imgH="431800" progId="Equation.3">
                    <p:embed/>
                  </p:oleObj>
                </mc:Choice>
                <mc:Fallback>
                  <p:oleObj name="Equation" r:id="rId17" imgW="495300" imgH="431800" progId="Equation.3">
                    <p:embed/>
                    <p:pic>
                      <p:nvPicPr>
                        <p:cNvPr id="0" name="图片 895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5" y="1945"/>
                          <a:ext cx="510" cy="4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48" name="Object 20"/>
            <p:cNvGraphicFramePr>
              <a:graphicFrameLocks noChangeAspect="1"/>
            </p:cNvGraphicFramePr>
            <p:nvPr/>
          </p:nvGraphicFramePr>
          <p:xfrm>
            <a:off x="2976" y="2030"/>
            <a:ext cx="456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19" name="" r:id="rId19" imgW="443865" imgH="215900" progId="Equation.3">
                    <p:embed/>
                  </p:oleObj>
                </mc:Choice>
                <mc:Fallback>
                  <p:oleObj name="" r:id="rId19" imgW="443865" imgH="215900" progId="Equation.3">
                    <p:embed/>
                    <p:pic>
                      <p:nvPicPr>
                        <p:cNvPr id="0" name="图片 895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2030"/>
                          <a:ext cx="456" cy="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49" name="Object 21"/>
            <p:cNvGraphicFramePr>
              <a:graphicFrameLocks noChangeAspect="1"/>
            </p:cNvGraphicFramePr>
            <p:nvPr/>
          </p:nvGraphicFramePr>
          <p:xfrm>
            <a:off x="3528" y="2050"/>
            <a:ext cx="499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0" name="Equation" r:id="rId21" imgW="482600" imgH="228600" progId="Equation.3">
                    <p:embed/>
                  </p:oleObj>
                </mc:Choice>
                <mc:Fallback>
                  <p:oleObj name="Equation" r:id="rId21" imgW="482600" imgH="228600" progId="Equation.3">
                    <p:embed/>
                    <p:pic>
                      <p:nvPicPr>
                        <p:cNvPr id="0" name="图片 895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8" y="2050"/>
                          <a:ext cx="499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50" name="Object 22"/>
            <p:cNvGraphicFramePr>
              <a:graphicFrameLocks noChangeAspect="1"/>
            </p:cNvGraphicFramePr>
            <p:nvPr/>
          </p:nvGraphicFramePr>
          <p:xfrm>
            <a:off x="4104" y="2038"/>
            <a:ext cx="480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21" name="" r:id="rId23" imgW="469900" imgH="228600" progId="Equation.3">
                    <p:embed/>
                  </p:oleObj>
                </mc:Choice>
                <mc:Fallback>
                  <p:oleObj name="" r:id="rId23" imgW="469900" imgH="228600" progId="Equation.3">
                    <p:embed/>
                    <p:pic>
                      <p:nvPicPr>
                        <p:cNvPr id="0" name="图片 895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4" y="2038"/>
                          <a:ext cx="480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9751" name="Group 23"/>
          <p:cNvGrpSpPr/>
          <p:nvPr/>
        </p:nvGrpSpPr>
        <p:grpSpPr bwMode="auto">
          <a:xfrm>
            <a:off x="2566988" y="4648200"/>
            <a:ext cx="3376612" cy="1828800"/>
            <a:chOff x="1008" y="2928"/>
            <a:chExt cx="1776" cy="1152"/>
          </a:xfrm>
        </p:grpSpPr>
        <p:sp>
          <p:nvSpPr>
            <p:cNvPr id="329752" name="Rectangle 24"/>
            <p:cNvSpPr>
              <a:spLocks noChangeArrowheads="1"/>
            </p:cNvSpPr>
            <p:nvPr/>
          </p:nvSpPr>
          <p:spPr bwMode="auto">
            <a:xfrm>
              <a:off x="1008" y="3388"/>
              <a:ext cx="1680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9753" name="Text Box 25"/>
            <p:cNvSpPr txBox="1">
              <a:spLocks noChangeArrowheads="1"/>
            </p:cNvSpPr>
            <p:nvPr/>
          </p:nvSpPr>
          <p:spPr bwMode="auto">
            <a:xfrm>
              <a:off x="2468" y="3225"/>
              <a:ext cx="2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i="1"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1</a:t>
              </a:r>
              <a:endParaRPr lang="en-US" altLang="zh-CN" sz="16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29754" name="Text Box 26"/>
            <p:cNvSpPr txBox="1">
              <a:spLocks noChangeArrowheads="1"/>
            </p:cNvSpPr>
            <p:nvPr/>
          </p:nvSpPr>
          <p:spPr bwMode="auto">
            <a:xfrm>
              <a:off x="2472" y="3554"/>
              <a:ext cx="312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i="1">
                  <a:latin typeface="Times New Roman" panose="02020603050405020304" pitchFamily="18" charset="0"/>
                </a:rPr>
                <a:t>d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2</a:t>
              </a:r>
              <a:endParaRPr lang="en-US" altLang="zh-CN" sz="16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29755" name="Rectangle 27"/>
            <p:cNvSpPr>
              <a:spLocks noChangeArrowheads="1"/>
            </p:cNvSpPr>
            <p:nvPr/>
          </p:nvSpPr>
          <p:spPr bwMode="auto">
            <a:xfrm>
              <a:off x="1719" y="3468"/>
              <a:ext cx="768" cy="372"/>
            </a:xfrm>
            <a:prstGeom prst="rect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56" name="Rectangle 28"/>
            <p:cNvSpPr>
              <a:spLocks noChangeArrowheads="1"/>
            </p:cNvSpPr>
            <p:nvPr/>
          </p:nvSpPr>
          <p:spPr bwMode="auto">
            <a:xfrm>
              <a:off x="1710" y="3198"/>
              <a:ext cx="768" cy="306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57" name="Rectangle 29"/>
            <p:cNvSpPr>
              <a:spLocks noChangeArrowheads="1"/>
            </p:cNvSpPr>
            <p:nvPr/>
          </p:nvSpPr>
          <p:spPr bwMode="auto">
            <a:xfrm>
              <a:off x="1711" y="3156"/>
              <a:ext cx="779" cy="4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58" name="Rectangle 30"/>
            <p:cNvSpPr>
              <a:spLocks noChangeArrowheads="1"/>
            </p:cNvSpPr>
            <p:nvPr/>
          </p:nvSpPr>
          <p:spPr bwMode="auto">
            <a:xfrm>
              <a:off x="1711" y="3838"/>
              <a:ext cx="779" cy="4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59" name="Line 31"/>
            <p:cNvSpPr>
              <a:spLocks noChangeShapeType="1"/>
            </p:cNvSpPr>
            <p:nvPr/>
          </p:nvSpPr>
          <p:spPr bwMode="auto">
            <a:xfrm>
              <a:off x="1309" y="2928"/>
              <a:ext cx="7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60" name="Line 32"/>
            <p:cNvSpPr>
              <a:spLocks noChangeShapeType="1"/>
            </p:cNvSpPr>
            <p:nvPr/>
          </p:nvSpPr>
          <p:spPr bwMode="auto">
            <a:xfrm>
              <a:off x="1309" y="4080"/>
              <a:ext cx="77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61" name="Line 33"/>
            <p:cNvSpPr>
              <a:spLocks noChangeShapeType="1"/>
            </p:cNvSpPr>
            <p:nvPr/>
          </p:nvSpPr>
          <p:spPr bwMode="auto">
            <a:xfrm flipH="1">
              <a:off x="2081" y="2928"/>
              <a:ext cx="7" cy="2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62" name="Line 34"/>
            <p:cNvSpPr>
              <a:spLocks noChangeShapeType="1"/>
            </p:cNvSpPr>
            <p:nvPr/>
          </p:nvSpPr>
          <p:spPr bwMode="auto">
            <a:xfrm flipH="1">
              <a:off x="2081" y="3881"/>
              <a:ext cx="7" cy="1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63" name="Line 35"/>
            <p:cNvSpPr>
              <a:spLocks noChangeShapeType="1"/>
            </p:cNvSpPr>
            <p:nvPr/>
          </p:nvSpPr>
          <p:spPr bwMode="auto">
            <a:xfrm>
              <a:off x="1309" y="292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64" name="Line 36"/>
            <p:cNvSpPr>
              <a:spLocks noChangeShapeType="1"/>
            </p:cNvSpPr>
            <p:nvPr/>
          </p:nvSpPr>
          <p:spPr bwMode="auto">
            <a:xfrm flipV="1">
              <a:off x="1309" y="3497"/>
              <a:ext cx="0" cy="5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65" name="Line 37"/>
            <p:cNvSpPr>
              <a:spLocks noChangeShapeType="1"/>
            </p:cNvSpPr>
            <p:nvPr/>
          </p:nvSpPr>
          <p:spPr bwMode="auto">
            <a:xfrm>
              <a:off x="1218" y="3440"/>
              <a:ext cx="1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66" name="Line 38"/>
            <p:cNvSpPr>
              <a:spLocks noChangeShapeType="1"/>
            </p:cNvSpPr>
            <p:nvPr/>
          </p:nvSpPr>
          <p:spPr bwMode="auto">
            <a:xfrm>
              <a:off x="1257" y="3497"/>
              <a:ext cx="10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767" name="Text Box 39"/>
            <p:cNvSpPr txBox="1">
              <a:spLocks noChangeArrowheads="1"/>
            </p:cNvSpPr>
            <p:nvPr/>
          </p:nvSpPr>
          <p:spPr bwMode="auto">
            <a:xfrm>
              <a:off x="1847" y="3225"/>
              <a:ext cx="5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i="1">
                  <a:latin typeface="Times New Roman" panose="02020603050405020304" pitchFamily="18" charset="0"/>
                  <a:sym typeface="Symbol" panose="05050102010706020507" pitchFamily="18" charset="2"/>
                </a:rPr>
                <a:t></a:t>
              </a:r>
              <a:r>
                <a:rPr lang="en-US" altLang="zh-CN" sz="1600" i="1">
                  <a:latin typeface="Times New Roman" panose="02020603050405020304" pitchFamily="18" charset="0"/>
                </a:rPr>
                <a:t> 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1600">
                  <a:latin typeface="Times New Roman" panose="02020603050405020304" pitchFamily="18" charset="0"/>
                </a:rPr>
                <a:t>= 0</a:t>
              </a:r>
              <a:endParaRPr lang="en-US" altLang="zh-CN" sz="16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29768" name="Text Box 40"/>
            <p:cNvSpPr txBox="1">
              <a:spLocks noChangeArrowheads="1"/>
            </p:cNvSpPr>
            <p:nvPr/>
          </p:nvSpPr>
          <p:spPr bwMode="auto">
            <a:xfrm>
              <a:off x="1847" y="3561"/>
              <a:ext cx="52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i="1">
                  <a:latin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lang="en-US" altLang="zh-CN" sz="1600" i="1">
                  <a:latin typeface="Times New Roman" panose="02020603050405020304" pitchFamily="18" charset="0"/>
                </a:rPr>
                <a:t> 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1600">
                  <a:latin typeface="Times New Roman" panose="02020603050405020304" pitchFamily="18" charset="0"/>
                  <a:sym typeface="Symbol" panose="05050102010706020507" pitchFamily="18" charset="2"/>
                </a:rPr>
                <a:t>= 0</a:t>
              </a:r>
              <a:endParaRPr lang="en-US" altLang="zh-CN" sz="1600">
                <a:latin typeface="Times New Roman" panose="02020603050405020304" pitchFamily="18" charset="0"/>
                <a:sym typeface="Symbol" panose="05050102010706020507" pitchFamily="18" charset="2"/>
              </a:endParaRPr>
            </a:p>
            <a:p>
              <a:pPr algn="just" eaLnBrk="0" hangingPunct="0"/>
              <a:endParaRPr lang="en-US" altLang="zh-CN" sz="16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29769" name="Text Box 41"/>
            <p:cNvSpPr txBox="1">
              <a:spLocks noChangeArrowheads="1"/>
            </p:cNvSpPr>
            <p:nvPr/>
          </p:nvSpPr>
          <p:spPr bwMode="auto">
            <a:xfrm>
              <a:off x="1010" y="3360"/>
              <a:ext cx="28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/>
              <a:r>
                <a:rPr lang="en-US" altLang="zh-CN" sz="1600" i="1">
                  <a:latin typeface="Times New Roman" panose="02020603050405020304" pitchFamily="18" charset="0"/>
                </a:rPr>
                <a:t>U</a:t>
              </a:r>
              <a:endParaRPr lang="en-US" altLang="zh-CN" sz="1600" baseline="-25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9770" name="Group 42"/>
          <p:cNvGrpSpPr/>
          <p:nvPr/>
        </p:nvGrpSpPr>
        <p:grpSpPr bwMode="auto">
          <a:xfrm>
            <a:off x="6489701" y="4648200"/>
            <a:ext cx="3135313" cy="1828800"/>
            <a:chOff x="3128" y="2928"/>
            <a:chExt cx="1611" cy="1152"/>
          </a:xfrm>
        </p:grpSpPr>
        <p:sp>
          <p:nvSpPr>
            <p:cNvPr id="329771" name="Rectangle 43"/>
            <p:cNvSpPr>
              <a:spLocks noChangeArrowheads="1"/>
            </p:cNvSpPr>
            <p:nvPr/>
          </p:nvSpPr>
          <p:spPr bwMode="auto">
            <a:xfrm>
              <a:off x="3155" y="3400"/>
              <a:ext cx="1584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29772" name="Group 44"/>
            <p:cNvGrpSpPr/>
            <p:nvPr/>
          </p:nvGrpSpPr>
          <p:grpSpPr bwMode="auto">
            <a:xfrm>
              <a:off x="3128" y="2928"/>
              <a:ext cx="1480" cy="1152"/>
              <a:chOff x="2928" y="2928"/>
              <a:chExt cx="1480" cy="1152"/>
            </a:xfrm>
          </p:grpSpPr>
          <p:sp>
            <p:nvSpPr>
              <p:cNvPr id="329773" name="Rectangle 45"/>
              <p:cNvSpPr>
                <a:spLocks noChangeArrowheads="1"/>
              </p:cNvSpPr>
              <p:nvPr/>
            </p:nvSpPr>
            <p:spPr bwMode="auto">
              <a:xfrm>
                <a:off x="3630" y="3468"/>
                <a:ext cx="766" cy="372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74" name="Rectangle 46"/>
              <p:cNvSpPr>
                <a:spLocks noChangeArrowheads="1"/>
              </p:cNvSpPr>
              <p:nvPr/>
            </p:nvSpPr>
            <p:spPr bwMode="auto">
              <a:xfrm>
                <a:off x="3627" y="3198"/>
                <a:ext cx="778" cy="306"/>
              </a:xfrm>
              <a:prstGeom prst="rect">
                <a:avLst/>
              </a:prstGeom>
              <a:solidFill>
                <a:srgbClr val="FFFF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75" name="Rectangle 47"/>
              <p:cNvSpPr>
                <a:spLocks noChangeArrowheads="1"/>
              </p:cNvSpPr>
              <p:nvPr/>
            </p:nvSpPr>
            <p:spPr bwMode="auto">
              <a:xfrm>
                <a:off x="3629" y="3156"/>
                <a:ext cx="779" cy="42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76" name="Rectangle 48"/>
              <p:cNvSpPr>
                <a:spLocks noChangeArrowheads="1"/>
              </p:cNvSpPr>
              <p:nvPr/>
            </p:nvSpPr>
            <p:spPr bwMode="auto">
              <a:xfrm>
                <a:off x="3629" y="3838"/>
                <a:ext cx="779" cy="43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77" name="Line 49"/>
              <p:cNvSpPr>
                <a:spLocks noChangeShapeType="1"/>
              </p:cNvSpPr>
              <p:nvPr/>
            </p:nvSpPr>
            <p:spPr bwMode="auto">
              <a:xfrm>
                <a:off x="3227" y="2928"/>
                <a:ext cx="78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78" name="Line 50"/>
              <p:cNvSpPr>
                <a:spLocks noChangeShapeType="1"/>
              </p:cNvSpPr>
              <p:nvPr/>
            </p:nvSpPr>
            <p:spPr bwMode="auto">
              <a:xfrm>
                <a:off x="3227" y="4080"/>
                <a:ext cx="7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79" name="Line 51"/>
              <p:cNvSpPr>
                <a:spLocks noChangeShapeType="1"/>
              </p:cNvSpPr>
              <p:nvPr/>
            </p:nvSpPr>
            <p:spPr bwMode="auto">
              <a:xfrm flipH="1">
                <a:off x="3999" y="2928"/>
                <a:ext cx="7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80" name="Line 52"/>
              <p:cNvSpPr>
                <a:spLocks noChangeShapeType="1"/>
              </p:cNvSpPr>
              <p:nvPr/>
            </p:nvSpPr>
            <p:spPr bwMode="auto">
              <a:xfrm flipH="1">
                <a:off x="3999" y="3881"/>
                <a:ext cx="7" cy="1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81" name="Line 53"/>
              <p:cNvSpPr>
                <a:spLocks noChangeShapeType="1"/>
              </p:cNvSpPr>
              <p:nvPr/>
            </p:nvSpPr>
            <p:spPr bwMode="auto">
              <a:xfrm>
                <a:off x="3227" y="2928"/>
                <a:ext cx="0" cy="5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82" name="Line 54"/>
              <p:cNvSpPr>
                <a:spLocks noChangeShapeType="1"/>
              </p:cNvSpPr>
              <p:nvPr/>
            </p:nvSpPr>
            <p:spPr bwMode="auto">
              <a:xfrm flipV="1">
                <a:off x="3227" y="3497"/>
                <a:ext cx="0" cy="58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83" name="Line 55"/>
              <p:cNvSpPr>
                <a:spLocks noChangeShapeType="1"/>
              </p:cNvSpPr>
              <p:nvPr/>
            </p:nvSpPr>
            <p:spPr bwMode="auto">
              <a:xfrm>
                <a:off x="3136" y="3440"/>
                <a:ext cx="18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84" name="Line 56"/>
              <p:cNvSpPr>
                <a:spLocks noChangeShapeType="1"/>
              </p:cNvSpPr>
              <p:nvPr/>
            </p:nvSpPr>
            <p:spPr bwMode="auto">
              <a:xfrm>
                <a:off x="3175" y="3497"/>
                <a:ext cx="10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85" name="Text Box 57"/>
              <p:cNvSpPr txBox="1">
                <a:spLocks noChangeArrowheads="1"/>
              </p:cNvSpPr>
              <p:nvPr/>
            </p:nvSpPr>
            <p:spPr bwMode="auto">
              <a:xfrm>
                <a:off x="3765" y="3225"/>
                <a:ext cx="52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= 0</a:t>
                </a:r>
                <a:endParaRPr lang="en-US" altLang="zh-CN" sz="16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786" name="Text Box 58"/>
              <p:cNvSpPr txBox="1">
                <a:spLocks noChangeArrowheads="1"/>
              </p:cNvSpPr>
              <p:nvPr/>
            </p:nvSpPr>
            <p:spPr bwMode="auto">
              <a:xfrm>
                <a:off x="3765" y="3561"/>
                <a:ext cx="52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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600">
                    <a:latin typeface="Times New Roman" panose="02020603050405020304" pitchFamily="18" charset="0"/>
                    <a:sym typeface="Symbol" panose="05050102010706020507" pitchFamily="18" charset="2"/>
                  </a:rPr>
                  <a:t>= 0</a:t>
                </a:r>
                <a:endParaRPr lang="en-US" altLang="zh-CN" sz="160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algn="just" eaLnBrk="0" hangingPunct="0"/>
                <a:endParaRPr lang="en-US" altLang="zh-CN" sz="16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9787" name="Text Box 59"/>
              <p:cNvSpPr txBox="1">
                <a:spLocks noChangeArrowheads="1"/>
              </p:cNvSpPr>
              <p:nvPr/>
            </p:nvSpPr>
            <p:spPr bwMode="auto">
              <a:xfrm>
                <a:off x="2928" y="3360"/>
                <a:ext cx="28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</a:rPr>
                  <a:t>U</a:t>
                </a:r>
                <a:endParaRPr lang="en-US" altLang="zh-CN" sz="1600" baseline="-25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60" name="文本框 59"/>
          <p:cNvSpPr txBox="1"/>
          <p:nvPr/>
        </p:nvSpPr>
        <p:spPr>
          <a:xfrm>
            <a:off x="108670" y="734292"/>
            <a:ext cx="159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Example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9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9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9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9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9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6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972" name="Group 3"/>
          <p:cNvGrpSpPr/>
          <p:nvPr/>
        </p:nvGrpSpPr>
        <p:grpSpPr bwMode="auto">
          <a:xfrm>
            <a:off x="1847850" y="3284538"/>
            <a:ext cx="2286000" cy="2286000"/>
            <a:chOff x="1824" y="960"/>
            <a:chExt cx="1440" cy="1440"/>
          </a:xfrm>
        </p:grpSpPr>
        <p:sp>
          <p:nvSpPr>
            <p:cNvPr id="339973" name="Oval 4"/>
            <p:cNvSpPr>
              <a:spLocks noChangeArrowheads="1"/>
            </p:cNvSpPr>
            <p:nvPr/>
          </p:nvSpPr>
          <p:spPr bwMode="auto">
            <a:xfrm>
              <a:off x="1824" y="960"/>
              <a:ext cx="1440" cy="1440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339974" name="Oval 5"/>
            <p:cNvSpPr>
              <a:spLocks noChangeArrowheads="1"/>
            </p:cNvSpPr>
            <p:nvPr/>
          </p:nvSpPr>
          <p:spPr bwMode="auto">
            <a:xfrm>
              <a:off x="1968" y="1104"/>
              <a:ext cx="1152" cy="115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339975" name="AutoShape 6"/>
            <p:cNvSpPr>
              <a:spLocks noChangeArrowheads="1"/>
            </p:cNvSpPr>
            <p:nvPr/>
          </p:nvSpPr>
          <p:spPr bwMode="auto">
            <a:xfrm>
              <a:off x="2160" y="1296"/>
              <a:ext cx="768" cy="76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80808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976" name="Oval 7"/>
            <p:cNvSpPr>
              <a:spLocks noChangeArrowheads="1"/>
            </p:cNvSpPr>
            <p:nvPr/>
          </p:nvSpPr>
          <p:spPr bwMode="auto">
            <a:xfrm>
              <a:off x="2352" y="1488"/>
              <a:ext cx="383" cy="384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sp>
        <p:nvSpPr>
          <p:cNvPr id="339977" name="Line 8"/>
          <p:cNvSpPr>
            <a:spLocks noChangeShapeType="1"/>
          </p:cNvSpPr>
          <p:nvPr/>
        </p:nvSpPr>
        <p:spPr bwMode="auto">
          <a:xfrm>
            <a:off x="2727325" y="5875338"/>
            <a:ext cx="533400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9978" name="Line 9"/>
          <p:cNvSpPr>
            <a:spLocks noChangeShapeType="1"/>
          </p:cNvSpPr>
          <p:nvPr/>
        </p:nvSpPr>
        <p:spPr bwMode="auto">
          <a:xfrm>
            <a:off x="2873375" y="5951538"/>
            <a:ext cx="228600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9979" name="Line 10"/>
          <p:cNvSpPr>
            <a:spLocks noChangeShapeType="1"/>
          </p:cNvSpPr>
          <p:nvPr/>
        </p:nvSpPr>
        <p:spPr bwMode="auto">
          <a:xfrm flipH="1">
            <a:off x="2990850" y="5570538"/>
            <a:ext cx="0" cy="30480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9980" name="Object 11"/>
          <p:cNvGraphicFramePr>
            <a:graphicFrameLocks noChangeAspect="1"/>
          </p:cNvGraphicFramePr>
          <p:nvPr/>
        </p:nvGraphicFramePr>
        <p:xfrm>
          <a:off x="2419351" y="4652964"/>
          <a:ext cx="3286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2" name="公式" r:id="rId1" imgW="139700" imgH="215900" progId="Equation.3">
                  <p:embed/>
                </p:oleObj>
              </mc:Choice>
              <mc:Fallback>
                <p:oleObj name="公式" r:id="rId1" imgW="139700" imgH="215900" progId="Equation.3">
                  <p:embed/>
                  <p:pic>
                    <p:nvPicPr>
                      <p:cNvPr id="0" name="图片 905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1" y="4652964"/>
                        <a:ext cx="3286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81" name="Object 12"/>
          <p:cNvGraphicFramePr>
            <a:graphicFrameLocks noChangeAspect="1"/>
          </p:cNvGraphicFramePr>
          <p:nvPr/>
        </p:nvGraphicFramePr>
        <p:xfrm>
          <a:off x="2617789" y="3440114"/>
          <a:ext cx="3460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3" name="Equation" r:id="rId3" imgW="177800" imgH="215900" progId="Equation.3">
                  <p:embed/>
                </p:oleObj>
              </mc:Choice>
              <mc:Fallback>
                <p:oleObj name="Equation" r:id="rId3" imgW="177800" imgH="215900" progId="Equation.3">
                  <p:embed/>
                  <p:pic>
                    <p:nvPicPr>
                      <p:cNvPr id="0" name="图片 905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9" y="3440114"/>
                        <a:ext cx="34607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82" name="Object 13"/>
          <p:cNvGraphicFramePr>
            <a:graphicFrameLocks noChangeAspect="1"/>
          </p:cNvGraphicFramePr>
          <p:nvPr/>
        </p:nvGraphicFramePr>
        <p:xfrm>
          <a:off x="2628901" y="3716339"/>
          <a:ext cx="34766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4" name="Equation" r:id="rId5" imgW="190500" imgH="215900" progId="Equation.3">
                  <p:embed/>
                </p:oleObj>
              </mc:Choice>
              <mc:Fallback>
                <p:oleObj name="Equation" r:id="rId5" imgW="190500" imgH="215900" progId="Equation.3">
                  <p:embed/>
                  <p:pic>
                    <p:nvPicPr>
                      <p:cNvPr id="0" name="图片 905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1" y="3716339"/>
                        <a:ext cx="347663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83" name="Object 14"/>
          <p:cNvGraphicFramePr>
            <a:graphicFrameLocks noChangeAspect="1"/>
          </p:cNvGraphicFramePr>
          <p:nvPr/>
        </p:nvGraphicFramePr>
        <p:xfrm>
          <a:off x="2968625" y="3716339"/>
          <a:ext cx="3556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5" name="Equation" r:id="rId7" imgW="152400" imgH="215900" progId="Equation.3">
                  <p:embed/>
                </p:oleObj>
              </mc:Choice>
              <mc:Fallback>
                <p:oleObj name="Equation" r:id="rId7" imgW="152400" imgH="215900" progId="Equation.3">
                  <p:embed/>
                  <p:pic>
                    <p:nvPicPr>
                      <p:cNvPr id="0" name="图片 905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625" y="3716339"/>
                        <a:ext cx="3556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84" name="Object 15"/>
          <p:cNvGraphicFramePr>
            <a:graphicFrameLocks noChangeAspect="1"/>
          </p:cNvGraphicFramePr>
          <p:nvPr/>
        </p:nvGraphicFramePr>
        <p:xfrm>
          <a:off x="2962275" y="3387726"/>
          <a:ext cx="3619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6" name="Equation" r:id="rId9" imgW="165100" imgH="215900" progId="Equation.3">
                  <p:embed/>
                </p:oleObj>
              </mc:Choice>
              <mc:Fallback>
                <p:oleObj name="Equation" r:id="rId9" imgW="165100" imgH="215900" progId="Equation.3">
                  <p:embed/>
                  <p:pic>
                    <p:nvPicPr>
                      <p:cNvPr id="0" name="图片 905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275" y="3387726"/>
                        <a:ext cx="3619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85" name="Object 16"/>
          <p:cNvGraphicFramePr>
            <a:graphicFrameLocks noChangeAspect="1"/>
          </p:cNvGraphicFramePr>
          <p:nvPr/>
        </p:nvGraphicFramePr>
        <p:xfrm>
          <a:off x="2730500" y="4835525"/>
          <a:ext cx="304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7" name="Equation" r:id="rId11" imgW="127000" imgH="165100" progId="Equation.3">
                  <p:embed/>
                </p:oleObj>
              </mc:Choice>
              <mc:Fallback>
                <p:oleObj name="Equation" r:id="rId11" imgW="127000" imgH="165100" progId="Equation.3">
                  <p:embed/>
                  <p:pic>
                    <p:nvPicPr>
                      <p:cNvPr id="0" name="图片 905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4835525"/>
                        <a:ext cx="304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9986" name="Group 17"/>
          <p:cNvGrpSpPr/>
          <p:nvPr/>
        </p:nvGrpSpPr>
        <p:grpSpPr bwMode="auto">
          <a:xfrm>
            <a:off x="4210050" y="3284538"/>
            <a:ext cx="5213350" cy="2286000"/>
            <a:chOff x="1546" y="2069"/>
            <a:chExt cx="3504" cy="1440"/>
          </a:xfrm>
        </p:grpSpPr>
        <p:sp>
          <p:nvSpPr>
            <p:cNvPr id="339987" name="Rectangle 18"/>
            <p:cNvSpPr>
              <a:spLocks noChangeArrowheads="1"/>
            </p:cNvSpPr>
            <p:nvPr/>
          </p:nvSpPr>
          <p:spPr bwMode="auto">
            <a:xfrm>
              <a:off x="1546" y="2069"/>
              <a:ext cx="3504" cy="144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339988" name="Rectangle 19"/>
            <p:cNvSpPr>
              <a:spLocks noChangeArrowheads="1"/>
            </p:cNvSpPr>
            <p:nvPr/>
          </p:nvSpPr>
          <p:spPr bwMode="auto">
            <a:xfrm>
              <a:off x="1546" y="2165"/>
              <a:ext cx="3504" cy="124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339989" name="Rectangle 20"/>
            <p:cNvSpPr>
              <a:spLocks noChangeArrowheads="1"/>
            </p:cNvSpPr>
            <p:nvPr/>
          </p:nvSpPr>
          <p:spPr bwMode="auto">
            <a:xfrm>
              <a:off x="1546" y="2357"/>
              <a:ext cx="3504" cy="864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339990" name="Rectangle 21"/>
            <p:cNvSpPr>
              <a:spLocks noChangeArrowheads="1"/>
            </p:cNvSpPr>
            <p:nvPr/>
          </p:nvSpPr>
          <p:spPr bwMode="auto">
            <a:xfrm>
              <a:off x="1546" y="2597"/>
              <a:ext cx="3504" cy="384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sp>
        <p:nvSpPr>
          <p:cNvPr id="339994" name="Line 25"/>
          <p:cNvSpPr>
            <a:spLocks noChangeShapeType="1"/>
          </p:cNvSpPr>
          <p:nvPr/>
        </p:nvSpPr>
        <p:spPr bwMode="auto">
          <a:xfrm>
            <a:off x="4895850" y="5570538"/>
            <a:ext cx="0" cy="22860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9995" name="Line 26"/>
          <p:cNvSpPr>
            <a:spLocks noChangeShapeType="1"/>
          </p:cNvSpPr>
          <p:nvPr/>
        </p:nvSpPr>
        <p:spPr bwMode="auto">
          <a:xfrm>
            <a:off x="4743450" y="5875338"/>
            <a:ext cx="304800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9996" name="Line 27"/>
          <p:cNvSpPr>
            <a:spLocks noChangeShapeType="1"/>
          </p:cNvSpPr>
          <p:nvPr/>
        </p:nvSpPr>
        <p:spPr bwMode="auto">
          <a:xfrm>
            <a:off x="4667250" y="5799138"/>
            <a:ext cx="457200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39997" name="Group 28"/>
          <p:cNvGrpSpPr/>
          <p:nvPr/>
        </p:nvGrpSpPr>
        <p:grpSpPr bwMode="auto">
          <a:xfrm>
            <a:off x="2065338" y="4381500"/>
            <a:ext cx="1839912" cy="76200"/>
            <a:chOff x="137" y="2760"/>
            <a:chExt cx="1159" cy="48"/>
          </a:xfrm>
        </p:grpSpPr>
        <p:sp>
          <p:nvSpPr>
            <p:cNvPr id="339998" name="Line 29"/>
            <p:cNvSpPr>
              <a:spLocks noChangeShapeType="1"/>
            </p:cNvSpPr>
            <p:nvPr/>
          </p:nvSpPr>
          <p:spPr bwMode="auto">
            <a:xfrm flipH="1">
              <a:off x="137" y="2784"/>
              <a:ext cx="384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999" name="Line 30"/>
            <p:cNvSpPr>
              <a:spLocks noChangeShapeType="1"/>
            </p:cNvSpPr>
            <p:nvPr/>
          </p:nvSpPr>
          <p:spPr bwMode="auto">
            <a:xfrm>
              <a:off x="912" y="2784"/>
              <a:ext cx="384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0" name="Oval 31"/>
            <p:cNvSpPr>
              <a:spLocks noChangeArrowheads="1"/>
            </p:cNvSpPr>
            <p:nvPr/>
          </p:nvSpPr>
          <p:spPr bwMode="auto">
            <a:xfrm>
              <a:off x="696" y="2760"/>
              <a:ext cx="48" cy="48"/>
            </a:xfrm>
            <a:prstGeom prst="ellipse">
              <a:avLst/>
            </a:prstGeom>
            <a:noFill/>
            <a:ln w="9525">
              <a:solidFill>
                <a:srgbClr val="FFFF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sp>
        <p:nvSpPr>
          <p:cNvPr id="340001" name="Line 32"/>
          <p:cNvSpPr>
            <a:spLocks noChangeShapeType="1"/>
          </p:cNvSpPr>
          <p:nvPr/>
        </p:nvSpPr>
        <p:spPr bwMode="auto">
          <a:xfrm flipV="1">
            <a:off x="3524250" y="3733800"/>
            <a:ext cx="381000" cy="3048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0002" name="Line 33"/>
          <p:cNvSpPr>
            <a:spLocks noChangeShapeType="1"/>
          </p:cNvSpPr>
          <p:nvPr/>
        </p:nvSpPr>
        <p:spPr bwMode="auto">
          <a:xfrm flipV="1">
            <a:off x="2990850" y="3505200"/>
            <a:ext cx="0" cy="60960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0003" name="Line 34"/>
          <p:cNvSpPr>
            <a:spLocks noChangeShapeType="1"/>
          </p:cNvSpPr>
          <p:nvPr/>
        </p:nvSpPr>
        <p:spPr bwMode="auto">
          <a:xfrm>
            <a:off x="4167189" y="4437063"/>
            <a:ext cx="545147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0005" name="Line 36"/>
          <p:cNvSpPr>
            <a:spLocks noChangeShapeType="1"/>
          </p:cNvSpPr>
          <p:nvPr/>
        </p:nvSpPr>
        <p:spPr bwMode="auto">
          <a:xfrm>
            <a:off x="2997200" y="4725988"/>
            <a:ext cx="0" cy="60960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40006" name="Group 37"/>
          <p:cNvGrpSpPr/>
          <p:nvPr/>
        </p:nvGrpSpPr>
        <p:grpSpPr bwMode="auto">
          <a:xfrm rot="1800000">
            <a:off x="2073276" y="4381500"/>
            <a:ext cx="1839913" cy="76200"/>
            <a:chOff x="137" y="2760"/>
            <a:chExt cx="1159" cy="48"/>
          </a:xfrm>
        </p:grpSpPr>
        <p:sp>
          <p:nvSpPr>
            <p:cNvPr id="340007" name="Line 38"/>
            <p:cNvSpPr>
              <a:spLocks noChangeShapeType="1"/>
            </p:cNvSpPr>
            <p:nvPr/>
          </p:nvSpPr>
          <p:spPr bwMode="auto">
            <a:xfrm flipH="1">
              <a:off x="137" y="2784"/>
              <a:ext cx="384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8" name="Line 39"/>
            <p:cNvSpPr>
              <a:spLocks noChangeShapeType="1"/>
            </p:cNvSpPr>
            <p:nvPr/>
          </p:nvSpPr>
          <p:spPr bwMode="auto">
            <a:xfrm>
              <a:off x="912" y="2784"/>
              <a:ext cx="384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09" name="Oval 40"/>
            <p:cNvSpPr>
              <a:spLocks noChangeArrowheads="1"/>
            </p:cNvSpPr>
            <p:nvPr/>
          </p:nvSpPr>
          <p:spPr bwMode="auto">
            <a:xfrm>
              <a:off x="696" y="2760"/>
              <a:ext cx="48" cy="48"/>
            </a:xfrm>
            <a:prstGeom prst="ellipse">
              <a:avLst/>
            </a:prstGeom>
            <a:noFill/>
            <a:ln w="9525">
              <a:solidFill>
                <a:srgbClr val="FFFF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sp>
        <p:nvSpPr>
          <p:cNvPr id="340010" name="Line 41"/>
          <p:cNvSpPr>
            <a:spLocks noChangeShapeType="1"/>
          </p:cNvSpPr>
          <p:nvPr/>
        </p:nvSpPr>
        <p:spPr bwMode="auto">
          <a:xfrm rot="3600000" flipH="1">
            <a:off x="2365375" y="3886200"/>
            <a:ext cx="609600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0011" name="Line 42"/>
          <p:cNvSpPr>
            <a:spLocks noChangeShapeType="1"/>
          </p:cNvSpPr>
          <p:nvPr/>
        </p:nvSpPr>
        <p:spPr bwMode="auto">
          <a:xfrm rot="3600000">
            <a:off x="2981325" y="4953000"/>
            <a:ext cx="609600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0012" name="Line 43"/>
          <p:cNvSpPr>
            <a:spLocks noChangeShapeType="1"/>
          </p:cNvSpPr>
          <p:nvPr/>
        </p:nvSpPr>
        <p:spPr bwMode="auto">
          <a:xfrm rot="-3600000">
            <a:off x="2998788" y="3887788"/>
            <a:ext cx="609600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0013" name="Line 44"/>
          <p:cNvSpPr>
            <a:spLocks noChangeShapeType="1"/>
          </p:cNvSpPr>
          <p:nvPr/>
        </p:nvSpPr>
        <p:spPr bwMode="auto">
          <a:xfrm rot="18000000" flipH="1">
            <a:off x="2384425" y="4954588"/>
            <a:ext cx="609600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0014" name="Line 45"/>
          <p:cNvSpPr>
            <a:spLocks noChangeShapeType="1"/>
          </p:cNvSpPr>
          <p:nvPr/>
        </p:nvSpPr>
        <p:spPr bwMode="auto">
          <a:xfrm rot="-1800000">
            <a:off x="3219450" y="4124325"/>
            <a:ext cx="609600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0015" name="Line 46"/>
          <p:cNvSpPr>
            <a:spLocks noChangeShapeType="1"/>
          </p:cNvSpPr>
          <p:nvPr/>
        </p:nvSpPr>
        <p:spPr bwMode="auto">
          <a:xfrm rot="19800000" flipH="1">
            <a:off x="2152650" y="4740275"/>
            <a:ext cx="609600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40016" name="Group 47"/>
          <p:cNvGrpSpPr/>
          <p:nvPr/>
        </p:nvGrpSpPr>
        <p:grpSpPr bwMode="auto">
          <a:xfrm>
            <a:off x="4383088" y="3343275"/>
            <a:ext cx="4737100" cy="2076450"/>
            <a:chOff x="1713" y="2106"/>
            <a:chExt cx="2984" cy="1308"/>
          </a:xfrm>
        </p:grpSpPr>
        <p:sp>
          <p:nvSpPr>
            <p:cNvPr id="340017" name="Line 48"/>
            <p:cNvSpPr>
              <a:spLocks noChangeShapeType="1"/>
            </p:cNvSpPr>
            <p:nvPr/>
          </p:nvSpPr>
          <p:spPr bwMode="auto">
            <a:xfrm>
              <a:off x="4526" y="2597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18" name="Line 49"/>
            <p:cNvSpPr>
              <a:spLocks noChangeShapeType="1"/>
            </p:cNvSpPr>
            <p:nvPr/>
          </p:nvSpPr>
          <p:spPr bwMode="auto">
            <a:xfrm>
              <a:off x="4344" y="2357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19" name="Line 50"/>
            <p:cNvSpPr>
              <a:spLocks noChangeShapeType="1"/>
            </p:cNvSpPr>
            <p:nvPr/>
          </p:nvSpPr>
          <p:spPr bwMode="auto">
            <a:xfrm flipH="1">
              <a:off x="4072" y="2160"/>
              <a:ext cx="0" cy="6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0020" name="Object 51"/>
            <p:cNvGraphicFramePr>
              <a:graphicFrameLocks noChangeAspect="1"/>
            </p:cNvGraphicFramePr>
            <p:nvPr/>
          </p:nvGraphicFramePr>
          <p:xfrm>
            <a:off x="4526" y="2614"/>
            <a:ext cx="171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528" name="Equation" r:id="rId13" imgW="127000" imgH="139700" progId="Equation.3">
                    <p:embed/>
                  </p:oleObj>
                </mc:Choice>
                <mc:Fallback>
                  <p:oleObj name="Equation" r:id="rId13" imgW="127000" imgH="139700" progId="Equation.3">
                    <p:embed/>
                    <p:pic>
                      <p:nvPicPr>
                        <p:cNvPr id="0" name="图片 905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6" y="2614"/>
                          <a:ext cx="171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0021" name="Object 52"/>
            <p:cNvGraphicFramePr>
              <a:graphicFrameLocks noChangeAspect="1"/>
            </p:cNvGraphicFramePr>
            <p:nvPr/>
          </p:nvGraphicFramePr>
          <p:xfrm>
            <a:off x="4390" y="2341"/>
            <a:ext cx="171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529" name="Equation" r:id="rId15" imgW="127000" imgH="177165" progId="Equation.3">
                    <p:embed/>
                  </p:oleObj>
                </mc:Choice>
                <mc:Fallback>
                  <p:oleObj name="Equation" r:id="rId15" imgW="127000" imgH="177165" progId="Equation.3">
                    <p:embed/>
                    <p:pic>
                      <p:nvPicPr>
                        <p:cNvPr id="0" name="图片 905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0" y="2341"/>
                          <a:ext cx="171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0022" name="Object 53"/>
            <p:cNvGraphicFramePr>
              <a:graphicFrameLocks noChangeAspect="1"/>
            </p:cNvGraphicFramePr>
            <p:nvPr/>
          </p:nvGraphicFramePr>
          <p:xfrm>
            <a:off x="4117" y="2205"/>
            <a:ext cx="154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530" name="Equation" r:id="rId17" imgW="114300" imgH="139700" progId="Equation.3">
                    <p:embed/>
                  </p:oleObj>
                </mc:Choice>
                <mc:Fallback>
                  <p:oleObj name="Equation" r:id="rId17" imgW="114300" imgH="139700" progId="Equation.3">
                    <p:embed/>
                    <p:pic>
                      <p:nvPicPr>
                        <p:cNvPr id="0" name="图片 905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7" y="2205"/>
                          <a:ext cx="154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0023" name="Object 54"/>
            <p:cNvGraphicFramePr>
              <a:graphicFrameLocks noChangeAspect="1"/>
            </p:cNvGraphicFramePr>
            <p:nvPr/>
          </p:nvGraphicFramePr>
          <p:xfrm>
            <a:off x="3370" y="2347"/>
            <a:ext cx="442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531" name="Equation" r:id="rId19" imgW="431800" imgH="228600" progId="Equation.DSMT4">
                    <p:embed/>
                  </p:oleObj>
                </mc:Choice>
                <mc:Fallback>
                  <p:oleObj name="Equation" r:id="rId19" imgW="431800" imgH="228600" progId="Equation.DSMT4">
                    <p:embed/>
                    <p:pic>
                      <p:nvPicPr>
                        <p:cNvPr id="0" name="图片 905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0" y="2347"/>
                          <a:ext cx="442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0024" name="Object 55"/>
            <p:cNvGraphicFramePr>
              <a:graphicFrameLocks noChangeAspect="1"/>
            </p:cNvGraphicFramePr>
            <p:nvPr/>
          </p:nvGraphicFramePr>
          <p:xfrm>
            <a:off x="3369" y="2106"/>
            <a:ext cx="385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532" name="Equation" r:id="rId21" imgW="457200" imgH="228600" progId="Equation.DSMT4">
                    <p:embed/>
                  </p:oleObj>
                </mc:Choice>
                <mc:Fallback>
                  <p:oleObj name="Equation" r:id="rId21" imgW="457200" imgH="228600" progId="Equation.DSMT4">
                    <p:embed/>
                    <p:pic>
                      <p:nvPicPr>
                        <p:cNvPr id="0" name="图片 905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9" y="2106"/>
                          <a:ext cx="385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0025" name="Object 56"/>
            <p:cNvGraphicFramePr>
              <a:graphicFrameLocks noChangeAspect="1"/>
            </p:cNvGraphicFramePr>
            <p:nvPr/>
          </p:nvGraphicFramePr>
          <p:xfrm>
            <a:off x="1713" y="2542"/>
            <a:ext cx="264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533" name="Equation" r:id="rId23" imgW="203200" imgH="228600" progId="Equation.3">
                    <p:embed/>
                  </p:oleObj>
                </mc:Choice>
                <mc:Fallback>
                  <p:oleObj name="Equation" r:id="rId23" imgW="203200" imgH="228600" progId="Equation.3">
                    <p:embed/>
                    <p:pic>
                      <p:nvPicPr>
                        <p:cNvPr id="0" name="图片 905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3" y="2542"/>
                          <a:ext cx="264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0026" name="Line 57"/>
            <p:cNvSpPr>
              <a:spLocks noChangeShapeType="1"/>
            </p:cNvSpPr>
            <p:nvPr/>
          </p:nvSpPr>
          <p:spPr bwMode="auto">
            <a:xfrm flipV="1">
              <a:off x="2074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27" name="Line 58"/>
            <p:cNvSpPr>
              <a:spLocks noChangeShapeType="1"/>
            </p:cNvSpPr>
            <p:nvPr/>
          </p:nvSpPr>
          <p:spPr bwMode="auto">
            <a:xfrm flipV="1">
              <a:off x="2170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28" name="Line 59"/>
            <p:cNvSpPr>
              <a:spLocks noChangeShapeType="1"/>
            </p:cNvSpPr>
            <p:nvPr/>
          </p:nvSpPr>
          <p:spPr bwMode="auto">
            <a:xfrm flipV="1">
              <a:off x="2266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29" name="Line 60"/>
            <p:cNvSpPr>
              <a:spLocks noChangeShapeType="1"/>
            </p:cNvSpPr>
            <p:nvPr/>
          </p:nvSpPr>
          <p:spPr bwMode="auto">
            <a:xfrm flipV="1">
              <a:off x="2362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0" name="Line 61"/>
            <p:cNvSpPr>
              <a:spLocks noChangeShapeType="1"/>
            </p:cNvSpPr>
            <p:nvPr/>
          </p:nvSpPr>
          <p:spPr bwMode="auto">
            <a:xfrm flipV="1">
              <a:off x="2458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1" name="Line 62"/>
            <p:cNvSpPr>
              <a:spLocks noChangeShapeType="1"/>
            </p:cNvSpPr>
            <p:nvPr/>
          </p:nvSpPr>
          <p:spPr bwMode="auto">
            <a:xfrm flipV="1">
              <a:off x="2554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2" name="Line 63"/>
            <p:cNvSpPr>
              <a:spLocks noChangeShapeType="1"/>
            </p:cNvSpPr>
            <p:nvPr/>
          </p:nvSpPr>
          <p:spPr bwMode="auto">
            <a:xfrm flipV="1">
              <a:off x="2650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3" name="Line 64"/>
            <p:cNvSpPr>
              <a:spLocks noChangeShapeType="1"/>
            </p:cNvSpPr>
            <p:nvPr/>
          </p:nvSpPr>
          <p:spPr bwMode="auto">
            <a:xfrm flipV="1">
              <a:off x="2746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4" name="Line 65"/>
            <p:cNvSpPr>
              <a:spLocks noChangeShapeType="1"/>
            </p:cNvSpPr>
            <p:nvPr/>
          </p:nvSpPr>
          <p:spPr bwMode="auto">
            <a:xfrm flipV="1">
              <a:off x="2842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5" name="Line 66"/>
            <p:cNvSpPr>
              <a:spLocks noChangeShapeType="1"/>
            </p:cNvSpPr>
            <p:nvPr/>
          </p:nvSpPr>
          <p:spPr bwMode="auto">
            <a:xfrm flipV="1">
              <a:off x="2938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6" name="Line 67"/>
            <p:cNvSpPr>
              <a:spLocks noChangeShapeType="1"/>
            </p:cNvSpPr>
            <p:nvPr/>
          </p:nvSpPr>
          <p:spPr bwMode="auto">
            <a:xfrm flipV="1">
              <a:off x="3034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7" name="Line 68"/>
            <p:cNvSpPr>
              <a:spLocks noChangeShapeType="1"/>
            </p:cNvSpPr>
            <p:nvPr/>
          </p:nvSpPr>
          <p:spPr bwMode="auto">
            <a:xfrm flipV="1">
              <a:off x="3130" y="2160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8" name="Line 69"/>
            <p:cNvSpPr>
              <a:spLocks noChangeShapeType="1"/>
            </p:cNvSpPr>
            <p:nvPr/>
          </p:nvSpPr>
          <p:spPr bwMode="auto">
            <a:xfrm>
              <a:off x="2076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39" name="Line 70"/>
            <p:cNvSpPr>
              <a:spLocks noChangeShapeType="1"/>
            </p:cNvSpPr>
            <p:nvPr/>
          </p:nvSpPr>
          <p:spPr bwMode="auto">
            <a:xfrm>
              <a:off x="2172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40" name="Line 71"/>
            <p:cNvSpPr>
              <a:spLocks noChangeShapeType="1"/>
            </p:cNvSpPr>
            <p:nvPr/>
          </p:nvSpPr>
          <p:spPr bwMode="auto">
            <a:xfrm>
              <a:off x="2268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41" name="Line 72"/>
            <p:cNvSpPr>
              <a:spLocks noChangeShapeType="1"/>
            </p:cNvSpPr>
            <p:nvPr/>
          </p:nvSpPr>
          <p:spPr bwMode="auto">
            <a:xfrm>
              <a:off x="2364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42" name="Line 73"/>
            <p:cNvSpPr>
              <a:spLocks noChangeShapeType="1"/>
            </p:cNvSpPr>
            <p:nvPr/>
          </p:nvSpPr>
          <p:spPr bwMode="auto">
            <a:xfrm>
              <a:off x="2460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43" name="Line 74"/>
            <p:cNvSpPr>
              <a:spLocks noChangeShapeType="1"/>
            </p:cNvSpPr>
            <p:nvPr/>
          </p:nvSpPr>
          <p:spPr bwMode="auto">
            <a:xfrm>
              <a:off x="2556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44" name="Line 75"/>
            <p:cNvSpPr>
              <a:spLocks noChangeShapeType="1"/>
            </p:cNvSpPr>
            <p:nvPr/>
          </p:nvSpPr>
          <p:spPr bwMode="auto">
            <a:xfrm>
              <a:off x="2652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45" name="Line 76"/>
            <p:cNvSpPr>
              <a:spLocks noChangeShapeType="1"/>
            </p:cNvSpPr>
            <p:nvPr/>
          </p:nvSpPr>
          <p:spPr bwMode="auto">
            <a:xfrm>
              <a:off x="2748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46" name="Line 77"/>
            <p:cNvSpPr>
              <a:spLocks noChangeShapeType="1"/>
            </p:cNvSpPr>
            <p:nvPr/>
          </p:nvSpPr>
          <p:spPr bwMode="auto">
            <a:xfrm>
              <a:off x="2844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47" name="Line 78"/>
            <p:cNvSpPr>
              <a:spLocks noChangeShapeType="1"/>
            </p:cNvSpPr>
            <p:nvPr/>
          </p:nvSpPr>
          <p:spPr bwMode="auto">
            <a:xfrm>
              <a:off x="2940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48" name="Line 79"/>
            <p:cNvSpPr>
              <a:spLocks noChangeShapeType="1"/>
            </p:cNvSpPr>
            <p:nvPr/>
          </p:nvSpPr>
          <p:spPr bwMode="auto">
            <a:xfrm>
              <a:off x="3036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049" name="Line 80"/>
            <p:cNvSpPr>
              <a:spLocks noChangeShapeType="1"/>
            </p:cNvSpPr>
            <p:nvPr/>
          </p:nvSpPr>
          <p:spPr bwMode="auto">
            <a:xfrm>
              <a:off x="3132" y="2982"/>
              <a:ext cx="0" cy="432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0050" name="Text Box 82"/>
          <p:cNvSpPr txBox="1">
            <a:spLocks noChangeArrowheads="1"/>
          </p:cNvSpPr>
          <p:nvPr/>
        </p:nvSpPr>
        <p:spPr bwMode="auto">
          <a:xfrm>
            <a:off x="1774826" y="692150"/>
            <a:ext cx="8893175" cy="2179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FF0000"/>
                </a:solidFill>
                <a:ea typeface="楷体_GB2312" pitchFamily="49" charset="-122"/>
              </a:rPr>
              <a:t>Ex.</a:t>
            </a:r>
            <a:r>
              <a:rPr kumimoji="1"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 The voltage of inner conductor is </a:t>
            </a:r>
            <a:r>
              <a:rPr kumimoji="1" lang="en-US" altLang="zh-CN" sz="2000" b="1" i="1" dirty="0">
                <a:solidFill>
                  <a:srgbClr val="000000"/>
                </a:solidFill>
              </a:rPr>
              <a:t>U</a:t>
            </a:r>
            <a:r>
              <a:rPr kumimoji="1" lang="en-US" altLang="zh-CN" sz="2000" b="1" baseline="-25000" dirty="0">
                <a:solidFill>
                  <a:srgbClr val="000000"/>
                </a:solidFill>
              </a:rPr>
              <a:t>0</a:t>
            </a:r>
            <a:r>
              <a:rPr kumimoji="1" lang="en-US" altLang="zh-CN" sz="2000" b="1" dirty="0">
                <a:solidFill>
                  <a:srgbClr val="000000"/>
                </a:solidFill>
              </a:rPr>
              <a:t>, outer conductor is grounded. </a:t>
            </a:r>
            <a:endParaRPr kumimoji="1" lang="en-US" altLang="zh-CN" sz="2000" b="1" dirty="0">
              <a:solidFill>
                <a:srgbClr val="000000"/>
              </a:solidFill>
            </a:endParaRP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000000"/>
                </a:solidFill>
              </a:rPr>
              <a:t>Find: </a:t>
            </a:r>
            <a:endParaRPr kumimoji="1" lang="en-US" altLang="zh-CN" sz="2000" b="1" dirty="0">
              <a:solidFill>
                <a:srgbClr val="000000"/>
              </a:solidFill>
            </a:endParaRP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000000"/>
                </a:solidFill>
              </a:rPr>
              <a:t>  (1) The current density and electric field in each region of coaxial line;</a:t>
            </a:r>
            <a:endParaRPr kumimoji="1" lang="en-US" altLang="zh-CN" sz="2000" b="1" dirty="0">
              <a:solidFill>
                <a:srgbClr val="000000"/>
              </a:solidFill>
            </a:endParaRPr>
          </a:p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000000"/>
                </a:solidFill>
              </a:rPr>
              <a:t>  (2) The surface density of the free charge on the interface.</a:t>
            </a:r>
            <a:r>
              <a:rPr kumimoji="1" lang="en-US" altLang="zh-CN" sz="2400" dirty="0">
                <a:solidFill>
                  <a:srgbClr val="000000"/>
                </a:solidFill>
              </a:rPr>
              <a:t> </a:t>
            </a:r>
            <a:endParaRPr kumimoji="1"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08670" y="734292"/>
            <a:ext cx="159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Example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05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5" name="Rectangle 5"/>
          <p:cNvSpPr>
            <a:spLocks noChangeArrowheads="1"/>
          </p:cNvSpPr>
          <p:nvPr/>
        </p:nvSpPr>
        <p:spPr bwMode="auto">
          <a:xfrm>
            <a:off x="1524001" y="2128002"/>
            <a:ext cx="8856663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The radial current in the coaxial cable is I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from                            the current density is</a:t>
            </a:r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40996" name="Object 6"/>
          <p:cNvGraphicFramePr>
            <a:graphicFrameLocks noChangeAspect="1"/>
          </p:cNvGraphicFramePr>
          <p:nvPr/>
        </p:nvGraphicFramePr>
        <p:xfrm>
          <a:off x="3503614" y="2668589"/>
          <a:ext cx="1747837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08" name="Equation" r:id="rId1" imgW="990600" imgH="342900" progId="Equation.DSMT4">
                  <p:embed/>
                </p:oleObj>
              </mc:Choice>
              <mc:Fallback>
                <p:oleObj name="Equation" r:id="rId1" imgW="990600" imgH="342900" progId="Equation.DSMT4">
                  <p:embed/>
                  <p:pic>
                    <p:nvPicPr>
                      <p:cNvPr id="0" name="图片 913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2668589"/>
                        <a:ext cx="1747837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6439" name="Object 7"/>
          <p:cNvGraphicFramePr>
            <a:graphicFrameLocks noChangeAspect="1"/>
          </p:cNvGraphicFramePr>
          <p:nvPr/>
        </p:nvGraphicFramePr>
        <p:xfrm>
          <a:off x="3863976" y="3357564"/>
          <a:ext cx="348297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09" name="Equation" r:id="rId3" imgW="2044700" imgH="482600" progId="Equation.DSMT4">
                  <p:embed/>
                </p:oleObj>
              </mc:Choice>
              <mc:Fallback>
                <p:oleObj name="Equation" r:id="rId3" imgW="2044700" imgH="482600" progId="Equation.DSMT4">
                  <p:embed/>
                  <p:pic>
                    <p:nvPicPr>
                      <p:cNvPr id="0" name="图片 913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6" y="3357564"/>
                        <a:ext cx="3482975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6440" name="Object 8"/>
          <p:cNvGraphicFramePr>
            <a:graphicFrameLocks noChangeAspect="1"/>
          </p:cNvGraphicFramePr>
          <p:nvPr/>
        </p:nvGraphicFramePr>
        <p:xfrm>
          <a:off x="3071814" y="4508501"/>
          <a:ext cx="4852987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10" name="Equation" r:id="rId5" imgW="2781300" imgH="533400" progId="Equation.DSMT4">
                  <p:embed/>
                </p:oleObj>
              </mc:Choice>
              <mc:Fallback>
                <p:oleObj name="Equation" r:id="rId5" imgW="2781300" imgH="533400" progId="Equation.DSMT4">
                  <p:embed/>
                  <p:pic>
                    <p:nvPicPr>
                      <p:cNvPr id="0" name="图片 91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4508501"/>
                        <a:ext cx="4852987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6441" name="Rectangle 9"/>
          <p:cNvSpPr>
            <a:spLocks noChangeArrowheads="1"/>
          </p:cNvSpPr>
          <p:nvPr/>
        </p:nvSpPr>
        <p:spPr bwMode="auto">
          <a:xfrm>
            <a:off x="1847850" y="4149725"/>
            <a:ext cx="412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Electric field in medium 1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41000" name="Object 10"/>
          <p:cNvGraphicFramePr>
            <a:graphicFrameLocks noChangeAspect="1"/>
          </p:cNvGraphicFramePr>
          <p:nvPr/>
        </p:nvGraphicFramePr>
        <p:xfrm>
          <a:off x="3071814" y="5445126"/>
          <a:ext cx="4852987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11" name="Equation" r:id="rId7" imgW="2768600" imgH="533400" progId="Equation.DSMT4">
                  <p:embed/>
                </p:oleObj>
              </mc:Choice>
              <mc:Fallback>
                <p:oleObj name="Equation" r:id="rId7" imgW="2768600" imgH="533400" progId="Equation.DSMT4">
                  <p:embed/>
                  <p:pic>
                    <p:nvPicPr>
                      <p:cNvPr id="0" name="图片 91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5445126"/>
                        <a:ext cx="4852987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1001" name="Rectangle 2"/>
          <p:cNvSpPr>
            <a:spLocks noChangeArrowheads="1"/>
          </p:cNvSpPr>
          <p:nvPr/>
        </p:nvSpPr>
        <p:spPr bwMode="auto">
          <a:xfrm>
            <a:off x="1666876" y="488557"/>
            <a:ext cx="8893175" cy="153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Solution: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The current is flowing from the inner conductor to the outer conductor, o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nly the normal component exists at the interface,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so the current density is axial symmetrical distributed.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41002" name="Object 3"/>
          <p:cNvGraphicFramePr>
            <a:graphicFrameLocks noChangeAspect="1"/>
          </p:cNvGraphicFramePr>
          <p:nvPr/>
        </p:nvGraphicFramePr>
        <p:xfrm>
          <a:off x="3216276" y="1484313"/>
          <a:ext cx="31591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312" name="Equation" r:id="rId9" imgW="114300" imgH="215900" progId="Equation.DSMT4">
                  <p:embed/>
                </p:oleObj>
              </mc:Choice>
              <mc:Fallback>
                <p:oleObj name="Equation" r:id="rId9" imgW="114300" imgH="215900" progId="Equation.DSMT4">
                  <p:embed/>
                  <p:pic>
                    <p:nvPicPr>
                      <p:cNvPr id="0" name="图片 913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1484313"/>
                        <a:ext cx="315913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6448" name="AutoShape 16"/>
          <p:cNvSpPr>
            <a:spLocks noChangeArrowheads="1"/>
          </p:cNvSpPr>
          <p:nvPr/>
        </p:nvSpPr>
        <p:spPr bwMode="auto">
          <a:xfrm>
            <a:off x="6024563" y="3141663"/>
            <a:ext cx="2735262" cy="360362"/>
          </a:xfrm>
          <a:prstGeom prst="wedgeRoundRectCallout">
            <a:avLst>
              <a:gd name="adj1" fmla="val -79134"/>
              <a:gd name="adj2" fmla="val 42069"/>
              <a:gd name="adj3" fmla="val 16667"/>
            </a:avLst>
          </a:prstGeom>
          <a:solidFill>
            <a:srgbClr val="FFCC99"/>
          </a:solidFill>
          <a:ln w="25400" algn="ctr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zh-CN" sz="1600" b="1">
                <a:solidFill>
                  <a:srgbClr val="000000"/>
                </a:solidFill>
              </a:rPr>
              <a:t>Current per unit length</a:t>
            </a:r>
            <a:endParaRPr lang="en-US" altLang="zh-CN" sz="1600" b="1">
              <a:solidFill>
                <a:srgbClr val="000000"/>
              </a:solidFill>
            </a:endParaRPr>
          </a:p>
        </p:txBody>
      </p:sp>
      <p:pic>
        <p:nvPicPr>
          <p:cNvPr id="341004" name="图片 3" descr="www.tuweimei.comComp_5006142_U3a8iEeKeAoP1TBtNcJKHy5EPXYtalHu.jpg"/>
          <p:cNvPicPr>
            <a:picLocks noGrp="1" noChangeAspect="1"/>
          </p:cNvPicPr>
          <p:nvPr isPhoto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8010" y="5340985"/>
            <a:ext cx="1443990" cy="1443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108670" y="734292"/>
            <a:ext cx="159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Example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8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8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8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8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3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41" grpId="0"/>
      <p:bldP spid="78644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7458" name="Object 2"/>
          <p:cNvGraphicFramePr>
            <a:graphicFrameLocks noChangeAspect="1"/>
          </p:cNvGraphicFramePr>
          <p:nvPr/>
        </p:nvGraphicFramePr>
        <p:xfrm>
          <a:off x="2927351" y="3284538"/>
          <a:ext cx="6049963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6" name="Equation" r:id="rId1" imgW="3721100" imgH="495300" progId="Equation.DSMT4">
                  <p:embed/>
                </p:oleObj>
              </mc:Choice>
              <mc:Fallback>
                <p:oleObj name="Equation" r:id="rId1" imgW="3721100" imgH="495300" progId="Equation.DSMT4">
                  <p:embed/>
                  <p:pic>
                    <p:nvPicPr>
                      <p:cNvPr id="0" name="图片 923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3284538"/>
                        <a:ext cx="6049963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7459" name="Object 3"/>
          <p:cNvGraphicFramePr>
            <a:graphicFrameLocks noChangeAspect="1"/>
          </p:cNvGraphicFramePr>
          <p:nvPr/>
        </p:nvGraphicFramePr>
        <p:xfrm>
          <a:off x="2855914" y="4221164"/>
          <a:ext cx="60483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7" name="Equation" r:id="rId3" imgW="3784600" imgH="495300" progId="Equation.DSMT4">
                  <p:embed/>
                </p:oleObj>
              </mc:Choice>
              <mc:Fallback>
                <p:oleObj name="Equation" r:id="rId3" imgW="3784600" imgH="495300" progId="Equation.DSMT4">
                  <p:embed/>
                  <p:pic>
                    <p:nvPicPr>
                      <p:cNvPr id="0" name="图片 923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4221164"/>
                        <a:ext cx="604837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21" name="Object 4"/>
          <p:cNvGraphicFramePr>
            <a:graphicFrameLocks noChangeAspect="1"/>
          </p:cNvGraphicFramePr>
          <p:nvPr/>
        </p:nvGraphicFramePr>
        <p:xfrm>
          <a:off x="2857500" y="5157789"/>
          <a:ext cx="59753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8" name="Equation" r:id="rId5" imgW="3721100" imgH="495300" progId="Equation.DSMT4">
                  <p:embed/>
                </p:oleObj>
              </mc:Choice>
              <mc:Fallback>
                <p:oleObj name="Equation" r:id="rId5" imgW="3721100" imgH="495300" progId="Equation.DSMT4">
                  <p:embed/>
                  <p:pic>
                    <p:nvPicPr>
                      <p:cNvPr id="0" name="图片 923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5157789"/>
                        <a:ext cx="5975350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7462" name="Object 6"/>
          <p:cNvGraphicFramePr>
            <a:graphicFrameLocks noChangeAspect="1"/>
          </p:cNvGraphicFramePr>
          <p:nvPr/>
        </p:nvGraphicFramePr>
        <p:xfrm>
          <a:off x="3405189" y="1700213"/>
          <a:ext cx="3914775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9" name="Equation" r:id="rId7" imgW="2209800" imgH="495300" progId="Equation.DSMT4">
                  <p:embed/>
                </p:oleObj>
              </mc:Choice>
              <mc:Fallback>
                <p:oleObj name="Equation" r:id="rId7" imgW="2209800" imgH="495300" progId="Equation.DSMT4">
                  <p:embed/>
                  <p:pic>
                    <p:nvPicPr>
                      <p:cNvPr id="0" name="图片 923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9" y="1700213"/>
                        <a:ext cx="3914775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7463" name="Object 7"/>
          <p:cNvGraphicFramePr>
            <a:graphicFrameLocks noChangeAspect="1"/>
          </p:cNvGraphicFramePr>
          <p:nvPr/>
        </p:nvGraphicFramePr>
        <p:xfrm>
          <a:off x="3167063" y="733425"/>
          <a:ext cx="68897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0" name="Equation" r:id="rId9" imgW="4305300" imgH="495300" progId="Equation.DSMT4">
                  <p:embed/>
                </p:oleObj>
              </mc:Choice>
              <mc:Fallback>
                <p:oleObj name="Equation" r:id="rId9" imgW="4305300" imgH="495300" progId="Equation.DSMT4">
                  <p:embed/>
                  <p:pic>
                    <p:nvPicPr>
                      <p:cNvPr id="0" name="图片 923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733425"/>
                        <a:ext cx="68897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7464" name="Rectangle 8"/>
          <p:cNvSpPr>
            <a:spLocks noChangeArrowheads="1"/>
          </p:cNvSpPr>
          <p:nvPr/>
        </p:nvSpPr>
        <p:spPr bwMode="auto">
          <a:xfrm>
            <a:off x="2028825" y="884238"/>
            <a:ext cx="1042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Since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87465" name="Rectangle 9"/>
          <p:cNvSpPr>
            <a:spLocks noChangeArrowheads="1"/>
          </p:cNvSpPr>
          <p:nvPr/>
        </p:nvSpPr>
        <p:spPr bwMode="auto">
          <a:xfrm>
            <a:off x="2060575" y="1916113"/>
            <a:ext cx="1443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So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88519" name="Rectangle 39"/>
          <p:cNvSpPr>
            <a:spLocks noChangeArrowheads="1"/>
          </p:cNvSpPr>
          <p:nvPr/>
        </p:nvSpPr>
        <p:spPr bwMode="auto">
          <a:xfrm>
            <a:off x="1919288" y="2781300"/>
            <a:ext cx="8424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The current density and electric field inside two mediums:</a:t>
            </a:r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42028" name="Object 12">
            <a:hlinkClick r:id="" action="ppaction://ole?verb=0"/>
          </p:cNvPr>
          <p:cNvGraphicFramePr/>
          <p:nvPr/>
        </p:nvGraphicFramePr>
        <p:xfrm>
          <a:off x="10821671" y="5273676"/>
          <a:ext cx="1370013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1" name="CorelDRAW! Graphic" r:id="rId11" imgW="2304415" imgH="2689860" progId="CDraw">
                  <p:embed/>
                </p:oleObj>
              </mc:Choice>
              <mc:Fallback>
                <p:oleObj name="CorelDRAW! Graphic" r:id="rId11" imgW="2304415" imgH="2689860" progId="CDraw">
                  <p:embed/>
                  <p:pic>
                    <p:nvPicPr>
                      <p:cNvPr id="0" name="图片 92370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1671" y="5273676"/>
                        <a:ext cx="1370013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08670" y="734292"/>
            <a:ext cx="159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Example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8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8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8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8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8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8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8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7464" grpId="0"/>
      <p:bldP spid="787465" grpId="0"/>
      <p:bldP spid="7885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483" name="Object 3"/>
          <p:cNvGraphicFramePr>
            <a:graphicFrameLocks noChangeAspect="1"/>
          </p:cNvGraphicFramePr>
          <p:nvPr/>
        </p:nvGraphicFramePr>
        <p:xfrm>
          <a:off x="2495550" y="1054100"/>
          <a:ext cx="61023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92" name="Equation" r:id="rId1" imgW="3644900" imgH="495300" progId="Equation.DSMT4">
                  <p:embed/>
                </p:oleObj>
              </mc:Choice>
              <mc:Fallback>
                <p:oleObj name="Equation" r:id="rId1" imgW="3644900" imgH="495300" progId="Equation.DSMT4">
                  <p:embed/>
                  <p:pic>
                    <p:nvPicPr>
                      <p:cNvPr id="0" name="图片 934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1054100"/>
                        <a:ext cx="61023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484" name="Object 4"/>
          <p:cNvGraphicFramePr>
            <a:graphicFrameLocks noChangeAspect="1"/>
          </p:cNvGraphicFramePr>
          <p:nvPr/>
        </p:nvGraphicFramePr>
        <p:xfrm>
          <a:off x="2495551" y="2636839"/>
          <a:ext cx="65563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93" name="Equation" r:id="rId3" imgW="3937000" imgH="495300" progId="Equation.DSMT4">
                  <p:embed/>
                </p:oleObj>
              </mc:Choice>
              <mc:Fallback>
                <p:oleObj name="Equation" r:id="rId3" imgW="3937000" imgH="495300" progId="Equation.DSMT4">
                  <p:embed/>
                  <p:pic>
                    <p:nvPicPr>
                      <p:cNvPr id="0" name="图片 934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2636839"/>
                        <a:ext cx="65563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485" name="Object 5"/>
          <p:cNvGraphicFramePr>
            <a:graphicFrameLocks noChangeAspect="1"/>
          </p:cNvGraphicFramePr>
          <p:nvPr/>
        </p:nvGraphicFramePr>
        <p:xfrm>
          <a:off x="2566988" y="4573588"/>
          <a:ext cx="4392612" cy="159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94" name="Equation" r:id="rId5" imgW="2527300" imgH="901700" progId="Equation.DSMT4">
                  <p:embed/>
                </p:oleObj>
              </mc:Choice>
              <mc:Fallback>
                <p:oleObj name="Equation" r:id="rId5" imgW="2527300" imgH="901700" progId="Equation.DSMT4">
                  <p:embed/>
                  <p:pic>
                    <p:nvPicPr>
                      <p:cNvPr id="0" name="图片 934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4573588"/>
                        <a:ext cx="4392612" cy="159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19" name="Rectangle 39"/>
          <p:cNvSpPr>
            <a:spLocks noChangeArrowheads="1"/>
          </p:cNvSpPr>
          <p:nvPr/>
        </p:nvSpPr>
        <p:spPr bwMode="auto">
          <a:xfrm>
            <a:off x="1774826" y="2205038"/>
            <a:ext cx="8424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The surface charge density on the outer surface of medium 2</a:t>
            </a:r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20" name="Rectangle 40"/>
          <p:cNvSpPr>
            <a:spLocks noChangeArrowheads="1"/>
          </p:cNvSpPr>
          <p:nvPr/>
        </p:nvSpPr>
        <p:spPr bwMode="auto">
          <a:xfrm>
            <a:off x="1524001" y="3644901"/>
            <a:ext cx="56165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The surface charge density between two conducting mediums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788554" name="Group 74"/>
          <p:cNvGrpSpPr/>
          <p:nvPr/>
        </p:nvGrpSpPr>
        <p:grpSpPr bwMode="auto">
          <a:xfrm>
            <a:off x="7751763" y="3573464"/>
            <a:ext cx="2843212" cy="2879725"/>
            <a:chOff x="3923" y="2251"/>
            <a:chExt cx="1791" cy="1814"/>
          </a:xfrm>
        </p:grpSpPr>
        <p:sp>
          <p:nvSpPr>
            <p:cNvPr id="343052" name="Rectangle 41"/>
            <p:cNvSpPr>
              <a:spLocks noChangeArrowheads="1"/>
            </p:cNvSpPr>
            <p:nvPr/>
          </p:nvSpPr>
          <p:spPr bwMode="auto">
            <a:xfrm>
              <a:off x="3923" y="2251"/>
              <a:ext cx="1791" cy="1814"/>
            </a:xfrm>
            <a:prstGeom prst="rect">
              <a:avLst/>
            </a:prstGeom>
            <a:solidFill>
              <a:srgbClr val="CCFFFF"/>
            </a:solidFill>
            <a:ln w="25400" algn="ctr">
              <a:solidFill>
                <a:srgbClr val="9933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grpSp>
          <p:nvGrpSpPr>
            <p:cNvPr id="343053" name="Group 42"/>
            <p:cNvGrpSpPr/>
            <p:nvPr/>
          </p:nvGrpSpPr>
          <p:grpSpPr bwMode="auto">
            <a:xfrm>
              <a:off x="4105" y="2341"/>
              <a:ext cx="1440" cy="1680"/>
              <a:chOff x="340" y="2205"/>
              <a:chExt cx="1440" cy="1680"/>
            </a:xfrm>
          </p:grpSpPr>
          <p:grpSp>
            <p:nvGrpSpPr>
              <p:cNvPr id="343054" name="Group 43"/>
              <p:cNvGrpSpPr/>
              <p:nvPr/>
            </p:nvGrpSpPr>
            <p:grpSpPr bwMode="auto">
              <a:xfrm>
                <a:off x="340" y="2205"/>
                <a:ext cx="1440" cy="1440"/>
                <a:chOff x="1824" y="960"/>
                <a:chExt cx="1440" cy="1440"/>
              </a:xfrm>
            </p:grpSpPr>
            <p:sp>
              <p:nvSpPr>
                <p:cNvPr id="343055" name="Oval 44"/>
                <p:cNvSpPr>
                  <a:spLocks noChangeArrowheads="1"/>
                </p:cNvSpPr>
                <p:nvPr/>
              </p:nvSpPr>
              <p:spPr bwMode="auto">
                <a:xfrm>
                  <a:off x="1824" y="960"/>
                  <a:ext cx="1440" cy="1440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endParaRPr lang="zh-CN" altLang="zh-CN"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endParaRPr>
                </a:p>
              </p:txBody>
            </p:sp>
            <p:sp>
              <p:nvSpPr>
                <p:cNvPr id="343056" name="Oval 45"/>
                <p:cNvSpPr>
                  <a:spLocks noChangeArrowheads="1"/>
                </p:cNvSpPr>
                <p:nvPr/>
              </p:nvSpPr>
              <p:spPr bwMode="auto">
                <a:xfrm>
                  <a:off x="1968" y="1104"/>
                  <a:ext cx="1152" cy="1152"/>
                </a:xfrm>
                <a:prstGeom prst="ellipse">
                  <a:avLst/>
                </a:prstGeom>
                <a:solidFill>
                  <a:srgbClr val="C0C0C0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endParaRPr lang="zh-CN" altLang="zh-CN"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endParaRPr>
                </a:p>
              </p:txBody>
            </p:sp>
            <p:sp>
              <p:nvSpPr>
                <p:cNvPr id="343057" name="AutoShape 46"/>
                <p:cNvSpPr>
                  <a:spLocks noChangeArrowheads="1"/>
                </p:cNvSpPr>
                <p:nvPr/>
              </p:nvSpPr>
              <p:spPr bwMode="auto">
                <a:xfrm>
                  <a:off x="2160" y="1296"/>
                  <a:ext cx="768" cy="76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150 w 21600"/>
                    <a:gd name="T25" fmla="*/ 3150 h 21600"/>
                    <a:gd name="T26" fmla="*/ 18450 w 21600"/>
                    <a:gd name="T27" fmla="*/ 1845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5400" y="10800"/>
                      </a:moveTo>
                      <a:cubicBezTo>
                        <a:pt x="5400" y="13782"/>
                        <a:pt x="7818" y="16200"/>
                        <a:pt x="10800" y="16200"/>
                      </a:cubicBezTo>
                      <a:cubicBezTo>
                        <a:pt x="13782" y="16200"/>
                        <a:pt x="16200" y="13782"/>
                        <a:pt x="16200" y="10800"/>
                      </a:cubicBezTo>
                      <a:cubicBezTo>
                        <a:pt x="16200" y="7818"/>
                        <a:pt x="13782" y="5400"/>
                        <a:pt x="10800" y="5400"/>
                      </a:cubicBezTo>
                      <a:cubicBezTo>
                        <a:pt x="7818" y="5400"/>
                        <a:pt x="5400" y="7818"/>
                        <a:pt x="5400" y="10800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3058" name="Oval 47"/>
                <p:cNvSpPr>
                  <a:spLocks noChangeArrowheads="1"/>
                </p:cNvSpPr>
                <p:nvPr/>
              </p:nvSpPr>
              <p:spPr bwMode="auto">
                <a:xfrm>
                  <a:off x="2352" y="1488"/>
                  <a:ext cx="383" cy="384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endParaRPr lang="zh-CN" altLang="zh-CN"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endParaRPr>
                </a:p>
              </p:txBody>
            </p:sp>
          </p:grpSp>
          <p:sp>
            <p:nvSpPr>
              <p:cNvPr id="343059" name="Line 48"/>
              <p:cNvSpPr>
                <a:spLocks noChangeShapeType="1"/>
              </p:cNvSpPr>
              <p:nvPr/>
            </p:nvSpPr>
            <p:spPr bwMode="auto">
              <a:xfrm>
                <a:off x="894" y="3837"/>
                <a:ext cx="33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060" name="Line 49"/>
              <p:cNvSpPr>
                <a:spLocks noChangeShapeType="1"/>
              </p:cNvSpPr>
              <p:nvPr/>
            </p:nvSpPr>
            <p:spPr bwMode="auto">
              <a:xfrm>
                <a:off x="986" y="3885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061" name="Line 50"/>
              <p:cNvSpPr>
                <a:spLocks noChangeShapeType="1"/>
              </p:cNvSpPr>
              <p:nvPr/>
            </p:nvSpPr>
            <p:spPr bwMode="auto">
              <a:xfrm flipH="1">
                <a:off x="1060" y="3645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43062" name="Object 51"/>
              <p:cNvGraphicFramePr>
                <a:graphicFrameLocks noChangeAspect="1"/>
              </p:cNvGraphicFramePr>
              <p:nvPr/>
            </p:nvGraphicFramePr>
            <p:xfrm>
              <a:off x="700" y="3067"/>
              <a:ext cx="207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495" name="公式" r:id="rId7" imgW="139700" imgH="215900" progId="Equation.3">
                      <p:embed/>
                    </p:oleObj>
                  </mc:Choice>
                  <mc:Fallback>
                    <p:oleObj name="公式" r:id="rId7" imgW="139700" imgH="215900" progId="Equation.3">
                      <p:embed/>
                      <p:pic>
                        <p:nvPicPr>
                          <p:cNvPr id="0" name="图片 9349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0" y="3067"/>
                            <a:ext cx="207" cy="3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3063" name="Object 52"/>
              <p:cNvGraphicFramePr>
                <a:graphicFrameLocks noChangeAspect="1"/>
              </p:cNvGraphicFramePr>
              <p:nvPr/>
            </p:nvGraphicFramePr>
            <p:xfrm>
              <a:off x="817" y="2295"/>
              <a:ext cx="234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496" name="Equation" r:id="rId9" imgW="190500" imgH="228600" progId="Equation.DSMT4">
                      <p:embed/>
                    </p:oleObj>
                  </mc:Choice>
                  <mc:Fallback>
                    <p:oleObj name="Equation" r:id="rId9" imgW="190500" imgH="228600" progId="Equation.DSMT4">
                      <p:embed/>
                      <p:pic>
                        <p:nvPicPr>
                          <p:cNvPr id="0" name="图片 9349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7" y="2295"/>
                            <a:ext cx="234" cy="2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3064" name="Object 53"/>
              <p:cNvGraphicFramePr>
                <a:graphicFrameLocks noChangeAspect="1"/>
              </p:cNvGraphicFramePr>
              <p:nvPr/>
            </p:nvGraphicFramePr>
            <p:xfrm>
              <a:off x="839" y="2469"/>
              <a:ext cx="204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497" name="Equation" r:id="rId11" imgW="177800" imgH="228600" progId="Equation.DSMT4">
                      <p:embed/>
                    </p:oleObj>
                  </mc:Choice>
                  <mc:Fallback>
                    <p:oleObj name="Equation" r:id="rId11" imgW="177800" imgH="228600" progId="Equation.DSMT4">
                      <p:embed/>
                      <p:pic>
                        <p:nvPicPr>
                          <p:cNvPr id="0" name="图片 9349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9" y="2469"/>
                            <a:ext cx="204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3065" name="Object 54"/>
              <p:cNvGraphicFramePr>
                <a:graphicFrameLocks noChangeAspect="1"/>
              </p:cNvGraphicFramePr>
              <p:nvPr/>
            </p:nvGraphicFramePr>
            <p:xfrm>
              <a:off x="1046" y="2477"/>
              <a:ext cx="224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498" name="Equation" r:id="rId13" imgW="152400" imgH="215900" progId="Equation.3">
                      <p:embed/>
                    </p:oleObj>
                  </mc:Choice>
                  <mc:Fallback>
                    <p:oleObj name="Equation" r:id="rId13" imgW="152400" imgH="215900" progId="Equation.3">
                      <p:embed/>
                      <p:pic>
                        <p:nvPicPr>
                          <p:cNvPr id="0" name="图片 9349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46" y="2477"/>
                            <a:ext cx="224" cy="3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3066" name="Object 55"/>
              <p:cNvGraphicFramePr>
                <a:graphicFrameLocks noChangeAspect="1"/>
              </p:cNvGraphicFramePr>
              <p:nvPr/>
            </p:nvGraphicFramePr>
            <p:xfrm>
              <a:off x="1042" y="2270"/>
              <a:ext cx="228" cy="2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499" name="Equation" r:id="rId15" imgW="165100" imgH="215900" progId="Equation.3">
                      <p:embed/>
                    </p:oleObj>
                  </mc:Choice>
                  <mc:Fallback>
                    <p:oleObj name="Equation" r:id="rId15" imgW="165100" imgH="215900" progId="Equation.3">
                      <p:embed/>
                      <p:pic>
                        <p:nvPicPr>
                          <p:cNvPr id="0" name="图片 9349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42" y="2270"/>
                            <a:ext cx="228" cy="2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3067" name="Object 56"/>
              <p:cNvGraphicFramePr>
                <a:graphicFrameLocks noChangeAspect="1"/>
              </p:cNvGraphicFramePr>
              <p:nvPr/>
            </p:nvGraphicFramePr>
            <p:xfrm>
              <a:off x="896" y="3182"/>
              <a:ext cx="192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00" name="Equation" r:id="rId17" imgW="127000" imgH="165100" progId="Equation.3">
                      <p:embed/>
                    </p:oleObj>
                  </mc:Choice>
                  <mc:Fallback>
                    <p:oleObj name="Equation" r:id="rId17" imgW="127000" imgH="165100" progId="Equation.3">
                      <p:embed/>
                      <p:pic>
                        <p:nvPicPr>
                          <p:cNvPr id="0" name="图片 9349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96" y="3182"/>
                            <a:ext cx="192" cy="2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43068" name="Group 57"/>
              <p:cNvGrpSpPr/>
              <p:nvPr/>
            </p:nvGrpSpPr>
            <p:grpSpPr bwMode="auto">
              <a:xfrm>
                <a:off x="477" y="2896"/>
                <a:ext cx="1159" cy="48"/>
                <a:chOff x="137" y="2760"/>
                <a:chExt cx="1159" cy="48"/>
              </a:xfrm>
            </p:grpSpPr>
            <p:sp>
              <p:nvSpPr>
                <p:cNvPr id="343069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137" y="2784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rgbClr val="FFFF66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70" name="Line 59"/>
                <p:cNvSpPr>
                  <a:spLocks noChangeShapeType="1"/>
                </p:cNvSpPr>
                <p:nvPr/>
              </p:nvSpPr>
              <p:spPr bwMode="auto">
                <a:xfrm>
                  <a:off x="912" y="2784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rgbClr val="FFFF66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71" name="Oval 60"/>
                <p:cNvSpPr>
                  <a:spLocks noChangeArrowheads="1"/>
                </p:cNvSpPr>
                <p:nvPr/>
              </p:nvSpPr>
              <p:spPr bwMode="auto">
                <a:xfrm>
                  <a:off x="696" y="2760"/>
                  <a:ext cx="48" cy="48"/>
                </a:xfrm>
                <a:prstGeom prst="ellipse">
                  <a:avLst/>
                </a:prstGeom>
                <a:noFill/>
                <a:ln w="9525">
                  <a:solidFill>
                    <a:srgbClr val="FFFF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endParaRPr lang="zh-CN" altLang="zh-CN"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endParaRPr>
                </a:p>
              </p:txBody>
            </p:sp>
          </p:grpSp>
          <p:sp>
            <p:nvSpPr>
              <p:cNvPr id="343072" name="Line 61"/>
              <p:cNvSpPr>
                <a:spLocks noChangeShapeType="1"/>
              </p:cNvSpPr>
              <p:nvPr/>
            </p:nvSpPr>
            <p:spPr bwMode="auto">
              <a:xfrm flipV="1">
                <a:off x="1396" y="2488"/>
                <a:ext cx="240" cy="19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tailEnd type="triangl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073" name="Line 62"/>
              <p:cNvSpPr>
                <a:spLocks noChangeShapeType="1"/>
              </p:cNvSpPr>
              <p:nvPr/>
            </p:nvSpPr>
            <p:spPr bwMode="auto">
              <a:xfrm flipV="1">
                <a:off x="1060" y="2344"/>
                <a:ext cx="0" cy="384"/>
              </a:xfrm>
              <a:prstGeom prst="line">
                <a:avLst/>
              </a:prstGeom>
              <a:noFill/>
              <a:ln w="9525">
                <a:solidFill>
                  <a:srgbClr val="FFFF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074" name="Line 63"/>
              <p:cNvSpPr>
                <a:spLocks noChangeShapeType="1"/>
              </p:cNvSpPr>
              <p:nvPr/>
            </p:nvSpPr>
            <p:spPr bwMode="auto">
              <a:xfrm>
                <a:off x="1064" y="3113"/>
                <a:ext cx="0" cy="384"/>
              </a:xfrm>
              <a:prstGeom prst="line">
                <a:avLst/>
              </a:prstGeom>
              <a:noFill/>
              <a:ln w="9525">
                <a:solidFill>
                  <a:srgbClr val="FFFF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43075" name="Group 64"/>
              <p:cNvGrpSpPr/>
              <p:nvPr/>
            </p:nvGrpSpPr>
            <p:grpSpPr bwMode="auto">
              <a:xfrm rot="1800000">
                <a:off x="482" y="2896"/>
                <a:ext cx="1159" cy="48"/>
                <a:chOff x="137" y="2760"/>
                <a:chExt cx="1159" cy="48"/>
              </a:xfrm>
            </p:grpSpPr>
            <p:sp>
              <p:nvSpPr>
                <p:cNvPr id="343076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137" y="2784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rgbClr val="FFFF66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77" name="Line 66"/>
                <p:cNvSpPr>
                  <a:spLocks noChangeShapeType="1"/>
                </p:cNvSpPr>
                <p:nvPr/>
              </p:nvSpPr>
              <p:spPr bwMode="auto">
                <a:xfrm>
                  <a:off x="912" y="2784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rgbClr val="FFFF66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3078" name="Oval 67"/>
                <p:cNvSpPr>
                  <a:spLocks noChangeArrowheads="1"/>
                </p:cNvSpPr>
                <p:nvPr/>
              </p:nvSpPr>
              <p:spPr bwMode="auto">
                <a:xfrm>
                  <a:off x="696" y="2760"/>
                  <a:ext cx="48" cy="48"/>
                </a:xfrm>
                <a:prstGeom prst="ellipse">
                  <a:avLst/>
                </a:prstGeom>
                <a:noFill/>
                <a:ln w="9525">
                  <a:solidFill>
                    <a:srgbClr val="FFFF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endParaRPr lang="zh-CN" altLang="zh-CN"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endParaRPr>
                </a:p>
              </p:txBody>
            </p:sp>
          </p:grpSp>
          <p:sp>
            <p:nvSpPr>
              <p:cNvPr id="343079" name="Line 68"/>
              <p:cNvSpPr>
                <a:spLocks noChangeShapeType="1"/>
              </p:cNvSpPr>
              <p:nvPr/>
            </p:nvSpPr>
            <p:spPr bwMode="auto">
              <a:xfrm rot="3600000" flipH="1">
                <a:off x="666" y="2584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FFFF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080" name="Line 69"/>
              <p:cNvSpPr>
                <a:spLocks noChangeShapeType="1"/>
              </p:cNvSpPr>
              <p:nvPr/>
            </p:nvSpPr>
            <p:spPr bwMode="auto">
              <a:xfrm rot="3600000">
                <a:off x="1054" y="3256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FFFF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081" name="Line 70"/>
              <p:cNvSpPr>
                <a:spLocks noChangeShapeType="1"/>
              </p:cNvSpPr>
              <p:nvPr/>
            </p:nvSpPr>
            <p:spPr bwMode="auto">
              <a:xfrm rot="-3600000">
                <a:off x="1065" y="2585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FFFF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082" name="Line 71"/>
              <p:cNvSpPr>
                <a:spLocks noChangeShapeType="1"/>
              </p:cNvSpPr>
              <p:nvPr/>
            </p:nvSpPr>
            <p:spPr bwMode="auto">
              <a:xfrm rot="18000000" flipH="1">
                <a:off x="678" y="3257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FFFF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083" name="Line 72"/>
              <p:cNvSpPr>
                <a:spLocks noChangeShapeType="1"/>
              </p:cNvSpPr>
              <p:nvPr/>
            </p:nvSpPr>
            <p:spPr bwMode="auto">
              <a:xfrm rot="-1800000">
                <a:off x="1204" y="2734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FFFF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084" name="Line 73"/>
              <p:cNvSpPr>
                <a:spLocks noChangeShapeType="1"/>
              </p:cNvSpPr>
              <p:nvPr/>
            </p:nvSpPr>
            <p:spPr bwMode="auto">
              <a:xfrm rot="19800000" flipH="1">
                <a:off x="532" y="3122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FFFF66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" name="Rectangle 39"/>
          <p:cNvSpPr>
            <a:spLocks noChangeArrowheads="1"/>
          </p:cNvSpPr>
          <p:nvPr/>
        </p:nvSpPr>
        <p:spPr bwMode="auto">
          <a:xfrm>
            <a:off x="1847851" y="595313"/>
            <a:ext cx="8424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The surface charge density on the inner surface of medium 1</a:t>
            </a:r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8670" y="734292"/>
            <a:ext cx="159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Example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8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78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78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78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78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78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9" grpId="0"/>
      <p:bldP spid="788520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3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919288" y="908050"/>
            <a:ext cx="7078662" cy="660400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rgbClr val="0000CC"/>
                </a:solidFill>
              </a:rPr>
              <a:t>Resistance and conductance</a:t>
            </a:r>
            <a:endParaRPr kumimoji="1" lang="en-US" altLang="zh-CN" sz="2800" b="1" dirty="0">
              <a:solidFill>
                <a:srgbClr val="0000CC"/>
              </a:solidFill>
            </a:endParaRPr>
          </a:p>
        </p:txBody>
      </p:sp>
      <p:graphicFrame>
        <p:nvGraphicFramePr>
          <p:cNvPr id="789510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503614" y="1557339"/>
          <a:ext cx="172878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46" name="Equation" r:id="rId1" imgW="901700" imgH="444500" progId="Equation.DSMT4">
                  <p:embed/>
                </p:oleObj>
              </mc:Choice>
              <mc:Fallback>
                <p:oleObj name="Equation" r:id="rId1" imgW="901700" imgH="444500" progId="Equation.DSMT4">
                  <p:embed/>
                  <p:pic>
                    <p:nvPicPr>
                      <p:cNvPr id="0" name="图片 943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1557339"/>
                        <a:ext cx="1728787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4" name="Rectangle 4"/>
          <p:cNvSpPr>
            <a:spLocks noChangeArrowheads="1"/>
          </p:cNvSpPr>
          <p:nvPr/>
        </p:nvSpPr>
        <p:spPr bwMode="auto">
          <a:xfrm>
            <a:off x="2711451" y="188913"/>
            <a:ext cx="6697663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800000"/>
                </a:solidFill>
              </a:rPr>
              <a:t>5.7 Resistance Calculations</a:t>
            </a:r>
            <a:endParaRPr lang="en-US" altLang="zh-CN" sz="3600" b="1">
              <a:solidFill>
                <a:srgbClr val="800000"/>
              </a:solidFill>
            </a:endParaRPr>
          </a:p>
        </p:txBody>
      </p:sp>
      <p:graphicFrame>
        <p:nvGraphicFramePr>
          <p:cNvPr id="789508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888163" y="1628776"/>
          <a:ext cx="10795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47" name="Equation" r:id="rId3" imgW="533400" imgH="444500" progId="Equation.DSMT4">
                  <p:embed/>
                </p:oleObj>
              </mc:Choice>
              <mc:Fallback>
                <p:oleObj name="Equation" r:id="rId3" imgW="533400" imgH="444500" progId="Equation.DSMT4">
                  <p:embed/>
                  <p:pic>
                    <p:nvPicPr>
                      <p:cNvPr id="0" name="图片 943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1628776"/>
                        <a:ext cx="1079500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92" name="Rectangle 12"/>
          <p:cNvSpPr>
            <a:spLocks noRot="1" noChangeArrowheads="1"/>
          </p:cNvSpPr>
          <p:nvPr/>
        </p:nvSpPr>
        <p:spPr bwMode="auto">
          <a:xfrm>
            <a:off x="1919288" y="2565400"/>
            <a:ext cx="8280400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 dirty="0">
                <a:solidFill>
                  <a:srgbClr val="0000CC"/>
                </a:solidFill>
              </a:rPr>
              <a:t>Method one of calculating conductance</a:t>
            </a:r>
            <a:endParaRPr kumimoji="1" lang="en-US" altLang="zh-CN" b="1" dirty="0">
              <a:solidFill>
                <a:srgbClr val="0000CC"/>
              </a:solidFill>
            </a:endParaRPr>
          </a:p>
        </p:txBody>
      </p:sp>
      <p:sp>
        <p:nvSpPr>
          <p:cNvPr id="790530" name="Rectangle 2"/>
          <p:cNvSpPr>
            <a:spLocks noChangeArrowheads="1"/>
          </p:cNvSpPr>
          <p:nvPr/>
        </p:nvSpPr>
        <p:spPr bwMode="auto">
          <a:xfrm>
            <a:off x="2135187" y="3213100"/>
            <a:ext cx="8962303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Tx/>
              <a:buAutoNum type="arabicPeriod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Assuming the current between the two electrodes is 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buFontTx/>
              <a:buAutoNum type="arabicPeriod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For                     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calculate the potential difference between two conductors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buFontTx/>
              <a:buAutoNum type="arabicPeriod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According to the definition of the conductance to calculate the conductance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0531" name="Object 3"/>
          <p:cNvGraphicFramePr>
            <a:graphicFrameLocks noChangeAspect="1"/>
          </p:cNvGraphicFramePr>
          <p:nvPr/>
        </p:nvGraphicFramePr>
        <p:xfrm>
          <a:off x="3265922" y="3677053"/>
          <a:ext cx="1832551" cy="788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48" name="Equation" r:id="rId5" imgW="1028700" imgH="393700" progId="Equation.DSMT4">
                  <p:embed/>
                </p:oleObj>
              </mc:Choice>
              <mc:Fallback>
                <p:oleObj name="Equation" r:id="rId5" imgW="1028700" imgH="393700" progId="Equation.DSMT4">
                  <p:embed/>
                  <p:pic>
                    <p:nvPicPr>
                      <p:cNvPr id="0" name="图片 943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922" y="3677053"/>
                        <a:ext cx="1832551" cy="788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0532" name="Object 4"/>
          <p:cNvGraphicFramePr>
            <a:graphicFrameLocks noChangeAspect="1"/>
          </p:cNvGraphicFramePr>
          <p:nvPr/>
        </p:nvGraphicFramePr>
        <p:xfrm>
          <a:off x="4618038" y="5202238"/>
          <a:ext cx="14414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49" name="Equation" r:id="rId7" imgW="723900" imgH="165100" progId="Equation.DSMT4">
                  <p:embed/>
                </p:oleObj>
              </mc:Choice>
              <mc:Fallback>
                <p:oleObj name="Equation" r:id="rId7" imgW="723900" imgH="165100" progId="Equation.DSMT4">
                  <p:embed/>
                  <p:pic>
                    <p:nvPicPr>
                      <p:cNvPr id="0" name="图片 943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8038" y="5202238"/>
                        <a:ext cx="144145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2096" name="图片 4" descr="www.tuweimei.comComp_5006184_DV53eH7FbcVwSX1GqTe0D1E7DlzuX8Xb.jpg"/>
          <p:cNvPicPr>
            <a:picLocks noGrp="1" noChangeAspect="1"/>
          </p:cNvPicPr>
          <p:nvPr isPhoto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238" y="5202238"/>
            <a:ext cx="1655762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8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8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0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9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9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9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92" grpId="0"/>
      <p:bldP spid="7905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8" name="Rectangle 4"/>
          <p:cNvSpPr>
            <a:spLocks noRot="1" noChangeArrowheads="1"/>
          </p:cNvSpPr>
          <p:nvPr/>
        </p:nvSpPr>
        <p:spPr bwMode="auto">
          <a:xfrm>
            <a:off x="1774825" y="608013"/>
            <a:ext cx="8280400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>
                <a:solidFill>
                  <a:srgbClr val="0000CC"/>
                </a:solidFill>
              </a:rPr>
              <a:t>Method two of calculating conductance</a:t>
            </a:r>
            <a:endParaRPr kumimoji="1" lang="en-US" altLang="zh-CN" b="1">
              <a:solidFill>
                <a:srgbClr val="0000CC"/>
              </a:solidFill>
            </a:endParaRPr>
          </a:p>
        </p:txBody>
      </p:sp>
      <p:sp>
        <p:nvSpPr>
          <p:cNvPr id="790534" name="Rectangle 6"/>
          <p:cNvSpPr>
            <a:spLocks noChangeArrowheads="1"/>
          </p:cNvSpPr>
          <p:nvPr/>
        </p:nvSpPr>
        <p:spPr bwMode="auto">
          <a:xfrm>
            <a:off x="1774826" y="1250950"/>
            <a:ext cx="8532813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Tx/>
              <a:buAutoNum type="arabicPeriod"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Assuming the potential difference between the two electrodes is U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buFontTx/>
              <a:buAutoNum type="arabicPeriod"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For		  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find the current between two conductors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buFontTx/>
              <a:buAutoNum type="arabicPeriod"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According to the definition of the conductance to calculate the conductance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0537" name="Object 9"/>
          <p:cNvGraphicFramePr>
            <a:graphicFrameLocks noGrp="1" noChangeAspect="1"/>
          </p:cNvGraphicFramePr>
          <p:nvPr>
            <p:ph sz="half" idx="1"/>
          </p:nvPr>
        </p:nvGraphicFramePr>
        <p:xfrm>
          <a:off x="2782888" y="2343151"/>
          <a:ext cx="165576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3" name="Equation" r:id="rId1" imgW="977900" imgH="342900" progId="Equation.DSMT4">
                  <p:embed/>
                </p:oleObj>
              </mc:Choice>
              <mc:Fallback>
                <p:oleObj name="Equation" r:id="rId1" imgW="977900" imgH="342900" progId="Equation.DSMT4">
                  <p:embed/>
                  <p:pic>
                    <p:nvPicPr>
                      <p:cNvPr id="0" name="图片 953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343151"/>
                        <a:ext cx="1655762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0538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656138" y="3284538"/>
          <a:ext cx="165576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4" name="Equation" r:id="rId3" imgW="723900" imgH="165100" progId="Equation.DSMT4">
                  <p:embed/>
                </p:oleObj>
              </mc:Choice>
              <mc:Fallback>
                <p:oleObj name="Equation" r:id="rId3" imgW="723900" imgH="165100" progId="Equation.DSMT4">
                  <p:embed/>
                  <p:pic>
                    <p:nvPicPr>
                      <p:cNvPr id="0" name="图片 953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3284538"/>
                        <a:ext cx="1655762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5" name="Rectangle 11"/>
          <p:cNvSpPr>
            <a:spLocks noRot="1" noChangeArrowheads="1"/>
          </p:cNvSpPr>
          <p:nvPr/>
        </p:nvSpPr>
        <p:spPr bwMode="auto">
          <a:xfrm>
            <a:off x="1776413" y="4064000"/>
            <a:ext cx="8280400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>
                <a:solidFill>
                  <a:srgbClr val="0000CC"/>
                </a:solidFill>
              </a:rPr>
              <a:t>Method three of calculating conductance</a:t>
            </a:r>
            <a:endParaRPr kumimoji="1" lang="en-US" altLang="zh-CN" b="1">
              <a:solidFill>
                <a:srgbClr val="0000CC"/>
              </a:solidFill>
            </a:endParaRPr>
          </a:p>
        </p:txBody>
      </p:sp>
      <p:sp>
        <p:nvSpPr>
          <p:cNvPr id="790542" name="Rectangle 14"/>
          <p:cNvSpPr>
            <a:spLocks noChangeArrowheads="1"/>
          </p:cNvSpPr>
          <p:nvPr/>
        </p:nvSpPr>
        <p:spPr bwMode="auto">
          <a:xfrm>
            <a:off x="2640014" y="4724400"/>
            <a:ext cx="2879725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Electrostatic simulation 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：</a:t>
            </a:r>
            <a:endParaRPr kumimoji="1" lang="zh-CN" altLang="en-US" sz="2400" b="1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790543" name="Object 1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735638" y="4797425"/>
          <a:ext cx="122396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5" name="Equation" r:id="rId5" imgW="546100" imgH="444500" progId="Equation.DSMT4">
                  <p:embed/>
                </p:oleObj>
              </mc:Choice>
              <mc:Fallback>
                <p:oleObj name="Equation" r:id="rId5" imgW="546100" imgH="444500" progId="Equation.DSMT4">
                  <p:embed/>
                  <p:pic>
                    <p:nvPicPr>
                      <p:cNvPr id="0" name="图片 953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4797425"/>
                        <a:ext cx="1223962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3120" name="图片 1" descr="www.tuweimei.comComp_6137750_cvpdXNlK3lmNC6tPlhpqjMpCUCL6kLSC.jpg"/>
          <p:cNvPicPr>
            <a:picLocks noGrp="1"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926" y="4733926"/>
            <a:ext cx="212407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0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9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9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9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9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534" grpId="0"/>
      <p:bldP spid="79054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1" name="Text Box 2"/>
          <p:cNvSpPr txBox="1">
            <a:spLocks noChangeArrowheads="1"/>
          </p:cNvSpPr>
          <p:nvPr/>
        </p:nvSpPr>
        <p:spPr bwMode="auto">
          <a:xfrm>
            <a:off x="2063750" y="230189"/>
            <a:ext cx="81359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CC"/>
                </a:solidFill>
                <a:ea typeface="楷体_GB2312" pitchFamily="49" charset="-122"/>
              </a:rPr>
              <a:t>Comparison between steady electric field and electrostatic field with electrostatic simulation method</a:t>
            </a:r>
            <a:endParaRPr kumimoji="1" lang="en-US" altLang="zh-CN" sz="2400" b="1">
              <a:solidFill>
                <a:srgbClr val="0000CC"/>
              </a:solidFill>
            </a:endParaRPr>
          </a:p>
        </p:txBody>
      </p:sp>
      <p:sp>
        <p:nvSpPr>
          <p:cNvPr id="309252" name="Line 3"/>
          <p:cNvSpPr>
            <a:spLocks noChangeShapeType="1"/>
          </p:cNvSpPr>
          <p:nvPr/>
        </p:nvSpPr>
        <p:spPr bwMode="auto">
          <a:xfrm flipV="1">
            <a:off x="1847851" y="1052513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53" name="Line 4"/>
          <p:cNvSpPr>
            <a:spLocks noChangeShapeType="1"/>
          </p:cNvSpPr>
          <p:nvPr/>
        </p:nvSpPr>
        <p:spPr bwMode="auto">
          <a:xfrm>
            <a:off x="1847851" y="1557338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54" name="Text Box 5"/>
          <p:cNvSpPr txBox="1">
            <a:spLocks noChangeArrowheads="1"/>
          </p:cNvSpPr>
          <p:nvPr/>
        </p:nvSpPr>
        <p:spPr bwMode="auto">
          <a:xfrm>
            <a:off x="1847850" y="1851025"/>
            <a:ext cx="17287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en-US" altLang="zh-CN" b="1">
                <a:solidFill>
                  <a:srgbClr val="000000"/>
                </a:solidFill>
                <a:ea typeface="楷体_GB2312" pitchFamily="49" charset="-122"/>
              </a:rPr>
              <a:t>Basic equations</a:t>
            </a:r>
            <a:endParaRPr kumimoji="1" lang="en-US" altLang="zh-CN" b="1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309255" name="Object 6"/>
          <p:cNvGraphicFramePr>
            <a:graphicFrameLocks noChangeAspect="1"/>
          </p:cNvGraphicFramePr>
          <p:nvPr/>
        </p:nvGraphicFramePr>
        <p:xfrm>
          <a:off x="4440238" y="2759076"/>
          <a:ext cx="10080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49" name="Equation" r:id="rId1" imgW="571500" imgH="215900" progId="Equation.DSMT4">
                  <p:embed/>
                </p:oleObj>
              </mc:Choice>
              <mc:Fallback>
                <p:oleObj name="Equation" r:id="rId1" imgW="571500" imgH="215900" progId="Equation.DSMT4">
                  <p:embed/>
                  <p:pic>
                    <p:nvPicPr>
                      <p:cNvPr id="0" name="图片 97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2759076"/>
                        <a:ext cx="1008062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6" name="Object 7"/>
          <p:cNvGraphicFramePr>
            <a:graphicFrameLocks noChangeAspect="1"/>
          </p:cNvGraphicFramePr>
          <p:nvPr/>
        </p:nvGraphicFramePr>
        <p:xfrm>
          <a:off x="3792538" y="3246439"/>
          <a:ext cx="12239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50" name="Equation" r:id="rId3" imgW="774700" imgH="241300" progId="Equation.DSMT4">
                  <p:embed/>
                </p:oleObj>
              </mc:Choice>
              <mc:Fallback>
                <p:oleObj name="Equation" r:id="rId3" imgW="774700" imgH="241300" progId="Equation.DSMT4">
                  <p:embed/>
                  <p:pic>
                    <p:nvPicPr>
                      <p:cNvPr id="0" name="图片 97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3246439"/>
                        <a:ext cx="122396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7" name="Object 8"/>
          <p:cNvGraphicFramePr>
            <a:graphicFrameLocks noChangeAspect="1"/>
          </p:cNvGraphicFramePr>
          <p:nvPr/>
        </p:nvGraphicFramePr>
        <p:xfrm>
          <a:off x="7969250" y="2781301"/>
          <a:ext cx="10795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51" name="Equation" r:id="rId5" imgW="571500" imgH="215900" progId="Equation.DSMT4">
                  <p:embed/>
                </p:oleObj>
              </mc:Choice>
              <mc:Fallback>
                <p:oleObj name="Equation" r:id="rId5" imgW="571500" imgH="215900" progId="Equation.DSMT4">
                  <p:embed/>
                  <p:pic>
                    <p:nvPicPr>
                      <p:cNvPr id="0" name="图片 97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0" y="2781301"/>
                        <a:ext cx="10795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8" name="Object 9"/>
          <p:cNvGraphicFramePr/>
          <p:nvPr/>
        </p:nvGraphicFramePr>
        <p:xfrm>
          <a:off x="8688388" y="3295651"/>
          <a:ext cx="12954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52" name="Equation" r:id="rId7" imgW="635000" imgH="228600" progId="Equation.DSMT4">
                  <p:embed/>
                </p:oleObj>
              </mc:Choice>
              <mc:Fallback>
                <p:oleObj name="Equation" r:id="rId7" imgW="635000" imgH="228600" progId="Equation.DSMT4">
                  <p:embed/>
                  <p:pic>
                    <p:nvPicPr>
                      <p:cNvPr id="0" name="图片 9715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8388" y="3295651"/>
                        <a:ext cx="12954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59" name="Object 10"/>
          <p:cNvGraphicFramePr>
            <a:graphicFrameLocks noChangeAspect="1"/>
          </p:cNvGraphicFramePr>
          <p:nvPr/>
        </p:nvGraphicFramePr>
        <p:xfrm>
          <a:off x="5448300" y="3295650"/>
          <a:ext cx="10795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53" name="Equation" r:id="rId9" imgW="635000" imgH="228600" progId="Equation.DSMT4">
                  <p:embed/>
                </p:oleObj>
              </mc:Choice>
              <mc:Fallback>
                <p:oleObj name="Equation" r:id="rId9" imgW="635000" imgH="228600" progId="Equation.DSMT4">
                  <p:embed/>
                  <p:pic>
                    <p:nvPicPr>
                      <p:cNvPr id="0" name="图片 97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295650"/>
                        <a:ext cx="10795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60" name="Object 11"/>
          <p:cNvGraphicFramePr>
            <a:graphicFrameLocks noChangeAspect="1"/>
          </p:cNvGraphicFramePr>
          <p:nvPr/>
        </p:nvGraphicFramePr>
        <p:xfrm>
          <a:off x="3719513" y="3881439"/>
          <a:ext cx="29527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54" name="Equation" r:id="rId11" imgW="1651000" imgH="228600" progId="Equation.DSMT4">
                  <p:embed/>
                </p:oleObj>
              </mc:Choice>
              <mc:Fallback>
                <p:oleObj name="Equation" r:id="rId11" imgW="1651000" imgH="228600" progId="Equation.DSMT4">
                  <p:embed/>
                  <p:pic>
                    <p:nvPicPr>
                      <p:cNvPr id="0" name="图片 97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3881439"/>
                        <a:ext cx="295275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61" name="Object 12"/>
          <p:cNvGraphicFramePr>
            <a:graphicFrameLocks noChangeAspect="1"/>
          </p:cNvGraphicFramePr>
          <p:nvPr/>
        </p:nvGraphicFramePr>
        <p:xfrm>
          <a:off x="7161213" y="3810001"/>
          <a:ext cx="30543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55" name="Equation" r:id="rId13" imgW="1600200" imgH="228600" progId="Equation.DSMT4">
                  <p:embed/>
                </p:oleObj>
              </mc:Choice>
              <mc:Fallback>
                <p:oleObj name="Equation" r:id="rId13" imgW="1600200" imgH="228600" progId="Equation.DSMT4">
                  <p:embed/>
                  <p:pic>
                    <p:nvPicPr>
                      <p:cNvPr id="0" name="图片 97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213" y="3810001"/>
                        <a:ext cx="30543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9262" name="Group 13"/>
          <p:cNvGrpSpPr/>
          <p:nvPr/>
        </p:nvGrpSpPr>
        <p:grpSpPr bwMode="auto">
          <a:xfrm>
            <a:off x="3575050" y="1100138"/>
            <a:ext cx="3816350" cy="431800"/>
            <a:chOff x="558" y="572"/>
            <a:chExt cx="1996" cy="272"/>
          </a:xfrm>
        </p:grpSpPr>
        <p:sp>
          <p:nvSpPr>
            <p:cNvPr id="309263" name="Text Box 14"/>
            <p:cNvSpPr txBox="1">
              <a:spLocks noChangeArrowheads="1"/>
            </p:cNvSpPr>
            <p:nvPr/>
          </p:nvSpPr>
          <p:spPr bwMode="auto">
            <a:xfrm>
              <a:off x="558" y="572"/>
              <a:ext cx="19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1600" b="1">
                  <a:solidFill>
                    <a:srgbClr val="000000"/>
                  </a:solidFill>
                  <a:ea typeface="楷体_GB2312" pitchFamily="49" charset="-122"/>
                </a:rPr>
                <a:t>electrostatic field          </a:t>
              </a:r>
              <a:r>
                <a:rPr kumimoji="1" lang="zh-CN" altLang="en-US" sz="1600" b="1">
                  <a:solidFill>
                    <a:srgbClr val="000000"/>
                  </a:solidFill>
                  <a:ea typeface="楷体_GB2312" pitchFamily="49" charset="-122"/>
                </a:rPr>
                <a:t>（ </a:t>
              </a:r>
              <a:r>
                <a:rPr kumimoji="1" lang="en-US" altLang="zh-CN" sz="1600" b="1">
                  <a:solidFill>
                    <a:srgbClr val="000000"/>
                  </a:solidFill>
                  <a:ea typeface="楷体_GB2312" pitchFamily="49" charset="-122"/>
                </a:rPr>
                <a:t>area </a:t>
              </a:r>
              <a:r>
                <a:rPr kumimoji="1" lang="zh-CN" altLang="en-US" sz="1600" b="1">
                  <a:solidFill>
                    <a:srgbClr val="000000"/>
                  </a:solidFill>
                  <a:ea typeface="楷体_GB2312" pitchFamily="49" charset="-122"/>
                </a:rPr>
                <a:t>） </a:t>
              </a:r>
              <a:endParaRPr kumimoji="1" lang="zh-CN" altLang="en-US" sz="16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309264" name="Object 15"/>
            <p:cNvGraphicFramePr/>
            <p:nvPr/>
          </p:nvGraphicFramePr>
          <p:xfrm>
            <a:off x="1407" y="593"/>
            <a:ext cx="443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56" name="Equation" r:id="rId15" imgW="431800" imgH="190500" progId="Equation.DSMT4">
                    <p:embed/>
                  </p:oleObj>
                </mc:Choice>
                <mc:Fallback>
                  <p:oleObj name="Equation" r:id="rId15" imgW="431800" imgH="190500" progId="Equation.DSMT4">
                    <p:embed/>
                    <p:pic>
                      <p:nvPicPr>
                        <p:cNvPr id="0" name="图片 9715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7" y="593"/>
                          <a:ext cx="443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9265" name="Object 16"/>
          <p:cNvGraphicFramePr>
            <a:graphicFrameLocks noChangeAspect="1"/>
          </p:cNvGraphicFramePr>
          <p:nvPr/>
        </p:nvGraphicFramePr>
        <p:xfrm>
          <a:off x="7077075" y="1660525"/>
          <a:ext cx="31496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57" name="Equation" r:id="rId17" imgW="2095500" imgH="317500" progId="Equation.DSMT4">
                  <p:embed/>
                </p:oleObj>
              </mc:Choice>
              <mc:Fallback>
                <p:oleObj name="Equation" r:id="rId17" imgW="2095500" imgH="317500" progId="Equation.DSMT4">
                  <p:embed/>
                  <p:pic>
                    <p:nvPicPr>
                      <p:cNvPr id="0" name="图片 97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7075" y="1660525"/>
                        <a:ext cx="31496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66" name="Object 17"/>
          <p:cNvGraphicFramePr>
            <a:graphicFrameLocks noChangeAspect="1"/>
          </p:cNvGraphicFramePr>
          <p:nvPr/>
        </p:nvGraphicFramePr>
        <p:xfrm>
          <a:off x="7391400" y="2276476"/>
          <a:ext cx="25209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58" name="Equation" r:id="rId19" imgW="1651000" imgH="241300" progId="Equation.DSMT4">
                  <p:embed/>
                </p:oleObj>
              </mc:Choice>
              <mc:Fallback>
                <p:oleObj name="Equation" r:id="rId19" imgW="1651000" imgH="241300" progId="Equation.DSMT4">
                  <p:embed/>
                  <p:pic>
                    <p:nvPicPr>
                      <p:cNvPr id="0" name="图片 97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276476"/>
                        <a:ext cx="25209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67" name="Line 18"/>
          <p:cNvSpPr>
            <a:spLocks noChangeShapeType="1"/>
          </p:cNvSpPr>
          <p:nvPr/>
        </p:nvSpPr>
        <p:spPr bwMode="auto">
          <a:xfrm>
            <a:off x="3503613" y="2276475"/>
            <a:ext cx="6913562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68" name="Line 19"/>
          <p:cNvSpPr>
            <a:spLocks noChangeShapeType="1"/>
          </p:cNvSpPr>
          <p:nvPr/>
        </p:nvSpPr>
        <p:spPr bwMode="auto">
          <a:xfrm>
            <a:off x="1847851" y="3800475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69" name="Line 20"/>
          <p:cNvSpPr>
            <a:spLocks noChangeShapeType="1"/>
          </p:cNvSpPr>
          <p:nvPr/>
        </p:nvSpPr>
        <p:spPr bwMode="auto">
          <a:xfrm flipH="1">
            <a:off x="6888163" y="1052513"/>
            <a:ext cx="0" cy="411480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70" name="Line 21"/>
          <p:cNvSpPr>
            <a:spLocks noChangeShapeType="1"/>
          </p:cNvSpPr>
          <p:nvPr/>
        </p:nvSpPr>
        <p:spPr bwMode="auto">
          <a:xfrm>
            <a:off x="1847851" y="3224213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71" name="Line 22"/>
          <p:cNvSpPr>
            <a:spLocks noChangeShapeType="1"/>
          </p:cNvSpPr>
          <p:nvPr/>
        </p:nvSpPr>
        <p:spPr bwMode="auto">
          <a:xfrm>
            <a:off x="1847851" y="2765425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9272" name="Object 23"/>
          <p:cNvGraphicFramePr>
            <a:graphicFrameLocks noChangeAspect="1"/>
          </p:cNvGraphicFramePr>
          <p:nvPr/>
        </p:nvGraphicFramePr>
        <p:xfrm>
          <a:off x="7177088" y="3246439"/>
          <a:ext cx="12239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59" name="Equation" r:id="rId21" imgW="774700" imgH="241300" progId="Equation.DSMT4">
                  <p:embed/>
                </p:oleObj>
              </mc:Choice>
              <mc:Fallback>
                <p:oleObj name="Equation" r:id="rId21" imgW="774700" imgH="241300" progId="Equation.DSMT4">
                  <p:embed/>
                  <p:pic>
                    <p:nvPicPr>
                      <p:cNvPr id="0" name="图片 97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7088" y="3246439"/>
                        <a:ext cx="122396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73" name="Object 24"/>
          <p:cNvGraphicFramePr>
            <a:graphicFrameLocks noChangeAspect="1"/>
          </p:cNvGraphicFramePr>
          <p:nvPr/>
        </p:nvGraphicFramePr>
        <p:xfrm>
          <a:off x="3998913" y="2276475"/>
          <a:ext cx="2463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60" name="Equation" r:id="rId23" imgW="1562100" imgH="241300" progId="Equation.DSMT4">
                  <p:embed/>
                </p:oleObj>
              </mc:Choice>
              <mc:Fallback>
                <p:oleObj name="Equation" r:id="rId23" imgW="1562100" imgH="241300" progId="Equation.DSMT4">
                  <p:embed/>
                  <p:pic>
                    <p:nvPicPr>
                      <p:cNvPr id="0" name="图片 97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2276475"/>
                        <a:ext cx="2463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74" name="Line 25"/>
          <p:cNvSpPr>
            <a:spLocks noChangeShapeType="1"/>
          </p:cNvSpPr>
          <p:nvPr/>
        </p:nvSpPr>
        <p:spPr bwMode="auto">
          <a:xfrm>
            <a:off x="3503613" y="4376738"/>
            <a:ext cx="6913562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9275" name="Object 26"/>
          <p:cNvGraphicFramePr>
            <a:graphicFrameLocks noChangeAspect="1"/>
          </p:cNvGraphicFramePr>
          <p:nvPr/>
        </p:nvGraphicFramePr>
        <p:xfrm>
          <a:off x="3719513" y="4386263"/>
          <a:ext cx="29527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61" name="Equation" r:id="rId25" imgW="2057400" imgH="444500" progId="Equation.DSMT4">
                  <p:embed/>
                </p:oleObj>
              </mc:Choice>
              <mc:Fallback>
                <p:oleObj name="Equation" r:id="rId25" imgW="2057400" imgH="444500" progId="Equation.DSMT4">
                  <p:embed/>
                  <p:pic>
                    <p:nvPicPr>
                      <p:cNvPr id="0" name="图片 97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4386263"/>
                        <a:ext cx="29527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76" name="Object 27"/>
          <p:cNvGraphicFramePr>
            <a:graphicFrameLocks noChangeAspect="1"/>
          </p:cNvGraphicFramePr>
          <p:nvPr/>
        </p:nvGraphicFramePr>
        <p:xfrm>
          <a:off x="7051676" y="4375150"/>
          <a:ext cx="32924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62" name="Equation" r:id="rId27" imgW="2120900" imgH="444500" progId="Equation.DSMT4">
                  <p:embed/>
                </p:oleObj>
              </mc:Choice>
              <mc:Fallback>
                <p:oleObj name="Equation" r:id="rId27" imgW="2120900" imgH="444500" progId="Equation.DSMT4">
                  <p:embed/>
                  <p:pic>
                    <p:nvPicPr>
                      <p:cNvPr id="0" name="图片 97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1676" y="4375150"/>
                        <a:ext cx="3292475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77" name="Line 28"/>
          <p:cNvSpPr>
            <a:spLocks noChangeShapeType="1"/>
          </p:cNvSpPr>
          <p:nvPr/>
        </p:nvSpPr>
        <p:spPr bwMode="auto">
          <a:xfrm>
            <a:off x="1847851" y="5178425"/>
            <a:ext cx="8569325" cy="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78" name="Line 29"/>
          <p:cNvSpPr>
            <a:spLocks noChangeShapeType="1"/>
          </p:cNvSpPr>
          <p:nvPr/>
        </p:nvSpPr>
        <p:spPr bwMode="auto">
          <a:xfrm flipH="1">
            <a:off x="10417175" y="1063625"/>
            <a:ext cx="0" cy="411480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79" name="Line 30"/>
          <p:cNvSpPr>
            <a:spLocks noChangeShapeType="1"/>
          </p:cNvSpPr>
          <p:nvPr/>
        </p:nvSpPr>
        <p:spPr bwMode="auto">
          <a:xfrm flipH="1">
            <a:off x="3503613" y="1063625"/>
            <a:ext cx="0" cy="411480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80" name="Line 31"/>
          <p:cNvSpPr>
            <a:spLocks noChangeShapeType="1"/>
          </p:cNvSpPr>
          <p:nvPr/>
        </p:nvSpPr>
        <p:spPr bwMode="auto">
          <a:xfrm flipH="1">
            <a:off x="1847850" y="1063625"/>
            <a:ext cx="0" cy="4114800"/>
          </a:xfrm>
          <a:prstGeom prst="line">
            <a:avLst/>
          </a:prstGeom>
          <a:noFill/>
          <a:ln w="31750">
            <a:solidFill>
              <a:srgbClr val="99CC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9281" name="Text Box 32"/>
          <p:cNvSpPr txBox="1">
            <a:spLocks noChangeArrowheads="1"/>
          </p:cNvSpPr>
          <p:nvPr/>
        </p:nvSpPr>
        <p:spPr bwMode="auto">
          <a:xfrm>
            <a:off x="1846264" y="2730501"/>
            <a:ext cx="172878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en-US" altLang="zh-CN" sz="1600" b="1">
                <a:solidFill>
                  <a:srgbClr val="000000"/>
                </a:solidFill>
                <a:ea typeface="楷体_GB2312" pitchFamily="49" charset="-122"/>
              </a:rPr>
              <a:t>Constitutive relations</a:t>
            </a:r>
            <a:endParaRPr kumimoji="1" lang="en-US" altLang="zh-CN" sz="1600" b="1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09282" name="Text Box 33"/>
          <p:cNvSpPr txBox="1">
            <a:spLocks noChangeArrowheads="1"/>
          </p:cNvSpPr>
          <p:nvPr/>
        </p:nvSpPr>
        <p:spPr bwMode="auto">
          <a:xfrm>
            <a:off x="1847850" y="3306764"/>
            <a:ext cx="17287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en-US" altLang="zh-CN" sz="1600" b="1">
                <a:solidFill>
                  <a:srgbClr val="000000"/>
                </a:solidFill>
                <a:ea typeface="楷体_GB2312" pitchFamily="49" charset="-122"/>
              </a:rPr>
              <a:t>Potential functions</a:t>
            </a:r>
            <a:endParaRPr kumimoji="1" lang="en-US" altLang="zh-CN" sz="1600" b="1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09283" name="Text Box 34"/>
          <p:cNvSpPr txBox="1">
            <a:spLocks noChangeArrowheads="1"/>
          </p:cNvSpPr>
          <p:nvPr/>
        </p:nvSpPr>
        <p:spPr bwMode="auto">
          <a:xfrm>
            <a:off x="1774825" y="4170364"/>
            <a:ext cx="17287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spcBef>
                <a:spcPct val="50000"/>
              </a:spcBef>
            </a:pPr>
            <a:r>
              <a:rPr kumimoji="1" lang="en-US" altLang="zh-CN" sz="1600" b="1">
                <a:solidFill>
                  <a:srgbClr val="000000"/>
                </a:solidFill>
                <a:ea typeface="楷体_GB2312" pitchFamily="49" charset="-122"/>
              </a:rPr>
              <a:t>boundary conditions</a:t>
            </a:r>
            <a:endParaRPr kumimoji="1" lang="en-US" altLang="zh-CN" sz="1600" b="1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09284" name="Text Box 35"/>
          <p:cNvSpPr txBox="1">
            <a:spLocks noChangeArrowheads="1"/>
          </p:cNvSpPr>
          <p:nvPr/>
        </p:nvSpPr>
        <p:spPr bwMode="auto">
          <a:xfrm>
            <a:off x="7154864" y="981076"/>
            <a:ext cx="30448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1600" b="1">
                <a:solidFill>
                  <a:srgbClr val="000000"/>
                </a:solidFill>
                <a:ea typeface="楷体_GB2312" pitchFamily="49" charset="-122"/>
              </a:rPr>
              <a:t>Steady electric field (outside the power supply)</a:t>
            </a:r>
            <a:endParaRPr kumimoji="1" lang="en-US" altLang="zh-CN" sz="1600" b="1">
              <a:solidFill>
                <a:srgbClr val="000000"/>
              </a:solidFill>
              <a:ea typeface="楷体_GB2312" pitchFamily="49" charset="-122"/>
            </a:endParaRPr>
          </a:p>
        </p:txBody>
      </p:sp>
      <p:grpSp>
        <p:nvGrpSpPr>
          <p:cNvPr id="1017892" name="Group 36"/>
          <p:cNvGrpSpPr/>
          <p:nvPr/>
        </p:nvGrpSpPr>
        <p:grpSpPr bwMode="auto">
          <a:xfrm>
            <a:off x="1739901" y="5281614"/>
            <a:ext cx="8677275" cy="1133475"/>
            <a:chOff x="136" y="3357"/>
            <a:chExt cx="5466" cy="714"/>
          </a:xfrm>
        </p:grpSpPr>
        <p:sp>
          <p:nvSpPr>
            <p:cNvPr id="309286" name="Text Box 37"/>
            <p:cNvSpPr txBox="1">
              <a:spLocks noChangeArrowheads="1"/>
            </p:cNvSpPr>
            <p:nvPr/>
          </p:nvSpPr>
          <p:spPr bwMode="auto">
            <a:xfrm>
              <a:off x="136" y="3566"/>
              <a:ext cx="138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ea typeface="楷体_GB2312" pitchFamily="49" charset="-122"/>
                </a:rPr>
                <a:t>Corresponding physical quantity</a:t>
              </a:r>
              <a:endParaRPr kumimoji="1" lang="en-US" altLang="zh-CN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309287" name="Text Box 38"/>
            <p:cNvSpPr txBox="1">
              <a:spLocks noChangeArrowheads="1"/>
            </p:cNvSpPr>
            <p:nvPr/>
          </p:nvSpPr>
          <p:spPr bwMode="auto">
            <a:xfrm>
              <a:off x="1535" y="3357"/>
              <a:ext cx="80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000000"/>
                  </a:solidFill>
                  <a:ea typeface="楷体_GB2312" pitchFamily="49" charset="-122"/>
                </a:rPr>
                <a:t>electrostatic field</a:t>
              </a:r>
              <a:endParaRPr kumimoji="1" lang="en-US" altLang="zh-CN" sz="14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309288" name="Object 39"/>
            <p:cNvGraphicFramePr>
              <a:graphicFrameLocks noChangeAspect="1"/>
            </p:cNvGraphicFramePr>
            <p:nvPr/>
          </p:nvGraphicFramePr>
          <p:xfrm>
            <a:off x="3742" y="3402"/>
            <a:ext cx="24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63" name="Equation" r:id="rId29" imgW="114300" imgH="139700" progId="Equation.DSMT4">
                    <p:embed/>
                  </p:oleObj>
                </mc:Choice>
                <mc:Fallback>
                  <p:oleObj name="Equation" r:id="rId29" imgW="114300" imgH="139700" progId="Equation.DSMT4">
                    <p:embed/>
                    <p:pic>
                      <p:nvPicPr>
                        <p:cNvPr id="0" name="图片 971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3402"/>
                          <a:ext cx="242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289" name="Object 40"/>
            <p:cNvGraphicFramePr>
              <a:graphicFrameLocks noChangeAspect="1"/>
            </p:cNvGraphicFramePr>
            <p:nvPr/>
          </p:nvGraphicFramePr>
          <p:xfrm>
            <a:off x="4785" y="3402"/>
            <a:ext cx="2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64" name="Equation" r:id="rId31" imgW="88900" imgH="114300" progId="Equation.DSMT4">
                    <p:embed/>
                  </p:oleObj>
                </mc:Choice>
                <mc:Fallback>
                  <p:oleObj name="Equation" r:id="rId31" imgW="88900" imgH="114300" progId="Equation.DSMT4">
                    <p:embed/>
                    <p:pic>
                      <p:nvPicPr>
                        <p:cNvPr id="0" name="图片 971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3402"/>
                          <a:ext cx="22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290" name="Object 41"/>
            <p:cNvGraphicFramePr>
              <a:graphicFrameLocks noChangeAspect="1"/>
            </p:cNvGraphicFramePr>
            <p:nvPr/>
          </p:nvGraphicFramePr>
          <p:xfrm>
            <a:off x="4785" y="3720"/>
            <a:ext cx="272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65" name="Equation" r:id="rId33" imgW="127000" imgH="114300" progId="Equation.DSMT4">
                    <p:embed/>
                  </p:oleObj>
                </mc:Choice>
                <mc:Fallback>
                  <p:oleObj name="Equation" r:id="rId33" imgW="127000" imgH="114300" progId="Equation.DSMT4">
                    <p:embed/>
                    <p:pic>
                      <p:nvPicPr>
                        <p:cNvPr id="0" name="图片 971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3720"/>
                          <a:ext cx="272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291" name="Object 42"/>
            <p:cNvGraphicFramePr>
              <a:graphicFrameLocks noChangeAspect="1"/>
            </p:cNvGraphicFramePr>
            <p:nvPr/>
          </p:nvGraphicFramePr>
          <p:xfrm>
            <a:off x="2608" y="3385"/>
            <a:ext cx="24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66" name="Equation" r:id="rId35" imgW="127000" imgH="190500" progId="Equation.DSMT4">
                    <p:embed/>
                  </p:oleObj>
                </mc:Choice>
                <mc:Fallback>
                  <p:oleObj name="Equation" r:id="rId35" imgW="127000" imgH="190500" progId="Equation.DSMT4">
                    <p:embed/>
                    <p:pic>
                      <p:nvPicPr>
                        <p:cNvPr id="0" name="图片 971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385"/>
                          <a:ext cx="24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292" name="Object 43"/>
            <p:cNvGraphicFramePr>
              <a:graphicFrameLocks noChangeAspect="1"/>
            </p:cNvGraphicFramePr>
            <p:nvPr/>
          </p:nvGraphicFramePr>
          <p:xfrm>
            <a:off x="2608" y="3675"/>
            <a:ext cx="26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67" name="Equation" r:id="rId37" imgW="127000" imgH="190500" progId="Equation.DSMT4">
                    <p:embed/>
                  </p:oleObj>
                </mc:Choice>
                <mc:Fallback>
                  <p:oleObj name="Equation" r:id="rId37" imgW="127000" imgH="190500" progId="Equation.DSMT4">
                    <p:embed/>
                    <p:pic>
                      <p:nvPicPr>
                        <p:cNvPr id="0" name="图片 971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675"/>
                          <a:ext cx="265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293" name="Object 44"/>
            <p:cNvGraphicFramePr>
              <a:graphicFrameLocks noChangeAspect="1"/>
            </p:cNvGraphicFramePr>
            <p:nvPr/>
          </p:nvGraphicFramePr>
          <p:xfrm>
            <a:off x="3153" y="3385"/>
            <a:ext cx="237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68" name="Equation" r:id="rId39" imgW="139700" imgH="190500" progId="Equation.DSMT4">
                    <p:embed/>
                  </p:oleObj>
                </mc:Choice>
                <mc:Fallback>
                  <p:oleObj name="Equation" r:id="rId39" imgW="139700" imgH="190500" progId="Equation.DSMT4">
                    <p:embed/>
                    <p:pic>
                      <p:nvPicPr>
                        <p:cNvPr id="0" name="图片 971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3" y="3385"/>
                          <a:ext cx="237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294" name="Object 45"/>
            <p:cNvGraphicFramePr>
              <a:graphicFrameLocks noChangeAspect="1"/>
            </p:cNvGraphicFramePr>
            <p:nvPr/>
          </p:nvGraphicFramePr>
          <p:xfrm>
            <a:off x="3198" y="3658"/>
            <a:ext cx="264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69" name="Equation" r:id="rId41" imgW="114300" imgH="215900" progId="Equation.DSMT4">
                    <p:embed/>
                  </p:oleObj>
                </mc:Choice>
                <mc:Fallback>
                  <p:oleObj name="Equation" r:id="rId41" imgW="114300" imgH="215900" progId="Equation.DSMT4">
                    <p:embed/>
                    <p:pic>
                      <p:nvPicPr>
                        <p:cNvPr id="0" name="图片 971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3658"/>
                          <a:ext cx="264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295" name="Object 46"/>
            <p:cNvGraphicFramePr>
              <a:graphicFrameLocks noChangeAspect="1"/>
            </p:cNvGraphicFramePr>
            <p:nvPr/>
          </p:nvGraphicFramePr>
          <p:xfrm>
            <a:off x="4241" y="3385"/>
            <a:ext cx="2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70" name="Equation" r:id="rId43" imgW="88900" imgH="139700" progId="Equation.DSMT4">
                    <p:embed/>
                  </p:oleObj>
                </mc:Choice>
                <mc:Fallback>
                  <p:oleObj name="Equation" r:id="rId43" imgW="88900" imgH="139700" progId="Equation.DSMT4">
                    <p:embed/>
                    <p:pic>
                      <p:nvPicPr>
                        <p:cNvPr id="0" name="图片 971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385"/>
                          <a:ext cx="23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296" name="Object 47"/>
            <p:cNvGraphicFramePr>
              <a:graphicFrameLocks noChangeAspect="1"/>
            </p:cNvGraphicFramePr>
            <p:nvPr/>
          </p:nvGraphicFramePr>
          <p:xfrm>
            <a:off x="4257" y="3692"/>
            <a:ext cx="244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71" name="Equation" r:id="rId45" imgW="88900" imgH="139700" progId="Equation.DSMT4">
                    <p:embed/>
                  </p:oleObj>
                </mc:Choice>
                <mc:Fallback>
                  <p:oleObj name="Equation" r:id="rId45" imgW="88900" imgH="139700" progId="Equation.DSMT4">
                    <p:embed/>
                    <p:pic>
                      <p:nvPicPr>
                        <p:cNvPr id="0" name="图片 971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7" y="3692"/>
                          <a:ext cx="244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297" name="Text Box 48"/>
            <p:cNvSpPr txBox="1">
              <a:spLocks noChangeArrowheads="1"/>
            </p:cNvSpPr>
            <p:nvPr/>
          </p:nvSpPr>
          <p:spPr bwMode="auto">
            <a:xfrm>
              <a:off x="1520" y="3674"/>
              <a:ext cx="1043" cy="3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000000"/>
                  </a:solidFill>
                  <a:ea typeface="楷体_GB2312" pitchFamily="49" charset="-122"/>
                </a:rPr>
                <a:t>steady electric </a:t>
              </a:r>
              <a:endParaRPr kumimoji="1" lang="en-US" altLang="zh-CN" sz="1400" b="1">
                <a:solidFill>
                  <a:srgbClr val="000000"/>
                </a:solidFill>
                <a:ea typeface="楷体_GB2312" pitchFamily="49" charset="-122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000000"/>
                  </a:solidFill>
                  <a:ea typeface="楷体_GB2312" pitchFamily="49" charset="-122"/>
                </a:rPr>
                <a:t>field</a:t>
              </a:r>
              <a:endParaRPr kumimoji="1" lang="en-US" altLang="zh-CN" sz="14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309298" name="Line 49"/>
            <p:cNvSpPr>
              <a:spLocks noChangeShapeType="1"/>
            </p:cNvSpPr>
            <p:nvPr/>
          </p:nvSpPr>
          <p:spPr bwMode="auto">
            <a:xfrm>
              <a:off x="5148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9299" name="Object 50"/>
            <p:cNvGraphicFramePr>
              <a:graphicFrameLocks noChangeAspect="1"/>
            </p:cNvGraphicFramePr>
            <p:nvPr/>
          </p:nvGraphicFramePr>
          <p:xfrm>
            <a:off x="3742" y="3691"/>
            <a:ext cx="24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72" name="Equation" r:id="rId47" imgW="114300" imgH="139700" progId="Equation.DSMT4">
                    <p:embed/>
                  </p:oleObj>
                </mc:Choice>
                <mc:Fallback>
                  <p:oleObj name="Equation" r:id="rId47" imgW="114300" imgH="139700" progId="Equation.DSMT4">
                    <p:embed/>
                    <p:pic>
                      <p:nvPicPr>
                        <p:cNvPr id="0" name="图片 971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3691"/>
                          <a:ext cx="242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300" name="Line 51"/>
            <p:cNvSpPr>
              <a:spLocks noChangeShapeType="1"/>
            </p:cNvSpPr>
            <p:nvPr/>
          </p:nvSpPr>
          <p:spPr bwMode="auto">
            <a:xfrm>
              <a:off x="4649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01" name="Line 52"/>
            <p:cNvSpPr>
              <a:spLocks noChangeShapeType="1"/>
            </p:cNvSpPr>
            <p:nvPr/>
          </p:nvSpPr>
          <p:spPr bwMode="auto">
            <a:xfrm>
              <a:off x="4105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02" name="Line 53"/>
            <p:cNvSpPr>
              <a:spLocks noChangeShapeType="1"/>
            </p:cNvSpPr>
            <p:nvPr/>
          </p:nvSpPr>
          <p:spPr bwMode="auto">
            <a:xfrm>
              <a:off x="3561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03" name="Line 54"/>
            <p:cNvSpPr>
              <a:spLocks noChangeShapeType="1"/>
            </p:cNvSpPr>
            <p:nvPr/>
          </p:nvSpPr>
          <p:spPr bwMode="auto">
            <a:xfrm>
              <a:off x="3016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04" name="Line 55"/>
            <p:cNvSpPr>
              <a:spLocks noChangeShapeType="1"/>
            </p:cNvSpPr>
            <p:nvPr/>
          </p:nvSpPr>
          <p:spPr bwMode="auto">
            <a:xfrm>
              <a:off x="2472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05" name="Line 56"/>
            <p:cNvSpPr>
              <a:spLocks noChangeShapeType="1"/>
            </p:cNvSpPr>
            <p:nvPr/>
          </p:nvSpPr>
          <p:spPr bwMode="auto">
            <a:xfrm>
              <a:off x="1474" y="3357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06" name="Line 57"/>
            <p:cNvSpPr>
              <a:spLocks noChangeShapeType="1"/>
            </p:cNvSpPr>
            <p:nvPr/>
          </p:nvSpPr>
          <p:spPr bwMode="auto">
            <a:xfrm>
              <a:off x="5602" y="3369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9307" name="Object 58"/>
            <p:cNvGraphicFramePr>
              <a:graphicFrameLocks noChangeAspect="1"/>
            </p:cNvGraphicFramePr>
            <p:nvPr/>
          </p:nvGraphicFramePr>
          <p:xfrm>
            <a:off x="5239" y="3714"/>
            <a:ext cx="272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73" name="Equation" r:id="rId49" imgW="139700" imgH="165100" progId="Equation.DSMT4">
                    <p:embed/>
                  </p:oleObj>
                </mc:Choice>
                <mc:Fallback>
                  <p:oleObj name="Equation" r:id="rId49" imgW="139700" imgH="165100" progId="Equation.DSMT4">
                    <p:embed/>
                    <p:pic>
                      <p:nvPicPr>
                        <p:cNvPr id="0" name="图片 971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3714"/>
                          <a:ext cx="272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9308" name="Object 59"/>
            <p:cNvGraphicFramePr>
              <a:graphicFrameLocks noChangeAspect="1"/>
            </p:cNvGraphicFramePr>
            <p:nvPr/>
          </p:nvGraphicFramePr>
          <p:xfrm>
            <a:off x="5284" y="3416"/>
            <a:ext cx="227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174" name="Equation" r:id="rId51" imgW="127000" imgH="165100" progId="Equation.DSMT4">
                    <p:embed/>
                  </p:oleObj>
                </mc:Choice>
                <mc:Fallback>
                  <p:oleObj name="Equation" r:id="rId51" imgW="127000" imgH="165100" progId="Equation.DSMT4">
                    <p:embed/>
                    <p:pic>
                      <p:nvPicPr>
                        <p:cNvPr id="0" name="图片 971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4" y="3416"/>
                          <a:ext cx="227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9309" name="Line 60"/>
            <p:cNvSpPr>
              <a:spLocks noChangeShapeType="1"/>
            </p:cNvSpPr>
            <p:nvPr/>
          </p:nvSpPr>
          <p:spPr bwMode="auto">
            <a:xfrm>
              <a:off x="1474" y="3674"/>
              <a:ext cx="4128" cy="0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10" name="Line 61"/>
            <p:cNvSpPr>
              <a:spLocks noChangeShapeType="1"/>
            </p:cNvSpPr>
            <p:nvPr/>
          </p:nvSpPr>
          <p:spPr bwMode="auto">
            <a:xfrm>
              <a:off x="204" y="3369"/>
              <a:ext cx="5398" cy="0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11" name="Line 62"/>
            <p:cNvSpPr>
              <a:spLocks noChangeShapeType="1"/>
            </p:cNvSpPr>
            <p:nvPr/>
          </p:nvSpPr>
          <p:spPr bwMode="auto">
            <a:xfrm>
              <a:off x="204" y="4004"/>
              <a:ext cx="5398" cy="0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312" name="Line 63"/>
            <p:cNvSpPr>
              <a:spLocks noChangeShapeType="1"/>
            </p:cNvSpPr>
            <p:nvPr/>
          </p:nvSpPr>
          <p:spPr bwMode="auto">
            <a:xfrm>
              <a:off x="204" y="3369"/>
              <a:ext cx="0" cy="635"/>
            </a:xfrm>
            <a:prstGeom prst="line">
              <a:avLst/>
            </a:prstGeom>
            <a:noFill/>
            <a:ln w="31750">
              <a:solidFill>
                <a:srgbClr val="99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09313" name="Object 64"/>
          <p:cNvGraphicFramePr>
            <a:graphicFrameLocks noChangeAspect="1"/>
          </p:cNvGraphicFramePr>
          <p:nvPr/>
        </p:nvGraphicFramePr>
        <p:xfrm>
          <a:off x="3624263" y="1700213"/>
          <a:ext cx="31988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175" name="Equation" r:id="rId53" imgW="2120900" imgH="317500" progId="Equation.DSMT4">
                  <p:embed/>
                </p:oleObj>
              </mc:Choice>
              <mc:Fallback>
                <p:oleObj name="Equation" r:id="rId53" imgW="2120900" imgH="317500" progId="Equation.DSMT4">
                  <p:embed/>
                  <p:pic>
                    <p:nvPicPr>
                      <p:cNvPr id="0" name="图片 97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263" y="1700213"/>
                        <a:ext cx="319881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1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5" name="Text Box 3"/>
          <p:cNvSpPr txBox="1">
            <a:spLocks noChangeArrowheads="1"/>
          </p:cNvSpPr>
          <p:nvPr/>
        </p:nvSpPr>
        <p:spPr bwMode="auto">
          <a:xfrm>
            <a:off x="2208213" y="1773238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Solution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kumimoji="1"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791588" name="Group 36"/>
          <p:cNvGrpSpPr/>
          <p:nvPr/>
        </p:nvGrpSpPr>
        <p:grpSpPr bwMode="auto">
          <a:xfrm>
            <a:off x="5230813" y="4581525"/>
            <a:ext cx="3744912" cy="933450"/>
            <a:chOff x="2435" y="2886"/>
            <a:chExt cx="2622" cy="588"/>
          </a:xfrm>
        </p:grpSpPr>
        <p:sp>
          <p:nvSpPr>
            <p:cNvPr id="310278" name="Text Box 7"/>
            <p:cNvSpPr txBox="1">
              <a:spLocks noChangeArrowheads="1"/>
            </p:cNvSpPr>
            <p:nvPr/>
          </p:nvSpPr>
          <p:spPr bwMode="auto">
            <a:xfrm>
              <a:off x="2435" y="3006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310279" name="Object 8"/>
            <p:cNvGraphicFramePr>
              <a:graphicFrameLocks noChangeAspect="1"/>
            </p:cNvGraphicFramePr>
            <p:nvPr/>
          </p:nvGraphicFramePr>
          <p:xfrm>
            <a:off x="3190" y="2886"/>
            <a:ext cx="1867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56" name="Equation" r:id="rId1" imgW="1384300" imgH="482600" progId="Equation.DSMT4">
                    <p:embed/>
                  </p:oleObj>
                </mc:Choice>
                <mc:Fallback>
                  <p:oleObj name="Equation" r:id="rId1" imgW="1384300" imgH="482600" progId="Equation.DSMT4">
                    <p:embed/>
                    <p:pic>
                      <p:nvPicPr>
                        <p:cNvPr id="0" name="图片 976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0" y="2886"/>
                          <a:ext cx="1867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1589" name="Group 37"/>
          <p:cNvGrpSpPr/>
          <p:nvPr/>
        </p:nvGrpSpPr>
        <p:grpSpPr bwMode="auto">
          <a:xfrm>
            <a:off x="5588001" y="5667376"/>
            <a:ext cx="4252913" cy="785813"/>
            <a:chOff x="2472" y="3570"/>
            <a:chExt cx="2679" cy="495"/>
          </a:xfrm>
        </p:grpSpPr>
        <p:sp>
          <p:nvSpPr>
            <p:cNvPr id="310281" name="Text Box 9"/>
            <p:cNvSpPr txBox="1">
              <a:spLocks noChangeArrowheads="1"/>
            </p:cNvSpPr>
            <p:nvPr/>
          </p:nvSpPr>
          <p:spPr bwMode="auto">
            <a:xfrm>
              <a:off x="2472" y="3702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Resistance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310282" name="Object 10"/>
            <p:cNvGraphicFramePr>
              <a:graphicFrameLocks noChangeAspect="1"/>
            </p:cNvGraphicFramePr>
            <p:nvPr/>
          </p:nvGraphicFramePr>
          <p:xfrm>
            <a:off x="3515" y="3570"/>
            <a:ext cx="1636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57" name="Equation" r:id="rId3" imgW="1498600" imgH="444500" progId="Equation.DSMT4">
                    <p:embed/>
                  </p:oleObj>
                </mc:Choice>
                <mc:Fallback>
                  <p:oleObj name="Equation" r:id="rId3" imgW="1498600" imgH="444500" progId="Equation.DSMT4">
                    <p:embed/>
                    <p:pic>
                      <p:nvPicPr>
                        <p:cNvPr id="0" name="图片 976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570"/>
                          <a:ext cx="1636" cy="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1563" name="Object 11"/>
          <p:cNvGraphicFramePr>
            <a:graphicFrameLocks noChangeAspect="1"/>
          </p:cNvGraphicFramePr>
          <p:nvPr/>
        </p:nvGraphicFramePr>
        <p:xfrm>
          <a:off x="5422901" y="3644901"/>
          <a:ext cx="484981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58" name="Equation" r:id="rId5" imgW="3136900" imgH="495300" progId="Equation.DSMT4">
                  <p:embed/>
                </p:oleObj>
              </mc:Choice>
              <mc:Fallback>
                <p:oleObj name="Equation" r:id="rId5" imgW="3136900" imgH="495300" progId="Equation.DSMT4">
                  <p:embed/>
                  <p:pic>
                    <p:nvPicPr>
                      <p:cNvPr id="0" name="图片 976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1" y="3644901"/>
                        <a:ext cx="4849813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284" name="Line 12"/>
          <p:cNvSpPr>
            <a:spLocks noChangeShapeType="1"/>
          </p:cNvSpPr>
          <p:nvPr/>
        </p:nvSpPr>
        <p:spPr bwMode="auto">
          <a:xfrm>
            <a:off x="2279650" y="4221163"/>
            <a:ext cx="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0285" name="Group 32"/>
          <p:cNvGrpSpPr/>
          <p:nvPr/>
        </p:nvGrpSpPr>
        <p:grpSpPr bwMode="auto">
          <a:xfrm>
            <a:off x="1774826" y="2852738"/>
            <a:ext cx="3241675" cy="2952750"/>
            <a:chOff x="158" y="1525"/>
            <a:chExt cx="2042" cy="1860"/>
          </a:xfrm>
        </p:grpSpPr>
        <p:sp>
          <p:nvSpPr>
            <p:cNvPr id="310286" name="Rectangle 13"/>
            <p:cNvSpPr>
              <a:spLocks noChangeArrowheads="1"/>
            </p:cNvSpPr>
            <p:nvPr/>
          </p:nvSpPr>
          <p:spPr bwMode="auto">
            <a:xfrm>
              <a:off x="158" y="1525"/>
              <a:ext cx="2042" cy="186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310287" name="AutoShape 14"/>
            <p:cNvSpPr>
              <a:spLocks noChangeArrowheads="1"/>
            </p:cNvSpPr>
            <p:nvPr/>
          </p:nvSpPr>
          <p:spPr bwMode="auto">
            <a:xfrm>
              <a:off x="385" y="2070"/>
              <a:ext cx="953" cy="90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3 w 21600"/>
                <a:gd name="T25" fmla="*/ 3171 h 21600"/>
                <a:gd name="T26" fmla="*/ 18427 w 21600"/>
                <a:gd name="T27" fmla="*/ 1842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817" y="10800"/>
                  </a:moveTo>
                  <a:cubicBezTo>
                    <a:pt x="817" y="16313"/>
                    <a:pt x="5287" y="20783"/>
                    <a:pt x="10800" y="20783"/>
                  </a:cubicBezTo>
                  <a:cubicBezTo>
                    <a:pt x="16313" y="20783"/>
                    <a:pt x="20783" y="16313"/>
                    <a:pt x="20783" y="10800"/>
                  </a:cubicBezTo>
                  <a:cubicBezTo>
                    <a:pt x="20783" y="5287"/>
                    <a:pt x="16313" y="817"/>
                    <a:pt x="10800" y="817"/>
                  </a:cubicBezTo>
                  <a:cubicBezTo>
                    <a:pt x="5287" y="817"/>
                    <a:pt x="817" y="5287"/>
                    <a:pt x="817" y="10800"/>
                  </a:cubicBezTo>
                  <a:close/>
                </a:path>
              </a:pathLst>
            </a:custGeom>
            <a:solidFill>
              <a:srgbClr val="FF9900"/>
            </a:solidFill>
            <a:ln w="9525">
              <a:round/>
            </a:ln>
            <a:effectLst/>
            <a:scene3d>
              <a:camera prst="legacyPerspectiveTopRight">
                <a:rot lat="600000" lon="1799995" rev="0"/>
              </a:camera>
              <a:lightRig rig="legacyFlat4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FF9900"/>
              </a:extrusionClr>
              <a:contourClr>
                <a:srgbClr val="FF99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310288" name="Oval 15"/>
            <p:cNvSpPr>
              <a:spLocks noChangeAspect="1" noChangeArrowheads="1"/>
            </p:cNvSpPr>
            <p:nvPr/>
          </p:nvSpPr>
          <p:spPr bwMode="auto">
            <a:xfrm>
              <a:off x="340" y="2093"/>
              <a:ext cx="929" cy="929"/>
            </a:xfrm>
            <a:prstGeom prst="ellipse">
              <a:avLst/>
            </a:prstGeom>
            <a:solidFill>
              <a:srgbClr val="FFBA7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310289" name="Line 16"/>
            <p:cNvSpPr>
              <a:spLocks noChangeShapeType="1"/>
            </p:cNvSpPr>
            <p:nvPr/>
          </p:nvSpPr>
          <p:spPr bwMode="auto">
            <a:xfrm>
              <a:off x="1090" y="1810"/>
              <a:ext cx="49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290" name="Line 17"/>
            <p:cNvSpPr>
              <a:spLocks noChangeShapeType="1"/>
            </p:cNvSpPr>
            <p:nvPr/>
          </p:nvSpPr>
          <p:spPr bwMode="auto">
            <a:xfrm>
              <a:off x="386" y="2098"/>
              <a:ext cx="49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291" name="Line 18"/>
            <p:cNvSpPr>
              <a:spLocks noChangeShapeType="1"/>
            </p:cNvSpPr>
            <p:nvPr/>
          </p:nvSpPr>
          <p:spPr bwMode="auto">
            <a:xfrm flipH="1">
              <a:off x="656" y="1797"/>
              <a:ext cx="728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0292" name="Object 19"/>
            <p:cNvGraphicFramePr>
              <a:graphicFrameLocks noChangeAspect="1"/>
            </p:cNvGraphicFramePr>
            <p:nvPr/>
          </p:nvGraphicFramePr>
          <p:xfrm>
            <a:off x="866" y="1752"/>
            <a:ext cx="109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59" name="Equation" r:id="rId7" imgW="38100" imgH="165100" progId="Equation.3">
                    <p:embed/>
                  </p:oleObj>
                </mc:Choice>
                <mc:Fallback>
                  <p:oleObj name="Equation" r:id="rId7" imgW="38100" imgH="165100" progId="Equation.3">
                    <p:embed/>
                    <p:pic>
                      <p:nvPicPr>
                        <p:cNvPr id="0" name="图片 976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6" y="1752"/>
                          <a:ext cx="109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293" name="Oval 20"/>
            <p:cNvSpPr>
              <a:spLocks noChangeAspect="1" noChangeArrowheads="1"/>
            </p:cNvSpPr>
            <p:nvPr/>
          </p:nvSpPr>
          <p:spPr bwMode="auto">
            <a:xfrm>
              <a:off x="399" y="2153"/>
              <a:ext cx="816" cy="815"/>
            </a:xfrm>
            <a:prstGeom prst="ellipse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310294" name="Oval 21"/>
            <p:cNvSpPr>
              <a:spLocks noChangeAspect="1" noChangeArrowheads="1"/>
            </p:cNvSpPr>
            <p:nvPr/>
          </p:nvSpPr>
          <p:spPr bwMode="auto">
            <a:xfrm>
              <a:off x="581" y="2342"/>
              <a:ext cx="453" cy="453"/>
            </a:xfrm>
            <a:prstGeom prst="ellipse">
              <a:avLst/>
            </a:prstGeom>
            <a:solidFill>
              <a:srgbClr val="FFAB5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graphicFrame>
          <p:nvGraphicFramePr>
            <p:cNvPr id="310295" name="Object 22"/>
            <p:cNvGraphicFramePr>
              <a:graphicFrameLocks noChangeAspect="1"/>
            </p:cNvGraphicFramePr>
            <p:nvPr/>
          </p:nvGraphicFramePr>
          <p:xfrm>
            <a:off x="690" y="2166"/>
            <a:ext cx="197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60" name="Equation" r:id="rId9" imgW="127000" imgH="114300" progId="Equation.3">
                    <p:embed/>
                  </p:oleObj>
                </mc:Choice>
                <mc:Fallback>
                  <p:oleObj name="Equation" r:id="rId9" imgW="127000" imgH="114300" progId="Equation.3">
                    <p:embed/>
                    <p:pic>
                      <p:nvPicPr>
                        <p:cNvPr id="0" name="图片 976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" y="2166"/>
                          <a:ext cx="197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0296" name="Object 23"/>
            <p:cNvGraphicFramePr>
              <a:graphicFrameLocks noChangeAspect="1"/>
            </p:cNvGraphicFramePr>
            <p:nvPr/>
          </p:nvGraphicFramePr>
          <p:xfrm>
            <a:off x="884" y="2212"/>
            <a:ext cx="18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61" name="Equation" r:id="rId11" imgW="88900" imgH="114300" progId="Equation.3">
                    <p:embed/>
                  </p:oleObj>
                </mc:Choice>
                <mc:Fallback>
                  <p:oleObj name="Equation" r:id="rId11" imgW="88900" imgH="114300" progId="Equation.3">
                    <p:embed/>
                    <p:pic>
                      <p:nvPicPr>
                        <p:cNvPr id="0" name="图片 976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2212"/>
                          <a:ext cx="18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297" name="Line 24"/>
            <p:cNvSpPr>
              <a:spLocks noChangeShapeType="1"/>
            </p:cNvSpPr>
            <p:nvPr/>
          </p:nvSpPr>
          <p:spPr bwMode="auto">
            <a:xfrm flipH="1" flipV="1">
              <a:off x="484" y="2296"/>
              <a:ext cx="305" cy="285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298" name="Line 25"/>
            <p:cNvSpPr>
              <a:spLocks noChangeAspect="1" noChangeShapeType="1"/>
            </p:cNvSpPr>
            <p:nvPr/>
          </p:nvSpPr>
          <p:spPr bwMode="auto">
            <a:xfrm flipV="1">
              <a:off x="790" y="2405"/>
              <a:ext cx="199" cy="168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0299" name="Object 26"/>
            <p:cNvGraphicFramePr>
              <a:graphicFrameLocks noChangeAspect="1"/>
            </p:cNvGraphicFramePr>
            <p:nvPr/>
          </p:nvGraphicFramePr>
          <p:xfrm>
            <a:off x="458" y="2365"/>
            <a:ext cx="181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62" name="公式" r:id="rId13" imgW="88900" imgH="165100" progId="Equation.3">
                    <p:embed/>
                  </p:oleObj>
                </mc:Choice>
                <mc:Fallback>
                  <p:oleObj name="公式" r:id="rId13" imgW="88900" imgH="165100" progId="Equation.3">
                    <p:embed/>
                    <p:pic>
                      <p:nvPicPr>
                        <p:cNvPr id="0" name="图片 976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" y="2365"/>
                          <a:ext cx="181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0300" name="Object 27"/>
            <p:cNvGraphicFramePr>
              <a:graphicFrameLocks noChangeAspect="1"/>
            </p:cNvGraphicFramePr>
            <p:nvPr/>
          </p:nvGraphicFramePr>
          <p:xfrm>
            <a:off x="876" y="2480"/>
            <a:ext cx="181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63" name="公式" r:id="rId15" imgW="88900" imgH="114300" progId="Equation.3">
                    <p:embed/>
                  </p:oleObj>
                </mc:Choice>
                <mc:Fallback>
                  <p:oleObj name="公式" r:id="rId15" imgW="88900" imgH="114300" progId="Equation.3">
                    <p:embed/>
                    <p:pic>
                      <p:nvPicPr>
                        <p:cNvPr id="0" name="图片 976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" y="2480"/>
                          <a:ext cx="181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1586" name="Group 34"/>
          <p:cNvGrpSpPr/>
          <p:nvPr/>
        </p:nvGrpSpPr>
        <p:grpSpPr bwMode="auto">
          <a:xfrm>
            <a:off x="4943475" y="2592388"/>
            <a:ext cx="2852738" cy="836612"/>
            <a:chOff x="2400" y="1633"/>
            <a:chExt cx="1551" cy="527"/>
          </a:xfrm>
        </p:grpSpPr>
        <p:sp>
          <p:nvSpPr>
            <p:cNvPr id="310302" name="Text Box 4"/>
            <p:cNvSpPr txBox="1">
              <a:spLocks noChangeArrowheads="1"/>
            </p:cNvSpPr>
            <p:nvPr/>
          </p:nvSpPr>
          <p:spPr bwMode="auto">
            <a:xfrm>
              <a:off x="2400" y="173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endParaRPr kumimoji="1"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310303" name="Object 5"/>
            <p:cNvGraphicFramePr>
              <a:graphicFrameLocks noChangeAspect="1"/>
            </p:cNvGraphicFramePr>
            <p:nvPr/>
          </p:nvGraphicFramePr>
          <p:xfrm>
            <a:off x="2699" y="1769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64" name="Equation" r:id="rId17" imgW="88900" imgH="139700" progId="Equation.DSMT4">
                    <p:embed/>
                  </p:oleObj>
                </mc:Choice>
                <mc:Fallback>
                  <p:oleObj name="Equation" r:id="rId17" imgW="88900" imgH="139700" progId="Equation.DSMT4">
                    <p:embed/>
                    <p:pic>
                      <p:nvPicPr>
                        <p:cNvPr id="0" name="图片 976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1769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0304" name="Object 29"/>
            <p:cNvGraphicFramePr>
              <a:graphicFrameLocks noChangeAspect="1"/>
            </p:cNvGraphicFramePr>
            <p:nvPr/>
          </p:nvGraphicFramePr>
          <p:xfrm>
            <a:off x="3152" y="1633"/>
            <a:ext cx="799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65" name="Equation" r:id="rId19" imgW="736600" imgH="482600" progId="Equation.DSMT4">
                    <p:embed/>
                  </p:oleObj>
                </mc:Choice>
                <mc:Fallback>
                  <p:oleObj name="Equation" r:id="rId19" imgW="736600" imgH="482600" progId="Equation.DSMT4">
                    <p:embed/>
                    <p:pic>
                      <p:nvPicPr>
                        <p:cNvPr id="0" name="图片 976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1633"/>
                          <a:ext cx="799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305" name="AutoShape 30"/>
            <p:cNvSpPr>
              <a:spLocks noChangeArrowheads="1"/>
            </p:cNvSpPr>
            <p:nvPr/>
          </p:nvSpPr>
          <p:spPr bwMode="auto">
            <a:xfrm>
              <a:off x="2880" y="1814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grpSp>
        <p:nvGrpSpPr>
          <p:cNvPr id="791587" name="Group 35"/>
          <p:cNvGrpSpPr/>
          <p:nvPr/>
        </p:nvGrpSpPr>
        <p:grpSpPr bwMode="auto">
          <a:xfrm>
            <a:off x="7824788" y="2592388"/>
            <a:ext cx="2603500" cy="836612"/>
            <a:chOff x="3969" y="1633"/>
            <a:chExt cx="1640" cy="527"/>
          </a:xfrm>
        </p:grpSpPr>
        <p:graphicFrame>
          <p:nvGraphicFramePr>
            <p:cNvPr id="310307" name="Object 28"/>
            <p:cNvGraphicFramePr>
              <a:graphicFrameLocks noChangeAspect="1"/>
            </p:cNvGraphicFramePr>
            <p:nvPr/>
          </p:nvGraphicFramePr>
          <p:xfrm>
            <a:off x="4278" y="1633"/>
            <a:ext cx="1331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66" name="Equation" r:id="rId21" imgW="1282700" imgH="482600" progId="Equation.DSMT4">
                    <p:embed/>
                  </p:oleObj>
                </mc:Choice>
                <mc:Fallback>
                  <p:oleObj name="Equation" r:id="rId21" imgW="1282700" imgH="482600" progId="Equation.DSMT4">
                    <p:embed/>
                    <p:pic>
                      <p:nvPicPr>
                        <p:cNvPr id="0" name="图片 976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8" y="1633"/>
                          <a:ext cx="1331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308" name="AutoShape 31"/>
            <p:cNvSpPr>
              <a:spLocks noChangeArrowheads="1"/>
            </p:cNvSpPr>
            <p:nvPr/>
          </p:nvSpPr>
          <p:spPr bwMode="auto">
            <a:xfrm>
              <a:off x="3969" y="1814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sp>
        <p:nvSpPr>
          <p:cNvPr id="791585" name="Text Box 33"/>
          <p:cNvSpPr txBox="1">
            <a:spLocks noChangeArrowheads="1"/>
          </p:cNvSpPr>
          <p:nvPr/>
        </p:nvSpPr>
        <p:spPr bwMode="auto">
          <a:xfrm>
            <a:off x="3863975" y="1773239"/>
            <a:ext cx="63007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Assume the current flowing from the inner conductor to the outer conductor is I.</a:t>
            </a:r>
            <a:r>
              <a:rPr kumimoji="1" lang="en-US" altLang="zh-CN" sz="2400">
                <a:latin typeface="Times New Roman" panose="02020603050405020304" pitchFamily="18" charset="0"/>
              </a:rPr>
              <a:t> 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310310" name="Text Box 38"/>
          <p:cNvSpPr txBox="1">
            <a:spLocks noChangeArrowheads="1"/>
          </p:cNvSpPr>
          <p:nvPr/>
        </p:nvSpPr>
        <p:spPr bwMode="auto">
          <a:xfrm>
            <a:off x="1919289" y="260351"/>
            <a:ext cx="835342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Ex.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The inner and outer radius is </a:t>
            </a:r>
            <a:r>
              <a:rPr kumimoji="1" lang="en-US" altLang="zh-CN" sz="2400" b="1" i="1">
                <a:solidFill>
                  <a:srgbClr val="000000"/>
                </a:solidFill>
              </a:rPr>
              <a:t>a </a:t>
            </a:r>
            <a:r>
              <a:rPr kumimoji="1" lang="zh-CN" altLang="en-US" sz="2400" b="1">
                <a:solidFill>
                  <a:srgbClr val="000000"/>
                </a:solidFill>
              </a:rPr>
              <a:t>、</a:t>
            </a:r>
            <a:r>
              <a:rPr kumimoji="1" lang="en-US" altLang="zh-CN" sz="2400" b="1" i="1">
                <a:solidFill>
                  <a:srgbClr val="000000"/>
                </a:solidFill>
              </a:rPr>
              <a:t>b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</a:rPr>
              <a:t>, length is </a:t>
            </a:r>
            <a:r>
              <a:rPr kumimoji="1" lang="en-US" altLang="zh-CN" sz="2400" b="1" i="1">
                <a:solidFill>
                  <a:srgbClr val="000000"/>
                </a:solidFill>
              </a:rPr>
              <a:t>l</a:t>
            </a:r>
            <a:r>
              <a:rPr kumimoji="1" lang="en-US" altLang="en-US" sz="2400" b="1">
                <a:solidFill>
                  <a:srgbClr val="000000"/>
                </a:solidFill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</a:rPr>
              <a:t>, the medium between has permittivity of </a:t>
            </a:r>
            <a:r>
              <a:rPr kumimoji="1" lang="el-GR" altLang="zh-CN" sz="2400" b="1" i="1">
                <a:solidFill>
                  <a:srgbClr val="000000"/>
                </a:solidFill>
              </a:rPr>
              <a:t>ε</a:t>
            </a:r>
            <a:r>
              <a:rPr kumimoji="1" lang="en-US" altLang="zh-CN" sz="2400" b="1">
                <a:solidFill>
                  <a:srgbClr val="000000"/>
                </a:solidFill>
              </a:rPr>
              <a:t> and conductivity of </a:t>
            </a:r>
            <a:r>
              <a:rPr kumimoji="1" lang="el-GR" altLang="zh-CN" sz="2400" b="1" i="1">
                <a:solidFill>
                  <a:srgbClr val="000000"/>
                </a:solidFill>
              </a:rPr>
              <a:t>σ</a:t>
            </a:r>
            <a:r>
              <a:rPr kumimoji="1" lang="en-US" altLang="zh-CN" sz="2400" b="1" i="1">
                <a:solidFill>
                  <a:srgbClr val="000000"/>
                </a:solidFill>
              </a:rPr>
              <a:t>.  </a:t>
            </a:r>
            <a:r>
              <a:rPr kumimoji="1" lang="en-US" altLang="zh-CN" sz="2400" b="1">
                <a:solidFill>
                  <a:srgbClr val="000000"/>
                </a:solidFill>
              </a:rPr>
              <a:t>Find the resistance of coaxial line </a:t>
            </a:r>
            <a:endParaRPr kumimoji="1" lang="en-US" altLang="zh-CN" sz="2400" b="1">
              <a:solidFill>
                <a:srgbClr val="000000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08670" y="734292"/>
            <a:ext cx="159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Example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0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0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79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79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9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79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79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0"/>
                                        <p:tgtEl>
                                          <p:spTgt spid="79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0"/>
                                        <p:tgtEl>
                                          <p:spTgt spid="79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555" grpId="0"/>
      <p:bldP spid="791585" grpId="0"/>
      <p:bldP spid="31031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Text Box 2"/>
          <p:cNvSpPr txBox="1">
            <a:spLocks noChangeArrowheads="1"/>
          </p:cNvSpPr>
          <p:nvPr/>
        </p:nvSpPr>
        <p:spPr bwMode="auto">
          <a:xfrm>
            <a:off x="1524000" y="188914"/>
            <a:ext cx="9144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Ex</a:t>
            </a:r>
            <a:r>
              <a:rPr kumimoji="1" lang="en-US" altLang="zh-CN" sz="2400" b="1">
                <a:solidFill>
                  <a:srgbClr val="3333FF"/>
                </a:solidFill>
                <a:ea typeface="楷体_GB2312" pitchFamily="49" charset="-122"/>
              </a:rPr>
              <a:t>.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A quarter of a flat circular conducting washer is shown in the figure. Calculate the resistance between two end faces.</a:t>
            </a:r>
            <a:endParaRPr kumimoji="1" lang="en-US" altLang="zh-CN" sz="2400" b="1">
              <a:solidFill>
                <a:srgbClr val="000000"/>
              </a:solidFill>
              <a:ea typeface="楷体_GB2312" pitchFamily="49" charset="-122"/>
            </a:endParaRPr>
          </a:p>
        </p:txBody>
      </p:sp>
      <p:grpSp>
        <p:nvGrpSpPr>
          <p:cNvPr id="337923" name="Group 3"/>
          <p:cNvGrpSpPr/>
          <p:nvPr/>
        </p:nvGrpSpPr>
        <p:grpSpPr bwMode="auto">
          <a:xfrm>
            <a:off x="2116138" y="1489075"/>
            <a:ext cx="2971800" cy="2438400"/>
            <a:chOff x="624" y="816"/>
            <a:chExt cx="1872" cy="1536"/>
          </a:xfrm>
        </p:grpSpPr>
        <p:sp>
          <p:nvSpPr>
            <p:cNvPr id="337924" name="Rectangle 4"/>
            <p:cNvSpPr>
              <a:spLocks noChangeArrowheads="1"/>
            </p:cNvSpPr>
            <p:nvPr/>
          </p:nvSpPr>
          <p:spPr bwMode="auto">
            <a:xfrm>
              <a:off x="624" y="1444"/>
              <a:ext cx="116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37925" name="Group 5"/>
            <p:cNvGrpSpPr/>
            <p:nvPr/>
          </p:nvGrpSpPr>
          <p:grpSpPr bwMode="auto">
            <a:xfrm>
              <a:off x="672" y="816"/>
              <a:ext cx="1824" cy="1536"/>
              <a:chOff x="672" y="1248"/>
              <a:chExt cx="1824" cy="1536"/>
            </a:xfrm>
          </p:grpSpPr>
          <p:sp>
            <p:nvSpPr>
              <p:cNvPr id="337926" name="Arc 6"/>
              <p:cNvSpPr/>
              <p:nvPr/>
            </p:nvSpPr>
            <p:spPr bwMode="auto">
              <a:xfrm>
                <a:off x="1055" y="1548"/>
                <a:ext cx="882" cy="863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CC00"/>
              </a:solidFill>
              <a:ln w="19050">
                <a:solidFill>
                  <a:srgbClr val="000000"/>
                </a:solidFill>
                <a:round/>
                <a:tailEnd type="non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27" name="Arc 7"/>
              <p:cNvSpPr/>
              <p:nvPr/>
            </p:nvSpPr>
            <p:spPr bwMode="auto">
              <a:xfrm>
                <a:off x="1055" y="1761"/>
                <a:ext cx="665" cy="65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tailEnd type="non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28" name="Line 8"/>
              <p:cNvSpPr>
                <a:spLocks noChangeShapeType="1"/>
              </p:cNvSpPr>
              <p:nvPr/>
            </p:nvSpPr>
            <p:spPr bwMode="auto">
              <a:xfrm flipV="1">
                <a:off x="1055" y="2023"/>
                <a:ext cx="652" cy="3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29" name="Line 9"/>
              <p:cNvSpPr>
                <a:spLocks noChangeShapeType="1"/>
              </p:cNvSpPr>
              <p:nvPr/>
            </p:nvSpPr>
            <p:spPr bwMode="auto">
              <a:xfrm>
                <a:off x="1068" y="1548"/>
                <a:ext cx="0" cy="21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30" name="Line 10"/>
              <p:cNvSpPr>
                <a:spLocks noChangeShapeType="1"/>
              </p:cNvSpPr>
              <p:nvPr/>
            </p:nvSpPr>
            <p:spPr bwMode="auto">
              <a:xfrm>
                <a:off x="1720" y="2411"/>
                <a:ext cx="21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31" name="Freeform 11"/>
              <p:cNvSpPr/>
              <p:nvPr/>
            </p:nvSpPr>
            <p:spPr bwMode="auto">
              <a:xfrm>
                <a:off x="1260" y="2286"/>
                <a:ext cx="43" cy="125"/>
              </a:xfrm>
              <a:custGeom>
                <a:avLst/>
                <a:gdLst>
                  <a:gd name="T0" fmla="*/ 40 w 67"/>
                  <a:gd name="T1" fmla="*/ 200 h 200"/>
                  <a:gd name="T2" fmla="*/ 60 w 67"/>
                  <a:gd name="T3" fmla="*/ 80 h 200"/>
                  <a:gd name="T4" fmla="*/ 0 w 67"/>
                  <a:gd name="T5" fmla="*/ 0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67" h="200">
                    <a:moveTo>
                      <a:pt x="40" y="200"/>
                    </a:moveTo>
                    <a:cubicBezTo>
                      <a:pt x="53" y="156"/>
                      <a:pt x="67" y="113"/>
                      <a:pt x="60" y="80"/>
                    </a:cubicBezTo>
                    <a:cubicBezTo>
                      <a:pt x="53" y="47"/>
                      <a:pt x="26" y="23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32" name="Line 12"/>
              <p:cNvSpPr>
                <a:spLocks noChangeShapeType="1"/>
              </p:cNvSpPr>
              <p:nvPr/>
            </p:nvSpPr>
            <p:spPr bwMode="auto">
              <a:xfrm>
                <a:off x="1064" y="2411"/>
                <a:ext cx="0" cy="2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33" name="Line 13"/>
              <p:cNvSpPr>
                <a:spLocks noChangeShapeType="1"/>
              </p:cNvSpPr>
              <p:nvPr/>
            </p:nvSpPr>
            <p:spPr bwMode="auto">
              <a:xfrm>
                <a:off x="1720" y="2411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34" name="Line 14"/>
              <p:cNvSpPr>
                <a:spLocks noChangeShapeType="1"/>
              </p:cNvSpPr>
              <p:nvPr/>
            </p:nvSpPr>
            <p:spPr bwMode="auto">
              <a:xfrm>
                <a:off x="1937" y="2398"/>
                <a:ext cx="0" cy="2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35" name="Line 15"/>
              <p:cNvSpPr>
                <a:spLocks noChangeShapeType="1"/>
              </p:cNvSpPr>
              <p:nvPr/>
            </p:nvSpPr>
            <p:spPr bwMode="auto">
              <a:xfrm>
                <a:off x="1464" y="2486"/>
                <a:ext cx="25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36" name="Line 16"/>
              <p:cNvSpPr>
                <a:spLocks noChangeShapeType="1"/>
              </p:cNvSpPr>
              <p:nvPr/>
            </p:nvSpPr>
            <p:spPr bwMode="auto">
              <a:xfrm flipH="1">
                <a:off x="1073" y="2486"/>
                <a:ext cx="2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37" name="Line 17"/>
              <p:cNvSpPr>
                <a:spLocks noChangeShapeType="1"/>
              </p:cNvSpPr>
              <p:nvPr/>
            </p:nvSpPr>
            <p:spPr bwMode="auto">
              <a:xfrm>
                <a:off x="1656" y="2598"/>
                <a:ext cx="29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38" name="Line 18"/>
              <p:cNvSpPr>
                <a:spLocks noChangeShapeType="1"/>
              </p:cNvSpPr>
              <p:nvPr/>
            </p:nvSpPr>
            <p:spPr bwMode="auto">
              <a:xfrm flipH="1">
                <a:off x="1073" y="2598"/>
                <a:ext cx="3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39" name="Rectangle 19" descr="浅色上对角线"/>
              <p:cNvSpPr>
                <a:spLocks noChangeArrowheads="1"/>
              </p:cNvSpPr>
              <p:nvPr/>
            </p:nvSpPr>
            <p:spPr bwMode="auto">
              <a:xfrm>
                <a:off x="787" y="1548"/>
                <a:ext cx="141" cy="213"/>
              </a:xfrm>
              <a:prstGeom prst="rect">
                <a:avLst/>
              </a:prstGeom>
              <a:pattFill prst="ltUpDiag">
                <a:fgClr>
                  <a:srgbClr val="FFCC00"/>
                </a:fgClr>
                <a:bgClr>
                  <a:srgbClr val="FFFFFF"/>
                </a:bgClr>
              </a:pattFill>
              <a:ln w="19050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40" name="Line 20"/>
              <p:cNvSpPr>
                <a:spLocks noChangeShapeType="1"/>
              </p:cNvSpPr>
              <p:nvPr/>
            </p:nvSpPr>
            <p:spPr bwMode="auto">
              <a:xfrm flipH="1">
                <a:off x="928" y="1761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41" name="Line 21"/>
              <p:cNvSpPr>
                <a:spLocks noChangeShapeType="1"/>
              </p:cNvSpPr>
              <p:nvPr/>
            </p:nvSpPr>
            <p:spPr bwMode="auto">
              <a:xfrm flipH="1">
                <a:off x="787" y="1761"/>
                <a:ext cx="0" cy="1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42" name="Line 22"/>
              <p:cNvSpPr>
                <a:spLocks noChangeShapeType="1"/>
              </p:cNvSpPr>
              <p:nvPr/>
            </p:nvSpPr>
            <p:spPr bwMode="auto">
              <a:xfrm>
                <a:off x="672" y="1836"/>
                <a:ext cx="11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43" name="Line 23"/>
              <p:cNvSpPr>
                <a:spLocks noChangeShapeType="1"/>
              </p:cNvSpPr>
              <p:nvPr/>
            </p:nvSpPr>
            <p:spPr bwMode="auto">
              <a:xfrm flipH="1">
                <a:off x="928" y="1842"/>
                <a:ext cx="10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44" name="Text Box 24"/>
              <p:cNvSpPr txBox="1">
                <a:spLocks noChangeArrowheads="1"/>
              </p:cNvSpPr>
              <p:nvPr/>
            </p:nvSpPr>
            <p:spPr bwMode="auto">
              <a:xfrm>
                <a:off x="912" y="1565"/>
                <a:ext cx="294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</a:rPr>
                  <a:t>U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7945" name="Text Box 25"/>
              <p:cNvSpPr txBox="1">
                <a:spLocks noChangeArrowheads="1"/>
              </p:cNvSpPr>
              <p:nvPr/>
            </p:nvSpPr>
            <p:spPr bwMode="auto">
              <a:xfrm>
                <a:off x="906" y="1248"/>
                <a:ext cx="294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</a:rPr>
                  <a:t>y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7946" name="Text Box 26"/>
              <p:cNvSpPr txBox="1">
                <a:spLocks noChangeArrowheads="1"/>
              </p:cNvSpPr>
              <p:nvPr/>
            </p:nvSpPr>
            <p:spPr bwMode="auto">
              <a:xfrm>
                <a:off x="2202" y="2292"/>
                <a:ext cx="294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</a:rPr>
                  <a:t>x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7947" name="Text Box 27"/>
              <p:cNvSpPr txBox="1">
                <a:spLocks noChangeArrowheads="1"/>
              </p:cNvSpPr>
              <p:nvPr/>
            </p:nvSpPr>
            <p:spPr bwMode="auto">
              <a:xfrm>
                <a:off x="787" y="1724"/>
                <a:ext cx="294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</a:rPr>
                  <a:t>t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7948" name="Text Box 28"/>
              <p:cNvSpPr txBox="1">
                <a:spLocks noChangeArrowheads="1"/>
              </p:cNvSpPr>
              <p:nvPr/>
            </p:nvSpPr>
            <p:spPr bwMode="auto">
              <a:xfrm>
                <a:off x="1290" y="2379"/>
                <a:ext cx="294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</a:rPr>
                  <a:t>a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7949" name="Text Box 29"/>
              <p:cNvSpPr txBox="1">
                <a:spLocks noChangeArrowheads="1"/>
              </p:cNvSpPr>
              <p:nvPr/>
            </p:nvSpPr>
            <p:spPr bwMode="auto">
              <a:xfrm>
                <a:off x="1435" y="2484"/>
                <a:ext cx="293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</a:rPr>
                  <a:t>b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7950" name="Text Box 30"/>
              <p:cNvSpPr txBox="1">
                <a:spLocks noChangeArrowheads="1"/>
              </p:cNvSpPr>
              <p:nvPr/>
            </p:nvSpPr>
            <p:spPr bwMode="auto">
              <a:xfrm>
                <a:off x="1290" y="2196"/>
                <a:ext cx="294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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7951" name="Text Box 31"/>
              <p:cNvSpPr txBox="1">
                <a:spLocks noChangeArrowheads="1"/>
              </p:cNvSpPr>
              <p:nvPr/>
            </p:nvSpPr>
            <p:spPr bwMode="auto">
              <a:xfrm>
                <a:off x="1273" y="1986"/>
                <a:ext cx="293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 i="1">
                    <a:latin typeface="Times New Roman" panose="02020603050405020304" pitchFamily="18" charset="0"/>
                  </a:rPr>
                  <a:t>r</a:t>
                </a:r>
                <a:endParaRPr lang="en-US" altLang="zh-CN" sz="16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7952" name="Text Box 32"/>
              <p:cNvSpPr txBox="1">
                <a:spLocks noChangeArrowheads="1"/>
              </p:cNvSpPr>
              <p:nvPr/>
            </p:nvSpPr>
            <p:spPr bwMode="auto">
              <a:xfrm>
                <a:off x="1737" y="2361"/>
                <a:ext cx="294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>
                    <a:latin typeface="Times New Roman" panose="02020603050405020304" pitchFamily="18" charset="0"/>
                  </a:rPr>
                  <a:t>0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7953" name="Oval 33"/>
              <p:cNvSpPr>
                <a:spLocks noChangeArrowheads="1"/>
              </p:cNvSpPr>
              <p:nvPr/>
            </p:nvSpPr>
            <p:spPr bwMode="auto">
              <a:xfrm>
                <a:off x="1694" y="2011"/>
                <a:ext cx="26" cy="2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54" name="Text Box 34"/>
              <p:cNvSpPr txBox="1">
                <a:spLocks noChangeArrowheads="1"/>
              </p:cNvSpPr>
              <p:nvPr/>
            </p:nvSpPr>
            <p:spPr bwMode="auto">
              <a:xfrm>
                <a:off x="1473" y="1812"/>
                <a:ext cx="447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,</a:t>
                </a:r>
                <a:r>
                  <a:rPr lang="en-US" altLang="zh-CN" sz="16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</a:t>
                </a:r>
                <a:r>
                  <a:rPr lang="en-US" altLang="zh-CN" sz="1600">
                    <a:latin typeface="Times New Roman" panose="02020603050405020304" pitchFamily="18" charset="0"/>
                  </a:rPr>
                  <a:t>)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7955" name="Text Box 35"/>
              <p:cNvSpPr txBox="1">
                <a:spLocks noChangeArrowheads="1"/>
              </p:cNvSpPr>
              <p:nvPr/>
            </p:nvSpPr>
            <p:spPr bwMode="auto">
              <a:xfrm>
                <a:off x="876" y="2291"/>
                <a:ext cx="294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sz="1600">
                    <a:latin typeface="Times New Roman" panose="02020603050405020304" pitchFamily="18" charset="0"/>
                  </a:rPr>
                  <a:t>0</a:t>
                </a:r>
                <a:endParaRPr lang="en-US" altLang="zh-CN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7956" name="Line 36"/>
              <p:cNvSpPr>
                <a:spLocks noChangeShapeType="1"/>
              </p:cNvSpPr>
              <p:nvPr/>
            </p:nvSpPr>
            <p:spPr bwMode="auto">
              <a:xfrm>
                <a:off x="1055" y="2411"/>
                <a:ext cx="11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957" name="Line 37"/>
              <p:cNvSpPr>
                <a:spLocks noChangeShapeType="1"/>
              </p:cNvSpPr>
              <p:nvPr/>
            </p:nvSpPr>
            <p:spPr bwMode="auto">
              <a:xfrm flipV="1">
                <a:off x="1059" y="1348"/>
                <a:ext cx="0" cy="10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37958" name="Text Box 38"/>
          <p:cNvSpPr txBox="1">
            <a:spLocks noChangeArrowheads="1"/>
          </p:cNvSpPr>
          <p:nvPr/>
        </p:nvSpPr>
        <p:spPr bwMode="auto">
          <a:xfrm>
            <a:off x="5303839" y="1341439"/>
            <a:ext cx="50069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FF0000"/>
                </a:solidFill>
                <a:ea typeface="楷体_GB2312" pitchFamily="49" charset="-122"/>
              </a:rPr>
              <a:t>      Solution</a:t>
            </a:r>
            <a:r>
              <a:rPr kumimoji="1" lang="en-US" altLang="zh-CN" sz="2000" b="1">
                <a:solidFill>
                  <a:srgbClr val="3333FF"/>
                </a:solidFill>
                <a:ea typeface="楷体_GB2312" pitchFamily="49" charset="-122"/>
              </a:rPr>
              <a:t>: The cylindrical coordinate system should be selected. Assume the electric potential difference between two end faces is </a:t>
            </a:r>
            <a:r>
              <a:rPr kumimoji="1" lang="en-US" altLang="zh-CN" sz="2000" i="1">
                <a:ea typeface="楷体_GB2312" pitchFamily="49" charset="-122"/>
              </a:rPr>
              <a:t>U</a:t>
            </a:r>
            <a:r>
              <a:rPr kumimoji="1" lang="en-US" altLang="zh-CN" sz="2000" b="1">
                <a:solidFill>
                  <a:srgbClr val="3333FF"/>
                </a:solidFill>
                <a:ea typeface="楷体_GB2312" pitchFamily="49" charset="-122"/>
              </a:rPr>
              <a:t>, and let</a:t>
            </a:r>
            <a:endParaRPr kumimoji="1" lang="en-US" altLang="zh-CN" sz="2000" b="1">
              <a:solidFill>
                <a:srgbClr val="3333FF"/>
              </a:solidFill>
              <a:ea typeface="楷体_GB2312" pitchFamily="49" charset="-122"/>
            </a:endParaRPr>
          </a:p>
        </p:txBody>
      </p:sp>
      <p:sp>
        <p:nvSpPr>
          <p:cNvPr id="337959" name="Text Box 39"/>
          <p:cNvSpPr txBox="1">
            <a:spLocks noChangeArrowheads="1"/>
          </p:cNvSpPr>
          <p:nvPr/>
        </p:nvSpPr>
        <p:spPr bwMode="auto">
          <a:xfrm>
            <a:off x="2438400" y="4038601"/>
            <a:ext cx="74676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3333FF"/>
                </a:solidFill>
                <a:ea typeface="楷体_GB2312" pitchFamily="49" charset="-122"/>
              </a:rPr>
              <a:t>       Since the electric potential </a:t>
            </a:r>
            <a:r>
              <a:rPr kumimoji="1" lang="en-US" altLang="zh-CN" sz="2000" i="1"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kumimoji="1" lang="en-US" altLang="zh-CN" sz="2000" i="1">
                <a:ea typeface="楷体_GB2312" pitchFamily="49" charset="-122"/>
              </a:rPr>
              <a:t> </a:t>
            </a:r>
            <a:r>
              <a:rPr kumimoji="1" lang="en-US" altLang="zh-CN" sz="2000" b="1">
                <a:solidFill>
                  <a:srgbClr val="3333FF"/>
                </a:solidFill>
                <a:ea typeface="楷体_GB2312" pitchFamily="49" charset="-122"/>
              </a:rPr>
              <a:t>is related to the angle </a:t>
            </a:r>
            <a:r>
              <a:rPr kumimoji="1" lang="en-US" altLang="zh-CN" sz="2000" i="1">
                <a:ea typeface="楷体_GB2312" pitchFamily="49" charset="-122"/>
                <a:sym typeface="Symbol" panose="05050102010706020507" pitchFamily="18" charset="2"/>
              </a:rPr>
              <a:t></a:t>
            </a:r>
            <a:r>
              <a:rPr kumimoji="1" lang="en-US" altLang="zh-CN" sz="2000" b="1">
                <a:solidFill>
                  <a:srgbClr val="3333FF"/>
                </a:solidFill>
                <a:ea typeface="楷体_GB2312" pitchFamily="49" charset="-122"/>
              </a:rPr>
              <a:t>, it should satisfy the following equation</a:t>
            </a:r>
            <a:endParaRPr kumimoji="1" lang="en-US" altLang="zh-CN" sz="2000" b="1">
              <a:solidFill>
                <a:srgbClr val="3333FF"/>
              </a:solidFill>
              <a:ea typeface="楷体_GB2312" pitchFamily="49" charset="-122"/>
            </a:endParaRPr>
          </a:p>
        </p:txBody>
      </p:sp>
      <p:grpSp>
        <p:nvGrpSpPr>
          <p:cNvPr id="337961" name="Group 41"/>
          <p:cNvGrpSpPr/>
          <p:nvPr/>
        </p:nvGrpSpPr>
        <p:grpSpPr bwMode="auto">
          <a:xfrm>
            <a:off x="2425700" y="5715001"/>
            <a:ext cx="4965700" cy="549275"/>
            <a:chOff x="568" y="3600"/>
            <a:chExt cx="2744" cy="346"/>
          </a:xfrm>
        </p:grpSpPr>
        <p:sp>
          <p:nvSpPr>
            <p:cNvPr id="337962" name="Text Box 42"/>
            <p:cNvSpPr txBox="1">
              <a:spLocks noChangeArrowheads="1"/>
            </p:cNvSpPr>
            <p:nvPr/>
          </p:nvSpPr>
          <p:spPr bwMode="auto">
            <a:xfrm>
              <a:off x="568" y="3600"/>
              <a:ext cx="172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ea typeface="楷体_GB2312" pitchFamily="49" charset="-122"/>
                </a:rPr>
                <a:t>The general solution is</a:t>
              </a:r>
              <a:endParaRPr kumimoji="1" lang="en-US" altLang="zh-CN" sz="20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337963" name="Object 43"/>
            <p:cNvGraphicFramePr>
              <a:graphicFrameLocks noChangeAspect="1"/>
            </p:cNvGraphicFramePr>
            <p:nvPr/>
          </p:nvGraphicFramePr>
          <p:xfrm>
            <a:off x="2400" y="3696"/>
            <a:ext cx="912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505" name="" r:id="rId1" imgW="824865" imgH="215900" progId="Equation.3">
                    <p:embed/>
                  </p:oleObj>
                </mc:Choice>
                <mc:Fallback>
                  <p:oleObj name="" r:id="rId1" imgW="824865" imgH="215900" progId="Equation.3">
                    <p:embed/>
                    <p:pic>
                      <p:nvPicPr>
                        <p:cNvPr id="0" name="图片 985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3696"/>
                          <a:ext cx="912" cy="2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7964" name="Group 44"/>
          <p:cNvGrpSpPr/>
          <p:nvPr/>
        </p:nvGrpSpPr>
        <p:grpSpPr bwMode="auto">
          <a:xfrm>
            <a:off x="5519738" y="2971801"/>
            <a:ext cx="4773612" cy="473075"/>
            <a:chOff x="2640" y="1872"/>
            <a:chExt cx="2736" cy="298"/>
          </a:xfrm>
        </p:grpSpPr>
        <p:sp>
          <p:nvSpPr>
            <p:cNvPr id="337965" name="Text Box 45"/>
            <p:cNvSpPr txBox="1">
              <a:spLocks noChangeArrowheads="1"/>
            </p:cNvSpPr>
            <p:nvPr/>
          </p:nvSpPr>
          <p:spPr bwMode="auto">
            <a:xfrm>
              <a:off x="2640" y="1872"/>
              <a:ext cx="273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kumimoji="1" lang="en-US" sz="2000" b="1">
                  <a:solidFill>
                    <a:srgbClr val="000000"/>
                  </a:solidFill>
                  <a:ea typeface="楷体_GB2312" pitchFamily="49" charset="-122"/>
                </a:rPr>
                <a:t>The electric potential            at</a:t>
              </a:r>
              <a:r>
                <a:rPr kumimoji="1" lang="en-US" sz="2000" b="1">
                  <a:solidFill>
                    <a:srgbClr val="3333FF"/>
                  </a:solidFill>
                  <a:ea typeface="楷体_GB2312" pitchFamily="49" charset="-122"/>
                </a:rPr>
                <a:t>  </a:t>
              </a:r>
              <a:endParaRPr kumimoji="1" lang="en-US" sz="2000" b="1">
                <a:solidFill>
                  <a:srgbClr val="3333FF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337966" name="Object 46"/>
            <p:cNvGraphicFramePr>
              <a:graphicFrameLocks noChangeAspect="1"/>
            </p:cNvGraphicFramePr>
            <p:nvPr/>
          </p:nvGraphicFramePr>
          <p:xfrm>
            <a:off x="4176" y="1929"/>
            <a:ext cx="421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506" name="Equation" r:id="rId3" imgW="431800" imgH="215900" progId="Equation.3">
                    <p:embed/>
                  </p:oleObj>
                </mc:Choice>
                <mc:Fallback>
                  <p:oleObj name="Equation" r:id="rId3" imgW="431800" imgH="215900" progId="Equation.3">
                    <p:embed/>
                    <p:pic>
                      <p:nvPicPr>
                        <p:cNvPr id="0" name="图片 985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929"/>
                          <a:ext cx="421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67" name="Object 47"/>
            <p:cNvGraphicFramePr>
              <a:graphicFrameLocks noChangeAspect="1"/>
            </p:cNvGraphicFramePr>
            <p:nvPr/>
          </p:nvGraphicFramePr>
          <p:xfrm>
            <a:off x="4800" y="1960"/>
            <a:ext cx="365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507" name="Equation" r:id="rId5" imgW="368300" imgH="203200" progId="Equation.3">
                    <p:embed/>
                  </p:oleObj>
                </mc:Choice>
                <mc:Fallback>
                  <p:oleObj name="Equation" r:id="rId5" imgW="368300" imgH="203200" progId="Equation.3">
                    <p:embed/>
                    <p:pic>
                      <p:nvPicPr>
                        <p:cNvPr id="0" name="图片 985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1960"/>
                          <a:ext cx="365" cy="1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7968" name="Group 48"/>
          <p:cNvGrpSpPr/>
          <p:nvPr/>
        </p:nvGrpSpPr>
        <p:grpSpPr bwMode="auto">
          <a:xfrm>
            <a:off x="5519738" y="3479800"/>
            <a:ext cx="4413250" cy="609600"/>
            <a:chOff x="2640" y="2192"/>
            <a:chExt cx="2536" cy="384"/>
          </a:xfrm>
        </p:grpSpPr>
        <p:sp>
          <p:nvSpPr>
            <p:cNvPr id="337969" name="Text Box 49"/>
            <p:cNvSpPr txBox="1">
              <a:spLocks noChangeArrowheads="1"/>
            </p:cNvSpPr>
            <p:nvPr/>
          </p:nvSpPr>
          <p:spPr bwMode="auto">
            <a:xfrm>
              <a:off x="2640" y="2208"/>
              <a:ext cx="2256" cy="2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spcBef>
                  <a:spcPct val="50000"/>
                </a:spcBef>
              </a:pPr>
              <a:r>
                <a:rPr kumimoji="1" lang="en-US" sz="2000" b="1">
                  <a:solidFill>
                    <a:srgbClr val="000000"/>
                  </a:solidFill>
                  <a:ea typeface="楷体_GB2312" pitchFamily="49" charset="-122"/>
                </a:rPr>
                <a:t>The electric potential            at</a:t>
              </a:r>
              <a:endParaRPr kumimoji="1" lang="en-US" sz="20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337970" name="Object 50"/>
            <p:cNvGraphicFramePr>
              <a:graphicFrameLocks noChangeAspect="1"/>
            </p:cNvGraphicFramePr>
            <p:nvPr/>
          </p:nvGraphicFramePr>
          <p:xfrm>
            <a:off x="4176" y="2256"/>
            <a:ext cx="459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508" name="Equation" r:id="rId7" imgW="469900" imgH="215900" progId="Equation.3">
                    <p:embed/>
                  </p:oleObj>
                </mc:Choice>
                <mc:Fallback>
                  <p:oleObj name="Equation" r:id="rId7" imgW="469900" imgH="215900" progId="Equation.3">
                    <p:embed/>
                    <p:pic>
                      <p:nvPicPr>
                        <p:cNvPr id="0" name="图片 985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256"/>
                          <a:ext cx="459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7971" name="Object 51"/>
            <p:cNvGraphicFramePr>
              <a:graphicFrameLocks noChangeAspect="1"/>
            </p:cNvGraphicFramePr>
            <p:nvPr/>
          </p:nvGraphicFramePr>
          <p:xfrm>
            <a:off x="4792" y="2192"/>
            <a:ext cx="38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509" name="Equation" r:id="rId9" imgW="393700" imgH="393700" progId="Equation.3">
                    <p:embed/>
                  </p:oleObj>
                </mc:Choice>
                <mc:Fallback>
                  <p:oleObj name="Equation" r:id="rId9" imgW="393700" imgH="393700" progId="Equation.3">
                    <p:embed/>
                    <p:pic>
                      <p:nvPicPr>
                        <p:cNvPr id="0" name="图片 985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2" y="2192"/>
                          <a:ext cx="384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" name="文本框 52"/>
          <p:cNvSpPr txBox="1"/>
          <p:nvPr/>
        </p:nvSpPr>
        <p:spPr>
          <a:xfrm>
            <a:off x="108670" y="734292"/>
            <a:ext cx="159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Example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621530" y="4892675"/>
            <a:ext cx="6338570" cy="878840"/>
            <a:chOff x="9033" y="7783"/>
            <a:chExt cx="9982" cy="1384"/>
          </a:xfrm>
        </p:grpSpPr>
        <p:graphicFrame>
          <p:nvGraphicFramePr>
            <p:cNvPr id="337960" name="Object 40"/>
            <p:cNvGraphicFramePr>
              <a:graphicFrameLocks noChangeAspect="1"/>
            </p:cNvGraphicFramePr>
            <p:nvPr/>
          </p:nvGraphicFramePr>
          <p:xfrm>
            <a:off x="9033" y="7783"/>
            <a:ext cx="1702" cy="1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8504" name="" r:id="rId11" imgW="558800" imgH="457200" progId="Equation.3">
                    <p:embed/>
                  </p:oleObj>
                </mc:Choice>
                <mc:Fallback>
                  <p:oleObj name="" r:id="rId11" imgW="558800" imgH="457200" progId="Equation.3">
                    <p:embed/>
                    <p:pic>
                      <p:nvPicPr>
                        <p:cNvPr id="0" name="图片 985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33" y="7783"/>
                          <a:ext cx="1702" cy="13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795" y="8055"/>
              <a:ext cx="6220" cy="840"/>
            </a:xfrm>
            <a:prstGeom prst="rect">
              <a:avLst/>
            </a:prstGeom>
          </p:spPr>
        </p:pic>
        <p:sp>
          <p:nvSpPr>
            <p:cNvPr id="3" name="左箭头 2"/>
            <p:cNvSpPr/>
            <p:nvPr/>
          </p:nvSpPr>
          <p:spPr>
            <a:xfrm>
              <a:off x="11386" y="8508"/>
              <a:ext cx="1086" cy="119"/>
            </a:xfrm>
            <a:prstGeom prst="lef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7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7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7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7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7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7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7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7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7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2" grpId="0" autoUpdateAnimBg="0"/>
      <p:bldP spid="337958" grpId="0" autoUpdateAnimBg="0"/>
      <p:bldP spid="33795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946" name="Group 2"/>
          <p:cNvGrpSpPr/>
          <p:nvPr/>
        </p:nvGrpSpPr>
        <p:grpSpPr bwMode="auto">
          <a:xfrm>
            <a:off x="2079626" y="381001"/>
            <a:ext cx="6321425" cy="1254125"/>
            <a:chOff x="576" y="240"/>
            <a:chExt cx="3696" cy="790"/>
          </a:xfrm>
        </p:grpSpPr>
        <p:sp>
          <p:nvSpPr>
            <p:cNvPr id="338947" name="Text Box 3"/>
            <p:cNvSpPr txBox="1">
              <a:spLocks noChangeArrowheads="1"/>
            </p:cNvSpPr>
            <p:nvPr/>
          </p:nvSpPr>
          <p:spPr bwMode="auto">
            <a:xfrm>
              <a:off x="576" y="240"/>
              <a:ext cx="369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ea typeface="楷体_GB2312" pitchFamily="49" charset="-122"/>
                </a:rPr>
                <a:t> Based on the given boundary conditions, we find</a:t>
              </a:r>
              <a:endParaRPr kumimoji="1" lang="en-US" altLang="zh-CN" sz="2000" b="1">
                <a:solidFill>
                  <a:srgbClr val="3333FF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338948" name="Object 4"/>
            <p:cNvGraphicFramePr>
              <a:graphicFrameLocks noChangeAspect="1"/>
            </p:cNvGraphicFramePr>
            <p:nvPr/>
          </p:nvGraphicFramePr>
          <p:xfrm>
            <a:off x="2496" y="624"/>
            <a:ext cx="637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28" name="Equation" r:id="rId1" imgW="609600" imgH="393700" progId="Equation.3">
                    <p:embed/>
                  </p:oleObj>
                </mc:Choice>
                <mc:Fallback>
                  <p:oleObj name="Equation" r:id="rId1" imgW="609600" imgH="393700" progId="Equation.3">
                    <p:embed/>
                    <p:pic>
                      <p:nvPicPr>
                        <p:cNvPr id="0" name="图片 995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624"/>
                          <a:ext cx="637" cy="4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8949" name="Group 5"/>
          <p:cNvGrpSpPr/>
          <p:nvPr/>
        </p:nvGrpSpPr>
        <p:grpSpPr bwMode="auto">
          <a:xfrm>
            <a:off x="2041209" y="1644651"/>
            <a:ext cx="6384925" cy="1228725"/>
            <a:chOff x="672" y="1008"/>
            <a:chExt cx="3696" cy="774"/>
          </a:xfrm>
        </p:grpSpPr>
        <p:graphicFrame>
          <p:nvGraphicFramePr>
            <p:cNvPr id="338950" name="Object 6"/>
            <p:cNvGraphicFramePr>
              <a:graphicFrameLocks noChangeAspect="1"/>
            </p:cNvGraphicFramePr>
            <p:nvPr/>
          </p:nvGraphicFramePr>
          <p:xfrm>
            <a:off x="1514" y="1344"/>
            <a:ext cx="2587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29" name="Equation" r:id="rId3" imgW="2476500" imgH="419100" progId="Equation.3">
                    <p:embed/>
                  </p:oleObj>
                </mc:Choice>
                <mc:Fallback>
                  <p:oleObj name="Equation" r:id="rId3" imgW="2476500" imgH="419100" progId="Equation.3">
                    <p:embed/>
                    <p:pic>
                      <p:nvPicPr>
                        <p:cNvPr id="0" name="图片 995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4" y="1344"/>
                          <a:ext cx="2587" cy="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951" name="Text Box 7"/>
            <p:cNvSpPr txBox="1">
              <a:spLocks noChangeArrowheads="1"/>
            </p:cNvSpPr>
            <p:nvPr/>
          </p:nvSpPr>
          <p:spPr bwMode="auto">
            <a:xfrm>
              <a:off x="672" y="1008"/>
              <a:ext cx="3696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ea typeface="楷体_GB2312" pitchFamily="49" charset="-122"/>
                </a:rPr>
                <a:t>The current density </a:t>
              </a:r>
              <a:r>
                <a:rPr kumimoji="1" lang="en-US" altLang="zh-CN" sz="2000" b="1" i="1">
                  <a:solidFill>
                    <a:srgbClr val="000000"/>
                  </a:solidFill>
                  <a:ea typeface="楷体_GB2312" pitchFamily="49" charset="-122"/>
                </a:rPr>
                <a:t>J </a:t>
              </a:r>
              <a:r>
                <a:rPr kumimoji="1" lang="en-US" altLang="zh-CN" sz="2000" b="1">
                  <a:solidFill>
                    <a:srgbClr val="000000"/>
                  </a:solidFill>
                  <a:ea typeface="楷体_GB2312" pitchFamily="49" charset="-122"/>
                </a:rPr>
                <a:t>in the conducting medium is</a:t>
              </a: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endPara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38952" name="Group 8"/>
          <p:cNvGrpSpPr/>
          <p:nvPr/>
        </p:nvGrpSpPr>
        <p:grpSpPr bwMode="auto">
          <a:xfrm>
            <a:off x="2063751" y="2924176"/>
            <a:ext cx="8424863" cy="1008063"/>
            <a:chOff x="672" y="1836"/>
            <a:chExt cx="4800" cy="635"/>
          </a:xfrm>
        </p:grpSpPr>
        <p:sp>
          <p:nvSpPr>
            <p:cNvPr id="338953" name="Text Box 9"/>
            <p:cNvSpPr txBox="1">
              <a:spLocks noChangeArrowheads="1"/>
            </p:cNvSpPr>
            <p:nvPr/>
          </p:nvSpPr>
          <p:spPr bwMode="auto">
            <a:xfrm>
              <a:off x="672" y="1836"/>
              <a:ext cx="4800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ea typeface="楷体_GB2312" pitchFamily="49" charset="-122"/>
                </a:rPr>
                <a:t>Then the current </a:t>
              </a:r>
              <a:r>
                <a:rPr kumimoji="1" lang="en-US" altLang="zh-CN" sz="2000" i="1">
                  <a:ea typeface="楷体_GB2312" pitchFamily="49" charset="-122"/>
                </a:rPr>
                <a:t>I</a:t>
              </a:r>
              <a:r>
                <a:rPr kumimoji="1" lang="en-US" altLang="zh-CN" sz="2000">
                  <a:ea typeface="楷体_GB2312" pitchFamily="49" charset="-122"/>
                </a:rPr>
                <a:t> </a:t>
              </a:r>
              <a:r>
                <a:rPr kumimoji="1" lang="en-US" altLang="zh-CN" sz="2000" b="1">
                  <a:solidFill>
                    <a:srgbClr val="3333FF"/>
                  </a:solidFill>
                  <a:ea typeface="楷体_GB2312" pitchFamily="49" charset="-122"/>
                </a:rPr>
                <a:t>flowing into the conducting medium across the end face at            is</a:t>
              </a:r>
              <a:endParaRPr kumimoji="1" lang="en-US" altLang="zh-CN" sz="2000" b="1">
                <a:solidFill>
                  <a:srgbClr val="3333FF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338954" name="Object 10"/>
            <p:cNvGraphicFramePr>
              <a:graphicFrameLocks noChangeAspect="1"/>
            </p:cNvGraphicFramePr>
            <p:nvPr/>
          </p:nvGraphicFramePr>
          <p:xfrm>
            <a:off x="1488" y="2040"/>
            <a:ext cx="428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30" name="Equation" r:id="rId5" imgW="393700" imgH="393700" progId="Equation.3">
                    <p:embed/>
                  </p:oleObj>
                </mc:Choice>
                <mc:Fallback>
                  <p:oleObj name="Equation" r:id="rId5" imgW="393700" imgH="393700" progId="Equation.3">
                    <p:embed/>
                    <p:pic>
                      <p:nvPicPr>
                        <p:cNvPr id="0" name="图片 995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040"/>
                          <a:ext cx="428" cy="4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8955" name="Object 11"/>
          <p:cNvGraphicFramePr>
            <a:graphicFrameLocks noChangeAspect="1"/>
          </p:cNvGraphicFramePr>
          <p:nvPr/>
        </p:nvGraphicFramePr>
        <p:xfrm>
          <a:off x="2279650" y="4005263"/>
          <a:ext cx="424815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1" name="Equation" r:id="rId7" imgW="2298700" imgH="431800" progId="Equation.3">
                  <p:embed/>
                </p:oleObj>
              </mc:Choice>
              <mc:Fallback>
                <p:oleObj name="Equation" r:id="rId7" imgW="2298700" imgH="431800" progId="Equation.3">
                  <p:embed/>
                  <p:pic>
                    <p:nvPicPr>
                      <p:cNvPr id="0" name="图片 995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4005263"/>
                        <a:ext cx="4248150" cy="79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6" name="Object 12"/>
          <p:cNvGraphicFramePr>
            <a:graphicFrameLocks noChangeAspect="1"/>
          </p:cNvGraphicFramePr>
          <p:nvPr/>
        </p:nvGraphicFramePr>
        <p:xfrm>
          <a:off x="6527800" y="4005264"/>
          <a:ext cx="324008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2" name="Equation" r:id="rId9" imgW="1727200" imgH="431800" progId="Equation.3">
                  <p:embed/>
                </p:oleObj>
              </mc:Choice>
              <mc:Fallback>
                <p:oleObj name="Equation" r:id="rId9" imgW="1727200" imgH="431800" progId="Equation.3">
                  <p:embed/>
                  <p:pic>
                    <p:nvPicPr>
                      <p:cNvPr id="0" name="图片 995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4005264"/>
                        <a:ext cx="3240088" cy="80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7" name="Text Box 13"/>
          <p:cNvSpPr txBox="1">
            <a:spLocks noChangeArrowheads="1"/>
          </p:cNvSpPr>
          <p:nvPr/>
        </p:nvSpPr>
        <p:spPr bwMode="auto">
          <a:xfrm>
            <a:off x="2208213" y="4941889"/>
            <a:ext cx="717391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Consequently, the resistance </a:t>
            </a:r>
            <a:r>
              <a:rPr kumimoji="1" lang="en-US" altLang="zh-CN" sz="2000" i="1">
                <a:solidFill>
                  <a:srgbClr val="000000"/>
                </a:solidFill>
                <a:ea typeface="楷体_GB2312" pitchFamily="49" charset="-122"/>
              </a:rPr>
              <a:t>R</a:t>
            </a:r>
            <a:r>
              <a:rPr kumimoji="1" lang="en-US" altLang="zh-CN" sz="2000" b="1">
                <a:solidFill>
                  <a:srgbClr val="000000"/>
                </a:solidFill>
                <a:ea typeface="楷体_GB2312" pitchFamily="49" charset="-122"/>
              </a:rPr>
              <a:t> between two end faces is</a:t>
            </a:r>
            <a:endParaRPr kumimoji="1" lang="en-US" altLang="zh-CN" sz="2000" b="1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338958" name="Object 14"/>
          <p:cNvGraphicFramePr>
            <a:graphicFrameLocks noChangeAspect="1"/>
          </p:cNvGraphicFramePr>
          <p:nvPr/>
        </p:nvGraphicFramePr>
        <p:xfrm>
          <a:off x="4727575" y="5516564"/>
          <a:ext cx="2376488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33" name="Equation" r:id="rId11" imgW="1269365" imgH="622300" progId="Equation.3">
                  <p:embed/>
                </p:oleObj>
              </mc:Choice>
              <mc:Fallback>
                <p:oleObj name="Equation" r:id="rId11" imgW="1269365" imgH="622300" progId="Equation.3">
                  <p:embed/>
                  <p:pic>
                    <p:nvPicPr>
                      <p:cNvPr id="0" name="图片 995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5516564"/>
                        <a:ext cx="2376488" cy="1169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959" name="Picture 15" descr="BD05546_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288" y="5273676"/>
            <a:ext cx="1763712" cy="158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108670" y="734292"/>
            <a:ext cx="159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Example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6450" y="1261745"/>
            <a:ext cx="3339465" cy="771525"/>
          </a:xfrm>
          <a:prstGeom prst="rect">
            <a:avLst/>
          </a:prstGeom>
        </p:spPr>
      </p:pic>
      <p:sp>
        <p:nvSpPr>
          <p:cNvPr id="4" name="圆角右箭头 3"/>
          <p:cNvSpPr/>
          <p:nvPr/>
        </p:nvSpPr>
        <p:spPr>
          <a:xfrm rot="10620000">
            <a:off x="8854440" y="2077085"/>
            <a:ext cx="981710" cy="6477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34631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8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8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8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8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8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8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8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8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57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2578" name="Object 2"/>
          <p:cNvGraphicFramePr>
            <a:graphicFrameLocks noChangeAspect="1"/>
          </p:cNvGraphicFramePr>
          <p:nvPr/>
        </p:nvGraphicFramePr>
        <p:xfrm>
          <a:off x="4295776" y="3652839"/>
          <a:ext cx="22320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19" name="Equation" r:id="rId1" imgW="1460500" imgH="520700" progId="Equation.DSMT4">
                  <p:embed/>
                </p:oleObj>
              </mc:Choice>
              <mc:Fallback>
                <p:oleObj name="Equation" r:id="rId1" imgW="1460500" imgH="520700" progId="Equation.DSMT4">
                  <p:embed/>
                  <p:pic>
                    <p:nvPicPr>
                      <p:cNvPr id="0" name="图片 1005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6" y="3652839"/>
                        <a:ext cx="223202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2579" name="Object 3"/>
          <p:cNvGraphicFramePr>
            <a:graphicFrameLocks noChangeAspect="1"/>
          </p:cNvGraphicFramePr>
          <p:nvPr/>
        </p:nvGraphicFramePr>
        <p:xfrm>
          <a:off x="3854451" y="5256213"/>
          <a:ext cx="317817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0" name="Equation" r:id="rId3" imgW="1993900" imgH="292100" progId="Equation.DSMT4">
                  <p:embed/>
                </p:oleObj>
              </mc:Choice>
              <mc:Fallback>
                <p:oleObj name="Equation" r:id="rId3" imgW="1993900" imgH="292100" progId="Equation.DSMT4">
                  <p:embed/>
                  <p:pic>
                    <p:nvPicPr>
                      <p:cNvPr id="0" name="图片 1005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451" y="5256213"/>
                        <a:ext cx="3178175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2580" name="Text Box 4"/>
          <p:cNvSpPr txBox="1">
            <a:spLocks noChangeArrowheads="1"/>
          </p:cNvSpPr>
          <p:nvPr/>
        </p:nvSpPr>
        <p:spPr bwMode="auto">
          <a:xfrm>
            <a:off x="1919289" y="4478339"/>
            <a:ext cx="21605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general solution: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2581" name="Object 5"/>
          <p:cNvGraphicFramePr>
            <a:graphicFrameLocks noChangeAspect="1"/>
          </p:cNvGraphicFramePr>
          <p:nvPr/>
        </p:nvGraphicFramePr>
        <p:xfrm>
          <a:off x="3863976" y="4581525"/>
          <a:ext cx="16875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1" name="Equation" r:id="rId5" imgW="977900" imgH="215900" progId="Equation.DSMT4">
                  <p:embed/>
                </p:oleObj>
              </mc:Choice>
              <mc:Fallback>
                <p:oleObj name="Equation" r:id="rId5" imgW="977900" imgH="215900" progId="Equation.DSMT4">
                  <p:embed/>
                  <p:pic>
                    <p:nvPicPr>
                      <p:cNvPr id="0" name="图片 1005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6" y="4581525"/>
                        <a:ext cx="16875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2584" name="Rectangle 8"/>
          <p:cNvSpPr>
            <a:spLocks noChangeArrowheads="1"/>
          </p:cNvSpPr>
          <p:nvPr/>
        </p:nvSpPr>
        <p:spPr bwMode="auto">
          <a:xfrm>
            <a:off x="1920875" y="5348288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use B.C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92585" name="Text Box 9"/>
          <p:cNvSpPr txBox="1">
            <a:spLocks noChangeArrowheads="1"/>
          </p:cNvSpPr>
          <p:nvPr/>
        </p:nvSpPr>
        <p:spPr bwMode="auto">
          <a:xfrm>
            <a:off x="1919289" y="5995988"/>
            <a:ext cx="1584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then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2586" name="Object 10"/>
          <p:cNvGraphicFramePr>
            <a:graphicFrameLocks noChangeAspect="1"/>
          </p:cNvGraphicFramePr>
          <p:nvPr/>
        </p:nvGraphicFramePr>
        <p:xfrm>
          <a:off x="3863975" y="6021389"/>
          <a:ext cx="28575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522" name="Equation" r:id="rId7" imgW="1841500" imgH="228600" progId="Equation.DSMT4">
                  <p:embed/>
                </p:oleObj>
              </mc:Choice>
              <mc:Fallback>
                <p:oleObj name="Equation" r:id="rId7" imgW="1841500" imgH="228600" progId="Equation.DSMT4">
                  <p:embed/>
                  <p:pic>
                    <p:nvPicPr>
                      <p:cNvPr id="0" name="图片 1005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6021389"/>
                        <a:ext cx="28575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1308" name="Group 72"/>
          <p:cNvGrpSpPr/>
          <p:nvPr/>
        </p:nvGrpSpPr>
        <p:grpSpPr bwMode="auto">
          <a:xfrm>
            <a:off x="7391401" y="3859213"/>
            <a:ext cx="2879725" cy="2665412"/>
            <a:chOff x="3788" y="2250"/>
            <a:chExt cx="1814" cy="1679"/>
          </a:xfrm>
        </p:grpSpPr>
        <p:sp>
          <p:nvSpPr>
            <p:cNvPr id="311309" name="Rectangle 11"/>
            <p:cNvSpPr>
              <a:spLocks noChangeArrowheads="1"/>
            </p:cNvSpPr>
            <p:nvPr/>
          </p:nvSpPr>
          <p:spPr bwMode="auto">
            <a:xfrm>
              <a:off x="3788" y="2250"/>
              <a:ext cx="1814" cy="16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endParaRPr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311310" name="Text Box 12"/>
            <p:cNvSpPr txBox="1">
              <a:spLocks noChangeArrowheads="1"/>
            </p:cNvSpPr>
            <p:nvPr/>
          </p:nvSpPr>
          <p:spPr bwMode="auto">
            <a:xfrm>
              <a:off x="3879" y="3634"/>
              <a:ext cx="16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1">
                  <a:solidFill>
                    <a:srgbClr val="000000"/>
                  </a:solidFill>
                </a:rPr>
                <a:t>Annular conducting medium</a:t>
              </a:r>
              <a:endParaRPr lang="en-US" altLang="zh-CN" sz="1400" b="1">
                <a:solidFill>
                  <a:srgbClr val="000000"/>
                </a:solidFill>
              </a:endParaRPr>
            </a:p>
          </p:txBody>
        </p:sp>
        <p:grpSp>
          <p:nvGrpSpPr>
            <p:cNvPr id="311311" name="Group 13"/>
            <p:cNvGrpSpPr/>
            <p:nvPr/>
          </p:nvGrpSpPr>
          <p:grpSpPr bwMode="auto">
            <a:xfrm>
              <a:off x="3878" y="2341"/>
              <a:ext cx="1587" cy="1286"/>
              <a:chOff x="3878" y="2341"/>
              <a:chExt cx="1587" cy="1286"/>
            </a:xfrm>
          </p:grpSpPr>
          <p:sp>
            <p:nvSpPr>
              <p:cNvPr id="311312" name="Text Box 14"/>
              <p:cNvSpPr txBox="1">
                <a:spLocks noChangeArrowheads="1"/>
              </p:cNvSpPr>
              <p:nvPr/>
            </p:nvSpPr>
            <p:spPr bwMode="auto">
              <a:xfrm>
                <a:off x="4378" y="3339"/>
                <a:ext cx="29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r</a:t>
                </a:r>
                <a:r>
                  <a:rPr kumimoji="1" lang="en-US" altLang="zh-CN" sz="24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kumimoji="1" lang="en-US" altLang="zh-CN" sz="24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11313" name="Arc 15"/>
              <p:cNvSpPr/>
              <p:nvPr/>
            </p:nvSpPr>
            <p:spPr bwMode="auto">
              <a:xfrm rot="-420000">
                <a:off x="4255" y="2883"/>
                <a:ext cx="314" cy="30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C0C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14" name="Line 16"/>
              <p:cNvSpPr>
                <a:spLocks noChangeShapeType="1"/>
              </p:cNvSpPr>
              <p:nvPr/>
            </p:nvSpPr>
            <p:spPr bwMode="auto">
              <a:xfrm>
                <a:off x="4189" y="2341"/>
                <a:ext cx="214" cy="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15" name="Line 17"/>
              <p:cNvSpPr>
                <a:spLocks noChangeShapeType="1"/>
              </p:cNvSpPr>
              <p:nvPr/>
            </p:nvSpPr>
            <p:spPr bwMode="auto">
              <a:xfrm flipH="1">
                <a:off x="4001" y="2387"/>
                <a:ext cx="331" cy="8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med"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16" name="Line 18"/>
              <p:cNvSpPr>
                <a:spLocks noChangeShapeType="1"/>
              </p:cNvSpPr>
              <p:nvPr/>
            </p:nvSpPr>
            <p:spPr bwMode="auto">
              <a:xfrm>
                <a:off x="3878" y="3205"/>
                <a:ext cx="212" cy="8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17" name="Line 19"/>
              <p:cNvSpPr>
                <a:spLocks noChangeShapeType="1"/>
              </p:cNvSpPr>
              <p:nvPr/>
            </p:nvSpPr>
            <p:spPr bwMode="auto">
              <a:xfrm rot="2719958" flipH="1" flipV="1">
                <a:off x="4103" y="2875"/>
                <a:ext cx="185" cy="4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18" name="Arc 20"/>
              <p:cNvSpPr/>
              <p:nvPr/>
            </p:nvSpPr>
            <p:spPr bwMode="auto">
              <a:xfrm rot="-600000">
                <a:off x="4256" y="3005"/>
                <a:ext cx="314" cy="30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19" name="Arc 21"/>
              <p:cNvSpPr/>
              <p:nvPr/>
            </p:nvSpPr>
            <p:spPr bwMode="auto">
              <a:xfrm rot="-600000">
                <a:off x="4255" y="2960"/>
                <a:ext cx="316" cy="311"/>
              </a:xfrm>
              <a:custGeom>
                <a:avLst/>
                <a:gdLst>
                  <a:gd name="T0" fmla="*/ 0 w 21737"/>
                  <a:gd name="T1" fmla="*/ 0 h 22173"/>
                  <a:gd name="T2" fmla="*/ 0 w 21737"/>
                  <a:gd name="T3" fmla="*/ 0 h 22173"/>
                  <a:gd name="T4" fmla="*/ 0 w 21737"/>
                  <a:gd name="T5" fmla="*/ 0 h 22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37" h="22173" fill="none" extrusionOk="0">
                    <a:moveTo>
                      <a:pt x="0" y="0"/>
                    </a:moveTo>
                    <a:cubicBezTo>
                      <a:pt x="45" y="0"/>
                      <a:pt x="91" y="-1"/>
                      <a:pt x="137" y="0"/>
                    </a:cubicBezTo>
                    <a:cubicBezTo>
                      <a:pt x="12066" y="0"/>
                      <a:pt x="21737" y="9670"/>
                      <a:pt x="21737" y="21600"/>
                    </a:cubicBezTo>
                    <a:cubicBezTo>
                      <a:pt x="21737" y="21791"/>
                      <a:pt x="21734" y="21982"/>
                      <a:pt x="21729" y="22173"/>
                    </a:cubicBezTo>
                  </a:path>
                  <a:path w="21737" h="22173" stroke="0" extrusionOk="0">
                    <a:moveTo>
                      <a:pt x="0" y="0"/>
                    </a:moveTo>
                    <a:cubicBezTo>
                      <a:pt x="45" y="0"/>
                      <a:pt x="91" y="-1"/>
                      <a:pt x="137" y="0"/>
                    </a:cubicBezTo>
                    <a:cubicBezTo>
                      <a:pt x="12066" y="0"/>
                      <a:pt x="21737" y="9670"/>
                      <a:pt x="21737" y="21600"/>
                    </a:cubicBezTo>
                    <a:cubicBezTo>
                      <a:pt x="21737" y="21791"/>
                      <a:pt x="21734" y="21982"/>
                      <a:pt x="21729" y="22173"/>
                    </a:cubicBezTo>
                    <a:lnTo>
                      <a:pt x="137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20" name="Arc 22"/>
              <p:cNvSpPr/>
              <p:nvPr/>
            </p:nvSpPr>
            <p:spPr bwMode="auto">
              <a:xfrm rot="-600000">
                <a:off x="4256" y="3032"/>
                <a:ext cx="314" cy="30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21" name="Arc 23"/>
              <p:cNvSpPr/>
              <p:nvPr/>
            </p:nvSpPr>
            <p:spPr bwMode="auto">
              <a:xfrm rot="-600000">
                <a:off x="4279" y="2949"/>
                <a:ext cx="315" cy="30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C0C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22" name="Arc 24"/>
              <p:cNvSpPr/>
              <p:nvPr/>
            </p:nvSpPr>
            <p:spPr bwMode="auto">
              <a:xfrm rot="-600000">
                <a:off x="4262" y="2932"/>
                <a:ext cx="315" cy="30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23" name="Arc 25"/>
              <p:cNvSpPr/>
              <p:nvPr/>
            </p:nvSpPr>
            <p:spPr bwMode="auto">
              <a:xfrm rot="-600000">
                <a:off x="4270" y="2914"/>
                <a:ext cx="315" cy="30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C0C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24" name="Line 26"/>
              <p:cNvSpPr>
                <a:spLocks noChangeShapeType="1"/>
              </p:cNvSpPr>
              <p:nvPr/>
            </p:nvSpPr>
            <p:spPr bwMode="auto">
              <a:xfrm>
                <a:off x="5184" y="3000"/>
                <a:ext cx="21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25" name="Line 27"/>
              <p:cNvSpPr>
                <a:spLocks noChangeShapeType="1"/>
              </p:cNvSpPr>
              <p:nvPr/>
            </p:nvSpPr>
            <p:spPr bwMode="auto">
              <a:xfrm>
                <a:off x="5182" y="3193"/>
                <a:ext cx="212" cy="0"/>
              </a:xfrm>
              <a:prstGeom prst="line">
                <a:avLst/>
              </a:prstGeom>
              <a:noFill/>
              <a:ln w="9525">
                <a:solidFill>
                  <a:srgbClr val="33333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26" name="Text Box 28"/>
              <p:cNvSpPr txBox="1">
                <a:spLocks noChangeArrowheads="1"/>
              </p:cNvSpPr>
              <p:nvPr/>
            </p:nvSpPr>
            <p:spPr bwMode="auto">
              <a:xfrm>
                <a:off x="5279" y="2926"/>
                <a:ext cx="116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lang="zh-CN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311327" name="Line 29"/>
              <p:cNvSpPr>
                <a:spLocks noChangeShapeType="1"/>
              </p:cNvSpPr>
              <p:nvPr/>
            </p:nvSpPr>
            <p:spPr bwMode="auto">
              <a:xfrm rot="2940000" flipV="1">
                <a:off x="4774" y="2856"/>
                <a:ext cx="216" cy="534"/>
              </a:xfrm>
              <a:prstGeom prst="line">
                <a:avLst/>
              </a:prstGeom>
              <a:noFill/>
              <a:ln w="38100">
                <a:solidFill>
                  <a:srgbClr val="C0C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28" name="Arc 30"/>
              <p:cNvSpPr/>
              <p:nvPr/>
            </p:nvSpPr>
            <p:spPr bwMode="auto">
              <a:xfrm rot="-300000">
                <a:off x="4439" y="2601"/>
                <a:ext cx="528" cy="468"/>
              </a:xfrm>
              <a:custGeom>
                <a:avLst/>
                <a:gdLst>
                  <a:gd name="T0" fmla="*/ 0 w 23864"/>
                  <a:gd name="T1" fmla="*/ 0 h 23613"/>
                  <a:gd name="T2" fmla="*/ 0 w 23864"/>
                  <a:gd name="T3" fmla="*/ 0 h 23613"/>
                  <a:gd name="T4" fmla="*/ 0 w 23864"/>
                  <a:gd name="T5" fmla="*/ 0 h 236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864" h="23613" fill="none" extrusionOk="0">
                    <a:moveTo>
                      <a:pt x="-1" y="118"/>
                    </a:moveTo>
                    <a:cubicBezTo>
                      <a:pt x="752" y="39"/>
                      <a:pt x="1507" y="-1"/>
                      <a:pt x="2264" y="0"/>
                    </a:cubicBezTo>
                    <a:cubicBezTo>
                      <a:pt x="14193" y="0"/>
                      <a:pt x="23864" y="9670"/>
                      <a:pt x="23864" y="21600"/>
                    </a:cubicBezTo>
                    <a:cubicBezTo>
                      <a:pt x="23864" y="22272"/>
                      <a:pt x="23832" y="22943"/>
                      <a:pt x="23769" y="23612"/>
                    </a:cubicBezTo>
                  </a:path>
                  <a:path w="23864" h="23613" stroke="0" extrusionOk="0">
                    <a:moveTo>
                      <a:pt x="-1" y="118"/>
                    </a:moveTo>
                    <a:cubicBezTo>
                      <a:pt x="752" y="39"/>
                      <a:pt x="1507" y="-1"/>
                      <a:pt x="2264" y="0"/>
                    </a:cubicBezTo>
                    <a:cubicBezTo>
                      <a:pt x="14193" y="0"/>
                      <a:pt x="23864" y="9670"/>
                      <a:pt x="23864" y="21600"/>
                    </a:cubicBezTo>
                    <a:cubicBezTo>
                      <a:pt x="23864" y="22272"/>
                      <a:pt x="23832" y="22943"/>
                      <a:pt x="23769" y="23612"/>
                    </a:cubicBezTo>
                    <a:lnTo>
                      <a:pt x="2264" y="21600"/>
                    </a:lnTo>
                    <a:lnTo>
                      <a:pt x="-1" y="118"/>
                    </a:lnTo>
                    <a:close/>
                  </a:path>
                </a:pathLst>
              </a:custGeom>
              <a:noFill/>
              <a:ln w="381000">
                <a:solidFill>
                  <a:srgbClr val="DDDDD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29" name="Arc 31"/>
              <p:cNvSpPr/>
              <p:nvPr/>
            </p:nvSpPr>
            <p:spPr bwMode="auto">
              <a:xfrm rot="-300000">
                <a:off x="4358" y="2710"/>
                <a:ext cx="445" cy="3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0">
                <a:solidFill>
                  <a:srgbClr val="DDDDD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30" name="Line 32"/>
              <p:cNvSpPr>
                <a:spLocks noChangeShapeType="1"/>
              </p:cNvSpPr>
              <p:nvPr/>
            </p:nvSpPr>
            <p:spPr bwMode="auto">
              <a:xfrm rot="2719958" flipH="1" flipV="1">
                <a:off x="4295" y="2436"/>
                <a:ext cx="181" cy="491"/>
              </a:xfrm>
              <a:prstGeom prst="line">
                <a:avLst/>
              </a:prstGeom>
              <a:noFill/>
              <a:ln w="127000">
                <a:solidFill>
                  <a:srgbClr val="DDDDD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31" name="Arc 33"/>
              <p:cNvSpPr/>
              <p:nvPr/>
            </p:nvSpPr>
            <p:spPr bwMode="auto">
              <a:xfrm rot="-300000">
                <a:off x="4359" y="2816"/>
                <a:ext cx="365" cy="35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0">
                <a:solidFill>
                  <a:srgbClr val="DDDDD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32" name="Arc 34"/>
              <p:cNvSpPr/>
              <p:nvPr/>
            </p:nvSpPr>
            <p:spPr bwMode="auto">
              <a:xfrm rot="-300000">
                <a:off x="4290" y="2864"/>
                <a:ext cx="346" cy="299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0">
                <a:solidFill>
                  <a:srgbClr val="DDDDD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33" name="Line 35"/>
              <p:cNvSpPr>
                <a:spLocks noChangeShapeType="1"/>
              </p:cNvSpPr>
              <p:nvPr/>
            </p:nvSpPr>
            <p:spPr bwMode="auto">
              <a:xfrm rot="2940000" flipV="1">
                <a:off x="4773" y="2751"/>
                <a:ext cx="217" cy="533"/>
              </a:xfrm>
              <a:prstGeom prst="line">
                <a:avLst/>
              </a:prstGeom>
              <a:noFill/>
              <a:ln w="127000">
                <a:solidFill>
                  <a:srgbClr val="DDDDD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34" name="Line 36"/>
              <p:cNvSpPr>
                <a:spLocks noChangeShapeType="1"/>
              </p:cNvSpPr>
              <p:nvPr/>
            </p:nvSpPr>
            <p:spPr bwMode="auto">
              <a:xfrm rot="2940000" flipV="1">
                <a:off x="4772" y="2820"/>
                <a:ext cx="216" cy="533"/>
              </a:xfrm>
              <a:prstGeom prst="line">
                <a:avLst/>
              </a:prstGeom>
              <a:noFill/>
              <a:ln w="44450">
                <a:solidFill>
                  <a:srgbClr val="C0C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35" name="Line 37"/>
              <p:cNvSpPr>
                <a:spLocks noChangeShapeType="1"/>
              </p:cNvSpPr>
              <p:nvPr/>
            </p:nvSpPr>
            <p:spPr bwMode="auto">
              <a:xfrm rot="2940000" flipV="1">
                <a:off x="4754" y="2916"/>
                <a:ext cx="216" cy="533"/>
              </a:xfrm>
              <a:prstGeom prst="line">
                <a:avLst/>
              </a:prstGeom>
              <a:noFill/>
              <a:ln w="38100">
                <a:solidFill>
                  <a:srgbClr val="C0C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36" name="Line 38"/>
              <p:cNvSpPr>
                <a:spLocks noChangeShapeType="1"/>
              </p:cNvSpPr>
              <p:nvPr/>
            </p:nvSpPr>
            <p:spPr bwMode="auto">
              <a:xfrm rot="2940000" flipV="1">
                <a:off x="4759" y="2880"/>
                <a:ext cx="217" cy="534"/>
              </a:xfrm>
              <a:prstGeom prst="line">
                <a:avLst/>
              </a:prstGeom>
              <a:noFill/>
              <a:ln w="44450">
                <a:solidFill>
                  <a:srgbClr val="C0C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37" name="Line 39"/>
              <p:cNvSpPr>
                <a:spLocks noChangeShapeType="1"/>
              </p:cNvSpPr>
              <p:nvPr/>
            </p:nvSpPr>
            <p:spPr bwMode="auto">
              <a:xfrm rot="2940000" flipV="1">
                <a:off x="4744" y="2946"/>
                <a:ext cx="217" cy="534"/>
              </a:xfrm>
              <a:prstGeom prst="line">
                <a:avLst/>
              </a:prstGeom>
              <a:noFill/>
              <a:ln w="38100">
                <a:solidFill>
                  <a:srgbClr val="C0C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38" name="Line 40"/>
              <p:cNvSpPr>
                <a:spLocks noChangeShapeType="1"/>
              </p:cNvSpPr>
              <p:nvPr/>
            </p:nvSpPr>
            <p:spPr bwMode="auto">
              <a:xfrm rot="2940000" flipV="1">
                <a:off x="4772" y="2815"/>
                <a:ext cx="216" cy="53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39" name="Line 41"/>
              <p:cNvSpPr>
                <a:spLocks noChangeShapeType="1"/>
              </p:cNvSpPr>
              <p:nvPr/>
            </p:nvSpPr>
            <p:spPr bwMode="auto">
              <a:xfrm rot="2940000" flipV="1">
                <a:off x="4754" y="2971"/>
                <a:ext cx="216" cy="533"/>
              </a:xfrm>
              <a:prstGeom prst="line">
                <a:avLst/>
              </a:prstGeom>
              <a:noFill/>
              <a:ln w="38100">
                <a:solidFill>
                  <a:srgbClr val="C0C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40" name="Arc 42"/>
              <p:cNvSpPr/>
              <p:nvPr/>
            </p:nvSpPr>
            <p:spPr bwMode="auto">
              <a:xfrm rot="-600000">
                <a:off x="4264" y="2906"/>
                <a:ext cx="314" cy="30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41" name="Line 43"/>
              <p:cNvSpPr>
                <a:spLocks noChangeShapeType="1"/>
              </p:cNvSpPr>
              <p:nvPr/>
            </p:nvSpPr>
            <p:spPr bwMode="auto">
              <a:xfrm rot="360000">
                <a:off x="5140" y="2990"/>
                <a:ext cx="0" cy="178"/>
              </a:xfrm>
              <a:prstGeom prst="line">
                <a:avLst/>
              </a:prstGeom>
              <a:noFill/>
              <a:ln w="25400">
                <a:solidFill>
                  <a:srgbClr val="C0C0C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42" name="Line 44"/>
              <p:cNvSpPr>
                <a:spLocks noChangeShapeType="1"/>
              </p:cNvSpPr>
              <p:nvPr/>
            </p:nvSpPr>
            <p:spPr bwMode="auto">
              <a:xfrm>
                <a:off x="5254" y="2990"/>
                <a:ext cx="0" cy="1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med"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43" name="Arc 45"/>
              <p:cNvSpPr/>
              <p:nvPr/>
            </p:nvSpPr>
            <p:spPr bwMode="auto">
              <a:xfrm>
                <a:off x="4165" y="3191"/>
                <a:ext cx="73" cy="5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44" name="Line 46"/>
              <p:cNvSpPr>
                <a:spLocks noChangeShapeType="1"/>
              </p:cNvSpPr>
              <p:nvPr/>
            </p:nvSpPr>
            <p:spPr bwMode="auto">
              <a:xfrm flipV="1">
                <a:off x="4187" y="3362"/>
                <a:ext cx="468" cy="1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stealth" w="sm" len="med"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45" name="Line 47"/>
              <p:cNvSpPr>
                <a:spLocks noChangeShapeType="1"/>
              </p:cNvSpPr>
              <p:nvPr/>
            </p:nvSpPr>
            <p:spPr bwMode="auto">
              <a:xfrm>
                <a:off x="4112" y="3309"/>
                <a:ext cx="64" cy="2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46" name="Text Box 48"/>
              <p:cNvSpPr txBox="1">
                <a:spLocks noChangeArrowheads="1"/>
              </p:cNvSpPr>
              <p:nvPr/>
            </p:nvSpPr>
            <p:spPr bwMode="auto">
              <a:xfrm>
                <a:off x="4551" y="2711"/>
                <a:ext cx="116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lang="zh-CN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311347" name="AutoShape 49" descr="浅色上对角线"/>
              <p:cNvSpPr>
                <a:spLocks noChangeArrowheads="1"/>
              </p:cNvSpPr>
              <p:nvPr/>
            </p:nvSpPr>
            <p:spPr bwMode="auto">
              <a:xfrm rot="-1223880">
                <a:off x="4537" y="3110"/>
                <a:ext cx="428" cy="183"/>
              </a:xfrm>
              <a:prstGeom prst="parallelogram">
                <a:avLst>
                  <a:gd name="adj" fmla="val 58470"/>
                </a:avLst>
              </a:prstGeom>
              <a:pattFill prst="ltUpDiag">
                <a:fgClr>
                  <a:srgbClr val="000000"/>
                </a:fgClr>
                <a:bgClr>
                  <a:srgbClr val="EAEAEA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lang="zh-CN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311348" name="AutoShape 50" descr="浅色上对角线"/>
              <p:cNvSpPr>
                <a:spLocks noChangeArrowheads="1"/>
              </p:cNvSpPr>
              <p:nvPr/>
            </p:nvSpPr>
            <p:spPr bwMode="auto">
              <a:xfrm rot="-1223880">
                <a:off x="4745" y="3066"/>
                <a:ext cx="351" cy="160"/>
              </a:xfrm>
              <a:prstGeom prst="parallelogram">
                <a:avLst>
                  <a:gd name="adj" fmla="val 54844"/>
                </a:avLst>
              </a:prstGeom>
              <a:pattFill prst="ltUpDiag">
                <a:fgClr>
                  <a:srgbClr val="000000"/>
                </a:fgClr>
                <a:bgClr>
                  <a:srgbClr val="EAEAEA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lang="zh-CN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311349" name="AutoShape 51" descr="浅色上对角线"/>
              <p:cNvSpPr>
                <a:spLocks noChangeArrowheads="1"/>
              </p:cNvSpPr>
              <p:nvPr/>
            </p:nvSpPr>
            <p:spPr bwMode="auto">
              <a:xfrm rot="-1223880">
                <a:off x="4846" y="3031"/>
                <a:ext cx="351" cy="185"/>
              </a:xfrm>
              <a:prstGeom prst="parallelogram">
                <a:avLst>
                  <a:gd name="adj" fmla="val 47432"/>
                </a:avLst>
              </a:prstGeom>
              <a:pattFill prst="ltUpDiag">
                <a:fgClr>
                  <a:srgbClr val="000000"/>
                </a:fgClr>
                <a:bgClr>
                  <a:srgbClr val="EAEAEA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lang="zh-CN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311350" name="Line 52"/>
              <p:cNvSpPr>
                <a:spLocks noChangeShapeType="1"/>
              </p:cNvSpPr>
              <p:nvPr/>
            </p:nvSpPr>
            <p:spPr bwMode="auto">
              <a:xfrm>
                <a:off x="4621" y="3185"/>
                <a:ext cx="64" cy="2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51" name="Arc 53"/>
              <p:cNvSpPr/>
              <p:nvPr/>
            </p:nvSpPr>
            <p:spPr bwMode="auto">
              <a:xfrm rot="-600000">
                <a:off x="4261" y="2919"/>
                <a:ext cx="300" cy="304"/>
              </a:xfrm>
              <a:custGeom>
                <a:avLst/>
                <a:gdLst>
                  <a:gd name="T0" fmla="*/ 0 w 21565"/>
                  <a:gd name="T1" fmla="*/ 0 h 21600"/>
                  <a:gd name="T2" fmla="*/ 0 w 21565"/>
                  <a:gd name="T3" fmla="*/ 0 h 21600"/>
                  <a:gd name="T4" fmla="*/ 0 w 21565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65" h="21600" fill="none" extrusionOk="0">
                    <a:moveTo>
                      <a:pt x="0" y="0"/>
                    </a:moveTo>
                    <a:cubicBezTo>
                      <a:pt x="11450" y="0"/>
                      <a:pt x="20911" y="8935"/>
                      <a:pt x="21564" y="20368"/>
                    </a:cubicBezTo>
                  </a:path>
                  <a:path w="21565" h="21600" stroke="0" extrusionOk="0">
                    <a:moveTo>
                      <a:pt x="0" y="0"/>
                    </a:moveTo>
                    <a:cubicBezTo>
                      <a:pt x="11450" y="0"/>
                      <a:pt x="20911" y="8935"/>
                      <a:pt x="21564" y="20368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52" name="Arc 54"/>
              <p:cNvSpPr/>
              <p:nvPr/>
            </p:nvSpPr>
            <p:spPr bwMode="auto">
              <a:xfrm rot="-600000">
                <a:off x="4257" y="3079"/>
                <a:ext cx="307" cy="303"/>
              </a:xfrm>
              <a:custGeom>
                <a:avLst/>
                <a:gdLst>
                  <a:gd name="T0" fmla="*/ 0 w 21050"/>
                  <a:gd name="T1" fmla="*/ 0 h 21600"/>
                  <a:gd name="T2" fmla="*/ 0 w 21050"/>
                  <a:gd name="T3" fmla="*/ 0 h 21600"/>
                  <a:gd name="T4" fmla="*/ 0 w 2105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050" h="21600" fill="none" extrusionOk="0">
                    <a:moveTo>
                      <a:pt x="0" y="0"/>
                    </a:moveTo>
                    <a:cubicBezTo>
                      <a:pt x="10063" y="0"/>
                      <a:pt x="18794" y="6950"/>
                      <a:pt x="21050" y="16757"/>
                    </a:cubicBezTo>
                  </a:path>
                  <a:path w="21050" h="21600" stroke="0" extrusionOk="0">
                    <a:moveTo>
                      <a:pt x="0" y="0"/>
                    </a:moveTo>
                    <a:cubicBezTo>
                      <a:pt x="10063" y="0"/>
                      <a:pt x="18794" y="6950"/>
                      <a:pt x="21050" y="16757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>
                <a:solidFill>
                  <a:srgbClr val="96969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53" name="Arc 55"/>
              <p:cNvSpPr/>
              <p:nvPr/>
            </p:nvSpPr>
            <p:spPr bwMode="auto">
              <a:xfrm rot="-420000">
                <a:off x="4254" y="3097"/>
                <a:ext cx="313" cy="304"/>
              </a:xfrm>
              <a:custGeom>
                <a:avLst/>
                <a:gdLst>
                  <a:gd name="T0" fmla="*/ 0 w 21477"/>
                  <a:gd name="T1" fmla="*/ 0 h 21600"/>
                  <a:gd name="T2" fmla="*/ 0 w 21477"/>
                  <a:gd name="T3" fmla="*/ 0 h 21600"/>
                  <a:gd name="T4" fmla="*/ 0 w 21477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477" h="21600" fill="none" extrusionOk="0">
                    <a:moveTo>
                      <a:pt x="0" y="0"/>
                    </a:moveTo>
                    <a:cubicBezTo>
                      <a:pt x="11039" y="0"/>
                      <a:pt x="20302" y="8324"/>
                      <a:pt x="21477" y="19300"/>
                    </a:cubicBezTo>
                  </a:path>
                  <a:path w="21477" h="21600" stroke="0" extrusionOk="0">
                    <a:moveTo>
                      <a:pt x="0" y="0"/>
                    </a:moveTo>
                    <a:cubicBezTo>
                      <a:pt x="11039" y="0"/>
                      <a:pt x="20302" y="8324"/>
                      <a:pt x="21477" y="193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54" name="Arc 56"/>
              <p:cNvSpPr/>
              <p:nvPr/>
            </p:nvSpPr>
            <p:spPr bwMode="auto">
              <a:xfrm rot="-420000">
                <a:off x="4269" y="2907"/>
                <a:ext cx="311" cy="303"/>
              </a:xfrm>
              <a:custGeom>
                <a:avLst/>
                <a:gdLst>
                  <a:gd name="T0" fmla="*/ 0 w 21370"/>
                  <a:gd name="T1" fmla="*/ 0 h 21600"/>
                  <a:gd name="T2" fmla="*/ 0 w 21370"/>
                  <a:gd name="T3" fmla="*/ 0 h 21600"/>
                  <a:gd name="T4" fmla="*/ 0 w 2137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370" h="21600" fill="none" extrusionOk="0">
                    <a:moveTo>
                      <a:pt x="0" y="0"/>
                    </a:moveTo>
                    <a:cubicBezTo>
                      <a:pt x="10714" y="0"/>
                      <a:pt x="19810" y="7855"/>
                      <a:pt x="21369" y="18456"/>
                    </a:cubicBezTo>
                  </a:path>
                  <a:path w="21370" h="21600" stroke="0" extrusionOk="0">
                    <a:moveTo>
                      <a:pt x="0" y="0"/>
                    </a:moveTo>
                    <a:cubicBezTo>
                      <a:pt x="10714" y="0"/>
                      <a:pt x="19810" y="7855"/>
                      <a:pt x="21369" y="18456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55" name="Arc 57"/>
              <p:cNvSpPr/>
              <p:nvPr/>
            </p:nvSpPr>
            <p:spPr bwMode="auto">
              <a:xfrm rot="-300000">
                <a:off x="4468" y="2526"/>
                <a:ext cx="534" cy="467"/>
              </a:xfrm>
              <a:custGeom>
                <a:avLst/>
                <a:gdLst>
                  <a:gd name="T0" fmla="*/ 0 w 24158"/>
                  <a:gd name="T1" fmla="*/ 0 h 23613"/>
                  <a:gd name="T2" fmla="*/ 0 w 24158"/>
                  <a:gd name="T3" fmla="*/ 0 h 23613"/>
                  <a:gd name="T4" fmla="*/ 0 w 24158"/>
                  <a:gd name="T5" fmla="*/ 0 h 236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158" h="23613" fill="none" extrusionOk="0">
                    <a:moveTo>
                      <a:pt x="0" y="152"/>
                    </a:moveTo>
                    <a:cubicBezTo>
                      <a:pt x="848" y="50"/>
                      <a:pt x="1703" y="-1"/>
                      <a:pt x="2558" y="0"/>
                    </a:cubicBezTo>
                    <a:cubicBezTo>
                      <a:pt x="14487" y="0"/>
                      <a:pt x="24158" y="9670"/>
                      <a:pt x="24158" y="21600"/>
                    </a:cubicBezTo>
                    <a:cubicBezTo>
                      <a:pt x="24158" y="22272"/>
                      <a:pt x="24126" y="22943"/>
                      <a:pt x="24063" y="23612"/>
                    </a:cubicBezTo>
                  </a:path>
                  <a:path w="24158" h="23613" stroke="0" extrusionOk="0">
                    <a:moveTo>
                      <a:pt x="0" y="152"/>
                    </a:moveTo>
                    <a:cubicBezTo>
                      <a:pt x="848" y="50"/>
                      <a:pt x="1703" y="-1"/>
                      <a:pt x="2558" y="0"/>
                    </a:cubicBezTo>
                    <a:cubicBezTo>
                      <a:pt x="14487" y="0"/>
                      <a:pt x="24158" y="9670"/>
                      <a:pt x="24158" y="21600"/>
                    </a:cubicBezTo>
                    <a:cubicBezTo>
                      <a:pt x="24158" y="22272"/>
                      <a:pt x="24126" y="22943"/>
                      <a:pt x="24063" y="23612"/>
                    </a:cubicBezTo>
                    <a:lnTo>
                      <a:pt x="2558" y="21600"/>
                    </a:lnTo>
                    <a:lnTo>
                      <a:pt x="0" y="152"/>
                    </a:lnTo>
                    <a:close/>
                  </a:path>
                </a:pathLst>
              </a:custGeom>
              <a:noFill/>
              <a:ln w="381000">
                <a:solidFill>
                  <a:srgbClr val="DDDDD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56" name="Arc 58"/>
              <p:cNvSpPr/>
              <p:nvPr/>
            </p:nvSpPr>
            <p:spPr bwMode="auto">
              <a:xfrm rot="-188591">
                <a:off x="4578" y="2663"/>
                <a:ext cx="289" cy="272"/>
              </a:xfrm>
              <a:custGeom>
                <a:avLst/>
                <a:gdLst>
                  <a:gd name="T0" fmla="*/ 0 w 21563"/>
                  <a:gd name="T1" fmla="*/ 0 h 21592"/>
                  <a:gd name="T2" fmla="*/ 0 w 21563"/>
                  <a:gd name="T3" fmla="*/ 0 h 21592"/>
                  <a:gd name="T4" fmla="*/ 0 w 21563"/>
                  <a:gd name="T5" fmla="*/ 0 h 215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63" h="21592" fill="none" extrusionOk="0">
                    <a:moveTo>
                      <a:pt x="593" y="0"/>
                    </a:moveTo>
                    <a:cubicBezTo>
                      <a:pt x="11802" y="308"/>
                      <a:pt x="20910" y="9141"/>
                      <a:pt x="21563" y="20334"/>
                    </a:cubicBezTo>
                  </a:path>
                  <a:path w="21563" h="21592" stroke="0" extrusionOk="0">
                    <a:moveTo>
                      <a:pt x="593" y="0"/>
                    </a:moveTo>
                    <a:cubicBezTo>
                      <a:pt x="11802" y="308"/>
                      <a:pt x="20910" y="9141"/>
                      <a:pt x="21563" y="20334"/>
                    </a:cubicBezTo>
                    <a:lnTo>
                      <a:pt x="0" y="21592"/>
                    </a:lnTo>
                    <a:lnTo>
                      <a:pt x="593" y="0"/>
                    </a:lnTo>
                    <a:close/>
                  </a:path>
                </a:pathLst>
              </a:custGeom>
              <a:noFill/>
              <a:ln w="22225">
                <a:solidFill>
                  <a:srgbClr val="000000"/>
                </a:solidFill>
                <a:round/>
                <a:headEnd type="triangl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57" name="Arc 59"/>
              <p:cNvSpPr/>
              <p:nvPr/>
            </p:nvSpPr>
            <p:spPr bwMode="auto">
              <a:xfrm rot="-480000">
                <a:off x="4476" y="2387"/>
                <a:ext cx="638" cy="619"/>
              </a:xfrm>
              <a:custGeom>
                <a:avLst/>
                <a:gdLst>
                  <a:gd name="T0" fmla="*/ 0 w 22706"/>
                  <a:gd name="T1" fmla="*/ 0 h 21600"/>
                  <a:gd name="T2" fmla="*/ 0 w 22706"/>
                  <a:gd name="T3" fmla="*/ 0 h 21600"/>
                  <a:gd name="T4" fmla="*/ 0 w 22706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706" h="21600" fill="none" extrusionOk="0">
                    <a:moveTo>
                      <a:pt x="0" y="28"/>
                    </a:moveTo>
                    <a:cubicBezTo>
                      <a:pt x="368" y="9"/>
                      <a:pt x="737" y="-1"/>
                      <a:pt x="1106" y="0"/>
                    </a:cubicBezTo>
                    <a:cubicBezTo>
                      <a:pt x="13035" y="0"/>
                      <a:pt x="22706" y="9670"/>
                      <a:pt x="22706" y="21600"/>
                    </a:cubicBezTo>
                  </a:path>
                  <a:path w="22706" h="21600" stroke="0" extrusionOk="0">
                    <a:moveTo>
                      <a:pt x="0" y="28"/>
                    </a:moveTo>
                    <a:cubicBezTo>
                      <a:pt x="368" y="9"/>
                      <a:pt x="737" y="-1"/>
                      <a:pt x="1106" y="0"/>
                    </a:cubicBezTo>
                    <a:cubicBezTo>
                      <a:pt x="13035" y="0"/>
                      <a:pt x="22706" y="9670"/>
                      <a:pt x="22706" y="21600"/>
                    </a:cubicBezTo>
                    <a:lnTo>
                      <a:pt x="1106" y="21600"/>
                    </a:lnTo>
                    <a:lnTo>
                      <a:pt x="0" y="28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DDDDD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58" name="Line 60"/>
              <p:cNvSpPr>
                <a:spLocks noChangeShapeType="1"/>
              </p:cNvSpPr>
              <p:nvPr/>
            </p:nvSpPr>
            <p:spPr bwMode="auto">
              <a:xfrm rot="360000">
                <a:off x="5149" y="2972"/>
                <a:ext cx="1" cy="20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59" name="Line 61"/>
              <p:cNvSpPr>
                <a:spLocks noChangeShapeType="1"/>
              </p:cNvSpPr>
              <p:nvPr/>
            </p:nvSpPr>
            <p:spPr bwMode="auto">
              <a:xfrm rot="2940000" flipV="1">
                <a:off x="4752" y="3002"/>
                <a:ext cx="216" cy="533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60" name="Line 62"/>
              <p:cNvSpPr>
                <a:spLocks noChangeShapeType="1"/>
              </p:cNvSpPr>
              <p:nvPr/>
            </p:nvSpPr>
            <p:spPr bwMode="auto">
              <a:xfrm rot="2940000" flipV="1">
                <a:off x="4771" y="2795"/>
                <a:ext cx="216" cy="53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61" name="Line 63"/>
              <p:cNvSpPr>
                <a:spLocks noChangeShapeType="1"/>
              </p:cNvSpPr>
              <p:nvPr/>
            </p:nvSpPr>
            <p:spPr bwMode="auto">
              <a:xfrm rot="420000">
                <a:off x="4576" y="3125"/>
                <a:ext cx="28" cy="215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62" name="Line 64"/>
              <p:cNvSpPr>
                <a:spLocks noChangeShapeType="1"/>
              </p:cNvSpPr>
              <p:nvPr/>
            </p:nvSpPr>
            <p:spPr bwMode="auto">
              <a:xfrm rot="420000">
                <a:off x="4240" y="2929"/>
                <a:ext cx="0" cy="16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63" name="Line 65"/>
              <p:cNvSpPr>
                <a:spLocks noChangeShapeType="1"/>
              </p:cNvSpPr>
              <p:nvPr/>
            </p:nvSpPr>
            <p:spPr bwMode="auto">
              <a:xfrm rot="2719958" flipH="1" flipV="1">
                <a:off x="4233" y="2421"/>
                <a:ext cx="220" cy="51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64" name="Line 66"/>
              <p:cNvSpPr>
                <a:spLocks noChangeShapeType="1"/>
              </p:cNvSpPr>
              <p:nvPr/>
            </p:nvSpPr>
            <p:spPr bwMode="auto">
              <a:xfrm rot="2940000" flipV="1">
                <a:off x="4262" y="2991"/>
                <a:ext cx="185" cy="4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365" name="Text Box 67"/>
              <p:cNvSpPr txBox="1">
                <a:spLocks noChangeArrowheads="1"/>
              </p:cNvSpPr>
              <p:nvPr/>
            </p:nvSpPr>
            <p:spPr bwMode="auto">
              <a:xfrm>
                <a:off x="5193" y="2931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h</a:t>
                </a:r>
                <a:endPara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11366" name="Text Box 68"/>
              <p:cNvSpPr txBox="1">
                <a:spLocks noChangeArrowheads="1"/>
              </p:cNvSpPr>
              <p:nvPr/>
            </p:nvSpPr>
            <p:spPr bwMode="auto">
              <a:xfrm>
                <a:off x="3923" y="2617"/>
                <a:ext cx="3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r</a:t>
                </a:r>
                <a:r>
                  <a:rPr kumimoji="1" lang="en-US" altLang="zh-CN" sz="24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endParaRPr kumimoji="1" lang="en-US" altLang="zh-CN" sz="24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11367" name="Text Box 69"/>
              <p:cNvSpPr txBox="1">
                <a:spLocks noChangeArrowheads="1"/>
              </p:cNvSpPr>
              <p:nvPr/>
            </p:nvSpPr>
            <p:spPr bwMode="auto">
              <a:xfrm>
                <a:off x="4135" y="2940"/>
                <a:ext cx="3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anose="05050102010706020507" pitchFamily="18" charset="2"/>
                  </a:rPr>
                  <a:t></a:t>
                </a:r>
                <a:r>
                  <a:rPr kumimoji="1" lang="en-US" altLang="zh-CN" sz="2400" b="1" baseline="-25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kumimoji="1" lang="en-US" altLang="zh-CN" sz="2400" b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311368" name="Object 70"/>
              <p:cNvGraphicFramePr>
                <a:graphicFrameLocks noChangeAspect="1"/>
              </p:cNvGraphicFramePr>
              <p:nvPr/>
            </p:nvGraphicFramePr>
            <p:xfrm>
              <a:off x="4484" y="2433"/>
              <a:ext cx="183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0523" name="Equation" r:id="rId9" imgW="114300" imgH="215900" progId="Equation.DSMT4">
                      <p:embed/>
                    </p:oleObj>
                  </mc:Choice>
                  <mc:Fallback>
                    <p:oleObj name="Equation" r:id="rId9" imgW="114300" imgH="215900" progId="Equation.DSMT4">
                      <p:embed/>
                      <p:pic>
                        <p:nvPicPr>
                          <p:cNvPr id="0" name="图片 1005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4" y="2433"/>
                            <a:ext cx="183" cy="2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1369" name="Text Box 71"/>
              <p:cNvSpPr txBox="1">
                <a:spLocks noChangeArrowheads="1"/>
              </p:cNvSpPr>
              <p:nvPr/>
            </p:nvSpPr>
            <p:spPr bwMode="auto">
              <a:xfrm>
                <a:off x="4408" y="2710"/>
                <a:ext cx="3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spcBef>
                    <a:spcPct val="50000"/>
                  </a:spcBef>
                </a:pPr>
                <a:r>
                  <a:rPr kumimoji="1" lang="el-GR" altLang="zh-CN" sz="2400" b="1" i="1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σ</a:t>
                </a:r>
                <a:endParaRPr kumimoji="1" lang="el-GR" altLang="zh-CN" sz="2400" b="1" baseline="-2500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</p:grpSp>
      <p:sp>
        <p:nvSpPr>
          <p:cNvPr id="311370" name="Text Box 74"/>
          <p:cNvSpPr txBox="1">
            <a:spLocks noChangeArrowheads="1"/>
          </p:cNvSpPr>
          <p:nvPr/>
        </p:nvSpPr>
        <p:spPr bwMode="auto">
          <a:xfrm>
            <a:off x="1524000" y="115889"/>
            <a:ext cx="91440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ea typeface="楷体_GB2312" pitchFamily="49" charset="-122"/>
              </a:rPr>
              <a:t>Ex.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</a:rPr>
              <a:t>Annular conducting medium with thickness of </a:t>
            </a:r>
            <a:r>
              <a:rPr lang="en-US" altLang="zh-CN" sz="2400" b="1" i="1">
                <a:solidFill>
                  <a:srgbClr val="000000"/>
                </a:solidFill>
              </a:rPr>
              <a:t>h</a:t>
            </a:r>
            <a:r>
              <a:rPr lang="en-US" altLang="zh-CN" sz="2400" b="1">
                <a:solidFill>
                  <a:srgbClr val="000000"/>
                </a:solidFill>
              </a:rPr>
              <a:t> and two radius of </a:t>
            </a:r>
            <a:r>
              <a:rPr lang="en-US" altLang="zh-CN" sz="2400" b="1" i="1">
                <a:solidFill>
                  <a:srgbClr val="000000"/>
                </a:solidFill>
              </a:rPr>
              <a:t>r</a:t>
            </a:r>
            <a:r>
              <a:rPr lang="en-US" altLang="zh-CN" sz="2400" b="1">
                <a:solidFill>
                  <a:srgbClr val="000000"/>
                </a:solidFill>
              </a:rPr>
              <a:t>1 and </a:t>
            </a:r>
            <a:r>
              <a:rPr lang="en-US" altLang="zh-CN" sz="2400" b="1" i="1">
                <a:solidFill>
                  <a:srgbClr val="000000"/>
                </a:solidFill>
              </a:rPr>
              <a:t>r</a:t>
            </a:r>
            <a:r>
              <a:rPr lang="en-US" altLang="zh-CN" sz="2400" b="1">
                <a:solidFill>
                  <a:srgbClr val="000000"/>
                </a:solidFill>
              </a:rPr>
              <a:t>2, has angle of </a:t>
            </a:r>
            <a:r>
              <a:rPr lang="en-US" altLang="zh-CN" sz="2400" b="1" i="1">
                <a:solidFill>
                  <a:srgbClr val="000000"/>
                </a:solidFill>
                <a:sym typeface="Symbol" panose="05050102010706020507" pitchFamily="18" charset="2"/>
              </a:rPr>
              <a:t> </a:t>
            </a:r>
            <a:r>
              <a:rPr lang="en-US" altLang="zh-CN" sz="2400" b="1" baseline="-25000">
                <a:solidFill>
                  <a:srgbClr val="000000"/>
                </a:solidFill>
              </a:rPr>
              <a:t>0</a:t>
            </a:r>
            <a:r>
              <a:rPr lang="en-US" altLang="zh-CN" sz="2400" b="1">
                <a:solidFill>
                  <a:srgbClr val="000000"/>
                </a:solidFill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. </a:t>
            </a:r>
            <a:r>
              <a:rPr lang="en-US" altLang="en-US" sz="2400" b="1">
                <a:solidFill>
                  <a:srgbClr val="000000"/>
                </a:solidFill>
              </a:rPr>
              <a:t>The conductivity of the conductive medium</a:t>
            </a:r>
            <a:r>
              <a:rPr lang="en-US" altLang="zh-CN" sz="2400" b="1">
                <a:solidFill>
                  <a:srgbClr val="000000"/>
                </a:solidFill>
              </a:rPr>
              <a:t> is </a:t>
            </a:r>
            <a:r>
              <a:rPr lang="en-US" altLang="zh-CN" sz="2400" b="1" i="1">
                <a:solidFill>
                  <a:srgbClr val="000000"/>
                </a:solidFill>
              </a:rPr>
              <a:t>σ</a:t>
            </a:r>
            <a:r>
              <a:rPr lang="en-US" altLang="zh-CN" sz="2400" b="1">
                <a:solidFill>
                  <a:srgbClr val="000000"/>
                </a:solidFill>
              </a:rPr>
              <a:t>.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find the </a:t>
            </a:r>
            <a:r>
              <a:rPr lang="en-US" altLang="en-US" sz="2400" b="1">
                <a:solidFill>
                  <a:srgbClr val="000000"/>
                </a:solidFill>
              </a:rPr>
              <a:t>resistance between the two electrodes along the </a:t>
            </a:r>
            <a:r>
              <a:rPr lang="en-US" altLang="zh-CN" sz="2400" b="1" i="1">
                <a:solidFill>
                  <a:srgbClr val="000000"/>
                </a:solidFill>
                <a:sym typeface="Symbol" panose="05050102010706020507" pitchFamily="18" charset="2"/>
              </a:rPr>
              <a:t></a:t>
            </a:r>
            <a:r>
              <a:rPr lang="en-US" altLang="zh-CN" sz="2400" b="1">
                <a:solidFill>
                  <a:srgbClr val="000000"/>
                </a:solidFill>
                <a:sym typeface="Symbol" panose="05050102010706020507" pitchFamily="18" charset="2"/>
              </a:rPr>
              <a:t>  </a:t>
            </a:r>
            <a:r>
              <a:rPr lang="en-US" altLang="en-US" sz="2400" b="1">
                <a:solidFill>
                  <a:srgbClr val="000000"/>
                </a:solidFill>
              </a:rPr>
              <a:t>direction</a:t>
            </a:r>
            <a:r>
              <a:rPr lang="en-US" altLang="zh-CN" sz="2400" b="1">
                <a:solidFill>
                  <a:srgbClr val="000000"/>
                </a:solidFill>
              </a:rPr>
              <a:t>. </a:t>
            </a:r>
            <a:endParaRPr lang="en-US" altLang="zh-CN" sz="2400" b="1">
              <a:solidFill>
                <a:srgbClr val="000000"/>
              </a:solidFill>
            </a:endParaRPr>
          </a:p>
        </p:txBody>
      </p:sp>
      <p:sp>
        <p:nvSpPr>
          <p:cNvPr id="311371" name="Text Box 75"/>
          <p:cNvSpPr txBox="1">
            <a:spLocks noChangeArrowheads="1"/>
          </p:cNvSpPr>
          <p:nvPr/>
        </p:nvSpPr>
        <p:spPr bwMode="auto">
          <a:xfrm>
            <a:off x="1703388" y="2060576"/>
            <a:ext cx="8964612" cy="218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18" charset="0"/>
              </a:rPr>
              <a:t>Solution:</a:t>
            </a:r>
            <a:r>
              <a:rPr lang="en-US" altLang="zh-C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</a:rPr>
              <a:t>The voltage between two electrodes along </a:t>
            </a:r>
            <a:r>
              <a:rPr lang="en-US" altLang="zh-CN" sz="2200" b="1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direction is 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</a:rPr>
              <a:t>U0, then current is flowing along </a:t>
            </a:r>
            <a:r>
              <a:rPr lang="en-US" altLang="zh-CN" sz="2200" b="1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direction, 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</a:rPr>
              <a:t>and current density is changed with </a:t>
            </a:r>
            <a:r>
              <a:rPr lang="en-US" altLang="zh-CN" sz="2200" b="1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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. 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</a:rPr>
              <a:t>It is easy to determine that the potential </a:t>
            </a:r>
            <a:r>
              <a:rPr lang="en-US" altLang="zh-CN" sz="2200" b="1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</a:rPr>
              <a:t> is just a function variables </a:t>
            </a:r>
            <a:r>
              <a:rPr lang="en-US" altLang="zh-CN" sz="2200" b="1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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200" b="1">
                <a:solidFill>
                  <a:srgbClr val="0000CC"/>
                </a:solidFill>
                <a:latin typeface="Times New Roman" panose="02020603050405020304" pitchFamily="18" charset="0"/>
              </a:rPr>
              <a:t>thus the potential function satisfies the one-dimensional Laplace equation </a:t>
            </a:r>
            <a:endParaRPr lang="en-US" altLang="zh-CN" sz="22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08670" y="734292"/>
            <a:ext cx="159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Example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1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1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9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79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79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79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9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9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79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2580" grpId="0"/>
      <p:bldP spid="792584" grpId="0"/>
      <p:bldP spid="792585" grpId="0"/>
      <p:bldP spid="311370" grpId="0" autoUpdateAnimBg="0"/>
      <p:bldP spid="31137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Text Box 2"/>
          <p:cNvSpPr txBox="1">
            <a:spLocks noChangeArrowheads="1"/>
          </p:cNvSpPr>
          <p:nvPr/>
        </p:nvSpPr>
        <p:spPr bwMode="auto">
          <a:xfrm>
            <a:off x="2063751" y="2205039"/>
            <a:ext cx="20161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Current density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3603" name="Object 3"/>
          <p:cNvGraphicFramePr>
            <a:graphicFrameLocks noChangeAspect="1"/>
          </p:cNvGraphicFramePr>
          <p:nvPr/>
        </p:nvGraphicFramePr>
        <p:xfrm>
          <a:off x="4295776" y="2276476"/>
          <a:ext cx="2176463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43" name="Equation" r:id="rId1" imgW="1498600" imgH="495300" progId="Equation.DSMT4">
                  <p:embed/>
                </p:oleObj>
              </mc:Choice>
              <mc:Fallback>
                <p:oleObj name="Equation" r:id="rId1" imgW="1498600" imgH="495300" progId="Equation.DSMT4">
                  <p:embed/>
                  <p:pic>
                    <p:nvPicPr>
                      <p:cNvPr id="0" name="图片 1015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6" y="2276476"/>
                        <a:ext cx="2176463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04" name="Text Box 4"/>
          <p:cNvSpPr txBox="1">
            <a:spLocks noChangeArrowheads="1"/>
          </p:cNvSpPr>
          <p:nvPr/>
        </p:nvSpPr>
        <p:spPr bwMode="auto">
          <a:xfrm>
            <a:off x="1990725" y="3429001"/>
            <a:ext cx="18732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current between two plates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3605" name="Object 5"/>
          <p:cNvGraphicFramePr>
            <a:graphicFrameLocks noChangeAspect="1"/>
          </p:cNvGraphicFramePr>
          <p:nvPr/>
        </p:nvGraphicFramePr>
        <p:xfrm>
          <a:off x="3890964" y="3500439"/>
          <a:ext cx="6237287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44" name="Equation" r:id="rId3" imgW="3594100" imgH="495300" progId="Equation.DSMT4">
                  <p:embed/>
                </p:oleObj>
              </mc:Choice>
              <mc:Fallback>
                <p:oleObj name="Equation" r:id="rId3" imgW="3594100" imgH="495300" progId="Equation.DSMT4">
                  <p:embed/>
                  <p:pic>
                    <p:nvPicPr>
                      <p:cNvPr id="0" name="图片 1015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4" y="3500439"/>
                        <a:ext cx="6237287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06" name="Text Box 6"/>
          <p:cNvSpPr txBox="1">
            <a:spLocks noChangeArrowheads="1"/>
          </p:cNvSpPr>
          <p:nvPr/>
        </p:nvSpPr>
        <p:spPr bwMode="auto">
          <a:xfrm>
            <a:off x="2063750" y="4941889"/>
            <a:ext cx="32400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So the resistance between two plates along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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direction is: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3607" name="Object 7"/>
          <p:cNvGraphicFramePr>
            <a:graphicFrameLocks noChangeAspect="1"/>
          </p:cNvGraphicFramePr>
          <p:nvPr/>
        </p:nvGraphicFramePr>
        <p:xfrm>
          <a:off x="5016500" y="4941888"/>
          <a:ext cx="42481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45" name="Equation" r:id="rId5" imgW="2273300" imgH="495300" progId="Equation.DSMT4">
                  <p:embed/>
                </p:oleObj>
              </mc:Choice>
              <mc:Fallback>
                <p:oleObj name="Equation" r:id="rId5" imgW="2273300" imgH="495300" progId="Equation.DSMT4">
                  <p:embed/>
                  <p:pic>
                    <p:nvPicPr>
                      <p:cNvPr id="0" name="图片 1015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4941888"/>
                        <a:ext cx="424815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08" name="Object 8"/>
          <p:cNvGraphicFramePr>
            <a:graphicFrameLocks noChangeAspect="1"/>
          </p:cNvGraphicFramePr>
          <p:nvPr/>
        </p:nvGraphicFramePr>
        <p:xfrm>
          <a:off x="4295776" y="476250"/>
          <a:ext cx="17113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46" name="Equation" r:id="rId7" imgW="1155700" imgH="495300" progId="Equation.DSMT4">
                  <p:embed/>
                </p:oleObj>
              </mc:Choice>
              <mc:Fallback>
                <p:oleObj name="Equation" r:id="rId7" imgW="1155700" imgH="495300" progId="Equation.DSMT4">
                  <p:embed/>
                  <p:pic>
                    <p:nvPicPr>
                      <p:cNvPr id="0" name="图片 1015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6" y="476250"/>
                        <a:ext cx="17113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09" name="Text Box 9"/>
          <p:cNvSpPr txBox="1">
            <a:spLocks noChangeArrowheads="1"/>
          </p:cNvSpPr>
          <p:nvPr/>
        </p:nvSpPr>
        <p:spPr bwMode="auto">
          <a:xfrm>
            <a:off x="2135189" y="692150"/>
            <a:ext cx="1354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So</a:t>
            </a:r>
            <a:endParaRPr kumimoji="1"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3610" name="Object 10"/>
          <p:cNvGraphicFramePr>
            <a:graphicFrameLocks noChangeAspect="1"/>
          </p:cNvGraphicFramePr>
          <p:nvPr/>
        </p:nvGraphicFramePr>
        <p:xfrm>
          <a:off x="4151313" y="1341438"/>
          <a:ext cx="34464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47" name="Equation" r:id="rId9" imgW="2413000" imgH="495300" progId="Equation.DSMT4">
                  <p:embed/>
                </p:oleObj>
              </mc:Choice>
              <mc:Fallback>
                <p:oleObj name="Equation" r:id="rId9" imgW="2413000" imgH="495300" progId="Equation.DSMT4">
                  <p:embed/>
                  <p:pic>
                    <p:nvPicPr>
                      <p:cNvPr id="0" name="图片 1015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1341438"/>
                        <a:ext cx="34464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45638" y="5589588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  <p:sp>
        <p:nvSpPr>
          <p:cNvPr id="12" name="文本框 11"/>
          <p:cNvSpPr txBox="1"/>
          <p:nvPr/>
        </p:nvSpPr>
        <p:spPr>
          <a:xfrm>
            <a:off x="108670" y="734292"/>
            <a:ext cx="1594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Example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9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9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9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9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9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79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79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79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79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3602" grpId="0"/>
      <p:bldP spid="793604" grpId="0"/>
      <p:bldP spid="793606" grpId="0"/>
      <p:bldP spid="79360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4" name="Text Box 3"/>
          <p:cNvSpPr txBox="1">
            <a:spLocks noChangeArrowheads="1"/>
          </p:cNvSpPr>
          <p:nvPr/>
        </p:nvSpPr>
        <p:spPr bwMode="auto">
          <a:xfrm>
            <a:off x="1703389" y="1916113"/>
            <a:ext cx="8783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10000"/>
              </a:spcBef>
            </a:pPr>
            <a:r>
              <a:rPr kumimoji="1" lang="en-US" altLang="zh-CN" sz="2400" b="1" dirty="0">
                <a:solidFill>
                  <a:srgbClr val="0000CC"/>
                </a:solidFill>
                <a:ea typeface="幼圆" panose="020105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CC"/>
                </a:solidFill>
                <a:ea typeface="幼圆" panose="02010509060101010101" pitchFamily="49" charset="-122"/>
              </a:rPr>
              <a:t>一、</a:t>
            </a:r>
            <a:r>
              <a:rPr kumimoji="1" lang="en-US" altLang="zh-CN" sz="2400" b="1" dirty="0">
                <a:solidFill>
                  <a:srgbClr val="0000CC"/>
                </a:solidFill>
                <a:ea typeface="幼圆" panose="02010509060101010101" pitchFamily="49" charset="-122"/>
              </a:rPr>
              <a:t>Field is generated by static charge (electrostatic field)</a:t>
            </a:r>
            <a:endParaRPr kumimoji="1" lang="en-US" altLang="zh-CN" sz="2400" b="1" dirty="0">
              <a:solidFill>
                <a:srgbClr val="0000CC"/>
              </a:solidFill>
              <a:ea typeface="幼圆" panose="02010509060101010101" pitchFamily="49" charset="-122"/>
            </a:endParaRPr>
          </a:p>
        </p:txBody>
      </p:sp>
      <p:sp>
        <p:nvSpPr>
          <p:cNvPr id="317445" name="Text Box 4"/>
          <p:cNvSpPr txBox="1">
            <a:spLocks noChangeArrowheads="1"/>
          </p:cNvSpPr>
          <p:nvPr/>
        </p:nvSpPr>
        <p:spPr bwMode="auto">
          <a:xfrm>
            <a:off x="1440873" y="2636838"/>
            <a:ext cx="10404764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00"/>
                </a:solidFill>
                <a:ea typeface="幼圆" panose="02010509060101010101" pitchFamily="49" charset="-122"/>
              </a:rPr>
              <a:t>The electric field is zero inside the conductor(                )</a:t>
            </a:r>
            <a:endParaRPr kumimoji="1" lang="en-US" altLang="zh-CN" sz="2400" b="1" dirty="0">
              <a:solidFill>
                <a:srgbClr val="000000"/>
              </a:solidFill>
              <a:ea typeface="幼圆" panose="02010509060101010101" pitchFamily="49" charset="-122"/>
            </a:endParaRPr>
          </a:p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00"/>
                </a:solidFill>
                <a:ea typeface="幼圆" panose="02010509060101010101" pitchFamily="49" charset="-122"/>
              </a:rPr>
              <a:t>The tangential electric field is zero on the surface of a conductor        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幼圆" panose="02010509060101010101" pitchFamily="49" charset="-122"/>
              </a:rPr>
              <a:t>		</a:t>
            </a:r>
            <a:r>
              <a:rPr kumimoji="1" lang="en-US" altLang="zh-CN" sz="2400" b="1" dirty="0" smtClean="0">
                <a:solidFill>
                  <a:srgbClr val="FF0000"/>
                </a:solidFill>
                <a:ea typeface="幼圆" panose="02010509060101010101" pitchFamily="49" charset="-122"/>
              </a:rPr>
              <a:t>equal </a:t>
            </a:r>
            <a:r>
              <a:rPr kumimoji="1" lang="en-US" altLang="zh-CN" sz="2400" b="1" dirty="0">
                <a:solidFill>
                  <a:srgbClr val="FF0000"/>
                </a:solidFill>
                <a:ea typeface="幼圆" panose="02010509060101010101" pitchFamily="49" charset="-122"/>
              </a:rPr>
              <a:t>potential body</a:t>
            </a:r>
            <a:endParaRPr kumimoji="1" lang="en-US" altLang="zh-CN" sz="2400" b="1" dirty="0">
              <a:solidFill>
                <a:srgbClr val="FF0000"/>
              </a:solidFill>
              <a:ea typeface="幼圆" panose="02010509060101010101" pitchFamily="49" charset="-122"/>
            </a:endParaRPr>
          </a:p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00"/>
                </a:solidFill>
                <a:ea typeface="幼圆" panose="02010509060101010101" pitchFamily="49" charset="-122"/>
              </a:rPr>
              <a:t> The charge is zero inside the conductor </a:t>
            </a:r>
            <a:endParaRPr kumimoji="1" lang="en-US" altLang="zh-CN" sz="2400" b="1" dirty="0">
              <a:solidFill>
                <a:srgbClr val="000000"/>
              </a:solidFill>
              <a:ea typeface="幼圆" panose="02010509060101010101" pitchFamily="49" charset="-122"/>
            </a:endParaRPr>
          </a:p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00"/>
                </a:solidFill>
                <a:ea typeface="幼圆" panose="02010509060101010101" pitchFamily="49" charset="-122"/>
              </a:rPr>
              <a:t> Charge can only be located on the surface of the conductor, and it is concentrated in the sharp part of the surface. </a:t>
            </a:r>
            <a:endParaRPr kumimoji="1" lang="en-US" altLang="zh-CN" sz="2400" b="1" dirty="0">
              <a:solidFill>
                <a:srgbClr val="000000"/>
              </a:solidFill>
              <a:ea typeface="幼圆" panose="02010509060101010101" pitchFamily="49" charset="-122"/>
            </a:endParaRPr>
          </a:p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00"/>
                </a:solidFill>
                <a:ea typeface="幼圆" panose="02010509060101010101" pitchFamily="49" charset="-122"/>
              </a:rPr>
              <a:t> Application: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electrostatic</a:t>
            </a:r>
            <a:r>
              <a:rPr kumimoji="1" lang="en-US" altLang="zh-CN" sz="2400" b="1" dirty="0">
                <a:solidFill>
                  <a:srgbClr val="000000"/>
                </a:solidFill>
                <a:ea typeface="幼圆" panose="02010509060101010101" pitchFamily="49" charset="-122"/>
              </a:rPr>
              <a:t> induction, electrostatic shielding, lightning rod </a:t>
            </a:r>
            <a:r>
              <a:rPr kumimoji="1" lang="zh-CN" altLang="en-US" sz="2400" b="1" dirty="0">
                <a:solidFill>
                  <a:srgbClr val="000000"/>
                </a:solidFill>
                <a:ea typeface="幼圆" panose="02010509060101010101" pitchFamily="49" charset="-122"/>
              </a:rPr>
              <a:t>，</a:t>
            </a:r>
            <a:r>
              <a:rPr kumimoji="1" lang="en-US" altLang="zh-CN" sz="2400" b="1" dirty="0">
                <a:solidFill>
                  <a:srgbClr val="000000"/>
                </a:solidFill>
                <a:ea typeface="幼圆" panose="02010509060101010101" pitchFamily="49" charset="-122"/>
              </a:rPr>
              <a:t>… …</a:t>
            </a:r>
            <a:endParaRPr kumimoji="1" lang="en-US" altLang="zh-CN" sz="2400" dirty="0"/>
          </a:p>
        </p:txBody>
      </p:sp>
      <p:sp>
        <p:nvSpPr>
          <p:cNvPr id="317446" name="Text Box 5"/>
          <p:cNvSpPr txBox="1">
            <a:spLocks noChangeArrowheads="1"/>
          </p:cNvSpPr>
          <p:nvPr/>
        </p:nvSpPr>
        <p:spPr bwMode="auto">
          <a:xfrm>
            <a:off x="2784476" y="806451"/>
            <a:ext cx="6119813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rgbClr val="800000"/>
                </a:solidFill>
                <a:ea typeface="黑体" panose="02010609060101010101" pitchFamily="49" charset="-122"/>
              </a:rPr>
              <a:t>Typical phenomena and conclusions of static electric field</a:t>
            </a:r>
            <a:endParaRPr lang="en-US" altLang="zh-CN" sz="2400" b="1" dirty="0">
              <a:solidFill>
                <a:srgbClr val="80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17447" name="Object 6"/>
          <p:cNvGraphicFramePr>
            <a:graphicFrameLocks noChangeAspect="1"/>
          </p:cNvGraphicFramePr>
          <p:nvPr/>
        </p:nvGraphicFramePr>
        <p:xfrm>
          <a:off x="1703388" y="822325"/>
          <a:ext cx="7620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8" name="剪辑" r:id="rId1" imgW="2013585" imgH="1930400" progId="MS_ClipArt_Gallery.2">
                  <p:embed/>
                </p:oleObj>
              </mc:Choice>
              <mc:Fallback>
                <p:oleObj name="剪辑" r:id="rId1" imgW="2013585" imgH="1930400" progId="MS_ClipArt_Gallery.2">
                  <p:embed/>
                  <p:pic>
                    <p:nvPicPr>
                      <p:cNvPr id="0" name="图片 1024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822325"/>
                        <a:ext cx="7620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8" name="AutoShape 8"/>
          <p:cNvSpPr>
            <a:spLocks noChangeArrowheads="1"/>
          </p:cNvSpPr>
          <p:nvPr/>
        </p:nvSpPr>
        <p:spPr bwMode="auto">
          <a:xfrm>
            <a:off x="2084388" y="3692814"/>
            <a:ext cx="792162" cy="217488"/>
          </a:xfrm>
          <a:prstGeom prst="rightArrow">
            <a:avLst>
              <a:gd name="adj1" fmla="val 50000"/>
              <a:gd name="adj2" fmla="val 91058"/>
            </a:avLst>
          </a:prstGeom>
          <a:noFill/>
          <a:ln w="15875">
            <a:solidFill>
              <a:schemeClr val="hlink"/>
            </a:solidFill>
            <a:miter lim="800000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kumimoji="1" lang="zh-CN" altLang="zh-CN">
              <a:solidFill>
                <a:srgbClr val="000099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317449" name="对象 3"/>
          <p:cNvGraphicFramePr>
            <a:graphicFrameLocks noChangeAspect="1"/>
          </p:cNvGraphicFramePr>
          <p:nvPr/>
        </p:nvGraphicFramePr>
        <p:xfrm>
          <a:off x="8517083" y="2636838"/>
          <a:ext cx="987135" cy="46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9" name="Equation" r:id="rId3" imgW="380365" imgH="177800" progId="Equation.DSMT4">
                  <p:embed/>
                </p:oleObj>
              </mc:Choice>
              <mc:Fallback>
                <p:oleObj name="Equation" r:id="rId3" imgW="380365" imgH="177800" progId="Equation.DSMT4">
                  <p:embed/>
                  <p:pic>
                    <p:nvPicPr>
                      <p:cNvPr id="0" name="图片 1024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7083" y="2636838"/>
                        <a:ext cx="987135" cy="46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Text Box 3"/>
          <p:cNvSpPr txBox="1">
            <a:spLocks noChangeArrowheads="1"/>
          </p:cNvSpPr>
          <p:nvPr/>
        </p:nvSpPr>
        <p:spPr bwMode="auto">
          <a:xfrm>
            <a:off x="2208214" y="1268413"/>
            <a:ext cx="7596187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10000"/>
              </a:spcBef>
            </a:pPr>
            <a:r>
              <a:rPr kumimoji="1" lang="en-US" altLang="zh-CN" sz="2400" b="1">
                <a:solidFill>
                  <a:srgbClr val="0000CC"/>
                </a:solidFill>
                <a:ea typeface="幼圆" panose="02010509060101010101" pitchFamily="49" charset="-122"/>
              </a:rPr>
              <a:t>     </a:t>
            </a:r>
            <a:r>
              <a:rPr kumimoji="1" lang="zh-CN" altLang="en-US" sz="2400" b="1">
                <a:solidFill>
                  <a:srgbClr val="0000CC"/>
                </a:solidFill>
                <a:ea typeface="幼圆" panose="02010509060101010101" pitchFamily="49" charset="-122"/>
              </a:rPr>
              <a:t>二、</a:t>
            </a:r>
            <a:r>
              <a:rPr kumimoji="1" lang="en-US" altLang="zh-CN" sz="2400" b="1">
                <a:solidFill>
                  <a:srgbClr val="0000CC"/>
                </a:solidFill>
                <a:ea typeface="幼圆" panose="02010509060101010101" pitchFamily="49" charset="-122"/>
              </a:rPr>
              <a:t>The DC electric field of the moving charge </a:t>
            </a:r>
            <a:endParaRPr kumimoji="1" lang="en-US" altLang="zh-CN" sz="2400" b="1">
              <a:solidFill>
                <a:srgbClr val="0000CC"/>
              </a:solidFill>
              <a:ea typeface="幼圆" panose="02010509060101010101" pitchFamily="49" charset="-122"/>
            </a:endParaRPr>
          </a:p>
          <a:p>
            <a:pPr eaLnBrk="0" hangingPunct="0">
              <a:spcBef>
                <a:spcPct val="10000"/>
              </a:spcBef>
            </a:pPr>
            <a:r>
              <a:rPr kumimoji="1" lang="en-US" altLang="zh-CN" sz="2400" b="1">
                <a:solidFill>
                  <a:srgbClr val="0000CC"/>
                </a:solidFill>
                <a:ea typeface="幼圆" panose="02010509060101010101" pitchFamily="49" charset="-122"/>
              </a:rPr>
              <a:t>            (steady electric field)</a:t>
            </a:r>
            <a:endParaRPr kumimoji="1" lang="en-US" altLang="zh-CN" sz="2400" b="1">
              <a:solidFill>
                <a:srgbClr val="0000CC"/>
              </a:solidFill>
              <a:ea typeface="幼圆" panose="02010509060101010101" pitchFamily="49" charset="-122"/>
            </a:endParaRPr>
          </a:p>
        </p:txBody>
      </p:sp>
      <p:sp>
        <p:nvSpPr>
          <p:cNvPr id="318469" name="Text Box 4"/>
          <p:cNvSpPr txBox="1">
            <a:spLocks noChangeArrowheads="1"/>
          </p:cNvSpPr>
          <p:nvPr/>
        </p:nvSpPr>
        <p:spPr bwMode="auto">
          <a:xfrm>
            <a:off x="1205345" y="2276476"/>
            <a:ext cx="10778837" cy="47089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There may be electric field     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黑体" panose="02010609060101010101" pitchFamily="49" charset="-122"/>
              </a:rPr>
              <a:t>inside </a:t>
            </a:r>
            <a:r>
              <a:rPr kumimoji="1" lang="en-US" altLang="zh-CN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the conductor(                )</a:t>
            </a:r>
            <a:endParaRPr kumimoji="1" lang="en-US" altLang="zh-CN" sz="2400" b="1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 The tangential electric field is not zero on the surface of the conductor.                    </a:t>
            </a:r>
            <a:r>
              <a:rPr kumimoji="1" lang="en-US" altLang="zh-CN" sz="2400" b="1" dirty="0" smtClean="0">
                <a:solidFill>
                  <a:srgbClr val="000000"/>
                </a:solidFill>
                <a:ea typeface="黑体" panose="02010609060101010101" pitchFamily="49" charset="-122"/>
              </a:rPr>
              <a:t>		</a:t>
            </a:r>
            <a:r>
              <a:rPr kumimoji="1" lang="en-US" altLang="zh-CN" sz="2400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Non </a:t>
            </a:r>
            <a:r>
              <a:rPr kumimoji="1"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equal potential body</a:t>
            </a:r>
            <a:endParaRPr kumimoji="1" lang="en-US" altLang="zh-CN" sz="24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 There may be moving charge inside the conductor, but the net charge is zero. </a:t>
            </a:r>
            <a:endParaRPr kumimoji="1" lang="en-US" altLang="zh-CN" sz="2400" b="1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Net charge can only be located on the surface of the conductor </a:t>
            </a:r>
            <a:endParaRPr kumimoji="1" lang="en-US" altLang="zh-CN" sz="2400" b="1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The electric field  and current inside the perfect conductor  (            ), </a:t>
            </a:r>
            <a:r>
              <a:rPr kumimoji="1" lang="en-US" altLang="zh-CN" sz="2400" b="1" dirty="0">
                <a:solidFill>
                  <a:srgbClr val="000000"/>
                </a:solidFill>
              </a:rPr>
              <a:t>is zero</a:t>
            </a:r>
            <a:r>
              <a:rPr kumimoji="1" lang="en-US" altLang="zh-CN" sz="2400" dirty="0">
                <a:solidFill>
                  <a:srgbClr val="000000"/>
                </a:solidFill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.</a:t>
            </a:r>
            <a:endParaRPr kumimoji="1" lang="en-US" altLang="zh-CN" sz="2400" b="1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000000"/>
                </a:solidFill>
                <a:ea typeface="黑体" panose="02010609060101010101" pitchFamily="49" charset="-122"/>
              </a:rPr>
              <a:t> Electric field on the boundary of ideal conductor is Perpendicular to the surface                         </a:t>
            </a:r>
            <a:r>
              <a:rPr kumimoji="1" lang="en-US" altLang="zh-CN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equal potential body</a:t>
            </a:r>
            <a:endParaRPr kumimoji="1" lang="en-US" altLang="zh-CN" sz="24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318470" name="Text Box 5"/>
          <p:cNvSpPr txBox="1">
            <a:spLocks noChangeArrowheads="1"/>
          </p:cNvSpPr>
          <p:nvPr/>
        </p:nvSpPr>
        <p:spPr bwMode="auto">
          <a:xfrm>
            <a:off x="2711451" y="692150"/>
            <a:ext cx="432117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rgbClr val="800000"/>
                </a:solidFill>
                <a:ea typeface="黑体" panose="02010609060101010101" pitchFamily="49" charset="-122"/>
              </a:rPr>
              <a:t>Typical electrostatic field</a:t>
            </a:r>
            <a:endParaRPr lang="en-US" altLang="zh-CN" sz="2400" b="1" dirty="0">
              <a:solidFill>
                <a:srgbClr val="80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18471" name="Object 6"/>
          <p:cNvGraphicFramePr>
            <a:graphicFrameLocks noChangeAspect="1"/>
          </p:cNvGraphicFramePr>
          <p:nvPr/>
        </p:nvGraphicFramePr>
        <p:xfrm>
          <a:off x="1703388" y="620713"/>
          <a:ext cx="7620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58" name="剪辑" r:id="rId1" imgW="2013585" imgH="1930400" progId="MS_ClipArt_Gallery.2">
                  <p:embed/>
                </p:oleObj>
              </mc:Choice>
              <mc:Fallback>
                <p:oleObj name="剪辑" r:id="rId1" imgW="2013585" imgH="1930400" progId="MS_ClipArt_Gallery.2">
                  <p:embed/>
                  <p:pic>
                    <p:nvPicPr>
                      <p:cNvPr id="0" name="图片 1035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620713"/>
                        <a:ext cx="7620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2" name="AutoShape 8"/>
          <p:cNvSpPr>
            <a:spLocks noChangeArrowheads="1"/>
          </p:cNvSpPr>
          <p:nvPr/>
        </p:nvSpPr>
        <p:spPr bwMode="auto">
          <a:xfrm>
            <a:off x="1984954" y="3349482"/>
            <a:ext cx="792162" cy="217487"/>
          </a:xfrm>
          <a:prstGeom prst="rightArrow">
            <a:avLst>
              <a:gd name="adj1" fmla="val 50000"/>
              <a:gd name="adj2" fmla="val 91059"/>
            </a:avLst>
          </a:prstGeom>
          <a:noFill/>
          <a:ln w="15875">
            <a:solidFill>
              <a:schemeClr val="hlink"/>
            </a:solidFill>
            <a:miter lim="800000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kumimoji="1" lang="zh-CN" altLang="zh-CN">
              <a:solidFill>
                <a:srgbClr val="000099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318473" name="Object 10"/>
          <p:cNvGraphicFramePr>
            <a:graphicFrameLocks noChangeAspect="1"/>
          </p:cNvGraphicFramePr>
          <p:nvPr/>
        </p:nvGraphicFramePr>
        <p:xfrm>
          <a:off x="5420591" y="2074863"/>
          <a:ext cx="863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59" name="Equation" r:id="rId3" imgW="431800" imgH="419100" progId="Equation.DSMT4">
                  <p:embed/>
                </p:oleObj>
              </mc:Choice>
              <mc:Fallback>
                <p:oleObj name="Equation" r:id="rId3" imgW="431800" imgH="419100" progId="Equation.DSMT4">
                  <p:embed/>
                  <p:pic>
                    <p:nvPicPr>
                      <p:cNvPr id="0" name="图片 1035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0591" y="2074863"/>
                        <a:ext cx="863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66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4" name="AutoShape 11"/>
          <p:cNvSpPr>
            <a:spLocks noChangeArrowheads="1"/>
          </p:cNvSpPr>
          <p:nvPr/>
        </p:nvSpPr>
        <p:spPr bwMode="auto">
          <a:xfrm>
            <a:off x="3750975" y="6640512"/>
            <a:ext cx="792162" cy="217488"/>
          </a:xfrm>
          <a:prstGeom prst="rightArrow">
            <a:avLst>
              <a:gd name="adj1" fmla="val 50000"/>
              <a:gd name="adj2" fmla="val 91058"/>
            </a:avLst>
          </a:prstGeom>
          <a:noFill/>
          <a:ln w="15875">
            <a:solidFill>
              <a:schemeClr val="hlink"/>
            </a:solidFill>
            <a:miter lim="800000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kumimoji="1" lang="zh-CN" altLang="zh-CN">
              <a:solidFill>
                <a:srgbClr val="000099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318475" name="对象 1"/>
          <p:cNvGraphicFramePr>
            <a:graphicFrameLocks noChangeAspect="1"/>
          </p:cNvGraphicFramePr>
          <p:nvPr/>
        </p:nvGraphicFramePr>
        <p:xfrm>
          <a:off x="9588933" y="2276476"/>
          <a:ext cx="1364086" cy="507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60" name="Equation" r:id="rId5" imgW="545465" imgH="203200" progId="Equation.DSMT4">
                  <p:embed/>
                </p:oleObj>
              </mc:Choice>
              <mc:Fallback>
                <p:oleObj name="Equation" r:id="rId5" imgW="545465" imgH="203200" progId="Equation.DSMT4">
                  <p:embed/>
                  <p:pic>
                    <p:nvPicPr>
                      <p:cNvPr id="0" name="图片 1035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933" y="2276476"/>
                        <a:ext cx="1364086" cy="5075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76" name="对象 2"/>
          <p:cNvGraphicFramePr>
            <a:graphicFrameLocks noChangeAspect="1"/>
          </p:cNvGraphicFramePr>
          <p:nvPr/>
        </p:nvGraphicFramePr>
        <p:xfrm>
          <a:off x="10229412" y="5320146"/>
          <a:ext cx="974145" cy="324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61" name="Equation" r:id="rId7" imgW="419100" imgH="139700" progId="Equation.DSMT4">
                  <p:embed/>
                </p:oleObj>
              </mc:Choice>
              <mc:Fallback>
                <p:oleObj name="Equation" r:id="rId7" imgW="419100" imgH="139700" progId="Equation.DSMT4">
                  <p:embed/>
                  <p:pic>
                    <p:nvPicPr>
                      <p:cNvPr id="0" name="图片 1035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9412" y="5320146"/>
                        <a:ext cx="974145" cy="324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2" name="Text Box 3"/>
          <p:cNvSpPr txBox="1">
            <a:spLocks noChangeArrowheads="1"/>
          </p:cNvSpPr>
          <p:nvPr/>
        </p:nvSpPr>
        <p:spPr bwMode="auto">
          <a:xfrm>
            <a:off x="2855913" y="620714"/>
            <a:ext cx="6551612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Further understanding of the electrostatic field and steady electric field</a:t>
            </a:r>
            <a:endParaRPr lang="en-US" altLang="zh-CN" sz="24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19493" name="Object 4"/>
          <p:cNvGraphicFramePr>
            <a:graphicFrameLocks noChangeAspect="1"/>
          </p:cNvGraphicFramePr>
          <p:nvPr/>
        </p:nvGraphicFramePr>
        <p:xfrm>
          <a:off x="1703388" y="692150"/>
          <a:ext cx="7620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15" name="剪辑" r:id="rId1" imgW="2013585" imgH="1930400" progId="MS_ClipArt_Gallery.2">
                  <p:embed/>
                </p:oleObj>
              </mc:Choice>
              <mc:Fallback>
                <p:oleObj name="剪辑" r:id="rId1" imgW="2013585" imgH="1930400" progId="MS_ClipArt_Gallery.2">
                  <p:embed/>
                  <p:pic>
                    <p:nvPicPr>
                      <p:cNvPr id="0" name="图片 1046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692150"/>
                        <a:ext cx="7620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4" name="Text Box 5"/>
          <p:cNvSpPr txBox="1">
            <a:spLocks noChangeArrowheads="1"/>
          </p:cNvSpPr>
          <p:nvPr/>
        </p:nvSpPr>
        <p:spPr bwMode="auto">
          <a:xfrm>
            <a:off x="2782889" y="1484313"/>
            <a:ext cx="2160587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QUESTIONS</a:t>
            </a:r>
            <a:r>
              <a:rPr lang="en-US" altLang="zh-CN" sz="36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GB" sz="2400" b="1">
                <a:solidFill>
                  <a:srgbClr val="000099"/>
                </a:solidFill>
                <a:ea typeface="黑体" panose="02010609060101010101" pitchFamily="49" charset="-122"/>
              </a:rPr>
              <a:t>：</a:t>
            </a:r>
            <a:endParaRPr lang="zh-CN" altLang="en-US" sz="36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19495" name="Object 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8521701" y="2798763"/>
          <a:ext cx="168275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16" name="Equation" r:id="rId3" imgW="114300" imgH="177800" progId="Equation.DSMT4">
                  <p:embed/>
                </p:oleObj>
              </mc:Choice>
              <mc:Fallback>
                <p:oleObj name="Equation" r:id="rId3" imgW="114300" imgH="177800" progId="Equation.DSMT4">
                  <p:embed/>
                  <p:pic>
                    <p:nvPicPr>
                      <p:cNvPr id="0" name="图片 1046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1701" y="2798763"/>
                        <a:ext cx="168275" cy="233362"/>
                      </a:xfrm>
                      <a:prstGeom prst="rect">
                        <a:avLst/>
                      </a:prstGeom>
                      <a:solidFill>
                        <a:srgbClr val="CCFFFF">
                          <a:alpha val="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66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6" name="Line 7"/>
          <p:cNvSpPr>
            <a:spLocks noChangeShapeType="1"/>
          </p:cNvSpPr>
          <p:nvPr/>
        </p:nvSpPr>
        <p:spPr bwMode="auto">
          <a:xfrm>
            <a:off x="7867650" y="4870450"/>
            <a:ext cx="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497" name="Line 8"/>
          <p:cNvSpPr>
            <a:spLocks noChangeShapeType="1"/>
          </p:cNvSpPr>
          <p:nvPr/>
        </p:nvSpPr>
        <p:spPr bwMode="auto">
          <a:xfrm flipV="1">
            <a:off x="8040688" y="4970463"/>
            <a:ext cx="0" cy="2159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498" name="Line 9"/>
          <p:cNvSpPr>
            <a:spLocks noChangeShapeType="1"/>
          </p:cNvSpPr>
          <p:nvPr/>
        </p:nvSpPr>
        <p:spPr bwMode="auto">
          <a:xfrm>
            <a:off x="8183563" y="4870450"/>
            <a:ext cx="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499" name="Line 10"/>
          <p:cNvSpPr>
            <a:spLocks noChangeShapeType="1"/>
          </p:cNvSpPr>
          <p:nvPr/>
        </p:nvSpPr>
        <p:spPr bwMode="auto">
          <a:xfrm flipV="1">
            <a:off x="8328025" y="4970463"/>
            <a:ext cx="0" cy="2159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00" name="Line 11"/>
          <p:cNvSpPr>
            <a:spLocks noChangeShapeType="1"/>
          </p:cNvSpPr>
          <p:nvPr/>
        </p:nvSpPr>
        <p:spPr bwMode="auto">
          <a:xfrm>
            <a:off x="8328026" y="5084764"/>
            <a:ext cx="950913" cy="1587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01" name="Line 12"/>
          <p:cNvSpPr>
            <a:spLocks noChangeShapeType="1"/>
          </p:cNvSpPr>
          <p:nvPr/>
        </p:nvSpPr>
        <p:spPr bwMode="auto">
          <a:xfrm flipV="1">
            <a:off x="9264650" y="3646488"/>
            <a:ext cx="0" cy="1439862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02" name="Line 13"/>
          <p:cNvSpPr>
            <a:spLocks noChangeShapeType="1"/>
          </p:cNvSpPr>
          <p:nvPr/>
        </p:nvSpPr>
        <p:spPr bwMode="auto">
          <a:xfrm>
            <a:off x="8704264" y="3646488"/>
            <a:ext cx="560387" cy="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03" name="Line 14"/>
          <p:cNvSpPr>
            <a:spLocks noChangeShapeType="1"/>
          </p:cNvSpPr>
          <p:nvPr/>
        </p:nvSpPr>
        <p:spPr bwMode="auto">
          <a:xfrm flipV="1">
            <a:off x="7489825" y="2925763"/>
            <a:ext cx="0" cy="1439862"/>
          </a:xfrm>
          <a:prstGeom prst="line">
            <a:avLst/>
          </a:prstGeom>
          <a:noFill/>
          <a:ln w="762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04" name="Line 15"/>
          <p:cNvSpPr>
            <a:spLocks noChangeShapeType="1"/>
          </p:cNvSpPr>
          <p:nvPr/>
        </p:nvSpPr>
        <p:spPr bwMode="auto">
          <a:xfrm flipV="1">
            <a:off x="8662988" y="2925763"/>
            <a:ext cx="0" cy="1439862"/>
          </a:xfrm>
          <a:prstGeom prst="line">
            <a:avLst/>
          </a:prstGeom>
          <a:noFill/>
          <a:ln w="762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05" name="Rectangle 16"/>
          <p:cNvSpPr>
            <a:spLocks noChangeArrowheads="1"/>
          </p:cNvSpPr>
          <p:nvPr/>
        </p:nvSpPr>
        <p:spPr bwMode="auto">
          <a:xfrm>
            <a:off x="7535863" y="2925763"/>
            <a:ext cx="1079500" cy="1439862"/>
          </a:xfrm>
          <a:prstGeom prst="rect">
            <a:avLst/>
          </a:prstGeom>
          <a:solidFill>
            <a:srgbClr val="008000"/>
          </a:solidFill>
          <a:ln w="15875">
            <a:solidFill>
              <a:srgbClr val="CC6600"/>
            </a:solidFill>
            <a:miter lim="800000"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3200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319506" name="Text Box 17"/>
          <p:cNvSpPr txBox="1">
            <a:spLocks noChangeArrowheads="1"/>
          </p:cNvSpPr>
          <p:nvPr/>
        </p:nvSpPr>
        <p:spPr bwMode="auto">
          <a:xfrm>
            <a:off x="7486650" y="3105150"/>
            <a:ext cx="1176338" cy="336550"/>
          </a:xfrm>
          <a:prstGeom prst="rect">
            <a:avLst/>
          </a:prstGeom>
          <a:solidFill>
            <a:srgbClr val="CCFF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FF66"/>
                </a:solidFill>
                <a:prstDash val="dash"/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1600" b="1">
                <a:solidFill>
                  <a:schemeClr val="bg1"/>
                </a:solidFill>
                <a:ea typeface="幼圆" panose="02010509060101010101" pitchFamily="49" charset="-122"/>
              </a:rPr>
              <a:t>conductor</a:t>
            </a:r>
            <a:endParaRPr kumimoji="1" lang="en-US" altLang="zh-CN" sz="1600" b="1">
              <a:solidFill>
                <a:schemeClr val="bg1"/>
              </a:solidFill>
              <a:ea typeface="幼圆" panose="02010509060101010101" pitchFamily="49" charset="-122"/>
            </a:endParaRPr>
          </a:p>
        </p:txBody>
      </p:sp>
      <p:graphicFrame>
        <p:nvGraphicFramePr>
          <p:cNvPr id="319507" name="Object 18"/>
          <p:cNvGraphicFramePr>
            <a:graphicFrameLocks noChangeAspect="1"/>
          </p:cNvGraphicFramePr>
          <p:nvPr/>
        </p:nvGraphicFramePr>
        <p:xfrm>
          <a:off x="7651750" y="3675063"/>
          <a:ext cx="8842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17" name="Equation" r:id="rId5" imgW="380365" imgH="177800" progId="Equation.DSMT4">
                  <p:embed/>
                </p:oleObj>
              </mc:Choice>
              <mc:Fallback>
                <p:oleObj name="Equation" r:id="rId5" imgW="380365" imgH="177800" progId="Equation.DSMT4">
                  <p:embed/>
                  <p:pic>
                    <p:nvPicPr>
                      <p:cNvPr id="0" name="图片 1046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0" y="3675063"/>
                        <a:ext cx="884238" cy="412750"/>
                      </a:xfrm>
                      <a:prstGeom prst="rect">
                        <a:avLst/>
                      </a:prstGeom>
                      <a:solidFill>
                        <a:srgbClr val="CCFFFF">
                          <a:alpha val="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66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08" name="Text Box 19"/>
          <p:cNvSpPr txBox="1">
            <a:spLocks noChangeArrowheads="1"/>
          </p:cNvSpPr>
          <p:nvPr/>
        </p:nvSpPr>
        <p:spPr bwMode="auto">
          <a:xfrm>
            <a:off x="7910513" y="5302250"/>
            <a:ext cx="404812" cy="457200"/>
          </a:xfrm>
          <a:prstGeom prst="rect">
            <a:avLst/>
          </a:prstGeom>
          <a:solidFill>
            <a:srgbClr val="CCFF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FF66"/>
                </a:solidFill>
                <a:prstDash val="dash"/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99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U</a:t>
            </a:r>
            <a:endParaRPr kumimoji="1" lang="en-US" altLang="zh-CN" sz="2400" b="1">
              <a:solidFill>
                <a:srgbClr val="000099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19509" name="Text Box 20"/>
          <p:cNvSpPr txBox="1">
            <a:spLocks noChangeArrowheads="1"/>
          </p:cNvSpPr>
          <p:nvPr/>
        </p:nvSpPr>
        <p:spPr bwMode="auto">
          <a:xfrm>
            <a:off x="1919288" y="5876926"/>
            <a:ext cx="8564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FFFF66"/>
                </a:solidFill>
                <a:prstDash val="dash"/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99"/>
                </a:solidFill>
                <a:ea typeface="幼圆" panose="02010509060101010101" pitchFamily="49" charset="-122"/>
              </a:rPr>
              <a:t>Find</a:t>
            </a:r>
            <a:r>
              <a:rPr kumimoji="1" lang="zh-CN" altLang="en-US" sz="2000" b="1">
                <a:solidFill>
                  <a:srgbClr val="000099"/>
                </a:solidFill>
                <a:ea typeface="幼圆" panose="02010509060101010101" pitchFamily="49" charset="-122"/>
              </a:rPr>
              <a:t>：</a:t>
            </a:r>
            <a:r>
              <a:rPr kumimoji="1" lang="en-US" altLang="zh-CN" sz="2000" b="1">
                <a:solidFill>
                  <a:srgbClr val="000099"/>
                </a:solidFill>
                <a:ea typeface="幼圆" panose="02010509060101010101" pitchFamily="49" charset="-122"/>
              </a:rPr>
              <a:t>1</a:t>
            </a:r>
            <a:r>
              <a:rPr kumimoji="1" lang="zh-CN" altLang="en-US" sz="2000" b="1">
                <a:solidFill>
                  <a:srgbClr val="000099"/>
                </a:solidFill>
                <a:ea typeface="幼圆" panose="02010509060101010101" pitchFamily="49" charset="-122"/>
              </a:rPr>
              <a:t>）                        </a:t>
            </a:r>
            <a:r>
              <a:rPr kumimoji="1" lang="en-US" altLang="zh-CN" sz="2000" b="1">
                <a:solidFill>
                  <a:srgbClr val="000099"/>
                </a:solidFill>
                <a:ea typeface="幼圆" panose="02010509060101010101" pitchFamily="49" charset="-122"/>
              </a:rPr>
              <a:t>2</a:t>
            </a:r>
            <a:r>
              <a:rPr kumimoji="1" lang="zh-CN" altLang="en-US" sz="2000" b="1">
                <a:solidFill>
                  <a:srgbClr val="000099"/>
                </a:solidFill>
                <a:ea typeface="幼圆" panose="02010509060101010101" pitchFamily="49" charset="-122"/>
              </a:rPr>
              <a:t>）</a:t>
            </a:r>
            <a:r>
              <a:rPr kumimoji="1" lang="en-US" altLang="zh-CN" sz="2000" b="1">
                <a:solidFill>
                  <a:srgbClr val="000099"/>
                </a:solidFill>
                <a:ea typeface="幼圆" panose="02010509060101010101" pitchFamily="49" charset="-122"/>
              </a:rPr>
              <a:t>Energy storage or power consumption?</a:t>
            </a:r>
            <a:endParaRPr kumimoji="1" lang="en-US" altLang="zh-CN" sz="2000" b="1">
              <a:solidFill>
                <a:srgbClr val="000099"/>
              </a:solidFill>
              <a:ea typeface="幼圆" panose="02010509060101010101" pitchFamily="49" charset="-122"/>
            </a:endParaRPr>
          </a:p>
        </p:txBody>
      </p:sp>
      <p:graphicFrame>
        <p:nvGraphicFramePr>
          <p:cNvPr id="319510" name="Object 21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287713" y="5797551"/>
          <a:ext cx="128111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18" name="Equation" r:id="rId7" imgW="520700" imgH="228600" progId="Equation.DSMT4">
                  <p:embed/>
                </p:oleObj>
              </mc:Choice>
              <mc:Fallback>
                <p:oleObj name="Equation" r:id="rId7" imgW="520700" imgH="228600" progId="Equation.DSMT4">
                  <p:embed/>
                  <p:pic>
                    <p:nvPicPr>
                      <p:cNvPr id="0" name="图片 1046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5797551"/>
                        <a:ext cx="1281112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11" name="Line 22"/>
          <p:cNvSpPr>
            <a:spLocks noChangeShapeType="1"/>
          </p:cNvSpPr>
          <p:nvPr/>
        </p:nvSpPr>
        <p:spPr bwMode="auto">
          <a:xfrm>
            <a:off x="2855913" y="5084763"/>
            <a:ext cx="1008062" cy="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12" name="Line 23"/>
          <p:cNvSpPr>
            <a:spLocks noChangeShapeType="1"/>
          </p:cNvSpPr>
          <p:nvPr/>
        </p:nvSpPr>
        <p:spPr bwMode="auto">
          <a:xfrm flipV="1">
            <a:off x="2855913" y="3573463"/>
            <a:ext cx="0" cy="151130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13" name="Line 24"/>
          <p:cNvSpPr>
            <a:spLocks noChangeShapeType="1"/>
          </p:cNvSpPr>
          <p:nvPr/>
        </p:nvSpPr>
        <p:spPr bwMode="auto">
          <a:xfrm>
            <a:off x="2855913" y="3573463"/>
            <a:ext cx="215900" cy="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14" name="Line 25"/>
          <p:cNvSpPr>
            <a:spLocks noChangeShapeType="1"/>
          </p:cNvSpPr>
          <p:nvPr/>
        </p:nvSpPr>
        <p:spPr bwMode="auto">
          <a:xfrm>
            <a:off x="5087938" y="3573463"/>
            <a:ext cx="215900" cy="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15" name="Line 26"/>
          <p:cNvSpPr>
            <a:spLocks noChangeShapeType="1"/>
          </p:cNvSpPr>
          <p:nvPr/>
        </p:nvSpPr>
        <p:spPr bwMode="auto">
          <a:xfrm flipV="1">
            <a:off x="3114675" y="2852738"/>
            <a:ext cx="0" cy="1439862"/>
          </a:xfrm>
          <a:prstGeom prst="line">
            <a:avLst/>
          </a:prstGeom>
          <a:noFill/>
          <a:ln w="762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16" name="Line 27"/>
          <p:cNvSpPr>
            <a:spLocks noChangeShapeType="1"/>
          </p:cNvSpPr>
          <p:nvPr/>
        </p:nvSpPr>
        <p:spPr bwMode="auto">
          <a:xfrm flipV="1">
            <a:off x="5059363" y="2852738"/>
            <a:ext cx="0" cy="1439862"/>
          </a:xfrm>
          <a:prstGeom prst="line">
            <a:avLst/>
          </a:prstGeom>
          <a:noFill/>
          <a:ln w="762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17" name="Rectangle 28"/>
          <p:cNvSpPr>
            <a:spLocks noChangeArrowheads="1"/>
          </p:cNvSpPr>
          <p:nvPr/>
        </p:nvSpPr>
        <p:spPr bwMode="auto">
          <a:xfrm>
            <a:off x="3575050" y="2852738"/>
            <a:ext cx="1079500" cy="1439862"/>
          </a:xfrm>
          <a:prstGeom prst="rect">
            <a:avLst/>
          </a:prstGeom>
          <a:solidFill>
            <a:srgbClr val="008000"/>
          </a:solidFill>
          <a:ln w="15875">
            <a:solidFill>
              <a:srgbClr val="CC6600"/>
            </a:solidFill>
            <a:miter lim="800000"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endParaRPr lang="zh-CN" altLang="zh-CN" sz="3200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319518" name="Text Box 29"/>
          <p:cNvSpPr txBox="1">
            <a:spLocks noChangeArrowheads="1"/>
          </p:cNvSpPr>
          <p:nvPr/>
        </p:nvSpPr>
        <p:spPr bwMode="auto">
          <a:xfrm>
            <a:off x="3503614" y="2997200"/>
            <a:ext cx="1176337" cy="336550"/>
          </a:xfrm>
          <a:prstGeom prst="rect">
            <a:avLst/>
          </a:prstGeom>
          <a:solidFill>
            <a:srgbClr val="CCFF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FF66"/>
                </a:solidFill>
                <a:prstDash val="dash"/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1600" b="1">
                <a:solidFill>
                  <a:schemeClr val="bg1"/>
                </a:solidFill>
                <a:ea typeface="幼圆" panose="02010509060101010101" pitchFamily="49" charset="-122"/>
              </a:rPr>
              <a:t>conductor</a:t>
            </a:r>
            <a:endParaRPr kumimoji="1" lang="en-US" altLang="zh-CN" sz="1600" b="1">
              <a:solidFill>
                <a:schemeClr val="bg1"/>
              </a:solidFill>
              <a:ea typeface="幼圆" panose="02010509060101010101" pitchFamily="49" charset="-122"/>
            </a:endParaRPr>
          </a:p>
        </p:txBody>
      </p:sp>
      <p:graphicFrame>
        <p:nvGraphicFramePr>
          <p:cNvPr id="319519" name="Object 30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641725" y="3705225"/>
          <a:ext cx="8699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19" name="Equation" r:id="rId9" imgW="380365" imgH="177800" progId="Equation.DSMT4">
                  <p:embed/>
                </p:oleObj>
              </mc:Choice>
              <mc:Fallback>
                <p:oleObj name="Equation" r:id="rId9" imgW="380365" imgH="177800" progId="Equation.DSMT4">
                  <p:embed/>
                  <p:pic>
                    <p:nvPicPr>
                      <p:cNvPr id="0" name="图片 1046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725" y="3705225"/>
                        <a:ext cx="869950" cy="361950"/>
                      </a:xfrm>
                      <a:prstGeom prst="rect">
                        <a:avLst/>
                      </a:prstGeom>
                      <a:solidFill>
                        <a:srgbClr val="CCFFFF">
                          <a:alpha val="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66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20" name="Line 31"/>
          <p:cNvSpPr>
            <a:spLocks noChangeShapeType="1"/>
          </p:cNvSpPr>
          <p:nvPr/>
        </p:nvSpPr>
        <p:spPr bwMode="auto">
          <a:xfrm>
            <a:off x="3114675" y="2420939"/>
            <a:ext cx="0" cy="287337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21" name="Line 32"/>
          <p:cNvSpPr>
            <a:spLocks noChangeShapeType="1"/>
          </p:cNvSpPr>
          <p:nvPr/>
        </p:nvSpPr>
        <p:spPr bwMode="auto">
          <a:xfrm>
            <a:off x="5030788" y="2392364"/>
            <a:ext cx="0" cy="287337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22" name="Text Box 33"/>
          <p:cNvSpPr txBox="1">
            <a:spLocks noChangeArrowheads="1"/>
          </p:cNvSpPr>
          <p:nvPr/>
        </p:nvSpPr>
        <p:spPr bwMode="auto">
          <a:xfrm>
            <a:off x="3814763" y="2228850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FFFF66"/>
                </a:solidFill>
                <a:prstDash val="dash"/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solidFill>
                  <a:srgbClr val="000099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w</a:t>
            </a:r>
            <a:endParaRPr kumimoji="1" lang="en-US" altLang="zh-CN" sz="2400">
              <a:solidFill>
                <a:srgbClr val="000099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19523" name="Line 34"/>
          <p:cNvSpPr>
            <a:spLocks noChangeShapeType="1"/>
          </p:cNvSpPr>
          <p:nvPr/>
        </p:nvSpPr>
        <p:spPr bwMode="auto">
          <a:xfrm flipH="1">
            <a:off x="3128964" y="2492375"/>
            <a:ext cx="720725" cy="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24" name="Line 35"/>
          <p:cNvSpPr>
            <a:spLocks noChangeShapeType="1"/>
          </p:cNvSpPr>
          <p:nvPr/>
        </p:nvSpPr>
        <p:spPr bwMode="auto">
          <a:xfrm>
            <a:off x="4224338" y="2492375"/>
            <a:ext cx="792162" cy="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25" name="Line 36"/>
          <p:cNvSpPr>
            <a:spLocks noChangeShapeType="1"/>
          </p:cNvSpPr>
          <p:nvPr/>
        </p:nvSpPr>
        <p:spPr bwMode="auto">
          <a:xfrm>
            <a:off x="3575050" y="2636838"/>
            <a:ext cx="0" cy="21590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26" name="Line 37"/>
          <p:cNvSpPr>
            <a:spLocks noChangeShapeType="1"/>
          </p:cNvSpPr>
          <p:nvPr/>
        </p:nvSpPr>
        <p:spPr bwMode="auto">
          <a:xfrm>
            <a:off x="4656138" y="2636838"/>
            <a:ext cx="0" cy="21590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27" name="Text Box 38"/>
          <p:cNvSpPr txBox="1">
            <a:spLocks noChangeArrowheads="1"/>
          </p:cNvSpPr>
          <p:nvPr/>
        </p:nvSpPr>
        <p:spPr bwMode="auto">
          <a:xfrm>
            <a:off x="3935414" y="2492375"/>
            <a:ext cx="26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FFFF66"/>
                </a:solidFill>
                <a:prstDash val="dash"/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t</a:t>
            </a:r>
            <a:endParaRPr kumimoji="1" lang="en-US" altLang="zh-CN" sz="240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19528" name="Line 39"/>
          <p:cNvSpPr>
            <a:spLocks noChangeShapeType="1"/>
          </p:cNvSpPr>
          <p:nvPr/>
        </p:nvSpPr>
        <p:spPr bwMode="auto">
          <a:xfrm flipH="1">
            <a:off x="3575050" y="2708275"/>
            <a:ext cx="433388" cy="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29" name="Line 40"/>
          <p:cNvSpPr>
            <a:spLocks noChangeShapeType="1"/>
          </p:cNvSpPr>
          <p:nvPr/>
        </p:nvSpPr>
        <p:spPr bwMode="auto">
          <a:xfrm>
            <a:off x="4151314" y="2708275"/>
            <a:ext cx="504825" cy="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30" name="Text Box 41"/>
          <p:cNvSpPr txBox="1">
            <a:spLocks noChangeArrowheads="1"/>
          </p:cNvSpPr>
          <p:nvPr/>
        </p:nvSpPr>
        <p:spPr bwMode="auto">
          <a:xfrm>
            <a:off x="3071813" y="2924176"/>
            <a:ext cx="362600" cy="584775"/>
          </a:xfrm>
          <a:prstGeom prst="rect">
            <a:avLst/>
          </a:prstGeom>
          <a:solidFill>
            <a:srgbClr val="CCFF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FF66"/>
                </a:solidFill>
                <a:prstDash val="dash"/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l-GR" altLang="zh-CN" sz="3200">
                <a:solidFill>
                  <a:srgbClr val="000099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ε</a:t>
            </a:r>
            <a:endParaRPr kumimoji="1" lang="el-GR" altLang="zh-CN" sz="3200">
              <a:solidFill>
                <a:srgbClr val="000099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19531" name="Line 42"/>
          <p:cNvSpPr>
            <a:spLocks noChangeShapeType="1"/>
          </p:cNvSpPr>
          <p:nvPr/>
        </p:nvSpPr>
        <p:spPr bwMode="auto">
          <a:xfrm>
            <a:off x="7535863" y="2709863"/>
            <a:ext cx="0" cy="21590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32" name="Line 43"/>
          <p:cNvSpPr>
            <a:spLocks noChangeShapeType="1"/>
          </p:cNvSpPr>
          <p:nvPr/>
        </p:nvSpPr>
        <p:spPr bwMode="auto">
          <a:xfrm>
            <a:off x="8616950" y="2709863"/>
            <a:ext cx="0" cy="21590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33" name="Text Box 44"/>
          <p:cNvSpPr txBox="1">
            <a:spLocks noChangeArrowheads="1"/>
          </p:cNvSpPr>
          <p:nvPr/>
        </p:nvSpPr>
        <p:spPr bwMode="auto">
          <a:xfrm>
            <a:off x="7896225" y="2565400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FFFF66"/>
                </a:solidFill>
                <a:prstDash val="dash"/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t</a:t>
            </a:r>
            <a:endParaRPr kumimoji="1" lang="en-US" altLang="zh-CN" sz="240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19534" name="Line 45"/>
          <p:cNvSpPr>
            <a:spLocks noChangeShapeType="1"/>
          </p:cNvSpPr>
          <p:nvPr/>
        </p:nvSpPr>
        <p:spPr bwMode="auto">
          <a:xfrm flipH="1">
            <a:off x="7535864" y="2781300"/>
            <a:ext cx="433387" cy="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35" name="Line 46"/>
          <p:cNvSpPr>
            <a:spLocks noChangeShapeType="1"/>
          </p:cNvSpPr>
          <p:nvPr/>
        </p:nvSpPr>
        <p:spPr bwMode="auto">
          <a:xfrm>
            <a:off x="8112126" y="2781300"/>
            <a:ext cx="504825" cy="0"/>
          </a:xfrm>
          <a:prstGeom prst="line">
            <a:avLst/>
          </a:prstGeom>
          <a:noFill/>
          <a:ln w="15875">
            <a:solidFill>
              <a:srgbClr val="000099"/>
            </a:solidFill>
            <a:round/>
            <a:tailEnd type="stealth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36" name="Line 47"/>
          <p:cNvSpPr>
            <a:spLocks noChangeShapeType="1"/>
          </p:cNvSpPr>
          <p:nvPr/>
        </p:nvSpPr>
        <p:spPr bwMode="auto">
          <a:xfrm>
            <a:off x="3863975" y="4868863"/>
            <a:ext cx="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37" name="Line 48"/>
          <p:cNvSpPr>
            <a:spLocks noChangeShapeType="1"/>
          </p:cNvSpPr>
          <p:nvPr/>
        </p:nvSpPr>
        <p:spPr bwMode="auto">
          <a:xfrm flipV="1">
            <a:off x="4008438" y="4968875"/>
            <a:ext cx="0" cy="2159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38" name="Line 49"/>
          <p:cNvSpPr>
            <a:spLocks noChangeShapeType="1"/>
          </p:cNvSpPr>
          <p:nvPr/>
        </p:nvSpPr>
        <p:spPr bwMode="auto">
          <a:xfrm>
            <a:off x="4151313" y="4868863"/>
            <a:ext cx="0" cy="431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39" name="Line 50"/>
          <p:cNvSpPr>
            <a:spLocks noChangeShapeType="1"/>
          </p:cNvSpPr>
          <p:nvPr/>
        </p:nvSpPr>
        <p:spPr bwMode="auto">
          <a:xfrm flipV="1">
            <a:off x="4295775" y="4968875"/>
            <a:ext cx="0" cy="2159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40" name="Text Box 51"/>
          <p:cNvSpPr txBox="1">
            <a:spLocks noChangeArrowheads="1"/>
          </p:cNvSpPr>
          <p:nvPr/>
        </p:nvSpPr>
        <p:spPr bwMode="auto">
          <a:xfrm>
            <a:off x="3878263" y="5300663"/>
            <a:ext cx="404812" cy="457200"/>
          </a:xfrm>
          <a:prstGeom prst="rect">
            <a:avLst/>
          </a:prstGeom>
          <a:solidFill>
            <a:srgbClr val="CCFF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75">
                <a:solidFill>
                  <a:srgbClr val="FFFF66"/>
                </a:solidFill>
                <a:prstDash val="dash"/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99"/>
                </a:solidFill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U</a:t>
            </a:r>
            <a:endParaRPr kumimoji="1" lang="en-US" altLang="zh-CN" sz="2400" b="1">
              <a:solidFill>
                <a:srgbClr val="000099"/>
              </a:solidFill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  <p:sp>
        <p:nvSpPr>
          <p:cNvPr id="319541" name="Line 52"/>
          <p:cNvSpPr>
            <a:spLocks noChangeShapeType="1"/>
          </p:cNvSpPr>
          <p:nvPr/>
        </p:nvSpPr>
        <p:spPr bwMode="auto">
          <a:xfrm>
            <a:off x="4295776" y="5084763"/>
            <a:ext cx="1008063" cy="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42" name="Line 53"/>
          <p:cNvSpPr>
            <a:spLocks noChangeShapeType="1"/>
          </p:cNvSpPr>
          <p:nvPr/>
        </p:nvSpPr>
        <p:spPr bwMode="auto">
          <a:xfrm flipV="1">
            <a:off x="5303838" y="3573463"/>
            <a:ext cx="0" cy="151130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43" name="Line 54"/>
          <p:cNvSpPr>
            <a:spLocks noChangeShapeType="1"/>
          </p:cNvSpPr>
          <p:nvPr/>
        </p:nvSpPr>
        <p:spPr bwMode="auto">
          <a:xfrm>
            <a:off x="6888163" y="5084764"/>
            <a:ext cx="950912" cy="1587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44" name="Line 55"/>
          <p:cNvSpPr>
            <a:spLocks noChangeShapeType="1"/>
          </p:cNvSpPr>
          <p:nvPr/>
        </p:nvSpPr>
        <p:spPr bwMode="auto">
          <a:xfrm flipV="1">
            <a:off x="6888163" y="3644901"/>
            <a:ext cx="0" cy="1439863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9545" name="Line 56"/>
          <p:cNvSpPr>
            <a:spLocks noChangeShapeType="1"/>
          </p:cNvSpPr>
          <p:nvPr/>
        </p:nvSpPr>
        <p:spPr bwMode="auto">
          <a:xfrm>
            <a:off x="6888164" y="3644900"/>
            <a:ext cx="560387" cy="0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47850" y="404814"/>
            <a:ext cx="8540750" cy="587375"/>
          </a:xfrm>
        </p:spPr>
        <p:txBody>
          <a:bodyPr>
            <a:normAutofit fontScale="90000"/>
          </a:bodyPr>
          <a:lstStyle/>
          <a:p>
            <a:r>
              <a:rPr lang="en-US" altLang="zh-CN" b="1">
                <a:solidFill>
                  <a:srgbClr val="800000"/>
                </a:solidFill>
              </a:rPr>
              <a:t>Summary</a:t>
            </a:r>
            <a:endParaRPr lang="en-US" altLang="zh-CN" b="1">
              <a:solidFill>
                <a:srgbClr val="800000"/>
              </a:solidFill>
            </a:endParaRPr>
          </a:p>
        </p:txBody>
      </p:sp>
      <p:graphicFrame>
        <p:nvGraphicFramePr>
          <p:cNvPr id="336902" name="Object 28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95550" y="1557338"/>
          <a:ext cx="1512888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05" name="公式" r:id="rId1" imgW="838200" imgH="596900" progId="Equation.3">
                  <p:embed/>
                </p:oleObj>
              </mc:Choice>
              <mc:Fallback>
                <p:oleObj name="公式" r:id="rId1" imgW="838200" imgH="596900" progId="Equation.3">
                  <p:embed/>
                  <p:pic>
                    <p:nvPicPr>
                      <p:cNvPr id="0" name="图片 1057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1557338"/>
                        <a:ext cx="1512888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4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367214" y="1916113"/>
          <a:ext cx="15843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06" name="Equation" r:id="rId3" imgW="850900" imgH="241300" progId="Equation.DSMT4">
                  <p:embed/>
                </p:oleObj>
              </mc:Choice>
              <mc:Fallback>
                <p:oleObj name="Equation" r:id="rId3" imgW="850900" imgH="241300" progId="Equation.DSMT4">
                  <p:embed/>
                  <p:pic>
                    <p:nvPicPr>
                      <p:cNvPr id="0" name="图片 1057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4" y="1916113"/>
                        <a:ext cx="15843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480551" y="5589588"/>
            <a:ext cx="1122363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  <p:sp>
        <p:nvSpPr>
          <p:cNvPr id="998409" name="Text Box 9"/>
          <p:cNvSpPr txBox="1">
            <a:spLocks noChangeArrowheads="1"/>
          </p:cNvSpPr>
          <p:nvPr/>
        </p:nvSpPr>
        <p:spPr bwMode="auto">
          <a:xfrm>
            <a:off x="1776413" y="1125538"/>
            <a:ext cx="5688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1. Basic equations (general problems)</a:t>
            </a:r>
            <a:endParaRPr kumimoji="1" lang="en-US" altLang="zh-CN" sz="24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998408" name="Text Box 8"/>
          <p:cNvSpPr txBox="1">
            <a:spLocks noChangeArrowheads="1"/>
          </p:cNvSpPr>
          <p:nvPr/>
        </p:nvSpPr>
        <p:spPr bwMode="auto">
          <a:xfrm>
            <a:off x="6311900" y="1484313"/>
            <a:ext cx="280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1600" b="1">
                <a:solidFill>
                  <a:srgbClr val="000000"/>
                </a:solidFill>
                <a:ea typeface="楷体_GB2312" pitchFamily="49" charset="-122"/>
              </a:rPr>
              <a:t>Constitutive relations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：</a:t>
            </a:r>
            <a:endParaRPr kumimoji="1" lang="zh-CN" altLang="en-US" sz="2400" b="1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336907" name="Object 36"/>
          <p:cNvGraphicFramePr>
            <a:graphicFrameLocks noChangeAspect="1"/>
          </p:cNvGraphicFramePr>
          <p:nvPr/>
        </p:nvGraphicFramePr>
        <p:xfrm>
          <a:off x="6383339" y="2060576"/>
          <a:ext cx="10810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07" name="Equation" r:id="rId6" imgW="596900" imgH="215900" progId="Equation.DSMT4">
                  <p:embed/>
                </p:oleObj>
              </mc:Choice>
              <mc:Fallback>
                <p:oleObj name="Equation" r:id="rId6" imgW="596900" imgH="215900" progId="Equation.DSMT4">
                  <p:embed/>
                  <p:pic>
                    <p:nvPicPr>
                      <p:cNvPr id="0" name="图片 1057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2060576"/>
                        <a:ext cx="108108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08" name="Object 7"/>
          <p:cNvGraphicFramePr>
            <a:graphicFrameLocks noChangeAspect="1"/>
          </p:cNvGraphicFramePr>
          <p:nvPr/>
        </p:nvGraphicFramePr>
        <p:xfrm>
          <a:off x="7608889" y="2060575"/>
          <a:ext cx="13668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08" name="Equation" r:id="rId8" imgW="736600" imgH="241300" progId="Equation.DSMT4">
                  <p:embed/>
                </p:oleObj>
              </mc:Choice>
              <mc:Fallback>
                <p:oleObj name="Equation" r:id="rId8" imgW="736600" imgH="241300" progId="Equation.DSMT4">
                  <p:embed/>
                  <p:pic>
                    <p:nvPicPr>
                      <p:cNvPr id="0" name="图片 1057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889" y="2060575"/>
                        <a:ext cx="136683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909" name="Text Box 2"/>
          <p:cNvSpPr txBox="1">
            <a:spLocks noChangeArrowheads="1"/>
          </p:cNvSpPr>
          <p:nvPr/>
        </p:nvSpPr>
        <p:spPr bwMode="auto">
          <a:xfrm>
            <a:off x="1919289" y="2684463"/>
            <a:ext cx="6480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CC"/>
                </a:solidFill>
                <a:ea typeface="黑体" panose="02010609060101010101" pitchFamily="49" charset="-122"/>
              </a:rPr>
              <a:t>2. Boundary conditions (general problems)</a:t>
            </a:r>
            <a:endParaRPr kumimoji="1" lang="en-US" altLang="zh-CN" sz="2400" b="1">
              <a:solidFill>
                <a:srgbClr val="0000CC"/>
              </a:solidFill>
              <a:ea typeface="楷体_GB2312" pitchFamily="49" charset="-122"/>
            </a:endParaRPr>
          </a:p>
        </p:txBody>
      </p:sp>
      <p:graphicFrame>
        <p:nvGraphicFramePr>
          <p:cNvPr id="336910" name="Object 15"/>
          <p:cNvGraphicFramePr>
            <a:graphicFrameLocks noChangeAspect="1"/>
          </p:cNvGraphicFramePr>
          <p:nvPr/>
        </p:nvGraphicFramePr>
        <p:xfrm>
          <a:off x="2566989" y="3275014"/>
          <a:ext cx="2160587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09" name="Equation" r:id="rId10" imgW="1092200" imgH="571500" progId="Equation.DSMT4">
                  <p:embed/>
                </p:oleObj>
              </mc:Choice>
              <mc:Fallback>
                <p:oleObj name="Equation" r:id="rId10" imgW="1092200" imgH="571500" progId="Equation.DSMT4">
                  <p:embed/>
                  <p:pic>
                    <p:nvPicPr>
                      <p:cNvPr id="0" name="图片 1057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3275014"/>
                        <a:ext cx="2160587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6911" name="Object 43"/>
          <p:cNvGraphicFramePr>
            <a:graphicFrameLocks noChangeAspect="1"/>
          </p:cNvGraphicFramePr>
          <p:nvPr/>
        </p:nvGraphicFramePr>
        <p:xfrm>
          <a:off x="5519739" y="3573463"/>
          <a:ext cx="1584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10" name="Equation" r:id="rId12" imgW="1143000" imgH="228600" progId="Equation.DSMT4">
                  <p:embed/>
                </p:oleObj>
              </mc:Choice>
              <mc:Fallback>
                <p:oleObj name="Equation" r:id="rId12" imgW="1143000" imgH="228600" progId="Equation.DSMT4">
                  <p:embed/>
                  <p:pic>
                    <p:nvPicPr>
                      <p:cNvPr id="0" name="图片 1057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9" y="3573463"/>
                        <a:ext cx="15843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913" name="Rectangle 17"/>
          <p:cNvSpPr>
            <a:spLocks noRot="1" noChangeArrowheads="1"/>
          </p:cNvSpPr>
          <p:nvPr/>
        </p:nvSpPr>
        <p:spPr bwMode="auto">
          <a:xfrm>
            <a:off x="1897063" y="4292600"/>
            <a:ext cx="7078662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rgbClr val="0000CC"/>
                </a:solidFill>
              </a:rPr>
              <a:t>3. Resistance and conductance</a:t>
            </a:r>
            <a:endParaRPr kumimoji="1" lang="en-US" altLang="zh-CN" sz="2400" b="1">
              <a:solidFill>
                <a:srgbClr val="0000CC"/>
              </a:solidFill>
            </a:endParaRPr>
          </a:p>
        </p:txBody>
      </p:sp>
      <p:sp>
        <p:nvSpPr>
          <p:cNvPr id="336915" name="Rectangle 19"/>
          <p:cNvSpPr>
            <a:spLocks noChangeArrowheads="1"/>
          </p:cNvSpPr>
          <p:nvPr/>
        </p:nvSpPr>
        <p:spPr bwMode="auto">
          <a:xfrm>
            <a:off x="2782889" y="5084764"/>
            <a:ext cx="26638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000" b="1">
                <a:solidFill>
                  <a:srgbClr val="0000CC"/>
                </a:solidFill>
              </a:rPr>
              <a:t>electrostatic simulation method</a:t>
            </a:r>
            <a:endParaRPr kumimoji="1" lang="en-US" altLang="zh-CN" sz="2000" b="1">
              <a:solidFill>
                <a:srgbClr val="0000CC"/>
              </a:solidFill>
            </a:endParaRPr>
          </a:p>
        </p:txBody>
      </p:sp>
      <p:graphicFrame>
        <p:nvGraphicFramePr>
          <p:cNvPr id="336916" name="Object 15"/>
          <p:cNvGraphicFramePr>
            <a:graphicFrameLocks noGrp="1" noChangeAspect="1"/>
          </p:cNvGraphicFramePr>
          <p:nvPr>
            <p:ph sz="half" idx="1"/>
          </p:nvPr>
        </p:nvGraphicFramePr>
        <p:xfrm>
          <a:off x="5807076" y="4941888"/>
          <a:ext cx="115252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11" name="Equation" r:id="rId14" imgW="546100" imgH="444500" progId="Equation.DSMT4">
                  <p:embed/>
                </p:oleObj>
              </mc:Choice>
              <mc:Fallback>
                <p:oleObj name="Equation" r:id="rId14" imgW="546100" imgH="444500" progId="Equation.DSMT4">
                  <p:embed/>
                  <p:pic>
                    <p:nvPicPr>
                      <p:cNvPr id="0" name="图片 1057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076" y="4941888"/>
                        <a:ext cx="1152525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3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9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3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3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3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3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3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8409" grpId="0"/>
      <p:bldP spid="998408" grpId="0"/>
      <p:bldP spid="336909" grpId="0"/>
      <p:bldP spid="336913" grpId="0"/>
      <p:bldP spid="3369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633730" y="4144645"/>
            <a:ext cx="5474335" cy="156464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30588" y="1145540"/>
            <a:ext cx="4980305" cy="705485"/>
          </a:xfrm>
        </p:spPr>
        <p:txBody>
          <a:bodyPr lIns="36195"/>
          <a:lstStyle/>
          <a:p>
            <a:r>
              <a:rPr lang="zh-CN" altLang="en-US" dirty="0">
                <a:solidFill>
                  <a:schemeClr val="tx1"/>
                </a:solidFill>
              </a:rPr>
              <a:t>Summary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34365" y="1851025"/>
            <a:ext cx="5474335" cy="381635"/>
          </a:xfrm>
          <a:gradFill>
            <a:gsLst>
              <a:gs pos="100000">
                <a:schemeClr val="accent1">
                  <a:lumMod val="80000"/>
                  <a:lumOff val="20000"/>
                </a:schemeClr>
              </a:gs>
              <a:gs pos="34000">
                <a:schemeClr val="accent1"/>
              </a:gs>
            </a:gsLst>
            <a:lin ang="18900000" scaled="0"/>
          </a:gradFill>
        </p:spPr>
        <p:txBody>
          <a:bodyPr lIns="431800" tIns="36195" bIns="0">
            <a:noAutofit/>
          </a:bodyPr>
          <a:lstStyle/>
          <a:p>
            <a:r>
              <a:rPr lang="zh-CN" altLang="en-US" sz="1800" dirty="0">
                <a:solidFill>
                  <a:srgbClr val="FFFFFF"/>
                </a:solidFill>
                <a:latin typeface="+mn-lt"/>
              </a:rPr>
              <a:t>Constitutive relations：</a:t>
            </a:r>
            <a:endParaRPr lang="zh-CN" altLang="en-US" sz="18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8" name="图片 7" descr="D:\lky\素材\图文关系\84c79096defd4fb3aa81457bad12ce6e.jpg84c79096defd4fb3aa81457bad12ce6e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lum bright="12000" contrast="-6000"/>
          </a:blip>
          <a:srcRect t="7250" b="7250"/>
          <a:stretch>
            <a:fillRect/>
          </a:stretch>
        </p:blipFill>
        <p:spPr>
          <a:xfrm>
            <a:off x="6108065" y="1154430"/>
            <a:ext cx="4977130" cy="4554855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" name="正文"/>
          <p:cNvSpPr txBox="1"/>
          <p:nvPr>
            <p:custDataLst>
              <p:tags r:id="rId6"/>
            </p:custDataLst>
          </p:nvPr>
        </p:nvSpPr>
        <p:spPr>
          <a:xfrm>
            <a:off x="1073785" y="4524375"/>
            <a:ext cx="4598670" cy="8058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  <a:buNone/>
            </a:pP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1. Basic equations (general problems)</a:t>
            </a:r>
            <a:endParaRPr lang="zh-CN" altLang="en-US" sz="1400" spc="15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" name="正文"/>
          <p:cNvSpPr txBox="1"/>
          <p:nvPr>
            <p:custDataLst>
              <p:tags r:id="rId7"/>
            </p:custDataLst>
          </p:nvPr>
        </p:nvSpPr>
        <p:spPr>
          <a:xfrm>
            <a:off x="1073785" y="3119120"/>
            <a:ext cx="4598670" cy="8058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l" fontAlgn="auto">
              <a:lnSpc>
                <a:spcPct val="130000"/>
              </a:lnSpc>
              <a:buNone/>
            </a:pPr>
            <a:r>
              <a:rPr lang="zh-CN" altLang="en-US" sz="1400" spc="15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2. Boundary conditions (general problems)</a:t>
            </a:r>
            <a:endParaRPr lang="zh-CN" altLang="en-US" sz="1400" spc="15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1125538"/>
            <a:ext cx="8540750" cy="1143000"/>
          </a:xfrm>
        </p:spPr>
        <p:txBody>
          <a:bodyPr/>
          <a:lstStyle/>
          <a:p>
            <a:r>
              <a:rPr lang="en-US" altLang="zh-CN" sz="6000" b="1">
                <a:effectLst>
                  <a:outerShdw blurRad="38100" dist="38100" dir="2700000" algn="tl">
                    <a:srgbClr val="C0C0C0"/>
                  </a:outerShdw>
                </a:effectLst>
              </a:rPr>
              <a:t>Homework</a:t>
            </a:r>
            <a:endParaRPr lang="en-US" altLang="zh-CN" sz="60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2051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424114" y="2852738"/>
            <a:ext cx="7488237" cy="187325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CN" sz="4800" dirty="0"/>
              <a:t> 5-1, 5-6, 5-10, 5-15, 5-16, 5-22</a:t>
            </a:r>
            <a:endParaRPr lang="en-US" altLang="zh-CN" sz="4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35_1*i*1"/>
  <p:tag name="KSO_WM_TEMPLATE_CATEGORY" val="custom"/>
  <p:tag name="KSO_WM_TEMPLATE_INDEX" val="20231235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235_1*a*1"/>
  <p:tag name="KSO_WM_TEMPLATE_CATEGORY" val="custom"/>
  <p:tag name="KSO_WM_TEMPLATE_INDEX" val="20231235"/>
  <p:tag name="KSO_WM_UNIT_LAYERLEVEL" val="1"/>
  <p:tag name="KSO_WM_TAG_VERSION" val="3.0"/>
  <p:tag name="KSO_WM_BEAUTIFY_FLAG" val="#wm#"/>
  <p:tag name="KSO_WM_UNIT_PRESET_TEXT" val="单击此处添加标题"/>
</p:tagLst>
</file>

<file path=ppt/tags/tag8.xml><?xml version="1.0" encoding="utf-8"?>
<p:tagLst xmlns:p="http://schemas.openxmlformats.org/presentationml/2006/main">
  <p:tag name="KSO_WM_UNIT_TEXT_FILL_FORE_SCHEMECOLOR_INDEX_BRIGHTNESS" val="0"/>
  <p:tag name="KSO_WM_UNIT_TEXT_FILL_FORE_SCHEMECOLOR_INDEX" val="8"/>
  <p:tag name="KSO_WM_UNIT_TEXT_FILL_TYPE" val="1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1235_1*b*1"/>
  <p:tag name="KSO_WM_TEMPLATE_CATEGORY" val="custom"/>
  <p:tag name="KSO_WM_TEMPLATE_INDEX" val="20231235"/>
  <p:tag name="KSO_WM_UNIT_LAYERLEVEL" val="1"/>
  <p:tag name="KSO_WM_TAG_VERSION" val="3.0"/>
  <p:tag name="KSO_WM_BEAUTIFY_FLAG" val="#wm#"/>
  <p:tag name="KSO_WM_UNIT_VALUE" val="21"/>
  <p:tag name="KSO_WM_UNIT_PRESET_TEXT" val="单击此处编辑副标题"/>
</p:tagLst>
</file>

<file path=ppt/tags/tag9.xml><?xml version="1.0" encoding="utf-8"?>
<p:tagLst xmlns:p="http://schemas.openxmlformats.org/presentationml/2006/main">
  <p:tag name="KSO_WM_UNIT_VALUE" val="1264*138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1235_1*d*1"/>
  <p:tag name="KSO_WM_TEMPLATE_CATEGORY" val="custom"/>
  <p:tag name="KSO_WM_TEMPLATE_INDEX" val="20231235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1235_1*f*1"/>
  <p:tag name="KSO_WM_TEMPLATE_CATEGORY" val="custom"/>
  <p:tag name="KSO_WM_TEMPLATE_INDEX" val="20231235"/>
  <p:tag name="KSO_WM_UNIT_LAYERLEVEL" val="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PRESET_TEXT" val="单击此处输入你的正文,文字是您思想的提炼，请尽量言简意赅的阐述观点。单击此处输入你的正文。请尽量言简意赅的阐述观点。单击此处输入你的正文"/>
</p:tagLst>
</file>

<file path=ppt/tags/tag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1235_1*f*2"/>
  <p:tag name="KSO_WM_TEMPLATE_CATEGORY" val="custom"/>
  <p:tag name="KSO_WM_TEMPLATE_INDEX" val="20231235"/>
  <p:tag name="KSO_WM_UNIT_LAYERLEVEL" val="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PRESET_TEXT" val="单击此处输入你的正文,文字是您思想的提炼，请尽量言简意赅的阐述观点。单击此处输入你的正文。请尽量言简意赅的阐述观点。单击此处输入你的正文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31235"/>
  <p:tag name="KSO_WM_SPECIAL_SOURCE" val="bdnull"/>
  <p:tag name="KSO_WM_SLIDE_ID" val="custom20231235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22*359"/>
  <p:tag name="KSO_WM_SLIDE_POSITION" val="49*90"/>
  <p:tag name="KSO_WM_TAG_VERSION" val="3.0"/>
  <p:tag name="KSO_WM_SLIDE_LAYOUT" val="a_b_d_f"/>
  <p:tag name="KSO_WM_SLIDE_LAYOUT_CNT" val="1_1_1_2"/>
</p:tagLst>
</file>

<file path=ppt/tags/tag13.xml><?xml version="1.0" encoding="utf-8"?>
<p:tagLst xmlns:p="http://schemas.openxmlformats.org/presentationml/2006/main">
  <p:tag name="commondata" val="eyJoZGlkIjoiZmU1MDQ4NGJlYWMzNGNlNjc3NmUxZGM1ODU4MTU5NTAifQ=="/>
</p:tagLst>
</file>

<file path=ppt/theme/theme1.xml><?xml version="1.0" encoding="utf-8"?>
<a:theme xmlns:a="http://schemas.openxmlformats.org/drawingml/2006/main" name="1_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12888</Words>
  <Application>WPS 演示</Application>
  <PresentationFormat>宽屏</PresentationFormat>
  <Paragraphs>585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237</vt:i4>
      </vt:variant>
      <vt:variant>
        <vt:lpstr>幻灯片标题</vt:lpstr>
      </vt:variant>
      <vt:variant>
        <vt:i4>43</vt:i4>
      </vt:variant>
    </vt:vector>
  </HeadingPairs>
  <TitlesOfParts>
    <vt:vector size="307" baseType="lpstr">
      <vt:lpstr>Arial</vt:lpstr>
      <vt:lpstr>宋体</vt:lpstr>
      <vt:lpstr>Wingdings</vt:lpstr>
      <vt:lpstr>Wingdings 3</vt:lpstr>
      <vt:lpstr>Arial</vt:lpstr>
      <vt:lpstr>黑体</vt:lpstr>
      <vt:lpstr>Times New Roman</vt:lpstr>
      <vt:lpstr>幼圆</vt:lpstr>
      <vt:lpstr>楷体_GB2312</vt:lpstr>
      <vt:lpstr>仿宋_GB2312</vt:lpstr>
      <vt:lpstr>仿宋</vt:lpstr>
      <vt:lpstr>隶书</vt:lpstr>
      <vt:lpstr>新宋体</vt:lpstr>
      <vt:lpstr>Cambria Math</vt:lpstr>
      <vt:lpstr>Symbol</vt:lpstr>
      <vt:lpstr>Century Gothic</vt:lpstr>
      <vt:lpstr>微软雅黑</vt:lpstr>
      <vt:lpstr>Arial Unicode MS</vt:lpstr>
      <vt:lpstr>Calibri</vt:lpstr>
      <vt:lpstr>Gulim</vt:lpstr>
      <vt:lpstr>Malgun Gothic</vt:lpstr>
      <vt:lpstr>PMingLiU</vt:lpstr>
      <vt:lpstr>PMingLiU-ExtB</vt:lpstr>
      <vt:lpstr>HY중고딕</vt:lpstr>
      <vt:lpstr>Segoe Print</vt:lpstr>
      <vt:lpstr>Microsoft JhengHei</vt:lpstr>
      <vt:lpstr>1_丝状</vt:lpstr>
      <vt:lpstr>Equation.DSMT4</vt:lpstr>
      <vt:lpstr>Equation.DSMT4</vt:lpstr>
      <vt:lpstr>MS_ClipArt_Gallery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CDraw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MS_ClipArt_Gallery.2</vt:lpstr>
      <vt:lpstr>Equation.DSMT4</vt:lpstr>
      <vt:lpstr>MS_ClipArt_Gallery.2</vt:lpstr>
      <vt:lpstr>Equation.DSMT4</vt:lpstr>
      <vt:lpstr>Equation.DSMT4</vt:lpstr>
      <vt:lpstr>Equation.DSMT4</vt:lpstr>
      <vt:lpstr>MS_ClipArt_Gallery.2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PowerPoint 演示文稿</vt:lpstr>
      <vt:lpstr>PowerPoint 演示文稿</vt:lpstr>
      <vt:lpstr>PowerPoint 演示文稿</vt:lpstr>
      <vt:lpstr>5.1 Introduction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Summary</vt:lpstr>
      <vt:lpstr>Homework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lwq</dc:creator>
  <cp:lastModifiedBy>月出之光</cp:lastModifiedBy>
  <cp:revision>67</cp:revision>
  <dcterms:created xsi:type="dcterms:W3CDTF">2019-03-21T03:59:00Z</dcterms:created>
  <dcterms:modified xsi:type="dcterms:W3CDTF">2024-04-10T10:45:33Z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AA5002547C6841C5BE71ED3CF98BFE5F_12</vt:lpwstr>
  </property>
  <property fmtid="{D5CDD505-2E9C-101B-9397-08002B2CF9AE}" pid="3" name="KSOProductBuildVer">
    <vt:lpwstr>2052-12.1.0.16388</vt:lpwstr>
  </property>
</Properties>
</file>