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6"/>
  </p:handoutMasterIdLst>
  <p:sldIdLst>
    <p:sldId id="325" r:id="rId3"/>
    <p:sldId id="382" r:id="rId5"/>
    <p:sldId id="257" r:id="rId6"/>
    <p:sldId id="326" r:id="rId7"/>
    <p:sldId id="324" r:id="rId8"/>
    <p:sldId id="391" r:id="rId9"/>
    <p:sldId id="375" r:id="rId10"/>
    <p:sldId id="256" r:id="rId11"/>
    <p:sldId id="376" r:id="rId12"/>
    <p:sldId id="394" r:id="rId13"/>
    <p:sldId id="395" r:id="rId14"/>
    <p:sldId id="407" r:id="rId15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2" userDrawn="1">
          <p15:clr>
            <a:srgbClr val="A4A3A4"/>
          </p15:clr>
        </p15:guide>
        <p15:guide id="2" pos="284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80904"/>
    <a:srgbClr val="FF3300"/>
    <a:srgbClr val="FF0066"/>
    <a:srgbClr val="F30D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87"/>
    <p:restoredTop sz="94660"/>
  </p:normalViewPr>
  <p:slideViewPr>
    <p:cSldViewPr showGuides="1">
      <p:cViewPr varScale="1">
        <p:scale>
          <a:sx n="127" d="100"/>
          <a:sy n="127" d="100"/>
        </p:scale>
        <p:origin x="1478" y="72"/>
      </p:cViewPr>
      <p:guideLst>
        <p:guide orient="horz" pos="2122"/>
        <p:guide pos="284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1"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3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1"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3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1"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A5B8CF6-2B88-4FE0-87F7-6D4340862E54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1"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6" name="Rectangle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11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11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1"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11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1"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066836C-9E99-4738-8774-5E4DEFAC1FCE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/>
          <a:lstStyle/>
          <a:p>
            <a:pPr lvl="0" indent="0" algn="r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US" altLang="zh-CN" sz="12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42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243" name="Rectangle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.vml"/><Relationship Id="rId6" Type="http://schemas.openxmlformats.org/officeDocument/2006/relationships/image" Target="../media/image3.png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.vml"/><Relationship Id="rId5" Type="http://schemas.openxmlformats.org/officeDocument/2006/relationships/oleObject" Target="../embeddings/oleObject4.bin"/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" Type="http://schemas.openxmlformats.org/officeDocument/2006/relationships/oleObject" Target="../embeddings/oleObject3.bin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.vml"/><Relationship Id="rId5" Type="http://schemas.openxmlformats.org/officeDocument/2006/relationships/oleObject" Target="../embeddings/oleObject6.bin"/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" Type="http://schemas.openxmlformats.org/officeDocument/2006/relationships/oleObject" Target="../embeddings/oleObject5.bin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4.vml"/><Relationship Id="rId5" Type="http://schemas.openxmlformats.org/officeDocument/2006/relationships/oleObject" Target="../embeddings/oleObject8.bin"/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" Type="http://schemas.openxmlformats.org/officeDocument/2006/relationships/oleObject" Target="../embeddings/oleObject7.bin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.vml"/><Relationship Id="rId5" Type="http://schemas.openxmlformats.org/officeDocument/2006/relationships/oleObject" Target="../embeddings/oleObject10.bin"/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" Type="http://schemas.openxmlformats.org/officeDocument/2006/relationships/oleObject" Target="../embeddings/oleObject9.bin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Box 7"/>
          <p:cNvSpPr txBox="1">
            <a:spLocks noChangeArrowheads="1"/>
          </p:cNvSpPr>
          <p:nvPr/>
        </p:nvSpPr>
        <p:spPr bwMode="auto">
          <a:xfrm>
            <a:off x="0" y="6172200"/>
            <a:ext cx="3581400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800" b="0" i="1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Rectangle 11"/>
          <p:cNvSpPr>
            <a:spLocks noChangeArrowheads="1"/>
          </p:cNvSpPr>
          <p:nvPr/>
        </p:nvSpPr>
        <p:spPr bwMode="auto">
          <a:xfrm>
            <a:off x="0" y="6324600"/>
            <a:ext cx="9144000" cy="5334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1" i="1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2" name="Text Box 12"/>
          <p:cNvSpPr txBox="1"/>
          <p:nvPr/>
        </p:nvSpPr>
        <p:spPr>
          <a:xfrm>
            <a:off x="457200" y="6429375"/>
            <a:ext cx="5410200" cy="3667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lvl="0" indent="0">
              <a:spcBef>
                <a:spcPct val="50000"/>
              </a:spcBef>
            </a:pPr>
            <a:r>
              <a:rPr lang="zh-CN" altLang="en-US" b="1" i="1" dirty="0">
                <a:solidFill>
                  <a:srgbClr val="969696"/>
                </a:solidFill>
                <a:latin typeface="Arial" panose="020B0604020202020204" pitchFamily="34" charset="0"/>
                <a:ea typeface="楷体_GB2312" pitchFamily="49" charset="-122"/>
              </a:rPr>
              <a:t>电子科技大学 宽带通信网络实验室</a:t>
            </a:r>
            <a:endParaRPr lang="zh-CN" altLang="en-US" b="1" i="1" dirty="0">
              <a:solidFill>
                <a:srgbClr val="96969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2053" name="Line 15"/>
          <p:cNvSpPr/>
          <p:nvPr/>
        </p:nvSpPr>
        <p:spPr>
          <a:xfrm>
            <a:off x="76200" y="1066800"/>
            <a:ext cx="7197725" cy="0"/>
          </a:xfrm>
          <a:prstGeom prst="line">
            <a:avLst/>
          </a:prstGeom>
          <a:ln w="508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lvl="0" indent="0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" name="Text Box 16"/>
          <p:cNvSpPr txBox="1">
            <a:spLocks noChangeArrowheads="1"/>
          </p:cNvSpPr>
          <p:nvPr/>
        </p:nvSpPr>
        <p:spPr bwMode="auto">
          <a:xfrm>
            <a:off x="6172200" y="6415088"/>
            <a:ext cx="2895600" cy="3667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300" b="0" i="1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</a:t>
            </a:r>
            <a:fld id="{8958AF07-2B53-48F2-B680-1095642D25D6}" type="slidenum">
              <a:rPr kumimoji="0" lang="en-US" altLang="zh-CN" sz="1300" b="1" i="1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r>
              <a:rPr kumimoji="0" lang="en-US" altLang="zh-CN" sz="1800" b="0" i="1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    </a:t>
            </a:r>
            <a:fld id="{037474CA-5FEB-4150-8D96-B53AC63EF30E}" type="datetime1">
              <a:rPr kumimoji="0" lang="zh-CN" altLang="en-US" sz="1800" b="1" i="1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800" b="1" i="1" u="none" strike="noStrike" kern="1200" cap="none" spc="0" normalizeH="0" baseline="0" noProof="0" smtClean="0">
              <a:ln>
                <a:noFill/>
              </a:ln>
              <a:solidFill>
                <a:srgbClr val="96969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055" name="Object 35"/>
          <p:cNvGraphicFramePr>
            <a:graphicFrameLocks noChangeAspect="1"/>
          </p:cNvGraphicFramePr>
          <p:nvPr/>
        </p:nvGraphicFramePr>
        <p:xfrm>
          <a:off x="2466975" y="1828800"/>
          <a:ext cx="6659563" cy="450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9" name="" r:id="rId2" imgW="5664200" imgH="3327400" progId="">
                  <p:embed/>
                </p:oleObj>
              </mc:Choice>
              <mc:Fallback>
                <p:oleObj name="" r:id="rId2" imgW="5664200" imgH="3327400" progId="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466975" y="1828800"/>
                        <a:ext cx="6659563" cy="4503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Box 7"/>
          <p:cNvSpPr txBox="1">
            <a:spLocks noChangeArrowheads="1"/>
          </p:cNvSpPr>
          <p:nvPr/>
        </p:nvSpPr>
        <p:spPr bwMode="auto">
          <a:xfrm>
            <a:off x="0" y="6172200"/>
            <a:ext cx="3581400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800" b="0" i="1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" name="Rectangle 11"/>
          <p:cNvSpPr>
            <a:spLocks noChangeArrowheads="1"/>
          </p:cNvSpPr>
          <p:nvPr/>
        </p:nvSpPr>
        <p:spPr bwMode="auto">
          <a:xfrm>
            <a:off x="0" y="6324600"/>
            <a:ext cx="9144000" cy="5334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1" i="1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8" name="Text Box 12"/>
          <p:cNvSpPr txBox="1"/>
          <p:nvPr/>
        </p:nvSpPr>
        <p:spPr>
          <a:xfrm>
            <a:off x="457200" y="6429375"/>
            <a:ext cx="5410200" cy="3683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lvl="0" indent="0">
              <a:spcBef>
                <a:spcPct val="50000"/>
              </a:spcBef>
            </a:pPr>
            <a:r>
              <a:rPr lang="en-US" altLang="zh-CN" b="1" dirty="0">
                <a:solidFill>
                  <a:srgbClr val="FFFFFF"/>
                </a:solidFill>
                <a:latin typeface="Arial" panose="020B0604020202020204" pitchFamily="34" charset="0"/>
                <a:ea typeface="楷体_GB2312" pitchFamily="49" charset="-122"/>
                <a:sym typeface="+mn-ea"/>
              </a:rPr>
              <a:t>UESTC</a:t>
            </a:r>
            <a:r>
              <a:rPr lang="zh-CN" altLang="en-US" b="1" dirty="0">
                <a:solidFill>
                  <a:srgbClr val="FFFFFF"/>
                </a:solidFill>
                <a:latin typeface="Arial" panose="020B0604020202020204" pitchFamily="34" charset="0"/>
                <a:ea typeface="楷体_GB2312" pitchFamily="49" charset="-122"/>
                <a:sym typeface="+mn-ea"/>
              </a:rPr>
              <a:t> </a:t>
            </a:r>
            <a:r>
              <a:rPr lang="en-US" altLang="zh-CN" b="1" dirty="0">
                <a:solidFill>
                  <a:srgbClr val="FFFFFF"/>
                </a:solidFill>
                <a:latin typeface="Arial" panose="020B0604020202020204" pitchFamily="34" charset="0"/>
                <a:ea typeface="楷体_GB2312" pitchFamily="49" charset="-122"/>
                <a:sym typeface="+mn-ea"/>
              </a:rPr>
              <a:t>Glasgow College</a:t>
            </a:r>
            <a:endParaRPr lang="zh-CN" altLang="en-US" b="1" dirty="0">
              <a:solidFill>
                <a:srgbClr val="FFFFFF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pic>
        <p:nvPicPr>
          <p:cNvPr id="2059" name="Picture 14" descr="未命名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7150" y="340995"/>
            <a:ext cx="1555750" cy="125285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60" name="Line 15"/>
          <p:cNvSpPr/>
          <p:nvPr/>
        </p:nvSpPr>
        <p:spPr>
          <a:xfrm>
            <a:off x="306388" y="1066800"/>
            <a:ext cx="7466012" cy="0"/>
          </a:xfrm>
          <a:prstGeom prst="line">
            <a:avLst/>
          </a:prstGeom>
          <a:ln w="508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lvl="0" indent="0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" name="Text Box 16"/>
          <p:cNvSpPr txBox="1">
            <a:spLocks noChangeArrowheads="1"/>
          </p:cNvSpPr>
          <p:nvPr/>
        </p:nvSpPr>
        <p:spPr bwMode="auto">
          <a:xfrm>
            <a:off x="6172200" y="6415088"/>
            <a:ext cx="2895600" cy="3667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300" b="0" i="1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</a:t>
            </a:r>
            <a:fld id="{69A248A3-99C9-4A80-BC8E-374D552C3FA7}" type="slidenum">
              <a:rPr kumimoji="0" lang="en-US" altLang="zh-CN" sz="1300" b="1" i="1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r>
              <a:rPr kumimoji="0" lang="en-US" altLang="zh-CN" sz="1800" b="0" i="1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    </a:t>
            </a:r>
            <a:fld id="{C4F8BBD4-577F-49B4-BFF4-F5BD509E7561}" type="datetime1"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062" name="Object 36"/>
          <p:cNvGraphicFramePr>
            <a:graphicFrameLocks noChangeAspect="1"/>
          </p:cNvGraphicFramePr>
          <p:nvPr/>
        </p:nvGraphicFramePr>
        <p:xfrm>
          <a:off x="2209800" y="1752600"/>
          <a:ext cx="6659563" cy="450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0" name="" r:id="rId5" imgW="5664200" imgH="3327400" progId="">
                  <p:embed/>
                </p:oleObj>
              </mc:Choice>
              <mc:Fallback>
                <p:oleObj name="" r:id="rId5" imgW="5664200" imgH="3327400" progId="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209800" y="1752600"/>
                        <a:ext cx="6659563" cy="4503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63" name="Picture 8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27313" y="1628775"/>
            <a:ext cx="6518275" cy="46799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4" name="Freeform 94"/>
          <p:cNvSpPr/>
          <p:nvPr/>
        </p:nvSpPr>
        <p:spPr bwMode="gray">
          <a:xfrm>
            <a:off x="0" y="0"/>
            <a:ext cx="2971800" cy="5257800"/>
          </a:xfrm>
          <a:custGeom>
            <a:avLst/>
            <a:gdLst/>
            <a:ahLst/>
            <a:cxnLst>
              <a:cxn ang="0">
                <a:pos x="118" y="0"/>
              </a:cxn>
              <a:cxn ang="0">
                <a:pos x="0" y="118"/>
              </a:cxn>
              <a:cxn ang="0">
                <a:pos x="0" y="589"/>
              </a:cxn>
              <a:cxn ang="0">
                <a:pos x="161" y="174"/>
              </a:cxn>
              <a:cxn ang="0">
                <a:pos x="589" y="0"/>
              </a:cxn>
              <a:cxn ang="0">
                <a:pos x="118" y="0"/>
              </a:cxn>
            </a:cxnLst>
            <a:rect l="0" t="0" r="r" b="b"/>
            <a:pathLst>
              <a:path w="596" h="598">
                <a:moveTo>
                  <a:pt x="118" y="0"/>
                </a:moveTo>
                <a:cubicBezTo>
                  <a:pt x="53" y="0"/>
                  <a:pt x="0" y="53"/>
                  <a:pt x="0" y="118"/>
                </a:cubicBezTo>
                <a:lnTo>
                  <a:pt x="0" y="589"/>
                </a:lnTo>
                <a:cubicBezTo>
                  <a:pt x="27" y="598"/>
                  <a:pt x="12" y="309"/>
                  <a:pt x="161" y="174"/>
                </a:cubicBezTo>
                <a:cubicBezTo>
                  <a:pt x="310" y="39"/>
                  <a:pt x="596" y="29"/>
                  <a:pt x="589" y="0"/>
                </a:cubicBezTo>
                <a:lnTo>
                  <a:pt x="118" y="0"/>
                </a:lnTo>
                <a:close/>
              </a:path>
            </a:pathLst>
          </a:custGeom>
          <a:gradFill rotWithShape="1">
            <a:gsLst>
              <a:gs pos="0">
                <a:srgbClr val="0066CC">
                  <a:gamma/>
                  <a:tint val="54510"/>
                  <a:invGamma/>
                </a:srgbClr>
              </a:gs>
              <a:gs pos="50000">
                <a:srgbClr val="0066CC">
                  <a:alpha val="0"/>
                </a:srgbClr>
              </a:gs>
              <a:gs pos="100000">
                <a:srgbClr val="0066CC">
                  <a:gamma/>
                  <a:tint val="54510"/>
                  <a:invGamma/>
                </a:srgbClr>
              </a:gs>
            </a:gsLst>
            <a:lin ang="2700000" scaled="1"/>
          </a:gradFill>
          <a:ln w="0">
            <a:noFill/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" name="标题占位符 6"/>
          <p:cNvSpPr/>
          <p:nvPr/>
        </p:nvSpPr>
        <p:spPr bwMode="auto">
          <a:xfrm>
            <a:off x="457200" y="2133600"/>
            <a:ext cx="8229600" cy="25908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4000" b="1" i="1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 Black" panose="020B0A04020102020204" pitchFamily="34" charset="0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Box 7"/>
          <p:cNvSpPr txBox="1">
            <a:spLocks noChangeArrowheads="1"/>
          </p:cNvSpPr>
          <p:nvPr/>
        </p:nvSpPr>
        <p:spPr bwMode="auto">
          <a:xfrm>
            <a:off x="0" y="6172200"/>
            <a:ext cx="3581400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800" b="0" i="1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Rectangle 11"/>
          <p:cNvSpPr>
            <a:spLocks noChangeArrowheads="1"/>
          </p:cNvSpPr>
          <p:nvPr/>
        </p:nvSpPr>
        <p:spPr bwMode="auto">
          <a:xfrm>
            <a:off x="0" y="6324600"/>
            <a:ext cx="9144000" cy="5334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1" i="1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Text Box 12"/>
          <p:cNvSpPr txBox="1"/>
          <p:nvPr/>
        </p:nvSpPr>
        <p:spPr>
          <a:xfrm>
            <a:off x="457200" y="6429375"/>
            <a:ext cx="5410200" cy="3667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lvl="0" indent="0">
              <a:spcBef>
                <a:spcPct val="50000"/>
              </a:spcBef>
            </a:pPr>
            <a:r>
              <a:rPr lang="zh-CN" altLang="en-US" b="1" i="1" dirty="0">
                <a:solidFill>
                  <a:srgbClr val="969696"/>
                </a:solidFill>
                <a:latin typeface="Arial" panose="020B0604020202020204" pitchFamily="34" charset="0"/>
                <a:ea typeface="楷体_GB2312" pitchFamily="49" charset="-122"/>
              </a:rPr>
              <a:t>电子科技大学 宽带通信网络实验室</a:t>
            </a:r>
            <a:endParaRPr lang="zh-CN" altLang="en-US" b="1" i="1" dirty="0">
              <a:solidFill>
                <a:srgbClr val="96969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3077" name="Line 15"/>
          <p:cNvSpPr/>
          <p:nvPr/>
        </p:nvSpPr>
        <p:spPr>
          <a:xfrm>
            <a:off x="76200" y="1066800"/>
            <a:ext cx="7197725" cy="0"/>
          </a:xfrm>
          <a:prstGeom prst="line">
            <a:avLst/>
          </a:prstGeom>
          <a:ln w="508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lvl="0" indent="0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" name="Text Box 16"/>
          <p:cNvSpPr txBox="1">
            <a:spLocks noChangeArrowheads="1"/>
          </p:cNvSpPr>
          <p:nvPr/>
        </p:nvSpPr>
        <p:spPr bwMode="auto">
          <a:xfrm>
            <a:off x="6172200" y="6415088"/>
            <a:ext cx="2895600" cy="3667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300" b="0" i="1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</a:t>
            </a:r>
            <a:fld id="{EE1DE4D4-3CC2-47FA-827F-648DFDE61C9D}" type="slidenum">
              <a:rPr kumimoji="0" lang="en-US" altLang="zh-CN" sz="1300" b="1" i="1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r>
              <a:rPr kumimoji="0" lang="en-US" altLang="zh-CN" sz="1800" b="0" i="1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    </a:t>
            </a:r>
            <a:fld id="{BE141EF6-A7E2-41D4-9130-D77C375778DC}" type="datetime1">
              <a:rPr kumimoji="0" lang="zh-CN" altLang="en-US" sz="1800" b="1" i="1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800" b="1" i="1" u="none" strike="noStrike" kern="1200" cap="none" spc="0" normalizeH="0" baseline="0" noProof="0" smtClean="0">
              <a:ln>
                <a:noFill/>
              </a:ln>
              <a:solidFill>
                <a:srgbClr val="96969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079" name="Object 35"/>
          <p:cNvGraphicFramePr>
            <a:graphicFrameLocks noChangeAspect="1"/>
          </p:cNvGraphicFramePr>
          <p:nvPr/>
        </p:nvGraphicFramePr>
        <p:xfrm>
          <a:off x="2466975" y="1828800"/>
          <a:ext cx="6659563" cy="450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3" name="" r:id="rId2" imgW="5664200" imgH="3327400" progId="">
                  <p:embed/>
                </p:oleObj>
              </mc:Choice>
              <mc:Fallback>
                <p:oleObj name="" r:id="rId2" imgW="5664200" imgH="3327400" progId="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466975" y="1828800"/>
                        <a:ext cx="6659563" cy="4503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Box 7"/>
          <p:cNvSpPr txBox="1">
            <a:spLocks noChangeArrowheads="1"/>
          </p:cNvSpPr>
          <p:nvPr/>
        </p:nvSpPr>
        <p:spPr bwMode="auto">
          <a:xfrm>
            <a:off x="0" y="6172200"/>
            <a:ext cx="3581400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800" b="0" i="1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" name="Rectangle 11"/>
          <p:cNvSpPr>
            <a:spLocks noChangeArrowheads="1"/>
          </p:cNvSpPr>
          <p:nvPr/>
        </p:nvSpPr>
        <p:spPr bwMode="auto">
          <a:xfrm>
            <a:off x="0" y="6324600"/>
            <a:ext cx="9144000" cy="5334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1" i="1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2" name="Text Box 12"/>
          <p:cNvSpPr txBox="1"/>
          <p:nvPr/>
        </p:nvSpPr>
        <p:spPr>
          <a:xfrm>
            <a:off x="457200" y="6429375"/>
            <a:ext cx="5410200" cy="3683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lvl="0" indent="0">
              <a:spcBef>
                <a:spcPct val="50000"/>
              </a:spcBef>
            </a:pPr>
            <a:r>
              <a:rPr lang="en-US" altLang="zh-CN" b="1" dirty="0">
                <a:solidFill>
                  <a:srgbClr val="FFFFFF"/>
                </a:solidFill>
                <a:latin typeface="Arial" panose="020B0604020202020204" pitchFamily="34" charset="0"/>
                <a:ea typeface="楷体_GB2312" pitchFamily="49" charset="-122"/>
                <a:sym typeface="+mn-ea"/>
              </a:rPr>
              <a:t>UESTC</a:t>
            </a:r>
            <a:r>
              <a:rPr lang="zh-CN" altLang="en-US" b="1" dirty="0">
                <a:solidFill>
                  <a:srgbClr val="FFFFFF"/>
                </a:solidFill>
                <a:latin typeface="Arial" panose="020B0604020202020204" pitchFamily="34" charset="0"/>
                <a:ea typeface="楷体_GB2312" pitchFamily="49" charset="-122"/>
                <a:sym typeface="+mn-ea"/>
              </a:rPr>
              <a:t> </a:t>
            </a:r>
            <a:r>
              <a:rPr lang="en-US" altLang="zh-CN" b="1" dirty="0">
                <a:solidFill>
                  <a:srgbClr val="FFFFFF"/>
                </a:solidFill>
                <a:latin typeface="Arial" panose="020B0604020202020204" pitchFamily="34" charset="0"/>
                <a:ea typeface="楷体_GB2312" pitchFamily="49" charset="-122"/>
                <a:sym typeface="+mn-ea"/>
              </a:rPr>
              <a:t>Glasgow College</a:t>
            </a:r>
            <a:endParaRPr lang="zh-CN" altLang="en-US" b="1" dirty="0">
              <a:solidFill>
                <a:srgbClr val="FFFFFF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pic>
        <p:nvPicPr>
          <p:cNvPr id="3083" name="Picture 14" descr="未命名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7620" y="340995"/>
            <a:ext cx="1516380" cy="125285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84" name="Line 15"/>
          <p:cNvSpPr/>
          <p:nvPr/>
        </p:nvSpPr>
        <p:spPr>
          <a:xfrm>
            <a:off x="306388" y="1066800"/>
            <a:ext cx="7466012" cy="0"/>
          </a:xfrm>
          <a:prstGeom prst="line">
            <a:avLst/>
          </a:prstGeom>
          <a:ln w="508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lvl="0" indent="0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" name="Text Box 16"/>
          <p:cNvSpPr txBox="1">
            <a:spLocks noChangeArrowheads="1"/>
          </p:cNvSpPr>
          <p:nvPr/>
        </p:nvSpPr>
        <p:spPr bwMode="auto">
          <a:xfrm>
            <a:off x="6172200" y="6415088"/>
            <a:ext cx="2895600" cy="3667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300" b="0" i="1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</a:t>
            </a:r>
            <a:fld id="{B66723C8-6AEC-4774-B007-7875700C212E}" type="slidenum">
              <a:rPr kumimoji="0" lang="en-US" altLang="zh-CN" sz="1300" b="1" i="1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r>
              <a:rPr kumimoji="0" lang="en-US" altLang="zh-CN" sz="1800" b="0" i="1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    </a:t>
            </a:r>
            <a:fld id="{B6882D1C-F7A7-4FB4-B442-54941B510344}" type="datetime1">
              <a:rPr kumimoji="0" lang="zh-CN" altLang="en-US" sz="1800" b="1" i="1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800" b="1" i="1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086" name="Object 36"/>
          <p:cNvGraphicFramePr>
            <a:graphicFrameLocks noChangeAspect="1"/>
          </p:cNvGraphicFramePr>
          <p:nvPr/>
        </p:nvGraphicFramePr>
        <p:xfrm>
          <a:off x="2209800" y="1752600"/>
          <a:ext cx="6659563" cy="450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4" name="" r:id="rId5" imgW="5664200" imgH="3327400" progId="">
                  <p:embed/>
                </p:oleObj>
              </mc:Choice>
              <mc:Fallback>
                <p:oleObj name="" r:id="rId5" imgW="5664200" imgH="3327400" progId="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209800" y="1752600"/>
                        <a:ext cx="6659563" cy="4503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2" y="2130435"/>
            <a:ext cx="7772400" cy="1470025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2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34" name="Rectangle 1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i="0"/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defRPr/>
            </a:pPr>
            <a:endParaRPr kumimoji="0" lang="zh-CN" altLang="zh-CN" b="0" strike="noStrike" kern="1200" cap="none" spc="0" normalizeH="0" baseline="0" noProof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" name="Rectangle 2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i="0">
                <a:latin typeface="Times New Roman" panose="02020603050405020304" pitchFamily="18" charset="0"/>
              </a:defRPr>
            </a:lvl1pPr>
          </a:lstStyle>
          <a:p>
            <a:pPr marL="0" marR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defRPr/>
            </a:pPr>
            <a:fld id="{6557F2A8-A8CA-4596-91B3-E848ED6CF3A0}" type="slidenum">
              <a:rPr kumimoji="0" lang="zh-CN" altLang="zh-CN" b="0" strike="noStrike" kern="1200" cap="none" spc="0" normalizeH="0" baseline="0" noProof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zh-CN" b="0" strike="noStrike" kern="1200" cap="none" spc="0" normalizeH="0" baseline="0" noProof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Box 7"/>
          <p:cNvSpPr txBox="1">
            <a:spLocks noChangeArrowheads="1"/>
          </p:cNvSpPr>
          <p:nvPr/>
        </p:nvSpPr>
        <p:spPr bwMode="auto">
          <a:xfrm>
            <a:off x="0" y="6172200"/>
            <a:ext cx="3581400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800" b="0" i="1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Rectangle 11"/>
          <p:cNvSpPr>
            <a:spLocks noChangeArrowheads="1"/>
          </p:cNvSpPr>
          <p:nvPr/>
        </p:nvSpPr>
        <p:spPr bwMode="auto">
          <a:xfrm>
            <a:off x="0" y="6324600"/>
            <a:ext cx="9144000" cy="5334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1" i="1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/>
          <p:nvPr/>
        </p:nvSpPr>
        <p:spPr>
          <a:xfrm>
            <a:off x="457200" y="6429375"/>
            <a:ext cx="5410200" cy="3667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lvl="0" indent="0">
              <a:spcBef>
                <a:spcPct val="50000"/>
              </a:spcBef>
            </a:pPr>
            <a:r>
              <a:rPr lang="zh-CN" altLang="en-US" b="1" i="1" dirty="0">
                <a:solidFill>
                  <a:srgbClr val="969696"/>
                </a:solidFill>
                <a:latin typeface="Arial" panose="020B0604020202020204" pitchFamily="34" charset="0"/>
                <a:ea typeface="楷体_GB2312" pitchFamily="49" charset="-122"/>
              </a:rPr>
              <a:t>电子科技大学 宽带通信网络实验室</a:t>
            </a:r>
            <a:endParaRPr lang="zh-CN" altLang="en-US" b="1" i="1" dirty="0">
              <a:solidFill>
                <a:srgbClr val="96969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4101" name="Line 15"/>
          <p:cNvSpPr/>
          <p:nvPr/>
        </p:nvSpPr>
        <p:spPr>
          <a:xfrm>
            <a:off x="76200" y="1066800"/>
            <a:ext cx="7197725" cy="0"/>
          </a:xfrm>
          <a:prstGeom prst="line">
            <a:avLst/>
          </a:prstGeom>
          <a:ln w="508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lvl="0" indent="0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" name="Text Box 16"/>
          <p:cNvSpPr txBox="1">
            <a:spLocks noChangeArrowheads="1"/>
          </p:cNvSpPr>
          <p:nvPr/>
        </p:nvSpPr>
        <p:spPr bwMode="auto">
          <a:xfrm>
            <a:off x="6172200" y="6415088"/>
            <a:ext cx="2895600" cy="3667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300" b="0" i="1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</a:t>
            </a:r>
            <a:fld id="{3FBCA944-7FAE-45FC-BDC3-2EC2D2E78EDD}" type="slidenum">
              <a:rPr kumimoji="0" lang="en-US" altLang="zh-CN" sz="1300" b="1" i="1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r>
              <a:rPr kumimoji="0" lang="en-US" altLang="zh-CN" sz="1800" b="0" i="1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    </a:t>
            </a:r>
            <a:fld id="{054CBC4F-1865-4A58-832D-D4547C3F85B6}" type="datetime1">
              <a:rPr kumimoji="0" lang="zh-CN" altLang="en-US" sz="1800" b="1" i="1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800" b="1" i="1" u="none" strike="noStrike" kern="1200" cap="none" spc="0" normalizeH="0" baseline="0" noProof="0" smtClean="0">
              <a:ln>
                <a:noFill/>
              </a:ln>
              <a:solidFill>
                <a:srgbClr val="96969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4103" name="Object 35"/>
          <p:cNvGraphicFramePr>
            <a:graphicFrameLocks noChangeAspect="1"/>
          </p:cNvGraphicFramePr>
          <p:nvPr/>
        </p:nvGraphicFramePr>
        <p:xfrm>
          <a:off x="2466975" y="1828800"/>
          <a:ext cx="6659563" cy="450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7" name="" r:id="rId2" imgW="5664200" imgH="3327400" progId="">
                  <p:embed/>
                </p:oleObj>
              </mc:Choice>
              <mc:Fallback>
                <p:oleObj name="" r:id="rId2" imgW="5664200" imgH="3327400" progId="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466975" y="1828800"/>
                        <a:ext cx="6659563" cy="4503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Box 7"/>
          <p:cNvSpPr txBox="1">
            <a:spLocks noChangeArrowheads="1"/>
          </p:cNvSpPr>
          <p:nvPr/>
        </p:nvSpPr>
        <p:spPr bwMode="auto">
          <a:xfrm>
            <a:off x="0" y="6172200"/>
            <a:ext cx="3581400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800" b="0" i="1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" name="Rectangle 11"/>
          <p:cNvSpPr>
            <a:spLocks noChangeArrowheads="1"/>
          </p:cNvSpPr>
          <p:nvPr/>
        </p:nvSpPr>
        <p:spPr bwMode="auto">
          <a:xfrm>
            <a:off x="0" y="6324600"/>
            <a:ext cx="9144000" cy="5334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1" i="1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6" name="Text Box 12"/>
          <p:cNvSpPr txBox="1"/>
          <p:nvPr/>
        </p:nvSpPr>
        <p:spPr>
          <a:xfrm>
            <a:off x="457200" y="6429375"/>
            <a:ext cx="5410200" cy="3683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lvl="0" indent="0">
              <a:spcBef>
                <a:spcPct val="50000"/>
              </a:spcBef>
            </a:pPr>
            <a:r>
              <a:rPr lang="en-US" altLang="zh-CN" b="1" dirty="0">
                <a:solidFill>
                  <a:srgbClr val="FFFFFF"/>
                </a:solidFill>
                <a:latin typeface="Arial" panose="020B0604020202020204" pitchFamily="34" charset="0"/>
                <a:ea typeface="楷体_GB2312" pitchFamily="49" charset="-122"/>
                <a:sym typeface="+mn-ea"/>
              </a:rPr>
              <a:t>UESTC</a:t>
            </a:r>
            <a:r>
              <a:rPr lang="zh-CN" altLang="en-US" b="1" dirty="0">
                <a:solidFill>
                  <a:srgbClr val="FFFFFF"/>
                </a:solidFill>
                <a:latin typeface="Arial" panose="020B0604020202020204" pitchFamily="34" charset="0"/>
                <a:ea typeface="楷体_GB2312" pitchFamily="49" charset="-122"/>
                <a:sym typeface="+mn-ea"/>
              </a:rPr>
              <a:t> </a:t>
            </a:r>
            <a:r>
              <a:rPr lang="en-US" altLang="zh-CN" b="1" dirty="0">
                <a:solidFill>
                  <a:srgbClr val="FFFFFF"/>
                </a:solidFill>
                <a:latin typeface="Arial" panose="020B0604020202020204" pitchFamily="34" charset="0"/>
                <a:ea typeface="楷体_GB2312" pitchFamily="49" charset="-122"/>
                <a:sym typeface="+mn-ea"/>
              </a:rPr>
              <a:t>Glasgow College</a:t>
            </a:r>
            <a:endParaRPr lang="zh-CN" altLang="en-US" b="1" dirty="0">
              <a:solidFill>
                <a:srgbClr val="FFFFFF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pic>
        <p:nvPicPr>
          <p:cNvPr id="4107" name="Picture 14" descr="未命名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7150" y="346075"/>
            <a:ext cx="1539240" cy="125285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08" name="Line 15"/>
          <p:cNvSpPr/>
          <p:nvPr/>
        </p:nvSpPr>
        <p:spPr>
          <a:xfrm>
            <a:off x="306388" y="1066800"/>
            <a:ext cx="7466012" cy="0"/>
          </a:xfrm>
          <a:prstGeom prst="line">
            <a:avLst/>
          </a:prstGeom>
          <a:ln w="508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lvl="0" indent="0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" name="Text Box 16"/>
          <p:cNvSpPr txBox="1">
            <a:spLocks noChangeArrowheads="1"/>
          </p:cNvSpPr>
          <p:nvPr/>
        </p:nvSpPr>
        <p:spPr bwMode="auto">
          <a:xfrm>
            <a:off x="6172200" y="6415088"/>
            <a:ext cx="2895600" cy="3667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300" b="0" i="1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</a:t>
            </a:r>
            <a:fld id="{1A669FD6-232D-4ED8-9334-A0C093A6DE38}" type="slidenum">
              <a:rPr kumimoji="0" lang="en-US" altLang="zh-CN" sz="1300" b="1" i="1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r>
              <a:rPr kumimoji="0" lang="en-US" altLang="zh-CN" sz="1800" b="0" i="1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    </a:t>
            </a:r>
            <a:fld id="{818DC9CC-C088-4E4C-B040-796756CF1EEA}" type="datetime1">
              <a:rPr kumimoji="0" lang="zh-CN" altLang="en-US" sz="1800" b="1" i="1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800" b="1" i="1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4110" name="Object 36"/>
          <p:cNvGraphicFramePr>
            <a:graphicFrameLocks noChangeAspect="1"/>
          </p:cNvGraphicFramePr>
          <p:nvPr/>
        </p:nvGraphicFramePr>
        <p:xfrm>
          <a:off x="2209800" y="1752600"/>
          <a:ext cx="6659563" cy="450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8" name="" r:id="rId5" imgW="5664200" imgH="3327400" progId="">
                  <p:embed/>
                </p:oleObj>
              </mc:Choice>
              <mc:Fallback>
                <p:oleObj name="" r:id="rId5" imgW="5664200" imgH="3327400" progId="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209800" y="1752600"/>
                        <a:ext cx="6659563" cy="4503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33" name="Rectangle 18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i="0"/>
            </a:lvl1pPr>
          </a:lstStyle>
          <a:p>
            <a:pPr marL="0" marR="0" indent="0" algn="l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defRPr/>
            </a:pPr>
            <a:endParaRPr kumimoji="0" lang="zh-CN" altLang="zh-CN" b="0" strike="noStrike" kern="1200" cap="none" spc="0" normalizeH="0" baseline="0" noProof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Rectangle 19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i="0"/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defRPr/>
            </a:pPr>
            <a:endParaRPr kumimoji="0" lang="zh-CN" altLang="zh-CN" b="0" strike="noStrike" kern="1200" cap="none" spc="0" normalizeH="0" baseline="0" noProof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" name="Rectangle 20"/>
          <p:cNvSpPr>
            <a:spLocks noGrp="1" noChangeArrowheads="1"/>
          </p:cNvSpPr>
          <p:nvPr>
            <p:ph type="sldNum" sz="quarter" idx="1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i="0">
                <a:latin typeface="Times New Roman" panose="02020603050405020304" pitchFamily="18" charset="0"/>
              </a:defRPr>
            </a:lvl1pPr>
          </a:lstStyle>
          <a:p>
            <a:pPr marL="0" marR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defRPr/>
            </a:pPr>
            <a:fld id="{23602B54-8D65-4376-9E4C-CDEDC19E30F6}" type="slidenum">
              <a:rPr kumimoji="0" lang="zh-CN" altLang="zh-CN" b="0" strike="noStrike" kern="1200" cap="none" spc="0" normalizeH="0" baseline="0" noProof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zh-CN" b="0" strike="noStrike" kern="1200" cap="none" spc="0" normalizeH="0" baseline="0" noProof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Box 7"/>
          <p:cNvSpPr txBox="1">
            <a:spLocks noChangeArrowheads="1"/>
          </p:cNvSpPr>
          <p:nvPr/>
        </p:nvSpPr>
        <p:spPr bwMode="auto">
          <a:xfrm>
            <a:off x="0" y="6172200"/>
            <a:ext cx="3581400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800" b="0" i="1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Rectangle 11"/>
          <p:cNvSpPr>
            <a:spLocks noChangeArrowheads="1"/>
          </p:cNvSpPr>
          <p:nvPr/>
        </p:nvSpPr>
        <p:spPr bwMode="auto">
          <a:xfrm>
            <a:off x="0" y="6324600"/>
            <a:ext cx="9144000" cy="5334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1" i="1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4" name="Text Box 12"/>
          <p:cNvSpPr txBox="1"/>
          <p:nvPr/>
        </p:nvSpPr>
        <p:spPr>
          <a:xfrm>
            <a:off x="457200" y="6429375"/>
            <a:ext cx="5410200" cy="3667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lvl="0" indent="0">
              <a:spcBef>
                <a:spcPct val="50000"/>
              </a:spcBef>
            </a:pPr>
            <a:r>
              <a:rPr lang="zh-CN" altLang="en-US" b="1" i="1" dirty="0">
                <a:solidFill>
                  <a:srgbClr val="969696"/>
                </a:solidFill>
                <a:latin typeface="Arial" panose="020B0604020202020204" pitchFamily="34" charset="0"/>
                <a:ea typeface="楷体_GB2312" pitchFamily="49" charset="-122"/>
              </a:rPr>
              <a:t>电子科技大学 宽带通信网络实验室</a:t>
            </a:r>
            <a:endParaRPr lang="zh-CN" altLang="en-US" b="1" i="1" dirty="0">
              <a:solidFill>
                <a:srgbClr val="96969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5125" name="Line 15"/>
          <p:cNvSpPr/>
          <p:nvPr/>
        </p:nvSpPr>
        <p:spPr>
          <a:xfrm>
            <a:off x="76200" y="1066800"/>
            <a:ext cx="7197725" cy="0"/>
          </a:xfrm>
          <a:prstGeom prst="line">
            <a:avLst/>
          </a:prstGeom>
          <a:ln w="508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lvl="0" indent="0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" name="Text Box 16"/>
          <p:cNvSpPr txBox="1">
            <a:spLocks noChangeArrowheads="1"/>
          </p:cNvSpPr>
          <p:nvPr/>
        </p:nvSpPr>
        <p:spPr bwMode="auto">
          <a:xfrm>
            <a:off x="6172200" y="6415088"/>
            <a:ext cx="2895600" cy="3667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300" b="0" i="1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</a:t>
            </a:r>
            <a:fld id="{A3D960E5-D44C-4F6D-ADE5-92A1FA0EABFF}" type="slidenum">
              <a:rPr kumimoji="0" lang="en-US" altLang="zh-CN" sz="1300" b="1" i="1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r>
              <a:rPr kumimoji="0" lang="en-US" altLang="zh-CN" sz="1800" b="0" i="1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    </a:t>
            </a:r>
            <a:fld id="{7277CFB6-4F04-495F-9AE2-9CC8CEBD9408}" type="datetime1">
              <a:rPr kumimoji="0" lang="zh-CN" altLang="en-US" sz="1800" b="1" i="1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800" b="1" i="1" u="none" strike="noStrike" kern="1200" cap="none" spc="0" normalizeH="0" baseline="0" noProof="0" smtClean="0">
              <a:ln>
                <a:noFill/>
              </a:ln>
              <a:solidFill>
                <a:srgbClr val="96969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5127" name="Object 35"/>
          <p:cNvGraphicFramePr>
            <a:graphicFrameLocks noChangeAspect="1"/>
          </p:cNvGraphicFramePr>
          <p:nvPr/>
        </p:nvGraphicFramePr>
        <p:xfrm>
          <a:off x="2466975" y="1828800"/>
          <a:ext cx="6659563" cy="450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1" name="" r:id="rId2" imgW="5664200" imgH="3327400" progId="">
                  <p:embed/>
                </p:oleObj>
              </mc:Choice>
              <mc:Fallback>
                <p:oleObj name="" r:id="rId2" imgW="5664200" imgH="3327400" progId="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466975" y="1828800"/>
                        <a:ext cx="6659563" cy="4503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Box 7"/>
          <p:cNvSpPr txBox="1">
            <a:spLocks noChangeArrowheads="1"/>
          </p:cNvSpPr>
          <p:nvPr/>
        </p:nvSpPr>
        <p:spPr bwMode="auto">
          <a:xfrm>
            <a:off x="0" y="6172200"/>
            <a:ext cx="3581400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800" b="0" i="1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" name="Rectangle 11"/>
          <p:cNvSpPr>
            <a:spLocks noChangeArrowheads="1"/>
          </p:cNvSpPr>
          <p:nvPr/>
        </p:nvSpPr>
        <p:spPr bwMode="auto">
          <a:xfrm>
            <a:off x="0" y="6324600"/>
            <a:ext cx="9144000" cy="5334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1" i="1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30" name="Text Box 12"/>
          <p:cNvSpPr txBox="1"/>
          <p:nvPr/>
        </p:nvSpPr>
        <p:spPr>
          <a:xfrm>
            <a:off x="457200" y="6429375"/>
            <a:ext cx="5410200" cy="3683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lvl="0" indent="0">
              <a:spcBef>
                <a:spcPct val="50000"/>
              </a:spcBef>
            </a:pPr>
            <a:r>
              <a:rPr lang="en-US" altLang="zh-CN" b="1" dirty="0">
                <a:solidFill>
                  <a:srgbClr val="FFFFFF"/>
                </a:solidFill>
                <a:latin typeface="Arial" panose="020B0604020202020204" pitchFamily="34" charset="0"/>
                <a:ea typeface="楷体_GB2312" pitchFamily="49" charset="-122"/>
                <a:sym typeface="+mn-ea"/>
              </a:rPr>
              <a:t>UESTC</a:t>
            </a:r>
            <a:r>
              <a:rPr lang="zh-CN" altLang="en-US" b="1" dirty="0">
                <a:solidFill>
                  <a:srgbClr val="FFFFFF"/>
                </a:solidFill>
                <a:latin typeface="Arial" panose="020B0604020202020204" pitchFamily="34" charset="0"/>
                <a:ea typeface="楷体_GB2312" pitchFamily="49" charset="-122"/>
                <a:sym typeface="+mn-ea"/>
              </a:rPr>
              <a:t> </a:t>
            </a:r>
            <a:r>
              <a:rPr lang="en-US" altLang="zh-CN" b="1" dirty="0">
                <a:solidFill>
                  <a:srgbClr val="FFFFFF"/>
                </a:solidFill>
                <a:latin typeface="Arial" panose="020B0604020202020204" pitchFamily="34" charset="0"/>
                <a:ea typeface="楷体_GB2312" pitchFamily="49" charset="-122"/>
                <a:sym typeface="+mn-ea"/>
              </a:rPr>
              <a:t>Glasgow College</a:t>
            </a:r>
            <a:endParaRPr lang="zh-CN" altLang="en-US" b="1" dirty="0">
              <a:solidFill>
                <a:srgbClr val="FFFFFF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pic>
        <p:nvPicPr>
          <p:cNvPr id="5131" name="Picture 14" descr="未命名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7150" y="346075"/>
            <a:ext cx="1538605" cy="125285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32" name="Line 15"/>
          <p:cNvSpPr/>
          <p:nvPr/>
        </p:nvSpPr>
        <p:spPr>
          <a:xfrm>
            <a:off x="306388" y="1066800"/>
            <a:ext cx="7466012" cy="0"/>
          </a:xfrm>
          <a:prstGeom prst="line">
            <a:avLst/>
          </a:prstGeom>
          <a:ln w="508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lvl="0" indent="0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" name="Text Box 16"/>
          <p:cNvSpPr txBox="1">
            <a:spLocks noChangeArrowheads="1"/>
          </p:cNvSpPr>
          <p:nvPr/>
        </p:nvSpPr>
        <p:spPr bwMode="auto">
          <a:xfrm>
            <a:off x="6172200" y="6415088"/>
            <a:ext cx="2895600" cy="3667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300" b="0" i="1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</a:t>
            </a:r>
            <a:fld id="{2130CACD-073F-4442-BDF8-4B0A3C77FDAB}" type="slidenum">
              <a:rPr kumimoji="0" lang="en-US" altLang="zh-CN" sz="1300" b="1" i="1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r>
              <a:rPr kumimoji="0" lang="en-US" altLang="zh-CN" sz="1800" b="0" i="1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    </a:t>
            </a:r>
            <a:fld id="{0BE9FDD0-BA4F-40A7-8CF6-BD112C9764F8}" type="datetime1">
              <a:rPr kumimoji="0" lang="zh-CN" altLang="en-US" sz="1800" b="1" i="1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800" b="1" i="1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5134" name="Object 36"/>
          <p:cNvGraphicFramePr>
            <a:graphicFrameLocks noChangeAspect="1"/>
          </p:cNvGraphicFramePr>
          <p:nvPr/>
        </p:nvGraphicFramePr>
        <p:xfrm>
          <a:off x="2209800" y="1752600"/>
          <a:ext cx="6659563" cy="450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2" name="" r:id="rId5" imgW="5664200" imgH="3327400" progId="">
                  <p:embed/>
                </p:oleObj>
              </mc:Choice>
              <mc:Fallback>
                <p:oleObj name="" r:id="rId5" imgW="5664200" imgH="3327400" progId="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209800" y="1752600"/>
                        <a:ext cx="6659563" cy="4503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Rectangle 1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i="0"/>
            </a:lvl1pPr>
          </a:lstStyle>
          <a:p>
            <a:pPr marL="0" marR="0" indent="0" algn="l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defRPr/>
            </a:pPr>
            <a:endParaRPr kumimoji="0" lang="zh-CN" altLang="zh-CN" b="0" strike="noStrike" kern="1200" cap="none" spc="0" normalizeH="0" baseline="0" noProof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Rectangle 1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i="0"/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defRPr/>
            </a:pPr>
            <a:endParaRPr kumimoji="0" lang="zh-CN" altLang="zh-CN" b="0" strike="noStrike" kern="1200" cap="none" spc="0" normalizeH="0" baseline="0" noProof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" name="Rectangle 2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i="0">
                <a:latin typeface="Times New Roman" panose="02020603050405020304" pitchFamily="18" charset="0"/>
              </a:defRPr>
            </a:lvl1pPr>
          </a:lstStyle>
          <a:p>
            <a:pPr marL="0" marR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defRPr/>
            </a:pPr>
            <a:fld id="{8BCA4B1A-EAD1-44A4-AEF6-E18D9C2B4B9F}" type="slidenum">
              <a:rPr kumimoji="0" lang="zh-CN" altLang="zh-CN" b="0" strike="noStrike" kern="1200" cap="none" spc="0" normalizeH="0" baseline="0" noProof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zh-CN" b="0" strike="noStrike" kern="1200" cap="none" spc="0" normalizeH="0" baseline="0" noProof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Box 7"/>
          <p:cNvSpPr txBox="1">
            <a:spLocks noChangeArrowheads="1"/>
          </p:cNvSpPr>
          <p:nvPr/>
        </p:nvSpPr>
        <p:spPr bwMode="auto">
          <a:xfrm>
            <a:off x="0" y="6172200"/>
            <a:ext cx="3581400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800" b="0" i="1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Rectangle 11"/>
          <p:cNvSpPr>
            <a:spLocks noChangeArrowheads="1"/>
          </p:cNvSpPr>
          <p:nvPr/>
        </p:nvSpPr>
        <p:spPr bwMode="auto">
          <a:xfrm>
            <a:off x="0" y="6324600"/>
            <a:ext cx="9144000" cy="5334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1" i="1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48" name="Text Box 12"/>
          <p:cNvSpPr txBox="1"/>
          <p:nvPr/>
        </p:nvSpPr>
        <p:spPr>
          <a:xfrm>
            <a:off x="457200" y="6429375"/>
            <a:ext cx="5410200" cy="3667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lvl="0" indent="0">
              <a:spcBef>
                <a:spcPct val="50000"/>
              </a:spcBef>
            </a:pPr>
            <a:r>
              <a:rPr lang="zh-CN" altLang="en-US" b="1" i="1" dirty="0">
                <a:solidFill>
                  <a:srgbClr val="969696"/>
                </a:solidFill>
                <a:latin typeface="Arial" panose="020B0604020202020204" pitchFamily="34" charset="0"/>
                <a:ea typeface="楷体_GB2312" pitchFamily="49" charset="-122"/>
              </a:rPr>
              <a:t>电子科技大学 宽带通信网络实验室</a:t>
            </a:r>
            <a:endParaRPr lang="zh-CN" altLang="en-US" b="1" i="1" dirty="0">
              <a:solidFill>
                <a:srgbClr val="96969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6149" name="Line 15"/>
          <p:cNvSpPr/>
          <p:nvPr/>
        </p:nvSpPr>
        <p:spPr>
          <a:xfrm>
            <a:off x="76200" y="1066800"/>
            <a:ext cx="7197725" cy="0"/>
          </a:xfrm>
          <a:prstGeom prst="line">
            <a:avLst/>
          </a:prstGeom>
          <a:ln w="508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lvl="0" indent="0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" name="Text Box 16"/>
          <p:cNvSpPr txBox="1">
            <a:spLocks noChangeArrowheads="1"/>
          </p:cNvSpPr>
          <p:nvPr/>
        </p:nvSpPr>
        <p:spPr bwMode="auto">
          <a:xfrm>
            <a:off x="6172200" y="6415088"/>
            <a:ext cx="2895600" cy="3667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300" b="0" i="1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</a:t>
            </a:r>
            <a:fld id="{FAA8F905-513E-4F3E-AA95-6C79C1403920}" type="slidenum">
              <a:rPr kumimoji="0" lang="en-US" altLang="zh-CN" sz="1300" b="1" i="1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r>
              <a:rPr kumimoji="0" lang="en-US" altLang="zh-CN" sz="1800" b="0" i="1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    </a:t>
            </a:r>
            <a:fld id="{F361E2A0-19C1-4A03-8524-8AE8E658B969}" type="datetime1">
              <a:rPr kumimoji="0" lang="zh-CN" altLang="en-US" sz="1800" b="1" i="1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800" b="1" i="1" u="none" strike="noStrike" kern="1200" cap="none" spc="0" normalizeH="0" baseline="0" noProof="0" smtClean="0">
              <a:ln>
                <a:noFill/>
              </a:ln>
              <a:solidFill>
                <a:srgbClr val="96969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6151" name="Object 35"/>
          <p:cNvGraphicFramePr>
            <a:graphicFrameLocks noChangeAspect="1"/>
          </p:cNvGraphicFramePr>
          <p:nvPr/>
        </p:nvGraphicFramePr>
        <p:xfrm>
          <a:off x="2466975" y="1828800"/>
          <a:ext cx="6659563" cy="450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5" name="" r:id="rId2" imgW="5664200" imgH="3327400" progId="">
                  <p:embed/>
                </p:oleObj>
              </mc:Choice>
              <mc:Fallback>
                <p:oleObj name="" r:id="rId2" imgW="5664200" imgH="3327400" progId="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466975" y="1828800"/>
                        <a:ext cx="6659563" cy="4503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Box 7"/>
          <p:cNvSpPr txBox="1">
            <a:spLocks noChangeArrowheads="1"/>
          </p:cNvSpPr>
          <p:nvPr/>
        </p:nvSpPr>
        <p:spPr bwMode="auto">
          <a:xfrm>
            <a:off x="0" y="6172200"/>
            <a:ext cx="3581400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800" b="0" i="1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" name="Rectangle 11"/>
          <p:cNvSpPr>
            <a:spLocks noChangeArrowheads="1"/>
          </p:cNvSpPr>
          <p:nvPr/>
        </p:nvSpPr>
        <p:spPr bwMode="auto">
          <a:xfrm>
            <a:off x="0" y="6324600"/>
            <a:ext cx="9144000" cy="5334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1" i="1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54" name="Text Box 12"/>
          <p:cNvSpPr txBox="1"/>
          <p:nvPr/>
        </p:nvSpPr>
        <p:spPr>
          <a:xfrm>
            <a:off x="457200" y="6429375"/>
            <a:ext cx="5410200" cy="3683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lvl="0" indent="0">
              <a:spcBef>
                <a:spcPct val="50000"/>
              </a:spcBef>
            </a:pPr>
            <a:r>
              <a:rPr lang="en-US" altLang="zh-CN" b="1" dirty="0">
                <a:solidFill>
                  <a:srgbClr val="FFFFFF"/>
                </a:solidFill>
                <a:latin typeface="Arial" panose="020B0604020202020204" pitchFamily="34" charset="0"/>
                <a:ea typeface="楷体_GB2312" pitchFamily="49" charset="-122"/>
                <a:sym typeface="+mn-ea"/>
              </a:rPr>
              <a:t>UESTC</a:t>
            </a:r>
            <a:r>
              <a:rPr lang="zh-CN" altLang="en-US" b="1" dirty="0">
                <a:solidFill>
                  <a:srgbClr val="FFFFFF"/>
                </a:solidFill>
                <a:latin typeface="Arial" panose="020B0604020202020204" pitchFamily="34" charset="0"/>
                <a:ea typeface="楷体_GB2312" pitchFamily="49" charset="-122"/>
                <a:sym typeface="+mn-ea"/>
              </a:rPr>
              <a:t> </a:t>
            </a:r>
            <a:r>
              <a:rPr lang="en-US" altLang="zh-CN" b="1" dirty="0">
                <a:solidFill>
                  <a:srgbClr val="FFFFFF"/>
                </a:solidFill>
                <a:latin typeface="Arial" panose="020B0604020202020204" pitchFamily="34" charset="0"/>
                <a:ea typeface="楷体_GB2312" pitchFamily="49" charset="-122"/>
                <a:sym typeface="+mn-ea"/>
              </a:rPr>
              <a:t>Glasgow College</a:t>
            </a:r>
            <a:endParaRPr lang="zh-CN" altLang="en-US" b="1" dirty="0">
              <a:solidFill>
                <a:srgbClr val="FFFFFF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pic>
        <p:nvPicPr>
          <p:cNvPr id="6155" name="Picture 14" descr="未命名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7150" y="340995"/>
            <a:ext cx="1539240" cy="125285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56" name="Line 15"/>
          <p:cNvSpPr/>
          <p:nvPr/>
        </p:nvSpPr>
        <p:spPr>
          <a:xfrm>
            <a:off x="306388" y="1066800"/>
            <a:ext cx="7466012" cy="0"/>
          </a:xfrm>
          <a:prstGeom prst="line">
            <a:avLst/>
          </a:prstGeom>
          <a:ln w="508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lvl="0" indent="0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" name="Text Box 16"/>
          <p:cNvSpPr txBox="1">
            <a:spLocks noChangeArrowheads="1"/>
          </p:cNvSpPr>
          <p:nvPr/>
        </p:nvSpPr>
        <p:spPr bwMode="auto">
          <a:xfrm>
            <a:off x="6172200" y="6415088"/>
            <a:ext cx="2895600" cy="3667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300" b="0" i="1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</a:t>
            </a:r>
            <a:fld id="{3362BDA9-BCBF-43A4-A33A-9B90E03CE3E1}" type="slidenum">
              <a:rPr kumimoji="0" lang="en-US" altLang="zh-CN" sz="1300" b="1" i="1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r>
              <a:rPr kumimoji="0" lang="en-US" altLang="zh-CN" sz="1800" b="0" i="1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    </a:t>
            </a:r>
            <a:fld id="{3D00BF6C-52F6-4C1F-95B1-97F359F7B30E}" type="datetime1">
              <a:rPr kumimoji="0" lang="zh-CN" altLang="en-US" sz="1800" b="1" i="1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800" b="1" i="1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6158" name="Object 36"/>
          <p:cNvGraphicFramePr>
            <a:graphicFrameLocks noChangeAspect="1"/>
          </p:cNvGraphicFramePr>
          <p:nvPr/>
        </p:nvGraphicFramePr>
        <p:xfrm>
          <a:off x="2209800" y="1752600"/>
          <a:ext cx="6659563" cy="450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6" name="" r:id="rId5" imgW="5664200" imgH="3327400" progId="">
                  <p:embed/>
                </p:oleObj>
              </mc:Choice>
              <mc:Fallback>
                <p:oleObj name="" r:id="rId5" imgW="5664200" imgH="3327400" progId="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209800" y="1752600"/>
                        <a:ext cx="6659563" cy="4503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34" name="Rectangle 1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i="0"/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defRPr/>
            </a:pPr>
            <a:endParaRPr kumimoji="0" lang="zh-CN" altLang="zh-CN" b="0" strike="noStrike" kern="1200" cap="none" spc="0" normalizeH="0" baseline="0" noProof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" name="Rectangle 2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70663" y="6237288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pPr marL="0" marR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defRPr/>
            </a:pPr>
            <a:fld id="{90A9C46A-6CEC-45C9-9ED4-50E59AEA1649}" type="slidenum">
              <a:rPr kumimoji="0" lang="zh-CN" altLang="zh-CN" b="0" strike="noStrike" kern="1200" cap="none" spc="0" normalizeH="0" baseline="0" noProof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zh-CN" b="0" strike="noStrike" kern="1200" cap="none" spc="0" normalizeH="0" baseline="0" noProof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.bin"/><Relationship Id="rId8" Type="http://schemas.openxmlformats.org/officeDocument/2006/relationships/image" Target="../media/image2.png"/><Relationship Id="rId7" Type="http://schemas.openxmlformats.org/officeDocument/2006/relationships/image" Target="../media/image1.png"/><Relationship Id="rId6" Type="http://schemas.openxmlformats.org/officeDocument/2006/relationships/oleObject" Target="../embeddings/oleObject11.bin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vmlDrawing" Target="../drawings/vmlDrawing6.v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7"/>
          <p:cNvSpPr txBox="1">
            <a:spLocks noChangeArrowheads="1"/>
          </p:cNvSpPr>
          <p:nvPr/>
        </p:nvSpPr>
        <p:spPr bwMode="auto">
          <a:xfrm>
            <a:off x="0" y="6172200"/>
            <a:ext cx="3581400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800" b="0" i="1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1" name="Rectangle 11"/>
          <p:cNvSpPr>
            <a:spLocks noChangeArrowheads="1"/>
          </p:cNvSpPr>
          <p:nvPr/>
        </p:nvSpPr>
        <p:spPr bwMode="auto">
          <a:xfrm>
            <a:off x="0" y="6324600"/>
            <a:ext cx="9144000" cy="5334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1" i="1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8" name="Text Box 12"/>
          <p:cNvSpPr txBox="1"/>
          <p:nvPr/>
        </p:nvSpPr>
        <p:spPr>
          <a:xfrm>
            <a:off x="457200" y="6429375"/>
            <a:ext cx="5410200" cy="3667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lvl="0" indent="0">
              <a:spcBef>
                <a:spcPct val="50000"/>
              </a:spcBef>
            </a:pPr>
            <a:r>
              <a:rPr lang="zh-CN" altLang="en-US" b="1" i="1" dirty="0">
                <a:solidFill>
                  <a:srgbClr val="969696"/>
                </a:solidFill>
                <a:latin typeface="Arial" panose="020B0604020202020204" pitchFamily="34" charset="0"/>
                <a:ea typeface="楷体_GB2312" pitchFamily="49" charset="-122"/>
              </a:rPr>
              <a:t>电子科技大学 宽带通信网络实验室</a:t>
            </a:r>
            <a:endParaRPr lang="zh-CN" altLang="en-US" b="1" i="1" dirty="0">
              <a:solidFill>
                <a:srgbClr val="96969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029" name="Line 15"/>
          <p:cNvSpPr/>
          <p:nvPr/>
        </p:nvSpPr>
        <p:spPr>
          <a:xfrm>
            <a:off x="76200" y="1066800"/>
            <a:ext cx="7197725" cy="0"/>
          </a:xfrm>
          <a:prstGeom prst="line">
            <a:avLst/>
          </a:prstGeom>
          <a:ln w="508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lvl="0" indent="0" eaLnBrk="0" hangingPunct="0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55" name="Text Box 16"/>
          <p:cNvSpPr txBox="1">
            <a:spLocks noChangeArrowheads="1"/>
          </p:cNvSpPr>
          <p:nvPr/>
        </p:nvSpPr>
        <p:spPr bwMode="auto">
          <a:xfrm>
            <a:off x="6172200" y="6415088"/>
            <a:ext cx="2895600" cy="3667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300" b="0" i="1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</a:t>
            </a:r>
            <a:fld id="{431DDB56-A549-4C35-B589-B18E540D848C}" type="slidenum">
              <a:rPr kumimoji="0" lang="en-US" altLang="zh-CN" sz="1300" b="1" i="1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r>
              <a:rPr kumimoji="0" lang="en-US" altLang="zh-CN" sz="1800" b="0" i="1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    </a:t>
            </a:r>
            <a:fld id="{61FF56DD-9FD0-4CAE-B054-A4B40AD9FCB9}" type="datetime1">
              <a:rPr kumimoji="0" lang="zh-CN" altLang="en-US" sz="1800" b="1" i="1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800" b="1" i="1" u="none" strike="noStrike" kern="1200" cap="none" spc="0" normalizeH="0" baseline="0" noProof="0" smtClean="0">
              <a:ln>
                <a:noFill/>
              </a:ln>
              <a:solidFill>
                <a:srgbClr val="96969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031" name="Object 35"/>
          <p:cNvGraphicFramePr>
            <a:graphicFrameLocks noChangeAspect="1"/>
          </p:cNvGraphicFramePr>
          <p:nvPr/>
        </p:nvGraphicFramePr>
        <p:xfrm>
          <a:off x="2466975" y="1828800"/>
          <a:ext cx="6659563" cy="450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6" imgW="5664200" imgH="3327400" progId="">
                  <p:embed/>
                </p:oleObj>
              </mc:Choice>
              <mc:Fallback>
                <p:oleObj name="" r:id="rId6" imgW="5664200" imgH="3327400" progId="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466975" y="1828800"/>
                        <a:ext cx="6659563" cy="4503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7" name="Text Box 7"/>
          <p:cNvSpPr txBox="1">
            <a:spLocks noChangeArrowheads="1"/>
          </p:cNvSpPr>
          <p:nvPr/>
        </p:nvSpPr>
        <p:spPr bwMode="auto">
          <a:xfrm>
            <a:off x="0" y="6172200"/>
            <a:ext cx="3581400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800" b="0" i="1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8" name="Rectangle 11"/>
          <p:cNvSpPr>
            <a:spLocks noChangeArrowheads="1"/>
          </p:cNvSpPr>
          <p:nvPr/>
        </p:nvSpPr>
        <p:spPr bwMode="auto">
          <a:xfrm>
            <a:off x="0" y="6324600"/>
            <a:ext cx="9144000" cy="5334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1" i="1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4" name="Text Box 12"/>
          <p:cNvSpPr txBox="1"/>
          <p:nvPr/>
        </p:nvSpPr>
        <p:spPr>
          <a:xfrm>
            <a:off x="457200" y="6429375"/>
            <a:ext cx="5410200" cy="3683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lvl="0" indent="0">
              <a:spcBef>
                <a:spcPct val="50000"/>
              </a:spcBef>
            </a:pPr>
            <a:r>
              <a:rPr lang="en-US" altLang="zh-CN" b="1" dirty="0">
                <a:solidFill>
                  <a:srgbClr val="FFFFFF"/>
                </a:solidFill>
                <a:latin typeface="Arial" panose="020B0604020202020204" pitchFamily="34" charset="0"/>
                <a:ea typeface="楷体_GB2312" pitchFamily="49" charset="-122"/>
              </a:rPr>
              <a:t>UESTC</a:t>
            </a:r>
            <a:r>
              <a:rPr lang="zh-CN" altLang="en-US" b="1" dirty="0">
                <a:solidFill>
                  <a:srgbClr val="FFFFFF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en-US" altLang="zh-CN" b="1" dirty="0">
                <a:solidFill>
                  <a:srgbClr val="FFFFFF"/>
                </a:solidFill>
                <a:latin typeface="Arial" panose="020B0604020202020204" pitchFamily="34" charset="0"/>
                <a:ea typeface="楷体_GB2312" pitchFamily="49" charset="-122"/>
              </a:rPr>
              <a:t>Glasgow College</a:t>
            </a:r>
            <a:endParaRPr lang="en-US" altLang="zh-CN" b="1" dirty="0">
              <a:solidFill>
                <a:srgbClr val="FFFFFF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pic>
        <p:nvPicPr>
          <p:cNvPr id="1035" name="Picture 14" descr="未命名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77150" y="346075"/>
            <a:ext cx="1466850" cy="125285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6" name="Line 15"/>
          <p:cNvSpPr/>
          <p:nvPr/>
        </p:nvSpPr>
        <p:spPr>
          <a:xfrm>
            <a:off x="306388" y="1066800"/>
            <a:ext cx="7466012" cy="0"/>
          </a:xfrm>
          <a:prstGeom prst="line">
            <a:avLst/>
          </a:prstGeom>
          <a:ln w="508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lvl="0" indent="0" eaLnBrk="0" hangingPunct="0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62" name="Text Box 16"/>
          <p:cNvSpPr txBox="1">
            <a:spLocks noChangeArrowheads="1"/>
          </p:cNvSpPr>
          <p:nvPr/>
        </p:nvSpPr>
        <p:spPr bwMode="auto">
          <a:xfrm>
            <a:off x="6172200" y="6415088"/>
            <a:ext cx="2895600" cy="3667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300" b="0" i="1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</a:t>
            </a:r>
            <a:fld id="{1B3917AA-3372-449F-B458-64F20C7EA1EC}" type="slidenum">
              <a:rPr kumimoji="0" lang="en-US" altLang="zh-CN" sz="1300" b="1" i="1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r>
              <a:rPr kumimoji="0" lang="en-US" altLang="zh-CN" sz="1800" b="0" i="1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    </a:t>
            </a:r>
            <a:fld id="{7A30C83F-991A-439A-9DA5-745E5086F04D}" type="datetime1">
              <a:rPr kumimoji="0" lang="zh-CN" altLang="en-US" sz="1800" b="1" i="1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800" b="1" i="1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038" name="Object 36"/>
          <p:cNvGraphicFramePr>
            <a:graphicFrameLocks noChangeAspect="1"/>
          </p:cNvGraphicFramePr>
          <p:nvPr/>
        </p:nvGraphicFramePr>
        <p:xfrm>
          <a:off x="2209800" y="1752600"/>
          <a:ext cx="6659563" cy="450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9" imgW="5664200" imgH="3327400" progId="">
                  <p:embed/>
                </p:oleObj>
              </mc:Choice>
              <mc:Fallback>
                <p:oleObj name="" r:id="rId9" imgW="5664200" imgH="3327400" progId="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209800" y="1752600"/>
                        <a:ext cx="6659563" cy="4503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9" name="Rectangle 16"/>
          <p:cNvSpPr>
            <a:spLocks noGrp="1"/>
          </p:cNvSpPr>
          <p:nvPr>
            <p:ph type="title"/>
          </p:nvPr>
        </p:nvSpPr>
        <p:spPr>
          <a:xfrm>
            <a:off x="228600" y="0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40" name="Rectangle 17"/>
          <p:cNvSpPr>
            <a:spLocks noGrp="1"/>
          </p:cNvSpPr>
          <p:nvPr>
            <p:ph type="body"/>
          </p:nvPr>
        </p:nvSpPr>
        <p:spPr>
          <a:xfrm>
            <a:off x="228600" y="1219200"/>
            <a:ext cx="8686800" cy="4906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 indent="-34290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067" name="Rectangle 1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0" hangingPunct="0">
              <a:buFont typeface="Arial" panose="020B0604020202020204" pitchFamily="34" charset="0"/>
              <a:buNone/>
              <a:defRPr sz="1400" i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4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68" name="Rectangle 2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buFont typeface="Arial" panose="020B0604020202020204" pitchFamily="34" charset="0"/>
              <a:buNone/>
              <a:defRPr sz="1400" i="1">
                <a:solidFill>
                  <a:srgbClr val="FFFFFF"/>
                </a:solidFill>
                <a:latin typeface="Comic Sans MS" panose="030F0702030302020204" pitchFamily="66" charset="0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E25AC41-DFB4-4643-9E50-01A0C18686B8}" type="slidenum">
              <a:rPr kumimoji="0" lang="zh-CN" altLang="zh-CN" sz="14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0" i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0070C0"/>
          </a:solidFill>
          <a:latin typeface="Arial Black" panose="020B0A04020102020204" pitchFamily="34" charset="0"/>
          <a:ea typeface="微软雅黑" panose="020B0503020204020204" pitchFamily="34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0070C0"/>
          </a:solidFill>
          <a:latin typeface="Arial Black" panose="020B0A04020102020204" pitchFamily="34" charset="0"/>
          <a:ea typeface="微软雅黑" panose="020B0503020204020204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0070C0"/>
          </a:solidFill>
          <a:latin typeface="Arial Black" panose="020B0A04020102020204" pitchFamily="34" charset="0"/>
          <a:ea typeface="微软雅黑" panose="020B0503020204020204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0070C0"/>
          </a:solidFill>
          <a:latin typeface="Arial Black" panose="020B0A04020102020204" pitchFamily="34" charset="0"/>
          <a:ea typeface="微软雅黑" panose="020B0503020204020204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0070C0"/>
          </a:solidFill>
          <a:latin typeface="Arial Black" panose="020B0A04020102020204" pitchFamily="34" charset="0"/>
          <a:ea typeface="微软雅黑" panose="020B0503020204020204" pitchFamily="34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 b="1">
          <a:solidFill>
            <a:srgbClr val="0070C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hyperlink" Target="mailto:LQ@uestc.edu.cn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8"/>
          <p:cNvSpPr>
            <a:spLocks noGrp="1"/>
          </p:cNvSpPr>
          <p:nvPr>
            <p:ph type="title"/>
          </p:nvPr>
        </p:nvSpPr>
        <p:spPr>
          <a:xfrm>
            <a:off x="1176338" y="1147763"/>
            <a:ext cx="6821487" cy="808037"/>
          </a:xfrm>
        </p:spPr>
        <p:txBody>
          <a:bodyPr wrap="square" lIns="91440" tIns="45720" rIns="91440" bIns="45720" anchor="ctr"/>
          <a:lstStyle/>
          <a:p>
            <a:pPr algn="ctr" eaLnBrk="1" hangingPunct="1"/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18" charset="0"/>
              </a:rPr>
              <a:t>Digital Signal Processing</a:t>
            </a:r>
            <a:r>
              <a:rPr lang="en-US" altLang="zh-CN" dirty="0"/>
              <a:t> </a:t>
            </a:r>
            <a:endParaRPr lang="en-US" altLang="zh-CN" dirty="0"/>
          </a:p>
        </p:txBody>
      </p:sp>
      <p:sp>
        <p:nvSpPr>
          <p:cNvPr id="9218" name="Rectangle 3"/>
          <p:cNvSpPr txBox="1"/>
          <p:nvPr/>
        </p:nvSpPr>
        <p:spPr>
          <a:xfrm>
            <a:off x="2915816" y="2420888"/>
            <a:ext cx="5151606" cy="1752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>
              <a:lnSpc>
                <a:spcPct val="90000"/>
              </a:lnSpc>
            </a:pPr>
            <a:r>
              <a:rPr lang="en-US" altLang="zh-CN" sz="3200" b="1" dirty="0">
                <a:solidFill>
                  <a:srgbClr val="010000"/>
                </a:solidFill>
                <a:latin typeface="Times New Roman" panose="02020603050405020304" pitchFamily="18" charset="0"/>
                <a:ea typeface="楷体_GB2312" pitchFamily="49" charset="-122"/>
              </a:rPr>
              <a:t>Lecturer </a:t>
            </a:r>
            <a:r>
              <a:rPr lang="zh-CN" altLang="en-US" sz="3200" b="1" dirty="0" smtClean="0">
                <a:solidFill>
                  <a:srgbClr val="010000"/>
                </a:solidFill>
                <a:latin typeface="Times New Roman" panose="02020603050405020304" pitchFamily="18" charset="0"/>
                <a:ea typeface="楷体_GB2312" pitchFamily="49" charset="-122"/>
              </a:rPr>
              <a:t>：</a:t>
            </a:r>
            <a:r>
              <a:rPr lang="zh-CN" altLang="en-US" sz="3200" b="1" dirty="0">
                <a:solidFill>
                  <a:srgbClr val="010000"/>
                </a:solidFill>
                <a:ea typeface="楷体_GB2312" pitchFamily="49" charset="-122"/>
              </a:rPr>
              <a:t>利强</a:t>
            </a:r>
            <a:r>
              <a:rPr lang="zh-CN" altLang="en-US" sz="3200" b="1" dirty="0" smtClean="0">
                <a:solidFill>
                  <a:srgbClr val="01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lang="en-US" altLang="zh-CN" sz="3200" b="1" dirty="0" smtClean="0">
              <a:solidFill>
                <a:srgbClr val="01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3200" b="1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Office</a:t>
            </a:r>
            <a:r>
              <a:rPr lang="zh-CN" altLang="en-US" sz="3200" b="1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：科研楼</a:t>
            </a:r>
            <a:r>
              <a:rPr lang="en-US" altLang="zh-CN" sz="32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C211</a:t>
            </a:r>
            <a:endParaRPr lang="en-US" altLang="zh-CN" sz="3200" b="1" dirty="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32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Email</a:t>
            </a:r>
            <a:r>
              <a:rPr lang="zh-CN" altLang="en-US" sz="32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en-US" altLang="zh-CN" sz="3200" b="1" dirty="0" smtClean="0">
                <a:latin typeface="Times New Roman" panose="02020603050405020304" pitchFamily="18" charset="0"/>
                <a:ea typeface="宋体" panose="02010600030101010101" pitchFamily="2" charset="-122"/>
                <a:hlinkClick r:id="rId1"/>
              </a:rPr>
              <a:t>LQ@uestc.edu.cn</a:t>
            </a:r>
            <a:endParaRPr lang="en-US" altLang="zh-CN" sz="3200" b="1" dirty="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32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TA</a:t>
            </a:r>
            <a:r>
              <a:rPr lang="zh-CN" altLang="en-US" sz="32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：杨柳</a:t>
            </a:r>
            <a:endParaRPr lang="en-US" altLang="zh-CN" sz="3200" b="1" dirty="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3" name="图片 2" descr="DSP2026"/>
          <p:cNvPicPr>
            <a:picLocks noChangeAspect="1"/>
          </p:cNvPicPr>
          <p:nvPr/>
        </p:nvPicPr>
        <p:blipFill>
          <a:blip r:embed="rId2"/>
          <a:srcRect l="8923" t="15343" r="10800" b="19556"/>
          <a:stretch>
            <a:fillRect/>
          </a:stretch>
        </p:blipFill>
        <p:spPr>
          <a:xfrm>
            <a:off x="251460" y="2780665"/>
            <a:ext cx="2189480" cy="31578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9218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7"/>
          <p:cNvSpPr/>
          <p:nvPr/>
        </p:nvSpPr>
        <p:spPr>
          <a:xfrm>
            <a:off x="314643" y="1109980"/>
            <a:ext cx="3508375" cy="584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3200" b="1" dirty="0">
                <a:solidFill>
                  <a:srgbClr val="010000"/>
                </a:solidFill>
                <a:latin typeface="Times New Roman" panose="02020603050405020304" pitchFamily="18" charset="0"/>
                <a:ea typeface="楷体_GB2312" pitchFamily="49" charset="-122"/>
              </a:rPr>
              <a:t>MOOC  Website</a:t>
            </a:r>
            <a:r>
              <a:rPr lang="zh-CN" altLang="en-US" sz="3200" b="1" dirty="0">
                <a:solidFill>
                  <a:srgbClr val="010000"/>
                </a:solidFill>
                <a:latin typeface="Times New Roman" panose="02020603050405020304" pitchFamily="18" charset="0"/>
                <a:ea typeface="楷体_GB2312" pitchFamily="49" charset="-122"/>
              </a:rPr>
              <a:t>：</a:t>
            </a:r>
            <a:endParaRPr lang="zh-CN" altLang="en-US" sz="3200" b="1" dirty="0">
              <a:solidFill>
                <a:srgbClr val="01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2290" name="文本框 8"/>
          <p:cNvSpPr txBox="1"/>
          <p:nvPr/>
        </p:nvSpPr>
        <p:spPr>
          <a:xfrm>
            <a:off x="99695" y="1694180"/>
            <a:ext cx="8933180" cy="95313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eaLnBrk="0" hangingPunct="0"/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https://www.icourse163.org/course/UESTC-236010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https://www.icourse163.org/course/UESTC1-1458252163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980" y="2636520"/>
            <a:ext cx="7828280" cy="37534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3"/>
          <p:cNvSpPr/>
          <p:nvPr/>
        </p:nvSpPr>
        <p:spPr>
          <a:xfrm>
            <a:off x="395288" y="1196975"/>
            <a:ext cx="3324225" cy="35052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3200" b="1" dirty="0">
                <a:solidFill>
                  <a:srgbClr val="3333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Digital Signal Processing----A Computer- Based Approach, Sanjit K.Mitra,4th Edition,McGraw-Hill,2014 </a:t>
            </a:r>
            <a:endParaRPr lang="en-US" altLang="zh-CN" sz="3200" b="1" dirty="0">
              <a:solidFill>
                <a:srgbClr val="333333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314" name="Rectangle 7"/>
          <p:cNvSpPr/>
          <p:nvPr/>
        </p:nvSpPr>
        <p:spPr>
          <a:xfrm>
            <a:off x="2509838" y="333375"/>
            <a:ext cx="2890837" cy="646113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36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The Textbook</a:t>
            </a:r>
            <a:endParaRPr lang="en-US" altLang="zh-CN" sz="3600" b="1" dirty="0">
              <a:solidFill>
                <a:srgbClr val="333333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315" name="Rectangle 8"/>
          <p:cNvSpPr/>
          <p:nvPr/>
        </p:nvSpPr>
        <p:spPr>
          <a:xfrm>
            <a:off x="893763" y="4965700"/>
            <a:ext cx="232568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2400" b="1" dirty="0">
                <a:solidFill>
                  <a:srgbClr val="01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电子工业出版社</a:t>
            </a:r>
            <a:endParaRPr lang="zh-CN" altLang="en-US" sz="2400" b="1" dirty="0">
              <a:solidFill>
                <a:srgbClr val="01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3316" name="图片 2" descr="{9Y8_[K$HK41SAGULN[KRH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6513" y="1196975"/>
            <a:ext cx="4497387" cy="51038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4"/>
          <p:cNvSpPr>
            <a:spLocks noGrp="1"/>
          </p:cNvSpPr>
          <p:nvPr>
            <p:ph type="body"/>
          </p:nvPr>
        </p:nvSpPr>
        <p:spPr>
          <a:xfrm>
            <a:off x="539750" y="1412875"/>
            <a:ext cx="8208963" cy="4392613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1.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奥本海姆（李玉柏等译），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离散时间信号处理（原书第3版.精编版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），机械工业出版社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2.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彭启琮等，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数字信号处理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高等教育出版社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en-US" altLang="zh-CN" dirty="0">
              <a:latin typeface="楷体_GB2312" pitchFamily="49" charset="-122"/>
              <a:ea typeface="楷体_GB2312" pitchFamily="49" charset="-122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3.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彭启琮等,DSP与实时数字信号处理,电子科大出版社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4. 程佩青,数字信号处理教程,清华大学出版社 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5.胡广书，数字信号处理——理论、算法与实现，清华大学出版社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338" name="Rectangle 5"/>
          <p:cNvSpPr/>
          <p:nvPr/>
        </p:nvSpPr>
        <p:spPr>
          <a:xfrm>
            <a:off x="2339975" y="333375"/>
            <a:ext cx="3176588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32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Reference books</a:t>
            </a:r>
            <a:endParaRPr lang="en-US" altLang="zh-CN" sz="3200" b="1" dirty="0">
              <a:solidFill>
                <a:srgbClr val="333333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/>
          <p:nvPr/>
        </p:nvSpPr>
        <p:spPr>
          <a:xfrm>
            <a:off x="609600" y="0"/>
            <a:ext cx="7772400" cy="7620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algn="ctr"/>
            <a:endParaRPr lang="zh-CN" altLang="zh-CN" sz="4400" b="1" dirty="0">
              <a:solidFill>
                <a:srgbClr val="FF33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6386" name="Rectangle 3"/>
          <p:cNvSpPr/>
          <p:nvPr/>
        </p:nvSpPr>
        <p:spPr>
          <a:xfrm>
            <a:off x="330835" y="1399858"/>
            <a:ext cx="8482013" cy="255333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3200" b="1" dirty="0">
                <a:solidFill>
                  <a:srgbClr val="06070E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Lectures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3200" b="1" dirty="0">
                <a:solidFill>
                  <a:srgbClr val="480904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56 chs.</a:t>
            </a:r>
            <a:r>
              <a:rPr lang="zh-CN" altLang="en-US" sz="3200" b="1" dirty="0">
                <a:solidFill>
                  <a:srgbClr val="480904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3200" b="1" dirty="0">
                <a:solidFill>
                  <a:srgbClr val="480904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including course contents 48 chs. and presentations of course projects 8 chs.</a:t>
            </a:r>
            <a:r>
              <a:rPr lang="zh-CN" altLang="en-US" sz="3200" b="1" dirty="0">
                <a:solidFill>
                  <a:srgbClr val="480904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endParaRPr lang="en-US" altLang="zh-CN" sz="3200" b="1" dirty="0">
              <a:solidFill>
                <a:srgbClr val="480904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3200" b="1" dirty="0">
                <a:solidFill>
                  <a:srgbClr val="06070E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MOOC</a:t>
            </a:r>
            <a:r>
              <a:rPr lang="zh-CN" altLang="en-US" sz="3200" b="1" dirty="0">
                <a:sym typeface="+mn-ea"/>
              </a:rPr>
              <a:t>，</a:t>
            </a:r>
            <a:r>
              <a:rPr lang="en-US" altLang="zh-CN" sz="3200" b="1" dirty="0">
                <a:solidFill>
                  <a:srgbClr val="480904"/>
                </a:solidFill>
                <a:sym typeface="+mn-ea"/>
              </a:rPr>
              <a:t>about 32 chs.</a:t>
            </a:r>
            <a:endParaRPr lang="en-US" altLang="zh-CN" sz="3200" b="1" dirty="0">
              <a:solidFill>
                <a:srgbClr val="480904"/>
              </a:solidFill>
              <a:sym typeface="+mn-ea"/>
            </a:endParaRPr>
          </a:p>
          <a:p>
            <a:r>
              <a:rPr lang="en-US" altLang="zh-CN" sz="3200" b="1" dirty="0">
                <a:solidFill>
                  <a:srgbClr val="480904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Lab time</a:t>
            </a:r>
            <a:r>
              <a:rPr lang="en-US" altLang="zh-CN" sz="3200" b="1" dirty="0">
                <a:solidFill>
                  <a:srgbClr val="480904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，about 8 chs.</a:t>
            </a:r>
            <a:endParaRPr lang="en-US" altLang="zh-CN" sz="3200" b="1" dirty="0">
              <a:solidFill>
                <a:srgbClr val="480904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363" name="Rectangle 4"/>
          <p:cNvSpPr/>
          <p:nvPr/>
        </p:nvSpPr>
        <p:spPr>
          <a:xfrm>
            <a:off x="2716213" y="471488"/>
            <a:ext cx="2530475" cy="579437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r>
              <a:rPr lang="en-US" altLang="zh-CN" sz="3200" b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Arrangement</a:t>
            </a:r>
            <a:endParaRPr lang="en-US" altLang="zh-CN" sz="3200" b="1" dirty="0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3"/>
          <p:cNvSpPr/>
          <p:nvPr/>
        </p:nvSpPr>
        <p:spPr>
          <a:xfrm>
            <a:off x="394970" y="1242060"/>
            <a:ext cx="7695565" cy="439991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514350" indent="-514350">
              <a:buAutoNum type="arabicPeriod"/>
            </a:pPr>
            <a:r>
              <a:rPr lang="en-US" altLang="zh-CN" sz="2800" b="1" dirty="0">
                <a:sym typeface="+mn-ea"/>
              </a:rPr>
              <a:t>Course projects:25%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Complete the design as required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Include MATLAB codes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graphs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result analysis etc.)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Presentation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Project report 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2.  Open Book Final Examation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75%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Only one exam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Total 6 questions in 3 hours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Refer to the questions in MOOC and Homework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387" name="Rectangle 4"/>
          <p:cNvSpPr/>
          <p:nvPr/>
        </p:nvSpPr>
        <p:spPr>
          <a:xfrm>
            <a:off x="3227388" y="279400"/>
            <a:ext cx="1920875" cy="646113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en-US" altLang="zh-CN" sz="3600" b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Grading</a:t>
            </a:r>
            <a:endParaRPr lang="en-US" altLang="zh-CN" sz="36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10"/>
          <p:cNvSpPr/>
          <p:nvPr/>
        </p:nvSpPr>
        <p:spPr>
          <a:xfrm>
            <a:off x="2627313" y="423863"/>
            <a:ext cx="4032250" cy="538162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3200" b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Contents of Mooc</a:t>
            </a:r>
            <a:endParaRPr lang="en-US" altLang="zh-CN" sz="3200" b="1" dirty="0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750" y="1124585"/>
            <a:ext cx="7421880" cy="51034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3"/>
          <p:cNvSpPr>
            <a:spLocks noGrp="1"/>
          </p:cNvSpPr>
          <p:nvPr>
            <p:ph type="body"/>
          </p:nvPr>
        </p:nvSpPr>
        <p:spPr>
          <a:xfrm>
            <a:off x="15875" y="1584325"/>
            <a:ext cx="8650288" cy="1871663"/>
          </a:xfrm>
        </p:spPr>
        <p:txBody>
          <a:bodyPr wrap="square" lIns="91440" tIns="45720" rIns="91440" bIns="45720" anchor="t"/>
          <a:lstStyle/>
          <a:p>
            <a:pPr marL="0" indent="0" eaLnBrk="1" hangingPunct="1"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   1.The Tech. Fields Used DSP:  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marL="0" indent="0" eaLnBrk="1" hangingPunct="1"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    Communication, Radio, Radar, Navigation, IT, etc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marL="0" indent="0" eaLnBrk="1" hangingPunct="1"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   2.  The Correlated Course: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0482" name="Rectangle 7"/>
          <p:cNvSpPr>
            <a:spLocks noGrp="1"/>
          </p:cNvSpPr>
          <p:nvPr>
            <p:ph type="title"/>
          </p:nvPr>
        </p:nvSpPr>
        <p:spPr>
          <a:xfrm>
            <a:off x="2447925" y="293688"/>
            <a:ext cx="3787775" cy="603250"/>
          </a:xfrm>
        </p:spPr>
        <p:txBody>
          <a:bodyPr wrap="square" lIns="91440" tIns="45720" rIns="91440" bIns="45720" anchor="ctr"/>
          <a:lstStyle/>
          <a:p>
            <a:pPr eaLnBrk="1" hangingPunct="1"/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Foreword</a:t>
            </a:r>
            <a:endParaRPr lang="en-US" altLang="zh-CN" dirty="0">
              <a:solidFill>
                <a:srgbClr val="FF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0483" name="Rectangle 8"/>
          <p:cNvSpPr/>
          <p:nvPr/>
        </p:nvSpPr>
        <p:spPr>
          <a:xfrm>
            <a:off x="1828800" y="1127125"/>
            <a:ext cx="44069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Characterization Of The Course</a:t>
            </a:r>
            <a:endParaRPr lang="en-US" altLang="zh-CN" sz="2400" b="1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5364" name="Group 29"/>
          <p:cNvGrpSpPr/>
          <p:nvPr/>
        </p:nvGrpSpPr>
        <p:grpSpPr>
          <a:xfrm>
            <a:off x="179388" y="3559175"/>
            <a:ext cx="8785225" cy="1906588"/>
            <a:chOff x="113" y="1298"/>
            <a:chExt cx="5534" cy="1201"/>
          </a:xfrm>
        </p:grpSpPr>
        <p:sp>
          <p:nvSpPr>
            <p:cNvPr id="20485" name="Text Box 10"/>
            <p:cNvSpPr txBox="1"/>
            <p:nvPr/>
          </p:nvSpPr>
          <p:spPr>
            <a:xfrm>
              <a:off x="113" y="1344"/>
              <a:ext cx="2268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Signals And Systems</a:t>
              </a:r>
              <a:endPara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486" name="Text Box 11"/>
            <p:cNvSpPr txBox="1"/>
            <p:nvPr/>
          </p:nvSpPr>
          <p:spPr>
            <a:xfrm>
              <a:off x="431" y="1752"/>
              <a:ext cx="1950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Logic Circuit</a:t>
              </a:r>
              <a:endPara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487" name="Text Box 12"/>
            <p:cNvSpPr txBox="1"/>
            <p:nvPr/>
          </p:nvSpPr>
          <p:spPr>
            <a:xfrm>
              <a:off x="748" y="2205"/>
              <a:ext cx="1633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Programm</a:t>
              </a:r>
              <a:endPara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488" name="Text Box 14"/>
            <p:cNvSpPr txBox="1"/>
            <p:nvPr/>
          </p:nvSpPr>
          <p:spPr>
            <a:xfrm>
              <a:off x="3967" y="1298"/>
              <a:ext cx="1680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Tech. Of DSP</a:t>
              </a:r>
              <a:endPara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489" name="Text Box 15"/>
            <p:cNvSpPr txBox="1"/>
            <p:nvPr/>
          </p:nvSpPr>
          <p:spPr>
            <a:xfrm>
              <a:off x="2744" y="1706"/>
              <a:ext cx="862" cy="371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DSP</a:t>
              </a:r>
              <a:endPara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490" name="Text Box 16"/>
            <p:cNvSpPr txBox="1"/>
            <p:nvPr/>
          </p:nvSpPr>
          <p:spPr>
            <a:xfrm>
              <a:off x="3967" y="1706"/>
              <a:ext cx="1680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Software Radio</a:t>
              </a:r>
              <a:endPara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491" name="Text Box 17"/>
            <p:cNvSpPr txBox="1"/>
            <p:nvPr/>
          </p:nvSpPr>
          <p:spPr>
            <a:xfrm>
              <a:off x="4013" y="2160"/>
              <a:ext cx="1634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VLSI,ASIC,……</a:t>
              </a:r>
              <a:endPara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492" name="Line 18"/>
            <p:cNvSpPr/>
            <p:nvPr/>
          </p:nvSpPr>
          <p:spPr>
            <a:xfrm>
              <a:off x="2381" y="1480"/>
              <a:ext cx="9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eaLnBrk="0" hangingPunct="0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493" name="Line 19"/>
            <p:cNvSpPr/>
            <p:nvPr/>
          </p:nvSpPr>
          <p:spPr>
            <a:xfrm>
              <a:off x="2472" y="1480"/>
              <a:ext cx="0" cy="90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eaLnBrk="0" hangingPunct="0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494" name="Line 20"/>
            <p:cNvSpPr/>
            <p:nvPr/>
          </p:nvSpPr>
          <p:spPr>
            <a:xfrm flipH="1">
              <a:off x="2381" y="2387"/>
              <a:ext cx="9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eaLnBrk="0" hangingPunct="0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495" name="Line 21"/>
            <p:cNvSpPr/>
            <p:nvPr/>
          </p:nvSpPr>
          <p:spPr>
            <a:xfrm>
              <a:off x="2381" y="1888"/>
              <a:ext cx="36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  <p:txBody>
            <a:bodyPr anchor="t"/>
            <a:lstStyle/>
            <a:p>
              <a:pPr eaLnBrk="0" hangingPunct="0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496" name="Line 23"/>
            <p:cNvSpPr/>
            <p:nvPr/>
          </p:nvSpPr>
          <p:spPr>
            <a:xfrm>
              <a:off x="3878" y="1434"/>
              <a:ext cx="0" cy="90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eaLnBrk="0" hangingPunct="0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497" name="Line 25"/>
            <p:cNvSpPr/>
            <p:nvPr/>
          </p:nvSpPr>
          <p:spPr>
            <a:xfrm>
              <a:off x="3878" y="1842"/>
              <a:ext cx="9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  <p:txBody>
            <a:bodyPr anchor="t"/>
            <a:lstStyle/>
            <a:p>
              <a:pPr eaLnBrk="0" hangingPunct="0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498" name="Line 26"/>
            <p:cNvSpPr/>
            <p:nvPr/>
          </p:nvSpPr>
          <p:spPr>
            <a:xfrm flipV="1">
              <a:off x="3878" y="1434"/>
              <a:ext cx="9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  <p:txBody>
            <a:bodyPr anchor="t"/>
            <a:lstStyle/>
            <a:p>
              <a:pPr eaLnBrk="0" hangingPunct="0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499" name="Line 27"/>
            <p:cNvSpPr/>
            <p:nvPr/>
          </p:nvSpPr>
          <p:spPr>
            <a:xfrm>
              <a:off x="3878" y="2341"/>
              <a:ext cx="1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  <p:txBody>
            <a:bodyPr anchor="t"/>
            <a:lstStyle/>
            <a:p>
              <a:pPr eaLnBrk="0" hangingPunct="0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00" name="Line 28"/>
            <p:cNvSpPr/>
            <p:nvPr/>
          </p:nvSpPr>
          <p:spPr>
            <a:xfrm>
              <a:off x="3606" y="1842"/>
              <a:ext cx="27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eaLnBrk="0" hangingPunct="0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3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3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3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3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1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/>
          <p:nvPr/>
        </p:nvSpPr>
        <p:spPr>
          <a:xfrm>
            <a:off x="4845050" y="1268413"/>
            <a:ext cx="2808288" cy="57943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20000"/>
              </a:spcBef>
              <a:buChar char="•"/>
            </a:pP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§2   2.1~2.5</a:t>
            </a:r>
            <a:endParaRPr lang="en-US" altLang="zh-CN" sz="32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506" name="Rectangle 3"/>
          <p:cNvSpPr/>
          <p:nvPr/>
        </p:nvSpPr>
        <p:spPr>
          <a:xfrm>
            <a:off x="4845050" y="1919288"/>
            <a:ext cx="3168650" cy="57943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20000"/>
              </a:spcBef>
              <a:buChar char="•"/>
            </a:pP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§4   4.1~ 4.10</a:t>
            </a:r>
            <a:endParaRPr lang="en-US" altLang="zh-CN" sz="32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507" name="Rectangle 4"/>
          <p:cNvSpPr/>
          <p:nvPr/>
        </p:nvSpPr>
        <p:spPr>
          <a:xfrm>
            <a:off x="539750" y="1919288"/>
            <a:ext cx="2951163" cy="57943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20000"/>
              </a:spcBef>
              <a:buChar char="•"/>
            </a:pP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§3*  3.1~3.9</a:t>
            </a:r>
            <a:endParaRPr lang="en-US" altLang="zh-CN" sz="32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508" name="Rectangle 5"/>
          <p:cNvSpPr/>
          <p:nvPr/>
        </p:nvSpPr>
        <p:spPr>
          <a:xfrm>
            <a:off x="609600" y="4367213"/>
            <a:ext cx="3671888" cy="57943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20000"/>
              </a:spcBef>
              <a:buChar char="•"/>
            </a:pP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§9 </a:t>
            </a:r>
            <a:r>
              <a:rPr lang="en-US" altLang="zh-CN" sz="2400" b="1" dirty="0">
                <a:latin typeface="Tahoma" panose="020B0604030504040204" pitchFamily="34" charset="0"/>
                <a:ea typeface="宋体" panose="02010600030101010101" pitchFamily="2" charset="-122"/>
              </a:rPr>
              <a:t>*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9.1~9.6</a:t>
            </a:r>
            <a:endParaRPr lang="en-US" altLang="zh-CN" sz="32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509" name="Rectangle 6"/>
          <p:cNvSpPr/>
          <p:nvPr/>
        </p:nvSpPr>
        <p:spPr>
          <a:xfrm>
            <a:off x="4860925" y="2679700"/>
            <a:ext cx="3092450" cy="5842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spcBef>
                <a:spcPct val="20000"/>
              </a:spcBef>
              <a:buChar char="•"/>
            </a:pP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§6  6.1~6.7</a:t>
            </a:r>
            <a:endParaRPr lang="en-US" altLang="zh-CN" sz="32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510" name="Rectangle 7"/>
          <p:cNvSpPr/>
          <p:nvPr/>
        </p:nvSpPr>
        <p:spPr>
          <a:xfrm>
            <a:off x="609600" y="2674938"/>
            <a:ext cx="2952750" cy="57943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20000"/>
              </a:spcBef>
              <a:buChar char="•"/>
            </a:pP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§5*  5.1~ 5.10 </a:t>
            </a:r>
            <a:endParaRPr lang="en-US" altLang="zh-CN" sz="3200" b="1" u="sng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511" name="Rectangle 8"/>
          <p:cNvSpPr/>
          <p:nvPr/>
        </p:nvSpPr>
        <p:spPr>
          <a:xfrm>
            <a:off x="609600" y="3522663"/>
            <a:ext cx="2808288" cy="57943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20000"/>
              </a:spcBef>
              <a:buChar char="•"/>
            </a:pP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§7   7.1~7.4</a:t>
            </a:r>
            <a:endParaRPr lang="en-US" altLang="zh-CN" sz="32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512" name="Rectangle 9"/>
          <p:cNvSpPr/>
          <p:nvPr/>
        </p:nvSpPr>
        <p:spPr>
          <a:xfrm>
            <a:off x="4859338" y="3576638"/>
            <a:ext cx="3602037" cy="57943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20000"/>
              </a:spcBef>
              <a:buChar char="•"/>
            </a:pP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§8  8.1~8.6</a:t>
            </a:r>
            <a:endParaRPr lang="en-US" altLang="zh-CN" sz="32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513" name="Rectangle 10"/>
          <p:cNvSpPr/>
          <p:nvPr/>
        </p:nvSpPr>
        <p:spPr>
          <a:xfrm>
            <a:off x="2339975" y="423863"/>
            <a:ext cx="4405313" cy="538162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3200" b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Required Contents</a:t>
            </a:r>
            <a:endParaRPr lang="en-US" altLang="zh-CN" sz="3200" b="1" dirty="0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514" name="Rectangle 11"/>
          <p:cNvSpPr/>
          <p:nvPr/>
        </p:nvSpPr>
        <p:spPr>
          <a:xfrm>
            <a:off x="4870450" y="4508500"/>
            <a:ext cx="4022725" cy="57943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20000"/>
              </a:spcBef>
              <a:buChar char="•"/>
            </a:pP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§10 * 10.1,10.2,10.5</a:t>
            </a:r>
            <a:endParaRPr lang="en-US" altLang="zh-CN" sz="32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515" name="Rectangle 13"/>
          <p:cNvSpPr/>
          <p:nvPr/>
        </p:nvSpPr>
        <p:spPr>
          <a:xfrm>
            <a:off x="609600" y="1314450"/>
            <a:ext cx="938213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>
              <a:spcBef>
                <a:spcPct val="20000"/>
              </a:spcBef>
              <a:buChar char="•"/>
            </a:pP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§1</a:t>
            </a:r>
            <a:endParaRPr lang="en-US" altLang="zh-CN" sz="32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516" name="Rectangle 11"/>
          <p:cNvSpPr/>
          <p:nvPr/>
        </p:nvSpPr>
        <p:spPr>
          <a:xfrm>
            <a:off x="609600" y="5281613"/>
            <a:ext cx="3386138" cy="57943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20000"/>
              </a:spcBef>
              <a:buChar char="•"/>
            </a:pP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§11 11.1~11.5</a:t>
            </a:r>
            <a:endParaRPr lang="en-US" altLang="zh-CN" sz="32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517" name="Rectangle 11"/>
          <p:cNvSpPr/>
          <p:nvPr/>
        </p:nvSpPr>
        <p:spPr>
          <a:xfrm>
            <a:off x="4965700" y="5281613"/>
            <a:ext cx="3830638" cy="57943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20000"/>
              </a:spcBef>
              <a:buChar char="•"/>
            </a:pP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§A  A.1~A.8</a:t>
            </a:r>
            <a:endParaRPr lang="en-US" altLang="zh-CN" sz="32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29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3875"/>
            <a:ext cx="4419600" cy="63325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530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0238" y="522288"/>
            <a:ext cx="4645025" cy="63341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3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38" y="331788"/>
            <a:ext cx="4348162" cy="65198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554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31788"/>
            <a:ext cx="4119563" cy="65198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460" y="1412881"/>
            <a:ext cx="8229600" cy="4525963"/>
          </a:xfrm>
        </p:spPr>
        <p:txBody>
          <a:bodyPr/>
          <a:lstStyle/>
          <a:p>
            <a:r>
              <a:rPr lang="en-US" altLang="zh-CN">
                <a:sym typeface="+mn-ea"/>
              </a:rPr>
              <a:t>Production and Detection of Dual-Tone Multi-Frequency (DTMF) Signals</a:t>
            </a:r>
            <a:endParaRPr lang="en-US" altLang="zh-CN">
              <a:sym typeface="+mn-ea"/>
            </a:endParaRPr>
          </a:p>
          <a:p>
            <a:pPr marL="0" indent="0">
              <a:buNone/>
            </a:pPr>
            <a:r>
              <a:rPr lang="en-US" altLang="zh-CN"/>
              <a:t>In week 8</a:t>
            </a:r>
            <a:endParaRPr lang="en-US" altLang="zh-CN"/>
          </a:p>
          <a:p>
            <a:endParaRPr lang="en-US" altLang="zh-CN"/>
          </a:p>
          <a:p>
            <a:r>
              <a:rPr lang="en-US" altLang="zh-CN">
                <a:sym typeface="+mn-ea"/>
              </a:rPr>
              <a:t>Digital Frequency Spectrum Analysis Based on DFT</a:t>
            </a:r>
            <a:endParaRPr lang="en-US" altLang="zh-CN">
              <a:sym typeface="+mn-ea"/>
            </a:endParaRPr>
          </a:p>
          <a:p>
            <a:pPr marL="0" indent="0">
              <a:buNone/>
            </a:pPr>
            <a:r>
              <a:rPr lang="en-US" altLang="zh-CN"/>
              <a:t>In week 10</a:t>
            </a:r>
            <a:endParaRPr lang="en-US" altLang="zh-CN"/>
          </a:p>
        </p:txBody>
      </p:sp>
      <p:sp>
        <p:nvSpPr>
          <p:cNvPr id="20482" name="Rectangle 7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57200" y="404178"/>
            <a:ext cx="3787775" cy="60325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70C0"/>
                </a:solidFill>
                <a:latin typeface="Arial Black" panose="020B0A04020102020204" pitchFamily="34" charset="0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70C0"/>
                </a:solidFill>
                <a:latin typeface="Arial Black" panose="020B0A04020102020204" pitchFamily="34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70C0"/>
                </a:solidFill>
                <a:latin typeface="Arial Black" panose="020B0A04020102020204" pitchFamily="34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70C0"/>
                </a:solidFill>
                <a:latin typeface="Arial Black" panose="020B0A04020102020204" pitchFamily="34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70C0"/>
                </a:solidFill>
                <a:latin typeface="Arial Black" panose="020B0A04020102020204" pitchFamily="34" charset="0"/>
                <a:ea typeface="微软雅黑" panose="020B0503020204020204" pitchFamily="34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Projects</a:t>
            </a: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：</a:t>
            </a:r>
            <a:endParaRPr lang="zh-CN" altLang="en-US" dirty="0">
              <a:solidFill>
                <a:srgbClr val="FF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主题1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prstShdw prst="shdw11">
            <a:schemeClr val="bg2">
              <a:alpha val="50000"/>
            </a:schemeClr>
          </a:prstShdw>
        </a:effectLst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prstShdw prst="shdw11">
            <a:schemeClr val="bg2">
              <a:alpha val="50000"/>
            </a:schemeClr>
          </a:prstShdw>
        </a:effectLst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1442</Words>
  <Application>WPS 演示</Application>
  <PresentationFormat>全屏显示(4:3)</PresentationFormat>
  <Paragraphs>102</Paragraphs>
  <Slides>12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Arial</vt:lpstr>
      <vt:lpstr>宋体</vt:lpstr>
      <vt:lpstr>Wingdings</vt:lpstr>
      <vt:lpstr>Times New Roman</vt:lpstr>
      <vt:lpstr>楷体_GB2312</vt:lpstr>
      <vt:lpstr>新宋体</vt:lpstr>
      <vt:lpstr>Comic Sans MS</vt:lpstr>
      <vt:lpstr>Arial Black</vt:lpstr>
      <vt:lpstr>微软雅黑</vt:lpstr>
      <vt:lpstr>黑体</vt:lpstr>
      <vt:lpstr>Tahoma</vt:lpstr>
      <vt:lpstr>Arial Unicode MS</vt:lpstr>
      <vt:lpstr>主题1</vt:lpstr>
      <vt:lpstr>Digital Signal Processing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Foreword</vt:lpstr>
      <vt:lpstr>PowerPoint 演示文稿</vt:lpstr>
      <vt:lpstr>PowerPoint 演示文稿</vt:lpstr>
      <vt:lpstr>PowerPoint 演示文稿</vt:lpstr>
      <vt:lpstr>PowerPoint 演示文稿</vt:lpstr>
    </vt:vector>
  </TitlesOfParts>
  <Company>合纵科技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Signal Processing</dc:title>
  <dc:creator>intel</dc:creator>
  <cp:lastModifiedBy>qiang li</cp:lastModifiedBy>
  <cp:revision>309</cp:revision>
  <dcterms:created xsi:type="dcterms:W3CDTF">2025-02-18T13:22:00Z</dcterms:created>
  <dcterms:modified xsi:type="dcterms:W3CDTF">2026-03-01T01:43:39Z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289A75EAAD1FFC568482D8630F226DA1</vt:lpwstr>
  </property>
</Properties>
</file>