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68" r:id="rId1"/>
    <p:sldMasterId id="2147483720" r:id="rId2"/>
  </p:sldMasterIdLst>
  <p:notesMasterIdLst>
    <p:notesMasterId r:id="rId38"/>
  </p:notesMasterIdLst>
  <p:handoutMasterIdLst>
    <p:handoutMasterId r:id="rId39"/>
  </p:handoutMasterIdLst>
  <p:sldIdLst>
    <p:sldId id="370" r:id="rId3"/>
    <p:sldId id="328" r:id="rId4"/>
    <p:sldId id="330" r:id="rId5"/>
    <p:sldId id="329" r:id="rId6"/>
    <p:sldId id="334" r:id="rId7"/>
    <p:sldId id="336" r:id="rId8"/>
    <p:sldId id="335" r:id="rId9"/>
    <p:sldId id="338" r:id="rId10"/>
    <p:sldId id="340" r:id="rId11"/>
    <p:sldId id="343" r:id="rId12"/>
    <p:sldId id="342" r:id="rId13"/>
    <p:sldId id="344" r:id="rId14"/>
    <p:sldId id="371" r:id="rId15"/>
    <p:sldId id="346" r:id="rId16"/>
    <p:sldId id="347" r:id="rId17"/>
    <p:sldId id="348" r:id="rId18"/>
    <p:sldId id="350" r:id="rId19"/>
    <p:sldId id="351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76" r:id="rId33"/>
    <p:sldId id="372" r:id="rId34"/>
    <p:sldId id="373" r:id="rId35"/>
    <p:sldId id="374" r:id="rId36"/>
    <p:sldId id="375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28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0" autoAdjust="0"/>
    <p:restoredTop sz="94660" autoAdjust="0"/>
  </p:normalViewPr>
  <p:slideViewPr>
    <p:cSldViewPr>
      <p:cViewPr varScale="1">
        <p:scale>
          <a:sx n="118" d="100"/>
          <a:sy n="118" d="100"/>
        </p:scale>
        <p:origin x="616" y="192"/>
      </p:cViewPr>
      <p:guideLst>
        <p:guide orient="horz" pos="2142"/>
        <p:guide pos="2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4A4C03-1BB1-9031-B9F0-55463FA6EE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D43A7E3-02A2-0615-F325-F7BCFA0818E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E90008D-98C9-F2B3-28B6-563884BE123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53D08B8C-C8B4-F32C-E013-971BDF7D89C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/>
            </a:lvl1pPr>
          </a:lstStyle>
          <a:p>
            <a:fld id="{3C5C847D-E773-A94B-949B-DF99305A12C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CD43AF48-D83C-9C1A-A80E-CC6705B21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16D4D4-C7FA-55DD-BC0F-7C385B4C903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FA3614E8-0371-00A0-B6D0-D7B9AB1C9643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6F9FDB7F-19C4-2A4B-B9EC-A68E82AFD0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A7346410-B886-3585-CC6C-B5B564C647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4E09F402-84CD-7C31-E2AB-9C1640E5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/>
            </a:lvl1pPr>
          </a:lstStyle>
          <a:p>
            <a:fld id="{7DA44598-DA11-A84C-A12D-02B453753B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3D91448-FBFC-5283-13B8-A4C502D40A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2B5FAAD5-D6EF-504E-A1B6-FCB164C809C2}" type="slidenum">
              <a:rPr kumimoji="0" lang="en-US" altLang="zh-CN"/>
              <a:pPr>
                <a:buFont typeface="Arial" panose="020B0604020202020204" pitchFamily="34" charset="0"/>
                <a:buNone/>
              </a:pPr>
              <a:t>3</a:t>
            </a:fld>
            <a:endParaRPr kumimoji="0"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197AB39-EF91-082E-E088-8BDD0A2C02B2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4B62615-2BC2-502D-08D5-84CFF4AEBD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2FAA33F3-D9C5-1657-5A6F-EF29CE7EEE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B3C8505D-D26E-D742-AE00-E9D260BCB2F9}" type="slidenum">
              <a:rPr kumimoji="0" lang="en-US" altLang="zh-CN"/>
              <a:pPr>
                <a:buFont typeface="Arial" panose="020B0604020202020204" pitchFamily="34" charset="0"/>
                <a:buNone/>
              </a:pPr>
              <a:t>4</a:t>
            </a:fld>
            <a:endParaRPr kumimoji="0"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85AA546-60E4-FB01-E0FE-5E1C7D5F9FC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893839F-3026-CEC7-9920-88446724A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C0FA3F7-DADF-CE56-8AED-60773A9236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8DF7DEB1-4755-7444-A658-6E231418C95F}" type="slidenum">
              <a:rPr kumimoji="0" lang="en-US" altLang="zh-CN"/>
              <a:pPr>
                <a:buFont typeface="Arial" panose="020B0604020202020204" pitchFamily="34" charset="0"/>
                <a:buNone/>
              </a:pPr>
              <a:t>6</a:t>
            </a:fld>
            <a:endParaRPr kumimoji="0"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2926283-204E-582A-FC20-7FA5C799C23D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1A2CF40-90E0-E4EC-0B4F-46B81591C5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D47418E-CD8F-68DD-D036-D45EE656B6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D75E0057-292F-114F-8872-0540AD0B6030}" type="slidenum">
              <a:rPr kumimoji="0" lang="en-US" altLang="zh-CN"/>
              <a:pPr>
                <a:buFont typeface="Arial" panose="020B0604020202020204" pitchFamily="34" charset="0"/>
                <a:buNone/>
              </a:pPr>
              <a:t>7</a:t>
            </a:fld>
            <a:endParaRPr kumimoji="0"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8BAAAA7-C166-AF1B-6062-B8BF6676A464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237FFA2A-1E09-45B0-755F-4C5F39AF1B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C231B74-9021-1DE7-4657-FA3BB725875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4482FA91-2838-4844-9BC1-5079DFD85FF3}" type="slidenum">
              <a:rPr lang="en-US" altLang="zh-CN" sz="1200"/>
              <a:pPr algn="r" eaLnBrk="1" hangingPunct="1">
                <a:buFont typeface="Arial" panose="020B0604020202020204" pitchFamily="34" charset="0"/>
                <a:buNone/>
              </a:pPr>
              <a:t>8</a:t>
            </a:fld>
            <a:endParaRPr lang="en-US" altLang="zh-CN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683E2A4-805D-2A85-9DF9-830D0444C131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372A91D-6E3F-12BA-0D2D-86DD61896E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59056B0-B7D6-F016-7834-3581D4FE487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60EF4E40-AA74-D743-8291-56FF1C6B80AE}" type="slidenum">
              <a:rPr lang="en-US" altLang="zh-CN" sz="1200"/>
              <a:pPr algn="r" eaLnBrk="1" hangingPunct="1">
                <a:buFont typeface="Arial" panose="020B0604020202020204" pitchFamily="34" charset="0"/>
                <a:buNone/>
              </a:pPr>
              <a:t>9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C01A480-911A-7FF1-2B67-5EA4D688FF65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1389BE6-29AC-9A37-ED12-E378E3FD739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2F6C44D-69CB-B5C7-950E-40CD6013994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08498838-89E5-7E46-824A-A44D5DB8D271}" type="slidenum">
              <a:rPr lang="en-US" altLang="zh-CN" sz="1200"/>
              <a:pPr algn="r" eaLnBrk="1" hangingPunct="1">
                <a:buFont typeface="Arial" panose="020B0604020202020204" pitchFamily="34" charset="0"/>
                <a:buNone/>
              </a:pPr>
              <a:t>10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06DDC3C-3F6C-199E-AADF-36826D7BD343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64D2780-0EC6-31FF-115A-FBD40347A9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0FF65302-E5E0-DD82-A28D-FD67B69FAB0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E4B187B2-0BEF-A349-B74D-0DF3608D2901}" type="slidenum">
              <a:rPr lang="en-US" altLang="zh-CN" sz="1200"/>
              <a:pPr algn="r" eaLnBrk="1" hangingPunct="1">
                <a:buFont typeface="Arial" panose="020B0604020202020204" pitchFamily="34" charset="0"/>
                <a:buNone/>
              </a:pPr>
              <a:t>11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1F443B6-3B01-94F9-0FEE-AF42D512BAE7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998F611-ABEB-E61F-C37B-B4E2446265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63046D9-2429-F969-CC99-EB18147C415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5258D069-2808-CA4F-B4E5-4C45563A3BE3}" type="slidenum">
              <a:rPr lang="en-US" altLang="zh-CN" sz="1200"/>
              <a:pPr algn="r" eaLnBrk="1" hangingPunct="1">
                <a:buFont typeface="Arial" panose="020B0604020202020204" pitchFamily="34" charset="0"/>
                <a:buNone/>
              </a:pPr>
              <a:t>12</a:t>
            </a:fld>
            <a:endParaRPr lang="en-US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9728E24-E419-CB25-A243-B2B76A1886EC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1CAFDD2-1AEC-018A-FC74-E49F52E669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04DACC-81D8-FAE8-5627-DB6831B2B79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EB41D48-37ED-3487-7A44-2D2AE3CEA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1D9CB9FD-7CC8-4BFF-53D1-2F4831E1A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4EF7EAEA-11F2-C7A2-2018-7016F546A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912B22F-DB9B-D3BA-AC93-47C767BBE2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EE97FA-5661-DA14-2F22-7E401D531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969EF5-D853-2C23-EC22-B49CE35EE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9E05BDDA-426E-E7A1-2184-E12B302D7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C69E7642-793E-D2FC-209E-DAD6A0355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281C1E65-E1D4-54F5-16C8-A5D67E784D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95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95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1F928970-806B-F955-5D10-59184C3AE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2CE3BCB-EA16-F3EA-4D35-5BD774E9C5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5B82D4DE-DA3B-FAE6-2541-24B2114F4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087861-9BF8-924A-90E3-0036A54E3A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52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3407F57-D8AE-DB42-993B-2755EE6C6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8CB45F5-FE11-2267-9BE4-BA64EA4869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491A853-A006-9D70-1BCD-C2094D003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CBCB81-4681-4B40-BEA7-2E15FDDF35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39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FC917BA-C516-8494-BAEB-52E16FBEF9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305ECB1-4DAC-ACB2-A266-CF4AB246B0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6598729-182B-C08C-33F9-5A8FA8CFF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A66EB8-321B-EF4E-B9DF-1B019BFD7DF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05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D625269-E200-C8AF-AC5D-66AB88AE9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72C7277-D982-B0C5-7F28-CF1EA8DE27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7A52B5A-67D0-9E9E-85AB-83007EEC3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A43B0A-8673-4646-A97E-D13B1B4FEF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97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6EE62AA-00E0-F1DD-AD85-C3FDA0128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E978F76C-218B-E1DA-1296-79E0A4D519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F06A92C-11F3-6299-5C1E-AA2173F01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FF047-FB6E-C647-B208-22705303FA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76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4FBC872-DCDD-154B-ED9D-5F078AAC4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CAD0D1F-0107-D791-CA8F-70519E18FC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D9E8EA8-0426-F80C-33DB-6A75C517DE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D2B956-4485-4945-BE34-73F03C32D2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742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490818F-0831-4553-C65A-01A3DBB771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4822CD1-ACF7-C059-E5A5-BBB6995448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56EA22B-A397-1BAE-F495-544913C763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D9A2F2-E4AA-7640-92CA-3A205DEA42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53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E242CD7-9855-97D3-31F1-D663C04E5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6FDE43C-1897-C5CF-C2A9-31EBC6A3BE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1AA7D60-18AA-6A4F-D549-C2F92B13B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E58C4-EFC1-0749-AFD6-311C174788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01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465DF9-A90D-208F-4B76-57397668C0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D4D6DA5-6D67-1631-6301-8DAF774EA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888E88A-1915-D6AB-B043-C3A4BE783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203F8-72CD-6F42-AC46-D96A40FC86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90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344D910-C119-00BD-3077-FA98FCA4C7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A117F02-6EB9-4185-A8F0-5B080F2290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45C2634-CD3B-A88A-A60D-3A9E674D6E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ADAB3-694F-A44C-A1E2-224050802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62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7D189C4-D78C-571A-CC58-F6F7C055E5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122B41-400A-7DCF-89CC-08F490916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8C9F715-58EF-E8A4-F5F3-C794E28EB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AACC0-E219-324E-A2F7-8A048D7905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4111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9B3FC4C-A9D3-CCF4-947B-17BACCE264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B326F0F-2E40-2B18-529F-6057D00850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EF394E-0A1F-F52D-0531-B5D29C8C3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14F6B2-130F-904A-AD79-F6CC0F967E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56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CF3FD91E-B1D5-76DD-7A24-2B23DACC7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3EE2892-6678-A3C9-0BC1-08BB0FAA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0395A5AE-4581-2782-7FF7-B2008607B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89960D52-01B7-AB3E-1542-91566322F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D216AF7B-545B-9064-2BC3-6787904BF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E31C0F73-3C5F-C74A-BBA2-F83ABED74AC5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6F99B8DD-4659-5343-A7C8-6AB0E762236A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80C80B36-E098-B170-03AC-2CE3A68A4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4103" name="Object 35">
                        <a:extLst>
                          <a:ext uri="{FF2B5EF4-FFF2-40B4-BE49-F238E27FC236}">
                            <a16:creationId xmlns:a16="http://schemas.microsoft.com/office/drawing/2014/main" id="{0DE6DB03-50A1-AE30-A3D8-2185BA587C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6396C891-A6F7-416B-AA23-6264A5649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727E445-6F2E-D407-E7D0-41DC3CDA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10" name="Picture 14" descr="未命名">
            <a:extLst>
              <a:ext uri="{FF2B5EF4-FFF2-40B4-BE49-F238E27FC236}">
                <a16:creationId xmlns:a16="http://schemas.microsoft.com/office/drawing/2014/main" id="{6A9BD071-4C81-035A-7636-65B1F35AE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5">
            <a:extLst>
              <a:ext uri="{FF2B5EF4-FFF2-40B4-BE49-F238E27FC236}">
                <a16:creationId xmlns:a16="http://schemas.microsoft.com/office/drawing/2014/main" id="{30E815CA-75FF-AD9F-B1A3-B3FC22FDF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D2B41998-CCD5-D512-685F-75C55C2DB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9B535C25-4A76-8B49-903E-FBF62F273B0B}" type="slidenum">
              <a:rPr lang="en-US" altLang="zh-CN" sz="1300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EEE8B48D-689C-9B44-9E60-5229710CC9B4}" type="datetime1">
              <a:rPr lang="zh-CN" altLang="en-US" b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>
              <a:solidFill>
                <a:srgbClr val="FFFFFF"/>
              </a:solidFill>
            </a:endParaRPr>
          </a:p>
        </p:txBody>
      </p:sp>
      <p:graphicFrame>
        <p:nvGraphicFramePr>
          <p:cNvPr id="13" name="Object 36">
            <a:extLst>
              <a:ext uri="{FF2B5EF4-FFF2-40B4-BE49-F238E27FC236}">
                <a16:creationId xmlns:a16="http://schemas.microsoft.com/office/drawing/2014/main" id="{4558BCD9-68E0-FFE2-24B2-14BC1C64BA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4109" name="Object 36">
                        <a:extLst>
                          <a:ext uri="{FF2B5EF4-FFF2-40B4-BE49-F238E27FC236}">
                            <a16:creationId xmlns:a16="http://schemas.microsoft.com/office/drawing/2014/main" id="{2FE7338E-8B9B-5504-2DDD-8352DE5AE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85">
            <a:extLst>
              <a:ext uri="{FF2B5EF4-FFF2-40B4-BE49-F238E27FC236}">
                <a16:creationId xmlns:a16="http://schemas.microsoft.com/office/drawing/2014/main" id="{9A79F944-11C0-BFE2-AF80-C78F3A1B1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628775"/>
            <a:ext cx="651827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 94">
            <a:extLst>
              <a:ext uri="{FF2B5EF4-FFF2-40B4-BE49-F238E27FC236}">
                <a16:creationId xmlns:a16="http://schemas.microsoft.com/office/drawing/2014/main" id="{5CED5BEB-6A2C-A8C6-F4A1-4737936F5702}"/>
              </a:ext>
            </a:extLst>
          </p:cNvPr>
          <p:cNvSpPr/>
          <p:nvPr/>
        </p:nvSpPr>
        <p:spPr bwMode="gray">
          <a:xfrm>
            <a:off x="0" y="0"/>
            <a:ext cx="29718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标题占位符 6">
            <a:extLst>
              <a:ext uri="{FF2B5EF4-FFF2-40B4-BE49-F238E27FC236}">
                <a16:creationId xmlns:a16="http://schemas.microsoft.com/office/drawing/2014/main" id="{CF1E4A6A-760B-998B-6037-56858D657D00}"/>
              </a:ext>
            </a:extLst>
          </p:cNvPr>
          <p:cNvSpPr/>
          <p:nvPr/>
        </p:nvSpPr>
        <p:spPr bwMode="auto">
          <a:xfrm>
            <a:off x="457200" y="2133600"/>
            <a:ext cx="82296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4000" b="1" i="1" dirty="0">
              <a:solidFill>
                <a:srgbClr val="0070C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0C6EF3CC-5149-0698-D0F5-A13782B323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429375"/>
            <a:ext cx="541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UESTC</a:t>
            </a:r>
            <a:r>
              <a:rPr lang="zh-CN" altLang="en-US" b="1">
                <a:solidFill>
                  <a:srgbClr val="FFFFFF"/>
                </a:solidFill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 </a:t>
            </a:r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Glasgow College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34884165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17061B44-3C89-63A4-3B54-BA2F301C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53F26A-5EFC-C662-B211-0F8814593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24ED6D74-78DE-4509-497A-756C6BFB7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ECEDF1E3-4AB7-D294-01A3-5F3608F82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AA17E4EB-5E83-9782-1254-62EC72192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E45C59C7-15EE-8D4B-8D7F-0D7483328ABD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DCE3AC71-8B9A-C74F-B717-1CAA0D47ABE1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9" name="Object 35">
            <a:extLst>
              <a:ext uri="{FF2B5EF4-FFF2-40B4-BE49-F238E27FC236}">
                <a16:creationId xmlns:a16="http://schemas.microsoft.com/office/drawing/2014/main" id="{ACD720EA-A85E-B290-AB55-D86594396C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5127" name="Object 35">
                        <a:extLst>
                          <a:ext uri="{FF2B5EF4-FFF2-40B4-BE49-F238E27FC236}">
                            <a16:creationId xmlns:a16="http://schemas.microsoft.com/office/drawing/2014/main" id="{8FC58CAC-07D0-1A66-6B6F-09A3885F8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50B28712-343C-FDA0-5D60-CC6BDC68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29A2062-C097-4E52-8636-C86366A1D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12" name="Picture 14" descr="未命名">
            <a:extLst>
              <a:ext uri="{FF2B5EF4-FFF2-40B4-BE49-F238E27FC236}">
                <a16:creationId xmlns:a16="http://schemas.microsoft.com/office/drawing/2014/main" id="{E6F182F5-6079-1D4F-BB7D-9AFAA953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Line 15">
            <a:extLst>
              <a:ext uri="{FF2B5EF4-FFF2-40B4-BE49-F238E27FC236}">
                <a16:creationId xmlns:a16="http://schemas.microsoft.com/office/drawing/2014/main" id="{CD141292-EAFD-9238-2DAF-1280C9B30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B887650A-8AB4-A136-7A64-2E6DA325F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CEBB84F8-E06D-A54A-AF09-D94A5F8711E5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9A354701-9018-B744-8164-EB16DB3DBE43}" type="datetime1">
              <a:rPr lang="zh-CN" altLang="en-US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FFFFFF"/>
              </a:solidFill>
            </a:endParaRPr>
          </a:p>
        </p:txBody>
      </p:sp>
      <p:graphicFrame>
        <p:nvGraphicFramePr>
          <p:cNvPr id="15" name="Object 36">
            <a:extLst>
              <a:ext uri="{FF2B5EF4-FFF2-40B4-BE49-F238E27FC236}">
                <a16:creationId xmlns:a16="http://schemas.microsoft.com/office/drawing/2014/main" id="{ABBE9A7D-6E13-348A-A6B4-201D0B410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5133" name="Object 36">
                        <a:extLst>
                          <a:ext uri="{FF2B5EF4-FFF2-40B4-BE49-F238E27FC236}">
                            <a16:creationId xmlns:a16="http://schemas.microsoft.com/office/drawing/2014/main" id="{9797802B-81BB-AA23-83EA-D3BC896DF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2" y="2130433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2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01E66B9-E693-4BB4-3F9F-149F901B32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4AE820A9-0D24-6351-785B-833FDA9E8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D013E080-BC0C-3497-33F8-29B2E92E43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fld id="{9284966D-469D-2549-A57E-CE02FF3D6D3F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4324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>
            <a:extLst>
              <a:ext uri="{FF2B5EF4-FFF2-40B4-BE49-F238E27FC236}">
                <a16:creationId xmlns:a16="http://schemas.microsoft.com/office/drawing/2014/main" id="{9A8873AF-F67E-AF79-1999-58E4FCE04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DEF72C5-6DCF-4EA7-B8B9-0350FBAA5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2E198FA-5A95-8A62-333C-0590BCD38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3E36CF00-5EA3-751F-C21C-7FCA08243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4A6047A6-30F9-DC06-BA5F-AFC139AF5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B79A6C26-4FE9-3642-BF15-51D39531AEF3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A89D84C0-3546-8846-BD3B-28D44AFCB938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12" name="Object 35">
            <a:extLst>
              <a:ext uri="{FF2B5EF4-FFF2-40B4-BE49-F238E27FC236}">
                <a16:creationId xmlns:a16="http://schemas.microsoft.com/office/drawing/2014/main" id="{AB6EC0C0-B0BA-161F-C09F-ABAD8DCD6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6151" name="Object 35">
                        <a:extLst>
                          <a:ext uri="{FF2B5EF4-FFF2-40B4-BE49-F238E27FC236}">
                            <a16:creationId xmlns:a16="http://schemas.microsoft.com/office/drawing/2014/main" id="{CB75939D-D714-22A9-43F0-859815856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>
            <a:extLst>
              <a:ext uri="{FF2B5EF4-FFF2-40B4-BE49-F238E27FC236}">
                <a16:creationId xmlns:a16="http://schemas.microsoft.com/office/drawing/2014/main" id="{31204D6F-C907-F2BE-A35B-DC320F355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73C0DCA-B185-67F2-1897-82D2A5393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15" name="Picture 14" descr="未命名">
            <a:extLst>
              <a:ext uri="{FF2B5EF4-FFF2-40B4-BE49-F238E27FC236}">
                <a16:creationId xmlns:a16="http://schemas.microsoft.com/office/drawing/2014/main" id="{ED817150-A59E-B325-ACEA-4E6D630CD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5">
            <a:extLst>
              <a:ext uri="{FF2B5EF4-FFF2-40B4-BE49-F238E27FC236}">
                <a16:creationId xmlns:a16="http://schemas.microsoft.com/office/drawing/2014/main" id="{18E8290E-63DD-9A3A-B68A-3F3204750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0DEE0C55-7840-3E16-FB75-82197EB08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53DBA1A3-A1BC-7449-B129-FF430FA86DBD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8CD4E1CD-A95C-CE4B-80FE-15A765525B50}" type="datetime1">
              <a:rPr lang="zh-CN" altLang="en-US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FFFFFF"/>
              </a:solidFill>
            </a:endParaRPr>
          </a:p>
        </p:txBody>
      </p:sp>
      <p:graphicFrame>
        <p:nvGraphicFramePr>
          <p:cNvPr id="18" name="Object 36">
            <a:extLst>
              <a:ext uri="{FF2B5EF4-FFF2-40B4-BE49-F238E27FC236}">
                <a16:creationId xmlns:a16="http://schemas.microsoft.com/office/drawing/2014/main" id="{0AF510B2-7674-F4AA-73CB-A53436ACAB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6157" name="Object 36">
                        <a:extLst>
                          <a:ext uri="{FF2B5EF4-FFF2-40B4-BE49-F238E27FC236}">
                            <a16:creationId xmlns:a16="http://schemas.microsoft.com/office/drawing/2014/main" id="{03FC25F5-0A6C-5EBF-8C9F-5754A414E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5A518-CB77-1BB4-7B5A-DCEC564808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2DF8AB-DFB7-8E67-CD37-4D1F147245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1CE9F-59C2-73F3-4328-E9AE506D6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fld id="{9EEC122E-5B9A-1F4B-92A7-D7164BC9B24F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2893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25FA1017-8B5F-1A4F-46CC-8B43A8586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4B025A6-F621-FCA0-DD0B-442F9D78F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14689940-A63A-FE48-14C1-AC1E3430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A801C230-A64B-90E6-5D77-E408B0043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A999EFC2-3E8D-B424-F3F1-D421FEF26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E919F2B8-F75A-554E-97E3-F24AC4E65039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FD8997FC-710E-5C4E-95AF-E547E402721C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7" name="Object 35">
            <a:extLst>
              <a:ext uri="{FF2B5EF4-FFF2-40B4-BE49-F238E27FC236}">
                <a16:creationId xmlns:a16="http://schemas.microsoft.com/office/drawing/2014/main" id="{8B52D023-E6BA-40C9-6975-E79AC302E5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7175" name="Object 35">
                        <a:extLst>
                          <a:ext uri="{FF2B5EF4-FFF2-40B4-BE49-F238E27FC236}">
                            <a16:creationId xmlns:a16="http://schemas.microsoft.com/office/drawing/2014/main" id="{A35D9361-5647-99DD-7CF3-42F22F03E1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3F0FF3C6-0CC7-B8D9-A7A8-F73810F3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333C9D2F-C906-288A-25C5-073677191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10" name="Picture 14" descr="未命名">
            <a:extLst>
              <a:ext uri="{FF2B5EF4-FFF2-40B4-BE49-F238E27FC236}">
                <a16:creationId xmlns:a16="http://schemas.microsoft.com/office/drawing/2014/main" id="{CB2E851B-A2C8-9DE1-2E08-58361CC2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5">
            <a:extLst>
              <a:ext uri="{FF2B5EF4-FFF2-40B4-BE49-F238E27FC236}">
                <a16:creationId xmlns:a16="http://schemas.microsoft.com/office/drawing/2014/main" id="{B90CDBEF-A517-F344-54AC-FB3E2859F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1724102C-DF61-47E4-9298-EEBC78F9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C11BAE58-42FC-0646-A8FE-B1DDA7357070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2AAA4078-3415-B842-A8E4-4ACF3A01AD99}" type="datetime1">
              <a:rPr lang="zh-CN" altLang="en-US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FFFFFF"/>
              </a:solidFill>
            </a:endParaRPr>
          </a:p>
        </p:txBody>
      </p:sp>
      <p:graphicFrame>
        <p:nvGraphicFramePr>
          <p:cNvPr id="13" name="Object 36">
            <a:extLst>
              <a:ext uri="{FF2B5EF4-FFF2-40B4-BE49-F238E27FC236}">
                <a16:creationId xmlns:a16="http://schemas.microsoft.com/office/drawing/2014/main" id="{D2C6F60D-3A47-1541-18AC-760F23923D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7181" name="Object 36">
                        <a:extLst>
                          <a:ext uri="{FF2B5EF4-FFF2-40B4-BE49-F238E27FC236}">
                            <a16:creationId xmlns:a16="http://schemas.microsoft.com/office/drawing/2014/main" id="{D175210D-8EE7-9550-BF19-59E556E39E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8">
            <a:extLst>
              <a:ext uri="{FF2B5EF4-FFF2-40B4-BE49-F238E27FC236}">
                <a16:creationId xmlns:a16="http://schemas.microsoft.com/office/drawing/2014/main" id="{58FC2F89-650E-EA5E-8DCE-D669E7A157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0FC9EA79-9C7E-3D59-4E52-CE157F065A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24602860-DF7F-09A0-D2A8-5FCA40F98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fld id="{D75A74DC-CBA7-D84A-BAA0-449182426C21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3027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03ABC2DF-D149-9031-A282-A9F297FB9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DF9A6B7-94D5-7992-CA01-6C07B63C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5D347BAC-BBB3-B675-9C1B-F04785C5E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027DA2E6-C8DB-9A1F-B31B-1BC691A41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2A862A8D-10C7-1D53-8332-3C27B9939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82198A7D-9B2E-F34D-813D-813A66D88342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D8A18736-06A2-9349-A963-C817D7C19E21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9" name="Object 35">
            <a:extLst>
              <a:ext uri="{FF2B5EF4-FFF2-40B4-BE49-F238E27FC236}">
                <a16:creationId xmlns:a16="http://schemas.microsoft.com/office/drawing/2014/main" id="{8B397101-86E0-D0BE-CD17-BBD2EB936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8199" name="Object 35">
                        <a:extLst>
                          <a:ext uri="{FF2B5EF4-FFF2-40B4-BE49-F238E27FC236}">
                            <a16:creationId xmlns:a16="http://schemas.microsoft.com/office/drawing/2014/main" id="{8A5BFA42-CCE7-6656-D2AB-303754A65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0923293C-1506-BB1E-5AC4-E23F80A52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6A270CE6-4D93-8841-CF59-3FB03EDA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12" name="Picture 14" descr="未命名">
            <a:extLst>
              <a:ext uri="{FF2B5EF4-FFF2-40B4-BE49-F238E27FC236}">
                <a16:creationId xmlns:a16="http://schemas.microsoft.com/office/drawing/2014/main" id="{330A42C7-233F-49F0-D89A-36E6EC99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Line 15">
            <a:extLst>
              <a:ext uri="{FF2B5EF4-FFF2-40B4-BE49-F238E27FC236}">
                <a16:creationId xmlns:a16="http://schemas.microsoft.com/office/drawing/2014/main" id="{AC816CCC-3549-AC27-2FF2-3E2639A2F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FEE6B691-01FE-3EBF-CD47-55BA038B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D03FF157-B730-B54C-8526-7D475CB58588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2C9B21F3-648C-A04D-A747-288A169346AE}" type="datetime1">
              <a:rPr lang="zh-CN" altLang="en-US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FFFFFF"/>
              </a:solidFill>
            </a:endParaRPr>
          </a:p>
        </p:txBody>
      </p:sp>
      <p:graphicFrame>
        <p:nvGraphicFramePr>
          <p:cNvPr id="15" name="Object 36">
            <a:extLst>
              <a:ext uri="{FF2B5EF4-FFF2-40B4-BE49-F238E27FC236}">
                <a16:creationId xmlns:a16="http://schemas.microsoft.com/office/drawing/2014/main" id="{3BF89A5B-4FAE-6D24-3015-0B6E38690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1663700" progId="">
                  <p:embed/>
                </p:oleObj>
              </mc:Choice>
              <mc:Fallback>
                <p:oleObj r:id="rId2" imgW="2832100" imgH="1663700" progId="">
                  <p:embed/>
                  <p:pic>
                    <p:nvPicPr>
                      <p:cNvPr id="8205" name="Object 36">
                        <a:extLst>
                          <a:ext uri="{FF2B5EF4-FFF2-40B4-BE49-F238E27FC236}">
                            <a16:creationId xmlns:a16="http://schemas.microsoft.com/office/drawing/2014/main" id="{09264BA8-4941-6222-A3B0-24CBB68F5E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48105068-3536-8889-C62F-FCD8B107B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A8B07577-2C3B-377F-714A-D3AA8B6AC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i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70F34E81-BA64-7984-A296-1EE185D906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237288"/>
            <a:ext cx="2133600" cy="4762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244FBAAE-FA4D-494F-AEC8-1F7C2799E0DA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3306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BEA25E-8785-37BE-2756-8AA02BA220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F6BB41-DED1-1F59-F6D0-0E9BDB4402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C85577-A5A3-FB83-9727-6471C3494A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0D7CA9-63EA-F6DC-9247-368D31F3E5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60D1BE-E10B-2EB1-4B43-2262E9D2D7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A93E805-3865-64DA-CD8A-5E8C9CB877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B3D6A65-3594-BB2C-7842-5AF9180EE1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45F5395-C878-A83B-BE17-40962C5DB2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8EB17D0-A58D-AFF0-E403-33626704E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8555" name="Rectangle 11">
            <a:extLst>
              <a:ext uri="{FF2B5EF4-FFF2-40B4-BE49-F238E27FC236}">
                <a16:creationId xmlns:a16="http://schemas.microsoft.com/office/drawing/2014/main" id="{69E0D5A2-1D66-F6CC-CC74-DF28B4C1EB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56" name="Rectangle 12">
            <a:extLst>
              <a:ext uri="{FF2B5EF4-FFF2-40B4-BE49-F238E27FC236}">
                <a16:creationId xmlns:a16="http://schemas.microsoft.com/office/drawing/2014/main" id="{F359578D-BDCF-AF7D-1457-8613EE47D1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57" name="Rectangle 13">
            <a:extLst>
              <a:ext uri="{FF2B5EF4-FFF2-40B4-BE49-F238E27FC236}">
                <a16:creationId xmlns:a16="http://schemas.microsoft.com/office/drawing/2014/main" id="{EAB784CB-7C5D-3876-B0FA-A23ED121F1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ahoma" panose="020B0604030504040204" pitchFamily="34" charset="0"/>
              </a:defRPr>
            </a:lvl1pPr>
          </a:lstStyle>
          <a:p>
            <a:fld id="{0B54A943-9399-4547-9037-E5BC1E4C7E3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7">
            <a:extLst>
              <a:ext uri="{FF2B5EF4-FFF2-40B4-BE49-F238E27FC236}">
                <a16:creationId xmlns:a16="http://schemas.microsoft.com/office/drawing/2014/main" id="{4235B005-C6AC-F264-FA98-0206288F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2051" name="Rectangle 11">
            <a:extLst>
              <a:ext uri="{FF2B5EF4-FFF2-40B4-BE49-F238E27FC236}">
                <a16:creationId xmlns:a16="http://schemas.microsoft.com/office/drawing/2014/main" id="{F1D10F76-D586-5197-660A-A43E57AE8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sp>
        <p:nvSpPr>
          <p:cNvPr id="2052" name="Text Box 12">
            <a:extLst>
              <a:ext uri="{FF2B5EF4-FFF2-40B4-BE49-F238E27FC236}">
                <a16:creationId xmlns:a16="http://schemas.microsoft.com/office/drawing/2014/main" id="{05CB01B2-EB87-4F0E-BEFC-6D685B506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29375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i="1">
                <a:solidFill>
                  <a:srgbClr val="969696"/>
                </a:solidFill>
                <a:latin typeface="Arial" panose="020B0604020202020204" pitchFamily="34" charset="0"/>
              </a:rPr>
              <a:t>电子科技大学 宽带通信网络实验室</a:t>
            </a:r>
          </a:p>
        </p:txBody>
      </p:sp>
      <p:sp>
        <p:nvSpPr>
          <p:cNvPr id="2053" name="Line 15">
            <a:extLst>
              <a:ext uri="{FF2B5EF4-FFF2-40B4-BE49-F238E27FC236}">
                <a16:creationId xmlns:a16="http://schemas.microsoft.com/office/drawing/2014/main" id="{0D339B0F-D74C-F4AF-EDF0-307201E29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066800"/>
            <a:ext cx="7197725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Text Box 16">
            <a:extLst>
              <a:ext uri="{FF2B5EF4-FFF2-40B4-BE49-F238E27FC236}">
                <a16:creationId xmlns:a16="http://schemas.microsoft.com/office/drawing/2014/main" id="{E4361EAB-FC43-D8D6-3715-44830836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149B2B82-7126-0747-B1F7-A3D1BB78D073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B8950B8A-9AD0-D147-BDB7-6099C4F2DC62}" type="datetime1">
              <a:rPr lang="zh-CN" altLang="en-US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969696"/>
              </a:solidFill>
            </a:endParaRPr>
          </a:p>
        </p:txBody>
      </p:sp>
      <p:graphicFrame>
        <p:nvGraphicFramePr>
          <p:cNvPr id="2" name="Object 35">
            <a:extLst>
              <a:ext uri="{FF2B5EF4-FFF2-40B4-BE49-F238E27FC236}">
                <a16:creationId xmlns:a16="http://schemas.microsoft.com/office/drawing/2014/main" id="{549A5C61-071E-3470-9942-D2E2FB4D5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18288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832100" imgH="1663700" progId="">
                  <p:embed/>
                </p:oleObj>
              </mc:Choice>
              <mc:Fallback>
                <p:oleObj r:id="rId7" imgW="2832100" imgH="166370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18288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>
            <a:extLst>
              <a:ext uri="{FF2B5EF4-FFF2-40B4-BE49-F238E27FC236}">
                <a16:creationId xmlns:a16="http://schemas.microsoft.com/office/drawing/2014/main" id="{A47A1432-B3D5-F5AA-FD30-FF5262CFA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72200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zh-CN" i="1">
              <a:solidFill>
                <a:srgbClr val="000000"/>
              </a:solidFill>
            </a:endParaRPr>
          </a:p>
        </p:txBody>
      </p:sp>
      <p:sp>
        <p:nvSpPr>
          <p:cNvPr id="2058" name="Rectangle 11">
            <a:extLst>
              <a:ext uri="{FF2B5EF4-FFF2-40B4-BE49-F238E27FC236}">
                <a16:creationId xmlns:a16="http://schemas.microsoft.com/office/drawing/2014/main" id="{FF182733-0717-7B9A-862A-62F212D9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4600"/>
            <a:ext cx="9144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1" i="1">
              <a:solidFill>
                <a:srgbClr val="FFFFFF"/>
              </a:solidFill>
            </a:endParaRPr>
          </a:p>
        </p:txBody>
      </p:sp>
      <p:pic>
        <p:nvPicPr>
          <p:cNvPr id="3" name="Picture 14" descr="未命名">
            <a:extLst>
              <a:ext uri="{FF2B5EF4-FFF2-40B4-BE49-F238E27FC236}">
                <a16:creationId xmlns:a16="http://schemas.microsoft.com/office/drawing/2014/main" id="{EA5C98A0-8C82-7897-AFD4-C0AFD467B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46075"/>
            <a:ext cx="1319213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Line 15">
            <a:extLst>
              <a:ext uri="{FF2B5EF4-FFF2-40B4-BE49-F238E27FC236}">
                <a16:creationId xmlns:a16="http://schemas.microsoft.com/office/drawing/2014/main" id="{F7FB417E-BF39-B5C5-FD69-388AD8F1A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388" y="1066800"/>
            <a:ext cx="74660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2" name="Text Box 16">
            <a:extLst>
              <a:ext uri="{FF2B5EF4-FFF2-40B4-BE49-F238E27FC236}">
                <a16:creationId xmlns:a16="http://schemas.microsoft.com/office/drawing/2014/main" id="{2702838A-CE77-2CE1-0F46-F71B4153F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415088"/>
            <a:ext cx="28956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300" i="1">
                <a:solidFill>
                  <a:srgbClr val="969696"/>
                </a:solidFill>
              </a:rPr>
              <a:t>    </a:t>
            </a:r>
            <a:fld id="{5F69F809-099D-374A-BB65-37DF9E3290E5}" type="slidenum">
              <a:rPr lang="en-US" altLang="zh-CN" sz="1300" b="1" i="1">
                <a:solidFill>
                  <a:srgbClr val="969696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‹#›</a:t>
            </a:fld>
            <a:r>
              <a:rPr lang="en-US" altLang="zh-CN" i="1">
                <a:solidFill>
                  <a:srgbClr val="969696"/>
                </a:solidFill>
              </a:rPr>
              <a:t>                </a:t>
            </a:r>
            <a:fld id="{BA675749-5280-AF41-984D-F47C64F87C79}" type="datetime1">
              <a:rPr lang="zh-CN" altLang="en-US" b="1" i="1">
                <a:solidFill>
                  <a:srgbClr val="FFFFFF"/>
                </a:solidFill>
              </a:rPr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t>2026/3/2</a:t>
            </a:fld>
            <a:endParaRPr lang="en-US" altLang="zh-CN" b="1" i="1">
              <a:solidFill>
                <a:srgbClr val="FFFFFF"/>
              </a:solidFill>
            </a:endParaRPr>
          </a:p>
        </p:txBody>
      </p:sp>
      <p:graphicFrame>
        <p:nvGraphicFramePr>
          <p:cNvPr id="2061" name="Object 36">
            <a:extLst>
              <a:ext uri="{FF2B5EF4-FFF2-40B4-BE49-F238E27FC236}">
                <a16:creationId xmlns:a16="http://schemas.microsoft.com/office/drawing/2014/main" id="{8FF59D7C-EAB1-569D-A9DF-7A8655355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752600"/>
          <a:ext cx="6659563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832100" imgH="1663700" progId="">
                  <p:embed/>
                </p:oleObj>
              </mc:Choice>
              <mc:Fallback>
                <p:oleObj r:id="rId7" imgW="2832100" imgH="166370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52600"/>
                        <a:ext cx="6659563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>
            <a:extLst>
              <a:ext uri="{FF2B5EF4-FFF2-40B4-BE49-F238E27FC236}">
                <a16:creationId xmlns:a16="http://schemas.microsoft.com/office/drawing/2014/main" id="{9B95069A-3C4D-E066-AF62-00DDF8DB11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86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63" name="Rectangle 17">
            <a:extLst>
              <a:ext uri="{FF2B5EF4-FFF2-40B4-BE49-F238E27FC236}">
                <a16:creationId xmlns:a16="http://schemas.microsoft.com/office/drawing/2014/main" id="{31A9C9CA-7AB9-EFF5-7D4A-92606469DF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28600" y="1219200"/>
            <a:ext cx="86868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6" name="Rectangle 18">
            <a:extLst>
              <a:ext uri="{FF2B5EF4-FFF2-40B4-BE49-F238E27FC236}">
                <a16:creationId xmlns:a16="http://schemas.microsoft.com/office/drawing/2014/main" id="{9BB90337-034C-B744-5E0D-EB7A77ADFA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7" name="Rectangle 19">
            <a:extLst>
              <a:ext uri="{FF2B5EF4-FFF2-40B4-BE49-F238E27FC236}">
                <a16:creationId xmlns:a16="http://schemas.microsoft.com/office/drawing/2014/main" id="{38D4AAD5-C02A-AB10-1959-4AE2225CD7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8" name="Rectangle 20">
            <a:extLst>
              <a:ext uri="{FF2B5EF4-FFF2-40B4-BE49-F238E27FC236}">
                <a16:creationId xmlns:a16="http://schemas.microsoft.com/office/drawing/2014/main" id="{AAC63B86-BA4D-8C73-67D2-723885AA3E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400" i="1">
                <a:solidFill>
                  <a:srgbClr val="FFFFFF"/>
                </a:solidFill>
                <a:latin typeface="Comic Sans MS" panose="030F0902030302020204" pitchFamily="66" charset="0"/>
              </a:defRPr>
            </a:lvl1pPr>
          </a:lstStyle>
          <a:p>
            <a:fld id="{D3E541A2-51C4-8742-8A1B-9B2A343852CF}" type="slidenum">
              <a:rPr lang="zh-CN"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12" Type="http://schemas.openxmlformats.org/officeDocument/2006/relationships/image" Target="../media/image33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30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4.e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8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7.e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>
            <a:extLst>
              <a:ext uri="{FF2B5EF4-FFF2-40B4-BE49-F238E27FC236}">
                <a16:creationId xmlns:a16="http://schemas.microsoft.com/office/drawing/2014/main" id="{3BD7A3C3-7765-3A39-D7FB-DD00702C9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1620838"/>
            <a:ext cx="6629400" cy="235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3300" i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Chapter </a:t>
            </a:r>
            <a:r>
              <a:rPr lang="en-US" altLang="zh-CN" sz="3300" i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3300" i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Signal &amp; Signal Processing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3300" i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Why DSP</a:t>
            </a:r>
            <a:r>
              <a:rPr lang="zh-CN" altLang="en-US" sz="3300" i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>
            <a:extLst>
              <a:ext uri="{FF2B5EF4-FFF2-40B4-BE49-F238E27FC236}">
                <a16:creationId xmlns:a16="http://schemas.microsoft.com/office/drawing/2014/main" id="{9CB2A87A-6CBF-0268-F9AA-3C4B3577B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360363"/>
            <a:ext cx="8281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§1   Signals and Signal Processing</a:t>
            </a:r>
          </a:p>
        </p:txBody>
      </p:sp>
      <p:sp>
        <p:nvSpPr>
          <p:cNvPr id="11266" name="Rectangle 11">
            <a:extLst>
              <a:ext uri="{FF2B5EF4-FFF2-40B4-BE49-F238E27FC236}">
                <a16:creationId xmlns:a16="http://schemas.microsoft.com/office/drawing/2014/main" id="{BDAF0956-2409-2847-40EB-B4AA1426B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86264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Signals</a:t>
            </a:r>
            <a:r>
              <a:rPr lang="en-US" altLang="zh-CN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—the mathematical representation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functions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 one or more independent variables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1267" name="Rectangle 15">
            <a:extLst>
              <a:ext uri="{FF2B5EF4-FFF2-40B4-BE49-F238E27FC236}">
                <a16:creationId xmlns:a16="http://schemas.microsoft.com/office/drawing/2014/main" id="{B70B7660-B0A9-0E78-7826-E58E3B50D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28775"/>
            <a:ext cx="7918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Signals</a:t>
            </a:r>
            <a:r>
              <a:rPr lang="en-US" altLang="zh-CN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—generated by natural or technical means .</a:t>
            </a:r>
          </a:p>
        </p:txBody>
      </p:sp>
      <p:sp>
        <p:nvSpPr>
          <p:cNvPr id="11268" name="Rectangle 16">
            <a:extLst>
              <a:ext uri="{FF2B5EF4-FFF2-40B4-BE49-F238E27FC236}">
                <a16:creationId xmlns:a16="http://schemas.microsoft.com/office/drawing/2014/main" id="{B8AADCB2-DDEE-3861-8B33-F4039B718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55863"/>
            <a:ext cx="4451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Signals</a:t>
            </a:r>
            <a:r>
              <a:rPr lang="en-US" altLang="zh-CN">
                <a:solidFill>
                  <a:srgbClr val="06070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—carry information.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/>
      <p:bldP spid="112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">
            <a:extLst>
              <a:ext uri="{FF2B5EF4-FFF2-40B4-BE49-F238E27FC236}">
                <a16:creationId xmlns:a16="http://schemas.microsoft.com/office/drawing/2014/main" id="{3BA0DB04-23C0-32DE-2B3D-A05655A3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196975"/>
            <a:ext cx="593090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1-D signal   A speech </a:t>
            </a:r>
            <a:r>
              <a:rPr lang="en-US" altLang="zh-CN" sz="2800">
                <a:solidFill>
                  <a:schemeClr val="bg1"/>
                </a:solidFill>
                <a:latin typeface="Times New Roman" panose="02020603050405020304" pitchFamily="18" charset="0"/>
              </a:rPr>
              <a:t>A Speech Signal</a:t>
            </a:r>
          </a:p>
        </p:txBody>
      </p:sp>
      <p:pic>
        <p:nvPicPr>
          <p:cNvPr id="12290" name="Picture 5" descr="未定标题1">
            <a:extLst>
              <a:ext uri="{FF2B5EF4-FFF2-40B4-BE49-F238E27FC236}">
                <a16:creationId xmlns:a16="http://schemas.microsoft.com/office/drawing/2014/main" id="{6A7D50D9-BEE1-5034-AF3F-02520FE99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844675"/>
            <a:ext cx="667702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6">
            <a:extLst>
              <a:ext uri="{FF2B5EF4-FFF2-40B4-BE49-F238E27FC236}">
                <a16:creationId xmlns:a16="http://schemas.microsoft.com/office/drawing/2014/main" id="{46F019A5-3C20-0050-0D92-24D59575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graphicFrame>
        <p:nvGraphicFramePr>
          <p:cNvPr id="113671" name="Object 7">
            <a:extLst>
              <a:ext uri="{FF2B5EF4-FFF2-40B4-BE49-F238E27FC236}">
                <a16:creationId xmlns:a16="http://schemas.microsoft.com/office/drawing/2014/main" id="{4F71D725-3295-8450-7FA2-392F1220D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1563" y="1196975"/>
          <a:ext cx="7921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438900" imgH="4686300" progId="Equation.3">
                  <p:embed/>
                </p:oleObj>
              </mc:Choice>
              <mc:Fallback>
                <p:oleObj r:id="rId4" imgW="6438900" imgH="4686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1196975"/>
                        <a:ext cx="7921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未定标题2">
            <a:extLst>
              <a:ext uri="{FF2B5EF4-FFF2-40B4-BE49-F238E27FC236}">
                <a16:creationId xmlns:a16="http://schemas.microsoft.com/office/drawing/2014/main" id="{1A94B128-5ECD-86B6-35AF-A4D1D9031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205038"/>
            <a:ext cx="5516563" cy="401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5">
            <a:extLst>
              <a:ext uri="{FF2B5EF4-FFF2-40B4-BE49-F238E27FC236}">
                <a16:creationId xmlns:a16="http://schemas.microsoft.com/office/drawing/2014/main" id="{05556513-E3CF-4839-531A-3E0D62321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341438"/>
            <a:ext cx="4464050" cy="60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2-D signal      An image</a:t>
            </a:r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69C49633-7A0E-8A76-460B-63594E208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graphicFrame>
        <p:nvGraphicFramePr>
          <p:cNvPr id="111623" name="Object 7">
            <a:extLst>
              <a:ext uri="{FF2B5EF4-FFF2-40B4-BE49-F238E27FC236}">
                <a16:creationId xmlns:a16="http://schemas.microsoft.com/office/drawing/2014/main" id="{3438F38C-2DE8-1FA6-3D41-B9F318170B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5238" y="1293813"/>
          <a:ext cx="13684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12500" imgH="4686300" progId="Equation.3">
                  <p:embed/>
                </p:oleObj>
              </mc:Choice>
              <mc:Fallback>
                <p:oleObj r:id="rId4" imgW="11112500" imgH="4686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1293813"/>
                        <a:ext cx="13684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6" name="图片 5" descr="校徽.png">
            <a:extLst>
              <a:ext uri="{FF2B5EF4-FFF2-40B4-BE49-F238E27FC236}">
                <a16:creationId xmlns:a16="http://schemas.microsoft.com/office/drawing/2014/main" id="{CAE17720-32B4-35FD-5A74-1DEBF5E81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1">
            <a:extLst>
              <a:ext uri="{FF2B5EF4-FFF2-40B4-BE49-F238E27FC236}">
                <a16:creationId xmlns:a16="http://schemas.microsoft.com/office/drawing/2014/main" id="{B1E6B935-5580-E25D-1E25-8102585EC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4797425"/>
            <a:ext cx="15351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Disccusion: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Represent a video as a function 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43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A877EFF-7146-2A6F-E0D3-5F016677D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12B52059-498F-9CEF-AF55-732724254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9500"/>
            <a:ext cx="9150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Continous-time signal</a:t>
            </a: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—continuous independent variables 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93E511E6-AF6C-F220-32CC-7A45AF2B4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341438"/>
            <a:ext cx="8029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§1.1 Characterization and Classification of Signals</a:t>
            </a:r>
          </a:p>
        </p:txBody>
      </p:sp>
      <p:pic>
        <p:nvPicPr>
          <p:cNvPr id="16388" name="Picture 12" descr="未定标题4">
            <a:extLst>
              <a:ext uri="{FF2B5EF4-FFF2-40B4-BE49-F238E27FC236}">
                <a16:creationId xmlns:a16="http://schemas.microsoft.com/office/drawing/2014/main" id="{1835A555-75DE-41A4-7859-CC486F01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248025"/>
            <a:ext cx="6840537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5" descr="未定标题5">
            <a:extLst>
              <a:ext uri="{FF2B5EF4-FFF2-40B4-BE49-F238E27FC236}">
                <a16:creationId xmlns:a16="http://schemas.microsoft.com/office/drawing/2014/main" id="{CACBC095-5D3F-CEE0-F4F5-FFD193B4B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851150"/>
            <a:ext cx="6338888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6">
            <a:extLst>
              <a:ext uri="{FF2B5EF4-FFF2-40B4-BE49-F238E27FC236}">
                <a16:creationId xmlns:a16="http://schemas.microsoft.com/office/drawing/2014/main" id="{47814994-ACA1-9F98-BC19-352DEE33E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sp>
        <p:nvSpPr>
          <p:cNvPr id="17411" name="Rectangle 9">
            <a:extLst>
              <a:ext uri="{FF2B5EF4-FFF2-40B4-BE49-F238E27FC236}">
                <a16:creationId xmlns:a16="http://schemas.microsoft.com/office/drawing/2014/main" id="{700EED4D-8716-8DFB-E04F-B705DE4E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60575"/>
            <a:ext cx="8259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Discrete-time signal</a:t>
            </a: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—discrete independent variables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5364204-AA24-053C-F541-FF4C3A2AA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sp>
        <p:nvSpPr>
          <p:cNvPr id="19458" name="Rectangle 10">
            <a:extLst>
              <a:ext uri="{FF2B5EF4-FFF2-40B4-BE49-F238E27FC236}">
                <a16:creationId xmlns:a16="http://schemas.microsoft.com/office/drawing/2014/main" id="{65014039-CB7C-9D6F-C1EF-8F127654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60575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Analog  signals</a:t>
            </a: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—     </a:t>
            </a:r>
            <a:r>
              <a:rPr lang="en-US" altLang="zh-CN" sz="2800" b="1">
                <a:latin typeface="Times New Roman" panose="02020603050405020304" pitchFamily="18" charset="0"/>
              </a:rPr>
              <a:t>Continous-time signal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                     with continuous amplitude.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Rectangle 11">
            <a:extLst>
              <a:ext uri="{FF2B5EF4-FFF2-40B4-BE49-F238E27FC236}">
                <a16:creationId xmlns:a16="http://schemas.microsoft.com/office/drawing/2014/main" id="{B7A0F532-FD4E-6EC2-D0DF-D23B98C2F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3"/>
            <a:ext cx="81359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Digital signals</a:t>
            </a:r>
            <a:r>
              <a:rPr lang="en-US" altLang="zh-CN" sz="2800" b="1">
                <a:solidFill>
                  <a:srgbClr val="06070E"/>
                </a:solidFill>
                <a:latin typeface="Times New Roman" panose="02020603050405020304" pitchFamily="18" charset="0"/>
              </a:rPr>
              <a:t>—     </a:t>
            </a:r>
            <a:r>
              <a:rPr lang="en-US" altLang="zh-CN" sz="2800" b="1">
                <a:latin typeface="Times New Roman" panose="02020603050405020304" pitchFamily="18" charset="0"/>
              </a:rPr>
              <a:t>Discrete-time signal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                      with Discrete-valued amplitudes.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Rectangle 13">
            <a:extLst>
              <a:ext uri="{FF2B5EF4-FFF2-40B4-BE49-F238E27FC236}">
                <a16:creationId xmlns:a16="http://schemas.microsoft.com/office/drawing/2014/main" id="{EDD1644D-1211-7181-F09C-9AC6A3E6E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652963"/>
            <a:ext cx="3525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(quantized the values)</a:t>
            </a:r>
          </a:p>
        </p:txBody>
      </p:sp>
      <p:sp>
        <p:nvSpPr>
          <p:cNvPr id="19461" name="矩形 1">
            <a:extLst>
              <a:ext uri="{FF2B5EF4-FFF2-40B4-BE49-F238E27FC236}">
                <a16:creationId xmlns:a16="http://schemas.microsoft.com/office/drawing/2014/main" id="{89F5E974-CFCD-209A-4015-627D8884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003550"/>
            <a:ext cx="375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(values of real number)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9" grpId="0"/>
      <p:bldP spid="19460" grpId="0"/>
      <p:bldP spid="194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FA666ED-B71B-F96D-3C39-FF8C6B120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081C2EAA-7D34-6F84-8CCC-C832AA6EB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51656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How can we </a:t>
            </a:r>
            <a:r>
              <a:rPr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</a:rPr>
              <a:t>quantize</a:t>
            </a:r>
            <a:r>
              <a:rPr lang="en-US" altLang="zh-CN" sz="2800" b="1">
                <a:latin typeface="Times New Roman" panose="02020603050405020304" pitchFamily="18" charset="0"/>
              </a:rPr>
              <a:t> the values of signal?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532" name="Object 8">
            <a:extLst>
              <a:ext uri="{FF2B5EF4-FFF2-40B4-BE49-F238E27FC236}">
                <a16:creationId xmlns:a16="http://schemas.microsoft.com/office/drawing/2014/main" id="{026EB386-7430-5C96-971C-122A67DD5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068638"/>
          <a:ext cx="4392613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583400" imgH="10312400" progId="SmartDraw.2">
                  <p:embed/>
                </p:oleObj>
              </mc:Choice>
              <mc:Fallback>
                <p:oleObj r:id="rId3" imgW="19583400" imgH="10312400" progId="SmartDraw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4392613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9">
            <a:extLst>
              <a:ext uri="{FF2B5EF4-FFF2-40B4-BE49-F238E27FC236}">
                <a16:creationId xmlns:a16="http://schemas.microsoft.com/office/drawing/2014/main" id="{4A9374CE-D09B-544B-AFD0-05FE06BAE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6263" y="2025650"/>
          <a:ext cx="525938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4183300" imgH="5270500" progId="Equation.3">
                  <p:embed/>
                </p:oleObj>
              </mc:Choice>
              <mc:Fallback>
                <p:oleObj name="公式" r:id="rId5" imgW="44183300" imgH="5270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2025650"/>
                        <a:ext cx="5259387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11">
            <a:extLst>
              <a:ext uri="{FF2B5EF4-FFF2-40B4-BE49-F238E27FC236}">
                <a16:creationId xmlns:a16="http://schemas.microsoft.com/office/drawing/2014/main" id="{EE1515A7-B715-BE5E-A4D5-1867C8CE0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268413"/>
            <a:ext cx="3997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the real values of amplitudes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F2EE037-93A3-5ACA-817C-9D7E56534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graphicFrame>
        <p:nvGraphicFramePr>
          <p:cNvPr id="23554" name="Object 6">
            <a:extLst>
              <a:ext uri="{FF2B5EF4-FFF2-40B4-BE49-F238E27FC236}">
                <a16:creationId xmlns:a16="http://schemas.microsoft.com/office/drawing/2014/main" id="{EC8CDB48-0668-4B5F-D278-E7E0DED2F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636838"/>
          <a:ext cx="2890837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282400" imgH="5270500" progId="Equation.3">
                  <p:embed/>
                </p:oleObj>
              </mc:Choice>
              <mc:Fallback>
                <p:oleObj r:id="rId3" imgW="24282400" imgH="5270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636838"/>
                        <a:ext cx="2890837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7">
            <a:extLst>
              <a:ext uri="{FF2B5EF4-FFF2-40B4-BE49-F238E27FC236}">
                <a16:creationId xmlns:a16="http://schemas.microsoft.com/office/drawing/2014/main" id="{0D706965-64AB-4F8E-1849-C31D92EDB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284538"/>
          <a:ext cx="2960687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866600" imgH="5270500" progId="Equation.3">
                  <p:embed/>
                </p:oleObj>
              </mc:Choice>
              <mc:Fallback>
                <p:oleObj r:id="rId5" imgW="24866600" imgH="5270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284538"/>
                        <a:ext cx="2960687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9">
            <a:extLst>
              <a:ext uri="{FF2B5EF4-FFF2-40B4-BE49-F238E27FC236}">
                <a16:creationId xmlns:a16="http://schemas.microsoft.com/office/drawing/2014/main" id="{6B458D64-A2A0-38BB-D64F-6BE49D323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636838"/>
            <a:ext cx="2190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by </a:t>
            </a:r>
            <a:r>
              <a:rPr lang="en-US" altLang="zh-CN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truncation</a:t>
            </a:r>
            <a:endParaRPr lang="zh-CN" altLang="en-US" sz="2800" b="1" i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Rectangle 11">
            <a:extLst>
              <a:ext uri="{FF2B5EF4-FFF2-40B4-BE49-F238E27FC236}">
                <a16:creationId xmlns:a16="http://schemas.microsoft.com/office/drawing/2014/main" id="{38794975-20F3-3C6A-77E4-443237E54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89138"/>
            <a:ext cx="6938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If the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quantization step </a:t>
            </a:r>
            <a:r>
              <a:rPr lang="en-US" altLang="zh-CN" sz="2800" b="1">
                <a:latin typeface="Times New Roman" panose="02020603050405020304" pitchFamily="18" charset="0"/>
              </a:rPr>
              <a:t>we chosed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is 1,we get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3558" name="Rectangle 12">
            <a:extLst>
              <a:ext uri="{FF2B5EF4-FFF2-40B4-BE49-F238E27FC236}">
                <a16:creationId xmlns:a16="http://schemas.microsoft.com/office/drawing/2014/main" id="{31014E7A-F292-F967-9E8B-2FDC57A2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213100"/>
            <a:ext cx="2014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by </a:t>
            </a:r>
            <a:r>
              <a:rPr lang="en-US" altLang="zh-CN" sz="28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rounding</a:t>
            </a:r>
            <a:endParaRPr lang="zh-CN" altLang="en-US" sz="2800" b="1" i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59" name="Object 17">
            <a:extLst>
              <a:ext uri="{FF2B5EF4-FFF2-40B4-BE49-F238E27FC236}">
                <a16:creationId xmlns:a16="http://schemas.microsoft.com/office/drawing/2014/main" id="{CE78E782-3A97-7912-F1F5-92A816F90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5900" y="4197350"/>
          <a:ext cx="5257800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459700" imgH="10312400" progId="SmartDraw.2">
                  <p:embed/>
                </p:oleObj>
              </mc:Choice>
              <mc:Fallback>
                <p:oleObj r:id="rId7" imgW="20459700" imgH="10312400" progId="SmartDraw.2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197350"/>
                        <a:ext cx="5257800" cy="264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8">
            <a:extLst>
              <a:ext uri="{FF2B5EF4-FFF2-40B4-BE49-F238E27FC236}">
                <a16:creationId xmlns:a16="http://schemas.microsoft.com/office/drawing/2014/main" id="{43C7E89E-CBA7-950F-DBAE-0D5C1BC70F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138613"/>
          <a:ext cx="47021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9497000" imgH="4686300" progId="Equation.3">
                  <p:embed/>
                </p:oleObj>
              </mc:Choice>
              <mc:Fallback>
                <p:oleObj r:id="rId9" imgW="39497000" imgH="4686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38613"/>
                        <a:ext cx="47021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13">
            <a:extLst>
              <a:ext uri="{FF2B5EF4-FFF2-40B4-BE49-F238E27FC236}">
                <a16:creationId xmlns:a16="http://schemas.microsoft.com/office/drawing/2014/main" id="{60AAC307-25C8-ABC5-F56B-7F72A7192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08275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Digits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3562" name="Rectangle 15">
            <a:extLst>
              <a:ext uri="{FF2B5EF4-FFF2-40B4-BE49-F238E27FC236}">
                <a16:creationId xmlns:a16="http://schemas.microsoft.com/office/drawing/2014/main" id="{6452CE3F-3989-D9FB-2DF0-602EDFE90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7563"/>
            <a:ext cx="1073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Digits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23557" grpId="0"/>
      <p:bldP spid="23558" grpId="0"/>
      <p:bldP spid="23561" grpId="0"/>
      <p:bldP spid="235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E1DE6979-C5C7-1D95-91C6-A237BAC5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graphicFrame>
        <p:nvGraphicFramePr>
          <p:cNvPr id="25602" name="Object 4">
            <a:extLst>
              <a:ext uri="{FF2B5EF4-FFF2-40B4-BE49-F238E27FC236}">
                <a16:creationId xmlns:a16="http://schemas.microsoft.com/office/drawing/2014/main" id="{59B04990-138A-AAF5-50B1-D267840A7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2924175"/>
          <a:ext cx="574833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8272700" imgH="5270500" progId="Equation.3">
                  <p:embed/>
                </p:oleObj>
              </mc:Choice>
              <mc:Fallback>
                <p:oleObj r:id="rId3" imgW="48272700" imgH="5270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2924175"/>
                        <a:ext cx="574833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7">
            <a:extLst>
              <a:ext uri="{FF2B5EF4-FFF2-40B4-BE49-F238E27FC236}">
                <a16:creationId xmlns:a16="http://schemas.microsoft.com/office/drawing/2014/main" id="{ED403217-724C-BEA9-F3A3-609C767DE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989138"/>
            <a:ext cx="669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The representation of digits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  in binary form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5604" name="Rectangle 12">
            <a:extLst>
              <a:ext uri="{FF2B5EF4-FFF2-40B4-BE49-F238E27FC236}">
                <a16:creationId xmlns:a16="http://schemas.microsoft.com/office/drawing/2014/main" id="{14F3BB23-18C6-9F8D-B267-67F676850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026150"/>
            <a:ext cx="4694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The</a:t>
            </a:r>
            <a:r>
              <a:rPr lang="en-US" altLang="zh-CN" sz="2800" b="1" i="1">
                <a:solidFill>
                  <a:srgbClr val="3333CC"/>
                </a:solidFill>
                <a:latin typeface="Times New Roman" panose="02020603050405020304" pitchFamily="18" charset="0"/>
              </a:rPr>
              <a:t> Finite Wordlength Effects</a:t>
            </a:r>
            <a:endParaRPr lang="zh-CN" altLang="en-US" sz="2800" b="1" i="1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Rectangle 13">
            <a:extLst>
              <a:ext uri="{FF2B5EF4-FFF2-40B4-BE49-F238E27FC236}">
                <a16:creationId xmlns:a16="http://schemas.microsoft.com/office/drawing/2014/main" id="{6A5F7327-7F10-5659-7C5D-DC83F5F5E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997200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by truncation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25606" name="Object 4">
            <a:extLst>
              <a:ext uri="{FF2B5EF4-FFF2-40B4-BE49-F238E27FC236}">
                <a16:creationId xmlns:a16="http://schemas.microsoft.com/office/drawing/2014/main" id="{78D6C78C-7C45-E2FD-CA3D-74CAD0E73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375" y="3582988"/>
          <a:ext cx="5783263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8564800" imgH="5270500" progId="Equation.3">
                  <p:embed/>
                </p:oleObj>
              </mc:Choice>
              <mc:Fallback>
                <p:oleObj r:id="rId5" imgW="48564800" imgH="5270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3582988"/>
                        <a:ext cx="5783263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3">
            <a:extLst>
              <a:ext uri="{FF2B5EF4-FFF2-40B4-BE49-F238E27FC236}">
                <a16:creationId xmlns:a16="http://schemas.microsoft.com/office/drawing/2014/main" id="{88DBB735-5AD0-D467-4A80-E720017E0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388" y="3563938"/>
            <a:ext cx="20653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by rounding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pSp>
        <p:nvGrpSpPr>
          <p:cNvPr id="25608" name="组合 1">
            <a:extLst>
              <a:ext uri="{FF2B5EF4-FFF2-40B4-BE49-F238E27FC236}">
                <a16:creationId xmlns:a16="http://schemas.microsoft.com/office/drawing/2014/main" id="{68FABD8C-878D-0ACF-F548-950611269757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313238"/>
            <a:ext cx="7942262" cy="1116012"/>
            <a:chOff x="827088" y="4312692"/>
            <a:chExt cx="7942235" cy="1116326"/>
          </a:xfrm>
        </p:grpSpPr>
        <p:graphicFrame>
          <p:nvGraphicFramePr>
            <p:cNvPr id="26634" name="Object 4">
              <a:extLst>
                <a:ext uri="{FF2B5EF4-FFF2-40B4-BE49-F238E27FC236}">
                  <a16:creationId xmlns:a16="http://schemas.microsoft.com/office/drawing/2014/main" id="{68531B62-5B3E-5FC6-0B96-19132BEDB0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87660" y="4312692"/>
            <a:ext cx="1185863" cy="627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944100" imgH="5270500" progId="Equation.3">
                    <p:embed/>
                  </p:oleObj>
                </mc:Choice>
                <mc:Fallback>
                  <p:oleObj r:id="rId7" imgW="99441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660" y="4312692"/>
                          <a:ext cx="1185863" cy="627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5" name="Rectangle 11">
              <a:extLst>
                <a:ext uri="{FF2B5EF4-FFF2-40B4-BE49-F238E27FC236}">
                  <a16:creationId xmlns:a16="http://schemas.microsoft.com/office/drawing/2014/main" id="{1BAE5231-8190-20CE-35A9-A4A9A0FBD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088" y="4552237"/>
              <a:ext cx="352742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The values of </a:t>
              </a:r>
              <a:endParaRPr lang="zh-CN" altLang="en-US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36" name="Object 4">
              <a:extLst>
                <a:ext uri="{FF2B5EF4-FFF2-40B4-BE49-F238E27FC236}">
                  <a16:creationId xmlns:a16="http://schemas.microsoft.com/office/drawing/2014/main" id="{E215AF9A-41D0-9483-B0B3-B926DDAE81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13623" y="4476941"/>
            <a:ext cx="801687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731000" imgH="4686300" progId="Equation.3">
                    <p:embed/>
                  </p:oleObj>
                </mc:Choice>
                <mc:Fallback>
                  <p:oleObj r:id="rId9" imgW="6731000" imgH="4686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23" y="4476941"/>
                          <a:ext cx="801687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Rectangle 16">
              <a:extLst>
                <a:ext uri="{FF2B5EF4-FFF2-40B4-BE49-F238E27FC236}">
                  <a16:creationId xmlns:a16="http://schemas.microsoft.com/office/drawing/2014/main" id="{66DFBEC4-9815-B585-AC74-3D5D92C85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898" y="4513453"/>
              <a:ext cx="352742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The values of </a:t>
              </a:r>
              <a:endParaRPr lang="zh-CN" altLang="en-US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38" name="Object 4">
              <a:extLst>
                <a:ext uri="{FF2B5EF4-FFF2-40B4-BE49-F238E27FC236}">
                  <a16:creationId xmlns:a16="http://schemas.microsoft.com/office/drawing/2014/main" id="{DB3469C6-F420-B4E0-0730-10967839E9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6711" y="4442016"/>
            <a:ext cx="658812" cy="658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3213100" imgH="3213100" progId="Equation.3">
                    <p:embed/>
                  </p:oleObj>
                </mc:Choice>
                <mc:Fallback>
                  <p:oleObj r:id="rId11" imgW="3213100" imgH="32131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6711" y="4442016"/>
                          <a:ext cx="658812" cy="658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9" name="Object 4">
              <a:extLst>
                <a:ext uri="{FF2B5EF4-FFF2-40B4-BE49-F238E27FC236}">
                  <a16:creationId xmlns:a16="http://schemas.microsoft.com/office/drawing/2014/main" id="{9EA03A2D-DB63-FB37-1F7D-D5880B3D3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785" y="4801956"/>
            <a:ext cx="1185863" cy="627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9944100" imgH="5270500" progId="Equation.3">
                    <p:embed/>
                  </p:oleObj>
                </mc:Choice>
                <mc:Fallback>
                  <p:oleObj r:id="rId13" imgW="99441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785" y="4801956"/>
                          <a:ext cx="1185863" cy="627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4" grpId="0"/>
      <p:bldP spid="25605" grpId="0"/>
      <p:bldP spid="256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471D504-D017-694F-DBC5-70C69251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graphicFrame>
        <p:nvGraphicFramePr>
          <p:cNvPr id="27650" name="Object 10">
            <a:extLst>
              <a:ext uri="{FF2B5EF4-FFF2-40B4-BE49-F238E27FC236}">
                <a16:creationId xmlns:a16="http://schemas.microsoft.com/office/drawing/2014/main" id="{7DE7E7C5-9413-D00B-4C90-7474DE4DD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708275"/>
          <a:ext cx="3802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452300" imgH="5270500" progId="Equation.3">
                  <p:embed/>
                </p:oleObj>
              </mc:Choice>
              <mc:Fallback>
                <p:oleObj r:id="rId3" imgW="37452300" imgH="527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08275"/>
                        <a:ext cx="380206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11">
            <a:extLst>
              <a:ext uri="{FF2B5EF4-FFF2-40B4-BE49-F238E27FC236}">
                <a16:creationId xmlns:a16="http://schemas.microsoft.com/office/drawing/2014/main" id="{FABD3A39-BCF1-875C-831C-4B1DE49AD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16113"/>
            <a:ext cx="7383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If the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quantization step </a:t>
            </a:r>
            <a:r>
              <a:rPr lang="en-US" altLang="zh-CN" sz="2800" b="1">
                <a:latin typeface="Times New Roman" panose="02020603050405020304" pitchFamily="18" charset="0"/>
              </a:rPr>
              <a:t>we chosed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is 0.01,we get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27652" name="Object 12">
            <a:extLst>
              <a:ext uri="{FF2B5EF4-FFF2-40B4-BE49-F238E27FC236}">
                <a16:creationId xmlns:a16="http://schemas.microsoft.com/office/drawing/2014/main" id="{7ABAEC71-8173-2D43-99A9-B1E388732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357563"/>
          <a:ext cx="6553200" cy="330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459700" imgH="10312400" progId="SmartDraw.2">
                  <p:embed/>
                </p:oleObj>
              </mc:Choice>
              <mc:Fallback>
                <p:oleObj r:id="rId5" imgW="20459700" imgH="10312400" progId="SmartDraw.2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57563"/>
                        <a:ext cx="6553200" cy="330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18">
            <a:extLst>
              <a:ext uri="{FF2B5EF4-FFF2-40B4-BE49-F238E27FC236}">
                <a16:creationId xmlns:a16="http://schemas.microsoft.com/office/drawing/2014/main" id="{5696C98D-F77C-15B1-769D-4DFCAB5AB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08275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Digits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318AFAB-F2E9-00AC-3182-550F04C14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sp>
        <p:nvSpPr>
          <p:cNvPr id="29698" name="Rectangle 11">
            <a:extLst>
              <a:ext uri="{FF2B5EF4-FFF2-40B4-BE49-F238E27FC236}">
                <a16:creationId xmlns:a16="http://schemas.microsoft.com/office/drawing/2014/main" id="{A5D40FA4-903F-CBEB-4739-9F2BF0F2B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3900488"/>
            <a:ext cx="870585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A digital signal could be considered that it’s the same as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a discrete-time signal.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29699" name="Object 10">
            <a:extLst>
              <a:ext uri="{FF2B5EF4-FFF2-40B4-BE49-F238E27FC236}">
                <a16:creationId xmlns:a16="http://schemas.microsoft.com/office/drawing/2014/main" id="{8F266B20-8069-8FE6-DA7F-C2C5540AB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924175"/>
          <a:ext cx="62087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150500" imgH="4686300" progId="Equation.3">
                  <p:embed/>
                </p:oleObj>
              </mc:Choice>
              <mc:Fallback>
                <p:oleObj r:id="rId3" imgW="61150500" imgH="4686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24175"/>
                        <a:ext cx="62087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0" name="Group 12">
            <a:extLst>
              <a:ext uri="{FF2B5EF4-FFF2-40B4-BE49-F238E27FC236}">
                <a16:creationId xmlns:a16="http://schemas.microsoft.com/office/drawing/2014/main" id="{B8005277-CEC6-FEE6-C6CA-8F5008EEB075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060575"/>
            <a:ext cx="3352800" cy="627063"/>
            <a:chOff x="158" y="1298"/>
            <a:chExt cx="2112" cy="395"/>
          </a:xfrm>
        </p:grpSpPr>
        <p:graphicFrame>
          <p:nvGraphicFramePr>
            <p:cNvPr id="30727" name="Object 4">
              <a:extLst>
                <a:ext uri="{FF2B5EF4-FFF2-40B4-BE49-F238E27FC236}">
                  <a16:creationId xmlns:a16="http://schemas.microsoft.com/office/drawing/2014/main" id="{C8615B6A-7E61-751E-364A-68BB16B470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1298"/>
            <a:ext cx="615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191500" imgH="5270500" progId="Equation.3">
                    <p:embed/>
                  </p:oleObj>
                </mc:Choice>
                <mc:Fallback>
                  <p:oleObj r:id="rId5" imgW="81915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298"/>
                          <a:ext cx="615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8" name="Rectangle 11">
              <a:extLst>
                <a:ext uri="{FF2B5EF4-FFF2-40B4-BE49-F238E27FC236}">
                  <a16:creationId xmlns:a16="http://schemas.microsoft.com/office/drawing/2014/main" id="{4CE32279-DB5D-3D9E-BC0D-6BC977ECB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1344"/>
              <a:ext cx="14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The values of </a:t>
              </a:r>
              <a:endParaRPr lang="zh-CN" altLang="en-US" sz="28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9703" name="Rectangle 14">
            <a:extLst>
              <a:ext uri="{FF2B5EF4-FFF2-40B4-BE49-F238E27FC236}">
                <a16:creationId xmlns:a16="http://schemas.microsoft.com/office/drawing/2014/main" id="{67D7895A-06F6-882D-56DA-5CCC295F5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084763"/>
            <a:ext cx="468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(with the</a:t>
            </a:r>
            <a:r>
              <a:rPr lang="en-US" altLang="zh-CN" sz="2800" b="1" i="1">
                <a:solidFill>
                  <a:srgbClr val="3333CC"/>
                </a:solidFill>
                <a:latin typeface="Times New Roman" panose="02020603050405020304" pitchFamily="18" charset="0"/>
              </a:rPr>
              <a:t> Infinite Wordlength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C0930E6-44FB-E3BD-6C23-F653955E1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0063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  <a:endParaRPr lang="en-US" altLang="zh-CN" sz="40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72FBE66-622D-A8FC-182D-49CE49916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268413"/>
            <a:ext cx="7739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§1.2 Typical Signal Processing and Applications </a:t>
            </a:r>
          </a:p>
        </p:txBody>
      </p:sp>
      <p:pic>
        <p:nvPicPr>
          <p:cNvPr id="32772" name="图片 5" descr="校徽.png">
            <a:extLst>
              <a:ext uri="{FF2B5EF4-FFF2-40B4-BE49-F238E27FC236}">
                <a16:creationId xmlns:a16="http://schemas.microsoft.com/office/drawing/2014/main" id="{C19BD7E0-DCC0-E698-8046-AA293EC3A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17">
            <a:extLst>
              <a:ext uri="{FF2B5EF4-FFF2-40B4-BE49-F238E27FC236}">
                <a16:creationId xmlns:a16="http://schemas.microsoft.com/office/drawing/2014/main" id="{F64C6309-E0E3-1BB1-16B9-785E93F4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2038350"/>
            <a:ext cx="677068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Signal Processing</a:t>
            </a: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zh-CN" b="1">
                <a:solidFill>
                  <a:srgbClr val="06070E"/>
                </a:solidFill>
                <a:latin typeface="Times New Roman" panose="02020603050405020304" pitchFamily="18" charset="0"/>
              </a:rPr>
              <a:t>to extract useful information</a:t>
            </a: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zh-CN" b="1">
                <a:solidFill>
                  <a:srgbClr val="06070E"/>
                </a:solidFill>
                <a:latin typeface="Times New Roman" panose="02020603050405020304" pitchFamily="18" charset="0"/>
              </a:rPr>
              <a:t>to change signals for desired purpose</a:t>
            </a: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Char char="Ø"/>
            </a:pPr>
            <a:r>
              <a:rPr lang="en-US" altLang="zh-CN" b="1">
                <a:solidFill>
                  <a:srgbClr val="06070E"/>
                </a:solidFill>
                <a:latin typeface="Times New Roman" panose="02020603050405020304" pitchFamily="18" charset="0"/>
              </a:rPr>
              <a:t>normally work as a system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774" name="Group 8">
            <a:extLst>
              <a:ext uri="{FF2B5EF4-FFF2-40B4-BE49-F238E27FC236}">
                <a16:creationId xmlns:a16="http://schemas.microsoft.com/office/drawing/2014/main" id="{BB940272-2986-B3E9-7FB5-A86A9FBB0340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076700"/>
            <a:ext cx="8642350" cy="1501775"/>
            <a:chOff x="158" y="1717"/>
            <a:chExt cx="5444" cy="946"/>
          </a:xfrm>
        </p:grpSpPr>
        <p:sp>
          <p:nvSpPr>
            <p:cNvPr id="32775" name="AutoShape 9">
              <a:extLst>
                <a:ext uri="{FF2B5EF4-FFF2-40B4-BE49-F238E27FC236}">
                  <a16:creationId xmlns:a16="http://schemas.microsoft.com/office/drawing/2014/main" id="{30DF7540-A6F6-F4B1-EAD7-CBBDB86A8E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8" y="1717"/>
              <a:ext cx="5444" cy="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6" name="Line 10">
              <a:extLst>
                <a:ext uri="{FF2B5EF4-FFF2-40B4-BE49-F238E27FC236}">
                  <a16:creationId xmlns:a16="http://schemas.microsoft.com/office/drawing/2014/main" id="{FEBA908A-6C08-933E-CD36-E5A8A4A61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205"/>
              <a:ext cx="398" cy="1"/>
            </a:xfrm>
            <a:prstGeom prst="line">
              <a:avLst/>
            </a:prstGeom>
            <a:noFill/>
            <a:ln w="492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Freeform 11">
              <a:extLst>
                <a:ext uri="{FF2B5EF4-FFF2-40B4-BE49-F238E27FC236}">
                  <a16:creationId xmlns:a16="http://schemas.microsoft.com/office/drawing/2014/main" id="{52A22132-5875-1668-80C7-9C017B791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0" y="2123"/>
              <a:ext cx="187" cy="137"/>
            </a:xfrm>
            <a:custGeom>
              <a:avLst/>
              <a:gdLst>
                <a:gd name="T0" fmla="*/ 0 w 198"/>
                <a:gd name="T1" fmla="*/ 0 h 166"/>
                <a:gd name="T2" fmla="*/ 149 w 198"/>
                <a:gd name="T3" fmla="*/ 31 h 166"/>
                <a:gd name="T4" fmla="*/ 0 w 198"/>
                <a:gd name="T5" fmla="*/ 64 h 166"/>
                <a:gd name="T6" fmla="*/ 0 w 198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8" h="166">
                  <a:moveTo>
                    <a:pt x="0" y="0"/>
                  </a:moveTo>
                  <a:lnTo>
                    <a:pt x="198" y="81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Rectangle 12">
              <a:extLst>
                <a:ext uri="{FF2B5EF4-FFF2-40B4-BE49-F238E27FC236}">
                  <a16:creationId xmlns:a16="http://schemas.microsoft.com/office/drawing/2014/main" id="{4A967FB6-0FD4-CEA0-0C44-4A132BCF2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983"/>
              <a:ext cx="1614" cy="414"/>
            </a:xfrm>
            <a:prstGeom prst="rect">
              <a:avLst/>
            </a:prstGeom>
            <a:solidFill>
              <a:srgbClr val="FFFFFF"/>
            </a:solidFill>
            <a:ln w="492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779" name="Line 13">
              <a:extLst>
                <a:ext uri="{FF2B5EF4-FFF2-40B4-BE49-F238E27FC236}">
                  <a16:creationId xmlns:a16="http://schemas.microsoft.com/office/drawing/2014/main" id="{6D549824-658E-C7B2-EABF-38D6513EF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205"/>
              <a:ext cx="398" cy="1"/>
            </a:xfrm>
            <a:prstGeom prst="line">
              <a:avLst/>
            </a:prstGeom>
            <a:noFill/>
            <a:ln w="492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Freeform 14">
              <a:extLst>
                <a:ext uri="{FF2B5EF4-FFF2-40B4-BE49-F238E27FC236}">
                  <a16:creationId xmlns:a16="http://schemas.microsoft.com/office/drawing/2014/main" id="{0DCEA331-85EE-0955-EEB5-C6AA8177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115"/>
              <a:ext cx="191" cy="137"/>
            </a:xfrm>
            <a:custGeom>
              <a:avLst/>
              <a:gdLst>
                <a:gd name="T0" fmla="*/ 0 w 202"/>
                <a:gd name="T1" fmla="*/ 0 h 166"/>
                <a:gd name="T2" fmla="*/ 153 w 202"/>
                <a:gd name="T3" fmla="*/ 31 h 166"/>
                <a:gd name="T4" fmla="*/ 0 w 202"/>
                <a:gd name="T5" fmla="*/ 64 h 166"/>
                <a:gd name="T6" fmla="*/ 0 w 202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2" h="166">
                  <a:moveTo>
                    <a:pt x="0" y="0"/>
                  </a:moveTo>
                  <a:lnTo>
                    <a:pt x="202" y="81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Rectangle 15">
              <a:extLst>
                <a:ext uri="{FF2B5EF4-FFF2-40B4-BE49-F238E27FC236}">
                  <a16:creationId xmlns:a16="http://schemas.microsoft.com/office/drawing/2014/main" id="{F6D8361C-54A0-82CE-4D0E-8B095818D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069"/>
              <a:ext cx="97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System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2782" name="Rectangle 16">
              <a:extLst>
                <a:ext uri="{FF2B5EF4-FFF2-40B4-BE49-F238E27FC236}">
                  <a16:creationId xmlns:a16="http://schemas.microsoft.com/office/drawing/2014/main" id="{19751A10-0470-5EEC-EE4F-F026A812D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933"/>
              <a:ext cx="68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Exciting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2783" name="Rectangle 17">
              <a:extLst>
                <a:ext uri="{FF2B5EF4-FFF2-40B4-BE49-F238E27FC236}">
                  <a16:creationId xmlns:a16="http://schemas.microsoft.com/office/drawing/2014/main" id="{AE40B2EB-A7B5-0257-5974-4C15E5B6C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432"/>
              <a:ext cx="11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(Input signal)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2784" name="Rectangle 18">
              <a:extLst>
                <a:ext uri="{FF2B5EF4-FFF2-40B4-BE49-F238E27FC236}">
                  <a16:creationId xmlns:a16="http://schemas.microsoft.com/office/drawing/2014/main" id="{7FB644F8-7FA5-045D-71DD-B78DD8BA2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" y="1786"/>
              <a:ext cx="7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Response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2785" name="Rectangle 19">
              <a:extLst>
                <a:ext uri="{FF2B5EF4-FFF2-40B4-BE49-F238E27FC236}">
                  <a16:creationId xmlns:a16="http://schemas.microsoft.com/office/drawing/2014/main" id="{9650941F-59C1-3440-4526-C8C63C56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432"/>
              <a:ext cx="144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(Output signal)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CA018640-6267-2D51-EAC6-0E60DAD28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1985963"/>
            <a:ext cx="73199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l"/>
            </a:pP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Signal processing example---Communication</a:t>
            </a:r>
            <a:endParaRPr lang="en-US" altLang="zh-CN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27">
            <a:extLst>
              <a:ext uri="{FF2B5EF4-FFF2-40B4-BE49-F238E27FC236}">
                <a16:creationId xmlns:a16="http://schemas.microsoft.com/office/drawing/2014/main" id="{B33550C6-415A-E000-CA84-216A4D37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  <a:endParaRPr lang="en-US" altLang="zh-CN" sz="40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6" name="图片 5" descr="校徽.png">
            <a:extLst>
              <a:ext uri="{FF2B5EF4-FFF2-40B4-BE49-F238E27FC236}">
                <a16:creationId xmlns:a16="http://schemas.microsoft.com/office/drawing/2014/main" id="{057EB4EB-66D8-19B9-5C86-F610682F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图片 27">
            <a:extLst>
              <a:ext uri="{FF2B5EF4-FFF2-40B4-BE49-F238E27FC236}">
                <a16:creationId xmlns:a16="http://schemas.microsoft.com/office/drawing/2014/main" id="{7BED57EC-8158-7125-073D-AD907555D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924175"/>
            <a:ext cx="54721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4">
            <a:extLst>
              <a:ext uri="{FF2B5EF4-FFF2-40B4-BE49-F238E27FC236}">
                <a16:creationId xmlns:a16="http://schemas.microsoft.com/office/drawing/2014/main" id="{710DBDC6-B64F-18CB-9067-43505F091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3249613"/>
            <a:ext cx="230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Transmitted signal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9" name="Rectangle 20">
            <a:extLst>
              <a:ext uri="{FF2B5EF4-FFF2-40B4-BE49-F238E27FC236}">
                <a16:creationId xmlns:a16="http://schemas.microsoft.com/office/drawing/2014/main" id="{9297FA1A-9F04-C457-64D8-BD3372C28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3187700"/>
            <a:ext cx="1352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Input signal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0" name="Rectangle 21">
            <a:extLst>
              <a:ext uri="{FF2B5EF4-FFF2-40B4-BE49-F238E27FC236}">
                <a16:creationId xmlns:a16="http://schemas.microsoft.com/office/drawing/2014/main" id="{CCE56921-281B-8ED4-0967-E47DC1A1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4013" y="5876925"/>
            <a:ext cx="2016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Received signal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1" name="Rectangle 22">
            <a:extLst>
              <a:ext uri="{FF2B5EF4-FFF2-40B4-BE49-F238E27FC236}">
                <a16:creationId xmlns:a16="http://schemas.microsoft.com/office/drawing/2014/main" id="{2354A368-576A-69BD-DC88-F31B3F947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876925"/>
            <a:ext cx="1727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Output signal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2" name="Rectangle 23">
            <a:extLst>
              <a:ext uri="{FF2B5EF4-FFF2-40B4-BE49-F238E27FC236}">
                <a16:creationId xmlns:a16="http://schemas.microsoft.com/office/drawing/2014/main" id="{891C9F14-8686-E6AA-736F-87A169D58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933825"/>
            <a:ext cx="936625" cy="1538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Speech,</a:t>
            </a:r>
          </a:p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Text,</a:t>
            </a:r>
          </a:p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Audio,</a:t>
            </a:r>
          </a:p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Video</a:t>
            </a:r>
          </a:p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… </a:t>
            </a:r>
          </a:p>
        </p:txBody>
      </p:sp>
      <p:sp>
        <p:nvSpPr>
          <p:cNvPr id="33803" name="Rectangle 24">
            <a:extLst>
              <a:ext uri="{FF2B5EF4-FFF2-40B4-BE49-F238E27FC236}">
                <a16:creationId xmlns:a16="http://schemas.microsoft.com/office/drawing/2014/main" id="{AEB18362-0091-8E21-3827-932BA8513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4087813"/>
            <a:ext cx="21447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Intermediate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</a:rPr>
              <a:t>(Voltage, current,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</a:rPr>
              <a:t>Electromagnetic)</a:t>
            </a:r>
            <a:r>
              <a:rPr lang="en-US" altLang="zh-CN" sz="200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endParaRPr lang="en-US" altLang="zh-CN" sz="2000" b="1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cxnSp>
        <p:nvCxnSpPr>
          <p:cNvPr id="33804" name="直接箭头连接符 34">
            <a:extLst>
              <a:ext uri="{FF2B5EF4-FFF2-40B4-BE49-F238E27FC236}">
                <a16:creationId xmlns:a16="http://schemas.microsoft.com/office/drawing/2014/main" id="{2814887C-1685-32D2-43FA-4F51379331F4}"/>
              </a:ext>
            </a:extLst>
          </p:cNvPr>
          <p:cNvCxnSpPr>
            <a:cxnSpLocks noChangeShapeType="1"/>
            <a:stCxn id="33802" idx="0"/>
          </p:cNvCxnSpPr>
          <p:nvPr/>
        </p:nvCxnSpPr>
        <p:spPr bwMode="auto">
          <a:xfrm flipH="1" flipV="1">
            <a:off x="871538" y="3590925"/>
            <a:ext cx="0" cy="342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5" name="直接箭头连接符 35">
            <a:extLst>
              <a:ext uri="{FF2B5EF4-FFF2-40B4-BE49-F238E27FC236}">
                <a16:creationId xmlns:a16="http://schemas.microsoft.com/office/drawing/2014/main" id="{A32FF21D-8D82-A9B8-BCB8-65B6D3DE0A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5663" y="5472113"/>
            <a:ext cx="0" cy="3111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A1744F52-2A1C-66A6-4633-7D23CC115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249363"/>
            <a:ext cx="7993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Signal Process. example---Get the edge of a picture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F9BFBC8D-89AC-ECCB-1370-9D7EB2FDD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  <a:endParaRPr lang="en-US" altLang="zh-CN" sz="40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820" name="Group 9">
            <a:extLst>
              <a:ext uri="{FF2B5EF4-FFF2-40B4-BE49-F238E27FC236}">
                <a16:creationId xmlns:a16="http://schemas.microsoft.com/office/drawing/2014/main" id="{C219B69F-4434-9AF4-59B8-CD69A626E552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989138"/>
            <a:ext cx="6696075" cy="4648200"/>
            <a:chOff x="839" y="1253"/>
            <a:chExt cx="4218" cy="2928"/>
          </a:xfrm>
        </p:grpSpPr>
        <p:pic>
          <p:nvPicPr>
            <p:cNvPr id="34822" name="Picture 2">
              <a:extLst>
                <a:ext uri="{FF2B5EF4-FFF2-40B4-BE49-F238E27FC236}">
                  <a16:creationId xmlns:a16="http://schemas.microsoft.com/office/drawing/2014/main" id="{758D6647-5BE4-AEC3-762C-6BEAEE575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1253"/>
              <a:ext cx="4218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3" name="Text Box 7">
              <a:extLst>
                <a:ext uri="{FF2B5EF4-FFF2-40B4-BE49-F238E27FC236}">
                  <a16:creationId xmlns:a16="http://schemas.microsoft.com/office/drawing/2014/main" id="{0FF870E6-8649-9D24-829D-E7B564884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53"/>
              <a:ext cx="635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1400" b="1">
                  <a:solidFill>
                    <a:srgbClr val="06070E"/>
                  </a:solidFill>
                  <a:latin typeface="Times New Roman" panose="02020603050405020304" pitchFamily="18" charset="0"/>
                </a:rPr>
                <a:t>Edge Map</a:t>
              </a:r>
            </a:p>
          </p:txBody>
        </p:sp>
        <p:sp>
          <p:nvSpPr>
            <p:cNvPr id="34824" name="Text Box 8">
              <a:extLst>
                <a:ext uri="{FF2B5EF4-FFF2-40B4-BE49-F238E27FC236}">
                  <a16:creationId xmlns:a16="http://schemas.microsoft.com/office/drawing/2014/main" id="{DDB926AD-1709-FCCB-53E6-3CFCFCA2F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1253"/>
              <a:ext cx="1270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1400" b="1">
                  <a:latin typeface="Times New Roman" panose="02020603050405020304" pitchFamily="18" charset="0"/>
                </a:rPr>
                <a:t>Original Saturn image</a:t>
              </a:r>
            </a:p>
          </p:txBody>
        </p:sp>
      </p:grpSp>
      <p:pic>
        <p:nvPicPr>
          <p:cNvPr id="34821" name="图片 5" descr="校徽.png">
            <a:extLst>
              <a:ext uri="{FF2B5EF4-FFF2-40B4-BE49-F238E27FC236}">
                <a16:creationId xmlns:a16="http://schemas.microsoft.com/office/drawing/2014/main" id="{929FC0F8-8B29-F516-2EAD-87308DE49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9964D4E-B735-0423-AC3B-280883A6F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35843" name="图片 5" descr="校徽.png">
            <a:extLst>
              <a:ext uri="{FF2B5EF4-FFF2-40B4-BE49-F238E27FC236}">
                <a16:creationId xmlns:a16="http://schemas.microsoft.com/office/drawing/2014/main" id="{5422BDB3-AD76-DEC3-6DB0-1C370180D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5">
            <a:extLst>
              <a:ext uri="{FF2B5EF4-FFF2-40B4-BE49-F238E27FC236}">
                <a16:creationId xmlns:a16="http://schemas.microsoft.com/office/drawing/2014/main" id="{6B0C1729-7AEF-E178-4BE1-9DD4EE0E6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013325"/>
            <a:ext cx="554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DSP</a:t>
            </a:r>
            <a:r>
              <a:rPr lang="en-US" altLang="zh-CN" sz="2400" b="1">
                <a:latin typeface="Times New Roman" panose="02020603050405020304" pitchFamily="18" charset="0"/>
              </a:rPr>
              <a:t>----Processing signals in digital form.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A25CA054-FC8A-1094-D334-21BA9251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989138"/>
            <a:ext cx="557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ASP-</a:t>
            </a:r>
            <a:r>
              <a:rPr lang="en-US" altLang="zh-CN" sz="2400" b="1">
                <a:latin typeface="Times New Roman" panose="02020603050405020304" pitchFamily="18" charset="0"/>
              </a:rPr>
              <a:t>---Processing signals in analog form.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6" name="Rectangle 26">
            <a:extLst>
              <a:ext uri="{FF2B5EF4-FFF2-40B4-BE49-F238E27FC236}">
                <a16:creationId xmlns:a16="http://schemas.microsoft.com/office/drawing/2014/main" id="{83FE3239-B417-3119-0F9A-BC87E2536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268413"/>
            <a:ext cx="4935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§1.3 Digital Signal Processing </a:t>
            </a:r>
          </a:p>
        </p:txBody>
      </p:sp>
      <p:grpSp>
        <p:nvGrpSpPr>
          <p:cNvPr id="35847" name="Group 34">
            <a:extLst>
              <a:ext uri="{FF2B5EF4-FFF2-40B4-BE49-F238E27FC236}">
                <a16:creationId xmlns:a16="http://schemas.microsoft.com/office/drawing/2014/main" id="{277691CB-92EC-AD6D-35C2-A576659FD273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2636838"/>
            <a:ext cx="8642350" cy="1501775"/>
            <a:chOff x="158" y="1717"/>
            <a:chExt cx="5444" cy="946"/>
          </a:xfrm>
        </p:grpSpPr>
        <p:sp>
          <p:nvSpPr>
            <p:cNvPr id="35849" name="AutoShape 10">
              <a:extLst>
                <a:ext uri="{FF2B5EF4-FFF2-40B4-BE49-F238E27FC236}">
                  <a16:creationId xmlns:a16="http://schemas.microsoft.com/office/drawing/2014/main" id="{CEFB23E3-4F34-3742-11F6-B212E92BBD2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8" y="1717"/>
              <a:ext cx="5444" cy="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Line 11">
              <a:extLst>
                <a:ext uri="{FF2B5EF4-FFF2-40B4-BE49-F238E27FC236}">
                  <a16:creationId xmlns:a16="http://schemas.microsoft.com/office/drawing/2014/main" id="{F7AFBAC8-53DC-ED70-6988-712034A43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205"/>
              <a:ext cx="398" cy="1"/>
            </a:xfrm>
            <a:prstGeom prst="line">
              <a:avLst/>
            </a:prstGeom>
            <a:noFill/>
            <a:ln w="492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Freeform 12">
              <a:extLst>
                <a:ext uri="{FF2B5EF4-FFF2-40B4-BE49-F238E27FC236}">
                  <a16:creationId xmlns:a16="http://schemas.microsoft.com/office/drawing/2014/main" id="{1CC1B495-C8B1-3409-CC3F-76300DD06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0" y="2123"/>
              <a:ext cx="187" cy="137"/>
            </a:xfrm>
            <a:custGeom>
              <a:avLst/>
              <a:gdLst>
                <a:gd name="T0" fmla="*/ 0 w 198"/>
                <a:gd name="T1" fmla="*/ 0 h 166"/>
                <a:gd name="T2" fmla="*/ 149 w 198"/>
                <a:gd name="T3" fmla="*/ 31 h 166"/>
                <a:gd name="T4" fmla="*/ 0 w 198"/>
                <a:gd name="T5" fmla="*/ 64 h 166"/>
                <a:gd name="T6" fmla="*/ 0 w 198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8" h="166">
                  <a:moveTo>
                    <a:pt x="0" y="0"/>
                  </a:moveTo>
                  <a:lnTo>
                    <a:pt x="198" y="81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Rectangle 13">
              <a:extLst>
                <a:ext uri="{FF2B5EF4-FFF2-40B4-BE49-F238E27FC236}">
                  <a16:creationId xmlns:a16="http://schemas.microsoft.com/office/drawing/2014/main" id="{39AF68E3-D2DB-4101-1608-6E2853FFF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1983"/>
              <a:ext cx="1614" cy="414"/>
            </a:xfrm>
            <a:prstGeom prst="rect">
              <a:avLst/>
            </a:prstGeom>
            <a:solidFill>
              <a:srgbClr val="FFFFFF"/>
            </a:solidFill>
            <a:ln w="492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853" name="Line 14">
              <a:extLst>
                <a:ext uri="{FF2B5EF4-FFF2-40B4-BE49-F238E27FC236}">
                  <a16:creationId xmlns:a16="http://schemas.microsoft.com/office/drawing/2014/main" id="{8DD29482-D74B-4676-6BF6-AB360BC8D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205"/>
              <a:ext cx="398" cy="1"/>
            </a:xfrm>
            <a:prstGeom prst="line">
              <a:avLst/>
            </a:prstGeom>
            <a:noFill/>
            <a:ln w="492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4" name="Freeform 15">
              <a:extLst>
                <a:ext uri="{FF2B5EF4-FFF2-40B4-BE49-F238E27FC236}">
                  <a16:creationId xmlns:a16="http://schemas.microsoft.com/office/drawing/2014/main" id="{2B663199-B252-66B0-CC01-81E3A8A25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115"/>
              <a:ext cx="191" cy="137"/>
            </a:xfrm>
            <a:custGeom>
              <a:avLst/>
              <a:gdLst>
                <a:gd name="T0" fmla="*/ 0 w 202"/>
                <a:gd name="T1" fmla="*/ 0 h 166"/>
                <a:gd name="T2" fmla="*/ 153 w 202"/>
                <a:gd name="T3" fmla="*/ 31 h 166"/>
                <a:gd name="T4" fmla="*/ 0 w 202"/>
                <a:gd name="T5" fmla="*/ 64 h 166"/>
                <a:gd name="T6" fmla="*/ 0 w 202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2" h="166">
                  <a:moveTo>
                    <a:pt x="0" y="0"/>
                  </a:moveTo>
                  <a:lnTo>
                    <a:pt x="202" y="81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Rectangle 16">
              <a:extLst>
                <a:ext uri="{FF2B5EF4-FFF2-40B4-BE49-F238E27FC236}">
                  <a16:creationId xmlns:a16="http://schemas.microsoft.com/office/drawing/2014/main" id="{147251EB-BD15-17ED-EBF9-A9F453FB1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069"/>
              <a:ext cx="122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Analog System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56" name="Rectangle 17">
              <a:extLst>
                <a:ext uri="{FF2B5EF4-FFF2-40B4-BE49-F238E27FC236}">
                  <a16:creationId xmlns:a16="http://schemas.microsoft.com/office/drawing/2014/main" id="{A88F031B-E46F-8AA0-2F88-8F8C989BC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933"/>
              <a:ext cx="68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Exciting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57" name="Rectangle 18">
              <a:extLst>
                <a:ext uri="{FF2B5EF4-FFF2-40B4-BE49-F238E27FC236}">
                  <a16:creationId xmlns:a16="http://schemas.microsoft.com/office/drawing/2014/main" id="{C5651599-BFC9-B36E-9321-CF37DFFB2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432"/>
              <a:ext cx="124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(Analog signal)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58" name="Rectangle 19">
              <a:extLst>
                <a:ext uri="{FF2B5EF4-FFF2-40B4-BE49-F238E27FC236}">
                  <a16:creationId xmlns:a16="http://schemas.microsoft.com/office/drawing/2014/main" id="{D30B6B2C-10DB-156A-9DF7-8B8D4D23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" y="1786"/>
              <a:ext cx="7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Response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59" name="Rectangle 20">
              <a:extLst>
                <a:ext uri="{FF2B5EF4-FFF2-40B4-BE49-F238E27FC236}">
                  <a16:creationId xmlns:a16="http://schemas.microsoft.com/office/drawing/2014/main" id="{442750F3-F430-E0A5-592D-7EDF607F7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432"/>
              <a:ext cx="144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(Analog signal)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5848" name="Rectangle 47">
            <a:extLst>
              <a:ext uri="{FF2B5EF4-FFF2-40B4-BE49-F238E27FC236}">
                <a16:creationId xmlns:a16="http://schemas.microsoft.com/office/drawing/2014/main" id="{DE7F880E-F81E-8016-26FA-1799AE831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734050"/>
            <a:ext cx="837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It’s generally used for the digital processing of an analog signal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33">
            <a:extLst>
              <a:ext uri="{FF2B5EF4-FFF2-40B4-BE49-F238E27FC236}">
                <a16:creationId xmlns:a16="http://schemas.microsoft.com/office/drawing/2014/main" id="{758A1FC3-F47B-151C-0326-5DBCAF38282E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4292600"/>
            <a:ext cx="7239000" cy="1357313"/>
            <a:chOff x="1056" y="3168"/>
            <a:chExt cx="4560" cy="855"/>
          </a:xfrm>
        </p:grpSpPr>
        <p:graphicFrame>
          <p:nvGraphicFramePr>
            <p:cNvPr id="36874" name="Object 12">
              <a:extLst>
                <a:ext uri="{FF2B5EF4-FFF2-40B4-BE49-F238E27FC236}">
                  <a16:creationId xmlns:a16="http://schemas.microsoft.com/office/drawing/2014/main" id="{57BD37D4-7983-B60B-5EBB-0B0F8ABF57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216"/>
            <a:ext cx="57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9017000" imgH="5803900" progId="Equation.3">
                    <p:embed/>
                  </p:oleObj>
                </mc:Choice>
                <mc:Fallback>
                  <p:oleObj r:id="rId2" imgW="9017000" imgH="5803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16"/>
                          <a:ext cx="57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5" name="Object 11">
              <a:extLst>
                <a:ext uri="{FF2B5EF4-FFF2-40B4-BE49-F238E27FC236}">
                  <a16:creationId xmlns:a16="http://schemas.microsoft.com/office/drawing/2014/main" id="{53AC6F3B-353B-45BB-F486-9A170CA2F1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3203"/>
            <a:ext cx="624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9359900" imgH="5562600" progId="Equation.3">
                    <p:embed/>
                  </p:oleObj>
                </mc:Choice>
                <mc:Fallback>
                  <p:oleObj r:id="rId4" imgW="9359900" imgH="5562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3203"/>
                          <a:ext cx="624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15">
              <a:extLst>
                <a:ext uri="{FF2B5EF4-FFF2-40B4-BE49-F238E27FC236}">
                  <a16:creationId xmlns:a16="http://schemas.microsoft.com/office/drawing/2014/main" id="{95A025B4-FF19-DCCA-5EAE-66B87F7B5D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696"/>
            <a:ext cx="47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731000" imgH="4686300" progId="Equation.3">
                    <p:embed/>
                  </p:oleObj>
                </mc:Choice>
                <mc:Fallback>
                  <p:oleObj r:id="rId6" imgW="6731000" imgH="4686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696"/>
                          <a:ext cx="47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14">
              <a:extLst>
                <a:ext uri="{FF2B5EF4-FFF2-40B4-BE49-F238E27FC236}">
                  <a16:creationId xmlns:a16="http://schemas.microsoft.com/office/drawing/2014/main" id="{DDD23032-10B3-A4C0-5DE8-F42F3B19C4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648"/>
            <a:ext cx="52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023100" imgH="4686300" progId="Equation.3">
                    <p:embed/>
                  </p:oleObj>
                </mc:Choice>
                <mc:Fallback>
                  <p:oleObj r:id="rId8" imgW="7023100" imgH="4686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648"/>
                          <a:ext cx="522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8" name="Rectangle 18">
              <a:extLst>
                <a:ext uri="{FF2B5EF4-FFF2-40B4-BE49-F238E27FC236}">
                  <a16:creationId xmlns:a16="http://schemas.microsoft.com/office/drawing/2014/main" id="{7C662979-F23F-05E6-08B5-733554FCA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68"/>
              <a:ext cx="3408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      analog signals</a:t>
              </a:r>
            </a:p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b="1">
                  <a:latin typeface="Times New Roman" panose="02020603050405020304" pitchFamily="18" charset="0"/>
                </a:rPr>
                <a:t>	   </a:t>
              </a:r>
              <a:r>
                <a:rPr lang="en-US" altLang="zh-CN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digital signals(binary)</a:t>
              </a:r>
            </a:p>
          </p:txBody>
        </p:sp>
      </p:grpSp>
      <p:sp>
        <p:nvSpPr>
          <p:cNvPr id="36867" name="Rectangle 20">
            <a:extLst>
              <a:ext uri="{FF2B5EF4-FFF2-40B4-BE49-F238E27FC236}">
                <a16:creationId xmlns:a16="http://schemas.microsoft.com/office/drawing/2014/main" id="{7F94539C-38C9-05D5-D1BD-953C3B99B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73238"/>
            <a:ext cx="3109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1.3.1  How to DSP?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23">
            <a:extLst>
              <a:ext uri="{FF2B5EF4-FFF2-40B4-BE49-F238E27FC236}">
                <a16:creationId xmlns:a16="http://schemas.microsoft.com/office/drawing/2014/main" id="{E13C4FBF-C1E5-CFD4-A056-0E0DAD7EF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36869" name="图片 5" descr="校徽.png">
            <a:extLst>
              <a:ext uri="{FF2B5EF4-FFF2-40B4-BE49-F238E27FC236}">
                <a16:creationId xmlns:a16="http://schemas.microsoft.com/office/drawing/2014/main" id="{BB5B0115-0B2B-4BC1-74E9-F53857ADF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0" name="Group 31">
            <a:extLst>
              <a:ext uri="{FF2B5EF4-FFF2-40B4-BE49-F238E27FC236}">
                <a16:creationId xmlns:a16="http://schemas.microsoft.com/office/drawing/2014/main" id="{0A310278-913D-96D6-2154-CF0E9BE4463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565400"/>
            <a:ext cx="8382000" cy="1374775"/>
            <a:chOff x="295" y="2160"/>
            <a:chExt cx="5280" cy="866"/>
          </a:xfrm>
        </p:grpSpPr>
        <p:graphicFrame>
          <p:nvGraphicFramePr>
            <p:cNvPr id="36872" name="Object 3">
              <a:extLst>
                <a:ext uri="{FF2B5EF4-FFF2-40B4-BE49-F238E27FC236}">
                  <a16:creationId xmlns:a16="http://schemas.microsoft.com/office/drawing/2014/main" id="{6D87F962-0888-D9A1-EAEC-213D3E88CF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" y="2160"/>
            <a:ext cx="5280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6819900" imgH="965200" progId="Visio.Drawing.11">
                    <p:embed/>
                  </p:oleObj>
                </mc:Choice>
                <mc:Fallback>
                  <p:oleObj r:id="rId11" imgW="6819900" imgH="965200" progId="Visio.Drawing.11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160"/>
                          <a:ext cx="5280" cy="8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Text Box 28">
              <a:extLst>
                <a:ext uri="{FF2B5EF4-FFF2-40B4-BE49-F238E27FC236}">
                  <a16:creationId xmlns:a16="http://schemas.microsoft.com/office/drawing/2014/main" id="{668FC83D-4C3D-D11A-F925-EB8364ED4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795"/>
              <a:ext cx="4173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Figure 1.42 S</a:t>
              </a:r>
              <a:r>
                <a:rPr lang="en-US" altLang="zh-CN" sz="1800" b="1">
                  <a:latin typeface="Times New Roman" panose="02020603050405020304" pitchFamily="18" charset="0"/>
                </a:rPr>
                <a:t>cheme for the digital processing of an analog signal</a:t>
              </a:r>
            </a:p>
          </p:txBody>
        </p:sp>
      </p:grpSp>
      <p:sp>
        <p:nvSpPr>
          <p:cNvPr id="36871" name="Rectangle 32">
            <a:extLst>
              <a:ext uri="{FF2B5EF4-FFF2-40B4-BE49-F238E27FC236}">
                <a16:creationId xmlns:a16="http://schemas.microsoft.com/office/drawing/2014/main" id="{1B436FC4-CCE8-BE29-3386-B228CA411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876925"/>
            <a:ext cx="795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Digital Processor :Hardware(VLSI) and Softwares.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2D9EF3AD-FEF9-3A85-76F5-13FF72438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528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DEA74E0B-E597-57A5-BAD0-0867B6A084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1352550"/>
          <a:ext cx="6408738" cy="530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48400" imgH="7759700" progId="Visio.Drawing.11">
                  <p:embed/>
                </p:oleObj>
              </mc:Choice>
              <mc:Fallback>
                <p:oleObj r:id="rId2" imgW="6248400" imgH="775970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52550"/>
                        <a:ext cx="6408738" cy="530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Rectangle 4">
            <a:extLst>
              <a:ext uri="{FF2B5EF4-FFF2-40B4-BE49-F238E27FC236}">
                <a16:creationId xmlns:a16="http://schemas.microsoft.com/office/drawing/2014/main" id="{EB515EF4-A56F-25DD-7DFF-A5F45FC7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37893" name="图片 5" descr="校徽.png">
            <a:extLst>
              <a:ext uri="{FF2B5EF4-FFF2-40B4-BE49-F238E27FC236}">
                <a16:creationId xmlns:a16="http://schemas.microsoft.com/office/drawing/2014/main" id="{6D667583-A60D-1B27-DDDE-7A302527D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8DB7927B-D49A-3FCA-E79F-80229F922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196975"/>
          <a:ext cx="5762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899400" imgH="5270500" progId="Equation.3">
                  <p:embed/>
                </p:oleObj>
              </mc:Choice>
              <mc:Fallback>
                <p:oleObj r:id="rId5" imgW="7899400" imgH="5270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96975"/>
                        <a:ext cx="5762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>
            <a:extLst>
              <a:ext uri="{FF2B5EF4-FFF2-40B4-BE49-F238E27FC236}">
                <a16:creationId xmlns:a16="http://schemas.microsoft.com/office/drawing/2014/main" id="{806214E0-73DF-09C1-45CA-CC1577C482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268413"/>
          <a:ext cx="49053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731000" imgH="4686300" progId="Equation.3">
                  <p:embed/>
                </p:oleObj>
              </mc:Choice>
              <mc:Fallback>
                <p:oleObj r:id="rId7" imgW="6731000" imgH="4686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268413"/>
                        <a:ext cx="49053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AE925AEC-8F9E-437F-9980-46A1222048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365625"/>
          <a:ext cx="5111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023100" imgH="4686300" progId="Equation.3">
                  <p:embed/>
                </p:oleObj>
              </mc:Choice>
              <mc:Fallback>
                <p:oleObj r:id="rId9" imgW="7023100" imgH="4686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365625"/>
                        <a:ext cx="5111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C3773AA4-D61A-A0C0-F6FD-4CB2A9182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292600"/>
          <a:ext cx="5762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899400" imgH="5270500" progId="Equation.3">
                  <p:embed/>
                </p:oleObj>
              </mc:Choice>
              <mc:Fallback>
                <p:oleObj r:id="rId11" imgW="7899400" imgH="5270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92600"/>
                        <a:ext cx="5762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D68AA7F1-379A-6CF1-F4E2-C1195C7769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7488" y="2492375"/>
            <a:ext cx="8675687" cy="2879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Programmability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Analog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Modify hardware design.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Digital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Modify software.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Example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Analog filter, digital filter, adaptive filter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1C2EB0D4-BABD-3AC4-92DE-22E28D1DF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38916" name="图片 5" descr="校徽.png">
            <a:extLst>
              <a:ext uri="{FF2B5EF4-FFF2-40B4-BE49-F238E27FC236}">
                <a16:creationId xmlns:a16="http://schemas.microsoft.com/office/drawing/2014/main" id="{743F7B3D-29E5-B035-3CFB-5457D354D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Rectangle 6">
            <a:extLst>
              <a:ext uri="{FF2B5EF4-FFF2-40B4-BE49-F238E27FC236}">
                <a16:creationId xmlns:a16="http://schemas.microsoft.com/office/drawing/2014/main" id="{4C378C75-BC1E-FF58-9A90-89E3BB03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1106488"/>
            <a:ext cx="2744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1.3.2  Why DSP?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1FDB0243-7265-D2F5-DAE7-C6D3CB3CA5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2205038"/>
            <a:ext cx="8229600" cy="334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Precision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Analog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component specification: resistors have a tolerance 5%; capacitors 20% or worse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Digital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ADC bits, CPU word width and algorithm</a:t>
            </a: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0051A255-DAF0-49AA-C4B0-60A3D4FA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39940" name="图片 5" descr="校徽.png">
            <a:extLst>
              <a:ext uri="{FF2B5EF4-FFF2-40B4-BE49-F238E27FC236}">
                <a16:creationId xmlns:a16="http://schemas.microsoft.com/office/drawing/2014/main" id="{04CD42D7-2B67-83CD-0DC0-B58CCF00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BF5A8B04-D541-AA4A-1199-515B441F58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2875" y="2133600"/>
            <a:ext cx="9001125" cy="3673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Stability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Analog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the characteristics of analog system components, resistors, capacitors and operational amplifiers will change along with temperature, humidity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Digital system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will show no variation with temperature throughout their guaranteed operation range.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923A49B5-44A9-B526-7266-ED2369D7B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0964" name="图片 5" descr="校徽.png">
            <a:extLst>
              <a:ext uri="{FF2B5EF4-FFF2-40B4-BE49-F238E27FC236}">
                <a16:creationId xmlns:a16="http://schemas.microsoft.com/office/drawing/2014/main" id="{15705B4C-9E9C-B18B-32E9-F79A0419C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>
            <a:extLst>
              <a:ext uri="{FF2B5EF4-FFF2-40B4-BE49-F238E27FC236}">
                <a16:creationId xmlns:a16="http://schemas.microsoft.com/office/drawing/2014/main" id="{AC460D1C-C1C8-DF41-79F4-0B6C46ED05D4}"/>
              </a:ext>
            </a:extLst>
          </p:cNvPr>
          <p:cNvGraphicFramePr>
            <a:graphicFrameLocks noGrp="1" noChangeAspect="1"/>
          </p:cNvGraphicFramePr>
          <p:nvPr>
            <p:ph type="body" idx="4294967295"/>
          </p:nvPr>
        </p:nvGraphicFramePr>
        <p:xfrm>
          <a:off x="2789238" y="2971800"/>
          <a:ext cx="417512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78050" imgH="2146300" progId="Paint.Picture">
                  <p:embed/>
                </p:oleObj>
              </mc:Choice>
              <mc:Fallback>
                <p:oleObj r:id="rId2" imgW="2178050" imgH="2146300" progId="Paint.Picture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2971800"/>
                        <a:ext cx="4175125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Text Box 3">
            <a:extLst>
              <a:ext uri="{FF2B5EF4-FFF2-40B4-BE49-F238E27FC236}">
                <a16:creationId xmlns:a16="http://schemas.microsoft.com/office/drawing/2014/main" id="{101872A5-03FF-5508-AC33-82A887F45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920875"/>
            <a:ext cx="3459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(4) Anti-noise</a:t>
            </a:r>
          </a:p>
        </p:txBody>
      </p:sp>
      <p:sp>
        <p:nvSpPr>
          <p:cNvPr id="41988" name="Rectangle 5">
            <a:extLst>
              <a:ext uri="{FF2B5EF4-FFF2-40B4-BE49-F238E27FC236}">
                <a16:creationId xmlns:a16="http://schemas.microsoft.com/office/drawing/2014/main" id="{69D942BF-3CF6-8DB0-92B6-6AAA3D4CB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1989" name="图片 5" descr="校徽.png">
            <a:extLst>
              <a:ext uri="{FF2B5EF4-FFF2-40B4-BE49-F238E27FC236}">
                <a16:creationId xmlns:a16="http://schemas.microsoft.com/office/drawing/2014/main" id="{7E5E3500-D286-7628-4019-E8992A2E4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08019BCD-FCA3-5333-4AF8-DDDFE9B04498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411538"/>
            <a:ext cx="3886200" cy="1836737"/>
            <a:chOff x="2736" y="2149"/>
            <a:chExt cx="2448" cy="1157"/>
          </a:xfrm>
        </p:grpSpPr>
        <p:sp>
          <p:nvSpPr>
            <p:cNvPr id="43017" name="Rectangle 4">
              <a:extLst>
                <a:ext uri="{FF2B5EF4-FFF2-40B4-BE49-F238E27FC236}">
                  <a16:creationId xmlns:a16="http://schemas.microsoft.com/office/drawing/2014/main" id="{A1407F09-B29A-B3FD-E98A-779EFCAFD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149"/>
              <a:ext cx="1056" cy="4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Amplify A</a:t>
              </a:r>
            </a:p>
          </p:txBody>
        </p:sp>
        <p:sp>
          <p:nvSpPr>
            <p:cNvPr id="43018" name="Rectangle 5">
              <a:extLst>
                <a:ext uri="{FF2B5EF4-FFF2-40B4-BE49-F238E27FC236}">
                  <a16:creationId xmlns:a16="http://schemas.microsoft.com/office/drawing/2014/main" id="{79A8245C-4CD8-7EE8-A0D6-B637D508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26"/>
              <a:ext cx="1056" cy="4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Amplify B</a:t>
              </a:r>
            </a:p>
          </p:txBody>
        </p:sp>
        <p:sp>
          <p:nvSpPr>
            <p:cNvPr id="43019" name="Text Box 6">
              <a:extLst>
                <a:ext uri="{FF2B5EF4-FFF2-40B4-BE49-F238E27FC236}">
                  <a16:creationId xmlns:a16="http://schemas.microsoft.com/office/drawing/2014/main" id="{9555FD65-CBE2-75FB-E7DB-D32DDC27B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389"/>
              <a:ext cx="1104" cy="5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Signal</a:t>
              </a:r>
              <a:r>
                <a:rPr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generator</a:t>
              </a:r>
            </a:p>
          </p:txBody>
        </p:sp>
        <p:sp>
          <p:nvSpPr>
            <p:cNvPr id="43020" name="Line 7">
              <a:extLst>
                <a:ext uri="{FF2B5EF4-FFF2-40B4-BE49-F238E27FC236}">
                  <a16:creationId xmlns:a16="http://schemas.microsoft.com/office/drawing/2014/main" id="{1A47EC1E-9497-E735-40C9-ADF2503D5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89"/>
              <a:ext cx="0" cy="7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8">
              <a:extLst>
                <a:ext uri="{FF2B5EF4-FFF2-40B4-BE49-F238E27FC236}">
                  <a16:creationId xmlns:a16="http://schemas.microsoft.com/office/drawing/2014/main" id="{C894E1FD-9C57-794C-4A88-A40749C76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89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9">
              <a:extLst>
                <a:ext uri="{FF2B5EF4-FFF2-40B4-BE49-F238E27FC236}">
                  <a16:creationId xmlns:a16="http://schemas.microsoft.com/office/drawing/2014/main" id="{7441BFD8-7502-6CF1-9EEC-2B365E0F5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07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0">
              <a:extLst>
                <a:ext uri="{FF2B5EF4-FFF2-40B4-BE49-F238E27FC236}">
                  <a16:creationId xmlns:a16="http://schemas.microsoft.com/office/drawing/2014/main" id="{BF95C309-6554-F6AC-95C7-38A286293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29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C8C4DFC6-A1D9-5E3E-5DD7-BCBF6C4B85BF}"/>
              </a:ext>
            </a:extLst>
          </p:cNvPr>
          <p:cNvGrpSpPr>
            <a:grpSpLocks/>
          </p:cNvGrpSpPr>
          <p:nvPr/>
        </p:nvGrpSpPr>
        <p:grpSpPr bwMode="auto">
          <a:xfrm>
            <a:off x="1714500" y="3373438"/>
            <a:ext cx="1905000" cy="1874837"/>
            <a:chOff x="4056" y="2063"/>
            <a:chExt cx="1200" cy="1181"/>
          </a:xfrm>
        </p:grpSpPr>
        <p:sp>
          <p:nvSpPr>
            <p:cNvPr id="43015" name="Rectangle 12">
              <a:extLst>
                <a:ext uri="{FF2B5EF4-FFF2-40B4-BE49-F238E27FC236}">
                  <a16:creationId xmlns:a16="http://schemas.microsoft.com/office/drawing/2014/main" id="{34024C8A-1C55-AEDF-CADF-53F0E48FB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063"/>
              <a:ext cx="1200" cy="4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computer A</a:t>
              </a:r>
            </a:p>
          </p:txBody>
        </p:sp>
        <p:sp>
          <p:nvSpPr>
            <p:cNvPr id="43016" name="Rectangle 13">
              <a:extLst>
                <a:ext uri="{FF2B5EF4-FFF2-40B4-BE49-F238E27FC236}">
                  <a16:creationId xmlns:a16="http://schemas.microsoft.com/office/drawing/2014/main" id="{378120BA-B562-FC8C-DC9A-CC98D0D1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764"/>
              <a:ext cx="1200" cy="4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computer</a:t>
              </a:r>
              <a:r>
                <a:rPr lang="en-US" altLang="zh-CN" sz="2800" b="1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</a:p>
          </p:txBody>
        </p:sp>
      </p:grpSp>
      <p:sp>
        <p:nvSpPr>
          <p:cNvPr id="78862" name="Text Box 14">
            <a:extLst>
              <a:ext uri="{FF2B5EF4-FFF2-40B4-BE49-F238E27FC236}">
                <a16:creationId xmlns:a16="http://schemas.microsoft.com/office/drawing/2014/main" id="{6D30AA1F-C9F1-E7F1-5A70-4456A453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01838"/>
            <a:ext cx="4953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(5) Repeatability</a:t>
            </a:r>
          </a:p>
        </p:txBody>
      </p:sp>
      <p:sp>
        <p:nvSpPr>
          <p:cNvPr id="43013" name="Rectangle 15">
            <a:extLst>
              <a:ext uri="{FF2B5EF4-FFF2-40B4-BE49-F238E27FC236}">
                <a16:creationId xmlns:a16="http://schemas.microsoft.com/office/drawing/2014/main" id="{50862148-DFE7-DF4B-2B1B-DED08DD92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3014" name="图片 5" descr="校徽.png">
            <a:extLst>
              <a:ext uri="{FF2B5EF4-FFF2-40B4-BE49-F238E27FC236}">
                <a16:creationId xmlns:a16="http://schemas.microsoft.com/office/drawing/2014/main" id="{0C62EEEE-DB41-FB24-2755-6ED4E6D42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>
            <a:extLst>
              <a:ext uri="{FF2B5EF4-FFF2-40B4-BE49-F238E27FC236}">
                <a16:creationId xmlns:a16="http://schemas.microsoft.com/office/drawing/2014/main" id="{B9741670-284F-A77A-D2AE-01259F248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12775" y="1714500"/>
            <a:ext cx="10153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VLSI (Very Large Scale Integrated circuit)</a:t>
            </a:r>
          </a:p>
        </p:txBody>
      </p:sp>
      <p:graphicFrame>
        <p:nvGraphicFramePr>
          <p:cNvPr id="79876" name="Object 4">
            <a:extLst>
              <a:ext uri="{FF2B5EF4-FFF2-40B4-BE49-F238E27FC236}">
                <a16:creationId xmlns:a16="http://schemas.microsoft.com/office/drawing/2014/main" id="{F59BBFEE-43B6-B31E-080A-A8B260E51A0D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2555875" y="2781300"/>
          <a:ext cx="5059363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81500" imgH="1892300" progId="Paint.Picture">
                  <p:embed/>
                </p:oleObj>
              </mc:Choice>
              <mc:Fallback>
                <p:oleObj r:id="rId2" imgW="4381500" imgH="1892300" progId="Paint.Picture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781300"/>
                        <a:ext cx="5059363" cy="367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5">
            <a:extLst>
              <a:ext uri="{FF2B5EF4-FFF2-40B4-BE49-F238E27FC236}">
                <a16:creationId xmlns:a16="http://schemas.microsoft.com/office/drawing/2014/main" id="{4673C495-46CF-6B2E-F2C8-299D3CD9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4037" name="图片 5" descr="校徽.png">
            <a:extLst>
              <a:ext uri="{FF2B5EF4-FFF2-40B4-BE49-F238E27FC236}">
                <a16:creationId xmlns:a16="http://schemas.microsoft.com/office/drawing/2014/main" id="{9D120D5A-D21B-9576-1F76-FBF865037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D0B6687E-F029-5C55-F554-879CD992CF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028825"/>
            <a:ext cx="8229600" cy="38449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(7) Error Correcting Codes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Data retrieval and transmission systems suffer from a number of potential forms of error.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With information in a digital or binary form, we may easily build into the data stream additional “redundant” bits that are used to detect when an error has occurred.</a:t>
            </a:r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60282D6E-6793-774D-E854-208C07344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5060" name="图片 5" descr="校徽.png">
            <a:extLst>
              <a:ext uri="{FF2B5EF4-FFF2-40B4-BE49-F238E27FC236}">
                <a16:creationId xmlns:a16="http://schemas.microsoft.com/office/drawing/2014/main" id="{EB51E7D1-E648-3E43-6C45-3988B8C37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>
            <a:extLst>
              <a:ext uri="{FF2B5EF4-FFF2-40B4-BE49-F238E27FC236}">
                <a16:creationId xmlns:a16="http://schemas.microsoft.com/office/drawing/2014/main" id="{43B9ABCB-3435-C891-8066-4C6A0FC084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068513"/>
            <a:ext cx="8229600" cy="334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(8) Data Transmission and  Storage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The Internet, Compact Disc (CD) and Digital Video Disc (DVD) brought information based on trouble-free high-quality text, audio and video into the office and home.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The fidelity of the digital medium is greater than that of the analog one.</a:t>
            </a:r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616960F9-882D-E48D-A268-3A140BC5F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6084" name="图片 5" descr="校徽.png">
            <a:extLst>
              <a:ext uri="{FF2B5EF4-FFF2-40B4-BE49-F238E27FC236}">
                <a16:creationId xmlns:a16="http://schemas.microsoft.com/office/drawing/2014/main" id="{FF84C1CB-1229-7437-BF34-8DB8C590F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ED8C6B6-942B-4DC6-B630-C8FA3EE505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68425" y="1341438"/>
            <a:ext cx="7775575" cy="1012825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3333FF"/>
                </a:solidFill>
                <a:latin typeface="Times New Roman" panose="02020603050405020304" pitchFamily="18" charset="0"/>
                <a:ea typeface="创艺简魏碑"/>
                <a:cs typeface="创艺简魏碑"/>
              </a:rPr>
              <a:t>We still need analog processing</a:t>
            </a:r>
            <a:endParaRPr lang="en-US" altLang="zh-CN" sz="3200">
              <a:solidFill>
                <a:srgbClr val="3333FF"/>
              </a:solidFill>
              <a:latin typeface="Times New Roman" panose="02020603050405020304" pitchFamily="18" charset="0"/>
              <a:ea typeface="创艺简魏碑"/>
              <a:cs typeface="创艺简魏碑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A08F228-C968-5440-475D-1057CC0991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7063" y="2589213"/>
            <a:ext cx="7905750" cy="24876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Real-Time Processing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Analog system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Besides the delay introduced by the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circuit, the processing is in real-time.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Digital system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Decided by the processor speed.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7ECC948C-6380-B6CD-F1F7-B70D59F3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7109" name="图片 5" descr="校徽.png">
            <a:extLst>
              <a:ext uri="{FF2B5EF4-FFF2-40B4-BE49-F238E27FC236}">
                <a16:creationId xmlns:a16="http://schemas.microsoft.com/office/drawing/2014/main" id="{51B856B1-2168-BF58-EC6B-27DED740C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07DCECC-0DC6-9EE3-75DB-1A09C64B26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14128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3333FF"/>
                </a:solidFill>
                <a:latin typeface="Times New Roman" panose="02020603050405020304" pitchFamily="18" charset="0"/>
                <a:ea typeface="创艺简魏碑"/>
                <a:cs typeface="创艺简魏碑"/>
              </a:rPr>
              <a:t>We still need analog processing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47B275F-0B33-11B7-6AF2-9681CC18BF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2852738"/>
            <a:ext cx="8497887" cy="3168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Processing very high frequency signals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Analog system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may process microwave, mini-meter-wave, even light wave signals.</a:t>
            </a:r>
          </a:p>
          <a:p>
            <a:pPr eaLnBrk="1" hangingPunct="1"/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Digital system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By the Nyquist Rule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the processing speed is limited by the S/H, A/D and processor speed.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4B953132-D397-7E66-06C6-858F42236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8133" name="图片 5" descr="校徽.png">
            <a:extLst>
              <a:ext uri="{FF2B5EF4-FFF2-40B4-BE49-F238E27FC236}">
                <a16:creationId xmlns:a16="http://schemas.microsoft.com/office/drawing/2014/main" id="{C43A34E6-4A5A-DC96-EAA5-E19EFAAF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7FBAB9D-E9A5-24D2-17CB-B4BFDA868F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14843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3333FF"/>
                </a:solidFill>
                <a:latin typeface="Times New Roman" panose="02020603050405020304" pitchFamily="18" charset="0"/>
                <a:ea typeface="创艺简魏碑"/>
                <a:cs typeface="创艺简魏碑"/>
              </a:rPr>
              <a:t>We still need analog processing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689BD108-4A7C-E63A-9FB5-F781A80D2F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6263" y="2651125"/>
            <a:ext cx="8567737" cy="23955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(3)The most signals in real would are analog.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If we want to process these analog signals with digital signal processing system, we must change them into digital form first by mixed signal processing.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497CE377-EFF8-3068-579B-56ACC30A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49157" name="图片 5" descr="校徽.png">
            <a:extLst>
              <a:ext uri="{FF2B5EF4-FFF2-40B4-BE49-F238E27FC236}">
                <a16:creationId xmlns:a16="http://schemas.microsoft.com/office/drawing/2014/main" id="{4B963C3D-2E3F-C0BF-DE89-1BAD75769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02975595-AAFB-C681-280E-2A5736819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4000" b="1">
                <a:solidFill>
                  <a:srgbClr val="FF3300"/>
                </a:solidFill>
                <a:latin typeface="Times New Roman" panose="02020603050405020304" pitchFamily="18" charset="0"/>
              </a:rPr>
              <a:t>§1   Signals and Signal Processing</a:t>
            </a:r>
          </a:p>
        </p:txBody>
      </p:sp>
      <p:pic>
        <p:nvPicPr>
          <p:cNvPr id="50179" name="图片 5" descr="校徽.png">
            <a:extLst>
              <a:ext uri="{FF2B5EF4-FFF2-40B4-BE49-F238E27FC236}">
                <a16:creationId xmlns:a16="http://schemas.microsoft.com/office/drawing/2014/main" id="{2BF07E3E-F95F-73A7-AF62-6808984C3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288" y="0"/>
            <a:ext cx="7477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20">
            <a:extLst>
              <a:ext uri="{FF2B5EF4-FFF2-40B4-BE49-F238E27FC236}">
                <a16:creationId xmlns:a16="http://schemas.microsoft.com/office/drawing/2014/main" id="{C9CB5BC4-E237-351A-6BDF-CC039216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75" y="1236663"/>
            <a:ext cx="4138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1.3.3  Applications of DSP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181" name="Picture 10" descr="https://timgsa.baidu.com/timg?image&amp;quality=80&amp;size=b9999_10000&amp;sec=1599416799356&amp;di=8ef9187c99ec754bc32d419342cb2155&amp;imgtype=0&amp;src=http%3A%2F%2Finews.gtimg.com%2Fnewsapp_bt%2F0%2F10415139663%2F1000.jpg">
            <a:extLst>
              <a:ext uri="{FF2B5EF4-FFF2-40B4-BE49-F238E27FC236}">
                <a16:creationId xmlns:a16="http://schemas.microsoft.com/office/drawing/2014/main" id="{61EE10BB-608B-989C-CCCD-143134C6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5" r="13635"/>
          <a:stretch>
            <a:fillRect/>
          </a:stretch>
        </p:blipFill>
        <p:spPr bwMode="auto">
          <a:xfrm>
            <a:off x="1116013" y="2282825"/>
            <a:ext cx="1152525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2" name="Picture 12" descr="https://timgsa.baidu.com/timg?image&amp;quality=80&amp;size=b9999_10000&amp;sec=1599416881523&amp;di=d1e2a4238fe7e58f37400ad2ff2bb9d8&amp;imgtype=0&amp;src=http%3A%2F%2Fn.sinaimg.cn%2Ftech%2Fcrawl%2F212%2Fw550h462%2F20190906%2Fd8ca-ieftthx8661830.jpg">
            <a:extLst>
              <a:ext uri="{FF2B5EF4-FFF2-40B4-BE49-F238E27FC236}">
                <a16:creationId xmlns:a16="http://schemas.microsoft.com/office/drawing/2014/main" id="{B01BAB6C-7F84-BAA1-88E4-BB2C11E1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282825"/>
            <a:ext cx="17907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图片 3">
            <a:extLst>
              <a:ext uri="{FF2B5EF4-FFF2-40B4-BE49-F238E27FC236}">
                <a16:creationId xmlns:a16="http://schemas.microsoft.com/office/drawing/2014/main" id="{BE83D7A4-EED3-3CD9-E0C2-FAEB474BA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38" y="4792663"/>
            <a:ext cx="2770187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4" name="矩形 12">
            <a:extLst>
              <a:ext uri="{FF2B5EF4-FFF2-40B4-BE49-F238E27FC236}">
                <a16:creationId xmlns:a16="http://schemas.microsoft.com/office/drawing/2014/main" id="{48C519CC-322C-FF64-EFF8-AD6A256F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5202238"/>
            <a:ext cx="1162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北斗</a:t>
            </a:r>
            <a:r>
              <a:rPr lang="en-US" altLang="zh-CN" sz="1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/GPS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pic>
        <p:nvPicPr>
          <p:cNvPr id="50185" name="Picture 14" descr="https://timgsa.baidu.com/timg?image&amp;quality=80&amp;size=b9999_10000&amp;sec=1599417064996&amp;di=98003698fbb750ee28869b496e235dcc&amp;imgtype=0&amp;src=http%3A%2F%2Fimg001.hc360.cn%2Fg8%2FM06%2FF8%2F12%2FwKhQtVRtuOmEdvfzAAAAAC4tnpo891.jpg">
            <a:extLst>
              <a:ext uri="{FF2B5EF4-FFF2-40B4-BE49-F238E27FC236}">
                <a16:creationId xmlns:a16="http://schemas.microsoft.com/office/drawing/2014/main" id="{CB2127FB-F0D6-9089-30B7-1691C82A7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4746625"/>
            <a:ext cx="2122487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6" name="Picture 16" descr="https://timgsa.baidu.com/timg?image&amp;quality=80&amp;size=b9999_10000&amp;sec=1599417201090&amp;di=7925af15e75027dadbcf0be6835073b8&amp;imgtype=0&amp;src=http%3A%2F%2Fp4.qhimg.com%2Ft01e954d528e4a7a0af.jpg">
            <a:extLst>
              <a:ext uri="{FF2B5EF4-FFF2-40B4-BE49-F238E27FC236}">
                <a16:creationId xmlns:a16="http://schemas.microsoft.com/office/drawing/2014/main" id="{8B55DB0B-1812-CB94-4AF1-1822AEDE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938" y="2082800"/>
            <a:ext cx="2295525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7" name="矩形 15">
            <a:extLst>
              <a:ext uri="{FF2B5EF4-FFF2-40B4-BE49-F238E27FC236}">
                <a16:creationId xmlns:a16="http://schemas.microsoft.com/office/drawing/2014/main" id="{73FFDE3E-98EC-17FD-F4F9-E3E297F3F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8" y="3975100"/>
            <a:ext cx="1017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RADAR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8B36ACE-B807-F63B-4ECE-2BC92557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60350"/>
            <a:ext cx="7991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DSP: Wireless Comm.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7F1771F-6700-03F8-F7BE-8A4BACB0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2244725"/>
            <a:ext cx="8507413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OFDM: Orthogonal frequency-division multiplexing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51204" name="AutoShape 6" descr="“Cocktail problem”的图片搜索结果">
            <a:extLst>
              <a:ext uri="{FF2B5EF4-FFF2-40B4-BE49-F238E27FC236}">
                <a16:creationId xmlns:a16="http://schemas.microsoft.com/office/drawing/2014/main" id="{E420B4A7-A86B-E4B2-D9FF-DA06D80053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1205" name="AutoShape 8" descr="“Cocktail problem”的图片搜索结果">
            <a:extLst>
              <a:ext uri="{FF2B5EF4-FFF2-40B4-BE49-F238E27FC236}">
                <a16:creationId xmlns:a16="http://schemas.microsoft.com/office/drawing/2014/main" id="{0E6C6640-06D6-8A61-9D40-EDC6BA002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913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1206" name="AutoShape 10" descr="“Cocktail problem”的图片搜索结果">
            <a:extLst>
              <a:ext uri="{FF2B5EF4-FFF2-40B4-BE49-F238E27FC236}">
                <a16:creationId xmlns:a16="http://schemas.microsoft.com/office/drawing/2014/main" id="{036019FF-B165-0D59-9AB7-F60C5F4EB6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3" y="1603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pic>
        <p:nvPicPr>
          <p:cNvPr id="51207" name="图片 2">
            <a:extLst>
              <a:ext uri="{FF2B5EF4-FFF2-40B4-BE49-F238E27FC236}">
                <a16:creationId xmlns:a16="http://schemas.microsoft.com/office/drawing/2014/main" id="{287FDED0-982E-4C38-22D8-8035910C2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3789363"/>
            <a:ext cx="3836987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8" name="Picture 2" descr="OFDM transmitter ideal.png">
            <a:extLst>
              <a:ext uri="{FF2B5EF4-FFF2-40B4-BE49-F238E27FC236}">
                <a16:creationId xmlns:a16="http://schemas.microsoft.com/office/drawing/2014/main" id="{5EE9FA72-9CC6-C8CE-B654-EC851BDAF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3" y="3600450"/>
            <a:ext cx="4205287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9" name="Picture 4" descr="OFDM receiver ideal.png">
            <a:extLst>
              <a:ext uri="{FF2B5EF4-FFF2-40B4-BE49-F238E27FC236}">
                <a16:creationId xmlns:a16="http://schemas.microsoft.com/office/drawing/2014/main" id="{726D6ADF-559C-8704-7AA1-B7163B401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88" y="5353050"/>
            <a:ext cx="4173537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120EF429-1A75-AEC0-FD15-E9F552882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2911475"/>
            <a:ext cx="906621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OFDM is one of the key technologies in 4G, 5G, Wi-Fi…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FC3450-A4ED-3BC0-A8BB-2B7F83733978}"/>
              </a:ext>
            </a:extLst>
          </p:cNvPr>
          <p:cNvSpPr/>
          <p:nvPr/>
        </p:nvSpPr>
        <p:spPr bwMode="auto">
          <a:xfrm>
            <a:off x="6326188" y="3686175"/>
            <a:ext cx="698500" cy="122396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9FEDCE-FCC9-1762-F2A5-A7A7191D0EDF}"/>
              </a:ext>
            </a:extLst>
          </p:cNvPr>
          <p:cNvSpPr/>
          <p:nvPr/>
        </p:nvSpPr>
        <p:spPr bwMode="auto">
          <a:xfrm>
            <a:off x="7021513" y="5451475"/>
            <a:ext cx="698500" cy="122396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92AD238-338E-B27F-7FF6-2BCBFAEBC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60350"/>
            <a:ext cx="7991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DSP: Image Processing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92521D8-7AC7-3FBD-635C-23B39A940A92}"/>
              </a:ext>
            </a:extLst>
          </p:cNvPr>
          <p:cNvGrpSpPr>
            <a:grpSpLocks/>
          </p:cNvGrpSpPr>
          <p:nvPr/>
        </p:nvGrpSpPr>
        <p:grpSpPr bwMode="auto">
          <a:xfrm>
            <a:off x="425450" y="4581525"/>
            <a:ext cx="8064500" cy="1182688"/>
            <a:chOff x="527050" y="2600597"/>
            <a:chExt cx="8064500" cy="1182688"/>
          </a:xfrm>
        </p:grpSpPr>
        <p:pic>
          <p:nvPicPr>
            <p:cNvPr id="52241" name="Picture 38">
              <a:extLst>
                <a:ext uri="{FF2B5EF4-FFF2-40B4-BE49-F238E27FC236}">
                  <a16:creationId xmlns:a16="http://schemas.microsoft.com/office/drawing/2014/main" id="{5F478514-4854-DF50-0C3F-2534A0A78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050" y="2813322"/>
              <a:ext cx="1285875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42" name="Rectangle 39">
              <a:extLst>
                <a:ext uri="{FF2B5EF4-FFF2-40B4-BE49-F238E27FC236}">
                  <a16:creationId xmlns:a16="http://schemas.microsoft.com/office/drawing/2014/main" id="{BFD86426-5512-6199-12F6-F7D309FF1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8" y="2600597"/>
              <a:ext cx="5365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source 1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43" name="Picture 44">
              <a:extLst>
                <a:ext uri="{FF2B5EF4-FFF2-40B4-BE49-F238E27FC236}">
                  <a16:creationId xmlns:a16="http://schemas.microsoft.com/office/drawing/2014/main" id="{1D5A767F-3A23-F86B-FC7E-1A7601728B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2500" y="2813322"/>
              <a:ext cx="1284288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44" name="Rectangle 45">
              <a:extLst>
                <a:ext uri="{FF2B5EF4-FFF2-40B4-BE49-F238E27FC236}">
                  <a16:creationId xmlns:a16="http://schemas.microsoft.com/office/drawing/2014/main" id="{70265D97-859E-CC57-9E6C-1AD033282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138" y="2600597"/>
              <a:ext cx="5365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source 2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45" name="Picture 50">
              <a:extLst>
                <a:ext uri="{FF2B5EF4-FFF2-40B4-BE49-F238E27FC236}">
                  <a16:creationId xmlns:a16="http://schemas.microsoft.com/office/drawing/2014/main" id="{97629BDE-0601-A3EB-E304-DA89F2625A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8425" y="2805385"/>
              <a:ext cx="1293813" cy="977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46" name="Rectangle 51">
              <a:extLst>
                <a:ext uri="{FF2B5EF4-FFF2-40B4-BE49-F238E27FC236}">
                  <a16:creationId xmlns:a16="http://schemas.microsoft.com/office/drawing/2014/main" id="{2D335C41-A85D-AD59-EC69-423FA5F1C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2600597"/>
              <a:ext cx="5365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source 3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47" name="Picture 56">
              <a:extLst>
                <a:ext uri="{FF2B5EF4-FFF2-40B4-BE49-F238E27FC236}">
                  <a16:creationId xmlns:a16="http://schemas.microsoft.com/office/drawing/2014/main" id="{852393C2-B253-4409-1721-49AB360D5A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875" y="2805385"/>
              <a:ext cx="1292225" cy="977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48" name="Rectangle 57">
              <a:extLst>
                <a:ext uri="{FF2B5EF4-FFF2-40B4-BE49-F238E27FC236}">
                  <a16:creationId xmlns:a16="http://schemas.microsoft.com/office/drawing/2014/main" id="{28D16C4C-8B17-001D-7A51-108C603FF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2600597"/>
              <a:ext cx="5365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source 4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49" name="Picture 62">
              <a:extLst>
                <a:ext uri="{FF2B5EF4-FFF2-40B4-BE49-F238E27FC236}">
                  <a16:creationId xmlns:a16="http://schemas.microsoft.com/office/drawing/2014/main" id="{1EE678D0-8AC9-8BF5-4409-C5ECD816B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9325" y="2805385"/>
              <a:ext cx="1292225" cy="977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50" name="Rectangle 63">
              <a:extLst>
                <a:ext uri="{FF2B5EF4-FFF2-40B4-BE49-F238E27FC236}">
                  <a16:creationId xmlns:a16="http://schemas.microsoft.com/office/drawing/2014/main" id="{EE195C4A-6D57-2D89-6EC2-F078C7C3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0963" y="2600597"/>
              <a:ext cx="5365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source 5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28" name="组合 27">
            <a:extLst>
              <a:ext uri="{FF2B5EF4-FFF2-40B4-BE49-F238E27FC236}">
                <a16:creationId xmlns:a16="http://schemas.microsoft.com/office/drawing/2014/main" id="{087FB186-7452-B32F-627C-47481CBFF86A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1979613"/>
            <a:ext cx="8064500" cy="1182687"/>
            <a:chOff x="527050" y="4043635"/>
            <a:chExt cx="8064500" cy="1182688"/>
          </a:xfrm>
        </p:grpSpPr>
        <p:pic>
          <p:nvPicPr>
            <p:cNvPr id="52231" name="Picture 40">
              <a:extLst>
                <a:ext uri="{FF2B5EF4-FFF2-40B4-BE49-F238E27FC236}">
                  <a16:creationId xmlns:a16="http://schemas.microsoft.com/office/drawing/2014/main" id="{BFF34E93-CAC5-74D8-E3DC-D0D8F9A0F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050" y="4256360"/>
              <a:ext cx="1284288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2" name="Rectangle 41">
              <a:extLst>
                <a:ext uri="{FF2B5EF4-FFF2-40B4-BE49-F238E27FC236}">
                  <a16:creationId xmlns:a16="http://schemas.microsoft.com/office/drawing/2014/main" id="{98EA3E45-9130-0714-3AAE-D268E1D6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813" y="4043635"/>
              <a:ext cx="56832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observ. 1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33" name="Picture 46">
              <a:extLst>
                <a:ext uri="{FF2B5EF4-FFF2-40B4-BE49-F238E27FC236}">
                  <a16:creationId xmlns:a16="http://schemas.microsoft.com/office/drawing/2014/main" id="{6EA7FA91-89A7-6D62-02B4-20D2A1F78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2500" y="4256360"/>
              <a:ext cx="1284288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4" name="Rectangle 47">
              <a:extLst>
                <a:ext uri="{FF2B5EF4-FFF2-40B4-BE49-F238E27FC236}">
                  <a16:creationId xmlns:a16="http://schemas.microsoft.com/office/drawing/2014/main" id="{8937B332-675F-4106-7BFB-2463908F5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4043635"/>
              <a:ext cx="56832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observ. 2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35" name="Picture 52">
              <a:extLst>
                <a:ext uri="{FF2B5EF4-FFF2-40B4-BE49-F238E27FC236}">
                  <a16:creationId xmlns:a16="http://schemas.microsoft.com/office/drawing/2014/main" id="{5D658943-2E65-BA53-8CDB-D136F3CF63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8425" y="4256360"/>
              <a:ext cx="1293813" cy="969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6" name="Rectangle 53">
              <a:extLst>
                <a:ext uri="{FF2B5EF4-FFF2-40B4-BE49-F238E27FC236}">
                  <a16:creationId xmlns:a16="http://schemas.microsoft.com/office/drawing/2014/main" id="{5E667CA0-72FB-AFBE-0E2B-0797227FA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775" y="4043635"/>
              <a:ext cx="56832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observ. 3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37" name="Picture 58">
              <a:extLst>
                <a:ext uri="{FF2B5EF4-FFF2-40B4-BE49-F238E27FC236}">
                  <a16:creationId xmlns:a16="http://schemas.microsoft.com/office/drawing/2014/main" id="{999585F7-BE01-D867-B597-8CEA3B882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875" y="4256360"/>
              <a:ext cx="1292225" cy="969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8" name="Rectangle 59">
              <a:extLst>
                <a:ext uri="{FF2B5EF4-FFF2-40B4-BE49-F238E27FC236}">
                  <a16:creationId xmlns:a16="http://schemas.microsoft.com/office/drawing/2014/main" id="{A82798F4-30E6-1BAB-F8DC-907C384C3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9638" y="4043635"/>
              <a:ext cx="56832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observ. 4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pic>
          <p:nvPicPr>
            <p:cNvPr id="52239" name="Picture 64">
              <a:extLst>
                <a:ext uri="{FF2B5EF4-FFF2-40B4-BE49-F238E27FC236}">
                  <a16:creationId xmlns:a16="http://schemas.microsoft.com/office/drawing/2014/main" id="{872B40C6-74C2-6952-6738-4BC7171399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9325" y="4256360"/>
              <a:ext cx="1292225" cy="969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40" name="Rectangle 65">
              <a:extLst>
                <a:ext uri="{FF2B5EF4-FFF2-40B4-BE49-F238E27FC236}">
                  <a16:creationId xmlns:a16="http://schemas.microsoft.com/office/drawing/2014/main" id="{1A919FD0-9D0C-9235-0CBD-FEA2F3F78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5088" y="4043635"/>
              <a:ext cx="56832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000">
                  <a:solidFill>
                    <a:srgbClr val="000000"/>
                  </a:solidFill>
                  <a:latin typeface="Helvetica" pitchFamily="2" charset="0"/>
                </a:rPr>
                <a:t>observ. 5</a:t>
              </a:r>
              <a:endParaRPr lang="zh-CN" altLang="zh-CN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52229" name="Rectangle 3">
            <a:extLst>
              <a:ext uri="{FF2B5EF4-FFF2-40B4-BE49-F238E27FC236}">
                <a16:creationId xmlns:a16="http://schemas.microsoft.com/office/drawing/2014/main" id="{DE861985-9BF4-D80E-A803-2683FEEA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362325"/>
            <a:ext cx="84978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five random mixtures of five source images, what’re the source images?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B5C5A3FA-FB58-FF83-9866-819B02088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228725"/>
            <a:ext cx="62118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Nonnegative Blind Source Separation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343FCA8-0052-4509-2493-44B0DF233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0350"/>
            <a:ext cx="7991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DSP: Image Processing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3E2CEF0-C4C5-F7D1-AA0E-E70217952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412875"/>
            <a:ext cx="3224212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Image </a:t>
            </a:r>
            <a:r>
              <a:rPr lang="en-US" altLang="zh-CN" sz="2800" b="1" dirty="0" err="1">
                <a:solidFill>
                  <a:srgbClr val="0070C0"/>
                </a:solidFill>
                <a:cs typeface="Times New Roman" pitchFamily="18" charset="0"/>
              </a:rPr>
              <a:t>Deblurring</a:t>
            </a:r>
            <a:endParaRPr lang="en-US" altLang="zh-CN" sz="2800" b="1" dirty="0">
              <a:solidFill>
                <a:srgbClr val="0070C0"/>
              </a:solidFill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cs typeface="Times New Roman" pitchFamily="18" charset="0"/>
            </a:endParaRPr>
          </a:p>
        </p:txBody>
      </p:sp>
      <p:pic>
        <p:nvPicPr>
          <p:cNvPr id="53252" name="Picture 2">
            <a:extLst>
              <a:ext uri="{FF2B5EF4-FFF2-40B4-BE49-F238E27FC236}">
                <a16:creationId xmlns:a16="http://schemas.microsoft.com/office/drawing/2014/main" id="{368CB7DF-B080-C6B4-1044-AD544A28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8" y="1989138"/>
            <a:ext cx="5478462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338900B-DB21-6AEE-3089-DF6D177BB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0350"/>
            <a:ext cx="7991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DSP: Image Processing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B06FDD3-A7BD-0343-CCC8-67A29765E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17613"/>
            <a:ext cx="312737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Image </a:t>
            </a:r>
            <a:r>
              <a:rPr lang="en-US" altLang="zh-CN" sz="2800" b="1" dirty="0" err="1">
                <a:solidFill>
                  <a:srgbClr val="0070C0"/>
                </a:solidFill>
                <a:cs typeface="Times New Roman" pitchFamily="18" charset="0"/>
              </a:rPr>
              <a:t>Inpainting</a:t>
            </a:r>
            <a:endParaRPr lang="en-US" altLang="zh-CN" sz="2800" b="1" dirty="0">
              <a:solidFill>
                <a:srgbClr val="0070C0"/>
              </a:solidFill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cs typeface="Times New Roman" pitchFamily="18" charset="0"/>
            </a:endParaRP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F286FF45-99C1-F618-5F48-663B96F9B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060575"/>
            <a:ext cx="5688013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04AABC7-AD39-D2AD-09F2-74673A70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328613"/>
            <a:ext cx="79914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DSP: Speech Processing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E45B454-FBFE-DAA4-C9D5-554504E0E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89138"/>
            <a:ext cx="40862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sz="2800" b="1" dirty="0">
                <a:solidFill>
                  <a:srgbClr val="0070C0"/>
                </a:solidFill>
                <a:cs typeface="Times New Roman" pitchFamily="18" charset="0"/>
              </a:rPr>
              <a:t>Cocktail Party Problem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800" dirty="0">
              <a:cs typeface="Times New Roman" pitchFamily="18" charset="0"/>
            </a:endParaRPr>
          </a:p>
        </p:txBody>
      </p:sp>
      <p:pic>
        <p:nvPicPr>
          <p:cNvPr id="55300" name="Picture 4" descr="“Cocktail problem”的图片搜索结果">
            <a:extLst>
              <a:ext uri="{FF2B5EF4-FFF2-40B4-BE49-F238E27FC236}">
                <a16:creationId xmlns:a16="http://schemas.microsoft.com/office/drawing/2014/main" id="{459D2E60-7DEF-C8B0-ACF0-95D9D5035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3109913"/>
            <a:ext cx="3633787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AutoShape 6" descr="“Cocktail problem”的图片搜索结果">
            <a:extLst>
              <a:ext uri="{FF2B5EF4-FFF2-40B4-BE49-F238E27FC236}">
                <a16:creationId xmlns:a16="http://schemas.microsoft.com/office/drawing/2014/main" id="{6ACC1E5E-EEF4-AB8F-897C-E6B9C91720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5302" name="AutoShape 8" descr="“Cocktail problem”的图片搜索结果">
            <a:extLst>
              <a:ext uri="{FF2B5EF4-FFF2-40B4-BE49-F238E27FC236}">
                <a16:creationId xmlns:a16="http://schemas.microsoft.com/office/drawing/2014/main" id="{C86326F6-ED06-7AAD-BFD6-DBDA4E4F68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913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5303" name="AutoShape 10" descr="“Cocktail problem”的图片搜索结果">
            <a:extLst>
              <a:ext uri="{FF2B5EF4-FFF2-40B4-BE49-F238E27FC236}">
                <a16:creationId xmlns:a16="http://schemas.microsoft.com/office/drawing/2014/main" id="{8970BA95-443E-B92D-8B34-63F454FEF9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3" y="1603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DDCB747C-E4F5-F4D0-24EE-560D567D9323}"/>
              </a:ext>
            </a:extLst>
          </p:cNvPr>
          <p:cNvSpPr/>
          <p:nvPr/>
        </p:nvSpPr>
        <p:spPr>
          <a:xfrm>
            <a:off x="4086225" y="3983038"/>
            <a:ext cx="846138" cy="503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55305" name="Picture 15" descr="https://onionesquereality.files.wordpress.com/2010/01/cocktail-party-problem.jpg">
            <a:extLst>
              <a:ext uri="{FF2B5EF4-FFF2-40B4-BE49-F238E27FC236}">
                <a16:creationId xmlns:a16="http://schemas.microsoft.com/office/drawing/2014/main" id="{EEA2E795-FE46-B1C7-BC80-88A8ED10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2851150"/>
            <a:ext cx="3700463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Pages>0</Pages>
  <Words>1027</Words>
  <Characters>0</Characters>
  <Application>Microsoft Macintosh PowerPoint</Application>
  <DocSecurity>0</DocSecurity>
  <PresentationFormat>全屏显示(4:3)</PresentationFormat>
  <Lines>0</Lines>
  <Paragraphs>178</Paragraphs>
  <Slides>35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Times New Roman</vt:lpstr>
      <vt:lpstr>宋体</vt:lpstr>
      <vt:lpstr>Arial</vt:lpstr>
      <vt:lpstr>Tahoma</vt:lpstr>
      <vt:lpstr>Wingdings</vt:lpstr>
      <vt:lpstr>Arial Black</vt:lpstr>
      <vt:lpstr>微软雅黑</vt:lpstr>
      <vt:lpstr>Comic Sans MS</vt:lpstr>
      <vt:lpstr>楷体_GB2312</vt:lpstr>
      <vt:lpstr>+mn-ea</vt:lpstr>
      <vt:lpstr>黑体</vt:lpstr>
      <vt:lpstr>Monotype Sorts</vt:lpstr>
      <vt:lpstr>创艺简魏碑</vt:lpstr>
      <vt:lpstr>Helvetica</vt:lpstr>
      <vt:lpstr>Blends</vt:lpstr>
      <vt:lpstr>主题1</vt:lpstr>
      <vt:lpstr>Microsoft 公式 3.0</vt:lpstr>
      <vt:lpstr>SmartDraw.2</vt:lpstr>
      <vt:lpstr>Microsoft Visio 2003-2010 绘图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 still need analog processing</vt:lpstr>
      <vt:lpstr>We still need analog processing</vt:lpstr>
      <vt:lpstr>We still need analog processing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合纵科技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Signal Processing</dc:title>
  <dc:subject/>
  <dc:creator>intel</dc:creator>
  <cp:keywords/>
  <dc:description/>
  <cp:lastModifiedBy>Yujia Lin (student)</cp:lastModifiedBy>
  <cp:revision>228</cp:revision>
  <dcterms:created xsi:type="dcterms:W3CDTF">2002-09-15T02:02:49Z</dcterms:created>
  <dcterms:modified xsi:type="dcterms:W3CDTF">2026-03-02T06:45:38Z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2052-11.1.0.8412</vt:lpwstr>
  </property>
</Properties>
</file>