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7" r:id="rId3"/>
    <p:sldId id="259" r:id="rId4"/>
    <p:sldId id="260" r:id="rId5"/>
    <p:sldId id="378" r:id="rId7"/>
    <p:sldId id="261" r:id="rId8"/>
    <p:sldId id="262" r:id="rId9"/>
    <p:sldId id="263" r:id="rId10"/>
    <p:sldId id="266" r:id="rId11"/>
    <p:sldId id="267" r:id="rId12"/>
    <p:sldId id="321" r:id="rId13"/>
    <p:sldId id="322" r:id="rId14"/>
    <p:sldId id="320" r:id="rId15"/>
    <p:sldId id="326" r:id="rId16"/>
    <p:sldId id="268" r:id="rId17"/>
    <p:sldId id="377" r:id="rId18"/>
    <p:sldId id="269" r:id="rId19"/>
    <p:sldId id="327" r:id="rId20"/>
    <p:sldId id="279" r:id="rId21"/>
    <p:sldId id="280" r:id="rId22"/>
    <p:sldId id="295" r:id="rId23"/>
    <p:sldId id="270" r:id="rId24"/>
    <p:sldId id="273" r:id="rId25"/>
    <p:sldId id="274" r:id="rId26"/>
    <p:sldId id="275" r:id="rId27"/>
    <p:sldId id="272" r:id="rId28"/>
    <p:sldId id="281" r:id="rId29"/>
    <p:sldId id="282" r:id="rId30"/>
    <p:sldId id="283" r:id="rId31"/>
    <p:sldId id="379" r:id="rId32"/>
    <p:sldId id="284" r:id="rId33"/>
    <p:sldId id="285" r:id="rId34"/>
    <p:sldId id="286" r:id="rId35"/>
    <p:sldId id="287" r:id="rId36"/>
    <p:sldId id="380" r:id="rId37"/>
    <p:sldId id="382" r:id="rId38"/>
    <p:sldId id="381" r:id="rId39"/>
    <p:sldId id="383" r:id="rId40"/>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Times New Roman" panose="02020503050405090304" pitchFamily="18"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Times New Roman" panose="02020503050405090304" pitchFamily="18"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Times New Roman" panose="02020503050405090304" pitchFamily="18"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Times New Roman" panose="02020503050405090304" pitchFamily="18"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Times New Roman" panose="02020503050405090304" pitchFamily="18"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Times New Roman" panose="02020503050405090304" pitchFamily="18" charset="0"/>
        <a:ea typeface="宋体" pitchFamily="2" charset="-122"/>
        <a:cs typeface="+mn-cs"/>
      </a:defRPr>
    </a:lvl9pPr>
  </p:defaultTextStyle>
  <p:extLst>
    <p:ext uri="{EFAFB233-063F-42B5-8137-9DF3F51BA10A}">
      <p15:sldGuideLst xmlns:p15="http://schemas.microsoft.com/office/powerpoint/2012/main">
        <p15:guide id="1" orient="horz" pos="2094" userDrawn="1">
          <p15:clr>
            <a:srgbClr val="A4A3A4"/>
          </p15:clr>
        </p15:guide>
        <p15:guide id="2" pos="2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21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7684"/>
    <p:restoredTop sz="94660"/>
  </p:normalViewPr>
  <p:slideViewPr>
    <p:cSldViewPr showGuides="1">
      <p:cViewPr varScale="1">
        <p:scale>
          <a:sx n="51" d="100"/>
          <a:sy n="51" d="100"/>
        </p:scale>
        <p:origin x="52" y="296"/>
      </p:cViewPr>
      <p:guideLst>
        <p:guide orient="horz" pos="2094"/>
        <p:guide pos="2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p>
            <a:pPr lvl="0"/>
            <a:r>
              <a:rPr lang="zh-CN" altLang="en-US" dirty="0"/>
              <a:t>单击此处编辑母版文本样式</a:t>
            </a:r>
            <a:endParaRPr lang="zh-CN" altLang="en-US" dirty="0"/>
          </a:p>
          <a:p>
            <a:pPr lvl="1" indent="0"/>
            <a:r>
              <a:rPr lang="zh-CN" altLang="en-US" dirty="0"/>
              <a:t>二级</a:t>
            </a:r>
            <a:endParaRPr lang="zh-CN" altLang="en-US" dirty="0"/>
          </a:p>
          <a:p>
            <a:pPr lvl="2" indent="0"/>
            <a:r>
              <a:rPr lang="zh-CN" altLang="en-US" dirty="0"/>
              <a:t>三级</a:t>
            </a:r>
            <a:endParaRPr lang="zh-CN" altLang="en-US" dirty="0"/>
          </a:p>
          <a:p>
            <a:pPr lvl="3" indent="0"/>
            <a:r>
              <a:rPr lang="zh-CN" altLang="en-US" dirty="0"/>
              <a:t>四级</a:t>
            </a:r>
            <a:endParaRPr lang="zh-CN" altLang="en-US" dirty="0"/>
          </a:p>
          <a:p>
            <a:pPr lvl="4" indent="0"/>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p>
            <a:pPr lvl="0" algn="r" eaLnBrk="1" fontAlgn="base" hangingPunct="1"/>
            <a:fld id="{9A0DB2DC-4C9A-4742-B13C-FB6460FD3503}" type="slidenum">
              <a:rPr lang="zh-CN" altLang="en-US" sz="1200" strike="noStrike" noProof="1" dirty="0">
                <a:latin typeface="Times New Roman" panose="02020503050405090304" pitchFamily="18" charset="0"/>
                <a:ea typeface="宋体"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幻灯片图像占位符 1"/>
          <p:cNvSpPr>
            <a:spLocks noGrp="1" noRot="1" noChangeAspect="1" noTextEdit="1"/>
          </p:cNvSpPr>
          <p:nvPr>
            <p:ph type="sldImg"/>
          </p:nvPr>
        </p:nvSpPr>
        <p:spPr>
          <a:ln>
            <a:solidFill>
              <a:srgbClr val="000000"/>
            </a:solidFill>
            <a:miter/>
          </a:ln>
        </p:spPr>
      </p:sp>
      <p:sp>
        <p:nvSpPr>
          <p:cNvPr id="16386" name="备注占位符 2"/>
          <p:cNvSpPr>
            <a:spLocks noGrp="1"/>
          </p:cNvSpPr>
          <p:nvPr>
            <p:ph type="body"/>
          </p:nvPr>
        </p:nvSpPr>
        <p:spPr/>
        <p:txBody>
          <a:bodyPr wrap="square" lIns="91440" tIns="45720" rIns="91440" bIns="45720" anchor="t" anchorCtr="0"/>
          <a:p>
            <a:pPr lvl="0">
              <a:spcBef>
                <a:spcPct val="0"/>
              </a:spcBef>
            </a:pPr>
            <a:endParaRPr lang="zh-CN" altLang="en-US" dirty="0">
              <a:ea typeface="等线" pitchFamily="2" charset="-122"/>
            </a:endParaRPr>
          </a:p>
        </p:txBody>
      </p:sp>
      <p:sp>
        <p:nvSpPr>
          <p:cNvPr id="16387"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indent="0" algn="r"/>
            <a:r>
              <a:rPr lang="zh-CN" altLang="en-US" sz="1200" dirty="0"/>
              <a:t>*</a:t>
            </a:r>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幻灯片图像占位符 1"/>
          <p:cNvSpPr/>
          <p:nvPr>
            <p:ph type="sldImg"/>
          </p:nvPr>
        </p:nvSpPr>
        <p:spPr>
          <a:ln>
            <a:solidFill>
              <a:srgbClr val="000000"/>
            </a:solidFill>
          </a:ln>
        </p:spPr>
      </p:sp>
      <p:sp>
        <p:nvSpPr>
          <p:cNvPr id="38914" name="文本占位符 2"/>
          <p:cNvSpPr>
            <a:spLocks noGrp="1"/>
          </p:cNvSpPr>
          <p:nvPr>
            <p:ph type="body"/>
          </p:nvPr>
        </p:nvSpPr>
        <p:spPr/>
        <p:txBody>
          <a:bodyPr lIns="91440" tIns="45720" rIns="91440" bIns="45720" anchor="t" anchorCtr="0"/>
          <a:p>
            <a:pPr lvl="0"/>
            <a:endParaRPr lang="zh-CN" altLang="en-US">
              <a:ea typeface="等线"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6" descr="25-268-purple-25small.png"/>
          <p:cNvPicPr>
            <a:picLocks noChangeAspect="1"/>
          </p:cNvPicPr>
          <p:nvPr/>
        </p:nvPicPr>
        <p:blipFill>
          <a:blip r:embed="rId2"/>
          <a:stretch>
            <a:fillRect/>
          </a:stretch>
        </p:blipFill>
        <p:spPr>
          <a:xfrm>
            <a:off x="7459663" y="6407150"/>
            <a:ext cx="1311275" cy="415925"/>
          </a:xfrm>
          <a:prstGeom prst="rect">
            <a:avLst/>
          </a:prstGeom>
          <a:noFill/>
          <a:ln w="9525">
            <a:noFill/>
          </a:ln>
        </p:spPr>
      </p:pic>
      <p:sp>
        <p:nvSpPr>
          <p:cNvPr id="25" name="TextBox 8"/>
          <p:cNvSpPr txBox="1">
            <a:spLocks noChangeArrowheads="1"/>
          </p:cNvSpPr>
          <p:nvPr/>
        </p:nvSpPr>
        <p:spPr bwMode="auto">
          <a:xfrm>
            <a:off x="381000" y="6529388"/>
            <a:ext cx="1600200" cy="244475"/>
          </a:xfrm>
          <a:prstGeom prst="rect">
            <a:avLst/>
          </a:prstGeom>
          <a:noFill/>
          <a:ln>
            <a:noFill/>
          </a:ln>
        </p:spPr>
        <p:txBody>
          <a:bodyPr>
            <a:spAutoFit/>
          </a:bodyP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r>
              <a:rPr kumimoji="0" lang="en-US" altLang="zh-CN" sz="1000" b="0" i="0" u="none" strike="noStrike" kern="1200" cap="none" spc="0" normalizeH="0" baseline="0" noProof="0">
                <a:ln>
                  <a:noFill/>
                </a:ln>
                <a:solidFill>
                  <a:srgbClr val="595959"/>
                </a:solidFill>
                <a:effectLst/>
                <a:uLnTx/>
                <a:uFillTx/>
                <a:latin typeface="Times New Roman" panose="02020503050405090304" pitchFamily="18" charset="0"/>
                <a:ea typeface="宋体" pitchFamily="2" charset="-122"/>
                <a:cs typeface="+mn-cs"/>
                <a:sym typeface="+mn-ea"/>
              </a:rPr>
              <a:t>© Synopsys 2012</a:t>
            </a:r>
            <a:endParaRPr kumimoji="0" lang="en-US" altLang="zh-CN" sz="1000" b="0" i="0" u="none" strike="noStrike" kern="1200" cap="none" spc="0" normalizeH="0" baseline="0" noProof="0">
              <a:ln>
                <a:noFill/>
              </a:ln>
              <a:solidFill>
                <a:srgbClr val="595959"/>
              </a:solidFill>
              <a:effectLst/>
              <a:uLnTx/>
              <a:uFillTx/>
              <a:latin typeface="Times New Roman" panose="02020503050405090304" pitchFamily="18" charset="0"/>
              <a:ea typeface="宋体" pitchFamily="2" charset="-122"/>
              <a:cs typeface="+mn-cs"/>
              <a:sym typeface="+mn-ea"/>
            </a:endParaRPr>
          </a:p>
        </p:txBody>
      </p:sp>
      <p:sp>
        <p:nvSpPr>
          <p:cNvPr id="26" name="TextBox 9"/>
          <p:cNvSpPr txBox="1">
            <a:spLocks noChangeArrowheads="1"/>
          </p:cNvSpPr>
          <p:nvPr/>
        </p:nvSpPr>
        <p:spPr bwMode="auto">
          <a:xfrm>
            <a:off x="1657350" y="6529388"/>
            <a:ext cx="639763" cy="244475"/>
          </a:xfrm>
          <a:prstGeom prst="rect">
            <a:avLst/>
          </a:prstGeom>
          <a:noFill/>
          <a:ln>
            <a:noFill/>
          </a:ln>
        </p:spPr>
        <p:txBody>
          <a:bodyPr>
            <a:spAutoFit/>
          </a:bodyP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r>
              <a:rPr kumimoji="0" lang="en-US" altLang="en-US" sz="1000" b="0" i="0" u="none" strike="noStrike" kern="1200" cap="none" spc="0" normalizeH="0" baseline="0" noProof="0">
                <a:ln>
                  <a:noFill/>
                </a:ln>
                <a:solidFill>
                  <a:srgbClr val="595959"/>
                </a:solidFill>
                <a:effectLst/>
                <a:uLnTx/>
                <a:uFillTx/>
                <a:latin typeface="Times New Roman" panose="02020503050405090304" pitchFamily="18" charset="0"/>
                <a:ea typeface="宋体" pitchFamily="2" charset="-122"/>
                <a:cs typeface="+mn-cs"/>
                <a:sym typeface="+mn-ea"/>
              </a:rPr>
              <a:t>*</a:t>
            </a:r>
            <a:endParaRPr kumimoji="0" lang="en-US" altLang="en-US" sz="1000" b="0" i="0" u="none" strike="noStrike" kern="1200" cap="none" spc="0" normalizeH="0" baseline="0" noProof="0">
              <a:ln>
                <a:noFill/>
              </a:ln>
              <a:solidFill>
                <a:srgbClr val="595959"/>
              </a:solidFill>
              <a:effectLst/>
              <a:uLnTx/>
              <a:uFillTx/>
              <a:latin typeface="Times New Roman" panose="02020503050405090304" pitchFamily="18" charset="0"/>
              <a:ea typeface="宋体" pitchFamily="2" charset="-122"/>
              <a:cs typeface="+mn-cs"/>
              <a:sym typeface="+mn-ea"/>
            </a:endParaRPr>
          </a:p>
        </p:txBody>
      </p:sp>
      <p:sp>
        <p:nvSpPr>
          <p:cNvPr id="27" name="Footer Placeholder 5"/>
          <p:cNvSpPr>
            <a:spLocks noGrp="1" noChangeArrowheads="1"/>
          </p:cNvSpPr>
          <p:nvPr/>
        </p:nvSpPr>
        <p:spPr bwMode="auto">
          <a:xfrm>
            <a:off x="2819400" y="6400800"/>
            <a:ext cx="3505200" cy="365125"/>
          </a:xfrm>
          <a:prstGeom prst="rect">
            <a:avLst/>
          </a:prstGeom>
          <a:noFill/>
          <a:ln>
            <a:noFill/>
          </a:ln>
        </p:spPr>
        <p:txBody>
          <a:bodyP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1400" b="0" i="0" u="none" strike="noStrike" kern="1200" cap="none" spc="0" normalizeH="0" baseline="0" noProof="0">
              <a:ln>
                <a:noFill/>
              </a:ln>
              <a:solidFill>
                <a:schemeClr val="tx2"/>
              </a:solidFill>
              <a:effectLst/>
              <a:uLnTx/>
              <a:uFillTx/>
              <a:latin typeface="Times New Roman" panose="02020503050405090304" pitchFamily="18" charset="0"/>
              <a:ea typeface="宋体" pitchFamily="2" charset="-122"/>
              <a:cs typeface="+mn-cs"/>
            </a:endParaRPr>
          </a:p>
        </p:txBody>
      </p:sp>
      <p:sp>
        <p:nvSpPr>
          <p:cNvPr id="28" name="Footer Placeholder 5"/>
          <p:cNvSpPr>
            <a:spLocks noGrp="1" noChangeArrowheads="1"/>
          </p:cNvSpPr>
          <p:nvPr/>
        </p:nvSpPr>
        <p:spPr bwMode="auto">
          <a:xfrm>
            <a:off x="2819400" y="6400800"/>
            <a:ext cx="3505200" cy="365125"/>
          </a:xfrm>
          <a:prstGeom prst="rect">
            <a:avLst/>
          </a:prstGeom>
          <a:noFill/>
          <a:ln>
            <a:noFill/>
          </a:ln>
        </p:spPr>
        <p:txBody>
          <a:bodyP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1400" b="0" i="0" u="none" strike="noStrike" kern="1200" cap="none" spc="0" normalizeH="0" baseline="0" noProof="0">
              <a:ln>
                <a:noFill/>
              </a:ln>
              <a:solidFill>
                <a:schemeClr val="tx2"/>
              </a:solidFill>
              <a:effectLst/>
              <a:uLnTx/>
              <a:uFillTx/>
              <a:latin typeface="Times New Roman" panose="02020503050405090304" pitchFamily="18" charset="0"/>
              <a:ea typeface="宋体" pitchFamily="2" charset="-122"/>
              <a:cs typeface="+mn-cs"/>
            </a:endParaRPr>
          </a:p>
        </p:txBody>
      </p:sp>
      <p:sp useBgFill="1">
        <p:nvSpPr>
          <p:cNvPr id="29" name="Rectangle 17"/>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30" name="Rectangle 18"/>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31" name="Rectangle 19"/>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32" name="Rectangle 20"/>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33" name="Rectangle 21"/>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34" name="Rectangle 22"/>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35" name="Rectangle 23"/>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36" name="Rectangle 24"/>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37" name="Rectangle 25"/>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38" name="Rectangle 26"/>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39" name="Rectangle 27"/>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40" name="Rectangle 28"/>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41" name="Rectangle 29"/>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42" name="Rectangle 30"/>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p:nvSpPr>
          <p:cNvPr id="43" name="Rectangle 12"/>
          <p:cNvSpPr>
            <a:spLocks noChangeArrowheads="1"/>
          </p:cNvSpPr>
          <p:nvPr/>
        </p:nvSpPr>
        <p:spPr bwMode="auto">
          <a:xfrm>
            <a:off x="0" y="6278563"/>
            <a:ext cx="1931988" cy="579438"/>
          </a:xfrm>
          <a:prstGeom prst="rect">
            <a:avLst/>
          </a:prstGeom>
          <a:solidFill>
            <a:srgbClr val="403565"/>
          </a:solidFill>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pic>
        <p:nvPicPr>
          <p:cNvPr id="2070" name="Picture 13" descr="CS1213FocusBackgr10x7-5_96_90.jpg"/>
          <p:cNvPicPr>
            <a:picLocks noChangeAspect="1"/>
          </p:cNvPicPr>
          <p:nvPr/>
        </p:nvPicPr>
        <p:blipFill>
          <a:blip r:embed="rId3"/>
          <a:stretch>
            <a:fillRect/>
          </a:stretch>
        </p:blipFill>
        <p:spPr>
          <a:xfrm>
            <a:off x="0" y="0"/>
            <a:ext cx="9144000" cy="6324600"/>
          </a:xfrm>
          <a:prstGeom prst="rect">
            <a:avLst/>
          </a:prstGeom>
          <a:noFill/>
          <a:ln w="9525">
            <a:noFill/>
          </a:ln>
        </p:spPr>
      </p:pic>
      <p:sp>
        <p:nvSpPr>
          <p:cNvPr id="2071" name="标题 2070"/>
          <p:cNvSpPr>
            <a:spLocks noGrp="1"/>
          </p:cNvSpPr>
          <p:nvPr>
            <p:ph type="ctrTitle"/>
          </p:nvPr>
        </p:nvSpPr>
        <p:spPr>
          <a:xfrm>
            <a:off x="693738" y="1106488"/>
            <a:ext cx="7772400" cy="1236662"/>
          </a:xfrm>
          <a:prstGeom prst="rect">
            <a:avLst/>
          </a:prstGeom>
          <a:noFill/>
          <a:ln w="9525">
            <a:noFill/>
            <a:miter/>
          </a:ln>
        </p:spPr>
        <p:txBody>
          <a:bodyPr/>
          <a:lstStyle>
            <a:lvl1pPr lvl="0" algn="ctr">
              <a:defRPr sz="4000" kern="1200"/>
            </a:lvl1pPr>
          </a:lstStyle>
          <a:p>
            <a:pPr lvl="0" fontAlgn="base"/>
            <a:r>
              <a:rPr lang="zh-CN" altLang="en-US" strike="noStrike" noProof="1"/>
              <a:t>单击此处编辑母版标题样式</a:t>
            </a:r>
            <a:endParaRPr lang="zh-CN" altLang="en-US" strike="noStrike" noProof="1"/>
          </a:p>
        </p:txBody>
      </p:sp>
      <p:sp>
        <p:nvSpPr>
          <p:cNvPr id="2072" name="副标题 2071"/>
          <p:cNvSpPr>
            <a:spLocks noGrp="1"/>
          </p:cNvSpPr>
          <p:nvPr>
            <p:ph type="subTitle" idx="1"/>
          </p:nvPr>
        </p:nvSpPr>
        <p:spPr>
          <a:xfrm>
            <a:off x="1379538" y="2503488"/>
            <a:ext cx="6400800" cy="1060450"/>
          </a:xfrm>
          <a:prstGeom prst="rect">
            <a:avLst/>
          </a:prstGeom>
          <a:noFill/>
          <a:ln w="9525">
            <a:noFill/>
            <a:miter/>
          </a:ln>
        </p:spPr>
        <p:txBody>
          <a:bodyPr/>
          <a:lstStyle>
            <a:lvl1pPr marL="0" lvl="0" indent="0" algn="ctr">
              <a:buNone/>
              <a:defRPr sz="3000" kern="1200">
                <a:solidFill>
                  <a:schemeClr val="bg1"/>
                </a:solidFill>
              </a:defRPr>
            </a:lvl1pPr>
            <a:lvl2pPr marL="341630" lvl="1" indent="-341630" algn="ctr">
              <a:buNone/>
              <a:defRPr sz="2400" kern="1200">
                <a:solidFill>
                  <a:schemeClr val="tx1"/>
                </a:solidFill>
              </a:defRPr>
            </a:lvl2pPr>
            <a:lvl3pPr marL="682625" lvl="2" indent="-682625" algn="ctr">
              <a:buNone/>
              <a:defRPr sz="2400" kern="1200">
                <a:solidFill>
                  <a:schemeClr val="tx1"/>
                </a:solidFill>
              </a:defRPr>
            </a:lvl3pPr>
            <a:lvl4pPr marL="1371600" lvl="3" indent="-1371600" algn="ctr">
              <a:buNone/>
              <a:defRPr sz="2400" kern="1200">
                <a:solidFill>
                  <a:schemeClr val="tx1"/>
                </a:solidFill>
              </a:defRPr>
            </a:lvl4pPr>
            <a:lvl5pPr marL="1828800" lvl="4" indent="-1828800" algn="ctr">
              <a:buNone/>
              <a:defRPr sz="2400" kern="1200">
                <a:solidFill>
                  <a:schemeClr val="tx1"/>
                </a:solidFill>
              </a:defRPr>
            </a:lvl5pPr>
          </a:lstStyle>
          <a:p>
            <a:pPr lvl="0"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466850"/>
            <a:ext cx="4032504" cy="465931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4296" y="1466850"/>
            <a:ext cx="4032504" cy="465931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68275"/>
            <a:ext cx="2057400" cy="5957888"/>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8275"/>
            <a:ext cx="6052930" cy="5957888"/>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quarter" idx="1"/>
          </p:nvPr>
        </p:nvSpPr>
        <p:spPr>
          <a:xfrm>
            <a:off x="628650" y="1825625"/>
            <a:ext cx="3886200" cy="209867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628650" y="4076700"/>
            <a:ext cx="3886200" cy="210026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6" name="内容占位符 5"/>
          <p:cNvSpPr>
            <a:spLocks noGrp="1"/>
          </p:cNvSpPr>
          <p:nvPr>
            <p:ph sz="quarter" idx="4"/>
          </p:nvPr>
        </p:nvSpPr>
        <p:spPr>
          <a:xfrm>
            <a:off x="4629150" y="4076700"/>
            <a:ext cx="3886200" cy="210026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jpe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6" descr="25-268-purple-25small.png"/>
          <p:cNvPicPr>
            <a:picLocks noChangeAspect="1"/>
          </p:cNvPicPr>
          <p:nvPr/>
        </p:nvPicPr>
        <p:blipFill>
          <a:blip r:embed="rId13"/>
          <a:stretch>
            <a:fillRect/>
          </a:stretch>
        </p:blipFill>
        <p:spPr>
          <a:xfrm>
            <a:off x="7459663" y="6407150"/>
            <a:ext cx="1311275" cy="415925"/>
          </a:xfrm>
          <a:prstGeom prst="rect">
            <a:avLst/>
          </a:prstGeom>
          <a:noFill/>
          <a:ln w="9525">
            <a:noFill/>
          </a:ln>
        </p:spPr>
      </p:pic>
      <p:sp>
        <p:nvSpPr>
          <p:cNvPr id="1027" name="TextBox 8"/>
          <p:cNvSpPr txBox="1">
            <a:spLocks noChangeArrowheads="1"/>
          </p:cNvSpPr>
          <p:nvPr/>
        </p:nvSpPr>
        <p:spPr bwMode="auto">
          <a:xfrm>
            <a:off x="381000" y="6529388"/>
            <a:ext cx="1600200" cy="244475"/>
          </a:xfrm>
          <a:prstGeom prst="rect">
            <a:avLst/>
          </a:prstGeom>
          <a:noFill/>
          <a:ln>
            <a:noFill/>
          </a:ln>
        </p:spPr>
        <p:txBody>
          <a:bodyPr>
            <a:spAutoFit/>
          </a:bodyP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r>
              <a:rPr kumimoji="0" lang="en-US" altLang="zh-CN" sz="1000" b="0" i="0" u="none" strike="noStrike" kern="1200" cap="none" spc="0" normalizeH="0" baseline="0" noProof="0">
                <a:ln>
                  <a:noFill/>
                </a:ln>
                <a:solidFill>
                  <a:srgbClr val="595959"/>
                </a:solidFill>
                <a:effectLst/>
                <a:uLnTx/>
                <a:uFillTx/>
                <a:latin typeface="Times New Roman" panose="02020503050405090304" pitchFamily="18" charset="0"/>
                <a:ea typeface="宋体" pitchFamily="2" charset="-122"/>
                <a:cs typeface="+mn-cs"/>
                <a:sym typeface="+mn-ea"/>
              </a:rPr>
              <a:t>© Synopsys 2012</a:t>
            </a:r>
            <a:endParaRPr kumimoji="0" lang="en-US" altLang="zh-CN" sz="1000" b="0" i="0" u="none" strike="noStrike" kern="1200" cap="none" spc="0" normalizeH="0" baseline="0" noProof="0">
              <a:ln>
                <a:noFill/>
              </a:ln>
              <a:solidFill>
                <a:srgbClr val="595959"/>
              </a:solidFill>
              <a:effectLst/>
              <a:uLnTx/>
              <a:uFillTx/>
              <a:latin typeface="Times New Roman" panose="02020503050405090304" pitchFamily="18" charset="0"/>
              <a:ea typeface="宋体" pitchFamily="2" charset="-122"/>
              <a:cs typeface="+mn-cs"/>
              <a:sym typeface="+mn-ea"/>
            </a:endParaRPr>
          </a:p>
        </p:txBody>
      </p:sp>
      <p:sp>
        <p:nvSpPr>
          <p:cNvPr id="1028" name="TextBox 9"/>
          <p:cNvSpPr txBox="1">
            <a:spLocks noChangeArrowheads="1"/>
          </p:cNvSpPr>
          <p:nvPr/>
        </p:nvSpPr>
        <p:spPr bwMode="auto">
          <a:xfrm>
            <a:off x="1657350" y="6529388"/>
            <a:ext cx="639763" cy="244475"/>
          </a:xfrm>
          <a:prstGeom prst="rect">
            <a:avLst/>
          </a:prstGeom>
          <a:noFill/>
          <a:ln>
            <a:noFill/>
          </a:ln>
        </p:spPr>
        <p:txBody>
          <a:bodyPr>
            <a:spAutoFit/>
          </a:bodyP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r>
              <a:rPr kumimoji="0" lang="en-US" altLang="en-US" sz="1000" b="0" i="0" u="none" strike="noStrike" kern="1200" cap="none" spc="0" normalizeH="0" baseline="0" noProof="0">
                <a:ln>
                  <a:noFill/>
                </a:ln>
                <a:solidFill>
                  <a:srgbClr val="595959"/>
                </a:solidFill>
                <a:effectLst/>
                <a:uLnTx/>
                <a:uFillTx/>
                <a:latin typeface="Times New Roman" panose="02020503050405090304" pitchFamily="18" charset="0"/>
                <a:ea typeface="宋体" pitchFamily="2" charset="-122"/>
                <a:cs typeface="+mn-cs"/>
                <a:sym typeface="+mn-ea"/>
              </a:rPr>
              <a:t>*</a:t>
            </a:r>
            <a:endParaRPr kumimoji="0" lang="en-US" altLang="en-US" sz="1000" b="0" i="0" u="none" strike="noStrike" kern="1200" cap="none" spc="0" normalizeH="0" baseline="0" noProof="0">
              <a:ln>
                <a:noFill/>
              </a:ln>
              <a:solidFill>
                <a:srgbClr val="595959"/>
              </a:solidFill>
              <a:effectLst/>
              <a:uLnTx/>
              <a:uFillTx/>
              <a:latin typeface="Times New Roman" panose="02020503050405090304" pitchFamily="18" charset="0"/>
              <a:ea typeface="宋体" pitchFamily="2" charset="-122"/>
              <a:cs typeface="+mn-cs"/>
              <a:sym typeface="+mn-ea"/>
            </a:endParaRPr>
          </a:p>
        </p:txBody>
      </p:sp>
      <p:sp>
        <p:nvSpPr>
          <p:cNvPr id="1029" name="Footer Placeholder 5"/>
          <p:cNvSpPr>
            <a:spLocks noGrp="1" noChangeArrowheads="1"/>
          </p:cNvSpPr>
          <p:nvPr/>
        </p:nvSpPr>
        <p:spPr bwMode="auto">
          <a:xfrm>
            <a:off x="2819400" y="6400800"/>
            <a:ext cx="3505200" cy="365125"/>
          </a:xfrm>
          <a:prstGeom prst="rect">
            <a:avLst/>
          </a:prstGeom>
          <a:noFill/>
          <a:ln>
            <a:noFill/>
          </a:ln>
        </p:spPr>
        <p:txBody>
          <a:bodyP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1400" b="0" i="0" u="none" strike="noStrike" kern="1200" cap="none" spc="0" normalizeH="0" baseline="0" noProof="0">
              <a:ln>
                <a:noFill/>
              </a:ln>
              <a:solidFill>
                <a:schemeClr val="tx2"/>
              </a:solidFill>
              <a:effectLst/>
              <a:uLnTx/>
              <a:uFillTx/>
              <a:latin typeface="Times New Roman" panose="02020503050405090304" pitchFamily="18" charset="0"/>
              <a:ea typeface="宋体" pitchFamily="2" charset="-122"/>
              <a:cs typeface="+mn-cs"/>
            </a:endParaRPr>
          </a:p>
        </p:txBody>
      </p:sp>
      <p:pic>
        <p:nvPicPr>
          <p:cNvPr id="1030" name="Picture 13" descr="PPT Banner NonPrint_Internal_copy.jpg"/>
          <p:cNvPicPr>
            <a:picLocks noChangeAspect="1"/>
          </p:cNvPicPr>
          <p:nvPr/>
        </p:nvPicPr>
        <p:blipFill>
          <a:blip r:embed="rId14"/>
          <a:stretch>
            <a:fillRect/>
          </a:stretch>
        </p:blipFill>
        <p:spPr>
          <a:xfrm>
            <a:off x="0" y="0"/>
            <a:ext cx="7150100" cy="1303338"/>
          </a:xfrm>
          <a:prstGeom prst="rect">
            <a:avLst/>
          </a:prstGeom>
          <a:noFill/>
          <a:ln w="9525">
            <a:noFill/>
          </a:ln>
        </p:spPr>
      </p:pic>
      <p:sp>
        <p:nvSpPr>
          <p:cNvPr id="1031" name="Rectangle 14"/>
          <p:cNvSpPr>
            <a:spLocks noChangeArrowheads="1"/>
          </p:cNvSpPr>
          <p:nvPr/>
        </p:nvSpPr>
        <p:spPr bwMode="auto">
          <a:xfrm>
            <a:off x="7162800" y="0"/>
            <a:ext cx="1981200" cy="1298575"/>
          </a:xfrm>
          <a:prstGeom prst="rect">
            <a:avLst/>
          </a:prstGeom>
          <a:solidFill>
            <a:srgbClr val="403565"/>
          </a:solidFill>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32" name="Rectangle 17"/>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33" name="Rectangle 18"/>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34" name="Rectangle 19"/>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35" name="Rectangle 20"/>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36" name="Rectangle 21"/>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37" name="Rectangle 22"/>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38" name="Rectangle 23"/>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39" name="Rectangle 24"/>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40" name="Rectangle 25"/>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41" name="Rectangle 26"/>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42" name="Rectangle 27"/>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43" name="Rectangle 28"/>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44" name="Rectangle 29"/>
          <p:cNvSpPr>
            <a:spLocks noChangeArrowheads="1"/>
          </p:cNvSpPr>
          <p:nvPr/>
        </p:nvSpPr>
        <p:spPr bwMode="auto">
          <a:xfrm>
            <a:off x="252413"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useBgFill="1">
        <p:nvSpPr>
          <p:cNvPr id="1045" name="Rectangle 30"/>
          <p:cNvSpPr>
            <a:spLocks noChangeArrowheads="1"/>
          </p:cNvSpPr>
          <p:nvPr/>
        </p:nvSpPr>
        <p:spPr bwMode="auto">
          <a:xfrm>
            <a:off x="7308850" y="6378575"/>
            <a:ext cx="1808163" cy="465138"/>
          </a:xfrm>
          <a:prstGeom prst="rect">
            <a:avLst/>
          </a:prstGeom>
          <a:ln>
            <a:noFill/>
          </a:ln>
        </p:spPr>
        <p:txBody>
          <a:bodyPr anchor="ctr"/>
          <a:lstStyle>
            <a:lvl1pPr>
              <a:defRPr>
                <a:solidFill>
                  <a:schemeClr val="tx1"/>
                </a:solidFill>
                <a:latin typeface="Times New Roman" panose="02020503050405090304" pitchFamily="18" charset="0"/>
                <a:ea typeface="宋体" pitchFamily="2" charset="-122"/>
              </a:defRPr>
            </a:lvl1pPr>
            <a:lvl2pPr>
              <a:defRPr>
                <a:solidFill>
                  <a:schemeClr val="tx1"/>
                </a:solidFill>
                <a:latin typeface="Times New Roman" panose="02020503050405090304" pitchFamily="18" charset="0"/>
                <a:ea typeface="宋体" pitchFamily="2" charset="-122"/>
              </a:defRPr>
            </a:lvl2pPr>
            <a:lvl3pPr>
              <a:defRPr>
                <a:solidFill>
                  <a:schemeClr val="tx1"/>
                </a:solidFill>
                <a:latin typeface="Times New Roman" panose="02020503050405090304" pitchFamily="18" charset="0"/>
                <a:ea typeface="宋体" pitchFamily="2" charset="-122"/>
              </a:defRPr>
            </a:lvl3pPr>
            <a:lvl4pPr>
              <a:defRPr>
                <a:solidFill>
                  <a:schemeClr val="tx1"/>
                </a:solidFill>
                <a:latin typeface="Times New Roman" panose="02020503050405090304" pitchFamily="18" charset="0"/>
                <a:ea typeface="宋体" pitchFamily="2" charset="-122"/>
              </a:defRPr>
            </a:lvl4pPr>
            <a:lvl5pPr>
              <a:defRPr>
                <a:solidFill>
                  <a:schemeClr val="tx1"/>
                </a:solidFill>
                <a:latin typeface="Times New Roman" panose="0202050305040509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altLang="en-US" sz="2400" b="0" i="0" u="none" strike="noStrike" kern="1200" cap="none" spc="0" normalizeH="0" baseline="0" noProof="0">
              <a:ln>
                <a:noFill/>
              </a:ln>
              <a:solidFill>
                <a:srgbClr val="FFFFFF"/>
              </a:solidFill>
              <a:effectLst/>
              <a:uLnTx/>
              <a:uFillTx/>
              <a:latin typeface="Times New Roman" panose="02020503050405090304" pitchFamily="18" charset="0"/>
              <a:ea typeface="宋体" pitchFamily="2" charset="-122"/>
              <a:cs typeface="+mn-cs"/>
            </a:endParaRPr>
          </a:p>
        </p:txBody>
      </p:sp>
      <p:sp>
        <p:nvSpPr>
          <p:cNvPr id="1046" name="标题 1045"/>
          <p:cNvSpPr/>
          <p:nvPr>
            <p:ph type="title"/>
          </p:nvPr>
        </p:nvSpPr>
        <p:spPr>
          <a:xfrm>
            <a:off x="457200" y="168275"/>
            <a:ext cx="8229600" cy="1131888"/>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47" name="文本占位符 1046"/>
          <p:cNvSpPr/>
          <p:nvPr>
            <p:ph type="body"/>
          </p:nvPr>
        </p:nvSpPr>
        <p:spPr>
          <a:xfrm>
            <a:off x="457200" y="1466850"/>
            <a:ext cx="8229600" cy="4659313"/>
          </a:xfrm>
          <a:prstGeom prst="rect">
            <a:avLst/>
          </a:prstGeom>
          <a:noFill/>
          <a:ln w="9525">
            <a:noFill/>
          </a:ln>
        </p:spPr>
        <p:txBody>
          <a:bodyPr anchor="t" anchorCtr="0"/>
          <a:p>
            <a:pPr lvl="0" indent="-342900"/>
            <a:r>
              <a:rPr lang="zh-CN" altLang="en-US" dirty="0"/>
              <a:t>单击此处编辑母版文本样式</a:t>
            </a:r>
            <a:endParaRPr lang="zh-CN" altLang="en-US" dirty="0"/>
          </a:p>
          <a:p>
            <a:pPr lvl="1" indent="-349250"/>
            <a:r>
              <a:rPr lang="zh-CN" altLang="en-US" dirty="0"/>
              <a:t>第二级</a:t>
            </a:r>
            <a:endParaRPr lang="zh-CN" altLang="en-US" dirty="0"/>
          </a:p>
          <a:p>
            <a:pPr lvl="2" indent="-344805"/>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200" b="1" kern="1200">
          <a:solidFill>
            <a:schemeClr val="bg1"/>
          </a:solidFill>
          <a:latin typeface="+mj-lt"/>
          <a:ea typeface="+mj-ea"/>
          <a:cs typeface="+mj-cs"/>
        </a:defRPr>
      </a:lvl1pPr>
      <a:lvl2pPr algn="l" rtl="0" fontAlgn="base">
        <a:spcBef>
          <a:spcPct val="0"/>
        </a:spcBef>
        <a:spcAft>
          <a:spcPct val="0"/>
        </a:spcAft>
        <a:defRPr sz="3200" b="1">
          <a:solidFill>
            <a:schemeClr val="bg1"/>
          </a:solidFill>
          <a:latin typeface="Arial" panose="020B0604020202090204" pitchFamily="34" charset="0"/>
          <a:ea typeface="宋体" pitchFamily="2" charset="-122"/>
        </a:defRPr>
      </a:lvl2pPr>
      <a:lvl3pPr algn="l" rtl="0" fontAlgn="base">
        <a:spcBef>
          <a:spcPct val="0"/>
        </a:spcBef>
        <a:spcAft>
          <a:spcPct val="0"/>
        </a:spcAft>
        <a:defRPr sz="3200" b="1">
          <a:solidFill>
            <a:schemeClr val="bg1"/>
          </a:solidFill>
          <a:latin typeface="Arial" panose="020B0604020202090204" pitchFamily="34" charset="0"/>
          <a:ea typeface="宋体" pitchFamily="2" charset="-122"/>
        </a:defRPr>
      </a:lvl3pPr>
      <a:lvl4pPr algn="l" rtl="0" fontAlgn="base">
        <a:spcBef>
          <a:spcPct val="0"/>
        </a:spcBef>
        <a:spcAft>
          <a:spcPct val="0"/>
        </a:spcAft>
        <a:defRPr sz="3200" b="1">
          <a:solidFill>
            <a:schemeClr val="bg1"/>
          </a:solidFill>
          <a:latin typeface="Arial" panose="020B0604020202090204" pitchFamily="34" charset="0"/>
          <a:ea typeface="宋体" pitchFamily="2" charset="-122"/>
        </a:defRPr>
      </a:lvl4pPr>
      <a:lvl5pPr algn="l" rtl="0" fontAlgn="base">
        <a:spcBef>
          <a:spcPct val="0"/>
        </a:spcBef>
        <a:spcAft>
          <a:spcPct val="0"/>
        </a:spcAft>
        <a:defRPr sz="3200" b="1">
          <a:solidFill>
            <a:schemeClr val="bg1"/>
          </a:solidFill>
          <a:latin typeface="Arial" panose="020B0604020202090204" pitchFamily="34" charset="0"/>
          <a:ea typeface="宋体" pitchFamily="2" charset="-122"/>
        </a:defRPr>
      </a:lvl5pPr>
      <a:lvl6pPr marL="457200" algn="l" rtl="0" fontAlgn="base">
        <a:spcBef>
          <a:spcPct val="0"/>
        </a:spcBef>
        <a:spcAft>
          <a:spcPct val="0"/>
        </a:spcAft>
        <a:defRPr sz="3200" b="1">
          <a:solidFill>
            <a:schemeClr val="bg1"/>
          </a:solidFill>
          <a:latin typeface="Arial" panose="020B0604020202090204" pitchFamily="34" charset="0"/>
          <a:ea typeface="宋体" pitchFamily="2" charset="-122"/>
        </a:defRPr>
      </a:lvl6pPr>
      <a:lvl7pPr marL="914400" algn="l" rtl="0" fontAlgn="base">
        <a:spcBef>
          <a:spcPct val="0"/>
        </a:spcBef>
        <a:spcAft>
          <a:spcPct val="0"/>
        </a:spcAft>
        <a:defRPr sz="3200" b="1">
          <a:solidFill>
            <a:schemeClr val="bg1"/>
          </a:solidFill>
          <a:latin typeface="Arial" panose="020B0604020202090204" pitchFamily="34" charset="0"/>
          <a:ea typeface="宋体" pitchFamily="2" charset="-122"/>
        </a:defRPr>
      </a:lvl7pPr>
      <a:lvl8pPr marL="1371600" algn="l" rtl="0" fontAlgn="base">
        <a:spcBef>
          <a:spcPct val="0"/>
        </a:spcBef>
        <a:spcAft>
          <a:spcPct val="0"/>
        </a:spcAft>
        <a:defRPr sz="3200" b="1">
          <a:solidFill>
            <a:schemeClr val="bg1"/>
          </a:solidFill>
          <a:latin typeface="Arial" panose="020B0604020202090204" pitchFamily="34" charset="0"/>
          <a:ea typeface="宋体" pitchFamily="2" charset="-122"/>
        </a:defRPr>
      </a:lvl8pPr>
      <a:lvl9pPr marL="1828800" algn="l" rtl="0" fontAlgn="base">
        <a:spcBef>
          <a:spcPct val="0"/>
        </a:spcBef>
        <a:spcAft>
          <a:spcPct val="0"/>
        </a:spcAft>
        <a:defRPr sz="3200" b="1">
          <a:solidFill>
            <a:schemeClr val="bg1"/>
          </a:solidFill>
          <a:latin typeface="Arial" panose="020B0604020202090204" pitchFamily="34" charset="0"/>
          <a:ea typeface="宋体" pitchFamily="2" charset="-122"/>
        </a:defRPr>
      </a:lvl9pPr>
    </p:titleStyle>
    <p:bodyStyle>
      <a:lvl1pPr marL="342900" indent="-342900" algn="l" rtl="0" fontAlgn="base">
        <a:spcBef>
          <a:spcPct val="20000"/>
        </a:spcBef>
        <a:spcAft>
          <a:spcPct val="0"/>
        </a:spcAft>
        <a:buFont typeface="Arial" panose="020B0604020202090204" pitchFamily="34" charset="0"/>
        <a:buChar char="•"/>
        <a:defRPr sz="2600" kern="1200">
          <a:solidFill>
            <a:schemeClr val="tx1"/>
          </a:solidFill>
          <a:latin typeface="+mn-lt"/>
          <a:ea typeface="+mn-ea"/>
          <a:cs typeface="+mn-cs"/>
        </a:defRPr>
      </a:lvl1pPr>
      <a:lvl2pPr marL="690880" lvl="1" indent="-349250" algn="l" rtl="0" fontAlgn="base">
        <a:spcBef>
          <a:spcPct val="20000"/>
        </a:spcBef>
        <a:spcAft>
          <a:spcPct val="0"/>
        </a:spcAft>
        <a:buFont typeface="Arial" panose="020B0604020202090204" pitchFamily="34" charset="0"/>
        <a:buChar char="–"/>
        <a:defRPr sz="2400" kern="1200">
          <a:solidFill>
            <a:schemeClr val="tx1"/>
          </a:solidFill>
          <a:latin typeface="+mn-lt"/>
          <a:ea typeface="+mn-ea"/>
          <a:cs typeface="+mn-cs"/>
        </a:defRPr>
      </a:lvl2pPr>
      <a:lvl3pPr marL="1027430" lvl="2" indent="-344805" algn="l" rtl="0" fontAlgn="base">
        <a:spcBef>
          <a:spcPct val="20000"/>
        </a:spcBef>
        <a:spcAft>
          <a:spcPct val="0"/>
        </a:spcAft>
        <a:buFont typeface="Arial" panose="020B0604020202090204" pitchFamily="34" charset="0"/>
        <a:buChar char="−"/>
        <a:defRPr sz="2200" kern="1200">
          <a:solidFill>
            <a:schemeClr val="tx1"/>
          </a:solidFill>
          <a:latin typeface="+mn-lt"/>
          <a:ea typeface="+mn-ea"/>
          <a:cs typeface="+mn-cs"/>
        </a:defRPr>
      </a:lvl3pPr>
      <a:lvl4pPr marL="1600200" lvl="3" indent="-228600" algn="l" rtl="0" fontAlgn="base">
        <a:spcBef>
          <a:spcPct val="200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lvl="4" indent="-228600" algn="l" rtl="0" fontAlgn="base">
        <a:spcBef>
          <a:spcPct val="200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lvl="5" indent="-228600" algn="l" defTabSz="914400" eaLnBrk="1" fontAlgn="base" latinLnBrk="0" hangingPunct="1">
        <a:spcBef>
          <a:spcPct val="20000"/>
        </a:spcBef>
        <a:spcAft>
          <a:spcPct val="0"/>
        </a:spcAft>
        <a:buFont typeface="Arial" panose="020B0604020202090204" pitchFamily="34" charset="0"/>
        <a:buChar char="»"/>
        <a:defRPr sz="1800" u="none" kern="1200" baseline="0">
          <a:solidFill>
            <a:schemeClr val="tx1"/>
          </a:solidFill>
          <a:latin typeface="+mn-lt"/>
          <a:ea typeface="+mn-ea"/>
          <a:cs typeface="+mn-cs"/>
        </a:defRPr>
      </a:lvl6pPr>
      <a:lvl7pPr marL="2971800" lvl="6" indent="-228600" algn="l" defTabSz="914400" eaLnBrk="1" fontAlgn="base" latinLnBrk="0" hangingPunct="1">
        <a:spcBef>
          <a:spcPct val="20000"/>
        </a:spcBef>
        <a:spcAft>
          <a:spcPct val="0"/>
        </a:spcAft>
        <a:buFont typeface="Arial" panose="020B0604020202090204" pitchFamily="34" charset="0"/>
        <a:buChar char="»"/>
        <a:defRPr sz="1800" u="none" kern="1200" baseline="0">
          <a:solidFill>
            <a:schemeClr val="tx1"/>
          </a:solidFill>
          <a:latin typeface="+mn-lt"/>
          <a:ea typeface="+mn-ea"/>
          <a:cs typeface="+mn-cs"/>
        </a:defRPr>
      </a:lvl7pPr>
      <a:lvl8pPr marL="3429000" lvl="7" indent="-228600" algn="l" defTabSz="914400" eaLnBrk="1" fontAlgn="base" latinLnBrk="0" hangingPunct="1">
        <a:spcBef>
          <a:spcPct val="20000"/>
        </a:spcBef>
        <a:spcAft>
          <a:spcPct val="0"/>
        </a:spcAft>
        <a:buFont typeface="Arial" panose="020B0604020202090204" pitchFamily="34" charset="0"/>
        <a:buChar char="»"/>
        <a:defRPr sz="1800" u="none" kern="1200" baseline="0">
          <a:solidFill>
            <a:schemeClr val="tx1"/>
          </a:solidFill>
          <a:latin typeface="+mn-lt"/>
          <a:ea typeface="+mn-ea"/>
          <a:cs typeface="+mn-cs"/>
        </a:defRPr>
      </a:lvl8pPr>
      <a:lvl9pPr marL="3886200" lvl="8" indent="-228600" algn="l" defTabSz="914400" eaLnBrk="1" fontAlgn="base" latinLnBrk="0" hangingPunct="1">
        <a:spcBef>
          <a:spcPct val="20000"/>
        </a:spcBef>
        <a:spcAft>
          <a:spcPct val="0"/>
        </a:spcAft>
        <a:buFont typeface="Arial" panose="020B0604020202090204" pitchFamily="34" charset="0"/>
        <a:buChar char="»"/>
        <a:defRPr sz="180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90204" pitchFamily="34" charset="0"/>
        <a:buNone/>
        <a:defRPr sz="240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90204" pitchFamily="34" charset="0"/>
        <a:buNone/>
        <a:defRPr sz="180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90204" pitchFamily="34" charset="0"/>
        <a:buNone/>
        <a:defRPr sz="180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90204" pitchFamily="34" charset="0"/>
        <a:buNone/>
        <a:defRPr sz="180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90204" pitchFamily="34" charset="0"/>
        <a:buNone/>
        <a:defRPr sz="180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90204" pitchFamily="34" charset="0"/>
        <a:buNone/>
        <a:defRPr sz="180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90204" pitchFamily="34" charset="0"/>
        <a:buNone/>
        <a:defRPr sz="180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90204" pitchFamily="34" charset="0"/>
        <a:buNone/>
        <a:defRPr sz="180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90204" pitchFamily="34" charset="0"/>
        <a:buNone/>
        <a:defRPr sz="180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6.wmf"/><Relationship Id="rId3" Type="http://schemas.openxmlformats.org/officeDocument/2006/relationships/oleObject" Target="../embeddings/oleObject3.bin"/><Relationship Id="rId2" Type="http://schemas.openxmlformats.org/officeDocument/2006/relationships/image" Target="../media/image5.w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wmf"/><Relationship Id="rId7" Type="http://schemas.openxmlformats.org/officeDocument/2006/relationships/oleObject" Target="../embeddings/oleObject7.bin"/><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8.wmf"/><Relationship Id="rId3" Type="http://schemas.openxmlformats.org/officeDocument/2006/relationships/oleObject" Target="../embeddings/oleObject5.bin"/><Relationship Id="rId2" Type="http://schemas.openxmlformats.org/officeDocument/2006/relationships/image" Target="../media/image7.wmf"/><Relationship Id="rId11" Type="http://schemas.openxmlformats.org/officeDocument/2006/relationships/notesSlide" Target="../notesSlides/notesSlide2.xml"/><Relationship Id="rId10" Type="http://schemas.openxmlformats.org/officeDocument/2006/relationships/vmlDrawing" Target="../drawings/vmlDrawing3.vml"/><Relationship Id="rId1"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8.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2.wmf"/><Relationship Id="rId1"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oleObject" Target="../embeddings/oleObject10.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15.wmf"/><Relationship Id="rId3" Type="http://schemas.openxmlformats.org/officeDocument/2006/relationships/oleObject" Target="../embeddings/oleObject12.bin"/><Relationship Id="rId2" Type="http://schemas.openxmlformats.org/officeDocument/2006/relationships/image" Target="../media/image14.wmf"/><Relationship Id="rId1" Type="http://schemas.openxmlformats.org/officeDocument/2006/relationships/oleObject" Target="../embeddings/oleObject11.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17.bin"/><Relationship Id="rId8" Type="http://schemas.openxmlformats.org/officeDocument/2006/relationships/image" Target="../media/image19.wmf"/><Relationship Id="rId7" Type="http://schemas.openxmlformats.org/officeDocument/2006/relationships/oleObject" Target="../embeddings/oleObject16.bin"/><Relationship Id="rId6" Type="http://schemas.openxmlformats.org/officeDocument/2006/relationships/image" Target="../media/image18.wmf"/><Relationship Id="rId5" Type="http://schemas.openxmlformats.org/officeDocument/2006/relationships/oleObject" Target="../embeddings/oleObject15.bin"/><Relationship Id="rId4" Type="http://schemas.openxmlformats.org/officeDocument/2006/relationships/image" Target="../media/image17.wmf"/><Relationship Id="rId3" Type="http://schemas.openxmlformats.org/officeDocument/2006/relationships/oleObject" Target="../embeddings/oleObject14.bin"/><Relationship Id="rId2" Type="http://schemas.openxmlformats.org/officeDocument/2006/relationships/image" Target="../media/image16.wmf"/><Relationship Id="rId14" Type="http://schemas.openxmlformats.org/officeDocument/2006/relationships/vmlDrawing" Target="../drawings/vmlDrawing8.vml"/><Relationship Id="rId13" Type="http://schemas.openxmlformats.org/officeDocument/2006/relationships/slideLayout" Target="../slideLayouts/slideLayout12.xml"/><Relationship Id="rId12" Type="http://schemas.openxmlformats.org/officeDocument/2006/relationships/image" Target="../media/image21.wmf"/><Relationship Id="rId11" Type="http://schemas.openxmlformats.org/officeDocument/2006/relationships/oleObject" Target="../embeddings/oleObject18.bin"/><Relationship Id="rId10" Type="http://schemas.openxmlformats.org/officeDocument/2006/relationships/image" Target="../media/image20.wmf"/><Relationship Id="rId1" Type="http://schemas.openxmlformats.org/officeDocument/2006/relationships/oleObject" Target="../embeddings/oleObject13.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25.wmf"/><Relationship Id="rId7" Type="http://schemas.openxmlformats.org/officeDocument/2006/relationships/oleObject" Target="../embeddings/oleObject22.bin"/><Relationship Id="rId6" Type="http://schemas.openxmlformats.org/officeDocument/2006/relationships/image" Target="../media/image24.wmf"/><Relationship Id="rId5" Type="http://schemas.openxmlformats.org/officeDocument/2006/relationships/oleObject" Target="../embeddings/oleObject21.bin"/><Relationship Id="rId4" Type="http://schemas.openxmlformats.org/officeDocument/2006/relationships/image" Target="../media/image23.wmf"/><Relationship Id="rId3" Type="http://schemas.openxmlformats.org/officeDocument/2006/relationships/oleObject" Target="../embeddings/oleObject20.bin"/><Relationship Id="rId2" Type="http://schemas.openxmlformats.org/officeDocument/2006/relationships/image" Target="../media/image22.wmf"/><Relationship Id="rId14" Type="http://schemas.openxmlformats.org/officeDocument/2006/relationships/vmlDrawing" Target="../drawings/vmlDrawing9.vml"/><Relationship Id="rId13" Type="http://schemas.openxmlformats.org/officeDocument/2006/relationships/slideLayout" Target="../slideLayouts/slideLayout2.xml"/><Relationship Id="rId12" Type="http://schemas.openxmlformats.org/officeDocument/2006/relationships/image" Target="../media/image27.wmf"/><Relationship Id="rId11" Type="http://schemas.openxmlformats.org/officeDocument/2006/relationships/oleObject" Target="../embeddings/oleObject24.bin"/><Relationship Id="rId10" Type="http://schemas.openxmlformats.org/officeDocument/2006/relationships/image" Target="../media/image26.wmf"/><Relationship Id="rId1" Type="http://schemas.openxmlformats.org/officeDocument/2006/relationships/oleObject" Target="../embeddings/oleObject19.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8.wmf"/><Relationship Id="rId1" Type="http://schemas.openxmlformats.org/officeDocument/2006/relationships/oleObject" Target="../embeddings/oleObject25.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标题 4097"/>
          <p:cNvSpPr/>
          <p:nvPr>
            <p:ph type="ctrTitle"/>
          </p:nvPr>
        </p:nvSpPr>
        <p:spPr>
          <a:xfrm>
            <a:off x="899478" y="1916748"/>
            <a:ext cx="7772400" cy="1236662"/>
          </a:xfrm>
        </p:spPr>
        <p:txBody>
          <a:bodyPr vert="horz" wrap="square" lIns="91440" tIns="45720" rIns="91440" bIns="45720" anchor="ctr" anchorCtr="0"/>
          <a:p>
            <a:pPr eaLnBrk="1" hangingPunct="1">
              <a:buClrTx/>
              <a:buSzTx/>
              <a:buFontTx/>
            </a:pPr>
            <a:r>
              <a:rPr lang="en-US" altLang="zh-CN" sz="6600" kern="1200" dirty="0">
                <a:latin typeface="楷体" pitchFamily="49" charset="-122"/>
                <a:ea typeface="楷体" pitchFamily="49" charset="-122"/>
                <a:cs typeface="+mj-cs"/>
              </a:rPr>
              <a:t>Term Review</a:t>
            </a:r>
            <a:endParaRPr lang="en-US" altLang="zh-CN" sz="6600" kern="1200" dirty="0">
              <a:latin typeface="楷体" pitchFamily="49" charset="-122"/>
              <a:ea typeface="楷体" pitchFamily="49" charset="-122"/>
              <a:cs typeface="+mj-cs"/>
            </a:endParaRPr>
          </a:p>
        </p:txBody>
      </p:sp>
    </p:spTree>
  </p:cSld>
  <p:clrMapOvr>
    <a:masterClrMapping/>
  </p:clrMapOvr>
  <p:transition spd="slow">
    <p:pull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标题 6145"/>
          <p:cNvSpPr/>
          <p:nvPr>
            <p:ph type="title"/>
          </p:nvPr>
        </p:nvSpPr>
        <p:spPr>
          <a:xfrm>
            <a:off x="466725" y="115888"/>
            <a:ext cx="9150350" cy="1258887"/>
          </a:xfrm>
        </p:spPr>
        <p:txBody>
          <a:bodyPr vert="horz" wrap="square" lIns="91440" tIns="45720" rIns="91440" bIns="45720" anchor="ctr" anchorCtr="0"/>
          <a:p>
            <a:pPr eaLnBrk="1" hangingPunct="1"/>
            <a:r>
              <a:rPr lang="en-US" altLang="zh-CN" sz="4000" dirty="0">
                <a:latin typeface="Times New Roman" panose="02020503050405090304" pitchFamily="18" charset="0"/>
                <a:ea typeface="楷体" pitchFamily="49" charset="-122"/>
              </a:rPr>
              <a:t>Topic 1 Time-Domain Analysis of Discrete Time Signals and </a:t>
            </a:r>
            <a:r>
              <a:rPr lang="en-US" altLang="zh-CN" sz="4000" dirty="0">
                <a:latin typeface="Times New Roman" panose="02020503050405090304" pitchFamily="18" charset="0"/>
                <a:ea typeface="楷体" pitchFamily="49" charset="-122"/>
              </a:rPr>
              <a:t>Systems</a:t>
            </a:r>
            <a:r>
              <a:rPr lang="zh-CN" altLang="en-US" sz="4000" dirty="0">
                <a:latin typeface="楷体" pitchFamily="49" charset="-122"/>
                <a:ea typeface="楷体" pitchFamily="49" charset="-122"/>
              </a:rPr>
              <a:t> </a:t>
            </a:r>
            <a:endParaRPr lang="zh-CN" altLang="en-US" sz="4000" dirty="0">
              <a:latin typeface="楷体" pitchFamily="49" charset="-122"/>
              <a:ea typeface="楷体" pitchFamily="49" charset="-122"/>
            </a:endParaRPr>
          </a:p>
        </p:txBody>
      </p:sp>
      <p:sp>
        <p:nvSpPr>
          <p:cNvPr id="6147" name="文本框 6146"/>
          <p:cNvSpPr txBox="1"/>
          <p:nvPr/>
        </p:nvSpPr>
        <p:spPr>
          <a:xfrm>
            <a:off x="609600" y="1676400"/>
            <a:ext cx="4610100" cy="52387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Requirements</a:t>
            </a:r>
            <a:r>
              <a:rPr kumimoji="0" lang="en-US" altLang="zh-CN" sz="2800" b="1" kern="1200" cap="none" spc="0" normalizeH="0" baseline="0" noProof="1">
                <a:effectLst>
                  <a:outerShdw blurRad="38100" dist="38100" dir="2700000">
                    <a:srgbClr val="C0C0C0"/>
                  </a:outerShdw>
                </a:effectLst>
                <a:latin typeface="楷体" pitchFamily="49" charset="-122"/>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楷体" pitchFamily="49" charset="-122"/>
              <a:ea typeface="楷体" pitchFamily="49" charset="-122"/>
              <a:cs typeface="+mn-cs"/>
              <a:sym typeface="+mn-ea"/>
            </a:endParaRPr>
          </a:p>
        </p:txBody>
      </p:sp>
      <p:sp>
        <p:nvSpPr>
          <p:cNvPr id="6148" name="文本框 6147"/>
          <p:cNvSpPr txBox="1"/>
          <p:nvPr/>
        </p:nvSpPr>
        <p:spPr>
          <a:xfrm>
            <a:off x="862013" y="2209800"/>
            <a:ext cx="8169275" cy="953135"/>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None/>
              <a:defRPr/>
            </a:pPr>
            <a:r>
              <a:rPr kumimoji="0" lang="en-US" altLang="zh-CN" sz="2800" b="1" kern="1200" cap="none" spc="0" normalizeH="0" baseline="0" noProof="1">
                <a:effectLst>
                  <a:outerShdw blurRad="38100" dist="38100" dir="2700000">
                    <a:srgbClr val="C0C0C0"/>
                  </a:outerShdw>
                </a:effectLst>
                <a:ea typeface="楷体" pitchFamily="49" charset="-122"/>
                <a:cs typeface="Times New Roman" panose="02020503050405090304" pitchFamily="18" charset="0"/>
                <a:sym typeface="+mn-ea"/>
              </a:rPr>
              <a:t>(1)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Time domain expression of discrete signals and systems</a:t>
            </a:r>
            <a:endPar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6149" name="文本框 6148"/>
          <p:cNvSpPr txBox="1"/>
          <p:nvPr/>
        </p:nvSpPr>
        <p:spPr>
          <a:xfrm>
            <a:off x="862013" y="3692208"/>
            <a:ext cx="6364288" cy="521970"/>
          </a:xfrm>
          <a:prstGeom prst="rect">
            <a:avLst/>
          </a:prstGeom>
          <a:noFill/>
          <a:ln w="9525">
            <a:noFill/>
            <a:miter/>
          </a:ln>
        </p:spPr>
        <p:txBody>
          <a:bodyPr wrap="square">
            <a:spAutoFit/>
          </a:bodyPr>
          <a:lstStyle/>
          <a:p>
            <a:pPr marR="0" defTabSz="914400">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ea typeface="楷体" pitchFamily="49" charset="-122"/>
                <a:cs typeface="Times New Roman" panose="02020503050405090304" pitchFamily="18" charset="0"/>
                <a:sym typeface="+mn-ea"/>
              </a:rPr>
              <a:t>(3)</a:t>
            </a:r>
            <a:r>
              <a:rPr kumimoji="0" lang="en-US" altLang="zh-CN" sz="2800" b="1" kern="1200" cap="none" spc="0" normalizeH="0" baseline="0">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 Difference Equation</a:t>
            </a:r>
            <a:endParaRPr kumimoji="0" lang="en-US" altLang="zh-CN" sz="2800" b="1" kern="1200" cap="none" spc="0" normalizeH="0" baseline="0">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6150" name="文本框 6149"/>
          <p:cNvSpPr txBox="1"/>
          <p:nvPr/>
        </p:nvSpPr>
        <p:spPr>
          <a:xfrm>
            <a:off x="862013" y="4310698"/>
            <a:ext cx="7877175" cy="478155"/>
          </a:xfrm>
          <a:prstGeom prst="rect">
            <a:avLst/>
          </a:prstGeom>
          <a:noFill/>
          <a:ln w="9525">
            <a:noFill/>
            <a:miter/>
          </a:ln>
        </p:spPr>
        <p:txBody>
          <a:bodyPr wrap="square">
            <a:spAutoFit/>
          </a:bodyPr>
          <a:lstStyle/>
          <a:p>
            <a:pPr marR="0" defTabSz="914400">
              <a:lnSpc>
                <a:spcPct val="90000"/>
              </a:lnSpc>
              <a:spcBef>
                <a:spcPct val="20000"/>
              </a:spcBef>
              <a:buClr>
                <a:schemeClr val="hlink"/>
              </a:buClr>
              <a:buSzTx/>
              <a:buFont typeface="Wingdings" panose="05000000000000000000" pitchFamily="2" charset="2"/>
              <a:buNone/>
              <a:defRPr/>
            </a:pPr>
            <a:r>
              <a:rPr kumimoji="0" lang="en-US" altLang="x-none" sz="2800" b="1" kern="1200" cap="none" spc="0" normalizeH="0" baseline="0" noProof="1">
                <a:effectLst>
                  <a:outerShdw blurRad="38100" dist="38100" dir="2700000">
                    <a:srgbClr val="C0C0C0"/>
                  </a:outerShdw>
                </a:effectLst>
                <a:ea typeface="楷体" pitchFamily="49" charset="-122"/>
                <a:cs typeface="Times New Roman" panose="02020503050405090304" pitchFamily="18" charset="0"/>
                <a:sym typeface="+mn-ea"/>
              </a:rPr>
              <a:t>(4) </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LTI system，causal </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system,  stable system </a:t>
            </a:r>
            <a:endPar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6151" name="文本框 6150"/>
          <p:cNvSpPr txBox="1"/>
          <p:nvPr/>
        </p:nvSpPr>
        <p:spPr>
          <a:xfrm>
            <a:off x="862013" y="4792980"/>
            <a:ext cx="6269038"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ea typeface="楷体" pitchFamily="49" charset="-122"/>
                <a:cs typeface="Times New Roman" panose="02020503050405090304" pitchFamily="18" charset="0"/>
                <a:sym typeface="+mn-ea"/>
              </a:rPr>
              <a:t>(5)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Convolution sum.</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6152" name="文本框 6151"/>
          <p:cNvSpPr txBox="1"/>
          <p:nvPr/>
        </p:nvSpPr>
        <p:spPr>
          <a:xfrm>
            <a:off x="683260" y="5373370"/>
            <a:ext cx="8394700" cy="116840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corresponding ranges in the book </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：2.1---2.</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5,</a:t>
            </a:r>
            <a:endPar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4.1--4.7</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 name="文本框 1"/>
          <p:cNvSpPr txBox="1"/>
          <p:nvPr/>
        </p:nvSpPr>
        <p:spPr>
          <a:xfrm>
            <a:off x="860743" y="3150553"/>
            <a:ext cx="6364288" cy="521970"/>
          </a:xfrm>
          <a:prstGeom prst="rect">
            <a:avLst/>
          </a:prstGeom>
          <a:noFill/>
          <a:ln w="9525">
            <a:noFill/>
            <a:miter/>
          </a:ln>
        </p:spPr>
        <p:txBody>
          <a:bodyPr wrap="square">
            <a:spAutoFit/>
          </a:bodyPr>
          <a:p>
            <a:pPr marR="0" defTabSz="914400">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ea typeface="楷体" pitchFamily="49" charset="-122"/>
                <a:cs typeface="Times New Roman" panose="02020503050405090304" pitchFamily="18" charset="0"/>
                <a:sym typeface="+mn-ea"/>
              </a:rPr>
              <a:t>(2)</a:t>
            </a:r>
            <a:r>
              <a:rPr kumimoji="0" lang="en-US" altLang="zh-CN" sz="2800" b="1" kern="1200" cap="none" spc="0" normalizeH="0" baseline="0">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 Basic operations and typic </a:t>
            </a:r>
            <a:r>
              <a:rPr kumimoji="0" lang="en-US" altLang="zh-CN" sz="2800" b="1" kern="1200" cap="none" spc="0" normalizeH="0" baseline="0">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sequences</a:t>
            </a:r>
            <a:endParaRPr kumimoji="0" lang="en-US" altLang="zh-CN" sz="2800" b="1" kern="1200" cap="none" spc="0" normalizeH="0" baseline="0">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7"/>
                                        </p:tgtEl>
                                        <p:attrNameLst>
                                          <p:attrName>style.visibility</p:attrName>
                                        </p:attrNameLst>
                                      </p:cBhvr>
                                      <p:to>
                                        <p:strVal val="visible"/>
                                      </p:to>
                                    </p:set>
                                    <p:anim calcmode="lin" valueType="num">
                                      <p:cBhvr additive="base">
                                        <p:cTn id="7" dur="500" fill="hold"/>
                                        <p:tgtEl>
                                          <p:spTgt spid="6147"/>
                                        </p:tgtEl>
                                        <p:attrNameLst>
                                          <p:attrName>ppt_x</p:attrName>
                                        </p:attrNameLst>
                                      </p:cBhvr>
                                      <p:tavLst>
                                        <p:tav tm="0">
                                          <p:val>
                                            <p:strVal val="#ppt_x"/>
                                          </p:val>
                                        </p:tav>
                                        <p:tav tm="100000">
                                          <p:val>
                                            <p:strVal val="#ppt_x"/>
                                          </p:val>
                                        </p:tav>
                                      </p:tavLst>
                                    </p:anim>
                                    <p:anim calcmode="lin" valueType="num">
                                      <p:cBhvr additive="base">
                                        <p:cTn id="8" dur="500" fill="hold"/>
                                        <p:tgtEl>
                                          <p:spTgt spid="61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8"/>
                                        </p:tgtEl>
                                        <p:attrNameLst>
                                          <p:attrName>style.visibility</p:attrName>
                                        </p:attrNameLst>
                                      </p:cBhvr>
                                      <p:to>
                                        <p:strVal val="visible"/>
                                      </p:to>
                                    </p:set>
                                    <p:anim calcmode="lin" valueType="num">
                                      <p:cBhvr additive="base">
                                        <p:cTn id="13" dur="500" fill="hold"/>
                                        <p:tgtEl>
                                          <p:spTgt spid="6148"/>
                                        </p:tgtEl>
                                        <p:attrNameLst>
                                          <p:attrName>ppt_x</p:attrName>
                                        </p:attrNameLst>
                                      </p:cBhvr>
                                      <p:tavLst>
                                        <p:tav tm="0">
                                          <p:val>
                                            <p:strVal val="#ppt_x"/>
                                          </p:val>
                                        </p:tav>
                                        <p:tav tm="100000">
                                          <p:val>
                                            <p:strVal val="#ppt_x"/>
                                          </p:val>
                                        </p:tav>
                                      </p:tavLst>
                                    </p:anim>
                                    <p:anim calcmode="lin" valueType="num">
                                      <p:cBhvr additive="base">
                                        <p:cTn id="14"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9"/>
                                        </p:tgtEl>
                                        <p:attrNameLst>
                                          <p:attrName>style.visibility</p:attrName>
                                        </p:attrNameLst>
                                      </p:cBhvr>
                                      <p:to>
                                        <p:strVal val="visible"/>
                                      </p:to>
                                    </p:set>
                                    <p:anim calcmode="lin" valueType="num">
                                      <p:cBhvr additive="base">
                                        <p:cTn id="19" dur="500" fill="hold"/>
                                        <p:tgtEl>
                                          <p:spTgt spid="6149"/>
                                        </p:tgtEl>
                                        <p:attrNameLst>
                                          <p:attrName>ppt_x</p:attrName>
                                        </p:attrNameLst>
                                      </p:cBhvr>
                                      <p:tavLst>
                                        <p:tav tm="0">
                                          <p:val>
                                            <p:strVal val="#ppt_x"/>
                                          </p:val>
                                        </p:tav>
                                        <p:tav tm="100000">
                                          <p:val>
                                            <p:strVal val="#ppt_x"/>
                                          </p:val>
                                        </p:tav>
                                      </p:tavLst>
                                    </p:anim>
                                    <p:anim calcmode="lin" valueType="num">
                                      <p:cBhvr additive="base">
                                        <p:cTn id="20" dur="500" fill="hold"/>
                                        <p:tgtEl>
                                          <p:spTgt spid="614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150"/>
                                        </p:tgtEl>
                                        <p:attrNameLst>
                                          <p:attrName>style.visibility</p:attrName>
                                        </p:attrNameLst>
                                      </p:cBhvr>
                                      <p:to>
                                        <p:strVal val="visible"/>
                                      </p:to>
                                    </p:set>
                                    <p:anim calcmode="lin" valueType="num">
                                      <p:cBhvr additive="base">
                                        <p:cTn id="25" dur="500" fill="hold"/>
                                        <p:tgtEl>
                                          <p:spTgt spid="6150"/>
                                        </p:tgtEl>
                                        <p:attrNameLst>
                                          <p:attrName>ppt_x</p:attrName>
                                        </p:attrNameLst>
                                      </p:cBhvr>
                                      <p:tavLst>
                                        <p:tav tm="0">
                                          <p:val>
                                            <p:strVal val="#ppt_x"/>
                                          </p:val>
                                        </p:tav>
                                        <p:tav tm="100000">
                                          <p:val>
                                            <p:strVal val="#ppt_x"/>
                                          </p:val>
                                        </p:tav>
                                      </p:tavLst>
                                    </p:anim>
                                    <p:anim calcmode="lin" valueType="num">
                                      <p:cBhvr additive="base">
                                        <p:cTn id="26"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151"/>
                                        </p:tgtEl>
                                        <p:attrNameLst>
                                          <p:attrName>style.visibility</p:attrName>
                                        </p:attrNameLst>
                                      </p:cBhvr>
                                      <p:to>
                                        <p:strVal val="visible"/>
                                      </p:to>
                                    </p:set>
                                    <p:anim calcmode="lin" valueType="num">
                                      <p:cBhvr additive="base">
                                        <p:cTn id="31" dur="500" fill="hold"/>
                                        <p:tgtEl>
                                          <p:spTgt spid="6151"/>
                                        </p:tgtEl>
                                        <p:attrNameLst>
                                          <p:attrName>ppt_x</p:attrName>
                                        </p:attrNameLst>
                                      </p:cBhvr>
                                      <p:tavLst>
                                        <p:tav tm="0">
                                          <p:val>
                                            <p:strVal val="#ppt_x"/>
                                          </p:val>
                                        </p:tav>
                                        <p:tav tm="100000">
                                          <p:val>
                                            <p:strVal val="#ppt_x"/>
                                          </p:val>
                                        </p:tav>
                                      </p:tavLst>
                                    </p:anim>
                                    <p:anim calcmode="lin" valueType="num">
                                      <p:cBhvr additive="base">
                                        <p:cTn id="32" dur="500" fill="hold"/>
                                        <p:tgtEl>
                                          <p:spTgt spid="615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152"/>
                                        </p:tgtEl>
                                        <p:attrNameLst>
                                          <p:attrName>style.visibility</p:attrName>
                                        </p:attrNameLst>
                                      </p:cBhvr>
                                      <p:to>
                                        <p:strVal val="visible"/>
                                      </p:to>
                                    </p:set>
                                    <p:anim calcmode="lin" valueType="num">
                                      <p:cBhvr additive="base">
                                        <p:cTn id="37" dur="500" fill="hold"/>
                                        <p:tgtEl>
                                          <p:spTgt spid="6152"/>
                                        </p:tgtEl>
                                        <p:attrNameLst>
                                          <p:attrName>ppt_x</p:attrName>
                                        </p:attrNameLst>
                                      </p:cBhvr>
                                      <p:tavLst>
                                        <p:tav tm="0">
                                          <p:val>
                                            <p:strVal val="#ppt_x"/>
                                          </p:val>
                                        </p:tav>
                                        <p:tav tm="100000">
                                          <p:val>
                                            <p:strVal val="#ppt_x"/>
                                          </p:val>
                                        </p:tav>
                                      </p:tavLst>
                                    </p:anim>
                                    <p:anim calcmode="lin" valueType="num">
                                      <p:cBhvr additive="base">
                                        <p:cTn id="38" dur="500" fill="hold"/>
                                        <p:tgtEl>
                                          <p:spTgt spid="615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ppt_x"/>
                                          </p:val>
                                        </p:tav>
                                        <p:tav tm="100000">
                                          <p:val>
                                            <p:strVal val="#ppt_x"/>
                                          </p:val>
                                        </p:tav>
                                      </p:tavLst>
                                    </p:anim>
                                    <p:anim calcmode="lin" valueType="num">
                                      <p:cBhvr additive="base">
                                        <p:cTn id="4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p:bldP spid="6148" grpId="0"/>
      <p:bldP spid="6149" grpId="0"/>
      <p:bldP spid="6150" grpId="0"/>
      <p:bldP spid="6151" grpId="0"/>
      <p:bldP spid="6152"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7169"/>
          <p:cNvSpPr/>
          <p:nvPr>
            <p:ph type="title"/>
          </p:nvPr>
        </p:nvSpPr>
        <p:spPr>
          <a:xfrm>
            <a:off x="568325" y="347663"/>
            <a:ext cx="8208963" cy="693737"/>
          </a:xfrm>
        </p:spPr>
        <p:txBody>
          <a:bodyPr vert="horz" wrap="square" lIns="91440" tIns="45720" rIns="91440" bIns="45720" anchor="ctr" anchorCtr="0"/>
          <a:p>
            <a:pPr eaLnBrk="1" hangingPunct="1"/>
            <a:r>
              <a:rPr lang="en-US" altLang="zh-CN" sz="4000" dirty="0">
                <a:latin typeface="Times New Roman" panose="02020503050405090304" pitchFamily="18" charset="0"/>
                <a:ea typeface="楷体" pitchFamily="49" charset="-122"/>
                <a:sym typeface="Arial" panose="020B0604020202090204" pitchFamily="34" charset="0"/>
              </a:rPr>
              <a:t>1. Time domain expression of discrete </a:t>
            </a:r>
            <a:r>
              <a:rPr lang="en-US" altLang="zh-CN" sz="4000" dirty="0">
                <a:latin typeface="Times New Roman" panose="02020503050405090304" pitchFamily="18" charset="0"/>
                <a:ea typeface="楷体" pitchFamily="49" charset="-122"/>
                <a:sym typeface="Arial" panose="020B0604020202090204" pitchFamily="34" charset="0"/>
              </a:rPr>
              <a:t>time signals and systems</a:t>
            </a:r>
            <a:endParaRPr lang="zh-CN" altLang="en-US" sz="4000" dirty="0">
              <a:latin typeface="楷体" pitchFamily="49" charset="-122"/>
              <a:ea typeface="楷体" pitchFamily="49" charset="-122"/>
              <a:sym typeface="Arial" panose="020B0604020202090204" pitchFamily="34" charset="0"/>
            </a:endParaRPr>
          </a:p>
        </p:txBody>
      </p:sp>
      <p:sp>
        <p:nvSpPr>
          <p:cNvPr id="7171" name="文本框 7170"/>
          <p:cNvSpPr txBox="1"/>
          <p:nvPr/>
        </p:nvSpPr>
        <p:spPr>
          <a:xfrm>
            <a:off x="539750" y="1270000"/>
            <a:ext cx="8496300" cy="159956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time domain representation of discrete time signal</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s is as follows.</a:t>
            </a:r>
            <a:endPar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It is represented by a sequence x[n].</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7172" name="文本框 7171"/>
          <p:cNvSpPr txBox="1"/>
          <p:nvPr/>
        </p:nvSpPr>
        <p:spPr>
          <a:xfrm>
            <a:off x="1187133" y="2853055"/>
            <a:ext cx="6626225"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ea typeface="楷体" pitchFamily="49" charset="-122"/>
                <a:cs typeface="+mn-ea"/>
                <a:sym typeface="+mn-ea"/>
              </a:rPr>
              <a:t>（1） Descripti</a:t>
            </a:r>
            <a:r>
              <a:rPr kumimoji="0" lang="en-US" altLang="zh-CN" sz="2800" b="1" kern="1200" cap="none" spc="0" normalizeH="0" baseline="0" noProof="1">
                <a:effectLst>
                  <a:outerShdw blurRad="38100" dist="38100" dir="2700000">
                    <a:srgbClr val="C0C0C0"/>
                  </a:outerShdw>
                </a:effectLst>
                <a:ea typeface="楷体" pitchFamily="49" charset="-122"/>
                <a:cs typeface="+mn-ea"/>
                <a:sym typeface="+mn-ea"/>
              </a:rPr>
              <a:t>ve way.</a:t>
            </a:r>
            <a:endParaRPr kumimoji="0" lang="en-US" altLang="zh-CN" sz="2800" b="1" kern="1200" cap="none" spc="0" normalizeH="0" baseline="0" noProof="1">
              <a:effectLst>
                <a:outerShdw blurRad="38100" dist="38100" dir="2700000">
                  <a:srgbClr val="C0C0C0"/>
                </a:outerShdw>
              </a:effectLst>
              <a:ea typeface="楷体" pitchFamily="49" charset="-122"/>
              <a:cs typeface="+mn-ea"/>
              <a:sym typeface="+mn-ea"/>
            </a:endParaRPr>
          </a:p>
        </p:txBody>
      </p:sp>
      <p:sp>
        <p:nvSpPr>
          <p:cNvPr id="7173" name="文本框 7172"/>
          <p:cNvSpPr txBox="1"/>
          <p:nvPr/>
        </p:nvSpPr>
        <p:spPr>
          <a:xfrm>
            <a:off x="1187133" y="3374708"/>
            <a:ext cx="6229350"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ea typeface="楷体" pitchFamily="49" charset="-122"/>
                <a:cs typeface="+mn-ea"/>
                <a:sym typeface="+mn-ea"/>
              </a:rPr>
              <a:t>（2）Graphical way</a:t>
            </a:r>
            <a:r>
              <a:rPr kumimoji="0" lang="en-US" altLang="zh-CN" sz="2800" b="1" kern="1200" cap="none" spc="0" normalizeH="0" baseline="0" noProof="1">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rPr>
              <a:t>.</a:t>
            </a:r>
            <a:endParaRPr kumimoji="0" lang="zh-CN" altLang="en-US" sz="2800" b="1" kern="1200" cap="none" spc="0" normalizeH="0" baseline="0" noProof="1">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endParaRPr>
          </a:p>
        </p:txBody>
      </p:sp>
      <p:sp>
        <p:nvSpPr>
          <p:cNvPr id="7175" name="文本框 7174"/>
          <p:cNvSpPr txBox="1"/>
          <p:nvPr/>
        </p:nvSpPr>
        <p:spPr>
          <a:xfrm>
            <a:off x="539433" y="3896995"/>
            <a:ext cx="8034338"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The time domain representation of discrete time system</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s is as follows:</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7176" name="文本框 7175"/>
          <p:cNvSpPr txBox="1"/>
          <p:nvPr/>
        </p:nvSpPr>
        <p:spPr>
          <a:xfrm>
            <a:off x="1187450" y="4796790"/>
            <a:ext cx="7488238"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（1）</a:t>
            </a:r>
            <a:r>
              <a:rPr kumimoji="0" lang="en-US" altLang="zh-CN" sz="2800" kern="1200" cap="none" spc="0" normalizeH="0" baseline="0" noProof="0" dirty="0">
                <a:latin typeface="Times New Roman" panose="02020503050405090304" pitchFamily="18" charset="0"/>
                <a:ea typeface="宋体" pitchFamily="2" charset="-122"/>
                <a:cs typeface="+mn-cs"/>
                <a:sym typeface="+mn-ea"/>
              </a:rPr>
              <a:t> </a:t>
            </a:r>
            <a:r>
              <a:rPr kumimoji="0" lang="en-US" altLang="zh-CN" sz="2800" b="1" kern="1200" cap="none" spc="0" normalizeH="0" baseline="0" noProof="0" dirty="0">
                <a:latin typeface="Times New Roman" panose="02020503050405090304" pitchFamily="18" charset="0"/>
                <a:ea typeface="宋体" pitchFamily="2" charset="-122"/>
                <a:cs typeface="+mn-cs"/>
                <a:sym typeface="+mn-ea"/>
              </a:rPr>
              <a:t>Unit sam</a:t>
            </a:r>
            <a:r>
              <a:rPr kumimoji="0" lang="en-US" altLang="zh-CN" sz="2800" b="1" kern="1200" cap="none" spc="0" normalizeH="0" baseline="0" noProof="0" dirty="0">
                <a:latin typeface="Times New Roman" panose="02020503050405090304" pitchFamily="18" charset="0"/>
                <a:ea typeface="宋体" pitchFamily="2" charset="-122"/>
                <a:cs typeface="+mn-cs"/>
                <a:sym typeface="+mn-ea"/>
              </a:rPr>
              <a:t>ple response </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h[n] </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7177" name="文本框 7176"/>
          <p:cNvSpPr txBox="1"/>
          <p:nvPr/>
        </p:nvSpPr>
        <p:spPr>
          <a:xfrm>
            <a:off x="1187450" y="5427345"/>
            <a:ext cx="7341870"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（2）</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Linear difference equations with constant coefficients.</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 calcmode="lin" valueType="num">
                                      <p:cBhvr additive="base">
                                        <p:cTn id="7" dur="500" fill="hold"/>
                                        <p:tgtEl>
                                          <p:spTgt spid="7171"/>
                                        </p:tgtEl>
                                        <p:attrNameLst>
                                          <p:attrName>ppt_x</p:attrName>
                                        </p:attrNameLst>
                                      </p:cBhvr>
                                      <p:tavLst>
                                        <p:tav tm="0">
                                          <p:val>
                                            <p:strVal val="#ppt_x"/>
                                          </p:val>
                                        </p:tav>
                                        <p:tav tm="100000">
                                          <p:val>
                                            <p:strVal val="#ppt_x"/>
                                          </p:val>
                                        </p:tav>
                                      </p:tavLst>
                                    </p:anim>
                                    <p:anim calcmode="lin" valueType="num">
                                      <p:cBhvr additive="base">
                                        <p:cTn id="8"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72"/>
                                        </p:tgtEl>
                                        <p:attrNameLst>
                                          <p:attrName>style.visibility</p:attrName>
                                        </p:attrNameLst>
                                      </p:cBhvr>
                                      <p:to>
                                        <p:strVal val="visible"/>
                                      </p:to>
                                    </p:set>
                                    <p:anim calcmode="lin" valueType="num">
                                      <p:cBhvr additive="base">
                                        <p:cTn id="13" dur="500" fill="hold"/>
                                        <p:tgtEl>
                                          <p:spTgt spid="7172"/>
                                        </p:tgtEl>
                                        <p:attrNameLst>
                                          <p:attrName>ppt_x</p:attrName>
                                        </p:attrNameLst>
                                      </p:cBhvr>
                                      <p:tavLst>
                                        <p:tav tm="0">
                                          <p:val>
                                            <p:strVal val="#ppt_x"/>
                                          </p:val>
                                        </p:tav>
                                        <p:tav tm="100000">
                                          <p:val>
                                            <p:strVal val="#ppt_x"/>
                                          </p:val>
                                        </p:tav>
                                      </p:tavLst>
                                    </p:anim>
                                    <p:anim calcmode="lin" valueType="num">
                                      <p:cBhvr additive="base">
                                        <p:cTn id="14" dur="500" fill="hold"/>
                                        <p:tgtEl>
                                          <p:spTgt spid="717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73"/>
                                        </p:tgtEl>
                                        <p:attrNameLst>
                                          <p:attrName>style.visibility</p:attrName>
                                        </p:attrNameLst>
                                      </p:cBhvr>
                                      <p:to>
                                        <p:strVal val="visible"/>
                                      </p:to>
                                    </p:set>
                                    <p:anim calcmode="lin" valueType="num">
                                      <p:cBhvr additive="base">
                                        <p:cTn id="19" dur="500" fill="hold"/>
                                        <p:tgtEl>
                                          <p:spTgt spid="7173"/>
                                        </p:tgtEl>
                                        <p:attrNameLst>
                                          <p:attrName>ppt_x</p:attrName>
                                        </p:attrNameLst>
                                      </p:cBhvr>
                                      <p:tavLst>
                                        <p:tav tm="0">
                                          <p:val>
                                            <p:strVal val="#ppt_x"/>
                                          </p:val>
                                        </p:tav>
                                        <p:tav tm="100000">
                                          <p:val>
                                            <p:strVal val="#ppt_x"/>
                                          </p:val>
                                        </p:tav>
                                      </p:tavLst>
                                    </p:anim>
                                    <p:anim calcmode="lin" valueType="num">
                                      <p:cBhvr additive="base">
                                        <p:cTn id="20" dur="500" fill="hold"/>
                                        <p:tgtEl>
                                          <p:spTgt spid="717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75"/>
                                        </p:tgtEl>
                                        <p:attrNameLst>
                                          <p:attrName>style.visibility</p:attrName>
                                        </p:attrNameLst>
                                      </p:cBhvr>
                                      <p:to>
                                        <p:strVal val="visible"/>
                                      </p:to>
                                    </p:set>
                                    <p:anim calcmode="lin" valueType="num">
                                      <p:cBhvr additive="base">
                                        <p:cTn id="25" dur="500" fill="hold"/>
                                        <p:tgtEl>
                                          <p:spTgt spid="7175"/>
                                        </p:tgtEl>
                                        <p:attrNameLst>
                                          <p:attrName>ppt_x</p:attrName>
                                        </p:attrNameLst>
                                      </p:cBhvr>
                                      <p:tavLst>
                                        <p:tav tm="0">
                                          <p:val>
                                            <p:strVal val="#ppt_x"/>
                                          </p:val>
                                        </p:tav>
                                        <p:tav tm="100000">
                                          <p:val>
                                            <p:strVal val="#ppt_x"/>
                                          </p:val>
                                        </p:tav>
                                      </p:tavLst>
                                    </p:anim>
                                    <p:anim calcmode="lin" valueType="num">
                                      <p:cBhvr additive="base">
                                        <p:cTn id="26" dur="500" fill="hold"/>
                                        <p:tgtEl>
                                          <p:spTgt spid="717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176"/>
                                        </p:tgtEl>
                                        <p:attrNameLst>
                                          <p:attrName>style.visibility</p:attrName>
                                        </p:attrNameLst>
                                      </p:cBhvr>
                                      <p:to>
                                        <p:strVal val="visible"/>
                                      </p:to>
                                    </p:set>
                                    <p:anim calcmode="lin" valueType="num">
                                      <p:cBhvr additive="base">
                                        <p:cTn id="31" dur="500" fill="hold"/>
                                        <p:tgtEl>
                                          <p:spTgt spid="7176"/>
                                        </p:tgtEl>
                                        <p:attrNameLst>
                                          <p:attrName>ppt_x</p:attrName>
                                        </p:attrNameLst>
                                      </p:cBhvr>
                                      <p:tavLst>
                                        <p:tav tm="0">
                                          <p:val>
                                            <p:strVal val="#ppt_x"/>
                                          </p:val>
                                        </p:tav>
                                        <p:tav tm="100000">
                                          <p:val>
                                            <p:strVal val="#ppt_x"/>
                                          </p:val>
                                        </p:tav>
                                      </p:tavLst>
                                    </p:anim>
                                    <p:anim calcmode="lin" valueType="num">
                                      <p:cBhvr additive="base">
                                        <p:cTn id="32" dur="500" fill="hold"/>
                                        <p:tgtEl>
                                          <p:spTgt spid="717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177"/>
                                        </p:tgtEl>
                                        <p:attrNameLst>
                                          <p:attrName>style.visibility</p:attrName>
                                        </p:attrNameLst>
                                      </p:cBhvr>
                                      <p:to>
                                        <p:strVal val="visible"/>
                                      </p:to>
                                    </p:set>
                                    <p:anim calcmode="lin" valueType="num">
                                      <p:cBhvr additive="base">
                                        <p:cTn id="37" dur="500" fill="hold"/>
                                        <p:tgtEl>
                                          <p:spTgt spid="7177"/>
                                        </p:tgtEl>
                                        <p:attrNameLst>
                                          <p:attrName>ppt_x</p:attrName>
                                        </p:attrNameLst>
                                      </p:cBhvr>
                                      <p:tavLst>
                                        <p:tav tm="0">
                                          <p:val>
                                            <p:strVal val="#ppt_x"/>
                                          </p:val>
                                        </p:tav>
                                        <p:tav tm="100000">
                                          <p:val>
                                            <p:strVal val="#ppt_x"/>
                                          </p:val>
                                        </p:tav>
                                      </p:tavLst>
                                    </p:anim>
                                    <p:anim calcmode="lin" valueType="num">
                                      <p:cBhvr additive="base">
                                        <p:cTn id="38" dur="500" fill="hold"/>
                                        <p:tgtEl>
                                          <p:spTgt spid="71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72" grpId="0"/>
      <p:bldP spid="7173" grpId="0"/>
      <p:bldP spid="7175" grpId="0"/>
      <p:bldP spid="7176" grpId="0"/>
      <p:bldP spid="717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466850"/>
            <a:ext cx="8229600" cy="1973580"/>
          </a:xfrm>
        </p:spPr>
        <p:txBody>
          <a:bodyPr/>
          <a:p>
            <a:r>
              <a:rPr lang="en-US" altLang="zh-CN" sz="2800" b="1">
                <a:effectLst>
                  <a:outerShdw blurRad="38100" dist="38100" dir="2700000">
                    <a:srgbClr val="C0C0C0"/>
                  </a:outerShdw>
                </a:effectLst>
                <a:latin typeface="Times New Roman" panose="02020503050405090304" pitchFamily="18" charset="0"/>
                <a:ea typeface="楷体" pitchFamily="49" charset="-122"/>
                <a:cs typeface="+mn-ea"/>
              </a:rPr>
              <a:t>Basic Operations of Discrete Time S</a:t>
            </a:r>
            <a:r>
              <a:rPr lang="en-US" altLang="zh-CN" sz="2800" b="1">
                <a:effectLst>
                  <a:outerShdw blurRad="38100" dist="38100" dir="2700000">
                    <a:srgbClr val="C0C0C0"/>
                  </a:outerShdw>
                </a:effectLst>
                <a:latin typeface="Times New Roman" panose="02020503050405090304" pitchFamily="18" charset="0"/>
                <a:ea typeface="楷体" pitchFamily="49" charset="-122"/>
                <a:cs typeface="+mn-ea"/>
              </a:rPr>
              <a:t>ignals：</a:t>
            </a:r>
            <a:endParaRPr lang="en-US" altLang="zh-CN" sz="2800" b="1">
              <a:effectLst>
                <a:outerShdw blurRad="38100" dist="38100" dir="2700000">
                  <a:srgbClr val="C0C0C0"/>
                </a:outerShdw>
              </a:effectLst>
              <a:latin typeface="Times New Roman" panose="02020503050405090304" pitchFamily="18" charset="0"/>
              <a:ea typeface="楷体" pitchFamily="49" charset="-122"/>
              <a:cs typeface="+mn-ea"/>
            </a:endParaRPr>
          </a:p>
          <a:p>
            <a:pPr marL="0" indent="0">
              <a:buNone/>
            </a:pPr>
            <a:r>
              <a:rPr lang="en-US" altLang="zh-CN" sz="2800" b="1">
                <a:effectLst>
                  <a:outerShdw blurRad="38100" dist="38100" dir="2700000">
                    <a:srgbClr val="C0C0C0"/>
                  </a:outerShdw>
                </a:effectLst>
                <a:latin typeface="Times New Roman" panose="02020503050405090304" pitchFamily="18" charset="0"/>
                <a:ea typeface="楷体" pitchFamily="49" charset="-122"/>
                <a:cs typeface="+mn-ea"/>
              </a:rPr>
              <a:t>Addtion，Multiplication of a constant，unit delay or unit advance，modulation or windowing，time-reversal，convoluti</a:t>
            </a:r>
            <a:r>
              <a:rPr lang="en-US" altLang="zh-CN" sz="2800" b="1">
                <a:effectLst>
                  <a:outerShdw blurRad="38100" dist="38100" dir="2700000">
                    <a:srgbClr val="C0C0C0"/>
                  </a:outerShdw>
                </a:effectLst>
                <a:latin typeface="Times New Roman" panose="02020503050405090304" pitchFamily="18" charset="0"/>
                <a:ea typeface="楷体" pitchFamily="49" charset="-122"/>
                <a:cs typeface="+mn-ea"/>
              </a:rPr>
              <a:t>on，......</a:t>
            </a:r>
            <a:endParaRPr lang="en-US" altLang="zh-CN" sz="2800" b="1">
              <a:effectLst>
                <a:outerShdw blurRad="38100" dist="38100" dir="2700000">
                  <a:srgbClr val="C0C0C0"/>
                </a:outerShdw>
              </a:effectLst>
              <a:latin typeface="Times New Roman" panose="02020503050405090304" pitchFamily="18" charset="0"/>
              <a:ea typeface="楷体" pitchFamily="49" charset="-122"/>
              <a:cs typeface="+mn-ea"/>
            </a:endParaRPr>
          </a:p>
          <a:p>
            <a:pPr marL="0" indent="0">
              <a:buNone/>
            </a:pPr>
            <a:endParaRPr lang="en-US" altLang="zh-CN" sz="2800" b="1">
              <a:effectLst>
                <a:outerShdw blurRad="38100" dist="38100" dir="2700000">
                  <a:srgbClr val="C0C0C0"/>
                </a:outerShdw>
              </a:effectLst>
              <a:latin typeface="Times New Roman" panose="02020503050405090304" pitchFamily="18" charset="0"/>
              <a:ea typeface="楷体" pitchFamily="49" charset="-122"/>
              <a:cs typeface="+mn-ea"/>
            </a:endParaRPr>
          </a:p>
        </p:txBody>
      </p:sp>
      <p:sp>
        <p:nvSpPr>
          <p:cNvPr id="9217" name="标题 8193"/>
          <p:cNvSpPr/>
          <p:nvPr>
            <p:ph type="title"/>
          </p:nvPr>
        </p:nvSpPr>
        <p:spPr>
          <a:xfrm>
            <a:off x="457200" y="260350"/>
            <a:ext cx="8399780" cy="781050"/>
          </a:xfrm>
        </p:spPr>
        <p:txBody>
          <a:bodyPr vert="horz" wrap="square" lIns="91440" tIns="45720" rIns="91440" bIns="45720" anchor="ctr" anchorCtr="0"/>
          <a:p>
            <a:pPr eaLnBrk="1" hangingPunct="1"/>
            <a:r>
              <a:rPr lang="en-US" altLang="zh-CN" sz="4000" dirty="0">
                <a:latin typeface="Times New Roman" panose="02020503050405090304" pitchFamily="18" charset="0"/>
                <a:ea typeface="楷体" pitchFamily="49" charset="-122"/>
                <a:sym typeface="Arial" panose="020B0604020202090204" pitchFamily="34" charset="0"/>
              </a:rPr>
              <a:t>2 </a:t>
            </a:r>
            <a:r>
              <a:rPr lang="en-US" altLang="zh-CN" sz="4000">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Basic operations and typic sequences</a:t>
            </a:r>
            <a:endParaRPr lang="en-US" altLang="zh-CN" sz="4000" dirty="0">
              <a:latin typeface="Times New Roman" panose="02020503050405090304" pitchFamily="18" charset="0"/>
              <a:ea typeface="楷体" pitchFamily="49" charset="-122"/>
              <a:sym typeface="Arial" panose="020B0604020202090204" pitchFamily="34" charset="0"/>
            </a:endParaRPr>
          </a:p>
        </p:txBody>
      </p:sp>
      <p:sp>
        <p:nvSpPr>
          <p:cNvPr id="4" name="内容占位符 2"/>
          <p:cNvSpPr>
            <a:spLocks noGrp="1"/>
          </p:cNvSpPr>
          <p:nvPr/>
        </p:nvSpPr>
        <p:spPr>
          <a:xfrm>
            <a:off x="457200" y="3644900"/>
            <a:ext cx="8229600" cy="2928620"/>
          </a:xfrm>
          <a:prstGeom prst="rect">
            <a:avLst/>
          </a:prstGeom>
          <a:noFill/>
          <a:ln w="9525">
            <a:noFill/>
          </a:ln>
        </p:spPr>
        <p:txBody>
          <a:bodyPr anchor="t" anchorCtr="0"/>
          <a:lstStyle>
            <a:lvl1pPr marL="342900" indent="-342900" algn="l" rtl="0" fontAlgn="base">
              <a:spcBef>
                <a:spcPct val="20000"/>
              </a:spcBef>
              <a:spcAft>
                <a:spcPct val="0"/>
              </a:spcAft>
              <a:buFont typeface="Arial" panose="020B0604020202090204" pitchFamily="34" charset="0"/>
              <a:buChar char="•"/>
              <a:defRPr sz="2600" kern="1200">
                <a:solidFill>
                  <a:schemeClr val="tx1"/>
                </a:solidFill>
                <a:latin typeface="+mn-lt"/>
                <a:ea typeface="+mn-ea"/>
                <a:cs typeface="+mn-cs"/>
              </a:defRPr>
            </a:lvl1pPr>
            <a:lvl2pPr marL="690880" lvl="1" indent="-349250" algn="l" rtl="0" fontAlgn="base">
              <a:spcBef>
                <a:spcPct val="20000"/>
              </a:spcBef>
              <a:spcAft>
                <a:spcPct val="0"/>
              </a:spcAft>
              <a:buFont typeface="Arial" panose="020B0604020202090204" pitchFamily="34" charset="0"/>
              <a:buChar char="–"/>
              <a:defRPr sz="2400" kern="1200">
                <a:solidFill>
                  <a:schemeClr val="tx1"/>
                </a:solidFill>
                <a:latin typeface="+mn-lt"/>
                <a:ea typeface="+mn-ea"/>
                <a:cs typeface="+mn-cs"/>
              </a:defRPr>
            </a:lvl2pPr>
            <a:lvl3pPr marL="1027430" lvl="2" indent="-344805" algn="l" rtl="0" fontAlgn="base">
              <a:spcBef>
                <a:spcPct val="20000"/>
              </a:spcBef>
              <a:spcAft>
                <a:spcPct val="0"/>
              </a:spcAft>
              <a:buFont typeface="Arial" panose="020B0604020202090204" pitchFamily="34" charset="0"/>
              <a:buChar char="−"/>
              <a:defRPr sz="2200" kern="1200">
                <a:solidFill>
                  <a:schemeClr val="tx1"/>
                </a:solidFill>
                <a:latin typeface="+mn-lt"/>
                <a:ea typeface="+mn-ea"/>
                <a:cs typeface="+mn-cs"/>
              </a:defRPr>
            </a:lvl3pPr>
            <a:lvl4pPr marL="1600200" lvl="3" indent="-228600" algn="l" rtl="0" fontAlgn="base">
              <a:spcBef>
                <a:spcPct val="200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lvl="4" indent="-228600" algn="l" rtl="0" fontAlgn="base">
              <a:spcBef>
                <a:spcPct val="200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lvl="5" indent="-228600" algn="l" defTabSz="914400" eaLnBrk="1" fontAlgn="base" latinLnBrk="0" hangingPunct="1">
              <a:spcBef>
                <a:spcPct val="20000"/>
              </a:spcBef>
              <a:spcAft>
                <a:spcPct val="0"/>
              </a:spcAft>
              <a:buFont typeface="Arial" panose="020B0604020202090204" pitchFamily="34" charset="0"/>
              <a:buChar char="»"/>
              <a:defRPr sz="1800" u="none" kern="1200" baseline="0">
                <a:solidFill>
                  <a:schemeClr val="tx1"/>
                </a:solidFill>
                <a:latin typeface="+mn-lt"/>
                <a:ea typeface="+mn-ea"/>
                <a:cs typeface="+mn-cs"/>
              </a:defRPr>
            </a:lvl6pPr>
            <a:lvl7pPr marL="2971800" lvl="6" indent="-228600" algn="l" defTabSz="914400" eaLnBrk="1" fontAlgn="base" latinLnBrk="0" hangingPunct="1">
              <a:spcBef>
                <a:spcPct val="20000"/>
              </a:spcBef>
              <a:spcAft>
                <a:spcPct val="0"/>
              </a:spcAft>
              <a:buFont typeface="Arial" panose="020B0604020202090204" pitchFamily="34" charset="0"/>
              <a:buChar char="»"/>
              <a:defRPr sz="1800" u="none" kern="1200" baseline="0">
                <a:solidFill>
                  <a:schemeClr val="tx1"/>
                </a:solidFill>
                <a:latin typeface="+mn-lt"/>
                <a:ea typeface="+mn-ea"/>
                <a:cs typeface="+mn-cs"/>
              </a:defRPr>
            </a:lvl7pPr>
            <a:lvl8pPr marL="3429000" lvl="7" indent="-228600" algn="l" defTabSz="914400" eaLnBrk="1" fontAlgn="base" latinLnBrk="0" hangingPunct="1">
              <a:spcBef>
                <a:spcPct val="20000"/>
              </a:spcBef>
              <a:spcAft>
                <a:spcPct val="0"/>
              </a:spcAft>
              <a:buFont typeface="Arial" panose="020B0604020202090204" pitchFamily="34" charset="0"/>
              <a:buChar char="»"/>
              <a:defRPr sz="1800" u="none" kern="1200" baseline="0">
                <a:solidFill>
                  <a:schemeClr val="tx1"/>
                </a:solidFill>
                <a:latin typeface="+mn-lt"/>
                <a:ea typeface="+mn-ea"/>
                <a:cs typeface="+mn-cs"/>
              </a:defRPr>
            </a:lvl8pPr>
            <a:lvl9pPr marL="3886200" lvl="8" indent="-228600" algn="l" defTabSz="914400" eaLnBrk="1" fontAlgn="base" latinLnBrk="0" hangingPunct="1">
              <a:spcBef>
                <a:spcPct val="20000"/>
              </a:spcBef>
              <a:spcAft>
                <a:spcPct val="0"/>
              </a:spcAft>
              <a:buFont typeface="Arial" panose="020B0604020202090204" pitchFamily="34" charset="0"/>
              <a:buChar char="»"/>
              <a:defRPr sz="1800" u="none" kern="1200" baseline="0">
                <a:solidFill>
                  <a:schemeClr val="tx1"/>
                </a:solidFill>
                <a:latin typeface="+mn-lt"/>
                <a:ea typeface="+mn-ea"/>
                <a:cs typeface="+mn-cs"/>
              </a:defRPr>
            </a:lvl9pPr>
          </a:lstStyle>
          <a:p>
            <a:r>
              <a:rPr lang="en-US" altLang="zh-CN" sz="2800" b="1">
                <a:effectLst>
                  <a:outerShdw blurRad="38100" dist="38100" dir="2700000">
                    <a:srgbClr val="C0C0C0"/>
                  </a:outerShdw>
                </a:effectLst>
                <a:latin typeface="Times New Roman" panose="02020503050405090304" pitchFamily="18" charset="0"/>
                <a:ea typeface="楷体" pitchFamily="49" charset="-122"/>
                <a:cs typeface="+mn-ea"/>
              </a:rPr>
              <a:t>Typic Sequences：</a:t>
            </a:r>
            <a:endParaRPr lang="en-US" altLang="zh-CN" sz="2800" b="1">
              <a:effectLst>
                <a:outerShdw blurRad="38100" dist="38100" dir="2700000">
                  <a:srgbClr val="C0C0C0"/>
                </a:outerShdw>
              </a:effectLst>
              <a:latin typeface="Times New Roman" panose="02020503050405090304" pitchFamily="18" charset="0"/>
              <a:ea typeface="楷体" pitchFamily="49" charset="-122"/>
              <a:cs typeface="+mn-ea"/>
            </a:endParaRPr>
          </a:p>
          <a:p>
            <a:pPr marL="0" indent="0">
              <a:buNone/>
            </a:pPr>
            <a:r>
              <a:rPr lang="en-US" altLang="zh-CN" sz="2800" b="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rPr>
              <a:t>δ[n]，</a:t>
            </a:r>
            <a:r>
              <a:rPr lang="en-US" altLang="zh-CN" sz="2800" b="1">
                <a:effectLst>
                  <a:outerShdw blurRad="38100" dist="38100" dir="2700000">
                    <a:srgbClr val="C0C0C0"/>
                  </a:outerShdw>
                </a:effectLst>
                <a:latin typeface="Times" panose="00000500000000020000" charset="0"/>
                <a:ea typeface="楷体" pitchFamily="49" charset="-122"/>
                <a:cs typeface="Times" panose="00000500000000020000" charset="0"/>
              </a:rPr>
              <a:t>μ[n]，R</a:t>
            </a:r>
            <a:r>
              <a:rPr lang="en-US" altLang="zh-CN" sz="2800" b="1" baseline="-25000">
                <a:solidFill>
                  <a:schemeClr val="tx1"/>
                </a:solidFill>
                <a:effectLst>
                  <a:outerShdw blurRad="38100" dist="38100" dir="2700000">
                    <a:srgbClr val="C0C0C0"/>
                  </a:outerShdw>
                </a:effectLst>
                <a:uFillTx/>
                <a:latin typeface="Times" panose="00000500000000020000" charset="0"/>
                <a:ea typeface="楷体" pitchFamily="49" charset="-122"/>
                <a:cs typeface="Times" panose="00000500000000020000" charset="0"/>
              </a:rPr>
              <a:t>N</a:t>
            </a:r>
            <a:r>
              <a:rPr lang="en-US" altLang="zh-CN" sz="2800" b="1">
                <a:effectLst>
                  <a:outerShdw blurRad="38100" dist="38100" dir="2700000">
                    <a:srgbClr val="C0C0C0"/>
                  </a:outerShdw>
                </a:effectLst>
                <a:latin typeface="Times" panose="00000500000000020000" charset="0"/>
                <a:ea typeface="楷体" pitchFamily="49" charset="-122"/>
                <a:cs typeface="Times" panose="00000500000000020000" charset="0"/>
              </a:rPr>
              <a:t>[n]，Acos(ω</a:t>
            </a:r>
            <a:r>
              <a:rPr lang="en-US" altLang="zh-CN" sz="2800" b="1" baseline="-25000">
                <a:solidFill>
                  <a:schemeClr val="tx1"/>
                </a:solidFill>
                <a:effectLst>
                  <a:outerShdw blurRad="38100" dist="38100" dir="2700000">
                    <a:srgbClr val="C0C0C0"/>
                  </a:outerShdw>
                </a:effectLst>
                <a:uFillTx/>
                <a:latin typeface="Times" panose="00000500000000020000" charset="0"/>
                <a:ea typeface="楷体" pitchFamily="49" charset="-122"/>
                <a:cs typeface="Times" panose="00000500000000020000" charset="0"/>
              </a:rPr>
              <a:t>0</a:t>
            </a:r>
            <a:r>
              <a:rPr lang="en-US" altLang="zh-CN" sz="2800" b="1">
                <a:effectLst>
                  <a:outerShdw blurRad="38100" dist="38100" dir="2700000">
                    <a:srgbClr val="C0C0C0"/>
                  </a:outerShdw>
                </a:effectLst>
                <a:latin typeface="Times" panose="00000500000000020000" charset="0"/>
                <a:ea typeface="楷体" pitchFamily="49" charset="-122"/>
                <a:cs typeface="Times" panose="00000500000000020000" charset="0"/>
              </a:rPr>
              <a:t>n+</a:t>
            </a:r>
            <a:r>
              <a:rPr lang="en-US" altLang="zh-CN" sz="2800" b="1">
                <a:effectLst>
                  <a:outerShdw blurRad="38100" dist="38100" dir="2700000">
                    <a:srgbClr val="C0C0C0"/>
                  </a:outerShdw>
                </a:effectLst>
                <a:latin typeface="Arial" panose="020B0604020202090204" pitchFamily="34" charset="0"/>
                <a:ea typeface="楷体" pitchFamily="49" charset="-122"/>
                <a:cs typeface="Arial" panose="020B0604020202090204" pitchFamily="34" charset="0"/>
              </a:rPr>
              <a:t>Φ</a:t>
            </a:r>
            <a:r>
              <a:rPr lang="en-US" altLang="zh-CN" sz="2800" b="1">
                <a:effectLst>
                  <a:outerShdw blurRad="38100" dist="38100" dir="2700000">
                    <a:srgbClr val="C0C0C0"/>
                  </a:outerShdw>
                </a:effectLst>
                <a:latin typeface="Times" panose="00000500000000020000" charset="0"/>
                <a:ea typeface="楷体" pitchFamily="49" charset="-122"/>
                <a:cs typeface="Times" panose="00000500000000020000" charset="0"/>
              </a:rPr>
              <a:t>) or </a:t>
            </a:r>
            <a:r>
              <a:rPr lang="en-US" altLang="zh-CN" sz="2800" b="1">
                <a:effectLst>
                  <a:outerShdw blurRad="38100" dist="38100" dir="2700000">
                    <a:srgbClr val="C0C0C0"/>
                  </a:outerShdw>
                </a:effectLst>
                <a:latin typeface="Times" panose="00000500000000020000" charset="0"/>
                <a:ea typeface="楷体" pitchFamily="49" charset="-122"/>
                <a:cs typeface="Times" panose="00000500000000020000" charset="0"/>
                <a:sym typeface="+mn-ea"/>
              </a:rPr>
              <a:t>Asin(ω</a:t>
            </a:r>
            <a:r>
              <a:rPr lang="en-US" altLang="zh-CN" sz="2800" b="1" baseline="-25000">
                <a:effectLst>
                  <a:outerShdw blurRad="38100" dist="38100" dir="2700000">
                    <a:srgbClr val="C0C0C0"/>
                  </a:outerShdw>
                </a:effectLst>
                <a:uFillTx/>
                <a:latin typeface="Times" panose="00000500000000020000" charset="0"/>
                <a:ea typeface="楷体" pitchFamily="49" charset="-122"/>
                <a:cs typeface="Times" panose="00000500000000020000" charset="0"/>
                <a:sym typeface="+mn-ea"/>
              </a:rPr>
              <a:t>0</a:t>
            </a:r>
            <a:r>
              <a:rPr lang="en-US" altLang="zh-CN" sz="2800" b="1">
                <a:effectLst>
                  <a:outerShdw blurRad="38100" dist="38100" dir="2700000">
                    <a:srgbClr val="C0C0C0"/>
                  </a:outerShdw>
                </a:effectLst>
                <a:latin typeface="Times" panose="00000500000000020000" charset="0"/>
                <a:ea typeface="楷体" pitchFamily="49" charset="-122"/>
                <a:cs typeface="Times" panose="00000500000000020000" charset="0"/>
                <a:sym typeface="+mn-ea"/>
              </a:rPr>
              <a:t>n+</a:t>
            </a:r>
            <a:r>
              <a:rPr lang="en-US" altLang="zh-CN" sz="2800" b="1">
                <a:effectLst>
                  <a:outerShdw blurRad="38100" dist="38100" dir="2700000">
                    <a:srgbClr val="C0C0C0"/>
                  </a:outerShdw>
                </a:effectLst>
                <a:latin typeface="Arial" panose="020B0604020202090204" pitchFamily="34" charset="0"/>
                <a:ea typeface="楷体" pitchFamily="49" charset="-122"/>
                <a:cs typeface="Arial" panose="020B0604020202090204" pitchFamily="34" charset="0"/>
                <a:sym typeface="+mn-ea"/>
              </a:rPr>
              <a:t>Φ</a:t>
            </a:r>
            <a:r>
              <a:rPr lang="en-US" altLang="zh-CN" sz="2800" b="1">
                <a:effectLst>
                  <a:outerShdw blurRad="38100" dist="38100" dir="2700000">
                    <a:srgbClr val="C0C0C0"/>
                  </a:outerShdw>
                </a:effectLst>
                <a:latin typeface="Times" panose="00000500000000020000" charset="0"/>
                <a:ea typeface="楷体" pitchFamily="49" charset="-122"/>
                <a:cs typeface="Times" panose="00000500000000020000" charset="0"/>
                <a:sym typeface="+mn-ea"/>
              </a:rPr>
              <a:t>)，</a:t>
            </a:r>
            <a:r>
              <a:rPr lang="en-US" altLang="zh-CN" sz="2800" b="1">
                <a:effectLst>
                  <a:outerShdw blurRad="38100" dist="38100" dir="2700000">
                    <a:srgbClr val="C0C0C0"/>
                  </a:outerShdw>
                </a:effectLst>
                <a:latin typeface="Times" panose="00000500000000020000" charset="0"/>
                <a:ea typeface="楷体" pitchFamily="49" charset="-122"/>
                <a:cs typeface="Times" panose="00000500000000020000" charset="0"/>
                <a:sym typeface="+mn-ea"/>
              </a:rPr>
              <a:t>e</a:t>
            </a:r>
            <a:r>
              <a:rPr lang="en-US" altLang="zh-CN" sz="2800" b="1" baseline="30000">
                <a:effectLst>
                  <a:outerShdw blurRad="38100" dist="38100" dir="2700000">
                    <a:srgbClr val="C0C0C0"/>
                  </a:outerShdw>
                </a:effectLst>
                <a:uFillTx/>
                <a:latin typeface="Times" panose="00000500000000020000" charset="0"/>
                <a:ea typeface="楷体" pitchFamily="49" charset="-122"/>
                <a:cs typeface="Times" panose="00000500000000020000" charset="0"/>
                <a:sym typeface="+mn-ea"/>
              </a:rPr>
              <a:t>j(ω0n+</a:t>
            </a:r>
            <a:r>
              <a:rPr lang="en-US" altLang="zh-CN" sz="2800" b="1" baseline="30000">
                <a:effectLst>
                  <a:outerShdw blurRad="38100" dist="38100" dir="2700000">
                    <a:srgbClr val="C0C0C0"/>
                  </a:outerShdw>
                </a:effectLst>
                <a:uFillTx/>
                <a:latin typeface="Arial" panose="020B0604020202090204" pitchFamily="34" charset="0"/>
                <a:ea typeface="楷体" pitchFamily="49" charset="-122"/>
                <a:cs typeface="Arial" panose="020B0604020202090204" pitchFamily="34" charset="0"/>
                <a:sym typeface="+mn-ea"/>
              </a:rPr>
              <a:t>Φ</a:t>
            </a:r>
            <a:r>
              <a:rPr lang="en-US" altLang="zh-CN" sz="2800" b="1" baseline="30000">
                <a:effectLst>
                  <a:outerShdw blurRad="38100" dist="38100" dir="2700000">
                    <a:srgbClr val="C0C0C0"/>
                  </a:outerShdw>
                </a:effectLst>
                <a:uFillTx/>
                <a:latin typeface="Times" panose="00000500000000020000" charset="0"/>
                <a:ea typeface="楷体" pitchFamily="49" charset="-122"/>
                <a:cs typeface="Times" panose="00000500000000020000" charset="0"/>
                <a:sym typeface="+mn-ea"/>
              </a:rPr>
              <a:t>)，</a:t>
            </a:r>
            <a:r>
              <a:rPr lang="en-US" altLang="zh-CN" sz="2800" b="1">
                <a:solidFill>
                  <a:schemeClr val="tx1"/>
                </a:solidFill>
                <a:effectLst>
                  <a:outerShdw blurRad="38100" dist="38100" dir="2700000">
                    <a:srgbClr val="C0C0C0"/>
                  </a:outerShdw>
                </a:effectLst>
                <a:uFillTx/>
                <a:latin typeface="Arial" panose="020B0604020202090204" pitchFamily="34" charset="0"/>
                <a:ea typeface="楷体" pitchFamily="49" charset="-122"/>
                <a:cs typeface="Arial" panose="020B0604020202090204" pitchFamily="34" charset="0"/>
                <a:sym typeface="+mn-ea"/>
              </a:rPr>
              <a:t>α</a:t>
            </a:r>
            <a:r>
              <a:rPr lang="en-US" altLang="zh-CN" sz="2800" b="1" baseline="30000">
                <a:solidFill>
                  <a:schemeClr val="tx1"/>
                </a:solidFill>
                <a:effectLst>
                  <a:outerShdw blurRad="38100" dist="38100" dir="2700000">
                    <a:srgbClr val="C0C0C0"/>
                  </a:outerShdw>
                </a:effectLst>
                <a:uFillTx/>
                <a:latin typeface="Arial" panose="020B0604020202090204" pitchFamily="34" charset="0"/>
                <a:ea typeface="楷体" pitchFamily="49" charset="-122"/>
                <a:cs typeface="Arial" panose="020B0604020202090204" pitchFamily="34" charset="0"/>
                <a:sym typeface="+mn-ea"/>
              </a:rPr>
              <a:t>n</a:t>
            </a:r>
            <a:r>
              <a:rPr lang="en-US" altLang="zh-CN" sz="2800" b="1">
                <a:solidFill>
                  <a:schemeClr val="tx1"/>
                </a:solidFill>
                <a:effectLst>
                  <a:outerShdw blurRad="38100" dist="38100" dir="2700000">
                    <a:srgbClr val="C0C0C0"/>
                  </a:outerShdw>
                </a:effectLst>
                <a:uFillTx/>
                <a:latin typeface="Arial" panose="020B0604020202090204" pitchFamily="34" charset="0"/>
                <a:ea typeface="楷体" pitchFamily="49" charset="-122"/>
                <a:cs typeface="Arial" panose="020B0604020202090204" pitchFamily="34" charset="0"/>
                <a:sym typeface="+mn-ea"/>
              </a:rPr>
              <a:t>，......</a:t>
            </a:r>
            <a:endParaRPr lang="en-US" altLang="zh-CN" sz="2800" b="1">
              <a:solidFill>
                <a:schemeClr val="tx1"/>
              </a:solidFill>
              <a:effectLst>
                <a:outerShdw blurRad="38100" dist="38100" dir="2700000">
                  <a:srgbClr val="C0C0C0"/>
                </a:outerShdw>
              </a:effectLst>
              <a:uFillTx/>
              <a:latin typeface="Arial" panose="020B0604020202090204" pitchFamily="34" charset="0"/>
              <a:ea typeface="楷体" pitchFamily="49" charset="-122"/>
              <a:cs typeface="Arial" panose="020B0604020202090204" pitchFamily="34" charset="0"/>
              <a:sym typeface="+mn-ea"/>
            </a:endParaRPr>
          </a:p>
          <a:p>
            <a:pPr marL="0" indent="0">
              <a:buNone/>
            </a:pPr>
            <a:endParaRPr lang="en-US" altLang="zh-CN" sz="2800" b="1" baseline="30000">
              <a:solidFill>
                <a:schemeClr val="tx1"/>
              </a:solidFill>
              <a:effectLst>
                <a:outerShdw blurRad="38100" dist="38100" dir="2700000">
                  <a:srgbClr val="C0C0C0"/>
                </a:outerShdw>
              </a:effectLst>
              <a:uFillTx/>
              <a:latin typeface="Arial" panose="020B0604020202090204" pitchFamily="34" charset="0"/>
              <a:ea typeface="楷体" pitchFamily="49" charset="-122"/>
              <a:cs typeface="Arial" panose="020B0604020202090204" pitchFamily="34" charset="0"/>
              <a:sym typeface="+mn-ea"/>
            </a:endParaRPr>
          </a:p>
          <a:p>
            <a:pPr marL="0" indent="0">
              <a:buNone/>
            </a:pPr>
            <a:r>
              <a:rPr lang="en-US" altLang="zh-CN" sz="2800" b="1">
                <a:solidFill>
                  <a:schemeClr val="tx1"/>
                </a:solidFill>
                <a:effectLst>
                  <a:outerShdw blurRad="38100" dist="38100" dir="2700000">
                    <a:srgbClr val="C0C0C0"/>
                  </a:outerShdw>
                </a:effectLst>
                <a:uFillTx/>
                <a:latin typeface="Times New Roman" panose="02020503050405090304" pitchFamily="18" charset="0"/>
                <a:ea typeface="楷体" pitchFamily="49" charset="-122"/>
                <a:cs typeface="+mn-ea"/>
              </a:rPr>
              <a:t>The fundamental period dertermination of sinusiodal signals and exponential signals.</a:t>
            </a:r>
            <a:endParaRPr lang="en-US" altLang="zh-CN" sz="2800" b="1">
              <a:solidFill>
                <a:schemeClr val="tx1"/>
              </a:solidFill>
              <a:effectLst>
                <a:outerShdw blurRad="38100" dist="38100" dir="2700000">
                  <a:srgbClr val="C0C0C0"/>
                </a:outerShdw>
              </a:effectLst>
              <a:uFillTx/>
              <a:latin typeface="Times New Roman" panose="02020503050405090304" pitchFamily="18" charset="0"/>
              <a:ea typeface="楷体" pitchFamily="49" charset="-122"/>
              <a:cs typeface="+mn-ea"/>
            </a:endParaRPr>
          </a:p>
          <a:p>
            <a:pPr marL="0" indent="0">
              <a:buNone/>
            </a:pPr>
            <a:endParaRPr lang="en-US" altLang="zh-CN" sz="2800" b="1">
              <a:solidFill>
                <a:schemeClr val="tx1"/>
              </a:solidFill>
              <a:effectLst>
                <a:outerShdw blurRad="38100" dist="38100" dir="2700000">
                  <a:srgbClr val="C0C0C0"/>
                </a:outerShdw>
              </a:effectLst>
              <a:uFillTx/>
              <a:latin typeface="Times New Roman" panose="02020503050405090304" pitchFamily="18" charset="0"/>
              <a:ea typeface="楷体" pitchFamily="49" charset="-122"/>
              <a:cs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8193"/>
          <p:cNvSpPr/>
          <p:nvPr>
            <p:ph type="title"/>
          </p:nvPr>
        </p:nvSpPr>
        <p:spPr>
          <a:xfrm>
            <a:off x="457200" y="195263"/>
            <a:ext cx="8229600" cy="781050"/>
          </a:xfrm>
        </p:spPr>
        <p:txBody>
          <a:bodyPr vert="horz" wrap="square" lIns="91440" tIns="45720" rIns="91440" bIns="45720" anchor="ctr" anchorCtr="0"/>
          <a:p>
            <a:pPr eaLnBrk="1" hangingPunct="1"/>
            <a:r>
              <a:rPr lang="en-US" altLang="zh-CN" sz="4000" dirty="0">
                <a:latin typeface="Times New Roman" panose="02020503050405090304" pitchFamily="18" charset="0"/>
                <a:ea typeface="楷体" pitchFamily="49" charset="-122"/>
                <a:sym typeface="Arial" panose="020B0604020202090204" pitchFamily="34" charset="0"/>
              </a:rPr>
              <a:t>3 Difference </a:t>
            </a:r>
            <a:r>
              <a:rPr lang="en-US" altLang="zh-CN" sz="4000" dirty="0">
                <a:latin typeface="Times New Roman" panose="02020503050405090304" pitchFamily="18" charset="0"/>
                <a:ea typeface="楷体" pitchFamily="49" charset="-122"/>
                <a:sym typeface="Arial" panose="020B0604020202090204" pitchFamily="34" charset="0"/>
              </a:rPr>
              <a:t>Equation</a:t>
            </a:r>
            <a:endParaRPr lang="en-US" altLang="zh-CN" sz="4000" dirty="0">
              <a:latin typeface="Times New Roman" panose="02020503050405090304" pitchFamily="18" charset="0"/>
              <a:ea typeface="楷体" pitchFamily="49" charset="-122"/>
              <a:sym typeface="Arial" panose="020B0604020202090204" pitchFamily="34" charset="0"/>
            </a:endParaRPr>
          </a:p>
        </p:txBody>
      </p:sp>
      <p:sp>
        <p:nvSpPr>
          <p:cNvPr id="8195" name="文本框 8194"/>
          <p:cNvSpPr txBox="1"/>
          <p:nvPr/>
        </p:nvSpPr>
        <p:spPr>
          <a:xfrm>
            <a:off x="457200" y="1546225"/>
            <a:ext cx="8362950"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 LTI system is usually described by a linear difference equation with constant coefficients.</a:t>
            </a:r>
            <a:endParaRPr kumimoji="0" lang="zh-CN" altLang="en-US"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8196" name="文本框 8195"/>
          <p:cNvSpPr txBox="1"/>
          <p:nvPr/>
        </p:nvSpPr>
        <p:spPr>
          <a:xfrm>
            <a:off x="467678" y="2636838"/>
            <a:ext cx="8147050" cy="138366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The unit sampl</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e response of the system can be solved by iterative method in time domain according to the initial conditions of the system.</a:t>
            </a:r>
            <a:endParaRPr kumimoji="0" lang="zh-CN" altLang="en-US" sz="2800" b="1" kern="1200" cap="none" spc="0" normalizeH="0" baseline="0" noProof="1">
              <a:effectLst>
                <a:outerShdw blurRad="38100" dist="38100" dir="2700000">
                  <a:srgbClr val="C0C0C0"/>
                </a:outerShdw>
              </a:effectLst>
              <a:latin typeface="楷体" pitchFamily="49" charset="-122"/>
              <a:ea typeface="楷体" pitchFamily="49" charset="-122"/>
              <a:cs typeface="+mn-cs"/>
              <a:sym typeface="+mn-ea"/>
            </a:endParaRPr>
          </a:p>
        </p:txBody>
      </p:sp>
      <p:sp>
        <p:nvSpPr>
          <p:cNvPr id="8197" name="文本框 8196"/>
          <p:cNvSpPr txBox="1"/>
          <p:nvPr/>
        </p:nvSpPr>
        <p:spPr>
          <a:xfrm>
            <a:off x="467995" y="4364673"/>
            <a:ext cx="8147050" cy="138366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Different initial conditions of the system will make the system properties expressed by the same differen</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ce equation be different.</a:t>
            </a:r>
            <a:endPar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5"/>
                                        </p:tgtEl>
                                        <p:attrNameLst>
                                          <p:attrName>style.visibility</p:attrName>
                                        </p:attrNameLst>
                                      </p:cBhvr>
                                      <p:to>
                                        <p:strVal val="visible"/>
                                      </p:to>
                                    </p:set>
                                    <p:anim calcmode="lin" valueType="num">
                                      <p:cBhvr additive="base">
                                        <p:cTn id="7" dur="500" fill="hold"/>
                                        <p:tgtEl>
                                          <p:spTgt spid="8195"/>
                                        </p:tgtEl>
                                        <p:attrNameLst>
                                          <p:attrName>ppt_x</p:attrName>
                                        </p:attrNameLst>
                                      </p:cBhvr>
                                      <p:tavLst>
                                        <p:tav tm="0">
                                          <p:val>
                                            <p:strVal val="#ppt_x"/>
                                          </p:val>
                                        </p:tav>
                                        <p:tav tm="100000">
                                          <p:val>
                                            <p:strVal val="#ppt_x"/>
                                          </p:val>
                                        </p:tav>
                                      </p:tavLst>
                                    </p:anim>
                                    <p:anim calcmode="lin" valueType="num">
                                      <p:cBhvr additive="base">
                                        <p:cTn id="8" dur="500" fill="hold"/>
                                        <p:tgtEl>
                                          <p:spTgt spid="81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6"/>
                                        </p:tgtEl>
                                        <p:attrNameLst>
                                          <p:attrName>style.visibility</p:attrName>
                                        </p:attrNameLst>
                                      </p:cBhvr>
                                      <p:to>
                                        <p:strVal val="visible"/>
                                      </p:to>
                                    </p:set>
                                    <p:anim calcmode="lin" valueType="num">
                                      <p:cBhvr additive="base">
                                        <p:cTn id="13" dur="500" fill="hold"/>
                                        <p:tgtEl>
                                          <p:spTgt spid="8196"/>
                                        </p:tgtEl>
                                        <p:attrNameLst>
                                          <p:attrName>ppt_x</p:attrName>
                                        </p:attrNameLst>
                                      </p:cBhvr>
                                      <p:tavLst>
                                        <p:tav tm="0">
                                          <p:val>
                                            <p:strVal val="#ppt_x"/>
                                          </p:val>
                                        </p:tav>
                                        <p:tav tm="100000">
                                          <p:val>
                                            <p:strVal val="#ppt_x"/>
                                          </p:val>
                                        </p:tav>
                                      </p:tavLst>
                                    </p:anim>
                                    <p:anim calcmode="lin" valueType="num">
                                      <p:cBhvr additive="base">
                                        <p:cTn id="14" dur="500" fill="hold"/>
                                        <p:tgtEl>
                                          <p:spTgt spid="819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7"/>
                                        </p:tgtEl>
                                        <p:attrNameLst>
                                          <p:attrName>style.visibility</p:attrName>
                                        </p:attrNameLst>
                                      </p:cBhvr>
                                      <p:to>
                                        <p:strVal val="visible"/>
                                      </p:to>
                                    </p:set>
                                    <p:anim calcmode="lin" valueType="num">
                                      <p:cBhvr additive="base">
                                        <p:cTn id="19" dur="500" fill="hold"/>
                                        <p:tgtEl>
                                          <p:spTgt spid="8197"/>
                                        </p:tgtEl>
                                        <p:attrNameLst>
                                          <p:attrName>ppt_x</p:attrName>
                                        </p:attrNameLst>
                                      </p:cBhvr>
                                      <p:tavLst>
                                        <p:tav tm="0">
                                          <p:val>
                                            <p:strVal val="#ppt_x"/>
                                          </p:val>
                                        </p:tav>
                                        <p:tav tm="100000">
                                          <p:val>
                                            <p:strVal val="#ppt_x"/>
                                          </p:val>
                                        </p:tav>
                                      </p:tavLst>
                                    </p:anim>
                                    <p:anim calcmode="lin" valueType="num">
                                      <p:cBhvr additive="base">
                                        <p:cTn id="20" dur="500" fill="hold"/>
                                        <p:tgtEl>
                                          <p:spTgt spid="81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p:bldP spid="8196" grpId="0"/>
      <p:bldP spid="819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标题 9217"/>
          <p:cNvSpPr/>
          <p:nvPr>
            <p:ph type="title"/>
          </p:nvPr>
        </p:nvSpPr>
        <p:spPr>
          <a:xfrm>
            <a:off x="457200" y="195263"/>
            <a:ext cx="8229600" cy="715962"/>
          </a:xfrm>
        </p:spPr>
        <p:txBody>
          <a:bodyPr vert="horz" wrap="square" lIns="91440" tIns="45720" rIns="91440" bIns="45720" anchor="ctr" anchorCtr="0"/>
          <a:p>
            <a:pPr eaLnBrk="1" hangingPunct="1"/>
            <a:r>
              <a:rPr lang="en-US" altLang="zh-CN" sz="4000" dirty="0">
                <a:latin typeface="Times New Roman" panose="02020503050405090304" pitchFamily="18" charset="0"/>
                <a:ea typeface="楷体" pitchFamily="49" charset="-122"/>
              </a:rPr>
              <a:t>4</a:t>
            </a:r>
            <a:r>
              <a:rPr lang="zh-CN" altLang="en-US" sz="4000" dirty="0">
                <a:latin typeface="Times New Roman" panose="02020503050405090304" pitchFamily="18" charset="0"/>
                <a:ea typeface="楷体" pitchFamily="49" charset="-122"/>
              </a:rPr>
              <a:t> </a:t>
            </a:r>
            <a:r>
              <a:rPr lang="en-US" altLang="zh-CN" sz="4000" dirty="0">
                <a:latin typeface="Times New Roman" panose="02020503050405090304" pitchFamily="18" charset="0"/>
                <a:ea typeface="楷体" pitchFamily="49" charset="-122"/>
              </a:rPr>
              <a:t>System classifications</a:t>
            </a:r>
            <a:endParaRPr lang="zh-CN" altLang="en-US" sz="4000" dirty="0">
              <a:latin typeface="Times New Roman" panose="02020503050405090304" pitchFamily="18" charset="0"/>
              <a:ea typeface="楷体" pitchFamily="49" charset="-122"/>
            </a:endParaRPr>
          </a:p>
        </p:txBody>
      </p:sp>
      <p:sp>
        <p:nvSpPr>
          <p:cNvPr id="9219" name="文本框 9218"/>
          <p:cNvSpPr txBox="1"/>
          <p:nvPr/>
        </p:nvSpPr>
        <p:spPr>
          <a:xfrm>
            <a:off x="323215" y="1533843"/>
            <a:ext cx="10082213" cy="521970"/>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Char char="l"/>
              <a:defRPr/>
            </a:pPr>
            <a:r>
              <a:rPr kumimoji="0" lang="zh-CN" altLang="en-US" sz="2800" b="1" kern="1200" cap="none" spc="0" normalizeH="0" baseline="0" noProof="1">
                <a:effectLst>
                  <a:outerShdw blurRad="38100" dist="38100" dir="2700000">
                    <a:srgbClr val="C0C0C0"/>
                  </a:outerShdw>
                </a:effectLst>
                <a:latin typeface="Verdana" panose="020B0804030504040204" pitchFamily="34" charset="0"/>
                <a:ea typeface="宋体" pitchFamily="2" charset="-122"/>
                <a:cs typeface="+mn-ea"/>
                <a:sym typeface="+mn-ea"/>
              </a:rPr>
              <a:t>　</a:t>
            </a:r>
            <a:r>
              <a:rPr kumimoji="0" lang="en-US" altLang="zh-CN" sz="2800" b="1" kern="1200" cap="none" spc="0" normalizeH="0" baseline="0" noProof="1">
                <a:effectLst>
                  <a:outerShdw blurRad="38100" dist="38100" dir="2700000">
                    <a:srgbClr val="C0C0C0"/>
                  </a:outerShdw>
                </a:effectLst>
                <a:latin typeface="楷体" pitchFamily="49" charset="-122"/>
                <a:ea typeface="楷体" pitchFamily="49" charset="-122"/>
                <a:cs typeface="+mn-ea"/>
                <a:sym typeface="+mn-ea"/>
              </a:rPr>
              <a:t>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Definition and properties of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 linear system</a:t>
            </a:r>
            <a:endParaRPr kumimoji="0" lang="zh-CN" altLang="en-US"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9220" name="文本框 9219"/>
          <p:cNvSpPr txBox="1"/>
          <p:nvPr/>
        </p:nvSpPr>
        <p:spPr>
          <a:xfrm>
            <a:off x="323215" y="2276793"/>
            <a:ext cx="9875838" cy="521970"/>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Char char="l"/>
              <a:defRPr/>
            </a:pPr>
            <a:r>
              <a:rPr kumimoji="0" lang="zh-CN" altLang="en-US" sz="2800" b="1" kern="1200" cap="none" spc="0" normalizeH="0" baseline="0" noProof="1">
                <a:effectLst>
                  <a:outerShdw blurRad="38100" dist="38100" dir="2700000">
                    <a:srgbClr val="C0C0C0"/>
                  </a:outerShdw>
                </a:effectLst>
                <a:latin typeface="Verdana" panose="020B0804030504040204" pitchFamily="34" charset="0"/>
                <a:ea typeface="宋体" pitchFamily="2" charset="-122"/>
                <a:cs typeface="+mn-ea"/>
                <a:sym typeface="+mn-ea"/>
              </a:rPr>
              <a:t>　</a:t>
            </a:r>
            <a:r>
              <a:rPr kumimoji="0" lang="en-US" altLang="zh-CN" sz="2800" b="1" kern="1200" cap="none" spc="0" normalizeH="0" baseline="0" noProof="1">
                <a:effectLst>
                  <a:outerShdw blurRad="38100" dist="38100" dir="2700000">
                    <a:srgbClr val="C0C0C0"/>
                  </a:outerShdw>
                </a:effectLst>
                <a:latin typeface="楷体" pitchFamily="49" charset="-122"/>
                <a:ea typeface="楷体" pitchFamily="49" charset="-122"/>
                <a:cs typeface="+mn-ea"/>
                <a:sym typeface="+mn-ea"/>
              </a:rPr>
              <a:t>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Definition and properties of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 time-invariant system</a:t>
            </a:r>
            <a:endParaRPr kumimoji="0" lang="zh-CN" altLang="en-US" sz="2800" b="1" kern="1200" cap="none" spc="0" normalizeH="0" baseline="0" noProof="1">
              <a:effectLst>
                <a:outerShdw blurRad="38100" dist="38100" dir="2700000">
                  <a:srgbClr val="C0C0C0"/>
                </a:outerShdw>
              </a:effectLst>
              <a:latin typeface="楷体" pitchFamily="49" charset="-122"/>
              <a:ea typeface="楷体" pitchFamily="49" charset="-122"/>
              <a:cs typeface="+mn-ea"/>
              <a:sym typeface="+mn-ea"/>
            </a:endParaRPr>
          </a:p>
        </p:txBody>
      </p:sp>
      <p:sp>
        <p:nvSpPr>
          <p:cNvPr id="9221" name="文本框 9220"/>
          <p:cNvSpPr txBox="1"/>
          <p:nvPr/>
        </p:nvSpPr>
        <p:spPr>
          <a:xfrm>
            <a:off x="323215" y="3068955"/>
            <a:ext cx="9083675" cy="521970"/>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Char char="l"/>
              <a:defRPr/>
            </a:pPr>
            <a:r>
              <a:rPr kumimoji="0" lang="zh-CN" altLang="en-US" sz="2800" b="1" kern="1200" cap="none" spc="0" normalizeH="0" baseline="0" noProof="1">
                <a:effectLst>
                  <a:outerShdw blurRad="38100" dist="38100" dir="2700000">
                    <a:srgbClr val="C0C0C0"/>
                  </a:outerShdw>
                </a:effectLst>
                <a:latin typeface="Verdana" panose="020B0804030504040204" pitchFamily="34" charset="0"/>
                <a:ea typeface="宋体" pitchFamily="2" charset="-122"/>
                <a:cs typeface="+mn-ea"/>
                <a:sym typeface="+mn-ea"/>
              </a:rPr>
              <a:t>　</a:t>
            </a:r>
            <a:r>
              <a:rPr kumimoji="0" lang="en-US" altLang="zh-CN" sz="2800" b="1" kern="1200" cap="none" spc="0" normalizeH="0" baseline="0" noProof="1">
                <a:effectLst>
                  <a:outerShdw blurRad="38100" dist="38100" dir="2700000">
                    <a:srgbClr val="C0C0C0"/>
                  </a:outerShdw>
                </a:effectLst>
                <a:latin typeface="楷体" pitchFamily="49" charset="-122"/>
                <a:ea typeface="楷体" pitchFamily="49" charset="-122"/>
                <a:cs typeface="+mn-ea"/>
                <a:sym typeface="+mn-ea"/>
              </a:rPr>
              <a:t>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The definition and properties of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 causal system</a:t>
            </a:r>
            <a:endPar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9222" name="文本框 9221"/>
          <p:cNvSpPr txBox="1"/>
          <p:nvPr/>
        </p:nvSpPr>
        <p:spPr>
          <a:xfrm>
            <a:off x="323215" y="3810318"/>
            <a:ext cx="8820150" cy="521970"/>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Char char="l"/>
              <a:defRPr/>
            </a:pPr>
            <a:r>
              <a:rPr kumimoji="0" lang="zh-CN" altLang="en-US" sz="2800" b="1" kern="1200" cap="none" spc="0" normalizeH="0" baseline="0" noProof="1">
                <a:effectLst>
                  <a:outerShdw blurRad="38100" dist="38100" dir="2700000">
                    <a:srgbClr val="C0C0C0"/>
                  </a:outerShdw>
                </a:effectLst>
                <a:latin typeface="Verdana" panose="020B0804030504040204" pitchFamily="34" charset="0"/>
                <a:ea typeface="宋体" pitchFamily="2" charset="-122"/>
                <a:cs typeface="+mn-ea"/>
                <a:sym typeface="+mn-ea"/>
              </a:rPr>
              <a:t>　</a:t>
            </a:r>
            <a:r>
              <a:rPr kumimoji="0" lang="en-US" altLang="zh-CN" sz="2800" b="1" kern="1200" cap="none" spc="0" normalizeH="0" baseline="0" noProof="1">
                <a:effectLst>
                  <a:outerShdw blurRad="38100" dist="38100" dir="2700000">
                    <a:srgbClr val="C0C0C0"/>
                  </a:outerShdw>
                </a:effectLst>
                <a:latin typeface="楷体" pitchFamily="49" charset="-122"/>
                <a:ea typeface="楷体" pitchFamily="49" charset="-122"/>
                <a:cs typeface="+mn-ea"/>
                <a:sym typeface="+mn-ea"/>
              </a:rPr>
              <a:t>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The definition and properties of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 stable system</a:t>
            </a:r>
            <a:endParaRPr kumimoji="0" lang="zh-CN" altLang="en-US" sz="2800" b="1" kern="1200" cap="none" spc="0" normalizeH="0" baseline="0" noProof="1">
              <a:effectLst>
                <a:outerShdw blurRad="38100" dist="38100" dir="2700000">
                  <a:srgbClr val="C0C0C0"/>
                </a:outerShdw>
              </a:effectLst>
              <a:latin typeface="楷体" pitchFamily="49" charset="-122"/>
              <a:ea typeface="楷体" pitchFamily="49" charset="-122"/>
              <a:cs typeface="+mn-ea"/>
              <a:sym typeface="+mn-ea"/>
            </a:endParaRPr>
          </a:p>
        </p:txBody>
      </p:sp>
      <p:sp>
        <p:nvSpPr>
          <p:cNvPr id="9223" name="文本框 9222"/>
          <p:cNvSpPr txBox="1"/>
          <p:nvPr/>
        </p:nvSpPr>
        <p:spPr>
          <a:xfrm>
            <a:off x="766763" y="4652963"/>
            <a:ext cx="7920038" cy="138366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It is required to judge the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properties of a given system according to the definition of the above system properties.</a:t>
            </a:r>
            <a:endPar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3" name="五角星 2"/>
          <p:cNvSpPr/>
          <p:nvPr/>
        </p:nvSpPr>
        <p:spPr>
          <a:xfrm>
            <a:off x="7380605" y="260350"/>
            <a:ext cx="914400" cy="914400"/>
          </a:xfrm>
          <a:prstGeom prst="star5">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 calcmode="lin" valueType="num">
                                      <p:cBhvr additive="base">
                                        <p:cTn id="7" dur="500" fill="hold"/>
                                        <p:tgtEl>
                                          <p:spTgt spid="9219"/>
                                        </p:tgtEl>
                                        <p:attrNameLst>
                                          <p:attrName>ppt_x</p:attrName>
                                        </p:attrNameLst>
                                      </p:cBhvr>
                                      <p:tavLst>
                                        <p:tav tm="0">
                                          <p:val>
                                            <p:strVal val="#ppt_x"/>
                                          </p:val>
                                        </p:tav>
                                        <p:tav tm="100000">
                                          <p:val>
                                            <p:strVal val="#ppt_x"/>
                                          </p:val>
                                        </p:tav>
                                      </p:tavLst>
                                    </p:anim>
                                    <p:anim calcmode="lin" valueType="num">
                                      <p:cBhvr additive="base">
                                        <p:cTn id="8" dur="500" fill="hold"/>
                                        <p:tgtEl>
                                          <p:spTgt spid="92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20"/>
                                        </p:tgtEl>
                                        <p:attrNameLst>
                                          <p:attrName>style.visibility</p:attrName>
                                        </p:attrNameLst>
                                      </p:cBhvr>
                                      <p:to>
                                        <p:strVal val="visible"/>
                                      </p:to>
                                    </p:set>
                                    <p:anim calcmode="lin" valueType="num">
                                      <p:cBhvr additive="base">
                                        <p:cTn id="13" dur="500" fill="hold"/>
                                        <p:tgtEl>
                                          <p:spTgt spid="9220"/>
                                        </p:tgtEl>
                                        <p:attrNameLst>
                                          <p:attrName>ppt_x</p:attrName>
                                        </p:attrNameLst>
                                      </p:cBhvr>
                                      <p:tavLst>
                                        <p:tav tm="0">
                                          <p:val>
                                            <p:strVal val="#ppt_x"/>
                                          </p:val>
                                        </p:tav>
                                        <p:tav tm="100000">
                                          <p:val>
                                            <p:strVal val="#ppt_x"/>
                                          </p:val>
                                        </p:tav>
                                      </p:tavLst>
                                    </p:anim>
                                    <p:anim calcmode="lin" valueType="num">
                                      <p:cBhvr additive="base">
                                        <p:cTn id="14"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21"/>
                                        </p:tgtEl>
                                        <p:attrNameLst>
                                          <p:attrName>style.visibility</p:attrName>
                                        </p:attrNameLst>
                                      </p:cBhvr>
                                      <p:to>
                                        <p:strVal val="visible"/>
                                      </p:to>
                                    </p:set>
                                    <p:anim calcmode="lin" valueType="num">
                                      <p:cBhvr additive="base">
                                        <p:cTn id="19" dur="500" fill="hold"/>
                                        <p:tgtEl>
                                          <p:spTgt spid="9221"/>
                                        </p:tgtEl>
                                        <p:attrNameLst>
                                          <p:attrName>ppt_x</p:attrName>
                                        </p:attrNameLst>
                                      </p:cBhvr>
                                      <p:tavLst>
                                        <p:tav tm="0">
                                          <p:val>
                                            <p:strVal val="#ppt_x"/>
                                          </p:val>
                                        </p:tav>
                                        <p:tav tm="100000">
                                          <p:val>
                                            <p:strVal val="#ppt_x"/>
                                          </p:val>
                                        </p:tav>
                                      </p:tavLst>
                                    </p:anim>
                                    <p:anim calcmode="lin" valueType="num">
                                      <p:cBhvr additive="base">
                                        <p:cTn id="20" dur="500" fill="hold"/>
                                        <p:tgtEl>
                                          <p:spTgt spid="92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22"/>
                                        </p:tgtEl>
                                        <p:attrNameLst>
                                          <p:attrName>style.visibility</p:attrName>
                                        </p:attrNameLst>
                                      </p:cBhvr>
                                      <p:to>
                                        <p:strVal val="visible"/>
                                      </p:to>
                                    </p:set>
                                    <p:anim calcmode="lin" valueType="num">
                                      <p:cBhvr additive="base">
                                        <p:cTn id="25" dur="500" fill="hold"/>
                                        <p:tgtEl>
                                          <p:spTgt spid="9222"/>
                                        </p:tgtEl>
                                        <p:attrNameLst>
                                          <p:attrName>ppt_x</p:attrName>
                                        </p:attrNameLst>
                                      </p:cBhvr>
                                      <p:tavLst>
                                        <p:tav tm="0">
                                          <p:val>
                                            <p:strVal val="#ppt_x"/>
                                          </p:val>
                                        </p:tav>
                                        <p:tav tm="100000">
                                          <p:val>
                                            <p:strVal val="#ppt_x"/>
                                          </p:val>
                                        </p:tav>
                                      </p:tavLst>
                                    </p:anim>
                                    <p:anim calcmode="lin" valueType="num">
                                      <p:cBhvr additive="base">
                                        <p:cTn id="26" dur="500" fill="hold"/>
                                        <p:tgtEl>
                                          <p:spTgt spid="92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223"/>
                                        </p:tgtEl>
                                        <p:attrNameLst>
                                          <p:attrName>style.visibility</p:attrName>
                                        </p:attrNameLst>
                                      </p:cBhvr>
                                      <p:to>
                                        <p:strVal val="visible"/>
                                      </p:to>
                                    </p:set>
                                    <p:anim calcmode="lin" valueType="num">
                                      <p:cBhvr additive="base">
                                        <p:cTn id="31" dur="500" fill="hold"/>
                                        <p:tgtEl>
                                          <p:spTgt spid="9223"/>
                                        </p:tgtEl>
                                        <p:attrNameLst>
                                          <p:attrName>ppt_x</p:attrName>
                                        </p:attrNameLst>
                                      </p:cBhvr>
                                      <p:tavLst>
                                        <p:tav tm="0">
                                          <p:val>
                                            <p:strVal val="#ppt_x"/>
                                          </p:val>
                                        </p:tav>
                                        <p:tav tm="100000">
                                          <p:val>
                                            <p:strVal val="#ppt_x"/>
                                          </p:val>
                                        </p:tav>
                                      </p:tavLst>
                                    </p:anim>
                                    <p:anim calcmode="lin" valueType="num">
                                      <p:cBhvr additive="base">
                                        <p:cTn id="32" dur="500" fill="hold"/>
                                        <p:tgtEl>
                                          <p:spTgt spid="92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P spid="9220" grpId="0"/>
      <p:bldP spid="9221" grpId="0"/>
      <p:bldP spid="9222" grpId="0"/>
      <p:bldP spid="92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标题 10241"/>
          <p:cNvSpPr/>
          <p:nvPr>
            <p:ph type="title"/>
          </p:nvPr>
        </p:nvSpPr>
        <p:spPr>
          <a:xfrm>
            <a:off x="611505" y="260033"/>
            <a:ext cx="8229600" cy="781050"/>
          </a:xfrm>
        </p:spPr>
        <p:txBody>
          <a:bodyPr vert="horz" wrap="square" lIns="91440" tIns="45720" rIns="91440" bIns="45720" anchor="ctr" anchorCtr="0"/>
          <a:p>
            <a:pPr eaLnBrk="1" hangingPunct="1"/>
            <a:r>
              <a:rPr lang="en-US" altLang="zh-CN" sz="4000" dirty="0">
                <a:latin typeface="Times New Roman" panose="02020503050405090304" pitchFamily="18" charset="0"/>
                <a:ea typeface="楷体" pitchFamily="49" charset="-122"/>
              </a:rPr>
              <a:t>5 Convolution sum</a:t>
            </a:r>
            <a:endParaRPr lang="zh-CN" altLang="en-US" sz="4000" dirty="0">
              <a:latin typeface="Times New Roman" panose="02020503050405090304" pitchFamily="18" charset="0"/>
              <a:ea typeface="楷体" pitchFamily="49" charset="-122"/>
            </a:endParaRPr>
          </a:p>
        </p:txBody>
      </p:sp>
      <p:graphicFrame>
        <p:nvGraphicFramePr>
          <p:cNvPr id="10243" name="对象 10242"/>
          <p:cNvGraphicFramePr>
            <a:graphicFrameLocks noChangeAspect="1"/>
          </p:cNvGraphicFramePr>
          <p:nvPr/>
        </p:nvGraphicFramePr>
        <p:xfrm>
          <a:off x="1979613" y="2006600"/>
          <a:ext cx="4892675" cy="1206500"/>
        </p:xfrm>
        <a:graphic>
          <a:graphicData uri="http://schemas.openxmlformats.org/presentationml/2006/ole">
            <mc:AlternateContent xmlns:mc="http://schemas.openxmlformats.org/markup-compatibility/2006">
              <mc:Choice xmlns:v="urn:schemas-microsoft-com:vml" Requires="v">
                <p:oleObj spid="_x0000_s3076" name="" r:id="rId1" imgW="1739900" imgH="431800" progId="Equation.3">
                  <p:embed/>
                </p:oleObj>
              </mc:Choice>
              <mc:Fallback>
                <p:oleObj name="" r:id="rId1" imgW="1739900" imgH="431800" progId="Equation.3">
                  <p:embed/>
                  <p:pic>
                    <p:nvPicPr>
                      <p:cNvPr id="0" name="图片 3075"/>
                      <p:cNvPicPr/>
                      <p:nvPr/>
                    </p:nvPicPr>
                    <p:blipFill>
                      <a:blip r:embed="rId2"/>
                      <a:stretch>
                        <a:fillRect/>
                      </a:stretch>
                    </p:blipFill>
                    <p:spPr>
                      <a:xfrm>
                        <a:off x="1979613" y="2006600"/>
                        <a:ext cx="4892675" cy="1206500"/>
                      </a:xfrm>
                      <a:prstGeom prst="rect">
                        <a:avLst/>
                      </a:prstGeom>
                      <a:solidFill>
                        <a:srgbClr val="FFFFFF"/>
                      </a:solidFill>
                      <a:ln w="38100">
                        <a:noFill/>
                        <a:miter/>
                      </a:ln>
                    </p:spPr>
                  </p:pic>
                </p:oleObj>
              </mc:Fallback>
            </mc:AlternateContent>
          </a:graphicData>
        </a:graphic>
      </p:graphicFrame>
      <p:sp>
        <p:nvSpPr>
          <p:cNvPr id="10244" name="文本框 10243"/>
          <p:cNvSpPr txBox="1"/>
          <p:nvPr/>
        </p:nvSpPr>
        <p:spPr>
          <a:xfrm>
            <a:off x="467360" y="1340168"/>
            <a:ext cx="8162925" cy="521970"/>
          </a:xfrm>
          <a:prstGeom prst="rect">
            <a:avLst/>
          </a:prstGeom>
          <a:noFill/>
          <a:ln w="9525">
            <a:noFill/>
            <a:miter/>
          </a:ln>
        </p:spPr>
        <p:txBody>
          <a:bodyPr wrap="square">
            <a:spAutoFit/>
          </a:bodyPr>
          <a:lstStyle/>
          <a:p>
            <a:pPr lvl="0" algn="l">
              <a:spcBef>
                <a:spcPct val="50000"/>
              </a:spcBef>
              <a:buClrTx/>
              <a:buSzTx/>
              <a:defRPr/>
            </a:pPr>
            <a:r>
              <a:rPr lang="en-US" altLang="zh-CN" sz="2800" b="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The definition of convol</a:t>
            </a:r>
            <a:r>
              <a:rPr lang="en-US" altLang="zh-CN" sz="2800" b="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ution </a:t>
            </a:r>
            <a:r>
              <a:rPr lang="en-US" altLang="zh-CN" sz="2800" b="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t>
            </a:r>
            <a:endParaRPr lang="en-US" altLang="zh-CN" sz="2800" b="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10245" name="文本框 10244"/>
          <p:cNvSpPr txBox="1"/>
          <p:nvPr/>
        </p:nvSpPr>
        <p:spPr>
          <a:xfrm>
            <a:off x="395605" y="3212783"/>
            <a:ext cx="8435975" cy="138366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Convolution operation: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by using the basic operation</a:t>
            </a:r>
            <a:r>
              <a:rPr kumimoji="0" lang="zh-CN" altLang="en-US"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t>
            </a:r>
            <a:r>
              <a:rPr lang="en-US" altLang="zh-CN" sz="2800" b="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time-reversal, </a:t>
            </a:r>
            <a:r>
              <a:rPr lang="en-US" altLang="zh-CN" sz="2800" b="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time-shift, addtion）</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 sketch and discuss the convolution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sum.</a:t>
            </a:r>
            <a:endPar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10246" name="文本框 10245"/>
          <p:cNvSpPr txBox="1"/>
          <p:nvPr/>
        </p:nvSpPr>
        <p:spPr>
          <a:xfrm>
            <a:off x="457200" y="4940935"/>
            <a:ext cx="8435975" cy="953135"/>
          </a:xfrm>
          <a:prstGeom prst="rect">
            <a:avLst/>
          </a:prstGeom>
          <a:noFill/>
          <a:ln w="9525">
            <a:noFill/>
            <a:miter/>
          </a:ln>
        </p:spPr>
        <p:txBody>
          <a:bodyPr wrap="square">
            <a:spAutoFit/>
          </a:bodyPr>
          <a:lstStyle/>
          <a:p>
            <a:pPr marR="0" algn="l"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Convolution properties: （1）Commutative law     （2）Associative law（3</a:t>
            </a:r>
            <a:r>
              <a:rPr kumimoji="0" lang="zh-CN" altLang="en-US"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Distributi</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ve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law.</a:t>
            </a:r>
            <a:endPar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additive="base">
                                        <p:cTn id="7" dur="500" fill="hold"/>
                                        <p:tgtEl>
                                          <p:spTgt spid="10244"/>
                                        </p:tgtEl>
                                        <p:attrNameLst>
                                          <p:attrName>ppt_x</p:attrName>
                                        </p:attrNameLst>
                                      </p:cBhvr>
                                      <p:tavLst>
                                        <p:tav tm="0">
                                          <p:val>
                                            <p:strVal val="#ppt_x"/>
                                          </p:val>
                                        </p:tav>
                                        <p:tav tm="100000">
                                          <p:val>
                                            <p:strVal val="#ppt_x"/>
                                          </p:val>
                                        </p:tav>
                                      </p:tavLst>
                                    </p:anim>
                                    <p:anim calcmode="lin" valueType="num">
                                      <p:cBhvr additive="base">
                                        <p:cTn id="8" dur="500" fill="hold"/>
                                        <p:tgtEl>
                                          <p:spTgt spid="1024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43"/>
                                        </p:tgtEl>
                                        <p:attrNameLst>
                                          <p:attrName>style.visibility</p:attrName>
                                        </p:attrNameLst>
                                      </p:cBhvr>
                                      <p:to>
                                        <p:strVal val="visible"/>
                                      </p:to>
                                    </p:set>
                                    <p:anim calcmode="lin" valueType="num">
                                      <p:cBhvr additive="base">
                                        <p:cTn id="13" dur="500" fill="hold"/>
                                        <p:tgtEl>
                                          <p:spTgt spid="10243"/>
                                        </p:tgtEl>
                                        <p:attrNameLst>
                                          <p:attrName>ppt_x</p:attrName>
                                        </p:attrNameLst>
                                      </p:cBhvr>
                                      <p:tavLst>
                                        <p:tav tm="0">
                                          <p:val>
                                            <p:strVal val="#ppt_x"/>
                                          </p:val>
                                        </p:tav>
                                        <p:tav tm="100000">
                                          <p:val>
                                            <p:strVal val="#ppt_x"/>
                                          </p:val>
                                        </p:tav>
                                      </p:tavLst>
                                    </p:anim>
                                    <p:anim calcmode="lin" valueType="num">
                                      <p:cBhvr additive="base">
                                        <p:cTn id="14" dur="500" fill="hold"/>
                                        <p:tgtEl>
                                          <p:spTgt spid="1024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45"/>
                                        </p:tgtEl>
                                        <p:attrNameLst>
                                          <p:attrName>style.visibility</p:attrName>
                                        </p:attrNameLst>
                                      </p:cBhvr>
                                      <p:to>
                                        <p:strVal val="visible"/>
                                      </p:to>
                                    </p:set>
                                    <p:anim calcmode="lin" valueType="num">
                                      <p:cBhvr additive="base">
                                        <p:cTn id="19" dur="500" fill="hold"/>
                                        <p:tgtEl>
                                          <p:spTgt spid="10245"/>
                                        </p:tgtEl>
                                        <p:attrNameLst>
                                          <p:attrName>ppt_x</p:attrName>
                                        </p:attrNameLst>
                                      </p:cBhvr>
                                      <p:tavLst>
                                        <p:tav tm="0">
                                          <p:val>
                                            <p:strVal val="#ppt_x"/>
                                          </p:val>
                                        </p:tav>
                                        <p:tav tm="100000">
                                          <p:val>
                                            <p:strVal val="#ppt_x"/>
                                          </p:val>
                                        </p:tav>
                                      </p:tavLst>
                                    </p:anim>
                                    <p:anim calcmode="lin" valueType="num">
                                      <p:cBhvr additive="base">
                                        <p:cTn id="20" dur="500" fill="hold"/>
                                        <p:tgtEl>
                                          <p:spTgt spid="1024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246"/>
                                        </p:tgtEl>
                                        <p:attrNameLst>
                                          <p:attrName>style.visibility</p:attrName>
                                        </p:attrNameLst>
                                      </p:cBhvr>
                                      <p:to>
                                        <p:strVal val="visible"/>
                                      </p:to>
                                    </p:set>
                                    <p:anim calcmode="lin" valueType="num">
                                      <p:cBhvr additive="base">
                                        <p:cTn id="25" dur="500" fill="hold"/>
                                        <p:tgtEl>
                                          <p:spTgt spid="10246"/>
                                        </p:tgtEl>
                                        <p:attrNameLst>
                                          <p:attrName>ppt_x</p:attrName>
                                        </p:attrNameLst>
                                      </p:cBhvr>
                                      <p:tavLst>
                                        <p:tav tm="0">
                                          <p:val>
                                            <p:strVal val="#ppt_x"/>
                                          </p:val>
                                        </p:tav>
                                        <p:tav tm="100000">
                                          <p:val>
                                            <p:strVal val="#ppt_x"/>
                                          </p:val>
                                        </p:tav>
                                      </p:tavLst>
                                    </p:anim>
                                    <p:anim calcmode="lin" valueType="num">
                                      <p:cBhvr additive="base">
                                        <p:cTn id="26" dur="500" fill="hold"/>
                                        <p:tgtEl>
                                          <p:spTgt spid="102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10245" grpId="0"/>
      <p:bldP spid="102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标题 11265"/>
          <p:cNvSpPr/>
          <p:nvPr>
            <p:ph type="title"/>
          </p:nvPr>
        </p:nvSpPr>
        <p:spPr>
          <a:xfrm>
            <a:off x="107950" y="184150"/>
            <a:ext cx="8578850" cy="1177925"/>
          </a:xfrm>
        </p:spPr>
        <p:txBody>
          <a:bodyPr vert="horz" wrap="square" lIns="91440" tIns="45720" rIns="91440" bIns="45720" anchor="ctr" anchorCtr="0"/>
          <a:p>
            <a:pPr eaLnBrk="1" hangingPunct="1"/>
            <a:r>
              <a:rPr lang="en-US" altLang="zh-CN" sz="4000" dirty="0">
                <a:latin typeface="Times New Roman Bold" panose="02020503050405090304" charset="0"/>
                <a:ea typeface="楷体" pitchFamily="49" charset="-122"/>
                <a:cs typeface="Times New Roman Bold" panose="02020503050405090304" charset="0"/>
              </a:rPr>
              <a:t>Topic 2 :Discrete Time Fourier Transform（DTFT</a:t>
            </a:r>
            <a:r>
              <a:rPr lang="zh-CN" altLang="en-US" sz="4000" dirty="0">
                <a:latin typeface="Times New Roman Bold" panose="02020503050405090304" charset="0"/>
                <a:ea typeface="楷体" pitchFamily="49" charset="-122"/>
                <a:cs typeface="Times New Roman Bold" panose="02020503050405090304" charset="0"/>
              </a:rPr>
              <a:t>）</a:t>
            </a:r>
            <a:endParaRPr lang="zh-CN" altLang="en-US" sz="4000" dirty="0">
              <a:latin typeface="Times New Roman Bold" panose="02020503050405090304" charset="0"/>
              <a:ea typeface="楷体" pitchFamily="49" charset="-122"/>
              <a:cs typeface="Times New Roman Bold" panose="02020503050405090304" charset="0"/>
            </a:endParaRPr>
          </a:p>
        </p:txBody>
      </p:sp>
      <p:sp>
        <p:nvSpPr>
          <p:cNvPr id="11267" name="文本框 11266"/>
          <p:cNvSpPr txBox="1"/>
          <p:nvPr/>
        </p:nvSpPr>
        <p:spPr>
          <a:xfrm>
            <a:off x="590550" y="1514475"/>
            <a:ext cx="7100888" cy="953135"/>
          </a:xfrm>
          <a:prstGeom prst="rect">
            <a:avLst/>
          </a:prstGeom>
          <a:noFill/>
          <a:ln w="9525">
            <a:noFill/>
            <a:miter/>
          </a:ln>
        </p:spPr>
        <p:txBody>
          <a:bodyPr>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Requirements: understanding of the discret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e time Fourier transform (</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DTFT)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Including</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11268" name="文本框 11267"/>
          <p:cNvSpPr txBox="1"/>
          <p:nvPr/>
        </p:nvSpPr>
        <p:spPr>
          <a:xfrm>
            <a:off x="590550" y="2632075"/>
            <a:ext cx="7775575"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（1）</a:t>
            </a:r>
            <a:r>
              <a:rPr lang="en-US" altLang="x-none" sz="2800" b="1">
                <a:effectLst>
                  <a:outerShdw blurRad="38100" dist="38100" dir="2700000">
                    <a:srgbClr val="C0C0C0"/>
                  </a:outerShdw>
                </a:effectLst>
                <a:ea typeface="楷体" pitchFamily="49" charset="-122"/>
                <a:cs typeface="+mn-ea"/>
                <a:sym typeface="+mn-ea"/>
              </a:rPr>
              <a:t>DTFT descriptions in the </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time domain and in </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frequency domain.</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11269" name="文本框 11268"/>
          <p:cNvSpPr txBox="1"/>
          <p:nvPr/>
        </p:nvSpPr>
        <p:spPr>
          <a:xfrm>
            <a:off x="590550" y="3751263"/>
            <a:ext cx="7210425" cy="522288"/>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（2）</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The definition and properties of DTFT.</a:t>
            </a:r>
            <a:endParaRPr kumimoji="0" lang="zh-CN" altLang="en-US" sz="2800" b="1" kern="1200" cap="none" spc="0" normalizeH="0" baseline="0" noProof="1">
              <a:effectLst>
                <a:outerShdw blurRad="38100" dist="38100" dir="2700000">
                  <a:srgbClr val="C0C0C0"/>
                </a:outerShdw>
              </a:effectLst>
              <a:latin typeface="Verdana" panose="020B0804030504040204" pitchFamily="34" charset="0"/>
              <a:ea typeface="宋体" pitchFamily="2" charset="-122"/>
              <a:cs typeface="+mn-cs"/>
              <a:sym typeface="+mn-ea"/>
            </a:endParaRPr>
          </a:p>
        </p:txBody>
      </p:sp>
      <p:sp>
        <p:nvSpPr>
          <p:cNvPr id="11272" name="文本框 11271"/>
          <p:cNvSpPr txBox="1"/>
          <p:nvPr/>
        </p:nvSpPr>
        <p:spPr>
          <a:xfrm>
            <a:off x="684213" y="4437063"/>
            <a:ext cx="7775575" cy="523875"/>
          </a:xfrm>
          <a:prstGeom prst="rect">
            <a:avLst/>
          </a:prstGeom>
          <a:noFill/>
          <a:ln w="9525">
            <a:noFill/>
            <a:miter/>
          </a:ln>
        </p:spPr>
        <p:txBody>
          <a:bodyPr wrap="square">
            <a:spAutoFit/>
          </a:bodyPr>
          <a:p>
            <a:pPr marR="0" defTabSz="914400">
              <a:spcBef>
                <a:spcPct val="20000"/>
              </a:spcBef>
              <a:buClr>
                <a:schemeClr val="hlink"/>
              </a:buClr>
              <a:buFont typeface="Wingdings" panose="05000000000000000000" pitchFamily="2" charset="2"/>
              <a:buNone/>
            </a:pP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The corresponding range in the book </a:t>
            </a:r>
            <a:r>
              <a:rPr kumimoji="0" lang="en-US" altLang="en-US"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：3.1---3.</a:t>
            </a: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7</a:t>
            </a:r>
            <a:endPar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 calcmode="lin" valueType="num">
                                      <p:cBhvr additive="base">
                                        <p:cTn id="7" dur="500" fill="hold"/>
                                        <p:tgtEl>
                                          <p:spTgt spid="11267"/>
                                        </p:tgtEl>
                                        <p:attrNameLst>
                                          <p:attrName>ppt_x</p:attrName>
                                        </p:attrNameLst>
                                      </p:cBhvr>
                                      <p:tavLst>
                                        <p:tav tm="0">
                                          <p:val>
                                            <p:strVal val="#ppt_x"/>
                                          </p:val>
                                        </p:tav>
                                        <p:tav tm="100000">
                                          <p:val>
                                            <p:strVal val="#ppt_x"/>
                                          </p:val>
                                        </p:tav>
                                      </p:tavLst>
                                    </p:anim>
                                    <p:anim calcmode="lin" valueType="num">
                                      <p:cBhvr additive="base">
                                        <p:cTn id="8" dur="500" fill="hold"/>
                                        <p:tgtEl>
                                          <p:spTgt spid="112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8"/>
                                        </p:tgtEl>
                                        <p:attrNameLst>
                                          <p:attrName>style.visibility</p:attrName>
                                        </p:attrNameLst>
                                      </p:cBhvr>
                                      <p:to>
                                        <p:strVal val="visible"/>
                                      </p:to>
                                    </p:set>
                                    <p:anim calcmode="lin" valueType="num">
                                      <p:cBhvr additive="base">
                                        <p:cTn id="13" dur="500" fill="hold"/>
                                        <p:tgtEl>
                                          <p:spTgt spid="11268"/>
                                        </p:tgtEl>
                                        <p:attrNameLst>
                                          <p:attrName>ppt_x</p:attrName>
                                        </p:attrNameLst>
                                      </p:cBhvr>
                                      <p:tavLst>
                                        <p:tav tm="0">
                                          <p:val>
                                            <p:strVal val="#ppt_x"/>
                                          </p:val>
                                        </p:tav>
                                        <p:tav tm="100000">
                                          <p:val>
                                            <p:strVal val="#ppt_x"/>
                                          </p:val>
                                        </p:tav>
                                      </p:tavLst>
                                    </p:anim>
                                    <p:anim calcmode="lin" valueType="num">
                                      <p:cBhvr additive="base">
                                        <p:cTn id="14" dur="500" fill="hold"/>
                                        <p:tgtEl>
                                          <p:spTgt spid="1126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69"/>
                                        </p:tgtEl>
                                        <p:attrNameLst>
                                          <p:attrName>style.visibility</p:attrName>
                                        </p:attrNameLst>
                                      </p:cBhvr>
                                      <p:to>
                                        <p:strVal val="visible"/>
                                      </p:to>
                                    </p:set>
                                    <p:anim calcmode="lin" valueType="num">
                                      <p:cBhvr additive="base">
                                        <p:cTn id="19" dur="500" fill="hold"/>
                                        <p:tgtEl>
                                          <p:spTgt spid="11269"/>
                                        </p:tgtEl>
                                        <p:attrNameLst>
                                          <p:attrName>ppt_x</p:attrName>
                                        </p:attrNameLst>
                                      </p:cBhvr>
                                      <p:tavLst>
                                        <p:tav tm="0">
                                          <p:val>
                                            <p:strVal val="#ppt_x"/>
                                          </p:val>
                                        </p:tav>
                                        <p:tav tm="100000">
                                          <p:val>
                                            <p:strVal val="#ppt_x"/>
                                          </p:val>
                                        </p:tav>
                                      </p:tavLst>
                                    </p:anim>
                                    <p:anim calcmode="lin" valueType="num">
                                      <p:cBhvr additive="base">
                                        <p:cTn id="20" dur="500" fill="hold"/>
                                        <p:tgtEl>
                                          <p:spTgt spid="1126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272"/>
                                        </p:tgtEl>
                                        <p:attrNameLst>
                                          <p:attrName>style.visibility</p:attrName>
                                        </p:attrNameLst>
                                      </p:cBhvr>
                                      <p:to>
                                        <p:strVal val="visible"/>
                                      </p:to>
                                    </p:set>
                                    <p:anim calcmode="lin" valueType="num">
                                      <p:cBhvr additive="base">
                                        <p:cTn id="25" dur="500" fill="hold"/>
                                        <p:tgtEl>
                                          <p:spTgt spid="11272"/>
                                        </p:tgtEl>
                                        <p:attrNameLst>
                                          <p:attrName>ppt_x</p:attrName>
                                        </p:attrNameLst>
                                      </p:cBhvr>
                                      <p:tavLst>
                                        <p:tav tm="0">
                                          <p:val>
                                            <p:strVal val="#ppt_x"/>
                                          </p:val>
                                        </p:tav>
                                        <p:tav tm="100000">
                                          <p:val>
                                            <p:strVal val="#ppt_x"/>
                                          </p:val>
                                        </p:tav>
                                      </p:tavLst>
                                    </p:anim>
                                    <p:anim calcmode="lin" valueType="num">
                                      <p:cBhvr additive="base">
                                        <p:cTn id="26" dur="500" fill="hold"/>
                                        <p:tgtEl>
                                          <p:spTgt spid="112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11268" grpId="0"/>
      <p:bldP spid="11269" grpId="0"/>
      <p:bldP spid="1127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12289"/>
          <p:cNvSpPr/>
          <p:nvPr>
            <p:ph type="title"/>
          </p:nvPr>
        </p:nvSpPr>
        <p:spPr>
          <a:xfrm>
            <a:off x="466725" y="265113"/>
            <a:ext cx="6670675" cy="792162"/>
          </a:xfrm>
        </p:spPr>
        <p:txBody>
          <a:bodyPr vert="horz" wrap="square" lIns="91440" tIns="45720" rIns="91440" bIns="45720" anchor="ctr" anchorCtr="0"/>
          <a:p>
            <a:pPr eaLnBrk="1" hangingPunct="1"/>
            <a:r>
              <a:rPr lang="zh-CN" altLang="en-US" sz="4000" dirty="0">
                <a:latin typeface="Times New Roman" panose="02020503050405090304" pitchFamily="18" charset="0"/>
                <a:ea typeface="楷体" pitchFamily="49" charset="-122"/>
              </a:rPr>
              <a:t> </a:t>
            </a:r>
            <a:r>
              <a:rPr lang="en-US" altLang="zh-CN" sz="4000" dirty="0">
                <a:latin typeface="Times New Roman" panose="02020503050405090304" pitchFamily="18" charset="0"/>
                <a:ea typeface="楷体" pitchFamily="49" charset="-122"/>
              </a:rPr>
              <a:t>Calculation and properties of DTFT</a:t>
            </a:r>
            <a:endParaRPr lang="zh-CN" altLang="en-US" sz="4000" dirty="0">
              <a:latin typeface="Times New Roman" panose="02020503050405090304" pitchFamily="18" charset="0"/>
              <a:ea typeface="楷体" pitchFamily="49" charset="-122"/>
            </a:endParaRPr>
          </a:p>
        </p:txBody>
      </p:sp>
      <p:graphicFrame>
        <p:nvGraphicFramePr>
          <p:cNvPr id="12291" name="对象 12290"/>
          <p:cNvGraphicFramePr>
            <a:graphicFrameLocks noChangeAspect="1"/>
          </p:cNvGraphicFramePr>
          <p:nvPr/>
        </p:nvGraphicFramePr>
        <p:xfrm>
          <a:off x="2244725" y="1627188"/>
          <a:ext cx="4294188" cy="1322387"/>
        </p:xfrm>
        <a:graphic>
          <a:graphicData uri="http://schemas.openxmlformats.org/presentationml/2006/ole">
            <mc:AlternateContent xmlns:mc="http://schemas.openxmlformats.org/markup-compatibility/2006">
              <mc:Choice xmlns:v="urn:schemas-microsoft-com:vml" Requires="v">
                <p:oleObj spid="_x0000_s3077" name="" r:id="rId1" imgW="1398905" imgH="432435" progId="Equation.3">
                  <p:embed/>
                </p:oleObj>
              </mc:Choice>
              <mc:Fallback>
                <p:oleObj name="" r:id="rId1" imgW="1398905" imgH="432435" progId="Equation.3">
                  <p:embed/>
                  <p:pic>
                    <p:nvPicPr>
                      <p:cNvPr id="0" name="图片 3076"/>
                      <p:cNvPicPr/>
                      <p:nvPr/>
                    </p:nvPicPr>
                    <p:blipFill>
                      <a:blip r:embed="rId2"/>
                      <a:stretch>
                        <a:fillRect/>
                      </a:stretch>
                    </p:blipFill>
                    <p:spPr>
                      <a:xfrm>
                        <a:off x="2244725" y="1627188"/>
                        <a:ext cx="4294188" cy="1322387"/>
                      </a:xfrm>
                      <a:prstGeom prst="rect">
                        <a:avLst/>
                      </a:prstGeom>
                      <a:solidFill>
                        <a:srgbClr val="FFFFFF"/>
                      </a:solidFill>
                      <a:ln w="38100">
                        <a:noFill/>
                        <a:miter/>
                      </a:ln>
                    </p:spPr>
                  </p:pic>
                </p:oleObj>
              </mc:Fallback>
            </mc:AlternateContent>
          </a:graphicData>
        </a:graphic>
      </p:graphicFrame>
      <p:graphicFrame>
        <p:nvGraphicFramePr>
          <p:cNvPr id="12292" name="对象 12291"/>
          <p:cNvGraphicFramePr>
            <a:graphicFrameLocks noChangeAspect="1"/>
          </p:cNvGraphicFramePr>
          <p:nvPr/>
        </p:nvGraphicFramePr>
        <p:xfrm>
          <a:off x="1762125" y="2874963"/>
          <a:ext cx="5257800" cy="1295400"/>
        </p:xfrm>
        <a:graphic>
          <a:graphicData uri="http://schemas.openxmlformats.org/presentationml/2006/ole">
            <mc:AlternateContent xmlns:mc="http://schemas.openxmlformats.org/markup-compatibility/2006">
              <mc:Choice xmlns:v="urn:schemas-microsoft-com:vml" Requires="v">
                <p:oleObj spid="_x0000_s3078" name="" r:id="rId3" imgW="1637665" imgH="482600" progId="Equation.3">
                  <p:embed/>
                </p:oleObj>
              </mc:Choice>
              <mc:Fallback>
                <p:oleObj name="" r:id="rId3" imgW="1637665" imgH="482600" progId="Equation.3">
                  <p:embed/>
                  <p:pic>
                    <p:nvPicPr>
                      <p:cNvPr id="0" name="图片 3077"/>
                      <p:cNvPicPr/>
                      <p:nvPr/>
                    </p:nvPicPr>
                    <p:blipFill>
                      <a:blip r:embed="rId4"/>
                      <a:stretch>
                        <a:fillRect/>
                      </a:stretch>
                    </p:blipFill>
                    <p:spPr>
                      <a:xfrm>
                        <a:off x="1762125" y="2874963"/>
                        <a:ext cx="5257800" cy="1295400"/>
                      </a:xfrm>
                      <a:prstGeom prst="rect">
                        <a:avLst/>
                      </a:prstGeom>
                      <a:solidFill>
                        <a:srgbClr val="FFFFFF"/>
                      </a:solidFill>
                      <a:ln w="38100">
                        <a:noFill/>
                        <a:miter/>
                      </a:ln>
                    </p:spPr>
                  </p:pic>
                </p:oleObj>
              </mc:Fallback>
            </mc:AlternateContent>
          </a:graphicData>
        </a:graphic>
      </p:graphicFrame>
      <p:sp>
        <p:nvSpPr>
          <p:cNvPr id="12293" name="文本框 12292"/>
          <p:cNvSpPr txBox="1"/>
          <p:nvPr/>
        </p:nvSpPr>
        <p:spPr>
          <a:xfrm>
            <a:off x="755650" y="1270000"/>
            <a:ext cx="6911975" cy="52387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Definition of DTFT transform pairs </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12296" name="文本框 12295"/>
          <p:cNvSpPr txBox="1"/>
          <p:nvPr/>
        </p:nvSpPr>
        <p:spPr>
          <a:xfrm>
            <a:off x="201613" y="3984625"/>
            <a:ext cx="5257800" cy="521970"/>
          </a:xfrm>
          <a:prstGeom prst="rect">
            <a:avLst/>
          </a:prstGeom>
          <a:noFill/>
          <a:ln w="9525">
            <a:noFill/>
            <a:miter/>
          </a:ln>
        </p:spPr>
        <p:txBody>
          <a:bodyPr wrap="square">
            <a:spAutoFit/>
          </a:bodyPr>
          <a:p>
            <a:pPr marR="0" defTabSz="914400">
              <a:spcBef>
                <a:spcPct val="20000"/>
              </a:spcBef>
              <a:buClr>
                <a:schemeClr val="hlink"/>
              </a:buClr>
              <a:buFont typeface="Wingdings" panose="05000000000000000000" pitchFamily="2" charset="2"/>
              <a:buNone/>
            </a:pPr>
            <a:r>
              <a:rPr kumimoji="0" lang="en-US" altLang="zh-CN" sz="2800" b="1" kern="1200" cap="none" spc="0" normalizeH="0" baseline="0"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Spectrum characteristics </a:t>
            </a:r>
            <a:r>
              <a:rPr kumimoji="0" lang="en-US" altLang="en-US" sz="2800" b="1" kern="1200" cap="none" spc="0" normalizeH="0" baseline="0"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t>
            </a:r>
            <a:endParaRPr kumimoji="0" lang="en-US" altLang="en-US" sz="2800" b="1" kern="1200" cap="none" spc="0" normalizeH="0" baseline="0"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12297" name="文本框 12296"/>
          <p:cNvSpPr txBox="1"/>
          <p:nvPr/>
        </p:nvSpPr>
        <p:spPr>
          <a:xfrm>
            <a:off x="233363" y="4506913"/>
            <a:ext cx="8788400"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Periodic function (so frequency domain can be expanded into Fourier Series)</a:t>
            </a:r>
            <a:endPar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12298" name="文本框 12297"/>
          <p:cNvSpPr txBox="1"/>
          <p:nvPr/>
        </p:nvSpPr>
        <p:spPr>
          <a:xfrm>
            <a:off x="250825" y="5378450"/>
            <a:ext cx="8640763" cy="521970"/>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Commonly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used transform pairs. Table 3.3</a:t>
            </a:r>
            <a:endPar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p:txBody>
      </p:sp>
      <p:sp>
        <p:nvSpPr>
          <p:cNvPr id="12299" name="文本框 12298"/>
          <p:cNvSpPr txBox="1"/>
          <p:nvPr/>
        </p:nvSpPr>
        <p:spPr>
          <a:xfrm>
            <a:off x="250825" y="5795963"/>
            <a:ext cx="8321675" cy="953135"/>
          </a:xfrm>
          <a:prstGeom prst="rect">
            <a:avLst/>
          </a:prstGeom>
          <a:noFill/>
          <a:ln w="9525">
            <a:noFill/>
            <a:miter/>
          </a:ln>
        </p:spPr>
        <p:txBody>
          <a:bodyPr>
            <a:spAutoFit/>
          </a:bodyPr>
          <a:lstStyle/>
          <a:p>
            <a:pPr marR="0" defTabSz="914400">
              <a:spcBef>
                <a:spcPct val="20000"/>
              </a:spcBef>
              <a:buClr>
                <a:schemeClr val="hlink"/>
              </a:buClr>
              <a:buSzTx/>
              <a:buFont typeface="Wingdings" panose="05000000000000000000" pitchFamily="2" charset="2"/>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Basic theorem</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s and symmetry properties: Table 3.1,3,2,3.4</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 calcmode="lin" valueType="num">
                                      <p:cBhvr additive="base">
                                        <p:cTn id="7" dur="500" fill="hold"/>
                                        <p:tgtEl>
                                          <p:spTgt spid="12293"/>
                                        </p:tgtEl>
                                        <p:attrNameLst>
                                          <p:attrName>ppt_x</p:attrName>
                                        </p:attrNameLst>
                                      </p:cBhvr>
                                      <p:tavLst>
                                        <p:tav tm="0">
                                          <p:val>
                                            <p:strVal val="#ppt_x"/>
                                          </p:val>
                                        </p:tav>
                                        <p:tav tm="100000">
                                          <p:val>
                                            <p:strVal val="#ppt_x"/>
                                          </p:val>
                                        </p:tav>
                                      </p:tavLst>
                                    </p:anim>
                                    <p:anim calcmode="lin" valueType="num">
                                      <p:cBhvr additive="base">
                                        <p:cTn id="8" dur="500" fill="hold"/>
                                        <p:tgtEl>
                                          <p:spTgt spid="1229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291"/>
                                        </p:tgtEl>
                                        <p:attrNameLst>
                                          <p:attrName>style.visibility</p:attrName>
                                        </p:attrNameLst>
                                      </p:cBhvr>
                                      <p:to>
                                        <p:strVal val="visible"/>
                                      </p:to>
                                    </p:set>
                                    <p:anim calcmode="lin" valueType="num">
                                      <p:cBhvr additive="base">
                                        <p:cTn id="13" dur="500" fill="hold"/>
                                        <p:tgtEl>
                                          <p:spTgt spid="12291"/>
                                        </p:tgtEl>
                                        <p:attrNameLst>
                                          <p:attrName>ppt_x</p:attrName>
                                        </p:attrNameLst>
                                      </p:cBhvr>
                                      <p:tavLst>
                                        <p:tav tm="0">
                                          <p:val>
                                            <p:strVal val="#ppt_x"/>
                                          </p:val>
                                        </p:tav>
                                        <p:tav tm="100000">
                                          <p:val>
                                            <p:strVal val="#ppt_x"/>
                                          </p:val>
                                        </p:tav>
                                      </p:tavLst>
                                    </p:anim>
                                    <p:anim calcmode="lin" valueType="num">
                                      <p:cBhvr additive="base">
                                        <p:cTn id="14" dur="500" fill="hold"/>
                                        <p:tgtEl>
                                          <p:spTgt spid="1229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292"/>
                                        </p:tgtEl>
                                        <p:attrNameLst>
                                          <p:attrName>style.visibility</p:attrName>
                                        </p:attrNameLst>
                                      </p:cBhvr>
                                      <p:to>
                                        <p:strVal val="visible"/>
                                      </p:to>
                                    </p:set>
                                    <p:anim calcmode="lin" valueType="num">
                                      <p:cBhvr additive="base">
                                        <p:cTn id="19" dur="500" fill="hold"/>
                                        <p:tgtEl>
                                          <p:spTgt spid="12292"/>
                                        </p:tgtEl>
                                        <p:attrNameLst>
                                          <p:attrName>ppt_x</p:attrName>
                                        </p:attrNameLst>
                                      </p:cBhvr>
                                      <p:tavLst>
                                        <p:tav tm="0">
                                          <p:val>
                                            <p:strVal val="#ppt_x"/>
                                          </p:val>
                                        </p:tav>
                                        <p:tav tm="100000">
                                          <p:val>
                                            <p:strVal val="#ppt_x"/>
                                          </p:val>
                                        </p:tav>
                                      </p:tavLst>
                                    </p:anim>
                                    <p:anim calcmode="lin" valueType="num">
                                      <p:cBhvr additive="base">
                                        <p:cTn id="20" dur="500" fill="hold"/>
                                        <p:tgtEl>
                                          <p:spTgt spid="1229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296"/>
                                        </p:tgtEl>
                                        <p:attrNameLst>
                                          <p:attrName>style.visibility</p:attrName>
                                        </p:attrNameLst>
                                      </p:cBhvr>
                                      <p:to>
                                        <p:strVal val="visible"/>
                                      </p:to>
                                    </p:set>
                                    <p:anim calcmode="lin" valueType="num">
                                      <p:cBhvr additive="base">
                                        <p:cTn id="25" dur="500" fill="hold"/>
                                        <p:tgtEl>
                                          <p:spTgt spid="12296"/>
                                        </p:tgtEl>
                                        <p:attrNameLst>
                                          <p:attrName>ppt_x</p:attrName>
                                        </p:attrNameLst>
                                      </p:cBhvr>
                                      <p:tavLst>
                                        <p:tav tm="0">
                                          <p:val>
                                            <p:strVal val="#ppt_x"/>
                                          </p:val>
                                        </p:tav>
                                        <p:tav tm="100000">
                                          <p:val>
                                            <p:strVal val="#ppt_x"/>
                                          </p:val>
                                        </p:tav>
                                      </p:tavLst>
                                    </p:anim>
                                    <p:anim calcmode="lin" valueType="num">
                                      <p:cBhvr additive="base">
                                        <p:cTn id="26" dur="500" fill="hold"/>
                                        <p:tgtEl>
                                          <p:spTgt spid="1229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297"/>
                                        </p:tgtEl>
                                        <p:attrNameLst>
                                          <p:attrName>style.visibility</p:attrName>
                                        </p:attrNameLst>
                                      </p:cBhvr>
                                      <p:to>
                                        <p:strVal val="visible"/>
                                      </p:to>
                                    </p:set>
                                    <p:anim calcmode="lin" valueType="num">
                                      <p:cBhvr additive="base">
                                        <p:cTn id="31" dur="500" fill="hold"/>
                                        <p:tgtEl>
                                          <p:spTgt spid="12297"/>
                                        </p:tgtEl>
                                        <p:attrNameLst>
                                          <p:attrName>ppt_x</p:attrName>
                                        </p:attrNameLst>
                                      </p:cBhvr>
                                      <p:tavLst>
                                        <p:tav tm="0">
                                          <p:val>
                                            <p:strVal val="#ppt_x"/>
                                          </p:val>
                                        </p:tav>
                                        <p:tav tm="100000">
                                          <p:val>
                                            <p:strVal val="#ppt_x"/>
                                          </p:val>
                                        </p:tav>
                                      </p:tavLst>
                                    </p:anim>
                                    <p:anim calcmode="lin" valueType="num">
                                      <p:cBhvr additive="base">
                                        <p:cTn id="32" dur="500" fill="hold"/>
                                        <p:tgtEl>
                                          <p:spTgt spid="1229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298"/>
                                        </p:tgtEl>
                                        <p:attrNameLst>
                                          <p:attrName>style.visibility</p:attrName>
                                        </p:attrNameLst>
                                      </p:cBhvr>
                                      <p:to>
                                        <p:strVal val="visible"/>
                                      </p:to>
                                    </p:set>
                                    <p:anim calcmode="lin" valueType="num">
                                      <p:cBhvr additive="base">
                                        <p:cTn id="37" dur="500" fill="hold"/>
                                        <p:tgtEl>
                                          <p:spTgt spid="12298"/>
                                        </p:tgtEl>
                                        <p:attrNameLst>
                                          <p:attrName>ppt_x</p:attrName>
                                        </p:attrNameLst>
                                      </p:cBhvr>
                                      <p:tavLst>
                                        <p:tav tm="0">
                                          <p:val>
                                            <p:strVal val="#ppt_x"/>
                                          </p:val>
                                        </p:tav>
                                        <p:tav tm="100000">
                                          <p:val>
                                            <p:strVal val="#ppt_x"/>
                                          </p:val>
                                        </p:tav>
                                      </p:tavLst>
                                    </p:anim>
                                    <p:anim calcmode="lin" valueType="num">
                                      <p:cBhvr additive="base">
                                        <p:cTn id="38" dur="500" fill="hold"/>
                                        <p:tgtEl>
                                          <p:spTgt spid="1229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299"/>
                                        </p:tgtEl>
                                        <p:attrNameLst>
                                          <p:attrName>style.visibility</p:attrName>
                                        </p:attrNameLst>
                                      </p:cBhvr>
                                      <p:to>
                                        <p:strVal val="visible"/>
                                      </p:to>
                                    </p:set>
                                    <p:anim calcmode="lin" valueType="num">
                                      <p:cBhvr additive="base">
                                        <p:cTn id="43" dur="500" fill="hold"/>
                                        <p:tgtEl>
                                          <p:spTgt spid="12299"/>
                                        </p:tgtEl>
                                        <p:attrNameLst>
                                          <p:attrName>ppt_x</p:attrName>
                                        </p:attrNameLst>
                                      </p:cBhvr>
                                      <p:tavLst>
                                        <p:tav tm="0">
                                          <p:val>
                                            <p:strVal val="#ppt_x"/>
                                          </p:val>
                                        </p:tav>
                                        <p:tav tm="100000">
                                          <p:val>
                                            <p:strVal val="#ppt_x"/>
                                          </p:val>
                                        </p:tav>
                                      </p:tavLst>
                                    </p:anim>
                                    <p:anim calcmode="lin" valueType="num">
                                      <p:cBhvr additive="base">
                                        <p:cTn id="44" dur="500" fill="hold"/>
                                        <p:tgtEl>
                                          <p:spTgt spid="122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p:bldP spid="12296" grpId="0"/>
      <p:bldP spid="12297" grpId="0"/>
      <p:bldP spid="12298" grpId="0"/>
      <p:bldP spid="1229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标题 1"/>
          <p:cNvSpPr>
            <a:spLocks noGrp="1"/>
          </p:cNvSpPr>
          <p:nvPr>
            <p:ph type="title"/>
          </p:nvPr>
        </p:nvSpPr>
        <p:spPr/>
        <p:txBody>
          <a:bodyPr vert="horz" wrap="square" lIns="91440" tIns="45720" rIns="91440" bIns="45720" anchor="ctr" anchorCtr="0"/>
          <a:p>
            <a:pPr eaLnBrk="1" hangingPunct="1"/>
            <a:r>
              <a:rPr lang="en-US" altLang="zh-CN" sz="4000" dirty="0">
                <a:latin typeface="Times New Roman Bold" panose="02020503050405090304" charset="0"/>
                <a:ea typeface="楷体" pitchFamily="49" charset="-122"/>
                <a:cs typeface="Times New Roman Bold" panose="02020503050405090304" charset="0"/>
              </a:rPr>
              <a:t>Topic 3: z-transform</a:t>
            </a:r>
            <a:endParaRPr lang="en-US" altLang="zh-CN" sz="4000" dirty="0">
              <a:latin typeface="Times New Roman Bold" panose="02020503050405090304" charset="0"/>
              <a:ea typeface="楷体" pitchFamily="49" charset="-122"/>
              <a:cs typeface="Times New Roman Bold" panose="02020503050405090304" charset="0"/>
            </a:endParaRPr>
          </a:p>
        </p:txBody>
      </p:sp>
      <p:sp>
        <p:nvSpPr>
          <p:cNvPr id="3" name="内容占位符 2"/>
          <p:cNvSpPr>
            <a:spLocks noGrp="1"/>
          </p:cNvSpPr>
          <p:nvPr>
            <p:ph idx="1"/>
          </p:nvPr>
        </p:nvSpPr>
        <p:spPr>
          <a:ln>
            <a:miter/>
          </a:ln>
        </p:spPr>
        <p:txBody>
          <a:bodyPr vert="horz" wrap="square" lIns="91440" tIns="45720" rIns="91440" bIns="45720" numCol="1" anchor="t" anchorCtr="0" compatLnSpc="1"/>
          <a:p>
            <a:pPr marL="0" indent="0" eaLnBrk="1" fontAlgn="base" hangingPunct="1">
              <a:buFont typeface="Arial" panose="020B0604020202090204" pitchFamily="34" charset="0"/>
              <a:buNone/>
            </a:pPr>
            <a:r>
              <a:rPr lang="zh-CN"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1</a:t>
            </a:r>
            <a:r>
              <a:rPr lang="zh-CN"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The definition of </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z</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-transform and its relationship with DTFT</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0" indent="0" eaLnBrk="1" fontAlgn="base" hangingPunct="1">
              <a:buFont typeface="Arial" panose="020B0604020202090204" pitchFamily="34" charset="0"/>
              <a:buNone/>
            </a:pPr>
            <a:r>
              <a:rPr lang="zh-CN"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2</a:t>
            </a:r>
            <a:r>
              <a:rPr lang="zh-CN"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Commonly </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used </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z</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-transform pairs</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0" indent="0" eaLnBrk="1" fontAlgn="base" hangingPunct="1">
              <a:buFont typeface="Arial" panose="020B0604020202090204" pitchFamily="34" charset="0"/>
              <a:buNone/>
            </a:pPr>
            <a:r>
              <a:rPr lang="zh-CN"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3</a:t>
            </a:r>
            <a:r>
              <a:rPr lang="zh-CN"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r>
              <a:rPr lang="en-US" altLang="zh-CN" sz="2800" b="1" dirty="0">
                <a:effectLst>
                  <a:outerShdw blurRad="38100" dist="38100" dir="2700000">
                    <a:srgbClr val="C0C0C0"/>
                  </a:outerShdw>
                </a:effectLst>
                <a:latin typeface="Times New Roman" panose="02020503050405090304" pitchFamily="18" charset="0"/>
                <a:ea typeface="楷体" pitchFamily="49" charset="-122"/>
                <a:sym typeface="+mn-ea"/>
              </a:rPr>
              <a:t> </a:t>
            </a:r>
            <a:r>
              <a:rPr lang="en-US" altLang="zh-CN" sz="2800" b="1" dirty="0">
                <a:effectLst>
                  <a:outerShdw blurRad="38100" dist="38100" dir="2700000">
                    <a:srgbClr val="C0C0C0"/>
                  </a:outerShdw>
                </a:effectLst>
                <a:latin typeface="Times New Roman" panose="02020503050405090304" pitchFamily="18" charset="0"/>
                <a:ea typeface="楷体" pitchFamily="49" charset="-122"/>
                <a:sym typeface="+mn-ea"/>
              </a:rPr>
              <a:t>Rational </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z</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-transform</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0" indent="0" eaLnBrk="1" fontAlgn="base" hangingPunct="1">
              <a:buFont typeface="Arial" panose="020B0604020202090204" pitchFamily="34" charset="0"/>
              <a:buNone/>
            </a:pPr>
            <a:r>
              <a:rPr lang="zh-CN"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4</a:t>
            </a:r>
            <a:r>
              <a:rPr lang="zh-CN"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Calculation of IZT by </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the partial fraction expantion </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method</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0" indent="0" eaLnBrk="1" fontAlgn="base" hangingPunct="1">
              <a:buFont typeface="Arial" panose="020B0604020202090204" pitchFamily="34" charset="0"/>
              <a:buNone/>
            </a:pPr>
            <a:r>
              <a:rPr lang="zh-CN"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5</a:t>
            </a:r>
            <a:r>
              <a:rPr lang="zh-CN"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Properties of </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z</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-transform</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514350" indent="-514350" eaLnBrk="1" fontAlgn="base" hangingPunct="1">
              <a:buNone/>
            </a:pP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Corresponding range in the book: 6.1 -- 6.6</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p:txBody>
      </p:sp>
      <p:sp>
        <p:nvSpPr>
          <p:cNvPr id="2" name="五角星 1"/>
          <p:cNvSpPr/>
          <p:nvPr/>
        </p:nvSpPr>
        <p:spPr>
          <a:xfrm>
            <a:off x="7380605" y="260350"/>
            <a:ext cx="914400" cy="914400"/>
          </a:xfrm>
          <a:prstGeom prst="star5">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charRg st="0" end="61"/>
                                            </p:txEl>
                                          </p:spTgt>
                                        </p:tgtEl>
                                        <p:attrNameLst>
                                          <p:attrName>style.visibility</p:attrName>
                                        </p:attrNameLst>
                                      </p:cBhvr>
                                      <p:to>
                                        <p:strVal val="visible"/>
                                      </p:to>
                                    </p:set>
                                    <p:animEffect transition="in" filter="blinds(horizontal)">
                                      <p:cBhvr>
                                        <p:cTn id="7" dur="500"/>
                                        <p:tgtEl>
                                          <p:spTgt spid="3">
                                            <p:txEl>
                                              <p:charRg st="0" end="6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charRg st="61" end="87"/>
                                            </p:txEl>
                                          </p:spTgt>
                                        </p:tgtEl>
                                        <p:attrNameLst>
                                          <p:attrName>style.visibility</p:attrName>
                                        </p:attrNameLst>
                                      </p:cBhvr>
                                      <p:to>
                                        <p:strVal val="visible"/>
                                      </p:to>
                                    </p:set>
                                    <p:animEffect transition="in" filter="blinds(horizontal)">
                                      <p:cBhvr>
                                        <p:cTn id="12" dur="500"/>
                                        <p:tgtEl>
                                          <p:spTgt spid="3">
                                            <p:txEl>
                                              <p:charRg st="61" end="8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charRg st="87" end="120"/>
                                            </p:txEl>
                                          </p:spTgt>
                                        </p:tgtEl>
                                        <p:attrNameLst>
                                          <p:attrName>style.visibility</p:attrName>
                                        </p:attrNameLst>
                                      </p:cBhvr>
                                      <p:to>
                                        <p:strVal val="visible"/>
                                      </p:to>
                                    </p:set>
                                    <p:animEffect transition="in" filter="blinds(horizontal)">
                                      <p:cBhvr>
                                        <p:cTn id="17" dur="500"/>
                                        <p:tgtEl>
                                          <p:spTgt spid="3">
                                            <p:txEl>
                                              <p:charRg st="87" end="12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charRg st="120" end="182"/>
                                            </p:txEl>
                                          </p:spTgt>
                                        </p:tgtEl>
                                        <p:attrNameLst>
                                          <p:attrName>style.visibility</p:attrName>
                                        </p:attrNameLst>
                                      </p:cBhvr>
                                      <p:to>
                                        <p:strVal val="visible"/>
                                      </p:to>
                                    </p:set>
                                    <p:animEffect transition="in" filter="blinds(horizontal)">
                                      <p:cBhvr>
                                        <p:cTn id="22" dur="500"/>
                                        <p:tgtEl>
                                          <p:spTgt spid="3">
                                            <p:txEl>
                                              <p:charRg st="120" end="18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charRg st="182" end="208"/>
                                            </p:txEl>
                                          </p:spTgt>
                                        </p:tgtEl>
                                        <p:attrNameLst>
                                          <p:attrName>style.visibility</p:attrName>
                                        </p:attrNameLst>
                                      </p:cBhvr>
                                      <p:to>
                                        <p:strVal val="visible"/>
                                      </p:to>
                                    </p:set>
                                    <p:animEffect transition="in" filter="blinds(horizontal)">
                                      <p:cBhvr>
                                        <p:cTn id="27" dur="500"/>
                                        <p:tgtEl>
                                          <p:spTgt spid="3">
                                            <p:txEl>
                                              <p:charRg st="182" end="20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charRg st="208" end="252"/>
                                            </p:txEl>
                                          </p:spTgt>
                                        </p:tgtEl>
                                        <p:attrNameLst>
                                          <p:attrName>style.visibility</p:attrName>
                                        </p:attrNameLst>
                                      </p:cBhvr>
                                      <p:to>
                                        <p:strVal val="visible"/>
                                      </p:to>
                                    </p:set>
                                    <p:animEffect transition="in" filter="blinds(horizontal)">
                                      <p:cBhvr>
                                        <p:cTn id="32" dur="500"/>
                                        <p:tgtEl>
                                          <p:spTgt spid="3">
                                            <p:txEl>
                                              <p:charRg st="208" end="2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标题 25601"/>
          <p:cNvSpPr/>
          <p:nvPr>
            <p:ph type="title"/>
          </p:nvPr>
        </p:nvSpPr>
        <p:spPr>
          <a:xfrm>
            <a:off x="466725" y="188913"/>
            <a:ext cx="6727825" cy="796925"/>
          </a:xfrm>
        </p:spPr>
        <p:txBody>
          <a:bodyPr vert="horz" wrap="square" lIns="91440" tIns="45720" rIns="91440" bIns="45720" anchor="ctr" anchorCtr="0"/>
          <a:p>
            <a:pPr eaLnBrk="1" hangingPunct="1"/>
            <a:br>
              <a:rPr lang="en-US" altLang="zh-CN" sz="2400" b="0" dirty="0">
                <a:solidFill>
                  <a:srgbClr val="666666"/>
                </a:solidFill>
              </a:rPr>
            </a:br>
            <a:r>
              <a:rPr lang="en-US" altLang="zh-CN" sz="4000" dirty="0">
                <a:latin typeface="Times New Roman Bold" panose="02020503050405090304" charset="0"/>
              </a:rPr>
              <a:t> </a:t>
            </a:r>
            <a:r>
              <a:rPr lang="en-US" altLang="zh-CN" sz="4000" dirty="0">
                <a:latin typeface="Times New Roman Bold" panose="02020503050405090304" charset="0"/>
              </a:rPr>
              <a:t>The Definition of ZT</a:t>
            </a:r>
            <a:endParaRPr lang="en-US" altLang="zh-CN" sz="4000" dirty="0">
              <a:latin typeface="Times New Roman Bold" panose="02020503050405090304" charset="0"/>
            </a:endParaRPr>
          </a:p>
        </p:txBody>
      </p:sp>
      <p:graphicFrame>
        <p:nvGraphicFramePr>
          <p:cNvPr id="25603" name="对象 25602"/>
          <p:cNvGraphicFramePr>
            <a:graphicFrameLocks noChangeAspect="1"/>
          </p:cNvGraphicFramePr>
          <p:nvPr/>
        </p:nvGraphicFramePr>
        <p:xfrm>
          <a:off x="2699385" y="1754505"/>
          <a:ext cx="3065780" cy="1071880"/>
        </p:xfrm>
        <a:graphic>
          <a:graphicData uri="http://schemas.openxmlformats.org/presentationml/2006/ole">
            <mc:AlternateContent xmlns:mc="http://schemas.openxmlformats.org/markup-compatibility/2006">
              <mc:Choice xmlns:v="urn:schemas-microsoft-com:vml" Requires="v">
                <p:oleObj spid="_x0000_s3083" name="" r:id="rId1" imgW="1169670" imgH="432435" progId="Equation.3">
                  <p:embed/>
                </p:oleObj>
              </mc:Choice>
              <mc:Fallback>
                <p:oleObj name="" r:id="rId1" imgW="1169670" imgH="432435" progId="Equation.3">
                  <p:embed/>
                  <p:pic>
                    <p:nvPicPr>
                      <p:cNvPr id="0" name="图片 3082"/>
                      <p:cNvPicPr/>
                      <p:nvPr/>
                    </p:nvPicPr>
                    <p:blipFill>
                      <a:blip r:embed="rId2"/>
                      <a:stretch>
                        <a:fillRect/>
                      </a:stretch>
                    </p:blipFill>
                    <p:spPr>
                      <a:xfrm>
                        <a:off x="2699385" y="1754505"/>
                        <a:ext cx="3065780" cy="1071880"/>
                      </a:xfrm>
                      <a:prstGeom prst="rect">
                        <a:avLst/>
                      </a:prstGeom>
                      <a:solidFill>
                        <a:srgbClr val="FFFFFF"/>
                      </a:solidFill>
                      <a:ln w="38100">
                        <a:noFill/>
                        <a:miter/>
                      </a:ln>
                    </p:spPr>
                  </p:pic>
                </p:oleObj>
              </mc:Fallback>
            </mc:AlternateContent>
          </a:graphicData>
        </a:graphic>
      </p:graphicFrame>
      <p:graphicFrame>
        <p:nvGraphicFramePr>
          <p:cNvPr id="25604" name="对象 25603"/>
          <p:cNvGraphicFramePr>
            <a:graphicFrameLocks noChangeAspect="1"/>
          </p:cNvGraphicFramePr>
          <p:nvPr/>
        </p:nvGraphicFramePr>
        <p:xfrm>
          <a:off x="2483485" y="2826385"/>
          <a:ext cx="3648075" cy="974090"/>
        </p:xfrm>
        <a:graphic>
          <a:graphicData uri="http://schemas.openxmlformats.org/presentationml/2006/ole">
            <mc:AlternateContent xmlns:mc="http://schemas.openxmlformats.org/markup-compatibility/2006">
              <mc:Choice xmlns:v="urn:schemas-microsoft-com:vml" Requires="v">
                <p:oleObj spid="_x0000_s3084" name="" r:id="rId3" imgW="1524000" imgH="419100" progId="Equation.3">
                  <p:embed/>
                </p:oleObj>
              </mc:Choice>
              <mc:Fallback>
                <p:oleObj name="" r:id="rId3" imgW="1524000" imgH="419100" progId="Equation.3">
                  <p:embed/>
                  <p:pic>
                    <p:nvPicPr>
                      <p:cNvPr id="0" name="图片 3083"/>
                      <p:cNvPicPr/>
                      <p:nvPr/>
                    </p:nvPicPr>
                    <p:blipFill>
                      <a:blip r:embed="rId4"/>
                      <a:stretch>
                        <a:fillRect/>
                      </a:stretch>
                    </p:blipFill>
                    <p:spPr>
                      <a:xfrm>
                        <a:off x="2483485" y="2826385"/>
                        <a:ext cx="3648075" cy="974090"/>
                      </a:xfrm>
                      <a:prstGeom prst="rect">
                        <a:avLst/>
                      </a:prstGeom>
                      <a:solidFill>
                        <a:srgbClr val="FFFFFF"/>
                      </a:solidFill>
                      <a:ln w="38100">
                        <a:noFill/>
                        <a:miter/>
                      </a:ln>
                    </p:spPr>
                  </p:pic>
                </p:oleObj>
              </mc:Fallback>
            </mc:AlternateContent>
          </a:graphicData>
        </a:graphic>
      </p:graphicFrame>
      <p:graphicFrame>
        <p:nvGraphicFramePr>
          <p:cNvPr id="25605" name="对象 25604"/>
          <p:cNvGraphicFramePr>
            <a:graphicFrameLocks noChangeAspect="1"/>
          </p:cNvGraphicFramePr>
          <p:nvPr/>
        </p:nvGraphicFramePr>
        <p:xfrm>
          <a:off x="6605588" y="3211513"/>
          <a:ext cx="1752600" cy="533400"/>
        </p:xfrm>
        <a:graphic>
          <a:graphicData uri="http://schemas.openxmlformats.org/presentationml/2006/ole">
            <mc:AlternateContent xmlns:mc="http://schemas.openxmlformats.org/markup-compatibility/2006">
              <mc:Choice xmlns:v="urn:schemas-microsoft-com:vml" Requires="v">
                <p:oleObj spid="_x0000_s3085" name="" r:id="rId5" imgW="877570" imgH="229235" progId="Equation.3">
                  <p:embed/>
                </p:oleObj>
              </mc:Choice>
              <mc:Fallback>
                <p:oleObj name="" r:id="rId5" imgW="877570" imgH="229235" progId="Equation.3">
                  <p:embed/>
                  <p:pic>
                    <p:nvPicPr>
                      <p:cNvPr id="0" name="图片 3084"/>
                      <p:cNvPicPr/>
                      <p:nvPr/>
                    </p:nvPicPr>
                    <p:blipFill>
                      <a:blip r:embed="rId6"/>
                      <a:stretch>
                        <a:fillRect/>
                      </a:stretch>
                    </p:blipFill>
                    <p:spPr>
                      <a:xfrm>
                        <a:off x="6605588" y="3211513"/>
                        <a:ext cx="1752600" cy="533400"/>
                      </a:xfrm>
                      <a:prstGeom prst="rect">
                        <a:avLst/>
                      </a:prstGeom>
                      <a:solidFill>
                        <a:srgbClr val="FFFFFF"/>
                      </a:solidFill>
                      <a:ln w="38100">
                        <a:noFill/>
                        <a:miter/>
                      </a:ln>
                    </p:spPr>
                  </p:pic>
                </p:oleObj>
              </mc:Fallback>
            </mc:AlternateContent>
          </a:graphicData>
        </a:graphic>
      </p:graphicFrame>
      <p:graphicFrame>
        <p:nvGraphicFramePr>
          <p:cNvPr id="25606" name="对象 25605"/>
          <p:cNvGraphicFramePr>
            <a:graphicFrameLocks noChangeAspect="1"/>
          </p:cNvGraphicFramePr>
          <p:nvPr/>
        </p:nvGraphicFramePr>
        <p:xfrm>
          <a:off x="6616700" y="2201863"/>
          <a:ext cx="1728788" cy="585787"/>
        </p:xfrm>
        <a:graphic>
          <a:graphicData uri="http://schemas.openxmlformats.org/presentationml/2006/ole">
            <mc:AlternateContent xmlns:mc="http://schemas.openxmlformats.org/markup-compatibility/2006">
              <mc:Choice xmlns:v="urn:schemas-microsoft-com:vml" Requires="v">
                <p:oleObj spid="_x0000_s3086" name="" r:id="rId7" imgW="876935" imgH="254000" progId="Equation.3">
                  <p:embed/>
                </p:oleObj>
              </mc:Choice>
              <mc:Fallback>
                <p:oleObj name="" r:id="rId7" imgW="876935" imgH="254000" progId="Equation.3">
                  <p:embed/>
                  <p:pic>
                    <p:nvPicPr>
                      <p:cNvPr id="0" name="图片 3085"/>
                      <p:cNvPicPr/>
                      <p:nvPr/>
                    </p:nvPicPr>
                    <p:blipFill>
                      <a:blip r:embed="rId8"/>
                      <a:stretch>
                        <a:fillRect/>
                      </a:stretch>
                    </p:blipFill>
                    <p:spPr>
                      <a:xfrm>
                        <a:off x="6616700" y="2201863"/>
                        <a:ext cx="1728788" cy="585787"/>
                      </a:xfrm>
                      <a:prstGeom prst="rect">
                        <a:avLst/>
                      </a:prstGeom>
                      <a:solidFill>
                        <a:srgbClr val="FFFFFF"/>
                      </a:solidFill>
                      <a:ln w="38100">
                        <a:noFill/>
                        <a:miter/>
                      </a:ln>
                    </p:spPr>
                  </p:pic>
                </p:oleObj>
              </mc:Fallback>
            </mc:AlternateContent>
          </a:graphicData>
        </a:graphic>
      </p:graphicFrame>
      <p:sp>
        <p:nvSpPr>
          <p:cNvPr id="25607" name="文本框 25606"/>
          <p:cNvSpPr txBox="1"/>
          <p:nvPr/>
        </p:nvSpPr>
        <p:spPr>
          <a:xfrm>
            <a:off x="539750" y="1402080"/>
            <a:ext cx="6727825"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definition of ZT</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5610" name="文本框 25609"/>
          <p:cNvSpPr txBox="1"/>
          <p:nvPr/>
        </p:nvSpPr>
        <p:spPr>
          <a:xfrm>
            <a:off x="611505" y="3789045"/>
            <a:ext cx="8158480"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Note: the ROC of z-transform must be indicated.</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5611" name="文本框 25610"/>
          <p:cNvSpPr txBox="1"/>
          <p:nvPr/>
        </p:nvSpPr>
        <p:spPr>
          <a:xfrm>
            <a:off x="611188" y="4364990"/>
            <a:ext cx="8021638" cy="522288"/>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Several convergence cases (on z plane) </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6.3</a:t>
            </a:r>
            <a:endPar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p:txBody>
      </p:sp>
      <p:sp>
        <p:nvSpPr>
          <p:cNvPr id="25612" name="文本框 25611"/>
          <p:cNvSpPr txBox="1"/>
          <p:nvPr/>
        </p:nvSpPr>
        <p:spPr>
          <a:xfrm>
            <a:off x="611188" y="4941570"/>
            <a:ext cx="7812088" cy="953135"/>
          </a:xfrm>
          <a:prstGeom prst="rect">
            <a:avLst/>
          </a:prstGeom>
          <a:noFill/>
          <a:ln w="9525">
            <a:noFill/>
            <a:miter/>
          </a:ln>
        </p:spPr>
        <p:txBody>
          <a:bodyPr>
            <a:spAutoFit/>
          </a:bodyPr>
          <a:lstStyle/>
          <a:p>
            <a:pPr marR="0" defTabSz="914400">
              <a:spcBef>
                <a:spcPct val="20000"/>
              </a:spcBef>
              <a:buClr>
                <a:schemeClr val="hlink"/>
              </a:buClr>
              <a:buSzTx/>
              <a:buFont typeface="Wingdings" panose="05000000000000000000" pitchFamily="2" charset="2"/>
              <a:buNone/>
              <a:defRPr/>
            </a:pP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Commonly used transformation pairs (mainly used for IZT </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determination)</a:t>
            </a:r>
            <a:r>
              <a:rPr kumimoji="0" lang="zh-CN" altLang="en-US"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t>
            </a:r>
            <a:r>
              <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Table 6.1</a:t>
            </a:r>
            <a:endParaRPr kumimoji="0" lang="en-US" altLang="zh-CN" sz="2800" b="1" kern="1200" cap="none" spc="0" normalizeH="0" baseline="0" noProof="1">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25613" name="文本框 25612"/>
          <p:cNvSpPr txBox="1"/>
          <p:nvPr/>
        </p:nvSpPr>
        <p:spPr>
          <a:xfrm>
            <a:off x="682943" y="5948363"/>
            <a:ext cx="7659688" cy="521970"/>
          </a:xfrm>
          <a:prstGeom prst="rect">
            <a:avLst/>
          </a:prstGeom>
          <a:noFill/>
          <a:ln w="9525">
            <a:noFill/>
            <a:miter/>
          </a:ln>
        </p:spPr>
        <p:txBody>
          <a:bodyPr>
            <a:spAutoFit/>
          </a:bodyPr>
          <a:lstStyle/>
          <a:p>
            <a:pPr marR="0" defTabSz="914400">
              <a:spcBef>
                <a:spcPct val="20000"/>
              </a:spcBef>
              <a:buClr>
                <a:schemeClr val="hlink"/>
              </a:buClr>
              <a:buSzTx/>
              <a:buFont typeface="Wingdings" panose="05000000000000000000" pitchFamily="2" charset="2"/>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Basic Theorem</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table 6.2</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7"/>
                                        </p:tgtEl>
                                        <p:attrNameLst>
                                          <p:attrName>style.visibility</p:attrName>
                                        </p:attrNameLst>
                                      </p:cBhvr>
                                      <p:to>
                                        <p:strVal val="visible"/>
                                      </p:to>
                                    </p:set>
                                    <p:anim calcmode="lin" valueType="num">
                                      <p:cBhvr>
                                        <p:cTn id="7" dur="500" fill="hold"/>
                                        <p:tgtEl>
                                          <p:spTgt spid="25607"/>
                                        </p:tgtEl>
                                        <p:attrNameLst>
                                          <p:attrName>ppt_x</p:attrName>
                                        </p:attrNameLst>
                                      </p:cBhvr>
                                      <p:tavLst>
                                        <p:tav tm="0">
                                          <p:val>
                                            <p:strVal val="#ppt_x"/>
                                          </p:val>
                                        </p:tav>
                                        <p:tav tm="100000">
                                          <p:val>
                                            <p:strVal val="#ppt_x"/>
                                          </p:val>
                                        </p:tav>
                                      </p:tavLst>
                                    </p:anim>
                                    <p:anim calcmode="lin" valueType="num">
                                      <p:cBhvr>
                                        <p:cTn id="8" dur="500" fill="hold"/>
                                        <p:tgtEl>
                                          <p:spTgt spid="2560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603"/>
                                        </p:tgtEl>
                                        <p:attrNameLst>
                                          <p:attrName>style.visibility</p:attrName>
                                        </p:attrNameLst>
                                      </p:cBhvr>
                                      <p:to>
                                        <p:strVal val="visible"/>
                                      </p:to>
                                    </p:set>
                                    <p:anim calcmode="lin" valueType="num">
                                      <p:cBhvr>
                                        <p:cTn id="13" dur="500" fill="hold"/>
                                        <p:tgtEl>
                                          <p:spTgt spid="25603"/>
                                        </p:tgtEl>
                                        <p:attrNameLst>
                                          <p:attrName>ppt_x</p:attrName>
                                        </p:attrNameLst>
                                      </p:cBhvr>
                                      <p:tavLst>
                                        <p:tav tm="0">
                                          <p:val>
                                            <p:strVal val="#ppt_x"/>
                                          </p:val>
                                        </p:tav>
                                        <p:tav tm="100000">
                                          <p:val>
                                            <p:strVal val="#ppt_x"/>
                                          </p:val>
                                        </p:tav>
                                      </p:tavLst>
                                    </p:anim>
                                    <p:anim calcmode="lin" valueType="num">
                                      <p:cBhvr>
                                        <p:cTn id="14" dur="500" fill="hold"/>
                                        <p:tgtEl>
                                          <p:spTgt spid="2560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606"/>
                                        </p:tgtEl>
                                        <p:attrNameLst>
                                          <p:attrName>style.visibility</p:attrName>
                                        </p:attrNameLst>
                                      </p:cBhvr>
                                      <p:to>
                                        <p:strVal val="visible"/>
                                      </p:to>
                                    </p:set>
                                    <p:anim calcmode="lin" valueType="num">
                                      <p:cBhvr>
                                        <p:cTn id="19" dur="500" fill="hold"/>
                                        <p:tgtEl>
                                          <p:spTgt spid="25606"/>
                                        </p:tgtEl>
                                        <p:attrNameLst>
                                          <p:attrName>ppt_x</p:attrName>
                                        </p:attrNameLst>
                                      </p:cBhvr>
                                      <p:tavLst>
                                        <p:tav tm="0">
                                          <p:val>
                                            <p:strVal val="#ppt_x"/>
                                          </p:val>
                                        </p:tav>
                                        <p:tav tm="100000">
                                          <p:val>
                                            <p:strVal val="#ppt_x"/>
                                          </p:val>
                                        </p:tav>
                                      </p:tavLst>
                                    </p:anim>
                                    <p:anim calcmode="lin" valueType="num">
                                      <p:cBhvr>
                                        <p:cTn id="20" dur="500" fill="hold"/>
                                        <p:tgtEl>
                                          <p:spTgt spid="2560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5604"/>
                                        </p:tgtEl>
                                        <p:attrNameLst>
                                          <p:attrName>style.visibility</p:attrName>
                                        </p:attrNameLst>
                                      </p:cBhvr>
                                      <p:to>
                                        <p:strVal val="visible"/>
                                      </p:to>
                                    </p:set>
                                    <p:anim calcmode="lin" valueType="num">
                                      <p:cBhvr>
                                        <p:cTn id="25" dur="500" fill="hold"/>
                                        <p:tgtEl>
                                          <p:spTgt spid="25604"/>
                                        </p:tgtEl>
                                        <p:attrNameLst>
                                          <p:attrName>ppt_x</p:attrName>
                                        </p:attrNameLst>
                                      </p:cBhvr>
                                      <p:tavLst>
                                        <p:tav tm="0">
                                          <p:val>
                                            <p:strVal val="#ppt_x"/>
                                          </p:val>
                                        </p:tav>
                                        <p:tav tm="100000">
                                          <p:val>
                                            <p:strVal val="#ppt_x"/>
                                          </p:val>
                                        </p:tav>
                                      </p:tavLst>
                                    </p:anim>
                                    <p:anim calcmode="lin" valueType="num">
                                      <p:cBhvr>
                                        <p:cTn id="26" dur="500" fill="hold"/>
                                        <p:tgtEl>
                                          <p:spTgt spid="2560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5605"/>
                                        </p:tgtEl>
                                        <p:attrNameLst>
                                          <p:attrName>style.visibility</p:attrName>
                                        </p:attrNameLst>
                                      </p:cBhvr>
                                      <p:to>
                                        <p:strVal val="visible"/>
                                      </p:to>
                                    </p:set>
                                    <p:anim calcmode="lin" valueType="num">
                                      <p:cBhvr>
                                        <p:cTn id="31" dur="500" fill="hold"/>
                                        <p:tgtEl>
                                          <p:spTgt spid="25605"/>
                                        </p:tgtEl>
                                        <p:attrNameLst>
                                          <p:attrName>ppt_x</p:attrName>
                                        </p:attrNameLst>
                                      </p:cBhvr>
                                      <p:tavLst>
                                        <p:tav tm="0">
                                          <p:val>
                                            <p:strVal val="#ppt_x"/>
                                          </p:val>
                                        </p:tav>
                                        <p:tav tm="100000">
                                          <p:val>
                                            <p:strVal val="#ppt_x"/>
                                          </p:val>
                                        </p:tav>
                                      </p:tavLst>
                                    </p:anim>
                                    <p:anim calcmode="lin" valueType="num">
                                      <p:cBhvr>
                                        <p:cTn id="32" dur="500" fill="hold"/>
                                        <p:tgtEl>
                                          <p:spTgt spid="2560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5610"/>
                                        </p:tgtEl>
                                        <p:attrNameLst>
                                          <p:attrName>style.visibility</p:attrName>
                                        </p:attrNameLst>
                                      </p:cBhvr>
                                      <p:to>
                                        <p:strVal val="visible"/>
                                      </p:to>
                                    </p:set>
                                    <p:anim calcmode="lin" valueType="num">
                                      <p:cBhvr>
                                        <p:cTn id="37" dur="500" fill="hold"/>
                                        <p:tgtEl>
                                          <p:spTgt spid="25610"/>
                                        </p:tgtEl>
                                        <p:attrNameLst>
                                          <p:attrName>ppt_x</p:attrName>
                                        </p:attrNameLst>
                                      </p:cBhvr>
                                      <p:tavLst>
                                        <p:tav tm="0">
                                          <p:val>
                                            <p:strVal val="#ppt_x"/>
                                          </p:val>
                                        </p:tav>
                                        <p:tav tm="100000">
                                          <p:val>
                                            <p:strVal val="#ppt_x"/>
                                          </p:val>
                                        </p:tav>
                                      </p:tavLst>
                                    </p:anim>
                                    <p:anim calcmode="lin" valueType="num">
                                      <p:cBhvr>
                                        <p:cTn id="38" dur="500" fill="hold"/>
                                        <p:tgtEl>
                                          <p:spTgt spid="256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5611"/>
                                        </p:tgtEl>
                                        <p:attrNameLst>
                                          <p:attrName>style.visibility</p:attrName>
                                        </p:attrNameLst>
                                      </p:cBhvr>
                                      <p:to>
                                        <p:strVal val="visible"/>
                                      </p:to>
                                    </p:set>
                                    <p:anim calcmode="lin" valueType="num">
                                      <p:cBhvr>
                                        <p:cTn id="43" dur="500" fill="hold"/>
                                        <p:tgtEl>
                                          <p:spTgt spid="25611"/>
                                        </p:tgtEl>
                                        <p:attrNameLst>
                                          <p:attrName>ppt_x</p:attrName>
                                        </p:attrNameLst>
                                      </p:cBhvr>
                                      <p:tavLst>
                                        <p:tav tm="0">
                                          <p:val>
                                            <p:strVal val="#ppt_x"/>
                                          </p:val>
                                        </p:tav>
                                        <p:tav tm="100000">
                                          <p:val>
                                            <p:strVal val="#ppt_x"/>
                                          </p:val>
                                        </p:tav>
                                      </p:tavLst>
                                    </p:anim>
                                    <p:anim calcmode="lin" valueType="num">
                                      <p:cBhvr>
                                        <p:cTn id="44" dur="500" fill="hold"/>
                                        <p:tgtEl>
                                          <p:spTgt spid="2561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5612"/>
                                        </p:tgtEl>
                                        <p:attrNameLst>
                                          <p:attrName>style.visibility</p:attrName>
                                        </p:attrNameLst>
                                      </p:cBhvr>
                                      <p:to>
                                        <p:strVal val="visible"/>
                                      </p:to>
                                    </p:set>
                                    <p:anim calcmode="lin" valueType="num">
                                      <p:cBhvr>
                                        <p:cTn id="49" dur="500" fill="hold"/>
                                        <p:tgtEl>
                                          <p:spTgt spid="25612"/>
                                        </p:tgtEl>
                                        <p:attrNameLst>
                                          <p:attrName>ppt_x</p:attrName>
                                        </p:attrNameLst>
                                      </p:cBhvr>
                                      <p:tavLst>
                                        <p:tav tm="0">
                                          <p:val>
                                            <p:strVal val="#ppt_x"/>
                                          </p:val>
                                        </p:tav>
                                        <p:tav tm="100000">
                                          <p:val>
                                            <p:strVal val="#ppt_x"/>
                                          </p:val>
                                        </p:tav>
                                      </p:tavLst>
                                    </p:anim>
                                    <p:anim calcmode="lin" valueType="num">
                                      <p:cBhvr>
                                        <p:cTn id="50" dur="500" fill="hold"/>
                                        <p:tgtEl>
                                          <p:spTgt spid="256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5613"/>
                                        </p:tgtEl>
                                        <p:attrNameLst>
                                          <p:attrName>style.visibility</p:attrName>
                                        </p:attrNameLst>
                                      </p:cBhvr>
                                      <p:to>
                                        <p:strVal val="visible"/>
                                      </p:to>
                                    </p:set>
                                    <p:anim calcmode="lin" valueType="num">
                                      <p:cBhvr>
                                        <p:cTn id="55" dur="500" fill="hold"/>
                                        <p:tgtEl>
                                          <p:spTgt spid="25613"/>
                                        </p:tgtEl>
                                        <p:attrNameLst>
                                          <p:attrName>ppt_x</p:attrName>
                                        </p:attrNameLst>
                                      </p:cBhvr>
                                      <p:tavLst>
                                        <p:tav tm="0">
                                          <p:val>
                                            <p:strVal val="#ppt_x"/>
                                          </p:val>
                                        </p:tav>
                                        <p:tav tm="100000">
                                          <p:val>
                                            <p:strVal val="#ppt_x"/>
                                          </p:val>
                                        </p:tav>
                                      </p:tavLst>
                                    </p:anim>
                                    <p:anim calcmode="lin" valueType="num">
                                      <p:cBhvr>
                                        <p:cTn id="56" dur="500" fill="hold"/>
                                        <p:tgtEl>
                                          <p:spTgt spid="256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p:bldP spid="25610" grpId="0"/>
      <p:bldP spid="25611" grpId="0"/>
      <p:bldP spid="25612" grpId="0"/>
      <p:bldP spid="256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标题 1"/>
          <p:cNvSpPr>
            <a:spLocks noGrp="1"/>
          </p:cNvSpPr>
          <p:nvPr>
            <p:ph type="title"/>
          </p:nvPr>
        </p:nvSpPr>
        <p:spPr>
          <a:xfrm>
            <a:off x="123825" y="65088"/>
            <a:ext cx="8185150" cy="1131887"/>
          </a:xfrm>
        </p:spPr>
        <p:txBody>
          <a:bodyPr vert="horz" wrap="square" lIns="91440" tIns="45720" rIns="91440" bIns="45720" anchor="ctr" anchorCtr="0"/>
          <a:p>
            <a:pPr eaLnBrk="1" hangingPunct="1"/>
            <a:r>
              <a:rPr lang="en-US" altLang="zh-CN" sz="4000" dirty="0">
                <a:latin typeface="Times New Roman Bold" panose="02020503050405090304" charset="0"/>
                <a:ea typeface="楷体" pitchFamily="49" charset="-122"/>
                <a:cs typeface="Times New Roman Bold" panose="02020503050405090304" charset="0"/>
              </a:rPr>
              <a:t>Topic 4: Analysis of Transform Domain of Discrete Time Systems</a:t>
            </a:r>
            <a:endParaRPr lang="en-US" altLang="zh-CN" sz="4000" dirty="0">
              <a:latin typeface="Times New Roman Bold" panose="02020503050405090304" charset="0"/>
              <a:ea typeface="楷体" pitchFamily="49" charset="-122"/>
              <a:cs typeface="Times New Roman Bold" panose="02020503050405090304" charset="0"/>
            </a:endParaRPr>
          </a:p>
        </p:txBody>
      </p:sp>
      <p:sp>
        <p:nvSpPr>
          <p:cNvPr id="3" name="内容占位符 2"/>
          <p:cNvSpPr>
            <a:spLocks noGrp="1"/>
          </p:cNvSpPr>
          <p:nvPr>
            <p:ph idx="1"/>
          </p:nvPr>
        </p:nvSpPr>
        <p:spPr>
          <a:xfrm>
            <a:off x="276860" y="1618615"/>
            <a:ext cx="8719820" cy="5121910"/>
          </a:xfrm>
          <a:ln>
            <a:miter/>
          </a:ln>
        </p:spPr>
        <p:txBody>
          <a:bodyPr vert="horz" wrap="square" lIns="91440" tIns="45720" rIns="91440" bIns="45720" numCol="1" anchor="t" anchorCtr="0" compatLnSpc="1"/>
          <a:p>
            <a:pPr marL="0" indent="0" eaLnBrk="1" fontAlgn="base" hangingPunct="1">
              <a:buFont typeface="Arial" panose="020B0604020202090204" pitchFamily="34" charset="0"/>
              <a:buNone/>
            </a:pP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(1) </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The concept of frequency response of LTI discrete time system</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s</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0" indent="0" eaLnBrk="1" fontAlgn="base" hangingPunct="1">
              <a:buFont typeface="Arial" panose="020B0604020202090204" pitchFamily="34" charset="0"/>
              <a:buNone/>
            </a:pP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(2) </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Phase delay and group delay.</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0" indent="0" eaLnBrk="1" fontAlgn="base" hangingPunct="1">
              <a:buFont typeface="Arial" panose="020B0604020202090204" pitchFamily="34" charset="0"/>
              <a:buNone/>
            </a:pP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(3) </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Definition of transfer function</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0" indent="0" eaLnBrk="1" fontAlgn="base" hangingPunct="1">
              <a:buFont typeface="Arial" panose="020B0604020202090204" pitchFamily="34" charset="0"/>
              <a:buNone/>
            </a:pP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(4) S</a:t>
            </a:r>
            <a:r>
              <a:rPr lang="en-US" altLang="zh-CN" sz="2800" b="1" dirty="0">
                <a:effectLst>
                  <a:outerShdw blurRad="38100" dist="38100" dir="2700000">
                    <a:srgbClr val="C0C0C0"/>
                  </a:outerShdw>
                </a:effectLst>
                <a:latin typeface="Times New Roman" panose="02020503050405090304" pitchFamily="18" charset="0"/>
                <a:ea typeface="楷体" pitchFamily="49" charset="-122"/>
                <a:sym typeface="+mn-ea"/>
              </a:rPr>
              <a:t>ystem </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nalysis b</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ased on</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 transfer function</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0" indent="0" eaLnBrk="1" fontAlgn="base" hangingPunct="1">
              <a:buFont typeface="Arial" panose="020B0604020202090204" pitchFamily="34" charset="0"/>
              <a:buNone/>
            </a:pP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(5) System classifcation by magnitude response.</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0" indent="0" eaLnBrk="1" fontAlgn="base" hangingPunct="1">
              <a:buFont typeface="Arial" panose="020B0604020202090204" pitchFamily="34" charset="0"/>
              <a:buNone/>
            </a:pP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(6) </a:t>
            </a:r>
            <a:r>
              <a:rPr lang="en-US" altLang="en-US" sz="2800" b="1" dirty="0">
                <a:effectLst>
                  <a:outerShdw blurRad="38100" dist="38100" dir="2700000">
                    <a:srgbClr val="C0C0C0"/>
                  </a:outerShdw>
                </a:effectLst>
                <a:latin typeface="Times New Roman" panose="02020503050405090304" pitchFamily="18" charset="0"/>
                <a:ea typeface="楷体" pitchFamily="49" charset="-122"/>
                <a:sym typeface="+mn-ea"/>
              </a:rPr>
              <a:t>System classifcation by  phase response</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0" indent="0" eaLnBrk="1" fontAlgn="base" hangingPunct="1">
              <a:buFont typeface="Arial" panose="020B0604020202090204" pitchFamily="34" charset="0"/>
              <a:buNone/>
            </a:pP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(7) </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Linear phase LTI discrete time system</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a:p>
            <a:pPr marL="514350" indent="-514350" eaLnBrk="1" fontAlgn="base" hangingPunct="1">
              <a:buNone/>
            </a:pP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Corresponding </a:t>
            </a:r>
            <a:r>
              <a:rPr lang="en-US" altLang="en-US"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ranges</a:t>
            </a:r>
            <a:r>
              <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rPr>
              <a:t> of the book: 4.8, 4.9, 6.7, 7.1--7.4</a:t>
            </a:r>
            <a:endParaRPr lang="en-US" altLang="zh-CN" sz="2800" b="1" strike="noStrike" noProof="1" dirty="0">
              <a:effectLst>
                <a:outerShdw blurRad="38100" dist="38100" dir="2700000">
                  <a:srgbClr val="C0C0C0"/>
                </a:outerShdw>
              </a:effectLst>
              <a:latin typeface="Times New Roman" panose="02020503050405090304" pitchFamily="18" charset="0"/>
              <a:ea typeface="楷体" pitchFamily="49" charset="-122"/>
              <a:sym typeface="+mn-ea"/>
            </a:endParaRPr>
          </a:p>
        </p:txBody>
      </p:sp>
      <p:sp>
        <p:nvSpPr>
          <p:cNvPr id="2" name="五角星 1"/>
          <p:cNvSpPr/>
          <p:nvPr/>
        </p:nvSpPr>
        <p:spPr>
          <a:xfrm>
            <a:off x="7595870" y="260350"/>
            <a:ext cx="914400" cy="914400"/>
          </a:xfrm>
          <a:prstGeom prst="star5">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charRg st="0" end="63"/>
                                            </p:txEl>
                                          </p:spTgt>
                                        </p:tgtEl>
                                        <p:attrNameLst>
                                          <p:attrName>style.visibility</p:attrName>
                                        </p:attrNameLst>
                                      </p:cBhvr>
                                      <p:to>
                                        <p:strVal val="visible"/>
                                      </p:to>
                                    </p:set>
                                    <p:animEffect transition="in" filter="blinds(horizontal)">
                                      <p:cBhvr>
                                        <p:cTn id="7" dur="500"/>
                                        <p:tgtEl>
                                          <p:spTgt spid="3">
                                            <p:txEl>
                                              <p:charRg st="0" end="6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charRg st="63" end="92"/>
                                            </p:txEl>
                                          </p:spTgt>
                                        </p:tgtEl>
                                        <p:attrNameLst>
                                          <p:attrName>style.visibility</p:attrName>
                                        </p:attrNameLst>
                                      </p:cBhvr>
                                      <p:to>
                                        <p:strVal val="visible"/>
                                      </p:to>
                                    </p:set>
                                    <p:animEffect transition="in" filter="blinds(horizontal)">
                                      <p:cBhvr>
                                        <p:cTn id="12" dur="500"/>
                                        <p:tgtEl>
                                          <p:spTgt spid="3">
                                            <p:txEl>
                                              <p:charRg st="63" end="9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charRg st="92" end="125"/>
                                            </p:txEl>
                                          </p:spTgt>
                                        </p:tgtEl>
                                        <p:attrNameLst>
                                          <p:attrName>style.visibility</p:attrName>
                                        </p:attrNameLst>
                                      </p:cBhvr>
                                      <p:to>
                                        <p:strVal val="visible"/>
                                      </p:to>
                                    </p:set>
                                    <p:animEffect transition="in" filter="blinds(horizontal)">
                                      <p:cBhvr>
                                        <p:cTn id="17" dur="500"/>
                                        <p:tgtEl>
                                          <p:spTgt spid="3">
                                            <p:txEl>
                                              <p:charRg st="92" end="12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charRg st="125" end="175"/>
                                            </p:txEl>
                                          </p:spTgt>
                                        </p:tgtEl>
                                        <p:attrNameLst>
                                          <p:attrName>style.visibility</p:attrName>
                                        </p:attrNameLst>
                                      </p:cBhvr>
                                      <p:to>
                                        <p:strVal val="visible"/>
                                      </p:to>
                                    </p:set>
                                    <p:animEffect transition="in" filter="blinds(horizontal)">
                                      <p:cBhvr>
                                        <p:cTn id="22" dur="500"/>
                                        <p:tgtEl>
                                          <p:spTgt spid="3">
                                            <p:txEl>
                                              <p:charRg st="125" end="17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charRg st="175" end="235"/>
                                            </p:txEl>
                                          </p:spTgt>
                                        </p:tgtEl>
                                        <p:attrNameLst>
                                          <p:attrName>style.visibility</p:attrName>
                                        </p:attrNameLst>
                                      </p:cBhvr>
                                      <p:to>
                                        <p:strVal val="visible"/>
                                      </p:to>
                                    </p:set>
                                    <p:animEffect transition="in" filter="blinds(horizontal)">
                                      <p:cBhvr>
                                        <p:cTn id="27" dur="500"/>
                                        <p:tgtEl>
                                          <p:spTgt spid="3">
                                            <p:txEl>
                                              <p:charRg st="175" end="23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charRg st="235" end="291"/>
                                            </p:txEl>
                                          </p:spTgt>
                                        </p:tgtEl>
                                        <p:attrNameLst>
                                          <p:attrName>style.visibility</p:attrName>
                                        </p:attrNameLst>
                                      </p:cBhvr>
                                      <p:to>
                                        <p:strVal val="visible"/>
                                      </p:to>
                                    </p:set>
                                    <p:animEffect transition="in" filter="blinds(horizontal)">
                                      <p:cBhvr>
                                        <p:cTn id="32" dur="500"/>
                                        <p:tgtEl>
                                          <p:spTgt spid="3">
                                            <p:txEl>
                                              <p:charRg st="235" end="29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charRg st="291" end="329"/>
                                            </p:txEl>
                                          </p:spTgt>
                                        </p:tgtEl>
                                        <p:attrNameLst>
                                          <p:attrName>style.visibility</p:attrName>
                                        </p:attrNameLst>
                                      </p:cBhvr>
                                      <p:to>
                                        <p:strVal val="visible"/>
                                      </p:to>
                                    </p:set>
                                    <p:animEffect transition="in" filter="blinds(horizontal)">
                                      <p:cBhvr>
                                        <p:cTn id="37" dur="500"/>
                                        <p:tgtEl>
                                          <p:spTgt spid="3">
                                            <p:txEl>
                                              <p:charRg st="291" end="32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charRg st="329" end="386"/>
                                            </p:txEl>
                                          </p:spTgt>
                                        </p:tgtEl>
                                        <p:attrNameLst>
                                          <p:attrName>style.visibility</p:attrName>
                                        </p:attrNameLst>
                                      </p:cBhvr>
                                      <p:to>
                                        <p:strVal val="visible"/>
                                      </p:to>
                                    </p:set>
                                    <p:animEffect transition="in" filter="blinds(horizontal)">
                                      <p:cBhvr>
                                        <p:cTn id="42" dur="500"/>
                                        <p:tgtEl>
                                          <p:spTgt spid="3">
                                            <p:txEl>
                                              <p:charRg st="329" end="3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标题 29697"/>
          <p:cNvSpPr/>
          <p:nvPr>
            <p:ph type="title"/>
          </p:nvPr>
        </p:nvSpPr>
        <p:spPr>
          <a:xfrm>
            <a:off x="457200" y="209550"/>
            <a:ext cx="8229600" cy="1108075"/>
          </a:xfrm>
        </p:spPr>
        <p:txBody>
          <a:bodyPr vert="horz" wrap="square" lIns="91440" tIns="45720" rIns="91440" bIns="45720" anchor="ctr" anchorCtr="0"/>
          <a:p>
            <a:pPr eaLnBrk="1" hangingPunct="1"/>
            <a:r>
              <a:rPr lang="zh-CN" altLang="en-US" sz="4000" dirty="0">
                <a:latin typeface="Times New Roman" panose="02020503050405090304" pitchFamily="18" charset="0"/>
                <a:ea typeface="楷体" pitchFamily="49" charset="-122"/>
              </a:rPr>
              <a:t>1</a:t>
            </a:r>
            <a:r>
              <a:rPr lang="en-US" altLang="zh-CN" sz="4000" dirty="0">
                <a:latin typeface="Times New Roman" panose="02020503050405090304" pitchFamily="18" charset="0"/>
                <a:ea typeface="楷体" pitchFamily="49" charset="-122"/>
              </a:rPr>
              <a:t> Transfer Function H (z)</a:t>
            </a:r>
            <a:endParaRPr lang="en-US" altLang="zh-CN" sz="4000" dirty="0">
              <a:latin typeface="Times New Roman" panose="02020503050405090304" pitchFamily="18" charset="0"/>
              <a:ea typeface="楷体" pitchFamily="49" charset="-122"/>
            </a:endParaRPr>
          </a:p>
        </p:txBody>
      </p:sp>
      <p:graphicFrame>
        <p:nvGraphicFramePr>
          <p:cNvPr id="29699" name="对象 29698"/>
          <p:cNvGraphicFramePr>
            <a:graphicFrameLocks noChangeAspect="1"/>
          </p:cNvGraphicFramePr>
          <p:nvPr/>
        </p:nvGraphicFramePr>
        <p:xfrm>
          <a:off x="2952433" y="3428683"/>
          <a:ext cx="2287587" cy="1093787"/>
        </p:xfrm>
        <a:graphic>
          <a:graphicData uri="http://schemas.openxmlformats.org/presentationml/2006/ole">
            <mc:AlternateContent xmlns:mc="http://schemas.openxmlformats.org/markup-compatibility/2006">
              <mc:Choice xmlns:v="urn:schemas-microsoft-com:vml" Requires="v">
                <p:oleObj spid="_x0000_s3087" name="" r:id="rId1" imgW="852170" imgH="419735" progId="Equation.3">
                  <p:embed/>
                </p:oleObj>
              </mc:Choice>
              <mc:Fallback>
                <p:oleObj name="" r:id="rId1" imgW="852170" imgH="419735" progId="Equation.3">
                  <p:embed/>
                  <p:pic>
                    <p:nvPicPr>
                      <p:cNvPr id="0" name="图片 3086"/>
                      <p:cNvPicPr/>
                      <p:nvPr/>
                    </p:nvPicPr>
                    <p:blipFill>
                      <a:blip r:embed="rId2"/>
                      <a:stretch>
                        <a:fillRect/>
                      </a:stretch>
                    </p:blipFill>
                    <p:spPr>
                      <a:xfrm>
                        <a:off x="2952433" y="3428683"/>
                        <a:ext cx="2287587" cy="1093787"/>
                      </a:xfrm>
                      <a:prstGeom prst="rect">
                        <a:avLst/>
                      </a:prstGeom>
                      <a:solidFill>
                        <a:srgbClr val="FFFFFF"/>
                      </a:solidFill>
                      <a:ln w="38100">
                        <a:noFill/>
                        <a:miter/>
                      </a:ln>
                    </p:spPr>
                  </p:pic>
                </p:oleObj>
              </mc:Fallback>
            </mc:AlternateContent>
          </a:graphicData>
        </a:graphic>
      </p:graphicFrame>
      <p:sp>
        <p:nvSpPr>
          <p:cNvPr id="29700" name="文本框 29699"/>
          <p:cNvSpPr txBox="1"/>
          <p:nvPr/>
        </p:nvSpPr>
        <p:spPr>
          <a:xfrm>
            <a:off x="457200" y="1371600"/>
            <a:ext cx="8280400" cy="953135"/>
          </a:xfrm>
          <a:prstGeom prst="rect">
            <a:avLst/>
          </a:prstGeom>
          <a:noFill/>
          <a:ln w="9525">
            <a:noFill/>
            <a:miter/>
          </a:ln>
        </p:spPr>
        <p:txBody>
          <a:bodyPr>
            <a:spAutoFit/>
          </a:bodyPr>
          <a:lstStyle/>
          <a:p>
            <a:pPr marR="0" defTabSz="914400">
              <a:spcBef>
                <a:spcPct val="50000"/>
              </a:spcBef>
              <a:buClrTx/>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Transfer function H(z) equal</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s to z-transform of the impulse response h[n].</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9701" name="文本框 29700"/>
          <p:cNvSpPr txBox="1"/>
          <p:nvPr/>
        </p:nvSpPr>
        <p:spPr>
          <a:xfrm>
            <a:off x="457200" y="2325688"/>
            <a:ext cx="7775575" cy="1383665"/>
          </a:xfrm>
          <a:prstGeom prst="rect">
            <a:avLst/>
          </a:prstGeom>
          <a:noFill/>
          <a:ln w="9525">
            <a:noFill/>
            <a:miter/>
          </a:ln>
        </p:spPr>
        <p:txBody>
          <a:bodyPr>
            <a:spAutoFit/>
          </a:bodyPr>
          <a:lstStyle/>
          <a:p>
            <a:pPr marR="0" defTabSz="914400">
              <a:spcBef>
                <a:spcPct val="50000"/>
              </a:spcBef>
              <a:buClrTx/>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According to the difference equation of the system, the transfer function of the system can be obtained by：</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9702" name="文本框 29701"/>
          <p:cNvSpPr txBox="1"/>
          <p:nvPr/>
        </p:nvSpPr>
        <p:spPr>
          <a:xfrm>
            <a:off x="468313" y="4653280"/>
            <a:ext cx="7621588" cy="1383665"/>
          </a:xfrm>
          <a:prstGeom prst="rect">
            <a:avLst/>
          </a:prstGeom>
          <a:noFill/>
          <a:ln w="9525">
            <a:noFill/>
            <a:miter/>
          </a:ln>
        </p:spPr>
        <p:txBody>
          <a:bodyPr>
            <a:spAutoFit/>
          </a:bodyPr>
          <a:lstStyle/>
          <a:p>
            <a:pPr marR="0" defTabSz="914400">
              <a:spcBef>
                <a:spcPct val="50000"/>
              </a:spcBef>
              <a:buClrTx/>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According to the transfer function, the zero- pole plot of the system is drawn to judge the stability of the system.</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blinds(horizontal)">
                                      <p:cBhvr>
                                        <p:cTn id="7" dur="500"/>
                                        <p:tgtEl>
                                          <p:spTgt spid="2970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9701"/>
                                        </p:tgtEl>
                                        <p:attrNameLst>
                                          <p:attrName>style.visibility</p:attrName>
                                        </p:attrNameLst>
                                      </p:cBhvr>
                                      <p:to>
                                        <p:strVal val="visible"/>
                                      </p:to>
                                    </p:set>
                                    <p:anim calcmode="lin" valueType="num">
                                      <p:cBhvr>
                                        <p:cTn id="12" dur="500" fill="hold"/>
                                        <p:tgtEl>
                                          <p:spTgt spid="29701"/>
                                        </p:tgtEl>
                                        <p:attrNameLst>
                                          <p:attrName>ppt_x</p:attrName>
                                        </p:attrNameLst>
                                      </p:cBhvr>
                                      <p:tavLst>
                                        <p:tav tm="0">
                                          <p:val>
                                            <p:strVal val="#ppt_x"/>
                                          </p:val>
                                        </p:tav>
                                        <p:tav tm="100000">
                                          <p:val>
                                            <p:strVal val="#ppt_x"/>
                                          </p:val>
                                        </p:tav>
                                      </p:tavLst>
                                    </p:anim>
                                    <p:anim calcmode="lin" valueType="num">
                                      <p:cBhvr>
                                        <p:cTn id="13" dur="500" fill="hold"/>
                                        <p:tgtEl>
                                          <p:spTgt spid="2970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9699"/>
                                        </p:tgtEl>
                                        <p:attrNameLst>
                                          <p:attrName>style.visibility</p:attrName>
                                        </p:attrNameLst>
                                      </p:cBhvr>
                                      <p:to>
                                        <p:strVal val="visible"/>
                                      </p:to>
                                    </p:set>
                                    <p:anim calcmode="lin" valueType="num">
                                      <p:cBhvr>
                                        <p:cTn id="18" dur="500" fill="hold"/>
                                        <p:tgtEl>
                                          <p:spTgt spid="29699"/>
                                        </p:tgtEl>
                                        <p:attrNameLst>
                                          <p:attrName>ppt_x</p:attrName>
                                        </p:attrNameLst>
                                      </p:cBhvr>
                                      <p:tavLst>
                                        <p:tav tm="0">
                                          <p:val>
                                            <p:strVal val="#ppt_x"/>
                                          </p:val>
                                        </p:tav>
                                        <p:tav tm="100000">
                                          <p:val>
                                            <p:strVal val="#ppt_x"/>
                                          </p:val>
                                        </p:tav>
                                      </p:tavLst>
                                    </p:anim>
                                    <p:anim calcmode="lin" valueType="num">
                                      <p:cBhvr>
                                        <p:cTn id="19" dur="500" fill="hold"/>
                                        <p:tgtEl>
                                          <p:spTgt spid="2969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9702"/>
                                        </p:tgtEl>
                                        <p:attrNameLst>
                                          <p:attrName>style.visibility</p:attrName>
                                        </p:attrNameLst>
                                      </p:cBhvr>
                                      <p:to>
                                        <p:strVal val="visible"/>
                                      </p:to>
                                    </p:set>
                                    <p:anim calcmode="lin" valueType="num">
                                      <p:cBhvr>
                                        <p:cTn id="24" dur="500" fill="hold"/>
                                        <p:tgtEl>
                                          <p:spTgt spid="29702"/>
                                        </p:tgtEl>
                                        <p:attrNameLst>
                                          <p:attrName>ppt_x</p:attrName>
                                        </p:attrNameLst>
                                      </p:cBhvr>
                                      <p:tavLst>
                                        <p:tav tm="0">
                                          <p:val>
                                            <p:strVal val="#ppt_x"/>
                                          </p:val>
                                        </p:tav>
                                        <p:tav tm="100000">
                                          <p:val>
                                            <p:strVal val="#ppt_x"/>
                                          </p:val>
                                        </p:tav>
                                      </p:tavLst>
                                    </p:anim>
                                    <p:anim calcmode="lin" valueType="num">
                                      <p:cBhvr>
                                        <p:cTn id="25" dur="500" fill="hold"/>
                                        <p:tgtEl>
                                          <p:spTgt spid="297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P spid="29701" grpId="0"/>
      <p:bldP spid="2970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标题 13313"/>
          <p:cNvSpPr/>
          <p:nvPr>
            <p:ph type="title"/>
          </p:nvPr>
        </p:nvSpPr>
        <p:spPr>
          <a:xfrm>
            <a:off x="457200" y="115888"/>
            <a:ext cx="8229600" cy="796925"/>
          </a:xfrm>
        </p:spPr>
        <p:txBody>
          <a:bodyPr vert="horz" wrap="square" lIns="91440" tIns="45720" rIns="91440" bIns="45720" anchor="ctr" anchorCtr="0"/>
          <a:p>
            <a:pPr eaLnBrk="1" hangingPunct="1"/>
            <a:r>
              <a:rPr lang="en-US" altLang="zh-CN" sz="4000" dirty="0">
                <a:latin typeface="Times New Roman" panose="02020503050405090304" pitchFamily="18" charset="0"/>
                <a:ea typeface="楷体" pitchFamily="49" charset="-122"/>
              </a:rPr>
              <a:t>2 Frequency Response</a:t>
            </a:r>
            <a:endParaRPr lang="en-US" altLang="zh-CN" sz="4000" dirty="0">
              <a:latin typeface="Times New Roman" panose="02020503050405090304" pitchFamily="18" charset="0"/>
              <a:ea typeface="楷体" pitchFamily="49" charset="-122"/>
            </a:endParaRPr>
          </a:p>
        </p:txBody>
      </p:sp>
      <p:graphicFrame>
        <p:nvGraphicFramePr>
          <p:cNvPr id="13315" name="对象 13314"/>
          <p:cNvGraphicFramePr>
            <a:graphicFrameLocks noChangeAspect="1"/>
          </p:cNvGraphicFramePr>
          <p:nvPr/>
        </p:nvGraphicFramePr>
        <p:xfrm>
          <a:off x="2919413" y="4211638"/>
          <a:ext cx="2790825" cy="681037"/>
        </p:xfrm>
        <a:graphic>
          <a:graphicData uri="http://schemas.openxmlformats.org/presentationml/2006/ole">
            <mc:AlternateContent xmlns:mc="http://schemas.openxmlformats.org/markup-compatibility/2006">
              <mc:Choice xmlns:v="urn:schemas-microsoft-com:vml" Requires="v">
                <p:oleObj spid="_x0000_s3076" name="" r:id="rId1" imgW="1258570" imgH="254000" progId="Equation.3">
                  <p:embed/>
                </p:oleObj>
              </mc:Choice>
              <mc:Fallback>
                <p:oleObj name="" r:id="rId1" imgW="1258570" imgH="254000" progId="Equation.3">
                  <p:embed/>
                  <p:pic>
                    <p:nvPicPr>
                      <p:cNvPr id="0" name="图片 3075"/>
                      <p:cNvPicPr/>
                      <p:nvPr/>
                    </p:nvPicPr>
                    <p:blipFill>
                      <a:blip r:embed="rId2"/>
                      <a:stretch>
                        <a:fillRect/>
                      </a:stretch>
                    </p:blipFill>
                    <p:spPr>
                      <a:xfrm>
                        <a:off x="2919413" y="4211638"/>
                        <a:ext cx="2790825" cy="681037"/>
                      </a:xfrm>
                      <a:prstGeom prst="rect">
                        <a:avLst/>
                      </a:prstGeom>
                      <a:solidFill>
                        <a:srgbClr val="FFFFFF"/>
                      </a:solidFill>
                      <a:ln w="38100">
                        <a:noFill/>
                        <a:miter/>
                      </a:ln>
                    </p:spPr>
                  </p:pic>
                </p:oleObj>
              </mc:Fallback>
            </mc:AlternateContent>
          </a:graphicData>
        </a:graphic>
      </p:graphicFrame>
      <p:sp>
        <p:nvSpPr>
          <p:cNvPr id="13320" name="文本框 13319"/>
          <p:cNvSpPr txBox="1"/>
          <p:nvPr/>
        </p:nvSpPr>
        <p:spPr>
          <a:xfrm>
            <a:off x="390525" y="1425575"/>
            <a:ext cx="7848600" cy="953135"/>
          </a:xfrm>
          <a:prstGeom prst="rect">
            <a:avLst/>
          </a:prstGeom>
          <a:noFill/>
          <a:ln w="9525">
            <a:noFill/>
            <a:miter/>
          </a:ln>
        </p:spPr>
        <p:txBody>
          <a:bodyPr>
            <a:spAutoFit/>
          </a:bodyPr>
          <a:lstStyle/>
          <a:p>
            <a:pPr marR="0" defTabSz="914400">
              <a:spcBef>
                <a:spcPct val="50000"/>
              </a:spcBef>
              <a:buClrTx/>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frequency response  H(e</a:t>
            </a:r>
            <a:r>
              <a:rPr kumimoji="0" lang="en-US" altLang="zh-CN" sz="2800" b="1" kern="1200" cap="none" spc="0" normalizeH="0" baseline="30000" noProof="1">
                <a:effectLst>
                  <a:outerShdw blurRad="38100" dist="38100" dir="2700000">
                    <a:srgbClr val="C0C0C0"/>
                  </a:outerShdw>
                </a:effectLst>
                <a:latin typeface="Times New Roman" panose="02020503050405090304" pitchFamily="18" charset="0"/>
                <a:ea typeface="楷体" pitchFamily="49" charset="-122"/>
                <a:cs typeface="+mn-ea"/>
                <a:sym typeface="+mn-ea"/>
              </a:rPr>
              <a:t>j</a:t>
            </a:r>
            <a:r>
              <a:rPr kumimoji="0" lang="en-US" altLang="zh-CN" sz="2800" b="1" kern="1200" cap="none" spc="0" normalizeH="0" baseline="30000" noProof="1">
                <a:effectLst>
                  <a:outerShdw blurRad="38100" dist="38100" dir="2700000">
                    <a:srgbClr val="C0C0C0"/>
                  </a:outerShdw>
                </a:effectLst>
                <a:latin typeface="Times" panose="00000500000000020000" charset="0"/>
                <a:ea typeface="楷体" pitchFamily="49" charset="-122"/>
                <a:cs typeface="Times" panose="00000500000000020000" charset="0"/>
                <a:sym typeface="+mn-ea"/>
              </a:rPr>
              <a:t>ω</a:t>
            </a:r>
            <a:r>
              <a:rPr kumimoji="0" lang="en-US" altLang="zh-CN" sz="2800" b="1" kern="1200" cap="none" spc="0" normalizeH="0" baseline="0" noProof="1">
                <a:effectLst>
                  <a:outerShdw blurRad="38100" dist="38100" dir="2700000">
                    <a:srgbClr val="C0C0C0"/>
                  </a:outerShdw>
                </a:effectLst>
                <a:latin typeface="Times" panose="00000500000000020000" charset="0"/>
                <a:ea typeface="楷体" pitchFamily="49" charset="-122"/>
                <a:cs typeface="Times" panose="00000500000000020000" charset="0"/>
                <a:sym typeface="+mn-ea"/>
              </a:rPr>
              <a: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a:t>
            </a:r>
            <a:r>
              <a:rPr lang="en-US" altLang="zh-CN" sz="2800" b="1">
                <a:effectLst>
                  <a:outerShdw blurRad="38100" dist="38100" dir="2700000">
                    <a:srgbClr val="C0C0C0"/>
                  </a:outerShdw>
                </a:effectLst>
                <a:ea typeface="楷体" pitchFamily="49" charset="-122"/>
                <a:cs typeface="+mn-ea"/>
                <a:sym typeface="+mn-ea"/>
              </a:rPr>
              <a:t>equal</a:t>
            </a:r>
            <a:r>
              <a:rPr lang="en-US" altLang="zh-CN" sz="2800" b="1">
                <a:effectLst>
                  <a:outerShdw blurRad="38100" dist="38100" dir="2700000">
                    <a:srgbClr val="C0C0C0"/>
                  </a:outerShdw>
                </a:effectLst>
                <a:ea typeface="楷体" pitchFamily="49" charset="-122"/>
                <a:cs typeface="+mn-ea"/>
                <a:sym typeface="+mn-ea"/>
              </a:rPr>
              <a:t>s to</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DTFT of the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impulse response h[n] .   </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13323" name="文本框 13322"/>
          <p:cNvSpPr txBox="1"/>
          <p:nvPr/>
        </p:nvSpPr>
        <p:spPr bwMode="auto">
          <a:xfrm>
            <a:off x="390525" y="3330575"/>
            <a:ext cx="8713788" cy="954088"/>
          </a:xfrm>
          <a:prstGeom prst="rect">
            <a:avLst/>
          </a:prstGeom>
          <a:noFill/>
          <a:ln w="9525">
            <a:noFill/>
            <a:miter/>
          </a:ln>
        </p:spPr>
        <p:txBody>
          <a:bodyPr wrap="square">
            <a:spAutoFit/>
          </a:bodyPr>
          <a:lstStyle/>
          <a:p>
            <a:pPr marR="0" defTabSz="914400">
              <a:spcBef>
                <a:spcPct val="20000"/>
              </a:spcBef>
              <a:buClr>
                <a:schemeClr val="tx1"/>
              </a:buClr>
              <a:buSzTx/>
              <a:buFont typeface="Wingdings" panose="05000000000000000000" pitchFamily="2" charset="2"/>
              <a:buChar char="u"/>
              <a:defRPr/>
            </a:pPr>
            <a:r>
              <a:rPr kumimoji="0" lang="en-US" altLang="zh-CN" sz="2800" b="1" kern="1200" cap="none" spc="0" normalizeH="0" baseline="0" noProof="1" dirty="0">
                <a:latin typeface="Times New Roman" panose="02020503050405090304" pitchFamily="18" charset="0"/>
                <a:ea typeface="楷体" pitchFamily="49" charset="-122"/>
                <a:cs typeface="+mn-cs"/>
                <a:sym typeface="+mn-ea"/>
              </a:rPr>
              <a:t>The frequency response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H(e</a:t>
            </a:r>
            <a:r>
              <a:rPr kumimoji="0" lang="en-US" altLang="zh-CN" sz="2800" b="1" kern="1200" cap="none" spc="0" normalizeH="0" baseline="30000" noProof="1">
                <a:effectLst>
                  <a:outerShdw blurRad="38100" dist="38100" dir="2700000">
                    <a:srgbClr val="C0C0C0"/>
                  </a:outerShdw>
                </a:effectLst>
                <a:latin typeface="Times New Roman" panose="02020503050405090304" pitchFamily="18" charset="0"/>
                <a:ea typeface="楷体" pitchFamily="49" charset="-122"/>
                <a:cs typeface="+mn-ea"/>
                <a:sym typeface="+mn-ea"/>
              </a:rPr>
              <a:t>j</a:t>
            </a:r>
            <a:r>
              <a:rPr kumimoji="0" lang="en-US" altLang="zh-CN" sz="2800" b="1" kern="1200" cap="none" spc="0" normalizeH="0" baseline="30000" noProof="1">
                <a:effectLst>
                  <a:outerShdw blurRad="38100" dist="38100" dir="2700000">
                    <a:srgbClr val="C0C0C0"/>
                  </a:outerShdw>
                </a:effectLst>
                <a:latin typeface="Times" panose="00000500000000020000" charset="0"/>
                <a:ea typeface="楷体" pitchFamily="49" charset="-122"/>
                <a:cs typeface="Times" panose="00000500000000020000" charset="0"/>
                <a:sym typeface="+mn-ea"/>
              </a:rPr>
              <a:t>ω</a:t>
            </a:r>
            <a:r>
              <a:rPr kumimoji="0" lang="en-US" altLang="zh-CN" sz="2800" b="1" kern="1200" cap="none" spc="0" normalizeH="0" baseline="0" noProof="1">
                <a:effectLst>
                  <a:outerShdw blurRad="38100" dist="38100" dir="2700000">
                    <a:srgbClr val="C0C0C0"/>
                  </a:outerShdw>
                </a:effectLst>
                <a:latin typeface="Times" panose="00000500000000020000" charset="0"/>
                <a:ea typeface="楷体" pitchFamily="49" charset="-122"/>
                <a:cs typeface="Times" panose="00000500000000020000" charset="0"/>
                <a:sym typeface="+mn-ea"/>
              </a:rPr>
              <a:t>)</a:t>
            </a:r>
            <a:r>
              <a:rPr kumimoji="0" lang="en-US" altLang="zh-CN" sz="2800" b="1" kern="1200" cap="none" spc="0" normalizeH="0" baseline="0" noProof="1" dirty="0">
                <a:latin typeface="Times New Roman" panose="02020503050405090304" pitchFamily="18" charset="0"/>
                <a:ea typeface="楷体" pitchFamily="49" charset="-122"/>
                <a:cs typeface="+mn-cs"/>
                <a:sym typeface="+mn-ea"/>
              </a:rPr>
              <a:t> can be obtained from the transfer function H(z) of the system ：</a:t>
            </a:r>
            <a:endParaRPr kumimoji="0" lang="zh-CN" altLang="en-US" sz="2800" b="1" kern="1200" cap="none" spc="0" normalizeH="0" baseline="0" noProof="1">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endParaRPr>
          </a:p>
        </p:txBody>
      </p:sp>
      <p:sp>
        <p:nvSpPr>
          <p:cNvPr id="13324" name="文本框 13323"/>
          <p:cNvSpPr txBox="1"/>
          <p:nvPr/>
        </p:nvSpPr>
        <p:spPr>
          <a:xfrm>
            <a:off x="390525" y="4892675"/>
            <a:ext cx="8286750" cy="1383665"/>
          </a:xfrm>
          <a:prstGeom prst="rect">
            <a:avLst/>
          </a:prstGeom>
          <a:noFill/>
          <a:ln w="9525">
            <a:noFill/>
          </a:ln>
        </p:spPr>
        <p:txBody>
          <a:bodyPr wrap="square" anchor="t" anchorCtr="0">
            <a:spAutoFit/>
          </a:bodyPr>
          <a:p>
            <a:pPr indent="0" defTabSz="914400">
              <a:buFont typeface="Wingdings" panose="05000000000000000000" pitchFamily="2" charset="2"/>
              <a:buChar char="u"/>
            </a:pPr>
            <a:r>
              <a:rPr lang="en-US" altLang="zh-CN" sz="2800" b="1" dirty="0">
                <a:latin typeface="Times New Roman" panose="02020503050405090304" pitchFamily="18" charset="0"/>
                <a:ea typeface="楷体" pitchFamily="49" charset="-122"/>
              </a:rPr>
              <a:t>Two components of the frequency response: magnitude response and phase </a:t>
            </a:r>
            <a:r>
              <a:rPr lang="en-US" altLang="zh-CN" sz="2800" b="1" dirty="0">
                <a:latin typeface="Times New Roman" panose="02020503050405090304" pitchFamily="18" charset="0"/>
                <a:ea typeface="楷体" pitchFamily="49" charset="-122"/>
              </a:rPr>
              <a:t>response.</a:t>
            </a:r>
            <a:endParaRPr lang="en-US" altLang="zh-CN" sz="2800" b="1" dirty="0">
              <a:latin typeface="Times New Roman" panose="02020503050405090304" pitchFamily="18" charset="0"/>
              <a:ea typeface="楷体" pitchFamily="49" charset="-122"/>
            </a:endParaRPr>
          </a:p>
          <a:p>
            <a:pPr indent="0" defTabSz="914400">
              <a:buFont typeface="Wingdings" panose="05000000000000000000" pitchFamily="2" charset="2"/>
            </a:pPr>
            <a:endParaRPr lang="en-US" altLang="zh-CN" sz="2800" b="1" dirty="0">
              <a:latin typeface="Times New Roman" panose="02020503050405090304" pitchFamily="18" charset="0"/>
              <a:ea typeface="楷体" pitchFamily="49" charset="-122"/>
            </a:endParaRPr>
          </a:p>
        </p:txBody>
      </p:sp>
      <p:sp>
        <p:nvSpPr>
          <p:cNvPr id="18444" name="文本框 1"/>
          <p:cNvSpPr txBox="1"/>
          <p:nvPr/>
        </p:nvSpPr>
        <p:spPr>
          <a:xfrm>
            <a:off x="360363" y="2378075"/>
            <a:ext cx="8316912" cy="953135"/>
          </a:xfrm>
          <a:prstGeom prst="rect">
            <a:avLst/>
          </a:prstGeom>
          <a:noFill/>
          <a:ln w="9525">
            <a:noFill/>
          </a:ln>
        </p:spPr>
        <p:txBody>
          <a:bodyPr anchor="t" anchorCtr="0">
            <a:spAutoFit/>
          </a:bodyPr>
          <a:p>
            <a:pPr marL="285750" indent="-285750">
              <a:buFont typeface="Wingdings" panose="05000000000000000000" pitchFamily="2" charset="2"/>
              <a:buChar char="u"/>
            </a:pPr>
            <a:r>
              <a:rPr lang="en-US" altLang="zh-CN" sz="2800" b="1" dirty="0">
                <a:latin typeface="Times New Roman" panose="02020503050405090304" pitchFamily="18" charset="0"/>
                <a:ea typeface="楷体" pitchFamily="49" charset="-122"/>
              </a:rPr>
              <a:t>The transfer function H (z) </a:t>
            </a:r>
            <a:r>
              <a:rPr lang="en-US" altLang="zh-CN" sz="2800" b="1">
                <a:effectLst>
                  <a:outerShdw blurRad="38100" dist="38100" dir="2700000">
                    <a:srgbClr val="C0C0C0"/>
                  </a:outerShdw>
                </a:effectLst>
                <a:ea typeface="楷体" pitchFamily="49" charset="-122"/>
                <a:cs typeface="+mn-ea"/>
                <a:sym typeface="+mn-ea"/>
              </a:rPr>
              <a:t>equals to </a:t>
            </a:r>
            <a:r>
              <a:rPr lang="en-US" altLang="zh-CN" sz="2800" b="1" dirty="0">
                <a:latin typeface="Times New Roman" panose="02020503050405090304" pitchFamily="18" charset="0"/>
                <a:ea typeface="楷体" pitchFamily="49" charset="-122"/>
              </a:rPr>
              <a:t>z-transform of </a:t>
            </a:r>
            <a:r>
              <a:rPr lang="en-US" altLang="zh-CN" sz="2800" b="1">
                <a:effectLst>
                  <a:outerShdw blurRad="38100" dist="38100" dir="2700000">
                    <a:srgbClr val="C0C0C0"/>
                  </a:outerShdw>
                </a:effectLst>
                <a:ea typeface="楷体" pitchFamily="49" charset="-122"/>
                <a:cs typeface="+mn-ea"/>
                <a:sym typeface="+mn-ea"/>
              </a:rPr>
              <a:t>the impulse response</a:t>
            </a:r>
            <a:r>
              <a:rPr lang="en-US" altLang="zh-CN" sz="2800" b="1" dirty="0">
                <a:latin typeface="Times New Roman" panose="02020503050405090304" pitchFamily="18" charset="0"/>
                <a:ea typeface="楷体" pitchFamily="49" charset="-122"/>
              </a:rPr>
              <a:t> h[n].</a:t>
            </a:r>
            <a:endParaRPr lang="zh-CN" altLang="en-US" sz="2800" b="1" dirty="0">
              <a:latin typeface="Times New Roman" panose="02020503050405090304" pitchFamily="18" charset="0"/>
              <a:ea typeface="楷体" pitchFamily="49" charset="-122"/>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44"/>
                                        </p:tgtEl>
                                        <p:attrNameLst>
                                          <p:attrName>style.visibility</p:attrName>
                                        </p:attrNameLst>
                                      </p:cBhvr>
                                      <p:to>
                                        <p:strVal val="visible"/>
                                      </p:to>
                                    </p:set>
                                    <p:animEffect transition="in" filter="blinds(horizontal)">
                                      <p:cBhvr>
                                        <p:cTn id="7" dur="500"/>
                                        <p:tgtEl>
                                          <p:spTgt spid="1844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315"/>
                                        </p:tgtEl>
                                        <p:attrNameLst>
                                          <p:attrName>style.visibility</p:attrName>
                                        </p:attrNameLst>
                                      </p:cBhvr>
                                      <p:to>
                                        <p:strVal val="visible"/>
                                      </p:to>
                                    </p:set>
                                    <p:anim calcmode="lin" valueType="num">
                                      <p:cBhvr additive="base">
                                        <p:cTn id="12" dur="500" fill="hold"/>
                                        <p:tgtEl>
                                          <p:spTgt spid="13315"/>
                                        </p:tgtEl>
                                        <p:attrNameLst>
                                          <p:attrName>ppt_x</p:attrName>
                                        </p:attrNameLst>
                                      </p:cBhvr>
                                      <p:tavLst>
                                        <p:tav tm="0">
                                          <p:val>
                                            <p:strVal val="#ppt_x"/>
                                          </p:val>
                                        </p:tav>
                                        <p:tav tm="100000">
                                          <p:val>
                                            <p:strVal val="#ppt_x"/>
                                          </p:val>
                                        </p:tav>
                                      </p:tavLst>
                                    </p:anim>
                                    <p:anim calcmode="lin" valueType="num">
                                      <p:cBhvr additive="base">
                                        <p:cTn id="13" dur="500" fill="hold"/>
                                        <p:tgtEl>
                                          <p:spTgt spid="1331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3324"/>
                                        </p:tgtEl>
                                        <p:attrNameLst>
                                          <p:attrName>style.visibility</p:attrName>
                                        </p:attrNameLst>
                                      </p:cBhvr>
                                      <p:to>
                                        <p:strVal val="visible"/>
                                      </p:to>
                                    </p:set>
                                    <p:anim calcmode="lin" valueType="num">
                                      <p:cBhvr additive="base">
                                        <p:cTn id="18" dur="500" fill="hold"/>
                                        <p:tgtEl>
                                          <p:spTgt spid="13324"/>
                                        </p:tgtEl>
                                        <p:attrNameLst>
                                          <p:attrName>ppt_x</p:attrName>
                                        </p:attrNameLst>
                                      </p:cBhvr>
                                      <p:tavLst>
                                        <p:tav tm="0">
                                          <p:val>
                                            <p:strVal val="#ppt_x"/>
                                          </p:val>
                                        </p:tav>
                                        <p:tav tm="100000">
                                          <p:val>
                                            <p:strVal val="#ppt_x"/>
                                          </p:val>
                                        </p:tav>
                                      </p:tavLst>
                                    </p:anim>
                                    <p:anim calcmode="lin" valueType="num">
                                      <p:cBhvr additive="base">
                                        <p:cTn id="19" dur="500" fill="hold"/>
                                        <p:tgtEl>
                                          <p:spTgt spid="133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4" grpId="0"/>
      <p:bldP spid="1844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标题 1"/>
          <p:cNvSpPr>
            <a:spLocks noGrp="1"/>
          </p:cNvSpPr>
          <p:nvPr>
            <p:ph type="title"/>
          </p:nvPr>
        </p:nvSpPr>
        <p:spPr>
          <a:xfrm>
            <a:off x="596900" y="168275"/>
            <a:ext cx="8229600" cy="1131888"/>
          </a:xfrm>
        </p:spPr>
        <p:txBody>
          <a:bodyPr anchor="ctr" anchorCtr="0"/>
          <a:p>
            <a:r>
              <a:rPr lang="en-US" altLang="zh-CN" sz="4000" dirty="0">
                <a:latin typeface="Times New Roman" panose="02020503050405090304" pitchFamily="18" charset="0"/>
                <a:ea typeface="楷体" pitchFamily="49" charset="-122"/>
              </a:rPr>
              <a:t>2 Frequency Response</a:t>
            </a:r>
            <a:endParaRPr lang="zh-CN" altLang="en-US" sz="4000"/>
          </a:p>
        </p:txBody>
      </p:sp>
      <p:sp>
        <p:nvSpPr>
          <p:cNvPr id="20482" name="内容占位符 2"/>
          <p:cNvSpPr>
            <a:spLocks noGrp="1"/>
          </p:cNvSpPr>
          <p:nvPr>
            <p:ph idx="1"/>
          </p:nvPr>
        </p:nvSpPr>
        <p:spPr/>
        <p:txBody>
          <a:bodyPr anchor="t" anchorCtr="0"/>
          <a:p>
            <a:r>
              <a:rPr lang="en-US" altLang="zh-CN" sz="2800" b="1" dirty="0">
                <a:latin typeface="Times New Roman" panose="02020503050405090304" pitchFamily="18" charset="0"/>
                <a:ea typeface="楷体" pitchFamily="49" charset="-122"/>
                <a:sym typeface="宋体" pitchFamily="2" charset="-122"/>
              </a:rPr>
              <a:t>Magnitude</a:t>
            </a:r>
            <a:r>
              <a:rPr lang="en-US" altLang="zh-CN" sz="2800" b="1" dirty="0">
                <a:latin typeface="Times New Roman" panose="02020503050405090304" pitchFamily="18" charset="0"/>
                <a:ea typeface="楷体" pitchFamily="49" charset="-122"/>
              </a:rPr>
              <a:t> response characteristics: the magnitude response can be qualitatively analyzed by zero-pole positions</a:t>
            </a:r>
            <a:r>
              <a:rPr lang="zh-CN" altLang="en-US" sz="2800" b="1" dirty="0">
                <a:latin typeface="Times New Roman" panose="02020503050405090304" pitchFamily="18" charset="0"/>
                <a:ea typeface="楷体" pitchFamily="49" charset="-122"/>
              </a:rPr>
              <a:t>（</a:t>
            </a:r>
            <a:r>
              <a:rPr lang="en-US" altLang="zh-CN" sz="2800" b="1" dirty="0">
                <a:latin typeface="Times New Roman" panose="02020503050405090304" pitchFamily="18" charset="0"/>
                <a:ea typeface="楷体" pitchFamily="49" charset="-122"/>
              </a:rPr>
              <a:t>frequency response geometric interpretation</a:t>
            </a:r>
            <a:r>
              <a:rPr lang="zh-CN" altLang="en-US" sz="2800" b="1" dirty="0">
                <a:latin typeface="Times New Roman" panose="02020503050405090304" pitchFamily="18" charset="0"/>
                <a:ea typeface="楷体" pitchFamily="49" charset="-122"/>
              </a:rPr>
              <a:t>）</a:t>
            </a:r>
            <a:r>
              <a:rPr lang="en-US" altLang="zh-CN" sz="2800" b="1" dirty="0">
                <a:latin typeface="Times New Roman" panose="02020503050405090304" pitchFamily="18" charset="0"/>
                <a:ea typeface="楷体" pitchFamily="49" charset="-122"/>
              </a:rPr>
              <a:t>.</a:t>
            </a:r>
            <a:endParaRPr lang="en-US" altLang="zh-CN" sz="2800" b="1" dirty="0">
              <a:latin typeface="Times New Roman" panose="02020503050405090304" pitchFamily="18" charset="0"/>
              <a:ea typeface="楷体" pitchFamily="49" charset="-122"/>
            </a:endParaRPr>
          </a:p>
          <a:p>
            <a:r>
              <a:rPr lang="en-US" altLang="zh-CN" sz="2800" b="1" dirty="0">
                <a:latin typeface="Times New Roman" panose="02020503050405090304" pitchFamily="18" charset="0"/>
                <a:ea typeface="楷体" pitchFamily="49" charset="-122"/>
              </a:rPr>
              <a:t>Phase response characteristics: understanding the concepts of zero </a:t>
            </a:r>
            <a:r>
              <a:rPr lang="en-US" altLang="zh-CN" sz="2800" b="1" dirty="0">
                <a:latin typeface="Times New Roman" panose="02020503050405090304" pitchFamily="18" charset="0"/>
                <a:ea typeface="楷体" pitchFamily="49" charset="-122"/>
              </a:rPr>
              <a:t>phase,linear phase,maximam phase and minmum phase systems.</a:t>
            </a:r>
            <a:endParaRPr lang="en-US" altLang="zh-CN" sz="2800" b="1" dirty="0">
              <a:latin typeface="Times New Roman" panose="02020503050405090304" pitchFamily="18" charset="0"/>
              <a:ea typeface="楷体"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标题 14337"/>
          <p:cNvSpPr/>
          <p:nvPr>
            <p:ph type="title"/>
          </p:nvPr>
        </p:nvSpPr>
        <p:spPr>
          <a:xfrm>
            <a:off x="609600" y="241300"/>
            <a:ext cx="7772400" cy="1143000"/>
          </a:xfrm>
        </p:spPr>
        <p:txBody>
          <a:bodyPr vert="horz" wrap="square" lIns="91440" tIns="45720" rIns="91440" bIns="45720" anchor="ctr" anchorCtr="0"/>
          <a:p>
            <a:pPr eaLnBrk="1" hangingPunct="1"/>
            <a:r>
              <a:rPr lang="zh-CN" altLang="en-US" sz="4000" dirty="0">
                <a:latin typeface="Times New Roman" panose="02020503050405090304" pitchFamily="18" charset="0"/>
                <a:ea typeface="楷体" pitchFamily="49" charset="-122"/>
              </a:rPr>
              <a:t>3.</a:t>
            </a:r>
            <a:r>
              <a:rPr lang="en-US" altLang="zh-CN" sz="4000" dirty="0">
                <a:latin typeface="Times New Roman" panose="02020503050405090304" pitchFamily="18" charset="0"/>
                <a:ea typeface="楷体" pitchFamily="49" charset="-122"/>
              </a:rPr>
              <a:t> Other Concepts</a:t>
            </a:r>
            <a:endParaRPr lang="en-US" altLang="zh-CN" sz="4000" dirty="0">
              <a:latin typeface="Times New Roman" panose="02020503050405090304" pitchFamily="18" charset="0"/>
              <a:ea typeface="楷体" pitchFamily="49" charset="-122"/>
            </a:endParaRPr>
          </a:p>
        </p:txBody>
      </p:sp>
      <p:sp>
        <p:nvSpPr>
          <p:cNvPr id="14339" name="文本占位符 14338"/>
          <p:cNvSpPr>
            <a:spLocks noGrp="1"/>
          </p:cNvSpPr>
          <p:nvPr>
            <p:ph idx="1"/>
          </p:nvPr>
        </p:nvSpPr>
        <p:spPr>
          <a:xfrm>
            <a:off x="533400" y="1898650"/>
            <a:ext cx="7924800" cy="4197350"/>
          </a:xfrm>
          <a:ln>
            <a:miter/>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Char char="•"/>
              <a:defRPr/>
            </a:pPr>
            <a:r>
              <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Energy Spectral Density </a:t>
            </a:r>
            <a:endPar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Char char="•"/>
              <a:defRPr/>
            </a:pPr>
            <a:r>
              <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Band Limited Discrete Time Signals</a:t>
            </a:r>
            <a:endPar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Char char="•"/>
              <a:defRPr/>
            </a:pPr>
            <a:r>
              <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Unwrapped Phase Function </a:t>
            </a:r>
            <a:endPar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Char char="•"/>
              <a:defRPr/>
            </a:pPr>
            <a:r>
              <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Phase Delay and Group Delay</a:t>
            </a:r>
            <a:endPar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9">
                                            <p:txEl>
                                              <p:charRg st="0" end="29"/>
                                            </p:txEl>
                                          </p:spTgt>
                                        </p:tgtEl>
                                        <p:attrNameLst>
                                          <p:attrName>style.visibility</p:attrName>
                                        </p:attrNameLst>
                                      </p:cBhvr>
                                      <p:to>
                                        <p:strVal val="visible"/>
                                      </p:to>
                                    </p:set>
                                    <p:anim calcmode="lin" valueType="num">
                                      <p:cBhvr additive="base">
                                        <p:cTn id="7" dur="500" fill="hold"/>
                                        <p:tgtEl>
                                          <p:spTgt spid="14339">
                                            <p:txEl>
                                              <p:charRg st="0" end="2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charRg st="0" end="2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9">
                                            <p:txEl>
                                              <p:charRg st="29" end="68"/>
                                            </p:txEl>
                                          </p:spTgt>
                                        </p:tgtEl>
                                        <p:attrNameLst>
                                          <p:attrName>style.visibility</p:attrName>
                                        </p:attrNameLst>
                                      </p:cBhvr>
                                      <p:to>
                                        <p:strVal val="visible"/>
                                      </p:to>
                                    </p:set>
                                    <p:anim calcmode="lin" valueType="num">
                                      <p:cBhvr additive="base">
                                        <p:cTn id="13" dur="500" fill="hold"/>
                                        <p:tgtEl>
                                          <p:spTgt spid="14339">
                                            <p:txEl>
                                              <p:charRg st="29" end="6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9">
                                            <p:txEl>
                                              <p:charRg st="29" end="6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39">
                                            <p:txEl>
                                              <p:charRg st="68" end="98"/>
                                            </p:txEl>
                                          </p:spTgt>
                                        </p:tgtEl>
                                        <p:attrNameLst>
                                          <p:attrName>style.visibility</p:attrName>
                                        </p:attrNameLst>
                                      </p:cBhvr>
                                      <p:to>
                                        <p:strVal val="visible"/>
                                      </p:to>
                                    </p:set>
                                    <p:anim calcmode="lin" valueType="num">
                                      <p:cBhvr additive="base">
                                        <p:cTn id="19" dur="500" fill="hold"/>
                                        <p:tgtEl>
                                          <p:spTgt spid="14339">
                                            <p:txEl>
                                              <p:charRg st="68" end="9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339">
                                            <p:txEl>
                                              <p:charRg st="68" end="9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39">
                                            <p:txEl>
                                              <p:charRg st="85" end="113"/>
                                            </p:txEl>
                                          </p:spTgt>
                                        </p:tgtEl>
                                        <p:attrNameLst>
                                          <p:attrName>style.visibility</p:attrName>
                                        </p:attrNameLst>
                                      </p:cBhvr>
                                      <p:to>
                                        <p:strVal val="visible"/>
                                      </p:to>
                                    </p:set>
                                    <p:anim calcmode="lin" valueType="num">
                                      <p:cBhvr additive="base">
                                        <p:cTn id="25" dur="500" fill="hold"/>
                                        <p:tgtEl>
                                          <p:spTgt spid="14339">
                                            <p:txEl>
                                              <p:charRg st="85" end="11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9">
                                            <p:txEl>
                                              <p:charRg st="85" end="1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30721"/>
          <p:cNvSpPr/>
          <p:nvPr>
            <p:ph type="title"/>
          </p:nvPr>
        </p:nvSpPr>
        <p:spPr>
          <a:xfrm>
            <a:off x="103188" y="107950"/>
            <a:ext cx="9040812" cy="1131888"/>
          </a:xfrm>
        </p:spPr>
        <p:txBody>
          <a:bodyPr vert="horz" wrap="square" lIns="91440" tIns="45720" rIns="91440" bIns="45720" anchor="ctr" anchorCtr="0"/>
          <a:p>
            <a:pPr eaLnBrk="1" hangingPunct="1"/>
            <a:r>
              <a:rPr lang="en-US" altLang="zh-CN" sz="3600" dirty="0">
                <a:latin typeface="Times New Roman" panose="02020503050405090304" pitchFamily="18" charset="0"/>
                <a:ea typeface="楷体" pitchFamily="49" charset="-122"/>
              </a:rPr>
              <a:t>   4 FIR &amp; IIR System</a:t>
            </a:r>
            <a:r>
              <a:rPr lang="en-US" altLang="zh-CN" sz="4000" dirty="0">
                <a:latin typeface="Times New Roman" panose="02020503050405090304" pitchFamily="18" charset="0"/>
                <a:ea typeface="楷体" pitchFamily="49" charset="-122"/>
              </a:rPr>
              <a:t>  </a:t>
            </a:r>
            <a:endParaRPr lang="zh-CN" altLang="en-US" sz="4000" dirty="0">
              <a:latin typeface="Times New Roman" panose="02020503050405090304" pitchFamily="18" charset="0"/>
              <a:ea typeface="楷体" pitchFamily="49" charset="-122"/>
            </a:endParaRPr>
          </a:p>
        </p:txBody>
      </p:sp>
      <p:sp>
        <p:nvSpPr>
          <p:cNvPr id="30724" name="文本框 30723"/>
          <p:cNvSpPr txBox="1"/>
          <p:nvPr/>
        </p:nvSpPr>
        <p:spPr>
          <a:xfrm>
            <a:off x="755650" y="1412875"/>
            <a:ext cx="7993063" cy="2461260"/>
          </a:xfrm>
          <a:prstGeom prst="rect">
            <a:avLst/>
          </a:prstGeom>
          <a:noFill/>
          <a:ln w="9525">
            <a:noFill/>
            <a:miter/>
          </a:ln>
        </p:spPr>
        <p:txBody>
          <a:bodyPr wrap="square">
            <a:spAutoFit/>
          </a:bodyPr>
          <a:lstStyle/>
          <a:p>
            <a:pPr marR="0" defTabSz="914400">
              <a:spcBef>
                <a:spcPct val="50000"/>
              </a:spcBef>
              <a:buClrTx/>
              <a:buSzTx/>
              <a:buFont typeface="Wingdings" panose="05000000000000000000" pitchFamily="2" charset="2"/>
              <a:buChar char="l"/>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difference between FIR and IIR system</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s.</a:t>
            </a:r>
            <a:endPar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a:p>
            <a:pPr marR="0" defTabSz="914400">
              <a:spcBef>
                <a:spcPct val="50000"/>
              </a:spcBef>
              <a:buClrTx/>
              <a:buSzTx/>
              <a:buFont typeface="Wingdings" panose="05000000000000000000" pitchFamily="2" charset="2"/>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rPr>
              <a:t>（1）Input and output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rPr>
              <a:t>relationship</a:t>
            </a:r>
            <a:endPar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a:p>
            <a:pPr marR="0" defTabSz="914400">
              <a:spcBef>
                <a:spcPct val="50000"/>
              </a:spcBef>
              <a:buClrTx/>
              <a:buSzTx/>
              <a:buFont typeface="Wingdings" panose="05000000000000000000" pitchFamily="2" charset="2"/>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rPr>
              <a:t>（2）Transfer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rPr>
              <a:t>function</a:t>
            </a:r>
            <a:endPar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a:p>
            <a:pPr marR="0" defTabSz="914400">
              <a:spcBef>
                <a:spcPct val="50000"/>
              </a:spcBef>
              <a:buClrTx/>
              <a:buSzTx/>
              <a:buFont typeface="Wingdings" panose="05000000000000000000" pitchFamily="2" charset="2"/>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rPr>
              <a:t>（3）Zero-pole pl</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rPr>
              <a:t>ot</a:t>
            </a:r>
            <a:endPar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0725" name="文本框 30724"/>
          <p:cNvSpPr txBox="1"/>
          <p:nvPr/>
        </p:nvSpPr>
        <p:spPr>
          <a:xfrm>
            <a:off x="755650" y="4148773"/>
            <a:ext cx="7345363" cy="1383665"/>
          </a:xfrm>
          <a:prstGeom prst="rect">
            <a:avLst/>
          </a:prstGeom>
          <a:noFill/>
          <a:ln w="9525">
            <a:noFill/>
            <a:miter/>
          </a:ln>
        </p:spPr>
        <p:txBody>
          <a:bodyPr>
            <a:spAutoFit/>
          </a:bodyPr>
          <a:lstStyle/>
          <a:p>
            <a:pPr marR="0" defTabSz="914400">
              <a:spcBef>
                <a:spcPct val="50000"/>
              </a:spcBef>
              <a:buClrTx/>
              <a:buSzTx/>
              <a:buFont typeface="Wingdings" panose="05000000000000000000" pitchFamily="2" charset="2"/>
              <a:buChar char="l"/>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characteristics of 4 types linear phase FIR system and the determination of their zero </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locations.</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 name="五角星 2"/>
          <p:cNvSpPr/>
          <p:nvPr/>
        </p:nvSpPr>
        <p:spPr>
          <a:xfrm>
            <a:off x="7380605" y="260350"/>
            <a:ext cx="914400" cy="914400"/>
          </a:xfrm>
          <a:prstGeom prst="star5">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p:cTn id="7" dur="500" fill="hold"/>
                                        <p:tgtEl>
                                          <p:spTgt spid="30724"/>
                                        </p:tgtEl>
                                        <p:attrNameLst>
                                          <p:attrName>ppt_x</p:attrName>
                                        </p:attrNameLst>
                                      </p:cBhvr>
                                      <p:tavLst>
                                        <p:tav tm="0">
                                          <p:val>
                                            <p:strVal val="#ppt_x"/>
                                          </p:val>
                                        </p:tav>
                                        <p:tav tm="100000">
                                          <p:val>
                                            <p:strVal val="#ppt_x"/>
                                          </p:val>
                                        </p:tav>
                                      </p:tavLst>
                                    </p:anim>
                                    <p:anim calcmode="lin" valueType="num">
                                      <p:cBhvr>
                                        <p:cTn id="8"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5"/>
                                        </p:tgtEl>
                                        <p:attrNameLst>
                                          <p:attrName>style.visibility</p:attrName>
                                        </p:attrNameLst>
                                      </p:cBhvr>
                                      <p:to>
                                        <p:strVal val="visible"/>
                                      </p:to>
                                    </p:set>
                                    <p:anim calcmode="lin" valueType="num">
                                      <p:cBhvr>
                                        <p:cTn id="13" dur="500" fill="hold"/>
                                        <p:tgtEl>
                                          <p:spTgt spid="30725"/>
                                        </p:tgtEl>
                                        <p:attrNameLst>
                                          <p:attrName>ppt_x</p:attrName>
                                        </p:attrNameLst>
                                      </p:cBhvr>
                                      <p:tavLst>
                                        <p:tav tm="0">
                                          <p:val>
                                            <p:strVal val="#ppt_x"/>
                                          </p:val>
                                        </p:tav>
                                        <p:tav tm="100000">
                                          <p:val>
                                            <p:strVal val="#ppt_x"/>
                                          </p:val>
                                        </p:tav>
                                      </p:tavLst>
                                    </p:anim>
                                    <p:anim calcmode="lin" valueType="num">
                                      <p:cBhvr>
                                        <p:cTn id="14"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15361"/>
          <p:cNvSpPr/>
          <p:nvPr>
            <p:ph type="title"/>
          </p:nvPr>
        </p:nvSpPr>
        <p:spPr>
          <a:xfrm>
            <a:off x="457200" y="228600"/>
            <a:ext cx="8229600" cy="868363"/>
          </a:xfrm>
        </p:spPr>
        <p:txBody>
          <a:bodyPr vert="horz" wrap="square" lIns="91440" tIns="45720" rIns="91440" bIns="45720" anchor="ctr" anchorCtr="0"/>
          <a:p>
            <a:pPr eaLnBrk="1" hangingPunct="1"/>
            <a:r>
              <a:rPr lang="en-US" altLang="zh-CN" sz="4000" dirty="0">
                <a:latin typeface="Times New Roman" panose="02020503050405090304" pitchFamily="18" charset="0"/>
                <a:ea typeface="楷体" pitchFamily="49" charset="-122"/>
              </a:rPr>
              <a:t>Topic 5: Digital Processing of Continuous Signals</a:t>
            </a:r>
            <a:endParaRPr lang="en-US" altLang="zh-CN" sz="4000" dirty="0">
              <a:latin typeface="Times New Roman" panose="02020503050405090304" pitchFamily="18" charset="0"/>
              <a:ea typeface="楷体" pitchFamily="49" charset="-122"/>
            </a:endParaRPr>
          </a:p>
        </p:txBody>
      </p:sp>
      <p:sp>
        <p:nvSpPr>
          <p:cNvPr id="15363" name="文本框 15362"/>
          <p:cNvSpPr txBox="1"/>
          <p:nvPr/>
        </p:nvSpPr>
        <p:spPr>
          <a:xfrm>
            <a:off x="358775" y="1250950"/>
            <a:ext cx="8785225" cy="1383665"/>
          </a:xfrm>
          <a:prstGeom prst="rect">
            <a:avLst/>
          </a:prstGeom>
          <a:noFill/>
          <a:ln w="9525">
            <a:noFill/>
            <a:miter/>
          </a:ln>
        </p:spPr>
        <p:txBody>
          <a:bodyPr wrap="square">
            <a:spAutoFit/>
          </a:bodyPr>
          <a:lstStyle/>
          <a:p>
            <a:pPr marL="457200" marR="0" indent="-457200" defTabSz="914400">
              <a:spcBef>
                <a:spcPct val="50000"/>
              </a:spcBef>
              <a:buClrTx/>
              <a:buSzTx/>
              <a:buFont typeface="Wingdings" panose="05000000000000000000" charset="0"/>
              <a:buChar char=""/>
              <a:defRPr/>
            </a:pP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 Understand the digital processing process of continuous signals and the corresponding frequency domain concept</a:t>
            </a:r>
            <a:r>
              <a:rPr kumimoji="0" lang="zh-CN" altLang="en-US"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a:t>
            </a:r>
            <a:endParaRPr kumimoji="0" lang="zh-CN" altLang="en-US" sz="2800" b="1" kern="1200" cap="none" spc="0" normalizeH="0" baseline="0" noProof="1" dirty="0">
              <a:effectLst>
                <a:outerShdw blurRad="38100" dist="38100" dir="2700000">
                  <a:srgbClr val="C0C0C0"/>
                </a:outerShdw>
              </a:effectLst>
              <a:ea typeface="楷体" pitchFamily="49" charset="-122"/>
              <a:cs typeface="+mn-cs"/>
              <a:sym typeface="+mn-ea"/>
            </a:endParaRPr>
          </a:p>
        </p:txBody>
      </p:sp>
      <p:sp>
        <p:nvSpPr>
          <p:cNvPr id="15364" name="文本框 15363"/>
          <p:cNvSpPr txBox="1"/>
          <p:nvPr/>
        </p:nvSpPr>
        <p:spPr>
          <a:xfrm>
            <a:off x="358775" y="2633663"/>
            <a:ext cx="7777163" cy="522288"/>
          </a:xfrm>
          <a:prstGeom prst="rect">
            <a:avLst/>
          </a:prstGeom>
          <a:noFill/>
          <a:ln w="9525">
            <a:noFill/>
            <a:miter/>
          </a:ln>
        </p:spPr>
        <p:txBody>
          <a:bodyPr wrap="square">
            <a:spAutoFit/>
          </a:bodyPr>
          <a:p>
            <a:pPr marR="0" defTabSz="914400">
              <a:spcBef>
                <a:spcPct val="20000"/>
              </a:spcBef>
              <a:buClr>
                <a:schemeClr val="hlink"/>
              </a:buClr>
              <a:buFont typeface="Wingdings" panose="05000000000000000000" pitchFamily="2" charset="2"/>
              <a:buNone/>
            </a:pP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The corresponding range in the book </a:t>
            </a:r>
            <a:r>
              <a:rPr kumimoji="0" lang="en-US" altLang="en-US"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a:t>
            </a: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3.8</a:t>
            </a:r>
            <a:r>
              <a:rPr kumimoji="0" lang="en-US" altLang="en-US"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a:t>
            </a: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3.9</a:t>
            </a:r>
            <a:r>
              <a:rPr kumimoji="0" lang="en-US" altLang="en-US"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 </a:t>
            </a:r>
            <a:endParaRPr kumimoji="0" lang="en-US" altLang="en-US"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15365" name="文本框 15364"/>
          <p:cNvSpPr txBox="1"/>
          <p:nvPr/>
        </p:nvSpPr>
        <p:spPr>
          <a:xfrm>
            <a:off x="358775" y="3170238"/>
            <a:ext cx="8713788" cy="953135"/>
          </a:xfrm>
          <a:prstGeom prst="rect">
            <a:avLst/>
          </a:prstGeom>
          <a:noFill/>
          <a:ln w="9525">
            <a:noFill/>
            <a:miter/>
          </a:ln>
        </p:spPr>
        <p:txBody>
          <a:bodyPr wrap="square">
            <a:spAutoFit/>
          </a:bodyPr>
          <a:lstStyle/>
          <a:p>
            <a:pPr marR="0" defTabSz="914400">
              <a:spcBef>
                <a:spcPct val="50000"/>
              </a:spcBef>
              <a:buClrTx/>
              <a:buSzTx/>
              <a:buFont typeface="Wingdings" panose="05000000000000000000" pitchFamily="2" charset="2"/>
              <a:buChar char="u"/>
              <a:defRPr/>
            </a:pP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Understand the digital processing steps of continuous signal, and explain the function of each step.</a:t>
            </a:r>
            <a:endParaRPr kumimoji="0" lang="en-US" altLang="zh-CN" sz="2800" b="1" kern="1200" cap="none" spc="0" normalizeH="0" baseline="0" noProof="1" dirty="0">
              <a:effectLst>
                <a:outerShdw blurRad="38100" dist="38100" dir="2700000">
                  <a:srgbClr val="C0C0C0"/>
                </a:outerShdw>
              </a:effectLst>
              <a:ea typeface="楷体" pitchFamily="49" charset="-122"/>
              <a:cs typeface="+mn-cs"/>
              <a:sym typeface="+mn-ea"/>
            </a:endParaRPr>
          </a:p>
        </p:txBody>
      </p:sp>
      <p:sp>
        <p:nvSpPr>
          <p:cNvPr id="15366" name="文本框 15365"/>
          <p:cNvSpPr txBox="1"/>
          <p:nvPr/>
        </p:nvSpPr>
        <p:spPr>
          <a:xfrm>
            <a:off x="358775" y="4221163"/>
            <a:ext cx="8712200" cy="1814830"/>
          </a:xfrm>
          <a:prstGeom prst="rect">
            <a:avLst/>
          </a:prstGeom>
          <a:noFill/>
          <a:ln w="9525">
            <a:noFill/>
            <a:miter/>
          </a:ln>
        </p:spPr>
        <p:txBody>
          <a:bodyPr wrap="square">
            <a:spAutoFit/>
          </a:bodyPr>
          <a:lstStyle/>
          <a:p>
            <a:pPr marR="0" defTabSz="914400">
              <a:spcBef>
                <a:spcPct val="50000"/>
              </a:spcBef>
              <a:buClrTx/>
              <a:buSzTx/>
              <a:buFont typeface="Wingdings" panose="05000000000000000000" pitchFamily="2" charset="2"/>
              <a:buChar char="u"/>
              <a:defRPr/>
            </a:pP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Deeply understand the time domain and frequency domain characteristics of ideal sampling, and be able to derive their time domain and frequency domain expressions.</a:t>
            </a:r>
            <a:endParaRPr kumimoji="0" lang="en-US" altLang="zh-CN" sz="2800" b="1" kern="1200" cap="none" spc="0" normalizeH="0" baseline="0" noProof="1" dirty="0">
              <a:effectLst>
                <a:outerShdw blurRad="38100" dist="38100" dir="2700000">
                  <a:srgbClr val="C0C0C0"/>
                </a:outerShdw>
              </a:effectLst>
              <a:ea typeface="楷体" pitchFamily="49" charset="-122"/>
              <a:cs typeface="+mn-cs"/>
              <a:sym typeface="+mn-ea"/>
            </a:endParaRPr>
          </a:p>
        </p:txBody>
      </p:sp>
      <p:sp>
        <p:nvSpPr>
          <p:cNvPr id="3" name="五角星 2"/>
          <p:cNvSpPr/>
          <p:nvPr/>
        </p:nvSpPr>
        <p:spPr>
          <a:xfrm>
            <a:off x="7380605" y="260350"/>
            <a:ext cx="914400" cy="914400"/>
          </a:xfrm>
          <a:prstGeom prst="star5">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blinds(horizontal)">
                                      <p:cBhvr>
                                        <p:cTn id="7" dur="500"/>
                                        <p:tgtEl>
                                          <p:spTgt spid="153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4"/>
                                        </p:tgtEl>
                                        <p:attrNameLst>
                                          <p:attrName>style.visibility</p:attrName>
                                        </p:attrNameLst>
                                      </p:cBhvr>
                                      <p:to>
                                        <p:strVal val="visible"/>
                                      </p:to>
                                    </p:set>
                                    <p:animEffect transition="in" filter="blinds(horizontal)">
                                      <p:cBhvr>
                                        <p:cTn id="12" dur="500"/>
                                        <p:tgtEl>
                                          <p:spTgt spid="1536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365"/>
                                        </p:tgtEl>
                                        <p:attrNameLst>
                                          <p:attrName>style.visibility</p:attrName>
                                        </p:attrNameLst>
                                      </p:cBhvr>
                                      <p:to>
                                        <p:strVal val="visible"/>
                                      </p:to>
                                    </p:set>
                                    <p:animEffect transition="in" filter="blinds(horizontal)">
                                      <p:cBhvr>
                                        <p:cTn id="17" dur="500"/>
                                        <p:tgtEl>
                                          <p:spTgt spid="1536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366"/>
                                        </p:tgtEl>
                                        <p:attrNameLst>
                                          <p:attrName>style.visibility</p:attrName>
                                        </p:attrNameLst>
                                      </p:cBhvr>
                                      <p:to>
                                        <p:strVal val="visible"/>
                                      </p:to>
                                    </p:set>
                                    <p:animEffect transition="in" filter="blinds(horizontal)">
                                      <p:cBhvr>
                                        <p:cTn id="22" dur="500"/>
                                        <p:tgtEl>
                                          <p:spTgt spid="15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15364" grpId="0"/>
      <p:bldP spid="15365" grpId="0"/>
      <p:bldP spid="1536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4577" name="文本占位符 16385"/>
          <p:cNvGraphicFramePr>
            <a:graphicFrameLocks noChangeAspect="1"/>
          </p:cNvGraphicFramePr>
          <p:nvPr>
            <p:ph idx="1"/>
          </p:nvPr>
        </p:nvGraphicFramePr>
        <p:xfrm>
          <a:off x="0" y="0"/>
          <a:ext cx="9144000" cy="6856413"/>
        </p:xfrm>
        <a:graphic>
          <a:graphicData uri="http://schemas.openxmlformats.org/presentationml/2006/ole">
            <mc:AlternateContent xmlns:mc="http://schemas.openxmlformats.org/markup-compatibility/2006">
              <mc:Choice xmlns:v="urn:schemas-microsoft-com:vml" Requires="v">
                <p:oleObj spid="_x0000_s3077" name="" r:id="rId1" imgW="5924550" imgH="4000500" progId="Paint.Picture">
                  <p:embed/>
                </p:oleObj>
              </mc:Choice>
              <mc:Fallback>
                <p:oleObj name="" r:id="rId1" imgW="5924550" imgH="4000500" progId="Paint.Picture">
                  <p:embed/>
                  <p:pic>
                    <p:nvPicPr>
                      <p:cNvPr id="0" name="图片 3076"/>
                      <p:cNvPicPr/>
                      <p:nvPr/>
                    </p:nvPicPr>
                    <p:blipFill>
                      <a:blip r:embed="rId2"/>
                      <a:stretch>
                        <a:fillRect/>
                      </a:stretch>
                    </p:blipFill>
                    <p:spPr>
                      <a:xfrm>
                        <a:off x="0" y="0"/>
                        <a:ext cx="9144000" cy="6856413"/>
                      </a:xfrm>
                      <a:prstGeom prst="rect">
                        <a:avLst/>
                      </a:prstGeom>
                      <a:noFill/>
                      <a:ln w="38100">
                        <a:miter/>
                      </a:ln>
                    </p:spPr>
                  </p:pic>
                </p:oleObj>
              </mc:Fallback>
            </mc:AlternateContent>
          </a:graphicData>
        </a:graphic>
      </p:graphicFrame>
    </p:spTree>
  </p:cSld>
  <p:clrMapOvr>
    <a:masterClrMapping/>
  </p:clrMapOvr>
  <p:transition spd="slow">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17409"/>
          <p:cNvSpPr/>
          <p:nvPr>
            <p:ph type="title"/>
          </p:nvPr>
        </p:nvSpPr>
        <p:spPr>
          <a:xfrm>
            <a:off x="165100" y="44450"/>
            <a:ext cx="6982460" cy="1132205"/>
          </a:xfrm>
        </p:spPr>
        <p:txBody>
          <a:bodyPr vert="horz" wrap="square" lIns="91440" tIns="45720" rIns="91440" bIns="45720" anchor="ctr" anchorCtr="0"/>
          <a:p>
            <a:pPr eaLnBrk="1" hangingPunct="1"/>
            <a:r>
              <a:rPr lang="en-US" altLang="zh-CN" sz="4000" dirty="0">
                <a:latin typeface="Times New Roman" panose="02020503050405090304" pitchFamily="18" charset="0"/>
                <a:ea typeface="楷体" pitchFamily="49" charset="-122"/>
              </a:rPr>
              <a:t>Topic 6: Frequency Spectrum of Discrete Time Signals</a:t>
            </a:r>
            <a:endParaRPr lang="en-US" altLang="zh-CN" sz="4000" dirty="0">
              <a:latin typeface="Times New Roman" panose="02020503050405090304" pitchFamily="18" charset="0"/>
              <a:ea typeface="楷体" pitchFamily="49" charset="-122"/>
            </a:endParaRPr>
          </a:p>
        </p:txBody>
      </p:sp>
      <p:sp>
        <p:nvSpPr>
          <p:cNvPr id="17411" name="文本占位符 17410"/>
          <p:cNvSpPr>
            <a:spLocks noGrp="1"/>
          </p:cNvSpPr>
          <p:nvPr>
            <p:ph idx="1"/>
          </p:nvPr>
        </p:nvSpPr>
        <p:spPr>
          <a:xfrm>
            <a:off x="466725" y="1484313"/>
            <a:ext cx="8229600" cy="4659313"/>
          </a:xfrm>
          <a:ln>
            <a:miter/>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Char char="•"/>
              <a:defRPr/>
            </a:pPr>
            <a:r>
              <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The definition of DFT and characteristics in time domain and frequency domain.</a:t>
            </a:r>
            <a:endPar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Char char="•"/>
              <a:defRPr/>
            </a:pPr>
            <a:r>
              <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The relationship between DFT and DTFT.</a:t>
            </a:r>
            <a:endPar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Char char="•"/>
              <a:defRPr/>
            </a:pPr>
            <a:r>
              <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Properties of DFT.</a:t>
            </a:r>
            <a:endPar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Char char="•"/>
              <a:defRPr/>
            </a:pPr>
            <a:r>
              <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The engineering calculation of DFT :</a:t>
            </a:r>
            <a:endPar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None/>
              <a:defRPr/>
            </a:pPr>
            <a:r>
              <a:rPr kumimoji="0" lang="zh-CN" altLang="en-US"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a:t>
            </a:r>
            <a:r>
              <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1</a:t>
            </a:r>
            <a:r>
              <a:rPr kumimoji="0" lang="zh-CN" altLang="en-US"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a:t>
            </a:r>
            <a:r>
              <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DFT calculations of real sequences</a:t>
            </a:r>
            <a:endPar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None/>
              <a:defRPr/>
            </a:pPr>
            <a:r>
              <a:rPr kumimoji="0" lang="zh-CN" altLang="en-US"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a:t>
            </a:r>
            <a:r>
              <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2</a:t>
            </a:r>
            <a:r>
              <a:rPr kumimoji="0" lang="zh-CN" altLang="en-US"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a:t>
            </a:r>
            <a:r>
              <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The ideas of FFT algorithm</a:t>
            </a:r>
            <a:endPar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a:p>
            <a:pPr marL="0" marR="0" lvl="0" indent="0" algn="l" defTabSz="914400" rtl="0" eaLnBrk="1" fontAlgn="base" latinLnBrk="0" hangingPunct="1">
              <a:lnSpc>
                <a:spcPct val="100000"/>
              </a:lnSpc>
              <a:spcBef>
                <a:spcPct val="20000"/>
              </a:spcBef>
              <a:spcAft>
                <a:spcPct val="0"/>
              </a:spcAft>
              <a:buClrTx/>
              <a:buSzTx/>
              <a:buFont typeface="Arial" panose="020B0604020202090204" pitchFamily="34" charset="0"/>
              <a:buNone/>
              <a:defRPr/>
            </a:pPr>
            <a:r>
              <a:rPr kumimoji="0" lang="zh-CN" altLang="en-US"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a:t>
            </a:r>
            <a:r>
              <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3</a:t>
            </a:r>
            <a:r>
              <a:rPr kumimoji="0" lang="zh-CN" altLang="en-US"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a:t>
            </a:r>
            <a:r>
              <a:rPr kumimoji="0" lang="en-US" altLang="x-none"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rPr>
              <a:t>Using DFT to calculate linear convolution</a:t>
            </a:r>
            <a:endParaRPr kumimoji="0" lang="zh-CN" altLang="en-US"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503050405090304" pitchFamily="18" charset="0"/>
              <a:ea typeface="楷体" pitchFamily="49" charset="-122"/>
              <a:cs typeface="+mn-cs"/>
              <a:sym typeface="Arial" panose="020B0604020202090204" pitchFamily="34" charset="0"/>
            </a:endParaRPr>
          </a:p>
        </p:txBody>
      </p:sp>
      <p:sp>
        <p:nvSpPr>
          <p:cNvPr id="3" name="五角星 2"/>
          <p:cNvSpPr/>
          <p:nvPr/>
        </p:nvSpPr>
        <p:spPr>
          <a:xfrm>
            <a:off x="7380605" y="260350"/>
            <a:ext cx="914400" cy="914400"/>
          </a:xfrm>
          <a:prstGeom prst="star5">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1">
                                            <p:txEl>
                                              <p:charRg st="0" end="98"/>
                                            </p:txEl>
                                          </p:spTgt>
                                        </p:tgtEl>
                                        <p:attrNameLst>
                                          <p:attrName>style.visibility</p:attrName>
                                        </p:attrNameLst>
                                      </p:cBhvr>
                                      <p:to>
                                        <p:strVal val="visible"/>
                                      </p:to>
                                    </p:set>
                                    <p:animEffect transition="in" filter="blinds(horizontal)">
                                      <p:cBhvr>
                                        <p:cTn id="7" dur="500"/>
                                        <p:tgtEl>
                                          <p:spTgt spid="17411">
                                            <p:txEl>
                                              <p:charRg st="0" end="9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1">
                                            <p:txEl>
                                              <p:charRg st="98" end="136"/>
                                            </p:txEl>
                                          </p:spTgt>
                                        </p:tgtEl>
                                        <p:attrNameLst>
                                          <p:attrName>style.visibility</p:attrName>
                                        </p:attrNameLst>
                                      </p:cBhvr>
                                      <p:to>
                                        <p:strVal val="visible"/>
                                      </p:to>
                                    </p:set>
                                    <p:animEffect transition="in" filter="blinds(horizontal)">
                                      <p:cBhvr>
                                        <p:cTn id="12" dur="500"/>
                                        <p:tgtEl>
                                          <p:spTgt spid="17411">
                                            <p:txEl>
                                              <p:charRg st="98" end="13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11">
                                            <p:txEl>
                                              <p:charRg st="136" end="154"/>
                                            </p:txEl>
                                          </p:spTgt>
                                        </p:tgtEl>
                                        <p:attrNameLst>
                                          <p:attrName>style.visibility</p:attrName>
                                        </p:attrNameLst>
                                      </p:cBhvr>
                                      <p:to>
                                        <p:strVal val="visible"/>
                                      </p:to>
                                    </p:set>
                                    <p:animEffect transition="in" filter="blinds(horizontal)">
                                      <p:cBhvr>
                                        <p:cTn id="17" dur="500"/>
                                        <p:tgtEl>
                                          <p:spTgt spid="17411">
                                            <p:txEl>
                                              <p:charRg st="136" end="15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411">
                                            <p:txEl>
                                              <p:charRg st="154" end="198"/>
                                            </p:txEl>
                                          </p:spTgt>
                                        </p:tgtEl>
                                        <p:attrNameLst>
                                          <p:attrName>style.visibility</p:attrName>
                                        </p:attrNameLst>
                                      </p:cBhvr>
                                      <p:to>
                                        <p:strVal val="visible"/>
                                      </p:to>
                                    </p:set>
                                    <p:animEffect transition="in" filter="blinds(horizontal)">
                                      <p:cBhvr>
                                        <p:cTn id="22" dur="500"/>
                                        <p:tgtEl>
                                          <p:spTgt spid="17411">
                                            <p:txEl>
                                              <p:charRg st="154" end="19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411">
                                            <p:txEl>
                                              <p:charRg st="198" end="238"/>
                                            </p:txEl>
                                          </p:spTgt>
                                        </p:tgtEl>
                                        <p:attrNameLst>
                                          <p:attrName>style.visibility</p:attrName>
                                        </p:attrNameLst>
                                      </p:cBhvr>
                                      <p:to>
                                        <p:strVal val="visible"/>
                                      </p:to>
                                    </p:set>
                                    <p:animEffect transition="in" filter="blinds(horizontal)">
                                      <p:cBhvr>
                                        <p:cTn id="27" dur="500"/>
                                        <p:tgtEl>
                                          <p:spTgt spid="17411">
                                            <p:txEl>
                                              <p:charRg st="198" end="23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411">
                                            <p:txEl>
                                              <p:charRg st="232" end="261"/>
                                            </p:txEl>
                                          </p:spTgt>
                                        </p:tgtEl>
                                        <p:attrNameLst>
                                          <p:attrName>style.visibility</p:attrName>
                                        </p:attrNameLst>
                                      </p:cBhvr>
                                      <p:to>
                                        <p:strVal val="visible"/>
                                      </p:to>
                                    </p:set>
                                    <p:animEffect transition="in" filter="blinds(horizontal)">
                                      <p:cBhvr>
                                        <p:cTn id="32" dur="500"/>
                                        <p:tgtEl>
                                          <p:spTgt spid="17411">
                                            <p:txEl>
                                              <p:charRg st="232" end="26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411">
                                            <p:txEl>
                                              <p:charRg st="261" end="306"/>
                                            </p:txEl>
                                          </p:spTgt>
                                        </p:tgtEl>
                                        <p:attrNameLst>
                                          <p:attrName>style.visibility</p:attrName>
                                        </p:attrNameLst>
                                      </p:cBhvr>
                                      <p:to>
                                        <p:strVal val="visible"/>
                                      </p:to>
                                    </p:set>
                                    <p:animEffect transition="in" filter="blinds(horizontal)">
                                      <p:cBhvr>
                                        <p:cTn id="37" dur="500"/>
                                        <p:tgtEl>
                                          <p:spTgt spid="17411">
                                            <p:txEl>
                                              <p:charRg st="261" end="3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8433"/>
          <p:cNvSpPr/>
          <p:nvPr>
            <p:ph type="title"/>
          </p:nvPr>
        </p:nvSpPr>
        <p:spPr>
          <a:xfrm>
            <a:off x="204788" y="207963"/>
            <a:ext cx="8229600" cy="796925"/>
          </a:xfrm>
        </p:spPr>
        <p:txBody>
          <a:bodyPr vert="horz" wrap="square" lIns="91440" tIns="45720" rIns="91440" bIns="45720" anchor="ctr" anchorCtr="0"/>
          <a:p>
            <a:pPr eaLnBrk="1" hangingPunct="1"/>
            <a:r>
              <a:rPr lang="zh-CN" altLang="en-US" sz="3600" dirty="0">
                <a:latin typeface="Times New Roman" panose="02020503050405090304" pitchFamily="18" charset="0"/>
                <a:ea typeface="楷体" pitchFamily="49" charset="-122"/>
              </a:rPr>
              <a:t>1. </a:t>
            </a:r>
            <a:r>
              <a:rPr lang="en-US" altLang="zh-CN" sz="3600" dirty="0">
                <a:latin typeface="Times New Roman" panose="02020503050405090304" pitchFamily="18" charset="0"/>
                <a:ea typeface="楷体" pitchFamily="49" charset="-122"/>
              </a:rPr>
              <a:t>Calculation and properties of DFT</a:t>
            </a:r>
            <a:endParaRPr lang="zh-CN" altLang="en-US" sz="3600" dirty="0">
              <a:latin typeface="Times New Roman" panose="02020503050405090304" pitchFamily="18" charset="0"/>
              <a:ea typeface="楷体" pitchFamily="49" charset="-122"/>
            </a:endParaRPr>
          </a:p>
        </p:txBody>
      </p:sp>
      <p:graphicFrame>
        <p:nvGraphicFramePr>
          <p:cNvPr id="18435" name="对象 18434"/>
          <p:cNvGraphicFramePr>
            <a:graphicFrameLocks noChangeAspect="1"/>
          </p:cNvGraphicFramePr>
          <p:nvPr/>
        </p:nvGraphicFramePr>
        <p:xfrm>
          <a:off x="1993900" y="1822450"/>
          <a:ext cx="5867400" cy="1052513"/>
        </p:xfrm>
        <a:graphic>
          <a:graphicData uri="http://schemas.openxmlformats.org/presentationml/2006/ole">
            <mc:AlternateContent xmlns:mc="http://schemas.openxmlformats.org/markup-compatibility/2006">
              <mc:Choice xmlns:v="urn:schemas-microsoft-com:vml" Requires="v">
                <p:oleObj spid="_x0000_s3088" name="" r:id="rId1" imgW="1980565" imgH="431800" progId="Equation.3">
                  <p:embed/>
                </p:oleObj>
              </mc:Choice>
              <mc:Fallback>
                <p:oleObj name="" r:id="rId1" imgW="1980565" imgH="431800" progId="Equation.3">
                  <p:embed/>
                  <p:pic>
                    <p:nvPicPr>
                      <p:cNvPr id="0" name="图片 3087"/>
                      <p:cNvPicPr/>
                      <p:nvPr/>
                    </p:nvPicPr>
                    <p:blipFill>
                      <a:blip r:embed="rId2"/>
                      <a:stretch>
                        <a:fillRect/>
                      </a:stretch>
                    </p:blipFill>
                    <p:spPr>
                      <a:xfrm>
                        <a:off x="1993900" y="1822450"/>
                        <a:ext cx="5867400" cy="1052513"/>
                      </a:xfrm>
                      <a:prstGeom prst="rect">
                        <a:avLst/>
                      </a:prstGeom>
                      <a:solidFill>
                        <a:srgbClr val="FFFFFF"/>
                      </a:solidFill>
                      <a:ln w="38100">
                        <a:noFill/>
                        <a:miter/>
                      </a:ln>
                    </p:spPr>
                  </p:pic>
                </p:oleObj>
              </mc:Fallback>
            </mc:AlternateContent>
          </a:graphicData>
        </a:graphic>
      </p:graphicFrame>
      <p:graphicFrame>
        <p:nvGraphicFramePr>
          <p:cNvPr id="18436" name="对象 18435"/>
          <p:cNvGraphicFramePr>
            <a:graphicFrameLocks noChangeAspect="1"/>
          </p:cNvGraphicFramePr>
          <p:nvPr/>
        </p:nvGraphicFramePr>
        <p:xfrm>
          <a:off x="1917700" y="2874963"/>
          <a:ext cx="5943600" cy="1066800"/>
        </p:xfrm>
        <a:graphic>
          <a:graphicData uri="http://schemas.openxmlformats.org/presentationml/2006/ole">
            <mc:AlternateContent xmlns:mc="http://schemas.openxmlformats.org/markup-compatibility/2006">
              <mc:Choice xmlns:v="urn:schemas-microsoft-com:vml" Requires="v">
                <p:oleObj spid="_x0000_s3089" name="" r:id="rId3" imgW="2247900" imgH="431800" progId="Equation.3">
                  <p:embed/>
                </p:oleObj>
              </mc:Choice>
              <mc:Fallback>
                <p:oleObj name="" r:id="rId3" imgW="2247900" imgH="431800" progId="Equation.3">
                  <p:embed/>
                  <p:pic>
                    <p:nvPicPr>
                      <p:cNvPr id="0" name="图片 3088"/>
                      <p:cNvPicPr/>
                      <p:nvPr/>
                    </p:nvPicPr>
                    <p:blipFill>
                      <a:blip r:embed="rId4"/>
                      <a:stretch>
                        <a:fillRect/>
                      </a:stretch>
                    </p:blipFill>
                    <p:spPr>
                      <a:xfrm>
                        <a:off x="1917700" y="2874963"/>
                        <a:ext cx="5943600" cy="1066800"/>
                      </a:xfrm>
                      <a:prstGeom prst="rect">
                        <a:avLst/>
                      </a:prstGeom>
                      <a:solidFill>
                        <a:srgbClr val="FFFFFF"/>
                      </a:solidFill>
                      <a:ln w="38100">
                        <a:noFill/>
                        <a:miter/>
                      </a:ln>
                    </p:spPr>
                  </p:pic>
                </p:oleObj>
              </mc:Fallback>
            </mc:AlternateContent>
          </a:graphicData>
        </a:graphic>
      </p:graphicFrame>
      <p:sp>
        <p:nvSpPr>
          <p:cNvPr id="18437" name="文本框 18436"/>
          <p:cNvSpPr txBox="1"/>
          <p:nvPr/>
        </p:nvSpPr>
        <p:spPr>
          <a:xfrm>
            <a:off x="611188" y="1270000"/>
            <a:ext cx="7956550" cy="52387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definition of DFT transformation pair</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s</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18440" name="文本框 18439"/>
          <p:cNvSpPr txBox="1"/>
          <p:nvPr/>
        </p:nvSpPr>
        <p:spPr>
          <a:xfrm>
            <a:off x="611188" y="4003675"/>
            <a:ext cx="5543550" cy="522288"/>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None/>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Spectrum characteristics:</a:t>
            </a:r>
            <a:endParaRPr kumimoji="0" lang="en-US" altLang="x-none" sz="2800" b="1" kern="1200" cap="none" spc="0" normalizeH="0" baseline="0" noProof="1">
              <a:effectLst>
                <a:outerShdw blurRad="38100" dist="38100" dir="2700000">
                  <a:srgbClr val="C0C0C0"/>
                </a:outerShdw>
              </a:effectLst>
              <a:ea typeface="楷体" pitchFamily="49" charset="-122"/>
              <a:cs typeface="+mn-ea"/>
              <a:sym typeface="+mn-ea"/>
            </a:endParaRPr>
          </a:p>
        </p:txBody>
      </p:sp>
      <p:sp>
        <p:nvSpPr>
          <p:cNvPr id="18441" name="文本框 18440"/>
          <p:cNvSpPr txBox="1"/>
          <p:nvPr/>
        </p:nvSpPr>
        <p:spPr>
          <a:xfrm>
            <a:off x="204788" y="4587875"/>
            <a:ext cx="8939213" cy="954088"/>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Discrete periodic sequence(so in time / frequency domain it can be expanded as Fourier Series)</a:t>
            </a:r>
            <a:endParaRPr kumimoji="0" lang="en-US" altLang="x-none" sz="2800" b="1" kern="1200" cap="none" spc="0" normalizeH="0" baseline="0" noProof="1">
              <a:effectLst>
                <a:outerShdw blurRad="38100" dist="38100" dir="2700000">
                  <a:srgbClr val="C0C0C0"/>
                </a:outerShdw>
              </a:effectLst>
              <a:ea typeface="楷体" pitchFamily="49" charset="-122"/>
              <a:cs typeface="+mn-ea"/>
              <a:sym typeface="+mn-ea"/>
            </a:endParaRPr>
          </a:p>
        </p:txBody>
      </p:sp>
      <p:sp>
        <p:nvSpPr>
          <p:cNvPr id="18442" name="文本框 18441"/>
          <p:cNvSpPr txBox="1"/>
          <p:nvPr/>
        </p:nvSpPr>
        <p:spPr>
          <a:xfrm>
            <a:off x="611188" y="5654675"/>
            <a:ext cx="7632700" cy="522288"/>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Basic properties and symmetry properties </a:t>
            </a:r>
            <a:endPar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anim calcmode="lin" valueType="num">
                                      <p:cBhvr additive="base">
                                        <p:cTn id="7" dur="500" fill="hold"/>
                                        <p:tgtEl>
                                          <p:spTgt spid="18437"/>
                                        </p:tgtEl>
                                        <p:attrNameLst>
                                          <p:attrName>ppt_x</p:attrName>
                                        </p:attrNameLst>
                                      </p:cBhvr>
                                      <p:tavLst>
                                        <p:tav tm="0">
                                          <p:val>
                                            <p:strVal val="#ppt_x"/>
                                          </p:val>
                                        </p:tav>
                                        <p:tav tm="100000">
                                          <p:val>
                                            <p:strVal val="#ppt_x"/>
                                          </p:val>
                                        </p:tav>
                                      </p:tavLst>
                                    </p:anim>
                                    <p:anim calcmode="lin" valueType="num">
                                      <p:cBhvr additive="base">
                                        <p:cTn id="8" dur="500" fill="hold"/>
                                        <p:tgtEl>
                                          <p:spTgt spid="184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35"/>
                                        </p:tgtEl>
                                        <p:attrNameLst>
                                          <p:attrName>style.visibility</p:attrName>
                                        </p:attrNameLst>
                                      </p:cBhvr>
                                      <p:to>
                                        <p:strVal val="visible"/>
                                      </p:to>
                                    </p:set>
                                    <p:anim calcmode="lin" valueType="num">
                                      <p:cBhvr additive="base">
                                        <p:cTn id="13" dur="500" fill="hold"/>
                                        <p:tgtEl>
                                          <p:spTgt spid="18435"/>
                                        </p:tgtEl>
                                        <p:attrNameLst>
                                          <p:attrName>ppt_x</p:attrName>
                                        </p:attrNameLst>
                                      </p:cBhvr>
                                      <p:tavLst>
                                        <p:tav tm="0">
                                          <p:val>
                                            <p:strVal val="#ppt_x"/>
                                          </p:val>
                                        </p:tav>
                                        <p:tav tm="100000">
                                          <p:val>
                                            <p:strVal val="#ppt_x"/>
                                          </p:val>
                                        </p:tav>
                                      </p:tavLst>
                                    </p:anim>
                                    <p:anim calcmode="lin" valueType="num">
                                      <p:cBhvr additive="base">
                                        <p:cTn id="14" dur="500" fill="hold"/>
                                        <p:tgtEl>
                                          <p:spTgt spid="1843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436"/>
                                        </p:tgtEl>
                                        <p:attrNameLst>
                                          <p:attrName>style.visibility</p:attrName>
                                        </p:attrNameLst>
                                      </p:cBhvr>
                                      <p:to>
                                        <p:strVal val="visible"/>
                                      </p:to>
                                    </p:set>
                                    <p:anim calcmode="lin" valueType="num">
                                      <p:cBhvr additive="base">
                                        <p:cTn id="19" dur="500" fill="hold"/>
                                        <p:tgtEl>
                                          <p:spTgt spid="18436"/>
                                        </p:tgtEl>
                                        <p:attrNameLst>
                                          <p:attrName>ppt_x</p:attrName>
                                        </p:attrNameLst>
                                      </p:cBhvr>
                                      <p:tavLst>
                                        <p:tav tm="0">
                                          <p:val>
                                            <p:strVal val="#ppt_x"/>
                                          </p:val>
                                        </p:tav>
                                        <p:tav tm="100000">
                                          <p:val>
                                            <p:strVal val="#ppt_x"/>
                                          </p:val>
                                        </p:tav>
                                      </p:tavLst>
                                    </p:anim>
                                    <p:anim calcmode="lin" valueType="num">
                                      <p:cBhvr additive="base">
                                        <p:cTn id="20" dur="500" fill="hold"/>
                                        <p:tgtEl>
                                          <p:spTgt spid="1843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440"/>
                                        </p:tgtEl>
                                        <p:attrNameLst>
                                          <p:attrName>style.visibility</p:attrName>
                                        </p:attrNameLst>
                                      </p:cBhvr>
                                      <p:to>
                                        <p:strVal val="visible"/>
                                      </p:to>
                                    </p:set>
                                    <p:anim calcmode="lin" valueType="num">
                                      <p:cBhvr additive="base">
                                        <p:cTn id="25" dur="500" fill="hold"/>
                                        <p:tgtEl>
                                          <p:spTgt spid="18440"/>
                                        </p:tgtEl>
                                        <p:attrNameLst>
                                          <p:attrName>ppt_x</p:attrName>
                                        </p:attrNameLst>
                                      </p:cBhvr>
                                      <p:tavLst>
                                        <p:tav tm="0">
                                          <p:val>
                                            <p:strVal val="#ppt_x"/>
                                          </p:val>
                                        </p:tav>
                                        <p:tav tm="100000">
                                          <p:val>
                                            <p:strVal val="#ppt_x"/>
                                          </p:val>
                                        </p:tav>
                                      </p:tavLst>
                                    </p:anim>
                                    <p:anim calcmode="lin" valueType="num">
                                      <p:cBhvr additive="base">
                                        <p:cTn id="26" dur="500" fill="hold"/>
                                        <p:tgtEl>
                                          <p:spTgt spid="1844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441"/>
                                        </p:tgtEl>
                                        <p:attrNameLst>
                                          <p:attrName>style.visibility</p:attrName>
                                        </p:attrNameLst>
                                      </p:cBhvr>
                                      <p:to>
                                        <p:strVal val="visible"/>
                                      </p:to>
                                    </p:set>
                                    <p:anim calcmode="lin" valueType="num">
                                      <p:cBhvr additive="base">
                                        <p:cTn id="31" dur="500" fill="hold"/>
                                        <p:tgtEl>
                                          <p:spTgt spid="18441"/>
                                        </p:tgtEl>
                                        <p:attrNameLst>
                                          <p:attrName>ppt_x</p:attrName>
                                        </p:attrNameLst>
                                      </p:cBhvr>
                                      <p:tavLst>
                                        <p:tav tm="0">
                                          <p:val>
                                            <p:strVal val="#ppt_x"/>
                                          </p:val>
                                        </p:tav>
                                        <p:tav tm="100000">
                                          <p:val>
                                            <p:strVal val="#ppt_x"/>
                                          </p:val>
                                        </p:tav>
                                      </p:tavLst>
                                    </p:anim>
                                    <p:anim calcmode="lin" valueType="num">
                                      <p:cBhvr additive="base">
                                        <p:cTn id="32" dur="500" fill="hold"/>
                                        <p:tgtEl>
                                          <p:spTgt spid="1844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8442"/>
                                        </p:tgtEl>
                                        <p:attrNameLst>
                                          <p:attrName>style.visibility</p:attrName>
                                        </p:attrNameLst>
                                      </p:cBhvr>
                                      <p:to>
                                        <p:strVal val="visible"/>
                                      </p:to>
                                    </p:set>
                                    <p:anim calcmode="lin" valueType="num">
                                      <p:cBhvr additive="base">
                                        <p:cTn id="37" dur="500" fill="hold"/>
                                        <p:tgtEl>
                                          <p:spTgt spid="18442"/>
                                        </p:tgtEl>
                                        <p:attrNameLst>
                                          <p:attrName>ppt_x</p:attrName>
                                        </p:attrNameLst>
                                      </p:cBhvr>
                                      <p:tavLst>
                                        <p:tav tm="0">
                                          <p:val>
                                            <p:strVal val="#ppt_x"/>
                                          </p:val>
                                        </p:tav>
                                        <p:tav tm="100000">
                                          <p:val>
                                            <p:strVal val="#ppt_x"/>
                                          </p:val>
                                        </p:tav>
                                      </p:tavLst>
                                    </p:anim>
                                    <p:anim calcmode="lin" valueType="num">
                                      <p:cBhvr additive="base">
                                        <p:cTn id="38" dur="500" fill="hold"/>
                                        <p:tgtEl>
                                          <p:spTgt spid="184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p:bldP spid="18440" grpId="0"/>
      <p:bldP spid="18441" grpId="0"/>
      <p:bldP spid="1844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9457"/>
          <p:cNvSpPr/>
          <p:nvPr>
            <p:ph type="title" sz="quarter"/>
          </p:nvPr>
        </p:nvSpPr>
        <p:spPr>
          <a:xfrm>
            <a:off x="466725" y="260350"/>
            <a:ext cx="8229600" cy="796925"/>
          </a:xfrm>
        </p:spPr>
        <p:txBody>
          <a:bodyPr vert="horz" wrap="square" lIns="91440" tIns="45720" rIns="91440" bIns="45720" anchor="ctr" anchorCtr="0"/>
          <a:p>
            <a:pPr eaLnBrk="1" hangingPunct="1"/>
            <a:r>
              <a:rPr lang="zh-CN" altLang="en-US" sz="3600" dirty="0">
                <a:latin typeface="Times New Roman" panose="02020503050405090304" pitchFamily="18" charset="0"/>
                <a:ea typeface="楷体" pitchFamily="49" charset="-122"/>
              </a:rPr>
              <a:t>2. </a:t>
            </a:r>
            <a:r>
              <a:rPr lang="en-US" altLang="zh-CN" sz="3600" dirty="0">
                <a:latin typeface="Times New Roman" panose="02020503050405090304" pitchFamily="18" charset="0"/>
                <a:ea typeface="楷体" pitchFamily="49" charset="-122"/>
              </a:rPr>
              <a:t>FFT</a:t>
            </a:r>
            <a:endParaRPr lang="zh-CN" altLang="en-US" sz="3600" dirty="0">
              <a:latin typeface="Times New Roman" panose="02020503050405090304" pitchFamily="18" charset="0"/>
              <a:ea typeface="楷体" pitchFamily="49" charset="-122"/>
            </a:endParaRPr>
          </a:p>
        </p:txBody>
      </p:sp>
      <p:graphicFrame>
        <p:nvGraphicFramePr>
          <p:cNvPr id="19459" name="内容占位符 19458"/>
          <p:cNvGraphicFramePr>
            <a:graphicFrameLocks noChangeAspect="1"/>
          </p:cNvGraphicFramePr>
          <p:nvPr>
            <p:ph sz="quarter" idx="1"/>
          </p:nvPr>
        </p:nvGraphicFramePr>
        <p:xfrm>
          <a:off x="3438525" y="4092575"/>
          <a:ext cx="2301875" cy="593725"/>
        </p:xfrm>
        <a:graphic>
          <a:graphicData uri="http://schemas.openxmlformats.org/presentationml/2006/ole">
            <mc:AlternateContent xmlns:mc="http://schemas.openxmlformats.org/markup-compatibility/2006">
              <mc:Choice xmlns:v="urn:schemas-microsoft-com:vml" Requires="v">
                <p:oleObj spid="_x0000_s3090" name="" r:id="rId1" imgW="915670" imgH="241300" progId="Equation.3">
                  <p:embed/>
                </p:oleObj>
              </mc:Choice>
              <mc:Fallback>
                <p:oleObj name="" r:id="rId1" imgW="915670" imgH="241300" progId="Equation.3">
                  <p:embed/>
                  <p:pic>
                    <p:nvPicPr>
                      <p:cNvPr id="0" name="图片 3089"/>
                      <p:cNvPicPr/>
                      <p:nvPr/>
                    </p:nvPicPr>
                    <p:blipFill>
                      <a:blip r:embed="rId2"/>
                      <a:stretch>
                        <a:fillRect/>
                      </a:stretch>
                    </p:blipFill>
                    <p:spPr>
                      <a:xfrm>
                        <a:off x="3438525" y="4092575"/>
                        <a:ext cx="2301875" cy="593725"/>
                      </a:xfrm>
                      <a:prstGeom prst="rect">
                        <a:avLst/>
                      </a:prstGeom>
                      <a:solidFill>
                        <a:srgbClr val="FFFFFF"/>
                      </a:solidFill>
                      <a:ln w="38100">
                        <a:miter/>
                      </a:ln>
                    </p:spPr>
                  </p:pic>
                </p:oleObj>
              </mc:Fallback>
            </mc:AlternateContent>
          </a:graphicData>
        </a:graphic>
      </p:graphicFrame>
      <p:graphicFrame>
        <p:nvGraphicFramePr>
          <p:cNvPr id="19460" name="内容占位符 19459"/>
          <p:cNvGraphicFramePr>
            <a:graphicFrameLocks noChangeAspect="1"/>
          </p:cNvGraphicFramePr>
          <p:nvPr>
            <p:ph sz="quarter" idx="2"/>
          </p:nvPr>
        </p:nvGraphicFramePr>
        <p:xfrm>
          <a:off x="3222625" y="4687888"/>
          <a:ext cx="3406775" cy="560387"/>
        </p:xfrm>
        <a:graphic>
          <a:graphicData uri="http://schemas.openxmlformats.org/presentationml/2006/ole">
            <mc:AlternateContent xmlns:mc="http://schemas.openxmlformats.org/markup-compatibility/2006">
              <mc:Choice xmlns:v="urn:schemas-microsoft-com:vml" Requires="v">
                <p:oleObj spid="_x0000_s3091" name="" r:id="rId3" imgW="1510665" imgH="241300" progId="Equation.3">
                  <p:embed/>
                </p:oleObj>
              </mc:Choice>
              <mc:Fallback>
                <p:oleObj name="" r:id="rId3" imgW="1510665" imgH="241300" progId="Equation.3">
                  <p:embed/>
                  <p:pic>
                    <p:nvPicPr>
                      <p:cNvPr id="0" name="图片 3090"/>
                      <p:cNvPicPr/>
                      <p:nvPr/>
                    </p:nvPicPr>
                    <p:blipFill>
                      <a:blip r:embed="rId4"/>
                      <a:stretch>
                        <a:fillRect/>
                      </a:stretch>
                    </p:blipFill>
                    <p:spPr>
                      <a:xfrm>
                        <a:off x="3222625" y="4687888"/>
                        <a:ext cx="3406775" cy="560387"/>
                      </a:xfrm>
                      <a:prstGeom prst="rect">
                        <a:avLst/>
                      </a:prstGeom>
                      <a:solidFill>
                        <a:srgbClr val="FFFFFF"/>
                      </a:solidFill>
                      <a:ln w="38100">
                        <a:miter/>
                      </a:ln>
                    </p:spPr>
                  </p:pic>
                </p:oleObj>
              </mc:Fallback>
            </mc:AlternateContent>
          </a:graphicData>
        </a:graphic>
      </p:graphicFrame>
      <p:graphicFrame>
        <p:nvGraphicFramePr>
          <p:cNvPr id="19461" name="内容占位符 19460"/>
          <p:cNvGraphicFramePr>
            <a:graphicFrameLocks noChangeAspect="1"/>
          </p:cNvGraphicFramePr>
          <p:nvPr>
            <p:ph sz="quarter" idx="3"/>
          </p:nvPr>
        </p:nvGraphicFramePr>
        <p:xfrm>
          <a:off x="3295650" y="5310188"/>
          <a:ext cx="2663825" cy="889000"/>
        </p:xfrm>
        <a:graphic>
          <a:graphicData uri="http://schemas.openxmlformats.org/presentationml/2006/ole">
            <mc:AlternateContent xmlns:mc="http://schemas.openxmlformats.org/markup-compatibility/2006">
              <mc:Choice xmlns:v="urn:schemas-microsoft-com:vml" Requires="v">
                <p:oleObj spid="_x0000_s3078" name="" r:id="rId5" imgW="1374140" imgH="457835" progId="Equation.3">
                  <p:embed/>
                </p:oleObj>
              </mc:Choice>
              <mc:Fallback>
                <p:oleObj name="" r:id="rId5" imgW="1374140" imgH="457835" progId="Equation.3">
                  <p:embed/>
                  <p:pic>
                    <p:nvPicPr>
                      <p:cNvPr id="0" name="图片 3077"/>
                      <p:cNvPicPr/>
                      <p:nvPr/>
                    </p:nvPicPr>
                    <p:blipFill>
                      <a:blip r:embed="rId6"/>
                      <a:stretch>
                        <a:fillRect/>
                      </a:stretch>
                    </p:blipFill>
                    <p:spPr>
                      <a:xfrm>
                        <a:off x="3295650" y="5310188"/>
                        <a:ext cx="2663825" cy="889000"/>
                      </a:xfrm>
                      <a:prstGeom prst="rect">
                        <a:avLst/>
                      </a:prstGeom>
                      <a:solidFill>
                        <a:srgbClr val="FFFFFF"/>
                      </a:solidFill>
                      <a:ln w="38100">
                        <a:miter/>
                      </a:ln>
                    </p:spPr>
                  </p:pic>
                </p:oleObj>
              </mc:Fallback>
            </mc:AlternateContent>
          </a:graphicData>
        </a:graphic>
      </p:graphicFrame>
      <p:graphicFrame>
        <p:nvGraphicFramePr>
          <p:cNvPr id="19462" name="对象 19461"/>
          <p:cNvGraphicFramePr>
            <a:graphicFrameLocks noChangeAspect="1"/>
          </p:cNvGraphicFramePr>
          <p:nvPr/>
        </p:nvGraphicFramePr>
        <p:xfrm>
          <a:off x="3438525" y="2903538"/>
          <a:ext cx="1854200" cy="760412"/>
        </p:xfrm>
        <a:graphic>
          <a:graphicData uri="http://schemas.openxmlformats.org/presentationml/2006/ole">
            <mc:AlternateContent xmlns:mc="http://schemas.openxmlformats.org/markup-compatibility/2006">
              <mc:Choice xmlns:v="urn:schemas-microsoft-com:vml" Requires="v">
                <p:oleObj spid="_x0000_s3079" name="" r:id="rId7" imgW="699135" imgH="343535" progId="Equation.3">
                  <p:embed/>
                </p:oleObj>
              </mc:Choice>
              <mc:Fallback>
                <p:oleObj name="" r:id="rId7" imgW="699135" imgH="343535" progId="Equation.3">
                  <p:embed/>
                  <p:pic>
                    <p:nvPicPr>
                      <p:cNvPr id="0" name="图片 3078"/>
                      <p:cNvPicPr/>
                      <p:nvPr/>
                    </p:nvPicPr>
                    <p:blipFill>
                      <a:blip r:embed="rId8"/>
                      <a:stretch>
                        <a:fillRect/>
                      </a:stretch>
                    </p:blipFill>
                    <p:spPr>
                      <a:xfrm>
                        <a:off x="3438525" y="2903538"/>
                        <a:ext cx="1854200" cy="760412"/>
                      </a:xfrm>
                      <a:prstGeom prst="rect">
                        <a:avLst/>
                      </a:prstGeom>
                      <a:solidFill>
                        <a:srgbClr val="FFFFFF"/>
                      </a:solidFill>
                      <a:ln w="38100">
                        <a:noFill/>
                        <a:miter/>
                      </a:ln>
                    </p:spPr>
                  </p:pic>
                </p:oleObj>
              </mc:Fallback>
            </mc:AlternateContent>
          </a:graphicData>
        </a:graphic>
      </p:graphicFrame>
      <p:sp>
        <p:nvSpPr>
          <p:cNvPr id="19463" name="文本框 19462"/>
          <p:cNvSpPr txBox="1"/>
          <p:nvPr/>
        </p:nvSpPr>
        <p:spPr>
          <a:xfrm>
            <a:off x="404813" y="1274763"/>
            <a:ext cx="8353425"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Requirements: understand the FFT algorithm and its application</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s</a:t>
            </a:r>
            <a:endPar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p:txBody>
      </p:sp>
      <p:sp>
        <p:nvSpPr>
          <p:cNvPr id="19464" name="文本框 19463"/>
          <p:cNvSpPr txBox="1"/>
          <p:nvPr/>
        </p:nvSpPr>
        <p:spPr>
          <a:xfrm>
            <a:off x="404813" y="2228850"/>
            <a:ext cx="8496300" cy="953135"/>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Using the propert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ies of W</a:t>
            </a:r>
            <a:r>
              <a:rPr kumimoji="0" lang="en-US" altLang="zh-CN" sz="2800" b="1" baseline="-25000" noProof="1">
                <a:effectLst>
                  <a:outerShdw blurRad="38100" dist="38100" dir="2700000">
                    <a:srgbClr val="C0C0C0"/>
                  </a:outerShdw>
                </a:effectLst>
                <a:latin typeface="Times New Roman" panose="02020503050405090304" pitchFamily="18" charset="0"/>
                <a:ea typeface="楷体" pitchFamily="49" charset="-122"/>
                <a:cs typeface="+mn-ea"/>
                <a:sym typeface="+mn-ea"/>
              </a:rPr>
              <a:t>N</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to reduce computation complexity</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p:txBody>
      </p:sp>
      <p:sp>
        <p:nvSpPr>
          <p:cNvPr id="19465" name="文本框 19464"/>
          <p:cNvSpPr txBox="1"/>
          <p:nvPr/>
        </p:nvSpPr>
        <p:spPr>
          <a:xfrm>
            <a:off x="225425" y="3584575"/>
            <a:ext cx="6389688" cy="582613"/>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3200" b="1" kern="1200" cap="none" spc="0" normalizeH="0" baseline="0" noProof="1">
                <a:latin typeface="Times New Roman Regular" panose="02020503050405090304" charset="0"/>
                <a:ea typeface="楷体" pitchFamily="49" charset="-122"/>
                <a:cs typeface="Times New Roman Regular" panose="02020503050405090304" charset="0"/>
                <a:sym typeface="+mn-ea"/>
              </a:rPr>
              <a:t>１、</a:t>
            </a:r>
            <a:r>
              <a:rPr kumimoji="0" lang="en-US" altLang="zh-CN" sz="3200" b="1" kern="1200" cap="none" spc="0" normalizeH="0" baseline="0" noProof="1">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rPr>
              <a:t> P</a:t>
            </a:r>
            <a:r>
              <a:rPr kumimoji="0" lang="en-US" altLang="zh-CN" sz="32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roperties of </a:t>
            </a:r>
            <a:r>
              <a:rPr lang="en-US" altLang="zh-CN" sz="3200" b="1" noProof="1">
                <a:effectLst>
                  <a:outerShdw blurRad="38100" dist="38100" dir="2700000">
                    <a:srgbClr val="C0C0C0"/>
                  </a:outerShdw>
                </a:effectLst>
                <a:latin typeface="Times New Roman" panose="02020503050405090304" pitchFamily="18" charset="0"/>
                <a:ea typeface="楷体" pitchFamily="49" charset="-122"/>
                <a:cs typeface="+mn-ea"/>
                <a:sym typeface="+mn-ea"/>
              </a:rPr>
              <a:t>W</a:t>
            </a:r>
            <a:r>
              <a:rPr lang="en-US" altLang="zh-CN" sz="3200" b="1" baseline="-25000" noProof="1">
                <a:effectLst>
                  <a:outerShdw blurRad="38100" dist="38100" dir="2700000">
                    <a:srgbClr val="C0C0C0"/>
                  </a:outerShdw>
                </a:effectLst>
                <a:latin typeface="Times New Roman" panose="02020503050405090304" pitchFamily="18" charset="0"/>
                <a:ea typeface="楷体" pitchFamily="49" charset="-122"/>
                <a:cs typeface="+mn-ea"/>
                <a:sym typeface="+mn-ea"/>
              </a:rPr>
              <a:t>N</a:t>
            </a:r>
            <a:endParaRPr kumimoji="0" lang="zh-CN" altLang="en-US" sz="32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19466" name="文本框 19465"/>
          <p:cNvSpPr txBox="1"/>
          <p:nvPr/>
        </p:nvSpPr>
        <p:spPr>
          <a:xfrm>
            <a:off x="563563" y="4167188"/>
            <a:ext cx="2052638" cy="522288"/>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Symmetry ：</a:t>
            </a:r>
            <a:endParaRPr kumimoji="0" lang="zh-CN" altLang="en-US" sz="2800" kern="1200" cap="none" spc="0" normalizeH="0" baseline="0" noProof="1">
              <a:effectLst>
                <a:outerShdw blurRad="38100" dist="38100" dir="2700000">
                  <a:srgbClr val="C0C0C0"/>
                </a:outerShdw>
              </a:effectLst>
              <a:latin typeface="楷体" pitchFamily="49" charset="-122"/>
              <a:ea typeface="楷体" pitchFamily="49" charset="-122"/>
              <a:cs typeface="+mn-cs"/>
              <a:sym typeface="+mn-ea"/>
            </a:endParaRPr>
          </a:p>
        </p:txBody>
      </p:sp>
      <p:sp>
        <p:nvSpPr>
          <p:cNvPr id="19467" name="文本框 19466"/>
          <p:cNvSpPr txBox="1"/>
          <p:nvPr/>
        </p:nvSpPr>
        <p:spPr>
          <a:xfrm>
            <a:off x="558800" y="4786313"/>
            <a:ext cx="2428875" cy="522288"/>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Periodicity </a:t>
            </a:r>
            <a:r>
              <a:rPr kumimoji="0" lang="zh-CN" altLang="en-US" sz="2800" b="1" kern="1200" cap="none" spc="0" normalizeH="0" baseline="0" noProof="1">
                <a:effectLst>
                  <a:outerShdw blurRad="38100" dist="38100" dir="2700000">
                    <a:srgbClr val="C0C0C0"/>
                  </a:outerShdw>
                </a:effectLst>
                <a:latin typeface="楷体" pitchFamily="49" charset="-122"/>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楷体" pitchFamily="49" charset="-122"/>
              <a:ea typeface="楷体" pitchFamily="49" charset="-122"/>
              <a:cs typeface="+mn-cs"/>
              <a:sym typeface="+mn-ea"/>
            </a:endParaRPr>
          </a:p>
        </p:txBody>
      </p:sp>
      <p:graphicFrame>
        <p:nvGraphicFramePr>
          <p:cNvPr id="19468" name="内容占位符 19467"/>
          <p:cNvGraphicFramePr>
            <a:graphicFrameLocks noChangeAspect="1"/>
          </p:cNvGraphicFramePr>
          <p:nvPr>
            <p:ph sz="quarter" idx="4"/>
          </p:nvPr>
        </p:nvGraphicFramePr>
        <p:xfrm>
          <a:off x="2863850" y="6261735"/>
          <a:ext cx="1885950" cy="587375"/>
        </p:xfrm>
        <a:graphic>
          <a:graphicData uri="http://schemas.openxmlformats.org/presentationml/2006/ole">
            <mc:AlternateContent xmlns:mc="http://schemas.openxmlformats.org/markup-compatibility/2006">
              <mc:Choice xmlns:v="urn:schemas-microsoft-com:vml" Requires="v">
                <p:oleObj spid="_x0000_s3080" name="" r:id="rId9" imgW="750570" imgH="241300" progId="Equation.3">
                  <p:embed/>
                </p:oleObj>
              </mc:Choice>
              <mc:Fallback>
                <p:oleObj name="" r:id="rId9" imgW="750570" imgH="241300" progId="Equation.3">
                  <p:embed/>
                  <p:pic>
                    <p:nvPicPr>
                      <p:cNvPr id="0" name="图片 3079"/>
                      <p:cNvPicPr/>
                      <p:nvPr/>
                    </p:nvPicPr>
                    <p:blipFill>
                      <a:blip r:embed="rId10"/>
                      <a:stretch>
                        <a:fillRect/>
                      </a:stretch>
                    </p:blipFill>
                    <p:spPr>
                      <a:xfrm>
                        <a:off x="2863850" y="6261735"/>
                        <a:ext cx="1885950" cy="587375"/>
                      </a:xfrm>
                      <a:prstGeom prst="rect">
                        <a:avLst/>
                      </a:prstGeom>
                      <a:solidFill>
                        <a:srgbClr val="FFFFFF"/>
                      </a:solidFill>
                      <a:ln w="38100">
                        <a:miter/>
                      </a:ln>
                    </p:spPr>
                  </p:pic>
                </p:oleObj>
              </mc:Fallback>
            </mc:AlternateContent>
          </a:graphicData>
        </a:graphic>
      </p:graphicFrame>
      <p:sp>
        <p:nvSpPr>
          <p:cNvPr id="19469" name="文本框 19468"/>
          <p:cNvSpPr txBox="1"/>
          <p:nvPr/>
        </p:nvSpPr>
        <p:spPr>
          <a:xfrm>
            <a:off x="512763" y="6246813"/>
            <a:ext cx="2520950" cy="522288"/>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Reducibility:</a:t>
            </a:r>
            <a:endParaRPr kumimoji="0" lang="zh-CN" altLang="en-US" sz="2800" b="1" kern="1200" cap="none" spc="0" normalizeH="0" baseline="0" noProof="1">
              <a:effectLst>
                <a:outerShdw blurRad="38100" dist="38100" dir="2700000">
                  <a:srgbClr val="C0C0C0"/>
                </a:outerShdw>
              </a:effectLst>
              <a:latin typeface="楷体" pitchFamily="49" charset="-122"/>
              <a:ea typeface="楷体" pitchFamily="49" charset="-122"/>
              <a:cs typeface="+mn-cs"/>
              <a:sym typeface="+mn-ea"/>
            </a:endParaRPr>
          </a:p>
        </p:txBody>
      </p:sp>
      <p:graphicFrame>
        <p:nvGraphicFramePr>
          <p:cNvPr id="19470" name="对象 19469"/>
          <p:cNvGraphicFramePr>
            <a:graphicFrameLocks noChangeAspect="1"/>
          </p:cNvGraphicFramePr>
          <p:nvPr/>
        </p:nvGraphicFramePr>
        <p:xfrm>
          <a:off x="5147628" y="6253480"/>
          <a:ext cx="2130425" cy="581025"/>
        </p:xfrm>
        <a:graphic>
          <a:graphicData uri="http://schemas.openxmlformats.org/presentationml/2006/ole">
            <mc:AlternateContent xmlns:mc="http://schemas.openxmlformats.org/markup-compatibility/2006">
              <mc:Choice xmlns:v="urn:schemas-microsoft-com:vml" Requires="v">
                <p:oleObj spid="_x0000_s3081" name="" r:id="rId11" imgW="801370" imgH="241300" progId="Equation.3">
                  <p:embed/>
                </p:oleObj>
              </mc:Choice>
              <mc:Fallback>
                <p:oleObj name="" r:id="rId11" imgW="801370" imgH="241300" progId="Equation.3">
                  <p:embed/>
                  <p:pic>
                    <p:nvPicPr>
                      <p:cNvPr id="0" name="图片 3080"/>
                      <p:cNvPicPr/>
                      <p:nvPr/>
                    </p:nvPicPr>
                    <p:blipFill>
                      <a:blip r:embed="rId12"/>
                      <a:stretch>
                        <a:fillRect/>
                      </a:stretch>
                    </p:blipFill>
                    <p:spPr>
                      <a:xfrm>
                        <a:off x="5147628" y="6253480"/>
                        <a:ext cx="2130425" cy="581025"/>
                      </a:xfrm>
                      <a:prstGeom prst="rect">
                        <a:avLst/>
                      </a:prstGeom>
                      <a:solidFill>
                        <a:srgbClr val="FFFFFF"/>
                      </a:solidFill>
                      <a:ln w="38100">
                        <a:noFill/>
                        <a:miter/>
                      </a:ln>
                    </p:spPr>
                  </p:pic>
                </p:oleObj>
              </mc:Fallback>
            </mc:AlternateContent>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63"/>
                                        </p:tgtEl>
                                        <p:attrNameLst>
                                          <p:attrName>style.visibility</p:attrName>
                                        </p:attrNameLst>
                                      </p:cBhvr>
                                      <p:to>
                                        <p:strVal val="visible"/>
                                      </p:to>
                                    </p:set>
                                    <p:animEffect transition="in" filter="blinds(horizontal)">
                                      <p:cBhvr>
                                        <p:cTn id="7" dur="500"/>
                                        <p:tgtEl>
                                          <p:spTgt spid="194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64"/>
                                        </p:tgtEl>
                                        <p:attrNameLst>
                                          <p:attrName>style.visibility</p:attrName>
                                        </p:attrNameLst>
                                      </p:cBhvr>
                                      <p:to>
                                        <p:strVal val="visible"/>
                                      </p:to>
                                    </p:set>
                                    <p:animEffect transition="in" filter="blinds(horizontal)">
                                      <p:cBhvr>
                                        <p:cTn id="12" dur="500"/>
                                        <p:tgtEl>
                                          <p:spTgt spid="1946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462"/>
                                        </p:tgtEl>
                                        <p:attrNameLst>
                                          <p:attrName>style.visibility</p:attrName>
                                        </p:attrNameLst>
                                      </p:cBhvr>
                                      <p:to>
                                        <p:strVal val="visible"/>
                                      </p:to>
                                    </p:set>
                                    <p:anim calcmode="lin" valueType="num">
                                      <p:cBhvr additive="base">
                                        <p:cTn id="17" dur="500" fill="hold"/>
                                        <p:tgtEl>
                                          <p:spTgt spid="19462"/>
                                        </p:tgtEl>
                                        <p:attrNameLst>
                                          <p:attrName>ppt_x</p:attrName>
                                        </p:attrNameLst>
                                      </p:cBhvr>
                                      <p:tavLst>
                                        <p:tav tm="0">
                                          <p:val>
                                            <p:strVal val="#ppt_x"/>
                                          </p:val>
                                        </p:tav>
                                        <p:tav tm="100000">
                                          <p:val>
                                            <p:strVal val="#ppt_x"/>
                                          </p:val>
                                        </p:tav>
                                      </p:tavLst>
                                    </p:anim>
                                    <p:anim calcmode="lin" valueType="num">
                                      <p:cBhvr additive="base">
                                        <p:cTn id="18" dur="500" fill="hold"/>
                                        <p:tgtEl>
                                          <p:spTgt spid="1946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9465"/>
                                        </p:tgtEl>
                                        <p:attrNameLst>
                                          <p:attrName>style.visibility</p:attrName>
                                        </p:attrNameLst>
                                      </p:cBhvr>
                                      <p:to>
                                        <p:strVal val="visible"/>
                                      </p:to>
                                    </p:set>
                                    <p:anim calcmode="lin" valueType="num">
                                      <p:cBhvr additive="base">
                                        <p:cTn id="23" dur="500" fill="hold"/>
                                        <p:tgtEl>
                                          <p:spTgt spid="19465"/>
                                        </p:tgtEl>
                                        <p:attrNameLst>
                                          <p:attrName>ppt_x</p:attrName>
                                        </p:attrNameLst>
                                      </p:cBhvr>
                                      <p:tavLst>
                                        <p:tav tm="0">
                                          <p:val>
                                            <p:strVal val="#ppt_x"/>
                                          </p:val>
                                        </p:tav>
                                        <p:tav tm="100000">
                                          <p:val>
                                            <p:strVal val="#ppt_x"/>
                                          </p:val>
                                        </p:tav>
                                      </p:tavLst>
                                    </p:anim>
                                    <p:anim calcmode="lin" valueType="num">
                                      <p:cBhvr additive="base">
                                        <p:cTn id="24" dur="500" fill="hold"/>
                                        <p:tgtEl>
                                          <p:spTgt spid="1946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9466"/>
                                        </p:tgtEl>
                                        <p:attrNameLst>
                                          <p:attrName>style.visibility</p:attrName>
                                        </p:attrNameLst>
                                      </p:cBhvr>
                                      <p:to>
                                        <p:strVal val="visible"/>
                                      </p:to>
                                    </p:set>
                                    <p:anim calcmode="lin" valueType="num">
                                      <p:cBhvr additive="base">
                                        <p:cTn id="29" dur="500" fill="hold"/>
                                        <p:tgtEl>
                                          <p:spTgt spid="19466"/>
                                        </p:tgtEl>
                                        <p:attrNameLst>
                                          <p:attrName>ppt_x</p:attrName>
                                        </p:attrNameLst>
                                      </p:cBhvr>
                                      <p:tavLst>
                                        <p:tav tm="0">
                                          <p:val>
                                            <p:strVal val="#ppt_x"/>
                                          </p:val>
                                        </p:tav>
                                        <p:tav tm="100000">
                                          <p:val>
                                            <p:strVal val="#ppt_x"/>
                                          </p:val>
                                        </p:tav>
                                      </p:tavLst>
                                    </p:anim>
                                    <p:anim calcmode="lin" valueType="num">
                                      <p:cBhvr additive="base">
                                        <p:cTn id="30" dur="500" fill="hold"/>
                                        <p:tgtEl>
                                          <p:spTgt spid="1946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9459"/>
                                        </p:tgtEl>
                                        <p:attrNameLst>
                                          <p:attrName>style.visibility</p:attrName>
                                        </p:attrNameLst>
                                      </p:cBhvr>
                                      <p:to>
                                        <p:strVal val="visible"/>
                                      </p:to>
                                    </p:set>
                                    <p:anim calcmode="lin" valueType="num">
                                      <p:cBhvr additive="base">
                                        <p:cTn id="35" dur="500" fill="hold"/>
                                        <p:tgtEl>
                                          <p:spTgt spid="19459"/>
                                        </p:tgtEl>
                                        <p:attrNameLst>
                                          <p:attrName>ppt_x</p:attrName>
                                        </p:attrNameLst>
                                      </p:cBhvr>
                                      <p:tavLst>
                                        <p:tav tm="0">
                                          <p:val>
                                            <p:strVal val="#ppt_x"/>
                                          </p:val>
                                        </p:tav>
                                        <p:tav tm="100000">
                                          <p:val>
                                            <p:strVal val="#ppt_x"/>
                                          </p:val>
                                        </p:tav>
                                      </p:tavLst>
                                    </p:anim>
                                    <p:anim calcmode="lin" valueType="num">
                                      <p:cBhvr additive="base">
                                        <p:cTn id="36"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9467"/>
                                        </p:tgtEl>
                                        <p:attrNameLst>
                                          <p:attrName>style.visibility</p:attrName>
                                        </p:attrNameLst>
                                      </p:cBhvr>
                                      <p:to>
                                        <p:strVal val="visible"/>
                                      </p:to>
                                    </p:set>
                                    <p:anim calcmode="lin" valueType="num">
                                      <p:cBhvr additive="base">
                                        <p:cTn id="41" dur="500" fill="hold"/>
                                        <p:tgtEl>
                                          <p:spTgt spid="19467"/>
                                        </p:tgtEl>
                                        <p:attrNameLst>
                                          <p:attrName>ppt_x</p:attrName>
                                        </p:attrNameLst>
                                      </p:cBhvr>
                                      <p:tavLst>
                                        <p:tav tm="0">
                                          <p:val>
                                            <p:strVal val="#ppt_x"/>
                                          </p:val>
                                        </p:tav>
                                        <p:tav tm="100000">
                                          <p:val>
                                            <p:strVal val="#ppt_x"/>
                                          </p:val>
                                        </p:tav>
                                      </p:tavLst>
                                    </p:anim>
                                    <p:anim calcmode="lin" valueType="num">
                                      <p:cBhvr additive="base">
                                        <p:cTn id="42" dur="500" fill="hold"/>
                                        <p:tgtEl>
                                          <p:spTgt spid="1946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9460"/>
                                        </p:tgtEl>
                                        <p:attrNameLst>
                                          <p:attrName>style.visibility</p:attrName>
                                        </p:attrNameLst>
                                      </p:cBhvr>
                                      <p:to>
                                        <p:strVal val="visible"/>
                                      </p:to>
                                    </p:set>
                                    <p:anim calcmode="lin" valueType="num">
                                      <p:cBhvr additive="base">
                                        <p:cTn id="47" dur="500" fill="hold"/>
                                        <p:tgtEl>
                                          <p:spTgt spid="19460"/>
                                        </p:tgtEl>
                                        <p:attrNameLst>
                                          <p:attrName>ppt_x</p:attrName>
                                        </p:attrNameLst>
                                      </p:cBhvr>
                                      <p:tavLst>
                                        <p:tav tm="0">
                                          <p:val>
                                            <p:strVal val="#ppt_x"/>
                                          </p:val>
                                        </p:tav>
                                        <p:tav tm="100000">
                                          <p:val>
                                            <p:strVal val="#ppt_x"/>
                                          </p:val>
                                        </p:tav>
                                      </p:tavLst>
                                    </p:anim>
                                    <p:anim calcmode="lin" valueType="num">
                                      <p:cBhvr additive="base">
                                        <p:cTn id="48" dur="500" fill="hold"/>
                                        <p:tgtEl>
                                          <p:spTgt spid="1946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9461"/>
                                        </p:tgtEl>
                                        <p:attrNameLst>
                                          <p:attrName>style.visibility</p:attrName>
                                        </p:attrNameLst>
                                      </p:cBhvr>
                                      <p:to>
                                        <p:strVal val="visible"/>
                                      </p:to>
                                    </p:set>
                                    <p:anim calcmode="lin" valueType="num">
                                      <p:cBhvr additive="base">
                                        <p:cTn id="53" dur="500" fill="hold"/>
                                        <p:tgtEl>
                                          <p:spTgt spid="19461"/>
                                        </p:tgtEl>
                                        <p:attrNameLst>
                                          <p:attrName>ppt_x</p:attrName>
                                        </p:attrNameLst>
                                      </p:cBhvr>
                                      <p:tavLst>
                                        <p:tav tm="0">
                                          <p:val>
                                            <p:strVal val="#ppt_x"/>
                                          </p:val>
                                        </p:tav>
                                        <p:tav tm="100000">
                                          <p:val>
                                            <p:strVal val="#ppt_x"/>
                                          </p:val>
                                        </p:tav>
                                      </p:tavLst>
                                    </p:anim>
                                    <p:anim calcmode="lin" valueType="num">
                                      <p:cBhvr additive="base">
                                        <p:cTn id="54" dur="500" fill="hold"/>
                                        <p:tgtEl>
                                          <p:spTgt spid="19461"/>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9469"/>
                                        </p:tgtEl>
                                        <p:attrNameLst>
                                          <p:attrName>style.visibility</p:attrName>
                                        </p:attrNameLst>
                                      </p:cBhvr>
                                      <p:to>
                                        <p:strVal val="visible"/>
                                      </p:to>
                                    </p:set>
                                    <p:anim calcmode="lin" valueType="num">
                                      <p:cBhvr additive="base">
                                        <p:cTn id="59" dur="500" fill="hold"/>
                                        <p:tgtEl>
                                          <p:spTgt spid="19469"/>
                                        </p:tgtEl>
                                        <p:attrNameLst>
                                          <p:attrName>ppt_x</p:attrName>
                                        </p:attrNameLst>
                                      </p:cBhvr>
                                      <p:tavLst>
                                        <p:tav tm="0">
                                          <p:val>
                                            <p:strVal val="#ppt_x"/>
                                          </p:val>
                                        </p:tav>
                                        <p:tav tm="100000">
                                          <p:val>
                                            <p:strVal val="#ppt_x"/>
                                          </p:val>
                                        </p:tav>
                                      </p:tavLst>
                                    </p:anim>
                                    <p:anim calcmode="lin" valueType="num">
                                      <p:cBhvr additive="base">
                                        <p:cTn id="60" dur="500" fill="hold"/>
                                        <p:tgtEl>
                                          <p:spTgt spid="1946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9468"/>
                                        </p:tgtEl>
                                        <p:attrNameLst>
                                          <p:attrName>style.visibility</p:attrName>
                                        </p:attrNameLst>
                                      </p:cBhvr>
                                      <p:to>
                                        <p:strVal val="visible"/>
                                      </p:to>
                                    </p:set>
                                    <p:anim calcmode="lin" valueType="num">
                                      <p:cBhvr additive="base">
                                        <p:cTn id="65" dur="500" fill="hold"/>
                                        <p:tgtEl>
                                          <p:spTgt spid="19468"/>
                                        </p:tgtEl>
                                        <p:attrNameLst>
                                          <p:attrName>ppt_x</p:attrName>
                                        </p:attrNameLst>
                                      </p:cBhvr>
                                      <p:tavLst>
                                        <p:tav tm="0">
                                          <p:val>
                                            <p:strVal val="#ppt_x"/>
                                          </p:val>
                                        </p:tav>
                                        <p:tav tm="100000">
                                          <p:val>
                                            <p:strVal val="#ppt_x"/>
                                          </p:val>
                                        </p:tav>
                                      </p:tavLst>
                                    </p:anim>
                                    <p:anim calcmode="lin" valueType="num">
                                      <p:cBhvr additive="base">
                                        <p:cTn id="66" dur="500" fill="hold"/>
                                        <p:tgtEl>
                                          <p:spTgt spid="19468"/>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9470"/>
                                        </p:tgtEl>
                                        <p:attrNameLst>
                                          <p:attrName>style.visibility</p:attrName>
                                        </p:attrNameLst>
                                      </p:cBhvr>
                                      <p:to>
                                        <p:strVal val="visible"/>
                                      </p:to>
                                    </p:set>
                                    <p:anim calcmode="lin" valueType="num">
                                      <p:cBhvr additive="base">
                                        <p:cTn id="71" dur="500" fill="hold"/>
                                        <p:tgtEl>
                                          <p:spTgt spid="19470"/>
                                        </p:tgtEl>
                                        <p:attrNameLst>
                                          <p:attrName>ppt_x</p:attrName>
                                        </p:attrNameLst>
                                      </p:cBhvr>
                                      <p:tavLst>
                                        <p:tav tm="0">
                                          <p:val>
                                            <p:strVal val="#ppt_x"/>
                                          </p:val>
                                        </p:tav>
                                        <p:tav tm="100000">
                                          <p:val>
                                            <p:strVal val="#ppt_x"/>
                                          </p:val>
                                        </p:tav>
                                      </p:tavLst>
                                    </p:anim>
                                    <p:anim calcmode="lin" valueType="num">
                                      <p:cBhvr additive="base">
                                        <p:cTn id="72" dur="500" fill="hold"/>
                                        <p:tgtEl>
                                          <p:spTgt spid="194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3" grpId="0"/>
      <p:bldP spid="19464" grpId="0"/>
      <p:bldP spid="19465" grpId="0"/>
      <p:bldP spid="19466" grpId="0"/>
      <p:bldP spid="19467" grpId="0"/>
      <p:bldP spid="1946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20481"/>
          <p:cNvSpPr/>
          <p:nvPr>
            <p:ph type="title"/>
          </p:nvPr>
        </p:nvSpPr>
        <p:spPr>
          <a:xfrm>
            <a:off x="466725" y="260350"/>
            <a:ext cx="8229600" cy="725488"/>
          </a:xfrm>
        </p:spPr>
        <p:txBody>
          <a:bodyPr vert="horz" wrap="square" lIns="91440" tIns="45720" rIns="91440" bIns="45720" anchor="ctr" anchorCtr="0"/>
          <a:p>
            <a:pPr eaLnBrk="1" hangingPunct="1"/>
            <a:r>
              <a:rPr lang="en-US" altLang="zh-CN" sz="4000" b="0" dirty="0"/>
              <a:t> </a:t>
            </a:r>
            <a:r>
              <a:rPr lang="en-US" altLang="zh-CN" sz="3600" dirty="0">
                <a:latin typeface="Times New Roman Bold" panose="02020503050405090304" charset="0"/>
              </a:rPr>
              <a:t>The basic idea of FFT</a:t>
            </a:r>
            <a:endParaRPr lang="en-US" altLang="zh-CN" sz="3600" dirty="0">
              <a:latin typeface="Times New Roman Bold" panose="02020503050405090304" charset="0"/>
              <a:ea typeface="楷体" pitchFamily="49" charset="-122"/>
            </a:endParaRPr>
          </a:p>
        </p:txBody>
      </p:sp>
      <p:sp>
        <p:nvSpPr>
          <p:cNvPr id="20483" name="文本框 20482"/>
          <p:cNvSpPr txBox="1"/>
          <p:nvPr/>
        </p:nvSpPr>
        <p:spPr>
          <a:xfrm>
            <a:off x="296863" y="1252538"/>
            <a:ext cx="8567738" cy="138366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Verdana" panose="020B0804030504040204" pitchFamily="34" charset="0"/>
                <a:ea typeface="宋体" pitchFamily="2" charset="-122"/>
                <a:cs typeface="+mn-ea"/>
                <a:sym typeface="+mn-ea"/>
              </a:rPr>
              <a:t>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Because the direct calculation of DFT and IDFT is time-consuming</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the calculation of DFT can be simplified according to the properties of W</a:t>
            </a:r>
            <a:r>
              <a:rPr kumimoji="0" lang="en-US" altLang="zh-CN" sz="2800" b="1" baseline="-25000" noProof="1">
                <a:effectLst>
                  <a:outerShdw blurRad="38100" dist="38100" dir="2700000">
                    <a:srgbClr val="C0C0C0"/>
                  </a:outerShdw>
                </a:effectLst>
                <a:latin typeface="Times New Roman" panose="02020503050405090304" pitchFamily="18" charset="0"/>
                <a:ea typeface="楷体" pitchFamily="49" charset="-122"/>
                <a:cs typeface="+mn-ea"/>
                <a:sym typeface="+mn-ea"/>
              </a:rPr>
              <a:t>N</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0484" name="文本框 20483"/>
          <p:cNvSpPr txBox="1"/>
          <p:nvPr/>
        </p:nvSpPr>
        <p:spPr>
          <a:xfrm>
            <a:off x="250825" y="2636838"/>
            <a:ext cx="8893175" cy="1814830"/>
          </a:xfrm>
          <a:prstGeom prst="rect">
            <a:avLst/>
          </a:prstGeom>
          <a:noFill/>
          <a:ln w="9525">
            <a:noFill/>
            <a:miter/>
          </a:ln>
        </p:spPr>
        <p:txBody>
          <a:bodyPr wrap="square">
            <a:spAutoFit/>
          </a:bodyPr>
          <a:lstStyle/>
          <a:p>
            <a:pPr marR="0" defTabSz="914400">
              <a:spcBef>
                <a:spcPct val="50000"/>
              </a:spcBef>
              <a:buClrTx/>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Decimation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in time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radix-2): the sequence is divided into two groups according to the parity of N, and the N-point DFT can be obtained by combining the N/2-point DFT of these two subsequences.</a:t>
            </a:r>
            <a:endPar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0485" name="文本框 20484"/>
          <p:cNvSpPr txBox="1"/>
          <p:nvPr/>
        </p:nvSpPr>
        <p:spPr>
          <a:xfrm>
            <a:off x="250825" y="4287838"/>
            <a:ext cx="9109075" cy="2245360"/>
          </a:xfrm>
          <a:prstGeom prst="rect">
            <a:avLst/>
          </a:prstGeom>
          <a:noFill/>
          <a:ln w="9525">
            <a:noFill/>
            <a:miter/>
          </a:ln>
        </p:spPr>
        <p:txBody>
          <a:bodyPr wrap="square">
            <a:spAutoFit/>
          </a:bodyPr>
          <a:lstStyle/>
          <a:p>
            <a:pPr marR="0" defTabSz="914400">
              <a:spcBef>
                <a:spcPct val="50000"/>
              </a:spcBef>
              <a:buClrTx/>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宋体" pitchFamily="2" charset="-122"/>
                <a:cs typeface="Times New Roman" panose="02020503050405090304" pitchFamily="18" charset="0"/>
                <a:sym typeface="+mn-ea"/>
              </a:rPr>
              <a:t>Decimation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宋体" pitchFamily="2" charset="-122"/>
                <a:cs typeface="Times New Roman" panose="02020503050405090304" pitchFamily="18" charset="0"/>
                <a:sym typeface="+mn-ea"/>
              </a:rPr>
              <a:t>in frequency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宋体" pitchFamily="2" charset="-122"/>
                <a:cs typeface="Times New Roman" panose="02020503050405090304" pitchFamily="18" charset="0"/>
                <a:sym typeface="+mn-ea"/>
              </a:rPr>
              <a:t>radix-2): the sequence is divided into two parts according to the order of N, and the influence on the spectrum is divided according to the odd and even of k by deduction. N-point DFT can be obtained by combining the two N/2-point DFT.</a:t>
            </a:r>
            <a:endPar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20486" name="文本框 20485"/>
          <p:cNvSpPr txBox="1"/>
          <p:nvPr/>
        </p:nvSpPr>
        <p:spPr>
          <a:xfrm>
            <a:off x="1979613" y="6345238"/>
            <a:ext cx="5184775" cy="522288"/>
          </a:xfrm>
          <a:prstGeom prst="rect">
            <a:avLst/>
          </a:prstGeom>
          <a:noFill/>
          <a:ln w="9525">
            <a:noFill/>
            <a:miter/>
          </a:ln>
        </p:spPr>
        <p:txBody>
          <a:bodyPr>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solidFill>
                  <a:srgbClr val="C00000"/>
                </a:solidFill>
                <a:effectLst>
                  <a:outerShdw blurRad="38100" dist="38100" dir="2700000">
                    <a:srgbClr val="C0C0C0"/>
                  </a:outerShdw>
                </a:effectLst>
                <a:latin typeface="Times New Roman Regular" panose="02020503050405090304" charset="0"/>
                <a:ea typeface="宋体" pitchFamily="2" charset="-122"/>
                <a:cs typeface="Times New Roman Regular" panose="02020503050405090304" charset="0"/>
                <a:sym typeface="+mn-ea"/>
              </a:rPr>
              <a:t>module </a:t>
            </a:r>
            <a:r>
              <a:rPr kumimoji="0" lang="zh-CN" altLang="en-US" sz="2800" b="1" kern="1200" cap="none" spc="0" normalizeH="0" baseline="0" noProof="1">
                <a:solidFill>
                  <a:srgbClr val="C00000"/>
                </a:solidFill>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rPr>
              <a:t>３？ </a:t>
            </a:r>
            <a:r>
              <a:rPr kumimoji="0" lang="en-US" altLang="zh-CN" sz="2800" b="1" kern="1200" cap="none" spc="0" normalizeH="0" baseline="0" noProof="1">
                <a:solidFill>
                  <a:srgbClr val="C00000"/>
                </a:solidFill>
                <a:effectLst>
                  <a:outerShdw blurRad="38100" dist="38100" dir="2700000">
                    <a:srgbClr val="C0C0C0"/>
                  </a:outerShdw>
                </a:effectLst>
                <a:latin typeface="Times New Roman Regular" panose="02020503050405090304" charset="0"/>
                <a:ea typeface="宋体" pitchFamily="2" charset="-122"/>
                <a:cs typeface="Times New Roman Regular" panose="02020503050405090304" charset="0"/>
                <a:sym typeface="+mn-ea"/>
              </a:rPr>
              <a:t>module </a:t>
            </a:r>
            <a:r>
              <a:rPr kumimoji="0" lang="zh-CN" altLang="en-US" sz="2800" b="1" kern="1200" cap="none" spc="0" normalizeH="0" baseline="0" noProof="1">
                <a:solidFill>
                  <a:srgbClr val="C00000"/>
                </a:solidFill>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rPr>
              <a:t>４？</a:t>
            </a:r>
            <a:r>
              <a:rPr kumimoji="0" lang="en-US" altLang="x-none" sz="2800" b="1" kern="1200" cap="none" spc="0" normalizeH="0" baseline="0" noProof="1">
                <a:solidFill>
                  <a:srgbClr val="C00000"/>
                </a:solidFill>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rPr>
              <a:t>…….</a:t>
            </a:r>
            <a:endParaRPr kumimoji="0" lang="en-US" altLang="x-none" sz="2800" b="1" kern="1200" cap="none" spc="0" normalizeH="0" baseline="0" noProof="1">
              <a:solidFill>
                <a:srgbClr val="C00000"/>
              </a:solidFill>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ppt_x"/>
                                          </p:val>
                                        </p:tav>
                                        <p:tav tm="100000">
                                          <p:val>
                                            <p:strVal val="#ppt_x"/>
                                          </p:val>
                                        </p:tav>
                                      </p:tavLst>
                                    </p:anim>
                                    <p:anim calcmode="lin" valueType="num">
                                      <p:cBhvr additive="base">
                                        <p:cTn id="8" dur="500" fill="hold"/>
                                        <p:tgtEl>
                                          <p:spTgt spid="2048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4"/>
                                        </p:tgtEl>
                                        <p:attrNameLst>
                                          <p:attrName>style.visibility</p:attrName>
                                        </p:attrNameLst>
                                      </p:cBhvr>
                                      <p:to>
                                        <p:strVal val="visible"/>
                                      </p:to>
                                    </p:set>
                                    <p:anim calcmode="lin" valueType="num">
                                      <p:cBhvr additive="base">
                                        <p:cTn id="13" dur="500" fill="hold"/>
                                        <p:tgtEl>
                                          <p:spTgt spid="20484"/>
                                        </p:tgtEl>
                                        <p:attrNameLst>
                                          <p:attrName>ppt_x</p:attrName>
                                        </p:attrNameLst>
                                      </p:cBhvr>
                                      <p:tavLst>
                                        <p:tav tm="0">
                                          <p:val>
                                            <p:strVal val="#ppt_x"/>
                                          </p:val>
                                        </p:tav>
                                        <p:tav tm="100000">
                                          <p:val>
                                            <p:strVal val="#ppt_x"/>
                                          </p:val>
                                        </p:tav>
                                      </p:tavLst>
                                    </p:anim>
                                    <p:anim calcmode="lin" valueType="num">
                                      <p:cBhvr additive="base">
                                        <p:cTn id="14" dur="500" fill="hold"/>
                                        <p:tgtEl>
                                          <p:spTgt spid="2048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485"/>
                                        </p:tgtEl>
                                        <p:attrNameLst>
                                          <p:attrName>style.visibility</p:attrName>
                                        </p:attrNameLst>
                                      </p:cBhvr>
                                      <p:to>
                                        <p:strVal val="visible"/>
                                      </p:to>
                                    </p:set>
                                    <p:anim calcmode="lin" valueType="num">
                                      <p:cBhvr additive="base">
                                        <p:cTn id="19" dur="500" fill="hold"/>
                                        <p:tgtEl>
                                          <p:spTgt spid="20485"/>
                                        </p:tgtEl>
                                        <p:attrNameLst>
                                          <p:attrName>ppt_x</p:attrName>
                                        </p:attrNameLst>
                                      </p:cBhvr>
                                      <p:tavLst>
                                        <p:tav tm="0">
                                          <p:val>
                                            <p:strVal val="#ppt_x"/>
                                          </p:val>
                                        </p:tav>
                                        <p:tav tm="100000">
                                          <p:val>
                                            <p:strVal val="#ppt_x"/>
                                          </p:val>
                                        </p:tav>
                                      </p:tavLst>
                                    </p:anim>
                                    <p:anim calcmode="lin" valueType="num">
                                      <p:cBhvr additive="base">
                                        <p:cTn id="20"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486"/>
                                        </p:tgtEl>
                                        <p:attrNameLst>
                                          <p:attrName>style.visibility</p:attrName>
                                        </p:attrNameLst>
                                      </p:cBhvr>
                                      <p:to>
                                        <p:strVal val="visible"/>
                                      </p:to>
                                    </p:set>
                                    <p:anim calcmode="lin" valueType="num">
                                      <p:cBhvr additive="base">
                                        <p:cTn id="25" dur="500" fill="hold"/>
                                        <p:tgtEl>
                                          <p:spTgt spid="20486"/>
                                        </p:tgtEl>
                                        <p:attrNameLst>
                                          <p:attrName>ppt_x</p:attrName>
                                        </p:attrNameLst>
                                      </p:cBhvr>
                                      <p:tavLst>
                                        <p:tav tm="0">
                                          <p:val>
                                            <p:strVal val="#ppt_x"/>
                                          </p:val>
                                        </p:tav>
                                        <p:tav tm="100000">
                                          <p:val>
                                            <p:strVal val="#ppt_x"/>
                                          </p:val>
                                        </p:tav>
                                      </p:tavLst>
                                    </p:anim>
                                    <p:anim calcmode="lin" valueType="num">
                                      <p:cBhvr additive="base">
                                        <p:cTn id="26" dur="500" fill="hold"/>
                                        <p:tgtEl>
                                          <p:spTgt spid="204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20484" grpId="0"/>
      <p:bldP spid="20485" grpId="0"/>
      <p:bldP spid="2048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21505"/>
          <p:cNvSpPr/>
          <p:nvPr>
            <p:ph type="title"/>
          </p:nvPr>
        </p:nvSpPr>
        <p:spPr>
          <a:xfrm>
            <a:off x="466725" y="404813"/>
            <a:ext cx="8229600" cy="796925"/>
          </a:xfrm>
        </p:spPr>
        <p:txBody>
          <a:bodyPr vert="horz" wrap="square" lIns="91440" tIns="45720" rIns="91440" bIns="45720" anchor="ctr" anchorCtr="0"/>
          <a:p>
            <a:pPr eaLnBrk="1" hangingPunct="1"/>
            <a:r>
              <a:rPr lang="zh-CN" altLang="en-US" b="0" dirty="0"/>
              <a:t> </a:t>
            </a:r>
            <a:r>
              <a:rPr lang="en-US" altLang="zh-CN" sz="3600" dirty="0">
                <a:latin typeface="Times New Roman Bold" panose="02020503050405090304" charset="0"/>
              </a:rPr>
              <a:t>Basic skills of FFT</a:t>
            </a:r>
            <a:endParaRPr lang="zh-CN" altLang="en-US" sz="3600" dirty="0">
              <a:latin typeface="Times New Roman Bold" panose="02020503050405090304" charset="0"/>
              <a:ea typeface="楷体" pitchFamily="49" charset="-122"/>
            </a:endParaRPr>
          </a:p>
        </p:txBody>
      </p:sp>
      <p:sp>
        <p:nvSpPr>
          <p:cNvPr id="21507" name="文本框 21506"/>
          <p:cNvSpPr txBox="1"/>
          <p:nvPr/>
        </p:nvSpPr>
        <p:spPr>
          <a:xfrm>
            <a:off x="171450" y="1268730"/>
            <a:ext cx="8820150" cy="3322955"/>
          </a:xfrm>
          <a:prstGeom prst="rect">
            <a:avLst/>
          </a:prstGeom>
          <a:noFill/>
          <a:ln w="9525">
            <a:noFill/>
            <a:miter/>
          </a:ln>
        </p:spPr>
        <p:txBody>
          <a:bodyPr wrap="square">
            <a:spAutoFit/>
          </a:bodyPr>
          <a:lstStyle/>
          <a:p>
            <a:pPr marR="0" defTabSz="914400">
              <a:spcBef>
                <a:spcPct val="50000"/>
              </a:spcBef>
              <a:buClrTx/>
              <a:buSzTx/>
              <a:buFont typeface="Wingdings" panose="05000000000000000000" pitchFamily="2" charset="2"/>
              <a:buChar char="l"/>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Compute </a:t>
            </a:r>
            <a:r>
              <a:rPr lang="en-US" altLang="zh-CN" sz="2800" b="1" noProof="1">
                <a:effectLst>
                  <a:outerShdw blurRad="38100" dist="38100" dir="2700000">
                    <a:srgbClr val="C0C0C0"/>
                  </a:outerShdw>
                </a:effectLst>
                <a:latin typeface="Times New Roman" panose="02020503050405090304" pitchFamily="18" charset="0"/>
                <a:ea typeface="楷体" pitchFamily="49" charset="-122"/>
                <a:cs typeface="+mn-ea"/>
                <a:sym typeface="+mn-ea"/>
              </a:rPr>
              <a:t>DFTs of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two N-point real sequences: firstly, combine them into an N-point complex sequence (two real sequences are set to the real part and imaginary part of the complex sequence respectively), and then calculate the N-point complex sequence DFT by DFT symmetry relations.</a:t>
            </a:r>
            <a:endPar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a:p>
            <a:pPr marR="0" defTabSz="914400">
              <a:spcBef>
                <a:spcPct val="50000"/>
              </a:spcBef>
              <a:buClrTx/>
              <a:buSzTx/>
              <a:buFont typeface="Wingdings" panose="05000000000000000000" pitchFamily="2" charset="2"/>
              <a:buChar char="l"/>
              <a:defRPr/>
            </a:pP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endParaRPr>
          </a:p>
        </p:txBody>
      </p:sp>
      <p:sp>
        <p:nvSpPr>
          <p:cNvPr id="21508" name="文本框 21507"/>
          <p:cNvSpPr txBox="1"/>
          <p:nvPr/>
        </p:nvSpPr>
        <p:spPr>
          <a:xfrm>
            <a:off x="161925" y="3829050"/>
            <a:ext cx="9144000" cy="3107690"/>
          </a:xfrm>
          <a:prstGeom prst="rect">
            <a:avLst/>
          </a:prstGeom>
          <a:noFill/>
          <a:ln w="9525">
            <a:noFill/>
            <a:miter/>
          </a:ln>
        </p:spPr>
        <p:txBody>
          <a:bodyPr wrap="square">
            <a:spAutoFit/>
          </a:bodyPr>
          <a:lstStyle/>
          <a:p>
            <a:pPr marR="0" defTabSz="914400">
              <a:spcBef>
                <a:spcPct val="50000"/>
              </a:spcBef>
              <a:buClrTx/>
              <a:buSzTx/>
              <a:buFont typeface="Wingdings" panose="05000000000000000000" pitchFamily="2" charset="2"/>
              <a:buChar char="l"/>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Compute </a:t>
            </a:r>
            <a:r>
              <a:rPr lang="en-US" altLang="zh-CN" sz="2800" b="1" noProof="1">
                <a:effectLst>
                  <a:outerShdw blurRad="38100" dist="38100" dir="2700000">
                    <a:srgbClr val="C0C0C0"/>
                  </a:outerShdw>
                </a:effectLst>
                <a:latin typeface="Times New Roman" panose="02020503050405090304" pitchFamily="18" charset="0"/>
                <a:ea typeface="楷体" pitchFamily="49" charset="-122"/>
                <a:cs typeface="+mn-ea"/>
                <a:sym typeface="+mn-ea"/>
              </a:rPr>
              <a:t>DFT of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 2N point real sequence: firstly, turn it into an N-point complex sequence (take the even and odd points of the sequence as the real and imaginary parts of the complex sequence respectively), and then calculate DFT of the N-point complex sequence. Finally, the DFT of the original real sequence is obtained from the DFT of the complex sequence </a:t>
            </a:r>
            <a:r>
              <a:rPr lang="en-US" altLang="zh-CN" sz="2800" b="1">
                <a:effectLst>
                  <a:outerShdw blurRad="38100" dist="38100" dir="2700000">
                    <a:srgbClr val="C0C0C0"/>
                  </a:outerShdw>
                </a:effectLst>
                <a:ea typeface="楷体" pitchFamily="49" charset="-122"/>
                <a:cs typeface="+mn-ea"/>
                <a:sym typeface="+mn-ea"/>
              </a:rPr>
              <a:t>by DFT symmetry relations</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additive="base">
                                        <p:cTn id="7" dur="500" fill="hold"/>
                                        <p:tgtEl>
                                          <p:spTgt spid="21507"/>
                                        </p:tgtEl>
                                        <p:attrNameLst>
                                          <p:attrName>ppt_x</p:attrName>
                                        </p:attrNameLst>
                                      </p:cBhvr>
                                      <p:tavLst>
                                        <p:tav tm="0">
                                          <p:val>
                                            <p:strVal val="#ppt_x"/>
                                          </p:val>
                                        </p:tav>
                                        <p:tav tm="100000">
                                          <p:val>
                                            <p:strVal val="#ppt_x"/>
                                          </p:val>
                                        </p:tav>
                                      </p:tavLst>
                                    </p:anim>
                                    <p:anim calcmode="lin" valueType="num">
                                      <p:cBhvr additive="base">
                                        <p:cTn id="8" dur="500" fill="hold"/>
                                        <p:tgtEl>
                                          <p:spTgt spid="2150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8"/>
                                        </p:tgtEl>
                                        <p:attrNameLst>
                                          <p:attrName>style.visibility</p:attrName>
                                        </p:attrNameLst>
                                      </p:cBhvr>
                                      <p:to>
                                        <p:strVal val="visible"/>
                                      </p:to>
                                    </p:set>
                                    <p:anim calcmode="lin" valueType="num">
                                      <p:cBhvr additive="base">
                                        <p:cTn id="13" dur="500" fill="hold"/>
                                        <p:tgtEl>
                                          <p:spTgt spid="21508"/>
                                        </p:tgtEl>
                                        <p:attrNameLst>
                                          <p:attrName>ppt_x</p:attrName>
                                        </p:attrNameLst>
                                      </p:cBhvr>
                                      <p:tavLst>
                                        <p:tav tm="0">
                                          <p:val>
                                            <p:strVal val="#ppt_x"/>
                                          </p:val>
                                        </p:tav>
                                        <p:tav tm="100000">
                                          <p:val>
                                            <p:strVal val="#ppt_x"/>
                                          </p:val>
                                        </p:tav>
                                      </p:tavLst>
                                    </p:anim>
                                    <p:anim calcmode="lin" valueType="num">
                                      <p:cBhvr additive="base">
                                        <p:cTn id="14"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2150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22529"/>
          <p:cNvSpPr/>
          <p:nvPr>
            <p:ph type="title"/>
          </p:nvPr>
        </p:nvSpPr>
        <p:spPr>
          <a:xfrm>
            <a:off x="292100" y="330200"/>
            <a:ext cx="6819900" cy="790575"/>
          </a:xfrm>
        </p:spPr>
        <p:txBody>
          <a:bodyPr vert="horz" wrap="square" lIns="91440" tIns="45720" rIns="91440" bIns="45720" anchor="ctr" anchorCtr="0"/>
          <a:p>
            <a:pPr eaLnBrk="1" hangingPunct="1"/>
            <a:r>
              <a:rPr lang="en-US" altLang="zh-CN" sz="3600" dirty="0">
                <a:latin typeface="Times New Roman" panose="02020503050405090304" pitchFamily="18" charset="0"/>
                <a:ea typeface="楷体" pitchFamily="49" charset="-122"/>
              </a:rPr>
              <a:t>3 The Relationship of Several Transformations</a:t>
            </a:r>
            <a:endParaRPr lang="en-US" altLang="zh-CN" sz="3600" dirty="0">
              <a:latin typeface="Times New Roman" panose="02020503050405090304" pitchFamily="18" charset="0"/>
              <a:ea typeface="楷体" pitchFamily="49" charset="-122"/>
            </a:endParaRPr>
          </a:p>
        </p:txBody>
      </p:sp>
      <p:sp>
        <p:nvSpPr>
          <p:cNvPr id="22531" name="文本框 22530"/>
          <p:cNvSpPr txBox="1"/>
          <p:nvPr/>
        </p:nvSpPr>
        <p:spPr>
          <a:xfrm>
            <a:off x="488950" y="1495425"/>
            <a:ext cx="7016750" cy="523875"/>
          </a:xfrm>
          <a:prstGeom prst="rect">
            <a:avLst/>
          </a:prstGeom>
          <a:noFill/>
          <a:ln w="9525">
            <a:noFill/>
            <a:miter/>
          </a:ln>
        </p:spPr>
        <p:txBody>
          <a:bodyPr wrap="square">
            <a:spAutoFit/>
          </a:bodyPr>
          <a:lstStyle/>
          <a:p>
            <a:pPr marR="0" defTabSz="914400">
              <a:spcBef>
                <a:spcPct val="50000"/>
              </a:spcBef>
              <a:buClrTx/>
              <a:buSzTx/>
              <a:buFont typeface="Wingdings" panose="05000000000000000000" pitchFamily="2" charset="2"/>
              <a:buChar char="Ø"/>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relationship between ZT and DTFT </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2532" name="文本框 22531"/>
          <p:cNvSpPr txBox="1"/>
          <p:nvPr/>
        </p:nvSpPr>
        <p:spPr>
          <a:xfrm>
            <a:off x="936625" y="2138363"/>
            <a:ext cx="7956550" cy="95250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DTFT is the z-transform on the unit circle in z plane.</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2533" name="文本框 22532"/>
          <p:cNvSpPr txBox="1"/>
          <p:nvPr/>
        </p:nvSpPr>
        <p:spPr>
          <a:xfrm>
            <a:off x="488950" y="3157538"/>
            <a:ext cx="7199313" cy="523875"/>
          </a:xfrm>
          <a:prstGeom prst="rect">
            <a:avLst/>
          </a:prstGeom>
          <a:noFill/>
          <a:ln w="9525">
            <a:noFill/>
            <a:miter/>
          </a:ln>
        </p:spPr>
        <p:txBody>
          <a:bodyPr wrap="square">
            <a:spAutoFit/>
          </a:bodyPr>
          <a:lstStyle/>
          <a:p>
            <a:pPr marR="0" defTabSz="914400">
              <a:spcBef>
                <a:spcPct val="50000"/>
              </a:spcBef>
              <a:buClrTx/>
              <a:buSzTx/>
              <a:buFont typeface="Wingdings" panose="05000000000000000000" pitchFamily="2" charset="2"/>
              <a:buChar char="Ø"/>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relationship between DTFT and DFT</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2536" name="文本框 22535"/>
          <p:cNvSpPr txBox="1"/>
          <p:nvPr/>
        </p:nvSpPr>
        <p:spPr bwMode="auto">
          <a:xfrm>
            <a:off x="936625" y="3851275"/>
            <a:ext cx="8280400" cy="95250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DFT is the uniform interval (2</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π/N</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sampling of DTFT on the unit circle in z plane.</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22537" name="文本框 22536"/>
          <p:cNvSpPr txBox="1"/>
          <p:nvPr/>
        </p:nvSpPr>
        <p:spPr>
          <a:xfrm>
            <a:off x="488950" y="4973638"/>
            <a:ext cx="7272338" cy="1384300"/>
          </a:xfrm>
          <a:prstGeom prst="rect">
            <a:avLst/>
          </a:prstGeom>
          <a:noFill/>
          <a:ln w="9525">
            <a:noFill/>
            <a:miter/>
          </a:ln>
        </p:spPr>
        <p:txBody>
          <a:bodyPr wrap="square">
            <a:spAutoFit/>
          </a:bodyPr>
          <a:lstStyle/>
          <a:p>
            <a:pPr marR="0" defTabSz="914400">
              <a:spcBef>
                <a:spcPct val="50000"/>
              </a:spcBef>
              <a:buClrTx/>
              <a:buSzTx/>
              <a:buFont typeface="Wingdings" panose="05000000000000000000" pitchFamily="2" charset="2"/>
              <a:buChar char="Ø"/>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Linear convolution and circular convolution have their own definitions, application scope and relationship</a:t>
            </a:r>
            <a:r>
              <a:rPr kumimoji="0" 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1"/>
                                        </p:tgtEl>
                                        <p:attrNameLst>
                                          <p:attrName>style.visibility</p:attrName>
                                        </p:attrNameLst>
                                      </p:cBhvr>
                                      <p:to>
                                        <p:strVal val="visible"/>
                                      </p:to>
                                    </p:set>
                                    <p:anim calcmode="lin" valueType="num">
                                      <p:cBhvr additive="base">
                                        <p:cTn id="7" dur="500" fill="hold"/>
                                        <p:tgtEl>
                                          <p:spTgt spid="22531"/>
                                        </p:tgtEl>
                                        <p:attrNameLst>
                                          <p:attrName>ppt_x</p:attrName>
                                        </p:attrNameLst>
                                      </p:cBhvr>
                                      <p:tavLst>
                                        <p:tav tm="0">
                                          <p:val>
                                            <p:strVal val="#ppt_x"/>
                                          </p:val>
                                        </p:tav>
                                        <p:tav tm="100000">
                                          <p:val>
                                            <p:strVal val="#ppt_x"/>
                                          </p:val>
                                        </p:tav>
                                      </p:tavLst>
                                    </p:anim>
                                    <p:anim calcmode="lin" valueType="num">
                                      <p:cBhvr additive="base">
                                        <p:cTn id="8" dur="500" fill="hold"/>
                                        <p:tgtEl>
                                          <p:spTgt spid="225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32"/>
                                        </p:tgtEl>
                                        <p:attrNameLst>
                                          <p:attrName>style.visibility</p:attrName>
                                        </p:attrNameLst>
                                      </p:cBhvr>
                                      <p:to>
                                        <p:strVal val="visible"/>
                                      </p:to>
                                    </p:set>
                                    <p:anim calcmode="lin" valueType="num">
                                      <p:cBhvr additive="base">
                                        <p:cTn id="13" dur="500" fill="hold"/>
                                        <p:tgtEl>
                                          <p:spTgt spid="22532"/>
                                        </p:tgtEl>
                                        <p:attrNameLst>
                                          <p:attrName>ppt_x</p:attrName>
                                        </p:attrNameLst>
                                      </p:cBhvr>
                                      <p:tavLst>
                                        <p:tav tm="0">
                                          <p:val>
                                            <p:strVal val="#ppt_x"/>
                                          </p:val>
                                        </p:tav>
                                        <p:tav tm="100000">
                                          <p:val>
                                            <p:strVal val="#ppt_x"/>
                                          </p:val>
                                        </p:tav>
                                      </p:tavLst>
                                    </p:anim>
                                    <p:anim calcmode="lin" valueType="num">
                                      <p:cBhvr additive="base">
                                        <p:cTn id="14" dur="500" fill="hold"/>
                                        <p:tgtEl>
                                          <p:spTgt spid="2253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33"/>
                                        </p:tgtEl>
                                        <p:attrNameLst>
                                          <p:attrName>style.visibility</p:attrName>
                                        </p:attrNameLst>
                                      </p:cBhvr>
                                      <p:to>
                                        <p:strVal val="visible"/>
                                      </p:to>
                                    </p:set>
                                    <p:anim calcmode="lin" valueType="num">
                                      <p:cBhvr additive="base">
                                        <p:cTn id="19" dur="500" fill="hold"/>
                                        <p:tgtEl>
                                          <p:spTgt spid="22533"/>
                                        </p:tgtEl>
                                        <p:attrNameLst>
                                          <p:attrName>ppt_x</p:attrName>
                                        </p:attrNameLst>
                                      </p:cBhvr>
                                      <p:tavLst>
                                        <p:tav tm="0">
                                          <p:val>
                                            <p:strVal val="#ppt_x"/>
                                          </p:val>
                                        </p:tav>
                                        <p:tav tm="100000">
                                          <p:val>
                                            <p:strVal val="#ppt_x"/>
                                          </p:val>
                                        </p:tav>
                                      </p:tavLst>
                                    </p:anim>
                                    <p:anim calcmode="lin" valueType="num">
                                      <p:cBhvr additive="base">
                                        <p:cTn id="20" dur="500" fill="hold"/>
                                        <p:tgtEl>
                                          <p:spTgt spid="225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537"/>
                                        </p:tgtEl>
                                        <p:attrNameLst>
                                          <p:attrName>style.visibility</p:attrName>
                                        </p:attrNameLst>
                                      </p:cBhvr>
                                      <p:to>
                                        <p:strVal val="visible"/>
                                      </p:to>
                                    </p:set>
                                    <p:anim calcmode="lin" valueType="num">
                                      <p:cBhvr additive="base">
                                        <p:cTn id="25" dur="500" fill="hold"/>
                                        <p:tgtEl>
                                          <p:spTgt spid="22537"/>
                                        </p:tgtEl>
                                        <p:attrNameLst>
                                          <p:attrName>ppt_x</p:attrName>
                                        </p:attrNameLst>
                                      </p:cBhvr>
                                      <p:tavLst>
                                        <p:tav tm="0">
                                          <p:val>
                                            <p:strVal val="#ppt_x"/>
                                          </p:val>
                                        </p:tav>
                                        <p:tav tm="100000">
                                          <p:val>
                                            <p:strVal val="#ppt_x"/>
                                          </p:val>
                                        </p:tav>
                                      </p:tavLst>
                                    </p:anim>
                                    <p:anim calcmode="lin" valueType="num">
                                      <p:cBhvr additive="base">
                                        <p:cTn id="26" dur="500" fill="hold"/>
                                        <p:tgtEl>
                                          <p:spTgt spid="225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P spid="22532" grpId="0"/>
      <p:bldP spid="22533" grpId="0"/>
      <p:bldP spid="2253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31745"/>
          <p:cNvSpPr/>
          <p:nvPr>
            <p:ph type="title"/>
          </p:nvPr>
        </p:nvSpPr>
        <p:spPr>
          <a:xfrm>
            <a:off x="444500" y="207963"/>
            <a:ext cx="6619875" cy="868362"/>
          </a:xfrm>
        </p:spPr>
        <p:txBody>
          <a:bodyPr vert="horz" wrap="square" lIns="91440" tIns="45720" rIns="91440" bIns="45720" anchor="ctr" anchorCtr="0"/>
          <a:p>
            <a:pPr eaLnBrk="1" hangingPunct="1"/>
            <a:r>
              <a:rPr lang="en-US" altLang="zh-CN" sz="4000" dirty="0">
                <a:latin typeface="Times New Roman Bold" panose="02020503050405090304" charset="0"/>
                <a:ea typeface="楷体" pitchFamily="49" charset="-122"/>
              </a:rPr>
              <a:t>Topic 7: The Realization Structures of Digital Filters</a:t>
            </a:r>
            <a:endParaRPr lang="en-US" altLang="zh-CN" sz="4000" dirty="0">
              <a:latin typeface="Times New Roman Bold" panose="02020503050405090304" charset="0"/>
              <a:ea typeface="楷体" pitchFamily="49" charset="-122"/>
            </a:endParaRPr>
          </a:p>
        </p:txBody>
      </p:sp>
      <p:sp>
        <p:nvSpPr>
          <p:cNvPr id="31747" name="文本框 31746"/>
          <p:cNvSpPr txBox="1"/>
          <p:nvPr/>
        </p:nvSpPr>
        <p:spPr>
          <a:xfrm>
            <a:off x="684213" y="1341438"/>
            <a:ext cx="2852738" cy="522288"/>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Requirements: </a:t>
            </a:r>
            <a:r>
              <a:rPr kumimoji="0" lang="zh-CN" altLang="en-US" sz="2800" b="1" kern="1200" cap="none" spc="0" normalizeH="0" baseline="0" noProof="1">
                <a:effectLst>
                  <a:outerShdw blurRad="38100" dist="38100" dir="2700000">
                    <a:srgbClr val="C0C0C0"/>
                  </a:outerShdw>
                </a:effectLst>
                <a:latin typeface="楷体" pitchFamily="49" charset="-122"/>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楷体" pitchFamily="49" charset="-122"/>
              <a:ea typeface="楷体" pitchFamily="49" charset="-122"/>
              <a:cs typeface="+mn-cs"/>
              <a:sym typeface="+mn-ea"/>
            </a:endParaRPr>
          </a:p>
        </p:txBody>
      </p:sp>
      <p:sp>
        <p:nvSpPr>
          <p:cNvPr id="31748" name="文本框 31747"/>
          <p:cNvSpPr txBox="1"/>
          <p:nvPr/>
        </p:nvSpPr>
        <p:spPr>
          <a:xfrm>
            <a:off x="684213" y="1878013"/>
            <a:ext cx="8229600"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rPr>
              <a: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1） The description of block diagram and signal flow graph.</a:t>
            </a:r>
            <a:endParaRPr kumimoji="0" lang="en-US" altLang="zh-CN" sz="2800" b="1" kern="1200" cap="none" spc="0" normalizeH="0" baseline="0" noProof="1">
              <a:effectLst>
                <a:outerShdw blurRad="38100" dist="38100" dir="2700000">
                  <a:srgbClr val="C0C0C0"/>
                </a:outerShdw>
              </a:effectLst>
              <a:ea typeface="楷体" pitchFamily="49" charset="-122"/>
              <a:cs typeface="+mn-ea"/>
              <a:sym typeface="+mn-ea"/>
            </a:endParaRPr>
          </a:p>
        </p:txBody>
      </p:sp>
      <p:sp>
        <p:nvSpPr>
          <p:cNvPr id="31749" name="文本框 31748"/>
          <p:cNvSpPr txBox="1"/>
          <p:nvPr/>
        </p:nvSpPr>
        <p:spPr>
          <a:xfrm>
            <a:off x="1403350" y="2747963"/>
            <a:ext cx="6742113" cy="521970"/>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Commonly used structures of digital filters:</a:t>
            </a:r>
            <a:endParaRPr kumimoji="0" lang="en-US" altLang="zh-CN" sz="2800" b="1" kern="1200" cap="none" spc="0" normalizeH="0" baseline="0" noProof="1">
              <a:effectLst>
                <a:outerShdw blurRad="38100" dist="38100" dir="2700000">
                  <a:srgbClr val="C0C0C0"/>
                </a:outerShdw>
              </a:effectLst>
              <a:ea typeface="楷体" pitchFamily="49" charset="-122"/>
              <a:cs typeface="+mn-ea"/>
              <a:sym typeface="+mn-ea"/>
            </a:endParaRPr>
          </a:p>
        </p:txBody>
      </p:sp>
      <p:sp>
        <p:nvSpPr>
          <p:cNvPr id="31750" name="文本框 31749"/>
          <p:cNvSpPr txBox="1"/>
          <p:nvPr/>
        </p:nvSpPr>
        <p:spPr>
          <a:xfrm>
            <a:off x="684213" y="3271838"/>
            <a:ext cx="8324850" cy="95250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（2）</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IIR direct form realizion, cascade </a:t>
            </a:r>
            <a:r>
              <a:rPr lang="en-US" altLang="x-none" sz="2800" b="1" noProof="1">
                <a:effectLst>
                  <a:outerShdw blurRad="38100" dist="38100" dir="2700000">
                    <a:srgbClr val="C0C0C0"/>
                  </a:outerShdw>
                </a:effectLst>
                <a:latin typeface="Times New Roman" panose="02020503050405090304" pitchFamily="18" charset="0"/>
                <a:ea typeface="楷体" pitchFamily="49" charset="-122"/>
                <a:cs typeface="+mn-ea"/>
                <a:sym typeface="+mn-ea"/>
              </a:rPr>
              <a:t>realizion</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and parallel realization</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1751" name="文本框 31750"/>
          <p:cNvSpPr txBox="1"/>
          <p:nvPr/>
        </p:nvSpPr>
        <p:spPr>
          <a:xfrm>
            <a:off x="684213" y="4225925"/>
            <a:ext cx="8140700" cy="522288"/>
          </a:xfrm>
          <a:prstGeom prst="rect">
            <a:avLst/>
          </a:prstGeom>
          <a:noFill/>
          <a:ln w="9525">
            <a:noFill/>
            <a:miter/>
          </a:ln>
        </p:spPr>
        <p:txBody>
          <a:bodyPr wrap="square">
            <a:spAutoFit/>
          </a:bodyPr>
          <a:lstStyle/>
          <a:p>
            <a:pPr marR="0" defTabSz="914400">
              <a:spcBef>
                <a:spcPct val="20000"/>
              </a:spcBef>
              <a:buClr>
                <a:schemeClr val="hlink"/>
              </a:buClr>
              <a:buSzTx/>
              <a:buFont typeface="Wingdings" panose="05000000000000000000" pitchFamily="2" charset="2"/>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（3） </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FIR direct realization and cascade realizaton</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1752" name="文本框 31751"/>
          <p:cNvSpPr txBox="1"/>
          <p:nvPr/>
        </p:nvSpPr>
        <p:spPr>
          <a:xfrm>
            <a:off x="1138238" y="4940300"/>
            <a:ext cx="5473700" cy="522288"/>
          </a:xfrm>
          <a:prstGeom prst="rect">
            <a:avLst/>
          </a:prstGeom>
          <a:noFill/>
          <a:ln w="9525">
            <a:noFill/>
            <a:miter/>
          </a:ln>
        </p:spPr>
        <p:txBody>
          <a:bodyPr>
            <a:spAutoFit/>
          </a:bodyPr>
          <a:lstStyle/>
          <a:p>
            <a:pPr marR="0" defTabSz="914400">
              <a:spcBef>
                <a:spcPct val="20000"/>
              </a:spcBef>
              <a:buClr>
                <a:schemeClr val="hlink"/>
              </a:buClr>
              <a:buSzTx/>
              <a:buFont typeface="Wingdings" panose="05000000000000000000" pitchFamily="2" charset="2"/>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Corresponding range: 8.1-8.5</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 calcmode="lin" valueType="num">
                                      <p:cBhvr additive="base">
                                        <p:cTn id="7" dur="500" fill="hold"/>
                                        <p:tgtEl>
                                          <p:spTgt spid="31747"/>
                                        </p:tgtEl>
                                        <p:attrNameLst>
                                          <p:attrName>ppt_x</p:attrName>
                                        </p:attrNameLst>
                                      </p:cBhvr>
                                      <p:tavLst>
                                        <p:tav tm="0">
                                          <p:val>
                                            <p:strVal val="#ppt_x"/>
                                          </p:val>
                                        </p:tav>
                                        <p:tav tm="100000">
                                          <p:val>
                                            <p:strVal val="#ppt_x"/>
                                          </p:val>
                                        </p:tav>
                                      </p:tavLst>
                                    </p:anim>
                                    <p:anim calcmode="lin" valueType="num">
                                      <p:cBhvr additive="base">
                                        <p:cTn id="8" dur="500" fill="hold"/>
                                        <p:tgtEl>
                                          <p:spTgt spid="317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1748"/>
                                        </p:tgtEl>
                                        <p:attrNameLst>
                                          <p:attrName>style.visibility</p:attrName>
                                        </p:attrNameLst>
                                      </p:cBhvr>
                                      <p:to>
                                        <p:strVal val="visible"/>
                                      </p:to>
                                    </p:set>
                                    <p:animEffect transition="in" filter="blinds(horizontal)">
                                      <p:cBhvr>
                                        <p:cTn id="13" dur="500"/>
                                        <p:tgtEl>
                                          <p:spTgt spid="3174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1749"/>
                                        </p:tgtEl>
                                        <p:attrNameLst>
                                          <p:attrName>style.visibility</p:attrName>
                                        </p:attrNameLst>
                                      </p:cBhvr>
                                      <p:to>
                                        <p:strVal val="visible"/>
                                      </p:to>
                                    </p:set>
                                    <p:animEffect transition="in" filter="blinds(horizontal)">
                                      <p:cBhvr>
                                        <p:cTn id="18" dur="500"/>
                                        <p:tgtEl>
                                          <p:spTgt spid="3174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1750"/>
                                        </p:tgtEl>
                                        <p:attrNameLst>
                                          <p:attrName>style.visibility</p:attrName>
                                        </p:attrNameLst>
                                      </p:cBhvr>
                                      <p:to>
                                        <p:strVal val="visible"/>
                                      </p:to>
                                    </p:set>
                                    <p:animEffect transition="in" filter="blinds(horizontal)">
                                      <p:cBhvr>
                                        <p:cTn id="23" dur="500"/>
                                        <p:tgtEl>
                                          <p:spTgt spid="31750"/>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1751"/>
                                        </p:tgtEl>
                                        <p:attrNameLst>
                                          <p:attrName>style.visibility</p:attrName>
                                        </p:attrNameLst>
                                      </p:cBhvr>
                                      <p:to>
                                        <p:strVal val="visible"/>
                                      </p:to>
                                    </p:set>
                                    <p:anim calcmode="lin" valueType="num">
                                      <p:cBhvr additive="base">
                                        <p:cTn id="28" dur="500" fill="hold"/>
                                        <p:tgtEl>
                                          <p:spTgt spid="31751"/>
                                        </p:tgtEl>
                                        <p:attrNameLst>
                                          <p:attrName>ppt_x</p:attrName>
                                        </p:attrNameLst>
                                      </p:cBhvr>
                                      <p:tavLst>
                                        <p:tav tm="0">
                                          <p:val>
                                            <p:strVal val="#ppt_x"/>
                                          </p:val>
                                        </p:tav>
                                        <p:tav tm="100000">
                                          <p:val>
                                            <p:strVal val="#ppt_x"/>
                                          </p:val>
                                        </p:tav>
                                      </p:tavLst>
                                    </p:anim>
                                    <p:anim calcmode="lin" valueType="num">
                                      <p:cBhvr additive="base">
                                        <p:cTn id="29" dur="500" fill="hold"/>
                                        <p:tgtEl>
                                          <p:spTgt spid="3175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1752"/>
                                        </p:tgtEl>
                                        <p:attrNameLst>
                                          <p:attrName>style.visibility</p:attrName>
                                        </p:attrNameLst>
                                      </p:cBhvr>
                                      <p:to>
                                        <p:strVal val="visible"/>
                                      </p:to>
                                    </p:set>
                                    <p:anim calcmode="lin" valueType="num">
                                      <p:cBhvr additive="base">
                                        <p:cTn id="34" dur="500" fill="hold"/>
                                        <p:tgtEl>
                                          <p:spTgt spid="31752"/>
                                        </p:tgtEl>
                                        <p:attrNameLst>
                                          <p:attrName>ppt_x</p:attrName>
                                        </p:attrNameLst>
                                      </p:cBhvr>
                                      <p:tavLst>
                                        <p:tav tm="0">
                                          <p:val>
                                            <p:strVal val="#ppt_x"/>
                                          </p:val>
                                        </p:tav>
                                        <p:tav tm="100000">
                                          <p:val>
                                            <p:strVal val="#ppt_x"/>
                                          </p:val>
                                        </p:tav>
                                      </p:tavLst>
                                    </p:anim>
                                    <p:anim calcmode="lin" valueType="num">
                                      <p:cBhvr additive="base">
                                        <p:cTn id="35" dur="500" fill="hold"/>
                                        <p:tgtEl>
                                          <p:spTgt spid="317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P spid="31748" grpId="0"/>
      <p:bldP spid="31749" grpId="0"/>
      <p:bldP spid="31750" grpId="0"/>
      <p:bldP spid="31751" grpId="0"/>
      <p:bldP spid="3175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32769"/>
          <p:cNvSpPr/>
          <p:nvPr>
            <p:ph type="title"/>
          </p:nvPr>
        </p:nvSpPr>
        <p:spPr/>
        <p:txBody>
          <a:bodyPr vert="horz" wrap="square" lIns="91440" tIns="45720" rIns="91440" bIns="45720" anchor="ctr" anchorCtr="0"/>
          <a:p>
            <a:pPr eaLnBrk="1" hangingPunct="1"/>
            <a:r>
              <a:rPr lang="zh-CN" altLang="en-US" sz="3600" dirty="0">
                <a:latin typeface="Times New Roman" panose="02020503050405090304" pitchFamily="18" charset="0"/>
                <a:ea typeface="楷体" pitchFamily="49" charset="-122"/>
              </a:rPr>
              <a:t>1</a:t>
            </a:r>
            <a:r>
              <a:rPr lang="en-US" altLang="zh-CN" sz="3600" dirty="0">
                <a:latin typeface="Times New Roman" panose="02020503050405090304" pitchFamily="18" charset="0"/>
                <a:ea typeface="楷体" pitchFamily="49" charset="-122"/>
              </a:rPr>
              <a:t> Block Diagram and Signal Flow Graph</a:t>
            </a:r>
            <a:endParaRPr lang="en-US" altLang="zh-CN" sz="3600" dirty="0">
              <a:latin typeface="Times New Roman" panose="02020503050405090304" pitchFamily="18" charset="0"/>
              <a:ea typeface="楷体" pitchFamily="49" charset="-122"/>
            </a:endParaRPr>
          </a:p>
        </p:txBody>
      </p:sp>
      <p:sp>
        <p:nvSpPr>
          <p:cNvPr id="32771" name="文本框 32770"/>
          <p:cNvSpPr txBox="1"/>
          <p:nvPr/>
        </p:nvSpPr>
        <p:spPr>
          <a:xfrm>
            <a:off x="803275" y="1555750"/>
            <a:ext cx="7696200" cy="1383665"/>
          </a:xfrm>
          <a:prstGeom prst="rect">
            <a:avLst/>
          </a:prstGeom>
          <a:noFill/>
          <a:ln w="9525">
            <a:noFill/>
            <a:miter/>
          </a:ln>
        </p:spPr>
        <p:txBody>
          <a:bodyPr wrap="square">
            <a:spAutoFit/>
          </a:bodyPr>
          <a:lstStyle/>
          <a:p>
            <a:pPr marR="0" defTabSz="914400">
              <a:spcBef>
                <a:spcPct val="50000"/>
              </a:spcBef>
              <a:buClr>
                <a:srgbClr val="00FFFF"/>
              </a:buClr>
              <a:buSzTx/>
              <a:buFont typeface="Wingdings" panose="05000000000000000000" pitchFamily="2" charset="2"/>
              <a:buChar char="l"/>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Given the block diagram, the difference equation</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input-output relationship</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can be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got .</a:t>
            </a:r>
            <a:endParaRPr kumimoji="0" lang="en-US" altLang="zh-CN" sz="2800" b="1" kern="1200" cap="none" spc="0" normalizeH="0" baseline="0" noProof="1">
              <a:effectLst>
                <a:outerShdw blurRad="38100" dist="38100" dir="2700000">
                  <a:srgbClr val="C0C0C0"/>
                </a:outerShdw>
              </a:effectLst>
              <a:ea typeface="楷体" pitchFamily="49" charset="-122"/>
              <a:cs typeface="+mn-ea"/>
              <a:sym typeface="+mn-ea"/>
            </a:endParaRPr>
          </a:p>
        </p:txBody>
      </p:sp>
      <p:sp>
        <p:nvSpPr>
          <p:cNvPr id="32772" name="文本框 32771"/>
          <p:cNvSpPr txBox="1"/>
          <p:nvPr/>
        </p:nvSpPr>
        <p:spPr>
          <a:xfrm>
            <a:off x="812800" y="3194050"/>
            <a:ext cx="7516813" cy="953135"/>
          </a:xfrm>
          <a:prstGeom prst="rect">
            <a:avLst/>
          </a:prstGeom>
          <a:noFill/>
          <a:ln w="9525">
            <a:noFill/>
            <a:miter/>
          </a:ln>
        </p:spPr>
        <p:txBody>
          <a:bodyPr wrap="square">
            <a:spAutoFit/>
          </a:bodyPr>
          <a:lstStyle/>
          <a:p>
            <a:pPr marR="0" defTabSz="914400">
              <a:spcBef>
                <a:spcPct val="50000"/>
              </a:spcBef>
              <a:buClr>
                <a:srgbClr val="00FFFF"/>
              </a:buClr>
              <a:buSzTx/>
              <a:buFont typeface="Wingdings" panose="05000000000000000000" pitchFamily="2" charset="2"/>
              <a:buChar char="l"/>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To design a realization strucure in form of a block diagram for a given  difference equation.</a:t>
            </a:r>
            <a:endParaRPr kumimoji="0" lang="zh-CN" altLang="en-US" sz="2800" b="1" kern="1200" cap="none" spc="0" normalizeH="0" baseline="0" noProof="1">
              <a:effectLst>
                <a:outerShdw blurRad="38100" dist="38100" dir="2700000">
                  <a:srgbClr val="C0C0C0"/>
                </a:outerShdw>
              </a:effectLst>
              <a:latin typeface="楷体" pitchFamily="49" charset="-122"/>
              <a:ea typeface="楷体" pitchFamily="49" charset="-122"/>
              <a:cs typeface="+mn-cs"/>
              <a:sym typeface="+mn-ea"/>
            </a:endParaRPr>
          </a:p>
        </p:txBody>
      </p:sp>
      <p:sp>
        <p:nvSpPr>
          <p:cNvPr id="32773" name="文本框 32772"/>
          <p:cNvSpPr txBox="1"/>
          <p:nvPr/>
        </p:nvSpPr>
        <p:spPr>
          <a:xfrm>
            <a:off x="812800" y="4494213"/>
            <a:ext cx="7516813" cy="1384300"/>
          </a:xfrm>
          <a:prstGeom prst="rect">
            <a:avLst/>
          </a:prstGeom>
          <a:noFill/>
          <a:ln w="9525">
            <a:noFill/>
            <a:miter/>
          </a:ln>
        </p:spPr>
        <p:txBody>
          <a:bodyPr wrap="square">
            <a:spAutoFit/>
          </a:bodyPr>
          <a:lstStyle/>
          <a:p>
            <a:pPr marR="0" defTabSz="914400">
              <a:spcBef>
                <a:spcPct val="50000"/>
              </a:spcBef>
              <a:buClr>
                <a:srgbClr val="00FFFF"/>
              </a:buClr>
              <a:buSzTx/>
              <a:buFont typeface="Wingdings" panose="05000000000000000000" pitchFamily="2" charset="2"/>
              <a:buChar char="l"/>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Master how to use transpose theorem (seeking equivalent structure), the definition of canonic structure and noncanonic structure.</a:t>
            </a:r>
            <a:endParaRPr kumimoji="0" lang="en-US" altLang="zh-CN" sz="2800" b="1" kern="1200" cap="none" spc="0" normalizeH="0" baseline="0" noProof="1">
              <a:effectLst>
                <a:outerShdw blurRad="38100" dist="38100" dir="2700000">
                  <a:srgbClr val="C0C0C0"/>
                </a:outerShdw>
              </a:effectLst>
              <a:ea typeface="楷体" pitchFamily="49" charset="-122"/>
              <a:cs typeface="+mn-ea"/>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additive="base">
                                        <p:cTn id="7" dur="500" fill="hold"/>
                                        <p:tgtEl>
                                          <p:spTgt spid="32771"/>
                                        </p:tgtEl>
                                        <p:attrNameLst>
                                          <p:attrName>ppt_x</p:attrName>
                                        </p:attrNameLst>
                                      </p:cBhvr>
                                      <p:tavLst>
                                        <p:tav tm="0">
                                          <p:val>
                                            <p:strVal val="#ppt_x"/>
                                          </p:val>
                                        </p:tav>
                                        <p:tav tm="100000">
                                          <p:val>
                                            <p:strVal val="#ppt_x"/>
                                          </p:val>
                                        </p:tav>
                                      </p:tavLst>
                                    </p:anim>
                                    <p:anim calcmode="lin" valueType="num">
                                      <p:cBhvr additive="base">
                                        <p:cTn id="8" dur="500" fill="hold"/>
                                        <p:tgtEl>
                                          <p:spTgt spid="3277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772"/>
                                        </p:tgtEl>
                                        <p:attrNameLst>
                                          <p:attrName>style.visibility</p:attrName>
                                        </p:attrNameLst>
                                      </p:cBhvr>
                                      <p:to>
                                        <p:strVal val="visible"/>
                                      </p:to>
                                    </p:set>
                                    <p:anim calcmode="lin" valueType="num">
                                      <p:cBhvr additive="base">
                                        <p:cTn id="13" dur="500" fill="hold"/>
                                        <p:tgtEl>
                                          <p:spTgt spid="32772"/>
                                        </p:tgtEl>
                                        <p:attrNameLst>
                                          <p:attrName>ppt_x</p:attrName>
                                        </p:attrNameLst>
                                      </p:cBhvr>
                                      <p:tavLst>
                                        <p:tav tm="0">
                                          <p:val>
                                            <p:strVal val="#ppt_x"/>
                                          </p:val>
                                        </p:tav>
                                        <p:tav tm="100000">
                                          <p:val>
                                            <p:strVal val="#ppt_x"/>
                                          </p:val>
                                        </p:tav>
                                      </p:tavLst>
                                    </p:anim>
                                    <p:anim calcmode="lin" valueType="num">
                                      <p:cBhvr additive="base">
                                        <p:cTn id="14" dur="500" fill="hold"/>
                                        <p:tgtEl>
                                          <p:spTgt spid="3277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2773"/>
                                        </p:tgtEl>
                                        <p:attrNameLst>
                                          <p:attrName>style.visibility</p:attrName>
                                        </p:attrNameLst>
                                      </p:cBhvr>
                                      <p:to>
                                        <p:strVal val="visible"/>
                                      </p:to>
                                    </p:set>
                                    <p:anim calcmode="lin" valueType="num">
                                      <p:cBhvr additive="base">
                                        <p:cTn id="19" dur="500" fill="hold"/>
                                        <p:tgtEl>
                                          <p:spTgt spid="32773"/>
                                        </p:tgtEl>
                                        <p:attrNameLst>
                                          <p:attrName>ppt_x</p:attrName>
                                        </p:attrNameLst>
                                      </p:cBhvr>
                                      <p:tavLst>
                                        <p:tav tm="0">
                                          <p:val>
                                            <p:strVal val="#ppt_x"/>
                                          </p:val>
                                        </p:tav>
                                        <p:tav tm="100000">
                                          <p:val>
                                            <p:strVal val="#ppt_x"/>
                                          </p:val>
                                        </p:tav>
                                      </p:tavLst>
                                    </p:anim>
                                    <p:anim calcmode="lin" valueType="num">
                                      <p:cBhvr additive="base">
                                        <p:cTn id="20" dur="500" fill="hold"/>
                                        <p:tgtEl>
                                          <p:spTgt spid="327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P spid="32772" grpId="0"/>
      <p:bldP spid="3277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33793"/>
          <p:cNvSpPr/>
          <p:nvPr>
            <p:ph type="title"/>
          </p:nvPr>
        </p:nvSpPr>
        <p:spPr>
          <a:xfrm>
            <a:off x="457200" y="228600"/>
            <a:ext cx="8229600" cy="868363"/>
          </a:xfrm>
        </p:spPr>
        <p:txBody>
          <a:bodyPr vert="horz" wrap="square" lIns="91440" tIns="45720" rIns="91440" bIns="45720" anchor="ctr" anchorCtr="0"/>
          <a:p>
            <a:pPr eaLnBrk="1" hangingPunct="1"/>
            <a:r>
              <a:rPr lang="en-US" altLang="zh-CN" sz="3600" dirty="0">
                <a:latin typeface="Times New Roman" panose="02020503050405090304" pitchFamily="18" charset="0"/>
                <a:ea typeface="楷体" pitchFamily="49" charset="-122"/>
              </a:rPr>
              <a:t>2 Basic Structure of IIR filter</a:t>
            </a:r>
            <a:endParaRPr lang="en-US" altLang="zh-CN" sz="3600" dirty="0">
              <a:latin typeface="Times New Roman" panose="02020503050405090304" pitchFamily="18" charset="0"/>
              <a:ea typeface="楷体" pitchFamily="49" charset="-122"/>
            </a:endParaRPr>
          </a:p>
        </p:txBody>
      </p:sp>
      <p:sp>
        <p:nvSpPr>
          <p:cNvPr id="33795" name="文本框 33794"/>
          <p:cNvSpPr txBox="1"/>
          <p:nvPr/>
        </p:nvSpPr>
        <p:spPr>
          <a:xfrm>
            <a:off x="269875" y="1268413"/>
            <a:ext cx="9001125" cy="953135"/>
          </a:xfrm>
          <a:prstGeom prst="rect">
            <a:avLst/>
          </a:prstGeom>
          <a:noFill/>
          <a:ln w="9525">
            <a:noFill/>
            <a:miter/>
          </a:ln>
        </p:spPr>
        <p:txBody>
          <a:bodyPr wrap="square">
            <a:spAutoFit/>
          </a:bodyPr>
          <a:lstStyle/>
          <a:p>
            <a:pPr marR="0" defTabSz="914400">
              <a:spcBef>
                <a:spcPct val="50000"/>
              </a:spcBef>
              <a:buClr>
                <a:srgbClr val="00FFFF"/>
              </a:buClr>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Direct realization: easy to implement, but inconvenient to adjust zero and pole.</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33796" name="文本框 33795"/>
          <p:cNvSpPr txBox="1"/>
          <p:nvPr/>
        </p:nvSpPr>
        <p:spPr>
          <a:xfrm>
            <a:off x="395288" y="2070100"/>
            <a:ext cx="9001125" cy="95250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Direct form I: obtained completely from the difference equation (noncanonic structure).</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3797" name="文本框 33796"/>
          <p:cNvSpPr txBox="1"/>
          <p:nvPr/>
        </p:nvSpPr>
        <p:spPr>
          <a:xfrm>
            <a:off x="457200" y="2996883"/>
            <a:ext cx="8559800" cy="522288"/>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Direct form II: canonic structure, derived from form I.</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3798" name="文本框 33797"/>
          <p:cNvSpPr txBox="1"/>
          <p:nvPr/>
        </p:nvSpPr>
        <p:spPr>
          <a:xfrm>
            <a:off x="457200" y="3398838"/>
            <a:ext cx="8867775" cy="1814830"/>
          </a:xfrm>
          <a:prstGeom prst="rect">
            <a:avLst/>
          </a:prstGeom>
          <a:noFill/>
          <a:ln w="9525">
            <a:noFill/>
            <a:miter/>
          </a:ln>
        </p:spPr>
        <p:txBody>
          <a:bodyPr wrap="square">
            <a:spAutoFit/>
          </a:bodyPr>
          <a:lstStyle/>
          <a:p>
            <a:pPr marR="0" defTabSz="914400">
              <a:spcBef>
                <a:spcPct val="50000"/>
              </a:spcBef>
              <a:buClr>
                <a:srgbClr val="00FFFF"/>
              </a:buClr>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Cascade realization: composed of first-order and second-order nodes in cascade form. It is convenient to adjust the zeros and poles, but it will increase the amount of calculation.</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33799" name="文本框 33798"/>
          <p:cNvSpPr txBox="1"/>
          <p:nvPr/>
        </p:nvSpPr>
        <p:spPr>
          <a:xfrm>
            <a:off x="457200" y="5138738"/>
            <a:ext cx="8813800" cy="1814830"/>
          </a:xfrm>
          <a:prstGeom prst="rect">
            <a:avLst/>
          </a:prstGeom>
          <a:noFill/>
          <a:ln w="9525">
            <a:noFill/>
            <a:miter/>
          </a:ln>
        </p:spPr>
        <p:txBody>
          <a:bodyPr wrap="square">
            <a:spAutoFit/>
          </a:bodyPr>
          <a:lstStyle/>
          <a:p>
            <a:pPr marR="0" defTabSz="914400">
              <a:spcBef>
                <a:spcPct val="50000"/>
              </a:spcBef>
              <a:buClr>
                <a:srgbClr val="00FFFF"/>
              </a:buClr>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Parallel realization: convenient to adjust poles, and by partial fractional expansion to get, which is convenient to discuss the properties of the system represented by a series of sub transfer functions.  </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ppt_x"/>
                                          </p:val>
                                        </p:tav>
                                        <p:tav tm="100000">
                                          <p:val>
                                            <p:strVal val="#ppt_x"/>
                                          </p:val>
                                        </p:tav>
                                      </p:tavLst>
                                    </p:anim>
                                    <p:anim calcmode="lin" valueType="num">
                                      <p:cBhvr additive="base">
                                        <p:cTn id="8" dur="500" fill="hold"/>
                                        <p:tgtEl>
                                          <p:spTgt spid="337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6"/>
                                        </p:tgtEl>
                                        <p:attrNameLst>
                                          <p:attrName>style.visibility</p:attrName>
                                        </p:attrNameLst>
                                      </p:cBhvr>
                                      <p:to>
                                        <p:strVal val="visible"/>
                                      </p:to>
                                    </p:set>
                                    <p:anim calcmode="lin" valueType="num">
                                      <p:cBhvr additive="base">
                                        <p:cTn id="13" dur="500" fill="hold"/>
                                        <p:tgtEl>
                                          <p:spTgt spid="33796"/>
                                        </p:tgtEl>
                                        <p:attrNameLst>
                                          <p:attrName>ppt_x</p:attrName>
                                        </p:attrNameLst>
                                      </p:cBhvr>
                                      <p:tavLst>
                                        <p:tav tm="0">
                                          <p:val>
                                            <p:strVal val="#ppt_x"/>
                                          </p:val>
                                        </p:tav>
                                        <p:tav tm="100000">
                                          <p:val>
                                            <p:strVal val="#ppt_x"/>
                                          </p:val>
                                        </p:tav>
                                      </p:tavLst>
                                    </p:anim>
                                    <p:anim calcmode="lin" valueType="num">
                                      <p:cBhvr additive="base">
                                        <p:cTn id="14" dur="500" fill="hold"/>
                                        <p:tgtEl>
                                          <p:spTgt spid="3379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797"/>
                                        </p:tgtEl>
                                        <p:attrNameLst>
                                          <p:attrName>style.visibility</p:attrName>
                                        </p:attrNameLst>
                                      </p:cBhvr>
                                      <p:to>
                                        <p:strVal val="visible"/>
                                      </p:to>
                                    </p:set>
                                    <p:anim calcmode="lin" valueType="num">
                                      <p:cBhvr additive="base">
                                        <p:cTn id="19" dur="500" fill="hold"/>
                                        <p:tgtEl>
                                          <p:spTgt spid="33797"/>
                                        </p:tgtEl>
                                        <p:attrNameLst>
                                          <p:attrName>ppt_x</p:attrName>
                                        </p:attrNameLst>
                                      </p:cBhvr>
                                      <p:tavLst>
                                        <p:tav tm="0">
                                          <p:val>
                                            <p:strVal val="#ppt_x"/>
                                          </p:val>
                                        </p:tav>
                                        <p:tav tm="100000">
                                          <p:val>
                                            <p:strVal val="#ppt_x"/>
                                          </p:val>
                                        </p:tav>
                                      </p:tavLst>
                                    </p:anim>
                                    <p:anim calcmode="lin" valueType="num">
                                      <p:cBhvr additive="base">
                                        <p:cTn id="20" dur="500" fill="hold"/>
                                        <p:tgtEl>
                                          <p:spTgt spid="3379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3798"/>
                                        </p:tgtEl>
                                        <p:attrNameLst>
                                          <p:attrName>style.visibility</p:attrName>
                                        </p:attrNameLst>
                                      </p:cBhvr>
                                      <p:to>
                                        <p:strVal val="visible"/>
                                      </p:to>
                                    </p:set>
                                    <p:anim calcmode="lin" valueType="num">
                                      <p:cBhvr additive="base">
                                        <p:cTn id="25" dur="500" fill="hold"/>
                                        <p:tgtEl>
                                          <p:spTgt spid="33798"/>
                                        </p:tgtEl>
                                        <p:attrNameLst>
                                          <p:attrName>ppt_x</p:attrName>
                                        </p:attrNameLst>
                                      </p:cBhvr>
                                      <p:tavLst>
                                        <p:tav tm="0">
                                          <p:val>
                                            <p:strVal val="#ppt_x"/>
                                          </p:val>
                                        </p:tav>
                                        <p:tav tm="100000">
                                          <p:val>
                                            <p:strVal val="#ppt_x"/>
                                          </p:val>
                                        </p:tav>
                                      </p:tavLst>
                                    </p:anim>
                                    <p:anim calcmode="lin" valueType="num">
                                      <p:cBhvr additive="base">
                                        <p:cTn id="26" dur="500" fill="hold"/>
                                        <p:tgtEl>
                                          <p:spTgt spid="3379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3799"/>
                                        </p:tgtEl>
                                        <p:attrNameLst>
                                          <p:attrName>style.visibility</p:attrName>
                                        </p:attrNameLst>
                                      </p:cBhvr>
                                      <p:to>
                                        <p:strVal val="visible"/>
                                      </p:to>
                                    </p:set>
                                    <p:anim calcmode="lin" valueType="num">
                                      <p:cBhvr additive="base">
                                        <p:cTn id="31" dur="500" fill="hold"/>
                                        <p:tgtEl>
                                          <p:spTgt spid="33799"/>
                                        </p:tgtEl>
                                        <p:attrNameLst>
                                          <p:attrName>ppt_x</p:attrName>
                                        </p:attrNameLst>
                                      </p:cBhvr>
                                      <p:tavLst>
                                        <p:tav tm="0">
                                          <p:val>
                                            <p:strVal val="#ppt_x"/>
                                          </p:val>
                                        </p:tav>
                                        <p:tav tm="100000">
                                          <p:val>
                                            <p:strVal val="#ppt_x"/>
                                          </p:val>
                                        </p:tav>
                                      </p:tavLst>
                                    </p:anim>
                                    <p:anim calcmode="lin" valueType="num">
                                      <p:cBhvr additive="base">
                                        <p:cTn id="32" dur="500" fill="hold"/>
                                        <p:tgtEl>
                                          <p:spTgt spid="337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33796" grpId="0"/>
      <p:bldP spid="33797" grpId="0"/>
      <p:bldP spid="33798" grpId="0"/>
      <p:bldP spid="3379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33793"/>
          <p:cNvSpPr/>
          <p:nvPr>
            <p:ph type="title"/>
          </p:nvPr>
        </p:nvSpPr>
        <p:spPr>
          <a:xfrm>
            <a:off x="457200" y="228600"/>
            <a:ext cx="8229600" cy="868363"/>
          </a:xfrm>
        </p:spPr>
        <p:txBody>
          <a:bodyPr vert="horz" wrap="square" lIns="91440" tIns="45720" rIns="91440" bIns="45720" anchor="ctr" anchorCtr="0"/>
          <a:p>
            <a:pPr eaLnBrk="1" hangingPunct="1"/>
            <a:r>
              <a:rPr lang="en-US" altLang="zh-CN" sz="3600" dirty="0">
                <a:latin typeface="Times New Roman" panose="02020503050405090304" pitchFamily="18" charset="0"/>
                <a:ea typeface="楷体" pitchFamily="49" charset="-122"/>
              </a:rPr>
              <a:t>3 Basic Structure of FIR filter</a:t>
            </a:r>
            <a:endParaRPr lang="en-US" altLang="zh-CN" sz="3600" dirty="0">
              <a:latin typeface="Times New Roman" panose="02020503050405090304" pitchFamily="18" charset="0"/>
              <a:ea typeface="楷体" pitchFamily="49" charset="-122"/>
            </a:endParaRPr>
          </a:p>
        </p:txBody>
      </p:sp>
      <p:sp>
        <p:nvSpPr>
          <p:cNvPr id="33795" name="文本框 33794"/>
          <p:cNvSpPr txBox="1"/>
          <p:nvPr/>
        </p:nvSpPr>
        <p:spPr>
          <a:xfrm>
            <a:off x="269875" y="1268413"/>
            <a:ext cx="9001125" cy="953135"/>
          </a:xfrm>
          <a:prstGeom prst="rect">
            <a:avLst/>
          </a:prstGeom>
          <a:noFill/>
          <a:ln w="9525">
            <a:noFill/>
            <a:miter/>
          </a:ln>
        </p:spPr>
        <p:txBody>
          <a:bodyPr wrap="square">
            <a:spAutoFit/>
          </a:bodyPr>
          <a:lstStyle/>
          <a:p>
            <a:pPr marR="0" defTabSz="914400">
              <a:spcBef>
                <a:spcPct val="50000"/>
              </a:spcBef>
              <a:buClr>
                <a:srgbClr val="00FFFF"/>
              </a:buClr>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Direct realization: easy to implement, but inconvenient to adjust zeros.</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33798" name="文本框 33797"/>
          <p:cNvSpPr txBox="1"/>
          <p:nvPr/>
        </p:nvSpPr>
        <p:spPr>
          <a:xfrm>
            <a:off x="323850" y="2221548"/>
            <a:ext cx="8867775" cy="1814830"/>
          </a:xfrm>
          <a:prstGeom prst="rect">
            <a:avLst/>
          </a:prstGeom>
          <a:noFill/>
          <a:ln w="9525">
            <a:noFill/>
            <a:miter/>
          </a:ln>
        </p:spPr>
        <p:txBody>
          <a:bodyPr wrap="square">
            <a:spAutoFit/>
          </a:bodyPr>
          <a:lstStyle/>
          <a:p>
            <a:pPr marR="0" defTabSz="914400">
              <a:spcBef>
                <a:spcPct val="50000"/>
              </a:spcBef>
              <a:buClr>
                <a:srgbClr val="00FFFF"/>
              </a:buClr>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Cascade realization: composed of first-order and second-order nodes in cascade form. It is convenient to adjust the zero</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s, but it will increase the amount of calculation.</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33799" name="文本框 33798"/>
          <p:cNvSpPr txBox="1"/>
          <p:nvPr/>
        </p:nvSpPr>
        <p:spPr>
          <a:xfrm>
            <a:off x="377825" y="4004628"/>
            <a:ext cx="8813800" cy="1383665"/>
          </a:xfrm>
          <a:prstGeom prst="rect">
            <a:avLst/>
          </a:prstGeom>
          <a:noFill/>
          <a:ln w="9525">
            <a:noFill/>
            <a:miter/>
          </a:ln>
        </p:spPr>
        <p:txBody>
          <a:bodyPr wrap="square">
            <a:spAutoFit/>
          </a:bodyPr>
          <a:lstStyle/>
          <a:p>
            <a:pPr marR="0" defTabSz="914400">
              <a:spcBef>
                <a:spcPct val="50000"/>
              </a:spcBef>
              <a:buClr>
                <a:srgbClr val="00FFFF"/>
              </a:buClr>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Linear-phase realization: reducing number of multipliers by using of symmtric or antisymmtr</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ic coeffice</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nts .  </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2" name="文本框 1"/>
          <p:cNvSpPr txBox="1"/>
          <p:nvPr/>
        </p:nvSpPr>
        <p:spPr>
          <a:xfrm>
            <a:off x="395605" y="5445125"/>
            <a:ext cx="8489950" cy="1383665"/>
          </a:xfrm>
          <a:prstGeom prst="rect">
            <a:avLst/>
          </a:prstGeom>
          <a:noFill/>
          <a:ln w="9525">
            <a:noFill/>
            <a:miter/>
          </a:ln>
        </p:spPr>
        <p:txBody>
          <a:bodyPr wrap="square">
            <a:spAutoFit/>
          </a:bodyPr>
          <a:p>
            <a:pPr marR="0" defTabSz="914400">
              <a:spcBef>
                <a:spcPct val="50000"/>
              </a:spcBef>
              <a:buClr>
                <a:srgbClr val="00FFFF"/>
              </a:buClr>
              <a:buSzTx/>
              <a:buFont typeface="Wingdings" panose="05000000000000000000" pitchFamily="2" charset="2"/>
              <a:buChar char="u"/>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Polyphase realization: making polyphase decomposition to filter coefficient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s，suitable for multirate signal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processing </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ppt_x"/>
                                          </p:val>
                                        </p:tav>
                                        <p:tav tm="100000">
                                          <p:val>
                                            <p:strVal val="#ppt_x"/>
                                          </p:val>
                                        </p:tav>
                                      </p:tavLst>
                                    </p:anim>
                                    <p:anim calcmode="lin" valueType="num">
                                      <p:cBhvr additive="base">
                                        <p:cTn id="8" dur="500" fill="hold"/>
                                        <p:tgtEl>
                                          <p:spTgt spid="337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8"/>
                                        </p:tgtEl>
                                        <p:attrNameLst>
                                          <p:attrName>style.visibility</p:attrName>
                                        </p:attrNameLst>
                                      </p:cBhvr>
                                      <p:to>
                                        <p:strVal val="visible"/>
                                      </p:to>
                                    </p:set>
                                    <p:anim calcmode="lin" valueType="num">
                                      <p:cBhvr additive="base">
                                        <p:cTn id="13" dur="500" fill="hold"/>
                                        <p:tgtEl>
                                          <p:spTgt spid="33798"/>
                                        </p:tgtEl>
                                        <p:attrNameLst>
                                          <p:attrName>ppt_x</p:attrName>
                                        </p:attrNameLst>
                                      </p:cBhvr>
                                      <p:tavLst>
                                        <p:tav tm="0">
                                          <p:val>
                                            <p:strVal val="#ppt_x"/>
                                          </p:val>
                                        </p:tav>
                                        <p:tav tm="100000">
                                          <p:val>
                                            <p:strVal val="#ppt_x"/>
                                          </p:val>
                                        </p:tav>
                                      </p:tavLst>
                                    </p:anim>
                                    <p:anim calcmode="lin" valueType="num">
                                      <p:cBhvr additive="base">
                                        <p:cTn id="14" dur="500" fill="hold"/>
                                        <p:tgtEl>
                                          <p:spTgt spid="3379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799"/>
                                        </p:tgtEl>
                                        <p:attrNameLst>
                                          <p:attrName>style.visibility</p:attrName>
                                        </p:attrNameLst>
                                      </p:cBhvr>
                                      <p:to>
                                        <p:strVal val="visible"/>
                                      </p:to>
                                    </p:set>
                                    <p:anim calcmode="lin" valueType="num">
                                      <p:cBhvr additive="base">
                                        <p:cTn id="19" dur="500" fill="hold"/>
                                        <p:tgtEl>
                                          <p:spTgt spid="33799"/>
                                        </p:tgtEl>
                                        <p:attrNameLst>
                                          <p:attrName>ppt_x</p:attrName>
                                        </p:attrNameLst>
                                      </p:cBhvr>
                                      <p:tavLst>
                                        <p:tav tm="0">
                                          <p:val>
                                            <p:strVal val="#ppt_x"/>
                                          </p:val>
                                        </p:tav>
                                        <p:tav tm="100000">
                                          <p:val>
                                            <p:strVal val="#ppt_x"/>
                                          </p:val>
                                        </p:tav>
                                      </p:tavLst>
                                    </p:anim>
                                    <p:anim calcmode="lin" valueType="num">
                                      <p:cBhvr additive="base">
                                        <p:cTn id="20" dur="500" fill="hold"/>
                                        <p:tgtEl>
                                          <p:spTgt spid="3379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33798" grpId="0"/>
      <p:bldP spid="33799" grpId="0"/>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34817"/>
          <p:cNvSpPr/>
          <p:nvPr>
            <p:ph type="title"/>
          </p:nvPr>
        </p:nvSpPr>
        <p:spPr>
          <a:xfrm>
            <a:off x="457200" y="228600"/>
            <a:ext cx="8229600" cy="868363"/>
          </a:xfrm>
        </p:spPr>
        <p:txBody>
          <a:bodyPr vert="horz" wrap="square" lIns="91440" tIns="45720" rIns="91440" bIns="45720" anchor="ctr" anchorCtr="0"/>
          <a:p>
            <a:pPr eaLnBrk="1" hangingPunct="1"/>
            <a:r>
              <a:rPr lang="en-US" altLang="zh-CN" sz="4000" dirty="0">
                <a:latin typeface="Times New Roman" panose="02020503050405090304" pitchFamily="18" charset="0"/>
                <a:ea typeface="楷体" pitchFamily="49" charset="-122"/>
              </a:rPr>
              <a:t>Topic 8: Design of Digital Filter</a:t>
            </a:r>
            <a:r>
              <a:rPr lang="en-US" altLang="zh-CN" sz="4000" dirty="0">
                <a:latin typeface="Times New Roman" panose="02020503050405090304" pitchFamily="18" charset="0"/>
                <a:ea typeface="楷体" pitchFamily="49" charset="-122"/>
              </a:rPr>
              <a:t>s</a:t>
            </a:r>
            <a:endParaRPr lang="en-US" altLang="zh-CN" sz="4000" dirty="0">
              <a:latin typeface="Times New Roman" panose="02020503050405090304" pitchFamily="18" charset="0"/>
              <a:ea typeface="楷体" pitchFamily="49" charset="-122"/>
            </a:endParaRPr>
          </a:p>
        </p:txBody>
      </p:sp>
      <p:sp>
        <p:nvSpPr>
          <p:cNvPr id="34820" name="文本框 34819"/>
          <p:cNvSpPr txBox="1"/>
          <p:nvPr/>
        </p:nvSpPr>
        <p:spPr>
          <a:xfrm>
            <a:off x="468313" y="1335088"/>
            <a:ext cx="3167063" cy="522288"/>
          </a:xfrm>
          <a:prstGeom prst="rect">
            <a:avLst/>
          </a:prstGeom>
          <a:solidFill>
            <a:srgbClr val="CCFFFF"/>
          </a:solidFill>
          <a:ln w="9525" cap="flat" cmpd="sng">
            <a:solidFill>
              <a:srgbClr val="FF3300"/>
            </a:solidFill>
            <a:prstDash val="solid"/>
            <a:miter/>
            <a:headEnd type="none" w="med" len="med"/>
            <a:tailEnd type="none" w="med" len="med"/>
          </a:ln>
        </p:spPr>
        <p:txBody>
          <a:bodyPr>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solidFill>
                  <a:srgbClr val="FF3300"/>
                </a:solidFill>
                <a:effectLst>
                  <a:outerShdw blurRad="38100" dist="38100" dir="2700000">
                    <a:srgbClr val="000000"/>
                  </a:outerShdw>
                </a:effectLst>
                <a:latin typeface="Times New Roman Regular" panose="02020503050405090304" charset="0"/>
                <a:ea typeface="宋体" pitchFamily="2" charset="-122"/>
                <a:cs typeface="Times New Roman Regular" panose="02020503050405090304" charset="0"/>
                <a:sym typeface="+mn-ea"/>
              </a:rPr>
              <a:t>Requirements</a:t>
            </a:r>
            <a:r>
              <a:rPr kumimoji="0" lang="zh-CN" altLang="en-US" sz="2800" b="1" kern="1200" cap="none" spc="0" normalizeH="0" baseline="0" noProof="1">
                <a:effectLst>
                  <a:outerShdw blurRad="38100" dist="38100" dir="2700000">
                    <a:srgbClr val="FFFFFF"/>
                  </a:outerShdw>
                </a:effectLst>
                <a:latin typeface="Times New Roman Regular" panose="02020503050405090304" charset="0"/>
                <a:ea typeface="宋体" pitchFamily="2" charset="-122"/>
                <a:cs typeface="Times New Roman Regular" panose="02020503050405090304" charset="0"/>
                <a:sym typeface="+mn-ea"/>
              </a:rPr>
              <a:t>：</a:t>
            </a:r>
            <a:endParaRPr kumimoji="0" lang="zh-CN" altLang="en-US" sz="2800" b="1" kern="1200" cap="none" spc="0" normalizeH="0" baseline="0" noProof="1">
              <a:effectLst>
                <a:outerShdw blurRad="38100" dist="38100" dir="2700000">
                  <a:srgbClr val="FFFFFF"/>
                </a:outerShdw>
              </a:effectLst>
              <a:latin typeface="Times New Roman Regular" panose="02020503050405090304" charset="0"/>
              <a:ea typeface="宋体" pitchFamily="2" charset="-122"/>
              <a:cs typeface="Times New Roman Regular" panose="02020503050405090304" charset="0"/>
              <a:sym typeface="+mn-ea"/>
            </a:endParaRPr>
          </a:p>
        </p:txBody>
      </p:sp>
      <p:sp>
        <p:nvSpPr>
          <p:cNvPr id="34821" name="文本框 34820"/>
          <p:cNvSpPr txBox="1"/>
          <p:nvPr/>
        </p:nvSpPr>
        <p:spPr>
          <a:xfrm>
            <a:off x="133350" y="2008188"/>
            <a:ext cx="8896350" cy="1382713"/>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(1)</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Understand the physical concepts of digital filter parameters (passband edge frequency, stopband </a:t>
            </a:r>
            <a:r>
              <a:rPr lang="en-US" altLang="zh-CN" sz="2800" b="1" noProof="1">
                <a:effectLst>
                  <a:outerShdw blurRad="38100" dist="38100" dir="2700000">
                    <a:srgbClr val="C0C0C0"/>
                  </a:outerShdw>
                </a:effectLst>
                <a:latin typeface="Times New Roman" panose="02020503050405090304" pitchFamily="18" charset="0"/>
                <a:ea typeface="楷体" pitchFamily="49" charset="-122"/>
                <a:cs typeface="+mn-ea"/>
                <a:sym typeface="+mn-ea"/>
              </a:rPr>
              <a:t>edge frequency</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passband ripple, stopband ripple, order, etc.).</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4822" name="文本框 34821"/>
          <p:cNvSpPr txBox="1"/>
          <p:nvPr/>
        </p:nvSpPr>
        <p:spPr>
          <a:xfrm>
            <a:off x="133350" y="3971925"/>
            <a:ext cx="8050213"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(3)</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a:t>
            </a:r>
            <a:r>
              <a:rPr lang="en-US" altLang="x-none" sz="2800" b="1">
                <a:effectLst>
                  <a:outerShdw blurRad="38100" dist="38100" dir="2700000">
                    <a:srgbClr val="C0C0C0"/>
                  </a:outerShdw>
                </a:effectLst>
                <a:ea typeface="楷体" pitchFamily="49" charset="-122"/>
                <a:cs typeface="+mn-ea"/>
                <a:sym typeface="+mn-ea"/>
              </a:rPr>
              <a:t>IIR filter Design</a:t>
            </a: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the bilinear transformation.</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4823" name="文本框 34822"/>
          <p:cNvSpPr txBox="1"/>
          <p:nvPr/>
        </p:nvSpPr>
        <p:spPr>
          <a:xfrm>
            <a:off x="215900" y="4924425"/>
            <a:ext cx="7524750" cy="954088"/>
          </a:xfrm>
          <a:prstGeom prst="rect">
            <a:avLst/>
          </a:prstGeom>
          <a:noFill/>
          <a:ln w="9525">
            <a:noFill/>
            <a:miter/>
          </a:ln>
        </p:spPr>
        <p:txBody>
          <a:bodyPr wrap="square">
            <a:spAutoFit/>
          </a:bodyPr>
          <a:p>
            <a:pPr marR="0" defTabSz="914400">
              <a:spcBef>
                <a:spcPct val="50000"/>
              </a:spcBef>
              <a:buFont typeface="Arial" panose="020B0604020202090204" pitchFamily="34" charset="0"/>
              <a:buNone/>
            </a:pP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The corresponding ranges in the book </a:t>
            </a:r>
            <a:r>
              <a:rPr kumimoji="0" lang="en-US" altLang="en-US"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：9.1---9.6, </a:t>
            </a: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A.1--A.4</a:t>
            </a:r>
            <a:endParaRPr kumimoji="0" lang="en-US" altLang="en-US"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4824" name="文本框 34823"/>
          <p:cNvSpPr txBox="1"/>
          <p:nvPr/>
        </p:nvSpPr>
        <p:spPr>
          <a:xfrm>
            <a:off x="133350" y="3421063"/>
            <a:ext cx="7131050" cy="521970"/>
          </a:xfrm>
          <a:prstGeom prst="rect">
            <a:avLst/>
          </a:prstGeom>
          <a:noFill/>
          <a:ln w="9525">
            <a:noFill/>
            <a:miter/>
          </a:ln>
        </p:spPr>
        <p:txBody>
          <a:bodyPr>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(2)</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The basic analog filter approximation</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s.</a:t>
            </a:r>
            <a:endPar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 name="五角星 2"/>
          <p:cNvSpPr/>
          <p:nvPr/>
        </p:nvSpPr>
        <p:spPr>
          <a:xfrm>
            <a:off x="7884160" y="228600"/>
            <a:ext cx="914400" cy="914400"/>
          </a:xfrm>
          <a:prstGeom prst="star5">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 calcmode="lin" valueType="num">
                                      <p:cBhvr additive="base">
                                        <p:cTn id="7" dur="500" fill="hold"/>
                                        <p:tgtEl>
                                          <p:spTgt spid="34820"/>
                                        </p:tgtEl>
                                        <p:attrNameLst>
                                          <p:attrName>ppt_x</p:attrName>
                                        </p:attrNameLst>
                                      </p:cBhvr>
                                      <p:tavLst>
                                        <p:tav tm="0">
                                          <p:val>
                                            <p:strVal val="#ppt_x"/>
                                          </p:val>
                                        </p:tav>
                                        <p:tav tm="100000">
                                          <p:val>
                                            <p:strVal val="#ppt_x"/>
                                          </p:val>
                                        </p:tav>
                                      </p:tavLst>
                                    </p:anim>
                                    <p:anim calcmode="lin" valueType="num">
                                      <p:cBhvr additive="base">
                                        <p:cTn id="8" dur="500" fill="hold"/>
                                        <p:tgtEl>
                                          <p:spTgt spid="348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821"/>
                                        </p:tgtEl>
                                        <p:attrNameLst>
                                          <p:attrName>style.visibility</p:attrName>
                                        </p:attrNameLst>
                                      </p:cBhvr>
                                      <p:to>
                                        <p:strVal val="visible"/>
                                      </p:to>
                                    </p:set>
                                    <p:anim calcmode="lin" valueType="num">
                                      <p:cBhvr additive="base">
                                        <p:cTn id="13" dur="500" fill="hold"/>
                                        <p:tgtEl>
                                          <p:spTgt spid="34821"/>
                                        </p:tgtEl>
                                        <p:attrNameLst>
                                          <p:attrName>ppt_x</p:attrName>
                                        </p:attrNameLst>
                                      </p:cBhvr>
                                      <p:tavLst>
                                        <p:tav tm="0">
                                          <p:val>
                                            <p:strVal val="#ppt_x"/>
                                          </p:val>
                                        </p:tav>
                                        <p:tav tm="100000">
                                          <p:val>
                                            <p:strVal val="#ppt_x"/>
                                          </p:val>
                                        </p:tav>
                                      </p:tavLst>
                                    </p:anim>
                                    <p:anim calcmode="lin" valueType="num">
                                      <p:cBhvr additive="base">
                                        <p:cTn id="14" dur="500" fill="hold"/>
                                        <p:tgtEl>
                                          <p:spTgt spid="348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4824"/>
                                        </p:tgtEl>
                                        <p:attrNameLst>
                                          <p:attrName>style.visibility</p:attrName>
                                        </p:attrNameLst>
                                      </p:cBhvr>
                                      <p:to>
                                        <p:strVal val="visible"/>
                                      </p:to>
                                    </p:set>
                                    <p:anim calcmode="lin" valueType="num">
                                      <p:cBhvr additive="base">
                                        <p:cTn id="19" dur="500" fill="hold"/>
                                        <p:tgtEl>
                                          <p:spTgt spid="34824"/>
                                        </p:tgtEl>
                                        <p:attrNameLst>
                                          <p:attrName>ppt_x</p:attrName>
                                        </p:attrNameLst>
                                      </p:cBhvr>
                                      <p:tavLst>
                                        <p:tav tm="0">
                                          <p:val>
                                            <p:strVal val="#ppt_x"/>
                                          </p:val>
                                        </p:tav>
                                        <p:tav tm="100000">
                                          <p:val>
                                            <p:strVal val="#ppt_x"/>
                                          </p:val>
                                        </p:tav>
                                      </p:tavLst>
                                    </p:anim>
                                    <p:anim calcmode="lin" valueType="num">
                                      <p:cBhvr additive="base">
                                        <p:cTn id="20" dur="500" fill="hold"/>
                                        <p:tgtEl>
                                          <p:spTgt spid="348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4822"/>
                                        </p:tgtEl>
                                        <p:attrNameLst>
                                          <p:attrName>style.visibility</p:attrName>
                                        </p:attrNameLst>
                                      </p:cBhvr>
                                      <p:to>
                                        <p:strVal val="visible"/>
                                      </p:to>
                                    </p:set>
                                    <p:anim calcmode="lin" valueType="num">
                                      <p:cBhvr additive="base">
                                        <p:cTn id="25" dur="500" fill="hold"/>
                                        <p:tgtEl>
                                          <p:spTgt spid="34822"/>
                                        </p:tgtEl>
                                        <p:attrNameLst>
                                          <p:attrName>ppt_x</p:attrName>
                                        </p:attrNameLst>
                                      </p:cBhvr>
                                      <p:tavLst>
                                        <p:tav tm="0">
                                          <p:val>
                                            <p:strVal val="#ppt_x"/>
                                          </p:val>
                                        </p:tav>
                                        <p:tav tm="100000">
                                          <p:val>
                                            <p:strVal val="#ppt_x"/>
                                          </p:val>
                                        </p:tav>
                                      </p:tavLst>
                                    </p:anim>
                                    <p:anim calcmode="lin" valueType="num">
                                      <p:cBhvr additive="base">
                                        <p:cTn id="26" dur="500" fill="hold"/>
                                        <p:tgtEl>
                                          <p:spTgt spid="348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4823"/>
                                        </p:tgtEl>
                                        <p:attrNameLst>
                                          <p:attrName>style.visibility</p:attrName>
                                        </p:attrNameLst>
                                      </p:cBhvr>
                                      <p:to>
                                        <p:strVal val="visible"/>
                                      </p:to>
                                    </p:set>
                                    <p:anim calcmode="lin" valueType="num">
                                      <p:cBhvr additive="base">
                                        <p:cTn id="31" dur="500" fill="hold"/>
                                        <p:tgtEl>
                                          <p:spTgt spid="34823"/>
                                        </p:tgtEl>
                                        <p:attrNameLst>
                                          <p:attrName>ppt_x</p:attrName>
                                        </p:attrNameLst>
                                      </p:cBhvr>
                                      <p:tavLst>
                                        <p:tav tm="0">
                                          <p:val>
                                            <p:strVal val="#ppt_x"/>
                                          </p:val>
                                        </p:tav>
                                        <p:tav tm="100000">
                                          <p:val>
                                            <p:strVal val="#ppt_x"/>
                                          </p:val>
                                        </p:tav>
                                      </p:tavLst>
                                    </p:anim>
                                    <p:anim calcmode="lin" valueType="num">
                                      <p:cBhvr additive="base">
                                        <p:cTn id="32" dur="500" fill="hold"/>
                                        <p:tgtEl>
                                          <p:spTgt spid="348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ldLvl="0" animBg="1"/>
      <p:bldP spid="34821" grpId="0"/>
      <p:bldP spid="34822" grpId="0"/>
      <p:bldP spid="34823" grpId="0"/>
      <p:bldP spid="3482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35841"/>
          <p:cNvSpPr/>
          <p:nvPr>
            <p:ph type="title"/>
          </p:nvPr>
        </p:nvSpPr>
        <p:spPr>
          <a:xfrm>
            <a:off x="403225" y="155575"/>
            <a:ext cx="6772275" cy="1143000"/>
          </a:xfrm>
        </p:spPr>
        <p:txBody>
          <a:bodyPr vert="horz" wrap="square" lIns="91440" tIns="45720" rIns="91440" bIns="45720" anchor="ctr" anchorCtr="0"/>
          <a:p>
            <a:pPr eaLnBrk="1" hangingPunct="1"/>
            <a:r>
              <a:rPr lang="en-US" altLang="zh-CN" sz="3600" dirty="0">
                <a:latin typeface="Times New Roman" panose="02020503050405090304" pitchFamily="18" charset="0"/>
                <a:ea typeface="楷体" pitchFamily="49" charset="-122"/>
              </a:rPr>
              <a:t>1 Physical meaning of </a:t>
            </a:r>
            <a:r>
              <a:rPr lang="en-US" altLang="zh-CN" sz="3600" dirty="0">
                <a:latin typeface="Times New Roman" panose="02020503050405090304" pitchFamily="18" charset="0"/>
                <a:ea typeface="楷体" pitchFamily="49" charset="-122"/>
                <a:sym typeface="+mn-ea"/>
              </a:rPr>
              <a:t>digital filter </a:t>
            </a:r>
            <a:r>
              <a:rPr lang="en-US" altLang="zh-CN" sz="3600" dirty="0">
                <a:latin typeface="Times New Roman" panose="02020503050405090304" pitchFamily="18" charset="0"/>
                <a:ea typeface="楷体" pitchFamily="49" charset="-122"/>
              </a:rPr>
              <a:t>specifications</a:t>
            </a:r>
            <a:endParaRPr lang="en-US" altLang="zh-CN" sz="3600" dirty="0">
              <a:latin typeface="Times New Roman" panose="02020503050405090304" pitchFamily="18" charset="0"/>
              <a:ea typeface="楷体" pitchFamily="49" charset="-122"/>
            </a:endParaRPr>
          </a:p>
        </p:txBody>
      </p:sp>
      <p:graphicFrame>
        <p:nvGraphicFramePr>
          <p:cNvPr id="35843" name="对象 35842"/>
          <p:cNvGraphicFramePr>
            <a:graphicFrameLocks noChangeAspect="1"/>
          </p:cNvGraphicFramePr>
          <p:nvPr/>
        </p:nvGraphicFramePr>
        <p:xfrm>
          <a:off x="4448175" y="2419350"/>
          <a:ext cx="503238" cy="654050"/>
        </p:xfrm>
        <a:graphic>
          <a:graphicData uri="http://schemas.openxmlformats.org/presentationml/2006/ole">
            <mc:AlternateContent xmlns:mc="http://schemas.openxmlformats.org/markup-compatibility/2006">
              <mc:Choice xmlns:v="urn:schemas-microsoft-com:vml" Requires="v">
                <p:oleObj spid="_x0000_s3096" name="" r:id="rId1" imgW="203835" imgH="242570" progId="Equation.DSMT4">
                  <p:embed/>
                </p:oleObj>
              </mc:Choice>
              <mc:Fallback>
                <p:oleObj name="" r:id="rId1" imgW="203835" imgH="242570" progId="Equation.DSMT4">
                  <p:embed/>
                  <p:pic>
                    <p:nvPicPr>
                      <p:cNvPr id="0" name="图片 3095"/>
                      <p:cNvPicPr/>
                      <p:nvPr/>
                    </p:nvPicPr>
                    <p:blipFill>
                      <a:blip r:embed="rId2"/>
                      <a:stretch>
                        <a:fillRect/>
                      </a:stretch>
                    </p:blipFill>
                    <p:spPr>
                      <a:xfrm>
                        <a:off x="4448175" y="2419350"/>
                        <a:ext cx="503238" cy="654050"/>
                      </a:xfrm>
                      <a:prstGeom prst="rect">
                        <a:avLst/>
                      </a:prstGeom>
                      <a:noFill/>
                      <a:ln w="38100">
                        <a:noFill/>
                        <a:miter/>
                      </a:ln>
                    </p:spPr>
                  </p:pic>
                </p:oleObj>
              </mc:Fallback>
            </mc:AlternateContent>
          </a:graphicData>
        </a:graphic>
      </p:graphicFrame>
      <p:graphicFrame>
        <p:nvGraphicFramePr>
          <p:cNvPr id="35844" name="对象 35843"/>
          <p:cNvGraphicFramePr>
            <a:graphicFrameLocks noChangeAspect="1"/>
          </p:cNvGraphicFramePr>
          <p:nvPr/>
        </p:nvGraphicFramePr>
        <p:xfrm>
          <a:off x="4433888" y="3140075"/>
          <a:ext cx="471487" cy="619125"/>
        </p:xfrm>
        <a:graphic>
          <a:graphicData uri="http://schemas.openxmlformats.org/presentationml/2006/ole">
            <mc:AlternateContent xmlns:mc="http://schemas.openxmlformats.org/markup-compatibility/2006">
              <mc:Choice xmlns:v="urn:schemas-microsoft-com:vml" Requires="v">
                <p:oleObj spid="_x0000_s3097" name="" r:id="rId3" imgW="191135" imgH="229870" progId="Equation.DSMT4">
                  <p:embed/>
                </p:oleObj>
              </mc:Choice>
              <mc:Fallback>
                <p:oleObj name="" r:id="rId3" imgW="191135" imgH="229870" progId="Equation.DSMT4">
                  <p:embed/>
                  <p:pic>
                    <p:nvPicPr>
                      <p:cNvPr id="0" name="图片 3096"/>
                      <p:cNvPicPr/>
                      <p:nvPr/>
                    </p:nvPicPr>
                    <p:blipFill>
                      <a:blip r:embed="rId4"/>
                      <a:stretch>
                        <a:fillRect/>
                      </a:stretch>
                    </p:blipFill>
                    <p:spPr>
                      <a:xfrm>
                        <a:off x="4433888" y="3140075"/>
                        <a:ext cx="471487" cy="619125"/>
                      </a:xfrm>
                      <a:prstGeom prst="rect">
                        <a:avLst/>
                      </a:prstGeom>
                      <a:noFill/>
                      <a:ln w="38100">
                        <a:noFill/>
                        <a:miter/>
                      </a:ln>
                    </p:spPr>
                  </p:pic>
                </p:oleObj>
              </mc:Fallback>
            </mc:AlternateContent>
          </a:graphicData>
        </a:graphic>
      </p:graphicFrame>
      <p:graphicFrame>
        <p:nvGraphicFramePr>
          <p:cNvPr id="35845" name="对象 35844"/>
          <p:cNvGraphicFramePr>
            <a:graphicFrameLocks noChangeAspect="1"/>
          </p:cNvGraphicFramePr>
          <p:nvPr/>
        </p:nvGraphicFramePr>
        <p:xfrm>
          <a:off x="7315200" y="2419350"/>
          <a:ext cx="541338" cy="684213"/>
        </p:xfrm>
        <a:graphic>
          <a:graphicData uri="http://schemas.openxmlformats.org/presentationml/2006/ole">
            <mc:AlternateContent xmlns:mc="http://schemas.openxmlformats.org/markup-compatibility/2006">
              <mc:Choice xmlns:v="urn:schemas-microsoft-com:vml" Requires="v">
                <p:oleObj spid="_x0000_s3098" name="" r:id="rId5" imgW="191135" imgH="242570" progId="Equation.DSMT4">
                  <p:embed/>
                </p:oleObj>
              </mc:Choice>
              <mc:Fallback>
                <p:oleObj name="" r:id="rId5" imgW="191135" imgH="242570" progId="Equation.DSMT4">
                  <p:embed/>
                  <p:pic>
                    <p:nvPicPr>
                      <p:cNvPr id="0" name="图片 3097"/>
                      <p:cNvPicPr/>
                      <p:nvPr/>
                    </p:nvPicPr>
                    <p:blipFill>
                      <a:blip r:embed="rId6"/>
                      <a:stretch>
                        <a:fillRect/>
                      </a:stretch>
                    </p:blipFill>
                    <p:spPr>
                      <a:xfrm>
                        <a:off x="7315200" y="2419350"/>
                        <a:ext cx="541338" cy="684213"/>
                      </a:xfrm>
                      <a:prstGeom prst="rect">
                        <a:avLst/>
                      </a:prstGeom>
                      <a:noFill/>
                      <a:ln w="38100">
                        <a:noFill/>
                        <a:miter/>
                      </a:ln>
                    </p:spPr>
                  </p:pic>
                </p:oleObj>
              </mc:Fallback>
            </mc:AlternateContent>
          </a:graphicData>
        </a:graphic>
      </p:graphicFrame>
      <p:graphicFrame>
        <p:nvGraphicFramePr>
          <p:cNvPr id="35846" name="对象 35845"/>
          <p:cNvGraphicFramePr>
            <a:graphicFrameLocks noChangeAspect="1"/>
          </p:cNvGraphicFramePr>
          <p:nvPr/>
        </p:nvGraphicFramePr>
        <p:xfrm>
          <a:off x="3930650" y="3716338"/>
          <a:ext cx="576263" cy="684212"/>
        </p:xfrm>
        <a:graphic>
          <a:graphicData uri="http://schemas.openxmlformats.org/presentationml/2006/ole">
            <mc:AlternateContent xmlns:mc="http://schemas.openxmlformats.org/markup-compatibility/2006">
              <mc:Choice xmlns:v="urn:schemas-microsoft-com:vml" Requires="v">
                <p:oleObj spid="_x0000_s3092" name="" r:id="rId7" imgW="203835" imgH="242570" progId="Equation.DSMT4">
                  <p:embed/>
                </p:oleObj>
              </mc:Choice>
              <mc:Fallback>
                <p:oleObj name="" r:id="rId7" imgW="203835" imgH="242570" progId="Equation.DSMT4">
                  <p:embed/>
                  <p:pic>
                    <p:nvPicPr>
                      <p:cNvPr id="0" name="图片 3091"/>
                      <p:cNvPicPr/>
                      <p:nvPr/>
                    </p:nvPicPr>
                    <p:blipFill>
                      <a:blip r:embed="rId8"/>
                      <a:stretch>
                        <a:fillRect/>
                      </a:stretch>
                    </p:blipFill>
                    <p:spPr>
                      <a:xfrm>
                        <a:off x="3930650" y="3716338"/>
                        <a:ext cx="576263" cy="684212"/>
                      </a:xfrm>
                      <a:prstGeom prst="rect">
                        <a:avLst/>
                      </a:prstGeom>
                      <a:noFill/>
                      <a:ln w="38100">
                        <a:noFill/>
                        <a:miter/>
                      </a:ln>
                    </p:spPr>
                  </p:pic>
                </p:oleObj>
              </mc:Fallback>
            </mc:AlternateContent>
          </a:graphicData>
        </a:graphic>
      </p:graphicFrame>
      <p:graphicFrame>
        <p:nvGraphicFramePr>
          <p:cNvPr id="35847" name="对象 35846"/>
          <p:cNvGraphicFramePr>
            <a:graphicFrameLocks noChangeAspect="1"/>
          </p:cNvGraphicFramePr>
          <p:nvPr/>
        </p:nvGraphicFramePr>
        <p:xfrm>
          <a:off x="7332663" y="3211513"/>
          <a:ext cx="468312" cy="647700"/>
        </p:xfrm>
        <a:graphic>
          <a:graphicData uri="http://schemas.openxmlformats.org/presentationml/2006/ole">
            <mc:AlternateContent xmlns:mc="http://schemas.openxmlformats.org/markup-compatibility/2006">
              <mc:Choice xmlns:v="urn:schemas-microsoft-com:vml" Requires="v">
                <p:oleObj spid="_x0000_s3094" name="" r:id="rId9" imgW="165735" imgH="229235" progId="Equation.DSMT4">
                  <p:embed/>
                </p:oleObj>
              </mc:Choice>
              <mc:Fallback>
                <p:oleObj name="" r:id="rId9" imgW="165735" imgH="229235" progId="Equation.DSMT4">
                  <p:embed/>
                  <p:pic>
                    <p:nvPicPr>
                      <p:cNvPr id="0" name="图片 3093"/>
                      <p:cNvPicPr/>
                      <p:nvPr/>
                    </p:nvPicPr>
                    <p:blipFill>
                      <a:blip r:embed="rId10"/>
                      <a:stretch>
                        <a:fillRect/>
                      </a:stretch>
                    </p:blipFill>
                    <p:spPr>
                      <a:xfrm>
                        <a:off x="7332663" y="3211513"/>
                        <a:ext cx="468312" cy="647700"/>
                      </a:xfrm>
                      <a:prstGeom prst="rect">
                        <a:avLst/>
                      </a:prstGeom>
                      <a:noFill/>
                      <a:ln w="38100">
                        <a:noFill/>
                        <a:miter/>
                      </a:ln>
                    </p:spPr>
                  </p:pic>
                </p:oleObj>
              </mc:Fallback>
            </mc:AlternateContent>
          </a:graphicData>
        </a:graphic>
      </p:graphicFrame>
      <p:graphicFrame>
        <p:nvGraphicFramePr>
          <p:cNvPr id="35848" name="对象 35847"/>
          <p:cNvGraphicFramePr>
            <a:graphicFrameLocks noChangeAspect="1"/>
          </p:cNvGraphicFramePr>
          <p:nvPr/>
        </p:nvGraphicFramePr>
        <p:xfrm>
          <a:off x="7315200" y="3787775"/>
          <a:ext cx="504825" cy="649288"/>
        </p:xfrm>
        <a:graphic>
          <a:graphicData uri="http://schemas.openxmlformats.org/presentationml/2006/ole">
            <mc:AlternateContent xmlns:mc="http://schemas.openxmlformats.org/markup-compatibility/2006">
              <mc:Choice xmlns:v="urn:schemas-microsoft-com:vml" Requires="v">
                <p:oleObj spid="_x0000_s3093" name="" r:id="rId11" imgW="178435" imgH="229235" progId="Equation.DSMT4">
                  <p:embed/>
                </p:oleObj>
              </mc:Choice>
              <mc:Fallback>
                <p:oleObj name="" r:id="rId11" imgW="178435" imgH="229235" progId="Equation.DSMT4">
                  <p:embed/>
                  <p:pic>
                    <p:nvPicPr>
                      <p:cNvPr id="0" name="图片 3092"/>
                      <p:cNvPicPr/>
                      <p:nvPr/>
                    </p:nvPicPr>
                    <p:blipFill>
                      <a:blip r:embed="rId12"/>
                      <a:stretch>
                        <a:fillRect/>
                      </a:stretch>
                    </p:blipFill>
                    <p:spPr>
                      <a:xfrm>
                        <a:off x="7315200" y="3787775"/>
                        <a:ext cx="504825" cy="649288"/>
                      </a:xfrm>
                      <a:prstGeom prst="rect">
                        <a:avLst/>
                      </a:prstGeom>
                      <a:noFill/>
                      <a:ln w="38100">
                        <a:noFill/>
                        <a:miter/>
                      </a:ln>
                    </p:spPr>
                  </p:pic>
                </p:oleObj>
              </mc:Fallback>
            </mc:AlternateContent>
          </a:graphicData>
        </a:graphic>
      </p:graphicFrame>
      <p:sp>
        <p:nvSpPr>
          <p:cNvPr id="35850" name="文本框 35849"/>
          <p:cNvSpPr txBox="1"/>
          <p:nvPr/>
        </p:nvSpPr>
        <p:spPr>
          <a:xfrm>
            <a:off x="474663" y="1595438"/>
            <a:ext cx="7489825" cy="522288"/>
          </a:xfrm>
          <a:prstGeom prst="rect">
            <a:avLst/>
          </a:prstGeom>
          <a:noFill/>
          <a:ln w="9525">
            <a:noFill/>
            <a:miter/>
          </a:ln>
        </p:spPr>
        <p:txBody>
          <a:bodyPr wrap="square">
            <a:spAutoFit/>
          </a:bodyPr>
          <a:p>
            <a:pPr marR="0" defTabSz="914400">
              <a:spcBef>
                <a:spcPct val="50000"/>
              </a:spcBef>
              <a:buClr>
                <a:srgbClr val="00FFFF"/>
              </a:buClr>
              <a:buFont typeface="Wingdings" panose="05000000000000000000" pitchFamily="2" charset="2"/>
              <a:buChar char="u"/>
            </a:pPr>
            <a:r>
              <a:rPr kumimoji="0" lang="en-US" altLang="zh-CN" sz="2800" b="1" kern="1200" cap="none" spc="0" normalizeH="0" baseline="0"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Characteristics of digital filter </a:t>
            </a:r>
            <a:r>
              <a:rPr kumimoji="0" lang="en-US" altLang="en-US" sz="2800" b="1" kern="1200" cap="none" spc="0" normalizeH="0" baseline="0"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t>
            </a:r>
            <a:endParaRPr kumimoji="0" lang="en-US" altLang="en-US" sz="2800" b="1" kern="1200" cap="none" spc="0" normalizeH="0" baseline="0"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35851" name="文本框 35850"/>
          <p:cNvSpPr txBox="1"/>
          <p:nvPr/>
        </p:nvSpPr>
        <p:spPr>
          <a:xfrm>
            <a:off x="467995" y="2316480"/>
            <a:ext cx="4763770"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Passband edge frequency </a:t>
            </a:r>
            <a:r>
              <a:rPr kumimoji="0" lang="en-US" altLang="zh-CN" sz="2800" b="1" kern="1200" cap="none" spc="0" normalizeH="0" baseline="0" noProof="1" dirty="0">
                <a:effectLst>
                  <a:outerShdw blurRad="38100" dist="38100" dir="2700000">
                    <a:srgbClr val="C0C0C0"/>
                  </a:outerShdw>
                </a:effectLst>
                <a:latin typeface="Times" panose="00000500000000020000" charset="0"/>
                <a:ea typeface="楷体" pitchFamily="49" charset="-122"/>
                <a:cs typeface="Times" panose="00000500000000020000" charset="0"/>
                <a:sym typeface="+mn-ea"/>
              </a:rPr>
              <a:t>ω</a:t>
            </a:r>
            <a:r>
              <a:rPr lang="en-US" altLang="zh-CN" sz="2800" b="1" baseline="-25000" dirty="0">
                <a:effectLst>
                  <a:outerShdw blurRad="38100" dist="38100" dir="2700000">
                    <a:srgbClr val="C0C0C0"/>
                  </a:outerShdw>
                </a:effectLst>
                <a:uFillTx/>
                <a:latin typeface="Times" panose="00000500000000020000" charset="0"/>
                <a:ea typeface="楷体" pitchFamily="49" charset="-122"/>
                <a:cs typeface="Times" panose="00000500000000020000" charset="0"/>
                <a:sym typeface="+mn-ea"/>
              </a:rPr>
              <a:t>p</a:t>
            </a:r>
            <a:endParaRPr kumimoji="0" lang="en-US" altLang="zh-CN" sz="2800" b="1" baseline="-25000" noProof="1" dirty="0">
              <a:solidFill>
                <a:schemeClr val="tx1"/>
              </a:solidFill>
              <a:effectLst>
                <a:outerShdw blurRad="38100" dist="38100" dir="2700000">
                  <a:srgbClr val="C0C0C0"/>
                </a:outerShdw>
              </a:effectLst>
              <a:uFillTx/>
              <a:latin typeface="Times" panose="00000500000000020000" charset="0"/>
              <a:ea typeface="楷体" pitchFamily="49" charset="-122"/>
              <a:cs typeface="Times" panose="00000500000000020000" charset="0"/>
              <a:sym typeface="+mn-ea"/>
            </a:endParaRPr>
          </a:p>
        </p:txBody>
      </p:sp>
      <p:sp>
        <p:nvSpPr>
          <p:cNvPr id="35852" name="文本框 35851"/>
          <p:cNvSpPr txBox="1"/>
          <p:nvPr/>
        </p:nvSpPr>
        <p:spPr>
          <a:xfrm>
            <a:off x="467678" y="2978150"/>
            <a:ext cx="5437188" cy="521970"/>
          </a:xfrm>
          <a:prstGeom prst="rect">
            <a:avLst/>
          </a:prstGeom>
          <a:noFill/>
          <a:ln w="9525">
            <a:noFill/>
            <a:miter/>
          </a:ln>
        </p:spPr>
        <p:txBody>
          <a:bodyPr wrap="square">
            <a:spAutoFit/>
          </a:bodyPr>
          <a:lstStyle/>
          <a:p>
            <a:pPr>
              <a:spcBef>
                <a:spcPct val="50000"/>
              </a:spcBef>
              <a:buClrTx/>
              <a:buSzTx/>
              <a:defRPr/>
            </a:pPr>
            <a:r>
              <a:rPr lang="en-US" altLang="zh-CN" sz="2800" b="1"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Stopband edge frequency </a:t>
            </a:r>
            <a:r>
              <a:rPr lang="en-US" altLang="zh-CN" sz="2800" b="1" dirty="0">
                <a:effectLst>
                  <a:outerShdw blurRad="38100" dist="38100" dir="2700000">
                    <a:srgbClr val="C0C0C0"/>
                  </a:outerShdw>
                </a:effectLst>
                <a:latin typeface="Times" panose="00000500000000020000" charset="0"/>
                <a:ea typeface="楷体" pitchFamily="49" charset="-122"/>
                <a:cs typeface="Times" panose="00000500000000020000" charset="0"/>
                <a:sym typeface="+mn-ea"/>
              </a:rPr>
              <a:t>ω</a:t>
            </a:r>
            <a:r>
              <a:rPr lang="en-US" altLang="zh-CN" sz="2800" b="1" baseline="-25000" dirty="0">
                <a:solidFill>
                  <a:schemeClr val="tx1"/>
                </a:solidFill>
                <a:effectLst>
                  <a:outerShdw blurRad="38100" dist="38100" dir="2700000">
                    <a:srgbClr val="C0C0C0"/>
                  </a:outerShdw>
                </a:effectLst>
                <a:uFillTx/>
                <a:latin typeface="Times" panose="00000500000000020000" charset="0"/>
                <a:ea typeface="楷体" pitchFamily="49" charset="-122"/>
                <a:cs typeface="Times" panose="00000500000000020000" charset="0"/>
                <a:sym typeface="+mn-ea"/>
              </a:rPr>
              <a:t>s</a:t>
            </a:r>
            <a:endParaRPr lang="en-US" altLang="zh-CN" sz="2800" b="1" baseline="-25000" dirty="0">
              <a:solidFill>
                <a:schemeClr val="tx1"/>
              </a:solidFill>
              <a:effectLst>
                <a:outerShdw blurRad="38100" dist="38100" dir="2700000">
                  <a:srgbClr val="C0C0C0"/>
                </a:outerShdw>
              </a:effectLst>
              <a:uFillTx/>
              <a:latin typeface="Times" panose="00000500000000020000" charset="0"/>
              <a:ea typeface="楷体" pitchFamily="49" charset="-122"/>
              <a:cs typeface="Times" panose="00000500000000020000" charset="0"/>
              <a:sym typeface="+mn-ea"/>
            </a:endParaRPr>
          </a:p>
        </p:txBody>
      </p:sp>
      <p:sp>
        <p:nvSpPr>
          <p:cNvPr id="35853" name="文本框 35852"/>
          <p:cNvSpPr txBox="1"/>
          <p:nvPr/>
        </p:nvSpPr>
        <p:spPr>
          <a:xfrm>
            <a:off x="4987925" y="2324100"/>
            <a:ext cx="3816350"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Passband ripple </a:t>
            </a:r>
            <a:r>
              <a:rPr kumimoji="0" lang="en-US" altLang="zh-CN" sz="2800" b="1" kern="1200" cap="none" spc="0" normalizeH="0" baseline="0" noProof="1" dirty="0">
                <a:effectLst>
                  <a:outerShdw blurRad="38100" dist="38100" dir="2700000">
                    <a:srgbClr val="C0C0C0"/>
                  </a:outerShdw>
                </a:effectLst>
                <a:ea typeface="楷体" pitchFamily="49" charset="-122"/>
                <a:cs typeface="Times New Roman" panose="02020503050405090304" pitchFamily="18" charset="0"/>
                <a:sym typeface="+mn-ea"/>
              </a:rPr>
              <a:t>δ</a:t>
            </a:r>
            <a:r>
              <a:rPr kumimoji="0" lang="en-US" altLang="zh-CN" sz="2800" b="1" baseline="-25000" noProof="1" dirty="0">
                <a:solidFill>
                  <a:schemeClr val="tx1"/>
                </a:solidFill>
                <a:effectLst>
                  <a:outerShdw blurRad="38100" dist="38100" dir="2700000">
                    <a:srgbClr val="C0C0C0"/>
                  </a:outerShdw>
                </a:effectLst>
                <a:uFillTx/>
                <a:ea typeface="楷体" pitchFamily="49" charset="-122"/>
                <a:cs typeface="Times New Roman" panose="02020503050405090304" pitchFamily="18" charset="0"/>
                <a:sym typeface="+mn-ea"/>
              </a:rPr>
              <a:t>p</a:t>
            </a:r>
            <a:endParaRPr kumimoji="0" lang="en-US" altLang="zh-CN" sz="2800" b="1" baseline="-25000" noProof="1" dirty="0">
              <a:solidFill>
                <a:schemeClr val="tx1"/>
              </a:solidFill>
              <a:effectLst>
                <a:outerShdw blurRad="38100" dist="38100" dir="2700000">
                  <a:srgbClr val="C0C0C0"/>
                </a:outerShdw>
              </a:effectLst>
              <a:uFillTx/>
              <a:ea typeface="楷体" pitchFamily="49" charset="-122"/>
              <a:cs typeface="Times New Roman" panose="02020503050405090304" pitchFamily="18" charset="0"/>
              <a:sym typeface="+mn-ea"/>
            </a:endParaRPr>
          </a:p>
        </p:txBody>
      </p:sp>
      <p:sp>
        <p:nvSpPr>
          <p:cNvPr id="35854" name="文本框 35853"/>
          <p:cNvSpPr txBox="1"/>
          <p:nvPr/>
        </p:nvSpPr>
        <p:spPr>
          <a:xfrm>
            <a:off x="4756150" y="3703638"/>
            <a:ext cx="3952875" cy="521970"/>
          </a:xfrm>
          <a:prstGeom prst="rect">
            <a:avLst/>
          </a:prstGeom>
          <a:noFill/>
          <a:ln w="9525">
            <a:noFill/>
            <a:miter/>
          </a:ln>
        </p:spPr>
        <p:txBody>
          <a:bodyPr wrap="square">
            <a:spAutoFit/>
          </a:bodyPr>
          <a:lstStyle/>
          <a:p>
            <a:pPr>
              <a:spcBef>
                <a:spcPct val="50000"/>
              </a:spcBef>
              <a:buClrTx/>
              <a:buSzTx/>
              <a:defRPr/>
            </a:pPr>
            <a:r>
              <a:rPr lang="en-US" altLang="zh-CN" sz="2800" b="1"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Stopband attenuation </a:t>
            </a:r>
            <a:r>
              <a:rPr lang="en-US" altLang="zh-CN" sz="2800" b="1" dirty="0">
                <a:effectLst>
                  <a:outerShdw blurRad="38100" dist="38100" dir="2700000">
                    <a:srgbClr val="C0C0C0"/>
                  </a:outerShdw>
                </a:effectLst>
                <a:latin typeface="Arial" panose="020B0604020202090204" pitchFamily="34" charset="0"/>
                <a:ea typeface="楷体" pitchFamily="49" charset="-122"/>
                <a:cs typeface="Arial" panose="020B0604020202090204" pitchFamily="34" charset="0"/>
                <a:sym typeface="+mn-ea"/>
              </a:rPr>
              <a:t>α</a:t>
            </a:r>
            <a:r>
              <a:rPr lang="en-US" altLang="zh-CN" sz="2800" b="1" baseline="-25000" dirty="0">
                <a:effectLst>
                  <a:outerShdw blurRad="38100" dist="38100" dir="2700000">
                    <a:srgbClr val="C0C0C0"/>
                  </a:outerShdw>
                </a:effectLst>
                <a:uFillTx/>
                <a:latin typeface="Times" panose="00000500000000020000" charset="0"/>
                <a:ea typeface="楷体" pitchFamily="49" charset="-122"/>
                <a:cs typeface="Times" panose="00000500000000020000" charset="0"/>
                <a:sym typeface="+mn-ea"/>
              </a:rPr>
              <a:t>s</a:t>
            </a:r>
            <a:endParaRPr lang="en-US" altLang="zh-CN" sz="2800" b="1" baseline="-25000" dirty="0">
              <a:effectLst>
                <a:outerShdw blurRad="38100" dist="38100" dir="2700000">
                  <a:srgbClr val="C0C0C0"/>
                </a:outerShdw>
              </a:effectLst>
              <a:uFillTx/>
              <a:latin typeface="Times" panose="00000500000000020000" charset="0"/>
              <a:ea typeface="楷体" pitchFamily="49" charset="-122"/>
              <a:cs typeface="Times" panose="00000500000000020000" charset="0"/>
              <a:sym typeface="+mn-ea"/>
            </a:endParaRPr>
          </a:p>
        </p:txBody>
      </p:sp>
      <p:sp>
        <p:nvSpPr>
          <p:cNvPr id="35855" name="文本框 35854"/>
          <p:cNvSpPr txBox="1"/>
          <p:nvPr/>
        </p:nvSpPr>
        <p:spPr>
          <a:xfrm>
            <a:off x="4987925" y="2930525"/>
            <a:ext cx="3025775" cy="521970"/>
          </a:xfrm>
          <a:prstGeom prst="rect">
            <a:avLst/>
          </a:prstGeom>
          <a:noFill/>
          <a:ln w="9525">
            <a:noFill/>
            <a:miter/>
          </a:ln>
        </p:spPr>
        <p:txBody>
          <a:bodyPr wrap="square">
            <a:spAutoFit/>
          </a:bodyPr>
          <a:lstStyle/>
          <a:p>
            <a:pPr>
              <a:spcBef>
                <a:spcPct val="50000"/>
              </a:spcBef>
              <a:buClrTx/>
              <a:buSzTx/>
              <a:defRPr/>
            </a:pPr>
            <a:r>
              <a:rPr lang="en-US" altLang="zh-CN" sz="2800" b="1"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stopband ripple </a:t>
            </a:r>
            <a:r>
              <a:rPr lang="en-US" altLang="zh-CN" sz="2800" b="1" dirty="0">
                <a:effectLst>
                  <a:outerShdw blurRad="38100" dist="38100" dir="2700000">
                    <a:srgbClr val="C0C0C0"/>
                  </a:outerShdw>
                </a:effectLst>
                <a:ea typeface="楷体" pitchFamily="49" charset="-122"/>
                <a:cs typeface="Times New Roman" panose="02020503050405090304" pitchFamily="18" charset="0"/>
                <a:sym typeface="+mn-ea"/>
              </a:rPr>
              <a:t>δ</a:t>
            </a:r>
            <a:r>
              <a:rPr lang="en-US" altLang="zh-CN" sz="2800" b="1" baseline="-25000" dirty="0">
                <a:effectLst>
                  <a:outerShdw blurRad="38100" dist="38100" dir="2700000">
                    <a:srgbClr val="C0C0C0"/>
                  </a:outerShdw>
                </a:effectLst>
                <a:uFillTx/>
                <a:ea typeface="楷体" pitchFamily="49" charset="-122"/>
                <a:cs typeface="Times New Roman" panose="02020503050405090304" pitchFamily="18" charset="0"/>
                <a:sym typeface="+mn-ea"/>
              </a:rPr>
              <a:t>s</a:t>
            </a:r>
            <a:endParaRPr lang="en-US" altLang="zh-CN" sz="2800" b="1"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35856" name="文本框 35855"/>
          <p:cNvSpPr txBox="1"/>
          <p:nvPr/>
        </p:nvSpPr>
        <p:spPr>
          <a:xfrm>
            <a:off x="582613" y="3703638"/>
            <a:ext cx="4465638" cy="521970"/>
          </a:xfrm>
          <a:prstGeom prst="rect">
            <a:avLst/>
          </a:prstGeom>
          <a:noFill/>
          <a:ln w="9525">
            <a:noFill/>
            <a:miter/>
          </a:ln>
        </p:spPr>
        <p:txBody>
          <a:bodyPr wrap="square">
            <a:spAutoFit/>
          </a:bodyPr>
          <a:lstStyle/>
          <a:p>
            <a:pPr>
              <a:spcBef>
                <a:spcPct val="50000"/>
              </a:spcBef>
              <a:buClrTx/>
              <a:buSzTx/>
              <a:defRPr/>
            </a:pPr>
            <a:r>
              <a:rPr lang="en-US" altLang="zh-CN" sz="2800" b="1"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Peak passband ripple </a:t>
            </a:r>
            <a:r>
              <a:rPr lang="en-US" altLang="zh-CN" sz="2800" b="1" noProof="1" dirty="0">
                <a:effectLst>
                  <a:outerShdw blurRad="38100" dist="38100" dir="2700000">
                    <a:srgbClr val="C0C0C0"/>
                  </a:outerShdw>
                </a:effectLst>
                <a:latin typeface="Arial" panose="020B0604020202090204" pitchFamily="34" charset="0"/>
                <a:ea typeface="楷体" pitchFamily="49" charset="-122"/>
                <a:cs typeface="Arial" panose="020B0604020202090204" pitchFamily="34" charset="0"/>
                <a:sym typeface="+mn-ea"/>
              </a:rPr>
              <a:t>α</a:t>
            </a:r>
            <a:r>
              <a:rPr lang="en-US" altLang="zh-CN" sz="2800" b="1" baseline="-25000" dirty="0">
                <a:effectLst>
                  <a:outerShdw blurRad="38100" dist="38100" dir="2700000">
                    <a:srgbClr val="C0C0C0"/>
                  </a:outerShdw>
                </a:effectLst>
                <a:uFillTx/>
                <a:latin typeface="Times" panose="00000500000000020000" charset="0"/>
                <a:ea typeface="楷体" pitchFamily="49" charset="-122"/>
                <a:cs typeface="Times" panose="00000500000000020000" charset="0"/>
                <a:sym typeface="+mn-ea"/>
              </a:rPr>
              <a:t>p</a:t>
            </a:r>
            <a:endParaRPr lang="en-US" altLang="zh-CN" sz="2800" b="1" noProof="1" dirty="0">
              <a:effectLst>
                <a:outerShdw blurRad="38100" dist="38100" dir="2700000">
                  <a:srgbClr val="C0C0C0"/>
                </a:outerShdw>
              </a:effectLst>
              <a:latin typeface="Arial" panose="020B0604020202090204" pitchFamily="34" charset="0"/>
              <a:ea typeface="楷体" pitchFamily="49" charset="-122"/>
              <a:cs typeface="Arial" panose="020B0604020202090204" pitchFamily="34" charset="0"/>
              <a:sym typeface="+mn-ea"/>
            </a:endParaRPr>
          </a:p>
        </p:txBody>
      </p:sp>
      <p:sp>
        <p:nvSpPr>
          <p:cNvPr id="35857" name="文本框 35856"/>
          <p:cNvSpPr txBox="1"/>
          <p:nvPr/>
        </p:nvSpPr>
        <p:spPr>
          <a:xfrm>
            <a:off x="582613" y="4405313"/>
            <a:ext cx="2736850" cy="522288"/>
          </a:xfrm>
          <a:prstGeom prst="rect">
            <a:avLst/>
          </a:prstGeom>
          <a:noFill/>
          <a:ln w="9525">
            <a:noFill/>
            <a:miter/>
          </a:ln>
        </p:spPr>
        <p:txBody>
          <a:bodyPr wrap="square" anchor="t">
            <a:spAutoFit/>
          </a:bodyPr>
          <a:lstStyle/>
          <a:p>
            <a:pPr>
              <a:spcBef>
                <a:spcPct val="50000"/>
              </a:spcBef>
              <a:buClrTx/>
              <a:buSzTx/>
              <a:defRPr/>
            </a:pPr>
            <a:r>
              <a:rPr lang="en-US" altLang="zh-CN" sz="2800" b="1"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Order N.</a:t>
            </a:r>
            <a:endParaRPr lang="en-US" altLang="zh-CN" sz="2800" b="1"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endParaRPr>
          </a:p>
        </p:txBody>
      </p:sp>
      <p:sp>
        <p:nvSpPr>
          <p:cNvPr id="35858" name="文本框 35857"/>
          <p:cNvSpPr txBox="1"/>
          <p:nvPr/>
        </p:nvSpPr>
        <p:spPr>
          <a:xfrm>
            <a:off x="698500" y="5043488"/>
            <a:ext cx="8010525" cy="953135"/>
          </a:xfrm>
          <a:prstGeom prst="rect">
            <a:avLst/>
          </a:prstGeom>
          <a:noFill/>
          <a:ln w="9525">
            <a:noFill/>
            <a:miter/>
          </a:ln>
        </p:spPr>
        <p:txBody>
          <a:bodyPr wrap="square" anchor="t">
            <a:spAutoFit/>
          </a:bodyPr>
          <a:lstStyle/>
          <a:p>
            <a:pPr>
              <a:spcBef>
                <a:spcPct val="50000"/>
              </a:spcBef>
              <a:buClrTx/>
              <a:buSzTx/>
              <a:defRPr/>
            </a:pPr>
            <a:r>
              <a:rPr lang="en-US" altLang="zh-CN" sz="2800" b="1" noProof="1" dirty="0">
                <a:effectLst>
                  <a:outerShdw blurRad="38100" dist="38100" dir="2700000">
                    <a:srgbClr val="C0C0C0"/>
                  </a:outerShdw>
                </a:effectLst>
                <a:latin typeface="Times New Roman Bold" panose="02020503050405090304" charset="0"/>
                <a:ea typeface="楷体" pitchFamily="49" charset="-122"/>
                <a:cs typeface="Times New Roman Bold" panose="02020503050405090304" charset="0"/>
                <a:sym typeface="+mn-ea"/>
              </a:rPr>
              <a:t>Analog angular frequencies are normalized to digital angular frequencies: </a:t>
            </a:r>
            <a:r>
              <a:rPr lang="en-US" altLang="zh-CN" sz="2800" b="1" dirty="0">
                <a:effectLst>
                  <a:outerShdw blurRad="38100" dist="38100" dir="2700000">
                    <a:srgbClr val="C0C0C0"/>
                  </a:outerShdw>
                </a:effectLst>
                <a:latin typeface="Times" panose="00000500000000020000" charset="0"/>
                <a:ea typeface="楷体" pitchFamily="49" charset="-122"/>
                <a:cs typeface="Times" panose="00000500000000020000" charset="0"/>
                <a:sym typeface="+mn-ea"/>
              </a:rPr>
              <a:t>ω=Ω</a:t>
            </a:r>
            <a:r>
              <a:rPr lang="en-US" altLang="zh-CN" sz="2800" b="1" dirty="0">
                <a:effectLst>
                  <a:outerShdw blurRad="38100" dist="38100" dir="2700000">
                    <a:srgbClr val="C0C0C0"/>
                  </a:outerShdw>
                </a:effectLst>
                <a:latin typeface="Times" panose="00000500000000020000" charset="0"/>
                <a:ea typeface="楷体" pitchFamily="49" charset="-122"/>
                <a:cs typeface="Times" panose="00000500000000020000" charset="0"/>
                <a:sym typeface="+mn-ea"/>
              </a:rPr>
              <a:t>T</a:t>
            </a:r>
            <a:endParaRPr lang="en-US" altLang="zh-CN" sz="2800" b="1" dirty="0">
              <a:effectLst>
                <a:outerShdw blurRad="38100" dist="38100" dir="2700000">
                  <a:srgbClr val="C0C0C0"/>
                </a:outerShdw>
              </a:effectLst>
              <a:latin typeface="Times" panose="00000500000000020000" charset="0"/>
              <a:ea typeface="楷体" pitchFamily="49" charset="-122"/>
              <a:cs typeface="Times" panose="00000500000000020000" charset="0"/>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50"/>
                                        </p:tgtEl>
                                        <p:attrNameLst>
                                          <p:attrName>style.visibility</p:attrName>
                                        </p:attrNameLst>
                                      </p:cBhvr>
                                      <p:to>
                                        <p:strVal val="visible"/>
                                      </p:to>
                                    </p:set>
                                    <p:animEffect transition="in" filter="blinds(horizontal)">
                                      <p:cBhvr>
                                        <p:cTn id="7" dur="500"/>
                                        <p:tgtEl>
                                          <p:spTgt spid="358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5851"/>
                                        </p:tgtEl>
                                        <p:attrNameLst>
                                          <p:attrName>style.visibility</p:attrName>
                                        </p:attrNameLst>
                                      </p:cBhvr>
                                      <p:to>
                                        <p:strVal val="visible"/>
                                      </p:to>
                                    </p:set>
                                    <p:anim calcmode="lin" valueType="num">
                                      <p:cBhvr additive="base">
                                        <p:cTn id="12" dur="500" fill="hold"/>
                                        <p:tgtEl>
                                          <p:spTgt spid="35851"/>
                                        </p:tgtEl>
                                        <p:attrNameLst>
                                          <p:attrName>ppt_x</p:attrName>
                                        </p:attrNameLst>
                                      </p:cBhvr>
                                      <p:tavLst>
                                        <p:tav tm="0">
                                          <p:val>
                                            <p:strVal val="#ppt_x"/>
                                          </p:val>
                                        </p:tav>
                                        <p:tav tm="100000">
                                          <p:val>
                                            <p:strVal val="#ppt_x"/>
                                          </p:val>
                                        </p:tav>
                                      </p:tavLst>
                                    </p:anim>
                                    <p:anim calcmode="lin" valueType="num">
                                      <p:cBhvr additive="base">
                                        <p:cTn id="13" dur="500" fill="hold"/>
                                        <p:tgtEl>
                                          <p:spTgt spid="3585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5843"/>
                                        </p:tgtEl>
                                        <p:attrNameLst>
                                          <p:attrName>style.visibility</p:attrName>
                                        </p:attrNameLst>
                                      </p:cBhvr>
                                      <p:to>
                                        <p:strVal val="visible"/>
                                      </p:to>
                                    </p:set>
                                    <p:anim calcmode="lin" valueType="num">
                                      <p:cBhvr additive="base">
                                        <p:cTn id="18" dur="500" fill="hold"/>
                                        <p:tgtEl>
                                          <p:spTgt spid="35843"/>
                                        </p:tgtEl>
                                        <p:attrNameLst>
                                          <p:attrName>ppt_x</p:attrName>
                                        </p:attrNameLst>
                                      </p:cBhvr>
                                      <p:tavLst>
                                        <p:tav tm="0">
                                          <p:val>
                                            <p:strVal val="#ppt_x"/>
                                          </p:val>
                                        </p:tav>
                                        <p:tav tm="100000">
                                          <p:val>
                                            <p:strVal val="#ppt_x"/>
                                          </p:val>
                                        </p:tav>
                                      </p:tavLst>
                                    </p:anim>
                                    <p:anim calcmode="lin" valueType="num">
                                      <p:cBhvr additive="base">
                                        <p:cTn id="19" dur="500" fill="hold"/>
                                        <p:tgtEl>
                                          <p:spTgt spid="3584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5852"/>
                                        </p:tgtEl>
                                        <p:attrNameLst>
                                          <p:attrName>style.visibility</p:attrName>
                                        </p:attrNameLst>
                                      </p:cBhvr>
                                      <p:to>
                                        <p:strVal val="visible"/>
                                      </p:to>
                                    </p:set>
                                    <p:anim calcmode="lin" valueType="num">
                                      <p:cBhvr additive="base">
                                        <p:cTn id="24" dur="500" fill="hold"/>
                                        <p:tgtEl>
                                          <p:spTgt spid="35852"/>
                                        </p:tgtEl>
                                        <p:attrNameLst>
                                          <p:attrName>ppt_x</p:attrName>
                                        </p:attrNameLst>
                                      </p:cBhvr>
                                      <p:tavLst>
                                        <p:tav tm="0">
                                          <p:val>
                                            <p:strVal val="#ppt_x"/>
                                          </p:val>
                                        </p:tav>
                                        <p:tav tm="100000">
                                          <p:val>
                                            <p:strVal val="#ppt_x"/>
                                          </p:val>
                                        </p:tav>
                                      </p:tavLst>
                                    </p:anim>
                                    <p:anim calcmode="lin" valueType="num">
                                      <p:cBhvr additive="base">
                                        <p:cTn id="25" dur="500" fill="hold"/>
                                        <p:tgtEl>
                                          <p:spTgt spid="3585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5844"/>
                                        </p:tgtEl>
                                        <p:attrNameLst>
                                          <p:attrName>style.visibility</p:attrName>
                                        </p:attrNameLst>
                                      </p:cBhvr>
                                      <p:to>
                                        <p:strVal val="visible"/>
                                      </p:to>
                                    </p:set>
                                    <p:anim calcmode="lin" valueType="num">
                                      <p:cBhvr additive="base">
                                        <p:cTn id="30" dur="500" fill="hold"/>
                                        <p:tgtEl>
                                          <p:spTgt spid="35844"/>
                                        </p:tgtEl>
                                        <p:attrNameLst>
                                          <p:attrName>ppt_x</p:attrName>
                                        </p:attrNameLst>
                                      </p:cBhvr>
                                      <p:tavLst>
                                        <p:tav tm="0">
                                          <p:val>
                                            <p:strVal val="#ppt_x"/>
                                          </p:val>
                                        </p:tav>
                                        <p:tav tm="100000">
                                          <p:val>
                                            <p:strVal val="#ppt_x"/>
                                          </p:val>
                                        </p:tav>
                                      </p:tavLst>
                                    </p:anim>
                                    <p:anim calcmode="lin" valueType="num">
                                      <p:cBhvr additive="base">
                                        <p:cTn id="31" dur="500" fill="hold"/>
                                        <p:tgtEl>
                                          <p:spTgt spid="3584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5853"/>
                                        </p:tgtEl>
                                        <p:attrNameLst>
                                          <p:attrName>style.visibility</p:attrName>
                                        </p:attrNameLst>
                                      </p:cBhvr>
                                      <p:to>
                                        <p:strVal val="visible"/>
                                      </p:to>
                                    </p:set>
                                    <p:anim calcmode="lin" valueType="num">
                                      <p:cBhvr additive="base">
                                        <p:cTn id="36" dur="500" fill="hold"/>
                                        <p:tgtEl>
                                          <p:spTgt spid="35853"/>
                                        </p:tgtEl>
                                        <p:attrNameLst>
                                          <p:attrName>ppt_x</p:attrName>
                                        </p:attrNameLst>
                                      </p:cBhvr>
                                      <p:tavLst>
                                        <p:tav tm="0">
                                          <p:val>
                                            <p:strVal val="#ppt_x"/>
                                          </p:val>
                                        </p:tav>
                                        <p:tav tm="100000">
                                          <p:val>
                                            <p:strVal val="#ppt_x"/>
                                          </p:val>
                                        </p:tav>
                                      </p:tavLst>
                                    </p:anim>
                                    <p:anim calcmode="lin" valueType="num">
                                      <p:cBhvr additive="base">
                                        <p:cTn id="37" dur="500" fill="hold"/>
                                        <p:tgtEl>
                                          <p:spTgt spid="35853"/>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5845"/>
                                        </p:tgtEl>
                                        <p:attrNameLst>
                                          <p:attrName>style.visibility</p:attrName>
                                        </p:attrNameLst>
                                      </p:cBhvr>
                                      <p:to>
                                        <p:strVal val="visible"/>
                                      </p:to>
                                    </p:set>
                                    <p:anim calcmode="lin" valueType="num">
                                      <p:cBhvr additive="base">
                                        <p:cTn id="42" dur="500" fill="hold"/>
                                        <p:tgtEl>
                                          <p:spTgt spid="35845"/>
                                        </p:tgtEl>
                                        <p:attrNameLst>
                                          <p:attrName>ppt_x</p:attrName>
                                        </p:attrNameLst>
                                      </p:cBhvr>
                                      <p:tavLst>
                                        <p:tav tm="0">
                                          <p:val>
                                            <p:strVal val="#ppt_x"/>
                                          </p:val>
                                        </p:tav>
                                        <p:tav tm="100000">
                                          <p:val>
                                            <p:strVal val="#ppt_x"/>
                                          </p:val>
                                        </p:tav>
                                      </p:tavLst>
                                    </p:anim>
                                    <p:anim calcmode="lin" valueType="num">
                                      <p:cBhvr additive="base">
                                        <p:cTn id="43" dur="500" fill="hold"/>
                                        <p:tgtEl>
                                          <p:spTgt spid="35845"/>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5855"/>
                                        </p:tgtEl>
                                        <p:attrNameLst>
                                          <p:attrName>style.visibility</p:attrName>
                                        </p:attrNameLst>
                                      </p:cBhvr>
                                      <p:to>
                                        <p:strVal val="visible"/>
                                      </p:to>
                                    </p:set>
                                    <p:anim calcmode="lin" valueType="num">
                                      <p:cBhvr additive="base">
                                        <p:cTn id="48" dur="500" fill="hold"/>
                                        <p:tgtEl>
                                          <p:spTgt spid="35855"/>
                                        </p:tgtEl>
                                        <p:attrNameLst>
                                          <p:attrName>ppt_x</p:attrName>
                                        </p:attrNameLst>
                                      </p:cBhvr>
                                      <p:tavLst>
                                        <p:tav tm="0">
                                          <p:val>
                                            <p:strVal val="#ppt_x"/>
                                          </p:val>
                                        </p:tav>
                                        <p:tav tm="100000">
                                          <p:val>
                                            <p:strVal val="#ppt_x"/>
                                          </p:val>
                                        </p:tav>
                                      </p:tavLst>
                                    </p:anim>
                                    <p:anim calcmode="lin" valueType="num">
                                      <p:cBhvr additive="base">
                                        <p:cTn id="49" dur="500" fill="hold"/>
                                        <p:tgtEl>
                                          <p:spTgt spid="35855"/>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5847"/>
                                        </p:tgtEl>
                                        <p:attrNameLst>
                                          <p:attrName>style.visibility</p:attrName>
                                        </p:attrNameLst>
                                      </p:cBhvr>
                                      <p:to>
                                        <p:strVal val="visible"/>
                                      </p:to>
                                    </p:set>
                                    <p:anim calcmode="lin" valueType="num">
                                      <p:cBhvr additive="base">
                                        <p:cTn id="54" dur="500" fill="hold"/>
                                        <p:tgtEl>
                                          <p:spTgt spid="35847"/>
                                        </p:tgtEl>
                                        <p:attrNameLst>
                                          <p:attrName>ppt_x</p:attrName>
                                        </p:attrNameLst>
                                      </p:cBhvr>
                                      <p:tavLst>
                                        <p:tav tm="0">
                                          <p:val>
                                            <p:strVal val="#ppt_x"/>
                                          </p:val>
                                        </p:tav>
                                        <p:tav tm="100000">
                                          <p:val>
                                            <p:strVal val="#ppt_x"/>
                                          </p:val>
                                        </p:tav>
                                      </p:tavLst>
                                    </p:anim>
                                    <p:anim calcmode="lin" valueType="num">
                                      <p:cBhvr additive="base">
                                        <p:cTn id="55" dur="500" fill="hold"/>
                                        <p:tgtEl>
                                          <p:spTgt spid="35847"/>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35856"/>
                                        </p:tgtEl>
                                        <p:attrNameLst>
                                          <p:attrName>style.visibility</p:attrName>
                                        </p:attrNameLst>
                                      </p:cBhvr>
                                      <p:to>
                                        <p:strVal val="visible"/>
                                      </p:to>
                                    </p:set>
                                    <p:anim calcmode="lin" valueType="num">
                                      <p:cBhvr additive="base">
                                        <p:cTn id="60" dur="500" fill="hold"/>
                                        <p:tgtEl>
                                          <p:spTgt spid="35856"/>
                                        </p:tgtEl>
                                        <p:attrNameLst>
                                          <p:attrName>ppt_x</p:attrName>
                                        </p:attrNameLst>
                                      </p:cBhvr>
                                      <p:tavLst>
                                        <p:tav tm="0">
                                          <p:val>
                                            <p:strVal val="#ppt_x"/>
                                          </p:val>
                                        </p:tav>
                                        <p:tav tm="100000">
                                          <p:val>
                                            <p:strVal val="#ppt_x"/>
                                          </p:val>
                                        </p:tav>
                                      </p:tavLst>
                                    </p:anim>
                                    <p:anim calcmode="lin" valueType="num">
                                      <p:cBhvr additive="base">
                                        <p:cTn id="61" dur="500" fill="hold"/>
                                        <p:tgtEl>
                                          <p:spTgt spid="35856"/>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35846"/>
                                        </p:tgtEl>
                                        <p:attrNameLst>
                                          <p:attrName>style.visibility</p:attrName>
                                        </p:attrNameLst>
                                      </p:cBhvr>
                                      <p:to>
                                        <p:strVal val="visible"/>
                                      </p:to>
                                    </p:set>
                                    <p:anim calcmode="lin" valueType="num">
                                      <p:cBhvr additive="base">
                                        <p:cTn id="66" dur="500" fill="hold"/>
                                        <p:tgtEl>
                                          <p:spTgt spid="35846"/>
                                        </p:tgtEl>
                                        <p:attrNameLst>
                                          <p:attrName>ppt_x</p:attrName>
                                        </p:attrNameLst>
                                      </p:cBhvr>
                                      <p:tavLst>
                                        <p:tav tm="0">
                                          <p:val>
                                            <p:strVal val="#ppt_x"/>
                                          </p:val>
                                        </p:tav>
                                        <p:tav tm="100000">
                                          <p:val>
                                            <p:strVal val="#ppt_x"/>
                                          </p:val>
                                        </p:tav>
                                      </p:tavLst>
                                    </p:anim>
                                    <p:anim calcmode="lin" valueType="num">
                                      <p:cBhvr additive="base">
                                        <p:cTn id="67" dur="500" fill="hold"/>
                                        <p:tgtEl>
                                          <p:spTgt spid="35846"/>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35854"/>
                                        </p:tgtEl>
                                        <p:attrNameLst>
                                          <p:attrName>style.visibility</p:attrName>
                                        </p:attrNameLst>
                                      </p:cBhvr>
                                      <p:to>
                                        <p:strVal val="visible"/>
                                      </p:to>
                                    </p:set>
                                    <p:anim calcmode="lin" valueType="num">
                                      <p:cBhvr additive="base">
                                        <p:cTn id="72" dur="500" fill="hold"/>
                                        <p:tgtEl>
                                          <p:spTgt spid="35854"/>
                                        </p:tgtEl>
                                        <p:attrNameLst>
                                          <p:attrName>ppt_x</p:attrName>
                                        </p:attrNameLst>
                                      </p:cBhvr>
                                      <p:tavLst>
                                        <p:tav tm="0">
                                          <p:val>
                                            <p:strVal val="#ppt_x"/>
                                          </p:val>
                                        </p:tav>
                                        <p:tav tm="100000">
                                          <p:val>
                                            <p:strVal val="#ppt_x"/>
                                          </p:val>
                                        </p:tav>
                                      </p:tavLst>
                                    </p:anim>
                                    <p:anim calcmode="lin" valueType="num">
                                      <p:cBhvr additive="base">
                                        <p:cTn id="73" dur="500" fill="hold"/>
                                        <p:tgtEl>
                                          <p:spTgt spid="35854"/>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35848"/>
                                        </p:tgtEl>
                                        <p:attrNameLst>
                                          <p:attrName>style.visibility</p:attrName>
                                        </p:attrNameLst>
                                      </p:cBhvr>
                                      <p:to>
                                        <p:strVal val="visible"/>
                                      </p:to>
                                    </p:set>
                                    <p:anim calcmode="lin" valueType="num">
                                      <p:cBhvr additive="base">
                                        <p:cTn id="78" dur="500" fill="hold"/>
                                        <p:tgtEl>
                                          <p:spTgt spid="35848"/>
                                        </p:tgtEl>
                                        <p:attrNameLst>
                                          <p:attrName>ppt_x</p:attrName>
                                        </p:attrNameLst>
                                      </p:cBhvr>
                                      <p:tavLst>
                                        <p:tav tm="0">
                                          <p:val>
                                            <p:strVal val="#ppt_x"/>
                                          </p:val>
                                        </p:tav>
                                        <p:tav tm="100000">
                                          <p:val>
                                            <p:strVal val="#ppt_x"/>
                                          </p:val>
                                        </p:tav>
                                      </p:tavLst>
                                    </p:anim>
                                    <p:anim calcmode="lin" valueType="num">
                                      <p:cBhvr additive="base">
                                        <p:cTn id="79" dur="500" fill="hold"/>
                                        <p:tgtEl>
                                          <p:spTgt spid="35848"/>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35857"/>
                                        </p:tgtEl>
                                        <p:attrNameLst>
                                          <p:attrName>style.visibility</p:attrName>
                                        </p:attrNameLst>
                                      </p:cBhvr>
                                      <p:to>
                                        <p:strVal val="visible"/>
                                      </p:to>
                                    </p:set>
                                    <p:anim calcmode="lin" valueType="num">
                                      <p:cBhvr additive="base">
                                        <p:cTn id="84" dur="500" fill="hold"/>
                                        <p:tgtEl>
                                          <p:spTgt spid="35857"/>
                                        </p:tgtEl>
                                        <p:attrNameLst>
                                          <p:attrName>ppt_x</p:attrName>
                                        </p:attrNameLst>
                                      </p:cBhvr>
                                      <p:tavLst>
                                        <p:tav tm="0">
                                          <p:val>
                                            <p:strVal val="#ppt_x"/>
                                          </p:val>
                                        </p:tav>
                                        <p:tav tm="100000">
                                          <p:val>
                                            <p:strVal val="#ppt_x"/>
                                          </p:val>
                                        </p:tav>
                                      </p:tavLst>
                                    </p:anim>
                                    <p:anim calcmode="lin" valueType="num">
                                      <p:cBhvr additive="base">
                                        <p:cTn id="85" dur="500" fill="hold"/>
                                        <p:tgtEl>
                                          <p:spTgt spid="35857"/>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35858"/>
                                        </p:tgtEl>
                                        <p:attrNameLst>
                                          <p:attrName>style.visibility</p:attrName>
                                        </p:attrNameLst>
                                      </p:cBhvr>
                                      <p:to>
                                        <p:strVal val="visible"/>
                                      </p:to>
                                    </p:set>
                                    <p:anim calcmode="lin" valueType="num">
                                      <p:cBhvr additive="base">
                                        <p:cTn id="90" dur="500" fill="hold"/>
                                        <p:tgtEl>
                                          <p:spTgt spid="35858"/>
                                        </p:tgtEl>
                                        <p:attrNameLst>
                                          <p:attrName>ppt_x</p:attrName>
                                        </p:attrNameLst>
                                      </p:cBhvr>
                                      <p:tavLst>
                                        <p:tav tm="0">
                                          <p:val>
                                            <p:strVal val="#ppt_x"/>
                                          </p:val>
                                        </p:tav>
                                        <p:tav tm="100000">
                                          <p:val>
                                            <p:strVal val="#ppt_x"/>
                                          </p:val>
                                        </p:tav>
                                      </p:tavLst>
                                    </p:anim>
                                    <p:anim calcmode="lin" valueType="num">
                                      <p:cBhvr additive="base">
                                        <p:cTn id="91" dur="500" fill="hold"/>
                                        <p:tgtEl>
                                          <p:spTgt spid="358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0" grpId="0"/>
      <p:bldP spid="35851" grpId="0"/>
      <p:bldP spid="35852" grpId="0"/>
      <p:bldP spid="35853" grpId="0"/>
      <p:bldP spid="35854" grpId="0"/>
      <p:bldP spid="35855" grpId="0"/>
      <p:bldP spid="35856" grpId="0"/>
      <p:bldP spid="35857" grpId="0"/>
      <p:bldP spid="3585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36865"/>
          <p:cNvSpPr/>
          <p:nvPr>
            <p:ph type="title"/>
          </p:nvPr>
        </p:nvSpPr>
        <p:spPr>
          <a:xfrm>
            <a:off x="523875" y="150813"/>
            <a:ext cx="7772400" cy="1006475"/>
          </a:xfrm>
        </p:spPr>
        <p:txBody>
          <a:bodyPr vert="horz" wrap="square" lIns="91440" tIns="45720" rIns="91440" bIns="45720" anchor="ctr" anchorCtr="0"/>
          <a:p>
            <a:pPr eaLnBrk="1" hangingPunct="1"/>
            <a:r>
              <a:rPr lang="en-US" altLang="zh-CN" sz="3600" dirty="0">
                <a:latin typeface="Times New Roman" panose="02020503050405090304" pitchFamily="18" charset="0"/>
                <a:ea typeface="楷体" pitchFamily="49" charset="-122"/>
              </a:rPr>
              <a:t>2 IIR Lowpass Filter </a:t>
            </a:r>
            <a:r>
              <a:rPr lang="en-US" altLang="zh-CN" sz="3600" dirty="0">
                <a:latin typeface="Times New Roman" panose="02020503050405090304" pitchFamily="18" charset="0"/>
                <a:ea typeface="楷体" pitchFamily="49" charset="-122"/>
              </a:rPr>
              <a:t>Design：</a:t>
            </a:r>
            <a:endParaRPr lang="en-US" altLang="zh-CN" sz="3600" dirty="0">
              <a:latin typeface="Times New Roman" panose="02020503050405090304" pitchFamily="18" charset="0"/>
              <a:ea typeface="楷体" pitchFamily="49" charset="-122"/>
            </a:endParaRPr>
          </a:p>
        </p:txBody>
      </p:sp>
      <p:graphicFrame>
        <p:nvGraphicFramePr>
          <p:cNvPr id="36867" name="对象 36866"/>
          <p:cNvGraphicFramePr>
            <a:graphicFrameLocks noChangeAspect="1"/>
          </p:cNvGraphicFramePr>
          <p:nvPr/>
        </p:nvGraphicFramePr>
        <p:xfrm>
          <a:off x="2771775" y="5867083"/>
          <a:ext cx="3276600" cy="990600"/>
        </p:xfrm>
        <a:graphic>
          <a:graphicData uri="http://schemas.openxmlformats.org/presentationml/2006/ole">
            <mc:AlternateContent xmlns:mc="http://schemas.openxmlformats.org/markup-compatibility/2006">
              <mc:Choice xmlns:v="urn:schemas-microsoft-com:vml" Requires="v">
                <p:oleObj spid="_x0000_s3082" name="" r:id="rId1" imgW="1233805" imgH="381635" progId="Equation.3">
                  <p:embed/>
                </p:oleObj>
              </mc:Choice>
              <mc:Fallback>
                <p:oleObj name="" r:id="rId1" imgW="1233805" imgH="381635" progId="Equation.3">
                  <p:embed/>
                  <p:pic>
                    <p:nvPicPr>
                      <p:cNvPr id="0" name="图片 3081"/>
                      <p:cNvPicPr/>
                      <p:nvPr/>
                    </p:nvPicPr>
                    <p:blipFill>
                      <a:blip r:embed="rId2"/>
                      <a:stretch>
                        <a:fillRect/>
                      </a:stretch>
                    </p:blipFill>
                    <p:spPr>
                      <a:xfrm>
                        <a:off x="2771775" y="5867083"/>
                        <a:ext cx="3276600" cy="990600"/>
                      </a:xfrm>
                      <a:prstGeom prst="rect">
                        <a:avLst/>
                      </a:prstGeom>
                      <a:solidFill>
                        <a:srgbClr val="FFFFFF"/>
                      </a:solidFill>
                      <a:ln w="38100">
                        <a:noFill/>
                        <a:miter/>
                      </a:ln>
                    </p:spPr>
                  </p:pic>
                </p:oleObj>
              </mc:Fallback>
            </mc:AlternateContent>
          </a:graphicData>
        </a:graphic>
      </p:graphicFrame>
      <p:sp>
        <p:nvSpPr>
          <p:cNvPr id="36868" name="文本框 36867"/>
          <p:cNvSpPr txBox="1"/>
          <p:nvPr/>
        </p:nvSpPr>
        <p:spPr>
          <a:xfrm>
            <a:off x="523875" y="1225550"/>
            <a:ext cx="8567738" cy="159956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Design of IIR filter </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Impulse invariance method, Bilinear transformation method.</a:t>
            </a:r>
            <a:endParaRPr kumimoji="0" lang="zh-CN" altLang="en-US" sz="2800" b="1" kern="1200" cap="none" spc="0" normalizeH="0" baseline="0" noProof="1">
              <a:solidFill>
                <a:schemeClr val="tx2"/>
              </a:solidFill>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6869" name="文本框 36868"/>
          <p:cNvSpPr txBox="1"/>
          <p:nvPr/>
        </p:nvSpPr>
        <p:spPr>
          <a:xfrm>
            <a:off x="523875" y="2700338"/>
            <a:ext cx="8154988"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From the basic idea of each design method to understand them.</a:t>
            </a:r>
            <a:endParaRPr kumimoji="0" lang="zh-CN" altLang="en-US" sz="2800" b="1" kern="1200" cap="none" spc="0" normalizeH="0" baseline="0" noProof="1">
              <a:effectLst>
                <a:outerShdw blurRad="38100" dist="38100" dir="2700000">
                  <a:srgbClr val="C0C0C0"/>
                </a:outerShdw>
              </a:effectLst>
              <a:latin typeface="Verdana" panose="020B0804030504040204" pitchFamily="34" charset="0"/>
              <a:ea typeface="宋体" pitchFamily="2" charset="-122"/>
              <a:cs typeface="+mn-cs"/>
              <a:sym typeface="+mn-ea"/>
            </a:endParaRPr>
          </a:p>
        </p:txBody>
      </p:sp>
      <p:sp>
        <p:nvSpPr>
          <p:cNvPr id="36870" name="文本框 36869"/>
          <p:cNvSpPr txBox="1"/>
          <p:nvPr/>
        </p:nvSpPr>
        <p:spPr>
          <a:xfrm>
            <a:off x="523875" y="3654425"/>
            <a:ext cx="9031288"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rPr>
              <a:t>Design steps of </a:t>
            </a:r>
            <a:r>
              <a:rPr kumimoji="0" lang="en-US" altLang="zh-CN" sz="2800" b="1" kern="1200" cap="none" spc="0" normalizeH="0" baseline="0" noProof="1">
                <a:solidFill>
                  <a:srgbClr val="FE211C"/>
                </a:solidFill>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rPr>
              <a:t>bilinear transformation method </a:t>
            </a:r>
            <a:r>
              <a:rPr kumimoji="0" lang="zh-CN" altLang="en-US" sz="2800" b="1" kern="1200" cap="none" spc="0" normalizeH="0" baseline="0" noProof="1">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rPr>
              <a:t>：</a:t>
            </a:r>
            <a:endParaRPr kumimoji="0" lang="zh-CN" altLang="en-US" sz="2800" b="1" kern="1200" cap="none" spc="0" normalizeH="0" baseline="0" noProof="1">
              <a:effectLst>
                <a:outerShdw blurRad="38100" dist="38100" dir="2700000">
                  <a:srgbClr val="C0C0C0"/>
                </a:outerShdw>
              </a:effectLst>
              <a:latin typeface="Times New Roman Regular" panose="02020503050405090304" charset="0"/>
              <a:ea typeface="楷体" pitchFamily="49" charset="-122"/>
              <a:cs typeface="Times New Roman Regular" panose="02020503050405090304" charset="0"/>
              <a:sym typeface="+mn-ea"/>
            </a:endParaRPr>
          </a:p>
        </p:txBody>
      </p:sp>
      <p:sp>
        <p:nvSpPr>
          <p:cNvPr id="36871" name="文本框 36870"/>
          <p:cNvSpPr txBox="1"/>
          <p:nvPr/>
        </p:nvSpPr>
        <p:spPr>
          <a:xfrm>
            <a:off x="523875" y="4176713"/>
            <a:ext cx="8154988" cy="953135"/>
          </a:xfrm>
          <a:prstGeom prst="rect">
            <a:avLst/>
          </a:prstGeom>
          <a:noFill/>
          <a:ln w="9525">
            <a:noFill/>
            <a:miter/>
          </a:ln>
        </p:spPr>
        <p:txBody>
          <a:bodyPr wrap="square">
            <a:spAutoFit/>
          </a:bodyPr>
          <a:p>
            <a:pPr marR="0" defTabSz="914400">
              <a:spcBef>
                <a:spcPct val="50000"/>
              </a:spcBef>
              <a:buFont typeface="Arial" panose="020B0604020202090204" pitchFamily="34" charset="0"/>
              <a:buNone/>
            </a:pPr>
            <a:r>
              <a:rPr kumimoji="0" lang="en-US" altLang="x-none"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(1) </a:t>
            </a: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The given bandedge frequencies is prewarpped (2) Analog prototype filter </a:t>
            </a:r>
            <a:r>
              <a:rPr kumimoji="0" lang="en-US" altLang="x-none"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H</a:t>
            </a:r>
            <a:r>
              <a:rPr kumimoji="0" lang="en-US" altLang="x-none" sz="2800" b="1" kern="1200" cap="none" spc="0" normalizeH="0" baseline="-2500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a</a:t>
            </a:r>
            <a:r>
              <a:rPr kumimoji="0" lang="en-US" altLang="x-none"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(s)</a:t>
            </a:r>
            <a:r>
              <a:rPr kumimoji="0" lang="en-US" altLang="zh-CN"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 is designed</a:t>
            </a:r>
            <a:r>
              <a:rPr kumimoji="0" lang="en-US" altLang="x-none"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rPr>
              <a:t>.</a:t>
            </a:r>
            <a:endParaRPr kumimoji="0" lang="en-US" altLang="x-none" sz="2800" b="1" kern="1200" cap="none" spc="0" normalizeH="0" baseline="0" noProof="1" dirty="0">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6872" name="文本框 36871"/>
          <p:cNvSpPr txBox="1"/>
          <p:nvPr/>
        </p:nvSpPr>
        <p:spPr>
          <a:xfrm>
            <a:off x="280988" y="5046345"/>
            <a:ext cx="7823200"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3</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The transfer function of digital filter is obtained by bilinear transformation:</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blinds(horizontal)">
                                      <p:cBhvr>
                                        <p:cTn id="7" dur="500"/>
                                        <p:tgtEl>
                                          <p:spTgt spid="368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9"/>
                                        </p:tgtEl>
                                        <p:attrNameLst>
                                          <p:attrName>style.visibility</p:attrName>
                                        </p:attrNameLst>
                                      </p:cBhvr>
                                      <p:to>
                                        <p:strVal val="visible"/>
                                      </p:to>
                                    </p:set>
                                    <p:animEffect transition="in" filter="blinds(horizontal)">
                                      <p:cBhvr>
                                        <p:cTn id="12" dur="500"/>
                                        <p:tgtEl>
                                          <p:spTgt spid="3686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70"/>
                                        </p:tgtEl>
                                        <p:attrNameLst>
                                          <p:attrName>style.visibility</p:attrName>
                                        </p:attrNameLst>
                                      </p:cBhvr>
                                      <p:to>
                                        <p:strVal val="visible"/>
                                      </p:to>
                                    </p:set>
                                    <p:animEffect transition="in" filter="blinds(horizontal)">
                                      <p:cBhvr>
                                        <p:cTn id="17" dur="500"/>
                                        <p:tgtEl>
                                          <p:spTgt spid="3687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36871"/>
                                        </p:tgtEl>
                                        <p:attrNameLst>
                                          <p:attrName>style.visibility</p:attrName>
                                        </p:attrNameLst>
                                      </p:cBhvr>
                                      <p:to>
                                        <p:strVal val="visible"/>
                                      </p:to>
                                    </p:set>
                                    <p:animEffect transition="in" filter="blinds(horizontal)">
                                      <p:cBhvr>
                                        <p:cTn id="22" dur="500"/>
                                        <p:tgtEl>
                                          <p:spTgt spid="3687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872"/>
                                        </p:tgtEl>
                                        <p:attrNameLst>
                                          <p:attrName>style.visibility</p:attrName>
                                        </p:attrNameLst>
                                      </p:cBhvr>
                                      <p:to>
                                        <p:strVal val="visible"/>
                                      </p:to>
                                    </p:set>
                                    <p:animEffect transition="in" filter="blinds(horizontal)">
                                      <p:cBhvr>
                                        <p:cTn id="27" dur="500"/>
                                        <p:tgtEl>
                                          <p:spTgt spid="3687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6867"/>
                                        </p:tgtEl>
                                        <p:attrNameLst>
                                          <p:attrName>style.visibility</p:attrName>
                                        </p:attrNameLst>
                                      </p:cBhvr>
                                      <p:to>
                                        <p:strVal val="visible"/>
                                      </p:to>
                                    </p:set>
                                    <p:anim calcmode="lin" valueType="num">
                                      <p:cBhvr additive="base">
                                        <p:cTn id="32" dur="500" fill="hold"/>
                                        <p:tgtEl>
                                          <p:spTgt spid="36867"/>
                                        </p:tgtEl>
                                        <p:attrNameLst>
                                          <p:attrName>ppt_x</p:attrName>
                                        </p:attrNameLst>
                                      </p:cBhvr>
                                      <p:tavLst>
                                        <p:tav tm="0">
                                          <p:val>
                                            <p:strVal val="#ppt_x"/>
                                          </p:val>
                                        </p:tav>
                                        <p:tav tm="100000">
                                          <p:val>
                                            <p:strVal val="#ppt_x"/>
                                          </p:val>
                                        </p:tav>
                                      </p:tavLst>
                                    </p:anim>
                                    <p:anim calcmode="lin" valueType="num">
                                      <p:cBhvr additive="base">
                                        <p:cTn id="33" dur="500" fill="hold"/>
                                        <p:tgtEl>
                                          <p:spTgt spid="368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36869" grpId="0"/>
      <p:bldP spid="36870" grpId="0"/>
      <p:bldP spid="36871" grpId="0"/>
      <p:bldP spid="36871" grpId="1"/>
      <p:bldP spid="3687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文本框 39937"/>
          <p:cNvSpPr txBox="1"/>
          <p:nvPr/>
        </p:nvSpPr>
        <p:spPr>
          <a:xfrm>
            <a:off x="684213" y="404813"/>
            <a:ext cx="5986463" cy="645160"/>
          </a:xfrm>
          <a:prstGeom prst="rect">
            <a:avLst/>
          </a:prstGeom>
          <a:noFill/>
          <a:ln w="9525">
            <a:noFill/>
            <a:miter/>
          </a:ln>
        </p:spPr>
        <p:txBody>
          <a:bodyPr>
            <a:spAutoFit/>
          </a:bodyPr>
          <a:lstStyle/>
          <a:p>
            <a:pPr marR="0" defTabSz="914400">
              <a:spcBef>
                <a:spcPct val="50000"/>
              </a:spcBef>
              <a:buClrTx/>
              <a:buSzTx/>
              <a:buFont typeface="Arial" panose="020B0604020202090204" pitchFamily="34" charset="0"/>
              <a:buNone/>
              <a:defRPr/>
            </a:pPr>
            <a:r>
              <a:rPr kumimoji="0" lang="en-US" altLang="x-none" sz="3600" b="1" kern="1200" cap="none" spc="0" normalizeH="0" baseline="0" noProof="1">
                <a:solidFill>
                  <a:schemeClr val="bg1"/>
                </a:solidFill>
                <a:effectLst>
                  <a:outerShdw blurRad="38100" dist="38100" dir="2700000">
                    <a:srgbClr val="C0C0C0"/>
                  </a:outerShdw>
                </a:effectLst>
                <a:latin typeface="Times New Roman" panose="02020503050405090304" pitchFamily="18" charset="0"/>
                <a:ea typeface="楷体" pitchFamily="49" charset="-122"/>
                <a:cs typeface="+mn-ea"/>
                <a:sym typeface="+mn-ea"/>
              </a:rPr>
              <a:t>3 FIR Filter Design</a:t>
            </a:r>
            <a:r>
              <a:rPr kumimoji="0" lang="zh-CN" altLang="en-US" sz="3600" b="1" kern="1200" cap="none" spc="0" normalizeH="0" baseline="0" noProof="1">
                <a:solidFill>
                  <a:schemeClr val="bg1"/>
                </a:solidFill>
                <a:effectLst>
                  <a:outerShdw blurRad="38100" dist="38100" dir="2700000">
                    <a:srgbClr val="C0C0C0"/>
                  </a:outerShdw>
                </a:effectLst>
                <a:latin typeface="Times New Roman" panose="02020503050405090304" pitchFamily="18" charset="0"/>
                <a:ea typeface="楷体" pitchFamily="49" charset="-122"/>
                <a:cs typeface="+mn-ea"/>
                <a:sym typeface="+mn-ea"/>
              </a:rPr>
              <a:t>：</a:t>
            </a:r>
            <a:endParaRPr kumimoji="0" lang="zh-CN" altLang="en-US" sz="3600" b="1" kern="1200" cap="none" spc="0" normalizeH="0" baseline="0" noProof="1">
              <a:solidFill>
                <a:schemeClr val="bg1"/>
              </a:solidFill>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9939" name="文本框 39938"/>
          <p:cNvSpPr txBox="1"/>
          <p:nvPr/>
        </p:nvSpPr>
        <p:spPr>
          <a:xfrm>
            <a:off x="166688" y="1252538"/>
            <a:ext cx="9145588" cy="138366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Window fourier series method</a:t>
            </a:r>
            <a:r>
              <a:rPr kumimoji="0" lang="en-US" altLang="zh-CN" sz="2800" b="1" kern="1200" cap="none" spc="0" normalizeH="0" baseline="0" noProof="1">
                <a:solidFill>
                  <a:schemeClr val="tx2"/>
                </a:solidFill>
                <a:effectLst>
                  <a:outerShdw blurRad="38100" dist="38100" dir="2700000">
                    <a:srgbClr val="C0C0C0"/>
                  </a:outerShdw>
                </a:effectLst>
                <a:latin typeface="楷体" pitchFamily="49" charset="-122"/>
                <a:ea typeface="楷体" pitchFamily="49" charset="-122"/>
                <a:cs typeface="+mn-ea"/>
                <a:sym typeface="+mn-ea"/>
              </a:rPr>
              <a:t>, </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frequency sampling method. </a:t>
            </a:r>
            <a:r>
              <a:rPr lang="en-US" altLang="zh-CN" sz="2800" b="1"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From the basic idea of </a:t>
            </a:r>
            <a:r>
              <a:rPr lang="en-US" altLang="zh-CN" sz="2800" b="1">
                <a:effectLst>
                  <a:outerShdw blurRad="38100" dist="38100" dir="2700000">
                    <a:srgbClr val="C0C0C0"/>
                  </a:outerShdw>
                </a:effectLst>
                <a:ea typeface="楷体" pitchFamily="49" charset="-122"/>
                <a:cs typeface="+mn-ea"/>
                <a:sym typeface="+mn-ea"/>
              </a:rPr>
              <a:t>each design method to understand them.</a:t>
            </a:r>
            <a:endParaRPr kumimoji="0" lang="en-US" altLang="zh-CN" sz="2800" b="1" kern="1200" cap="none" spc="0" normalizeH="0" baseline="0" noProof="1">
              <a:effectLst>
                <a:outerShdw blurRad="38100" dist="38100" dir="2700000">
                  <a:srgbClr val="C0C0C0"/>
                </a:outerShdw>
              </a:effectLst>
              <a:ea typeface="楷体" pitchFamily="49" charset="-122"/>
              <a:cs typeface="Times New Roman" panose="02020503050405090304" pitchFamily="18" charset="0"/>
              <a:sym typeface="+mn-ea"/>
            </a:endParaRPr>
          </a:p>
        </p:txBody>
      </p:sp>
      <p:sp>
        <p:nvSpPr>
          <p:cNvPr id="39941" name="文本框 39940"/>
          <p:cNvSpPr txBox="1"/>
          <p:nvPr/>
        </p:nvSpPr>
        <p:spPr>
          <a:xfrm>
            <a:off x="166688" y="2482850"/>
            <a:ext cx="7345363" cy="52197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zh-CN" sz="2800" b="1" kern="1200" cap="none" spc="0" normalizeH="0" baseline="0" noProof="1">
                <a:solidFill>
                  <a:schemeClr val="tx2"/>
                </a:solidFill>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Design steps of window </a:t>
            </a:r>
            <a:r>
              <a:rPr lang="en-US" altLang="zh-CN" sz="2800" b="1">
                <a:effectLst>
                  <a:outerShdw blurRad="38100" dist="38100" dir="2700000">
                    <a:srgbClr val="C0C0C0"/>
                  </a:outerShdw>
                </a:effectLst>
                <a:ea typeface="楷体" pitchFamily="49" charset="-122"/>
                <a:cs typeface="Times New Roman" panose="02020503050405090304" pitchFamily="18" charset="0"/>
                <a:sym typeface="+mn-ea"/>
              </a:rPr>
              <a:t>fourier series method</a:t>
            </a:r>
            <a:r>
              <a:rPr kumimoji="0" lang="en-US" altLang="zh-CN" sz="2800" b="1" kern="1200" cap="none" spc="0" normalizeH="0" baseline="0" noProof="1">
                <a:solidFill>
                  <a:schemeClr val="tx2"/>
                </a:solidFill>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 </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39942" name="文本框 39941"/>
          <p:cNvSpPr txBox="1"/>
          <p:nvPr/>
        </p:nvSpPr>
        <p:spPr>
          <a:xfrm>
            <a:off x="563563" y="2951163"/>
            <a:ext cx="8353425"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en-US" altLang="x-none"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(1</a:t>
            </a: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rPr>
              <a:t>The corresponding ideal impulse response is found out according to the design requirements.</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Times New Roman" panose="02020503050405090304" pitchFamily="18" charset="0"/>
              <a:sym typeface="+mn-ea"/>
            </a:endParaRPr>
          </a:p>
        </p:txBody>
      </p:sp>
      <p:sp>
        <p:nvSpPr>
          <p:cNvPr id="39943" name="文本框 39942"/>
          <p:cNvSpPr txBox="1"/>
          <p:nvPr/>
        </p:nvSpPr>
        <p:spPr>
          <a:xfrm>
            <a:off x="358775" y="3795713"/>
            <a:ext cx="8424863" cy="1814830"/>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（2）</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Looking up table 10.2 to find out the window that meets the specifications, determining the order of the filter, and adding the window to the idea impulse response (pay attention to delay).</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
        <p:nvSpPr>
          <p:cNvPr id="39944" name="文本框 39943"/>
          <p:cNvSpPr txBox="1"/>
          <p:nvPr/>
        </p:nvSpPr>
        <p:spPr>
          <a:xfrm>
            <a:off x="358775" y="5610543"/>
            <a:ext cx="8640763" cy="953135"/>
          </a:xfrm>
          <a:prstGeom prst="rect">
            <a:avLst/>
          </a:prstGeom>
          <a:noFill/>
          <a:ln w="9525">
            <a:noFill/>
            <a:miter/>
          </a:ln>
        </p:spPr>
        <p:txBody>
          <a:bodyPr wrap="square">
            <a:spAutoFit/>
          </a:bodyPr>
          <a:lstStyle/>
          <a:p>
            <a:pPr marR="0" defTabSz="914400">
              <a:spcBef>
                <a:spcPct val="50000"/>
              </a:spcBef>
              <a:buClrTx/>
              <a:buSzTx/>
              <a:buFont typeface="Arial" panose="020B0604020202090204" pitchFamily="34" charset="0"/>
              <a:buNone/>
              <a:defRPr/>
            </a:pPr>
            <a:r>
              <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（3）</a:t>
            </a:r>
            <a:r>
              <a:rPr kumimoji="0" lang="en-US" altLang="zh-CN"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ea"/>
                <a:sym typeface="+mn-ea"/>
              </a:rPr>
              <a:t> Check the result to see if it meets the design requirements, otherwise redesign.</a:t>
            </a:r>
            <a:endParaRPr kumimoji="0" lang="zh-CN" altLang="en-US" sz="2800" b="1" kern="1200" cap="none" spc="0" normalizeH="0" baseline="0" noProof="1">
              <a:effectLst>
                <a:outerShdw blurRad="38100" dist="38100" dir="2700000">
                  <a:srgbClr val="C0C0C0"/>
                </a:outerShdw>
              </a:effectLst>
              <a:latin typeface="Times New Roman" panose="02020503050405090304" pitchFamily="18" charset="0"/>
              <a:ea typeface="楷体" pitchFamily="49" charset="-122"/>
              <a:cs typeface="+mn-cs"/>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939"/>
                                        </p:tgtEl>
                                        <p:attrNameLst>
                                          <p:attrName>style.visibility</p:attrName>
                                        </p:attrNameLst>
                                      </p:cBhvr>
                                      <p:to>
                                        <p:strVal val="visible"/>
                                      </p:to>
                                    </p:set>
                                    <p:anim calcmode="lin" valueType="num">
                                      <p:cBhvr additive="base">
                                        <p:cTn id="7" dur="500" fill="hold"/>
                                        <p:tgtEl>
                                          <p:spTgt spid="39939"/>
                                        </p:tgtEl>
                                        <p:attrNameLst>
                                          <p:attrName>ppt_x</p:attrName>
                                        </p:attrNameLst>
                                      </p:cBhvr>
                                      <p:tavLst>
                                        <p:tav tm="0">
                                          <p:val>
                                            <p:strVal val="#ppt_x"/>
                                          </p:val>
                                        </p:tav>
                                        <p:tav tm="100000">
                                          <p:val>
                                            <p:strVal val="#ppt_x"/>
                                          </p:val>
                                        </p:tav>
                                      </p:tavLst>
                                    </p:anim>
                                    <p:anim calcmode="lin" valueType="num">
                                      <p:cBhvr additive="base">
                                        <p:cTn id="8" dur="500" fill="hold"/>
                                        <p:tgtEl>
                                          <p:spTgt spid="399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941"/>
                                        </p:tgtEl>
                                        <p:attrNameLst>
                                          <p:attrName>style.visibility</p:attrName>
                                        </p:attrNameLst>
                                      </p:cBhvr>
                                      <p:to>
                                        <p:strVal val="visible"/>
                                      </p:to>
                                    </p:set>
                                    <p:anim calcmode="lin" valueType="num">
                                      <p:cBhvr additive="base">
                                        <p:cTn id="13" dur="500" fill="hold"/>
                                        <p:tgtEl>
                                          <p:spTgt spid="39941"/>
                                        </p:tgtEl>
                                        <p:attrNameLst>
                                          <p:attrName>ppt_x</p:attrName>
                                        </p:attrNameLst>
                                      </p:cBhvr>
                                      <p:tavLst>
                                        <p:tav tm="0">
                                          <p:val>
                                            <p:strVal val="#ppt_x"/>
                                          </p:val>
                                        </p:tav>
                                        <p:tav tm="100000">
                                          <p:val>
                                            <p:strVal val="#ppt_x"/>
                                          </p:val>
                                        </p:tav>
                                      </p:tavLst>
                                    </p:anim>
                                    <p:anim calcmode="lin" valueType="num">
                                      <p:cBhvr additive="base">
                                        <p:cTn id="14" dur="500" fill="hold"/>
                                        <p:tgtEl>
                                          <p:spTgt spid="3994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942"/>
                                        </p:tgtEl>
                                        <p:attrNameLst>
                                          <p:attrName>style.visibility</p:attrName>
                                        </p:attrNameLst>
                                      </p:cBhvr>
                                      <p:to>
                                        <p:strVal val="visible"/>
                                      </p:to>
                                    </p:set>
                                    <p:anim calcmode="lin" valueType="num">
                                      <p:cBhvr additive="base">
                                        <p:cTn id="19" dur="500" fill="hold"/>
                                        <p:tgtEl>
                                          <p:spTgt spid="39942"/>
                                        </p:tgtEl>
                                        <p:attrNameLst>
                                          <p:attrName>ppt_x</p:attrName>
                                        </p:attrNameLst>
                                      </p:cBhvr>
                                      <p:tavLst>
                                        <p:tav tm="0">
                                          <p:val>
                                            <p:strVal val="#ppt_x"/>
                                          </p:val>
                                        </p:tav>
                                        <p:tav tm="100000">
                                          <p:val>
                                            <p:strVal val="#ppt_x"/>
                                          </p:val>
                                        </p:tav>
                                      </p:tavLst>
                                    </p:anim>
                                    <p:anim calcmode="lin" valueType="num">
                                      <p:cBhvr additive="base">
                                        <p:cTn id="20" dur="500" fill="hold"/>
                                        <p:tgtEl>
                                          <p:spTgt spid="399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9943"/>
                                        </p:tgtEl>
                                        <p:attrNameLst>
                                          <p:attrName>style.visibility</p:attrName>
                                        </p:attrNameLst>
                                      </p:cBhvr>
                                      <p:to>
                                        <p:strVal val="visible"/>
                                      </p:to>
                                    </p:set>
                                    <p:anim calcmode="lin" valueType="num">
                                      <p:cBhvr additive="base">
                                        <p:cTn id="25" dur="500" fill="hold"/>
                                        <p:tgtEl>
                                          <p:spTgt spid="39943"/>
                                        </p:tgtEl>
                                        <p:attrNameLst>
                                          <p:attrName>ppt_x</p:attrName>
                                        </p:attrNameLst>
                                      </p:cBhvr>
                                      <p:tavLst>
                                        <p:tav tm="0">
                                          <p:val>
                                            <p:strVal val="#ppt_x"/>
                                          </p:val>
                                        </p:tav>
                                        <p:tav tm="100000">
                                          <p:val>
                                            <p:strVal val="#ppt_x"/>
                                          </p:val>
                                        </p:tav>
                                      </p:tavLst>
                                    </p:anim>
                                    <p:anim calcmode="lin" valueType="num">
                                      <p:cBhvr additive="base">
                                        <p:cTn id="26" dur="500" fill="hold"/>
                                        <p:tgtEl>
                                          <p:spTgt spid="3994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9944"/>
                                        </p:tgtEl>
                                        <p:attrNameLst>
                                          <p:attrName>style.visibility</p:attrName>
                                        </p:attrNameLst>
                                      </p:cBhvr>
                                      <p:to>
                                        <p:strVal val="visible"/>
                                      </p:to>
                                    </p:set>
                                    <p:anim calcmode="lin" valueType="num">
                                      <p:cBhvr additive="base">
                                        <p:cTn id="31" dur="500" fill="hold"/>
                                        <p:tgtEl>
                                          <p:spTgt spid="39944"/>
                                        </p:tgtEl>
                                        <p:attrNameLst>
                                          <p:attrName>ppt_x</p:attrName>
                                        </p:attrNameLst>
                                      </p:cBhvr>
                                      <p:tavLst>
                                        <p:tav tm="0">
                                          <p:val>
                                            <p:strVal val="#ppt_x"/>
                                          </p:val>
                                        </p:tav>
                                        <p:tav tm="100000">
                                          <p:val>
                                            <p:strVal val="#ppt_x"/>
                                          </p:val>
                                        </p:tav>
                                      </p:tavLst>
                                    </p:anim>
                                    <p:anim calcmode="lin" valueType="num">
                                      <p:cBhvr additive="base">
                                        <p:cTn id="32" dur="500" fill="hold"/>
                                        <p:tgtEl>
                                          <p:spTgt spid="399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p:bldP spid="39941" grpId="0"/>
      <p:bldP spid="39942" grpId="0"/>
      <p:bldP spid="39943" grpId="0"/>
      <p:bldP spid="3994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x-none" sz="3600">
                <a:effectLst>
                  <a:outerShdw blurRad="38100" dist="38100" dir="2700000">
                    <a:srgbClr val="C0C0C0"/>
                  </a:outerShdw>
                </a:effectLst>
                <a:latin typeface="Times New Roman" panose="02020503050405090304" pitchFamily="18" charset="0"/>
                <a:ea typeface="楷体" pitchFamily="49" charset="-122"/>
                <a:cs typeface="+mn-ea"/>
              </a:rPr>
              <a:t>Example 1：</a:t>
            </a:r>
            <a:endParaRPr lang="en-US" altLang="zh-CN"/>
          </a:p>
        </p:txBody>
      </p:sp>
      <p:pic>
        <p:nvPicPr>
          <p:cNvPr id="4" name="图片 3"/>
          <p:cNvPicPr>
            <a:picLocks noChangeAspect="1"/>
          </p:cNvPicPr>
          <p:nvPr/>
        </p:nvPicPr>
        <p:blipFill>
          <a:blip r:embed="rId1"/>
          <a:stretch>
            <a:fillRect/>
          </a:stretch>
        </p:blipFill>
        <p:spPr>
          <a:xfrm>
            <a:off x="0" y="1628775"/>
            <a:ext cx="9144000" cy="434276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x-none" sz="3600">
                <a:effectLst>
                  <a:outerShdw blurRad="38100" dist="38100" dir="2700000">
                    <a:srgbClr val="C0C0C0"/>
                  </a:outerShdw>
                </a:effectLst>
                <a:latin typeface="Times New Roman" panose="02020503050405090304" pitchFamily="18" charset="0"/>
                <a:ea typeface="楷体" pitchFamily="49" charset="-122"/>
                <a:cs typeface="+mn-ea"/>
              </a:rPr>
              <a:t>Solution：</a:t>
            </a:r>
            <a:endParaRPr lang="en-US" altLang="zh-CN"/>
          </a:p>
        </p:txBody>
      </p:sp>
      <p:pic>
        <p:nvPicPr>
          <p:cNvPr id="4" name="图片 3"/>
          <p:cNvPicPr>
            <a:picLocks noChangeAspect="1"/>
          </p:cNvPicPr>
          <p:nvPr/>
        </p:nvPicPr>
        <p:blipFill>
          <a:blip r:embed="rId1"/>
          <a:stretch>
            <a:fillRect/>
          </a:stretch>
        </p:blipFill>
        <p:spPr>
          <a:xfrm>
            <a:off x="35560" y="1124585"/>
            <a:ext cx="9144000" cy="543941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95605" y="295275"/>
            <a:ext cx="8229600" cy="1131888"/>
          </a:xfrm>
          <a:prstGeom prst="rect">
            <a:avLst/>
          </a:prstGeom>
          <a:noFill/>
          <a:ln w="9525">
            <a:noFill/>
          </a:ln>
        </p:spPr>
        <p:txBody>
          <a:bodyPr anchor="ctr" anchorCtr="0"/>
          <a:lstStyle>
            <a:lvl1pPr algn="l" rtl="0" fontAlgn="base">
              <a:spcBef>
                <a:spcPct val="0"/>
              </a:spcBef>
              <a:spcAft>
                <a:spcPct val="0"/>
              </a:spcAft>
              <a:defRPr sz="3200" b="1" kern="1200">
                <a:solidFill>
                  <a:schemeClr val="bg1"/>
                </a:solidFill>
                <a:latin typeface="+mj-lt"/>
                <a:ea typeface="+mj-ea"/>
                <a:cs typeface="+mj-cs"/>
              </a:defRPr>
            </a:lvl1pPr>
            <a:lvl2pPr algn="l" rtl="0" fontAlgn="base">
              <a:spcBef>
                <a:spcPct val="0"/>
              </a:spcBef>
              <a:spcAft>
                <a:spcPct val="0"/>
              </a:spcAft>
              <a:defRPr sz="3200" b="1">
                <a:solidFill>
                  <a:schemeClr val="bg1"/>
                </a:solidFill>
                <a:latin typeface="Arial" panose="020B0604020202090204" pitchFamily="34" charset="0"/>
                <a:ea typeface="宋体" pitchFamily="2" charset="-122"/>
              </a:defRPr>
            </a:lvl2pPr>
            <a:lvl3pPr algn="l" rtl="0" fontAlgn="base">
              <a:spcBef>
                <a:spcPct val="0"/>
              </a:spcBef>
              <a:spcAft>
                <a:spcPct val="0"/>
              </a:spcAft>
              <a:defRPr sz="3200" b="1">
                <a:solidFill>
                  <a:schemeClr val="bg1"/>
                </a:solidFill>
                <a:latin typeface="Arial" panose="020B0604020202090204" pitchFamily="34" charset="0"/>
                <a:ea typeface="宋体" pitchFamily="2" charset="-122"/>
              </a:defRPr>
            </a:lvl3pPr>
            <a:lvl4pPr algn="l" rtl="0" fontAlgn="base">
              <a:spcBef>
                <a:spcPct val="0"/>
              </a:spcBef>
              <a:spcAft>
                <a:spcPct val="0"/>
              </a:spcAft>
              <a:defRPr sz="3200" b="1">
                <a:solidFill>
                  <a:schemeClr val="bg1"/>
                </a:solidFill>
                <a:latin typeface="Arial" panose="020B0604020202090204" pitchFamily="34" charset="0"/>
                <a:ea typeface="宋体" pitchFamily="2" charset="-122"/>
              </a:defRPr>
            </a:lvl4pPr>
            <a:lvl5pPr algn="l" rtl="0" fontAlgn="base">
              <a:spcBef>
                <a:spcPct val="0"/>
              </a:spcBef>
              <a:spcAft>
                <a:spcPct val="0"/>
              </a:spcAft>
              <a:defRPr sz="3200" b="1">
                <a:solidFill>
                  <a:schemeClr val="bg1"/>
                </a:solidFill>
                <a:latin typeface="Arial" panose="020B0604020202090204" pitchFamily="34" charset="0"/>
                <a:ea typeface="宋体" pitchFamily="2" charset="-122"/>
              </a:defRPr>
            </a:lvl5pPr>
            <a:lvl6pPr marL="457200" algn="l" rtl="0" fontAlgn="base">
              <a:spcBef>
                <a:spcPct val="0"/>
              </a:spcBef>
              <a:spcAft>
                <a:spcPct val="0"/>
              </a:spcAft>
              <a:defRPr sz="3200" b="1">
                <a:solidFill>
                  <a:schemeClr val="bg1"/>
                </a:solidFill>
                <a:latin typeface="Arial" panose="020B0604020202090204" pitchFamily="34" charset="0"/>
                <a:ea typeface="宋体" pitchFamily="2" charset="-122"/>
              </a:defRPr>
            </a:lvl6pPr>
            <a:lvl7pPr marL="914400" algn="l" rtl="0" fontAlgn="base">
              <a:spcBef>
                <a:spcPct val="0"/>
              </a:spcBef>
              <a:spcAft>
                <a:spcPct val="0"/>
              </a:spcAft>
              <a:defRPr sz="3200" b="1">
                <a:solidFill>
                  <a:schemeClr val="bg1"/>
                </a:solidFill>
                <a:latin typeface="Arial" panose="020B0604020202090204" pitchFamily="34" charset="0"/>
                <a:ea typeface="宋体" pitchFamily="2" charset="-122"/>
              </a:defRPr>
            </a:lvl7pPr>
            <a:lvl8pPr marL="1371600" algn="l" rtl="0" fontAlgn="base">
              <a:spcBef>
                <a:spcPct val="0"/>
              </a:spcBef>
              <a:spcAft>
                <a:spcPct val="0"/>
              </a:spcAft>
              <a:defRPr sz="3200" b="1">
                <a:solidFill>
                  <a:schemeClr val="bg1"/>
                </a:solidFill>
                <a:latin typeface="Arial" panose="020B0604020202090204" pitchFamily="34" charset="0"/>
                <a:ea typeface="宋体" pitchFamily="2" charset="-122"/>
              </a:defRPr>
            </a:lvl8pPr>
            <a:lvl9pPr marL="1828800" algn="l" rtl="0" fontAlgn="base">
              <a:spcBef>
                <a:spcPct val="0"/>
              </a:spcBef>
              <a:spcAft>
                <a:spcPct val="0"/>
              </a:spcAft>
              <a:defRPr sz="3200" b="1">
                <a:solidFill>
                  <a:schemeClr val="bg1"/>
                </a:solidFill>
                <a:latin typeface="Arial" panose="020B0604020202090204" pitchFamily="34" charset="0"/>
                <a:ea typeface="宋体" pitchFamily="2" charset="-122"/>
              </a:defRPr>
            </a:lvl9pPr>
          </a:lstStyle>
          <a:p>
            <a:r>
              <a:rPr lang="en-US" altLang="x-none" sz="3600">
                <a:effectLst>
                  <a:outerShdw blurRad="38100" dist="38100" dir="2700000">
                    <a:srgbClr val="C0C0C0"/>
                  </a:outerShdw>
                </a:effectLst>
                <a:latin typeface="Times New Roman" panose="02020503050405090304" pitchFamily="18" charset="0"/>
                <a:ea typeface="楷体" pitchFamily="49" charset="-122"/>
                <a:cs typeface="+mn-ea"/>
              </a:rPr>
              <a:t>Example 2：</a:t>
            </a:r>
            <a:endParaRPr lang="en-US" altLang="zh-CN"/>
          </a:p>
        </p:txBody>
      </p:sp>
      <p:pic>
        <p:nvPicPr>
          <p:cNvPr id="6" name="图片 5"/>
          <p:cNvPicPr>
            <a:picLocks noChangeAspect="1"/>
          </p:cNvPicPr>
          <p:nvPr/>
        </p:nvPicPr>
        <p:blipFill>
          <a:blip r:embed="rId1"/>
          <a:stretch>
            <a:fillRect/>
          </a:stretch>
        </p:blipFill>
        <p:spPr>
          <a:xfrm>
            <a:off x="0" y="1960880"/>
            <a:ext cx="9144000" cy="293624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51460" y="116205"/>
            <a:ext cx="8229600" cy="1131888"/>
          </a:xfrm>
        </p:spPr>
        <p:txBody>
          <a:bodyPr/>
          <a:p>
            <a:r>
              <a:rPr lang="en-US" altLang="x-none" sz="3600">
                <a:effectLst>
                  <a:outerShdw blurRad="38100" dist="38100" dir="2700000">
                    <a:srgbClr val="C0C0C0"/>
                  </a:outerShdw>
                </a:effectLst>
                <a:latin typeface="Times New Roman" panose="02020503050405090304" pitchFamily="18" charset="0"/>
                <a:ea typeface="楷体" pitchFamily="49" charset="-122"/>
                <a:cs typeface="+mn-ea"/>
              </a:rPr>
              <a:t>Solution：</a:t>
            </a:r>
            <a:endParaRPr lang="en-US" altLang="zh-CN"/>
          </a:p>
        </p:txBody>
      </p:sp>
      <p:pic>
        <p:nvPicPr>
          <p:cNvPr id="4" name="图片 3"/>
          <p:cNvPicPr>
            <a:picLocks noChangeAspect="1"/>
          </p:cNvPicPr>
          <p:nvPr/>
        </p:nvPicPr>
        <p:blipFill>
          <a:blip r:embed="rId1"/>
          <a:stretch>
            <a:fillRect/>
          </a:stretch>
        </p:blipFill>
        <p:spPr>
          <a:xfrm>
            <a:off x="2195830" y="-99695"/>
            <a:ext cx="6833235" cy="6858000"/>
          </a:xfrm>
          <a:prstGeom prst="rect">
            <a:avLst/>
          </a:prstGeom>
        </p:spPr>
      </p:pic>
    </p:spTree>
  </p:cSld>
  <p:clrMapOvr>
    <a:masterClrMapping/>
  </p:clrMapOvr>
</p:sld>
</file>

<file path=ppt/theme/theme1.xml><?xml version="1.0" encoding="utf-8"?>
<a:theme xmlns:a="http://schemas.openxmlformats.org/drawingml/2006/main" name="华丽商务演示模板">
  <a:themeElements>
    <a:clrScheme name="">
      <a:dk1>
        <a:srgbClr val="000000"/>
      </a:dk1>
      <a:lt1>
        <a:srgbClr val="FFFFFF"/>
      </a:lt1>
      <a:dk2>
        <a:srgbClr val="000000"/>
      </a:dk2>
      <a:lt2>
        <a:srgbClr val="FFFFFF"/>
      </a:lt2>
      <a:accent1>
        <a:srgbClr val="897ABA"/>
      </a:accent1>
      <a:accent2>
        <a:srgbClr val="FA7D21"/>
      </a:accent2>
      <a:accent3>
        <a:srgbClr val="FFFFFF"/>
      </a:accent3>
      <a:accent4>
        <a:srgbClr val="000000"/>
      </a:accent4>
      <a:accent5>
        <a:srgbClr val="C4BFD9"/>
      </a:accent5>
      <a:accent6>
        <a:srgbClr val="E0701D"/>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华丽商务演示模板 1">
        <a:dk1>
          <a:srgbClr val="000000"/>
        </a:dk1>
        <a:lt1>
          <a:srgbClr val="FFFFFF"/>
        </a:lt1>
        <a:dk2>
          <a:srgbClr val="000000"/>
        </a:dk2>
        <a:lt2>
          <a:srgbClr val="FFFFFF"/>
        </a:lt2>
        <a:accent1>
          <a:srgbClr val="897ABA"/>
        </a:accent1>
        <a:accent2>
          <a:srgbClr val="FA7D21"/>
        </a:accent2>
        <a:accent3>
          <a:srgbClr val="FFFFFF"/>
        </a:accent3>
        <a:accent4>
          <a:srgbClr val="000000"/>
        </a:accent4>
        <a:accent5>
          <a:srgbClr val="C4BED9"/>
        </a:accent5>
        <a:accent6>
          <a:srgbClr val="E3711D"/>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Designs\Ribbons.pot</Template>
  <TotalTime>0</TotalTime>
  <Words>11266</Words>
  <Application>WPS 表格</Application>
  <PresentationFormat>全屏显示(4:3)</PresentationFormat>
  <Paragraphs>350</Paragraphs>
  <Slides>37</Slides>
  <Notes>1</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25</vt:i4>
      </vt:variant>
      <vt:variant>
        <vt:lpstr>幻灯片标题</vt:lpstr>
      </vt:variant>
      <vt:variant>
        <vt:i4>37</vt:i4>
      </vt:variant>
    </vt:vector>
  </HeadingPairs>
  <TitlesOfParts>
    <vt:vector size="83" baseType="lpstr">
      <vt:lpstr>Arial</vt:lpstr>
      <vt:lpstr>宋体</vt:lpstr>
      <vt:lpstr>Wingdings</vt:lpstr>
      <vt:lpstr>Times New Roman</vt:lpstr>
      <vt:lpstr>汉仪书宋二KW</vt:lpstr>
      <vt:lpstr>楷体</vt:lpstr>
      <vt:lpstr>汉仪楷体KW</vt:lpstr>
      <vt:lpstr>Times New Roman Regular</vt:lpstr>
      <vt:lpstr>Times</vt:lpstr>
      <vt:lpstr>Times New Roman Bold</vt:lpstr>
      <vt:lpstr>Verdana</vt:lpstr>
      <vt:lpstr>微软雅黑</vt:lpstr>
      <vt:lpstr>汉仪旗黑</vt:lpstr>
      <vt:lpstr>宋体</vt:lpstr>
      <vt:lpstr>Arial Unicode MS</vt:lpstr>
      <vt:lpstr>等线</vt:lpstr>
      <vt:lpstr>汉仪中等线KW</vt:lpstr>
      <vt:lpstr>等线</vt:lpstr>
      <vt:lpstr>Wingdings</vt:lpstr>
      <vt:lpstr>楷体</vt:lpstr>
      <vt:lpstr>华丽商务演示模板</vt:lpstr>
      <vt:lpstr>Equation.3</vt:lpstr>
      <vt:lpstr>Paint.Picture</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Term Review</vt:lpstr>
      <vt:lpstr>Topic 1 Time-Domain Analysis of Discrete Time Signals and Systems </vt:lpstr>
      <vt:lpstr>1. Time domain expression of discrete time signals and systems</vt:lpstr>
      <vt:lpstr>2 Basic operations and typic sequences</vt:lpstr>
      <vt:lpstr>3 Difference Equation</vt:lpstr>
      <vt:lpstr>4 System classifications</vt:lpstr>
      <vt:lpstr>5 Convolution sum</vt:lpstr>
      <vt:lpstr>Topic 2 :Discrete Time Fourier Transform（DTFT）</vt:lpstr>
      <vt:lpstr> Calculation and properties of DTFT</vt:lpstr>
      <vt:lpstr>Topic 3: z-transform</vt:lpstr>
      <vt:lpstr>  The Definition of ZT</vt:lpstr>
      <vt:lpstr>Topic 4: Analysis of Transform Domain of Discrete Time Systems</vt:lpstr>
      <vt:lpstr>1 Transfer Function H (z)</vt:lpstr>
      <vt:lpstr>2 Frequency Response</vt:lpstr>
      <vt:lpstr>2 Frequency Response</vt:lpstr>
      <vt:lpstr>3. Other Concepts</vt:lpstr>
      <vt:lpstr>   4 FIR &amp; IIR System  </vt:lpstr>
      <vt:lpstr>Topic 5: Digital Processing of Continuous Signals</vt:lpstr>
      <vt:lpstr>PowerPoint 演示文稿</vt:lpstr>
      <vt:lpstr>Topic 6: Frequency Spectrum of Discrete Time Signals</vt:lpstr>
      <vt:lpstr>1. Calculation and properties of DFT</vt:lpstr>
      <vt:lpstr>2. FFT</vt:lpstr>
      <vt:lpstr> The basic idea of FFT</vt:lpstr>
      <vt:lpstr> Basic skills of FFT</vt:lpstr>
      <vt:lpstr>3 The Relationship of Several Transformations</vt:lpstr>
      <vt:lpstr>Topic 7: The Realization Structures of Digital Filters</vt:lpstr>
      <vt:lpstr>1 Block Diagram and Signal Flow Graph</vt:lpstr>
      <vt:lpstr>2 Basic Structure of IIR filter</vt:lpstr>
      <vt:lpstr>3 Basic Structure of FIR filter</vt:lpstr>
      <vt:lpstr>Topic 8: Design of Digital Filters</vt:lpstr>
      <vt:lpstr>1 Physical meaning of digital filter specifications</vt:lpstr>
      <vt:lpstr>2 IIR Lowpass Filter Design：</vt:lpstr>
      <vt:lpstr>PowerPoint 演示文稿</vt:lpstr>
      <vt:lpstr>PowerPoint 演示文稿</vt:lpstr>
      <vt:lpstr>PowerPoint 演示文稿</vt:lpstr>
      <vt:lpstr>Example 1：</vt:lpstr>
      <vt:lpstr>PowerPoint 演示文稿</vt:lpstr>
    </vt:vector>
  </TitlesOfParts>
  <Company>140lab</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yanglian</dc:creator>
  <cp:lastModifiedBy>photon_lee</cp:lastModifiedBy>
  <cp:revision>60</cp:revision>
  <dcterms:created xsi:type="dcterms:W3CDTF">2026-05-31T03:35:22Z</dcterms:created>
  <dcterms:modified xsi:type="dcterms:W3CDTF">2026-05-31T03:35:22Z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2052-12.1.25895.25895</vt:lpwstr>
  </property>
  <property fmtid="{D5CDD505-2E9C-101B-9397-08002B2CF9AE}" pid="3" name="ICV">
    <vt:lpwstr>4B06DF033DA9CE5230DD94622E035BE9</vt:lpwstr>
  </property>
</Properties>
</file>